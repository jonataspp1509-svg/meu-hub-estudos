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67" r:id="rId3"/>
    <p:sldId id="274" r:id="rId4"/>
    <p:sldId id="275"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5" autoAdjust="0"/>
    <p:restoredTop sz="94660"/>
  </p:normalViewPr>
  <p:slideViewPr>
    <p:cSldViewPr snapToGrid="0">
      <p:cViewPr varScale="1">
        <p:scale>
          <a:sx n="86" d="100"/>
          <a:sy n="86" d="100"/>
        </p:scale>
        <p:origin x="514"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pt-BR"/>
              <a:t>Clique para editar o título mestre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4/15/2025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4/15/2025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pt-BR"/>
              <a:t>Clique para editar o título mestre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4/15/2025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4/15/2025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pt-BR"/>
              <a:t>Clique para editar o título mestre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4/15/2025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4/15/2025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4/15/2025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pt-BR"/>
              <a:t>Clique para editar o título mestre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Date Placeholder 4"/>
          <p:cNvSpPr>
            <a:spLocks noGrp="1"/>
          </p:cNvSpPr>
          <p:nvPr>
            <p:ph type="dt" sz="half" idx="10"/>
          </p:nvPr>
        </p:nvSpPr>
        <p:spPr/>
        <p:txBody>
          <a:bodyPr/>
          <a:lstStyle/>
          <a:p>
            <a:fld id="{DA16AA21-1863-4931-97CB-99D0A168701B}" type="datetimeFigureOut">
              <a:rPr lang="en-US" dirty="0"/>
              <a:t>4/15/2025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Date Placeholder 4"/>
          <p:cNvSpPr>
            <a:spLocks noGrp="1"/>
          </p:cNvSpPr>
          <p:nvPr>
            <p:ph type="dt" sz="half" idx="10"/>
          </p:nvPr>
        </p:nvSpPr>
        <p:spPr/>
        <p:txBody>
          <a:bodyPr/>
          <a:lstStyle/>
          <a:p>
            <a:fld id="{3772C379-9A7C-4C87-A116-CBE9F58B04C5}" type="datetimeFigureOut">
              <a:rPr lang="en-US" dirty="0"/>
              <a:t>4/15/2025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4/15/2025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4/15/2025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4/15/2025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830187" y="673777"/>
            <a:ext cx="11081075" cy="4034894"/>
          </a:xfrm>
        </p:spPr>
        <p:txBody>
          <a:bodyPr/>
          <a:lstStyle/>
          <a:p>
            <a:r>
              <a:rPr lang="pt-BR" sz="7700" dirty="0"/>
              <a:t>           Redação  </a:t>
            </a:r>
          </a:p>
        </p:txBody>
      </p:sp>
      <p:sp>
        <p:nvSpPr>
          <p:cNvPr id="3" name="Subtítulo 2"/>
          <p:cNvSpPr>
            <a:spLocks noGrp="1"/>
          </p:cNvSpPr>
          <p:nvPr>
            <p:ph type="subTitle" idx="1"/>
          </p:nvPr>
        </p:nvSpPr>
        <p:spPr/>
        <p:txBody>
          <a:bodyPr>
            <a:noAutofit/>
          </a:bodyPr>
          <a:lstStyle/>
          <a:p>
            <a:r>
              <a:rPr lang="pt-BR" sz="3600" dirty="0"/>
              <a:t>Textão - Unicamp </a:t>
            </a:r>
          </a:p>
          <a:p>
            <a:pPr algn="r"/>
            <a:r>
              <a:rPr lang="pt-BR" sz="3600" dirty="0"/>
              <a:t>Prof. Raphael Rufatto</a:t>
            </a:r>
          </a:p>
        </p:txBody>
      </p:sp>
    </p:spTree>
    <p:extLst>
      <p:ext uri="{BB962C8B-B14F-4D97-AF65-F5344CB8AC3E}">
        <p14:creationId xmlns:p14="http://schemas.microsoft.com/office/powerpoint/2010/main" val="1848343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886768" y="-153060"/>
            <a:ext cx="10058400" cy="1356206"/>
          </a:xfrm>
        </p:spPr>
        <p:txBody>
          <a:bodyPr>
            <a:normAutofit/>
          </a:bodyPr>
          <a:lstStyle/>
          <a:p>
            <a:r>
              <a:rPr lang="pt-BR" sz="4800" dirty="0">
                <a:solidFill>
                  <a:schemeClr val="accent1">
                    <a:lumMod val="75000"/>
                  </a:schemeClr>
                </a:solidFill>
              </a:rPr>
              <a:t>Analisando  a  PROPOSTA</a:t>
            </a:r>
          </a:p>
        </p:txBody>
      </p:sp>
      <p:sp>
        <p:nvSpPr>
          <p:cNvPr id="5" name="CaixaDeTexto 4">
            <a:extLst>
              <a:ext uri="{FF2B5EF4-FFF2-40B4-BE49-F238E27FC236}">
                <a16:creationId xmlns:a16="http://schemas.microsoft.com/office/drawing/2014/main" id="{427B6D75-951D-098C-AAD2-4EA6C04EABF8}"/>
              </a:ext>
            </a:extLst>
          </p:cNvPr>
          <p:cNvSpPr txBox="1"/>
          <p:nvPr/>
        </p:nvSpPr>
        <p:spPr>
          <a:xfrm>
            <a:off x="230818" y="855500"/>
            <a:ext cx="11771791" cy="5909310"/>
          </a:xfrm>
          <a:prstGeom prst="rect">
            <a:avLst/>
          </a:prstGeom>
          <a:noFill/>
        </p:spPr>
        <p:txBody>
          <a:bodyPr wrap="square">
            <a:spAutoFit/>
          </a:bodyPr>
          <a:lstStyle/>
          <a:p>
            <a:pPr algn="just"/>
            <a:r>
              <a:rPr lang="pt-BR" dirty="0"/>
              <a:t>Você tem 16 anos e, como a maioria dos jovens, está constantemente conectado(a) às redes sociais. Nos últimos meses, percebeu que muitas notícias que viralizam — especialmente as mais polêmicas ou emocionantes — são, na verdade, falsas ou distorcidas. Seus amigos já compartilharam várias delas sem checar a fonte, e você mesmo(a) já caiu em algumas. Alguns dizem que "é só um meme" ou que "não faz mal acreditar", mas outros alertam que essa prática pode ter consequências graves, desde polarização política até decisões baseadas em mentiras. Seus professores debateram o assunto em aula, citando casos reais em que notícias falsas influenciaram eleições, saúde pública (como vacinas) e até relações pessoais. Agora, você decide escrever um *textão* no Instagram ou Twitter refletindo sobre esse problema.  </a:t>
            </a:r>
          </a:p>
          <a:p>
            <a:pPr>
              <a:buNone/>
            </a:pPr>
            <a:br>
              <a:rPr lang="pt-BR" dirty="0"/>
            </a:br>
            <a:r>
              <a:rPr lang="pt-BR" dirty="0"/>
              <a:t>No seu *textão*, você deve:  </a:t>
            </a:r>
          </a:p>
          <a:p>
            <a:pPr>
              <a:buNone/>
            </a:pPr>
            <a:endParaRPr lang="pt-BR" dirty="0"/>
          </a:p>
          <a:p>
            <a:pPr>
              <a:buNone/>
            </a:pPr>
            <a:r>
              <a:rPr lang="pt-BR" dirty="0"/>
              <a:t>1. Relatar uma experiência pessoal em que você ou alguém próximo foi enganado(a) por uma notícia falsa (ex.: compartilhou algo sem verificar, acreditou em um boato, etc.).  </a:t>
            </a:r>
          </a:p>
          <a:p>
            <a:pPr>
              <a:buNone/>
            </a:pPr>
            <a:r>
              <a:rPr lang="pt-BR" dirty="0"/>
              <a:t>2. Analisar os motivos pelos quais as fake </a:t>
            </a:r>
            <a:r>
              <a:rPr lang="pt-BR" dirty="0" err="1"/>
              <a:t>news</a:t>
            </a:r>
            <a:r>
              <a:rPr lang="pt-BR" dirty="0"/>
              <a:t> se espalham tão rápido (use os textos de apoio para embasar sua argumentação).  </a:t>
            </a:r>
          </a:p>
          <a:p>
            <a:pPr>
              <a:buNone/>
            </a:pPr>
            <a:r>
              <a:rPr lang="pt-BR" dirty="0"/>
              <a:t>3. Posicionar-se criticamente: isso é um problema individual ("culpa de quem acredita") ou das plataformas que priorizam engajamento sobre a verdade?  </a:t>
            </a:r>
          </a:p>
          <a:p>
            <a:pPr>
              <a:buNone/>
            </a:pPr>
            <a:r>
              <a:rPr lang="pt-BR" dirty="0"/>
              <a:t>4. Propor soluções: como combater esse vício em desinformação? Checagem de fatos? Educação midiática? Mudanças nas redes sociais?  </a:t>
            </a:r>
          </a:p>
          <a:p>
            <a:pPr>
              <a:buNone/>
            </a:pPr>
            <a:br>
              <a:rPr lang="pt-BR" dirty="0"/>
            </a:br>
            <a:endParaRPr lang="pt-BR" dirty="0"/>
          </a:p>
        </p:txBody>
      </p:sp>
    </p:spTree>
    <p:extLst>
      <p:ext uri="{BB962C8B-B14F-4D97-AF65-F5344CB8AC3E}">
        <p14:creationId xmlns:p14="http://schemas.microsoft.com/office/powerpoint/2010/main" val="29382046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C43A8-CA66-8A7F-674D-2479F73CB2C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A69B6B0-062B-E022-7E4E-CFC3C6935696}"/>
              </a:ext>
            </a:extLst>
          </p:cNvPr>
          <p:cNvSpPr>
            <a:spLocks noGrp="1"/>
          </p:cNvSpPr>
          <p:nvPr>
            <p:ph type="title"/>
          </p:nvPr>
        </p:nvSpPr>
        <p:spPr>
          <a:xfrm>
            <a:off x="2886768" y="-153060"/>
            <a:ext cx="10058400" cy="1356206"/>
          </a:xfrm>
        </p:spPr>
        <p:txBody>
          <a:bodyPr>
            <a:normAutofit/>
          </a:bodyPr>
          <a:lstStyle/>
          <a:p>
            <a:r>
              <a:rPr lang="pt-BR" sz="4800" dirty="0">
                <a:solidFill>
                  <a:schemeClr val="accent1">
                    <a:lumMod val="75000"/>
                  </a:schemeClr>
                </a:solidFill>
              </a:rPr>
              <a:t>Analisando  a  PROPOSTA</a:t>
            </a:r>
          </a:p>
        </p:txBody>
      </p:sp>
      <p:sp>
        <p:nvSpPr>
          <p:cNvPr id="4" name="CaixaDeTexto 3">
            <a:extLst>
              <a:ext uri="{FF2B5EF4-FFF2-40B4-BE49-F238E27FC236}">
                <a16:creationId xmlns:a16="http://schemas.microsoft.com/office/drawing/2014/main" id="{94AD4D04-A7A1-D96B-374C-FB0B4217AD83}"/>
              </a:ext>
            </a:extLst>
          </p:cNvPr>
          <p:cNvSpPr txBox="1"/>
          <p:nvPr/>
        </p:nvSpPr>
        <p:spPr>
          <a:xfrm>
            <a:off x="192349" y="914400"/>
            <a:ext cx="11807301" cy="3693319"/>
          </a:xfrm>
          <a:prstGeom prst="rect">
            <a:avLst/>
          </a:prstGeom>
          <a:noFill/>
        </p:spPr>
        <p:txBody>
          <a:bodyPr wrap="square">
            <a:spAutoFit/>
          </a:bodyPr>
          <a:lstStyle/>
          <a:p>
            <a:pPr algn="just">
              <a:buNone/>
            </a:pPr>
            <a:r>
              <a:rPr lang="pt-BR" dirty="0"/>
              <a:t>Texto 1: Dados do Instituto Reuters mostram que 62% dos jovens brasileiros não verificam a fonte antes de compartilhar notícias.  </a:t>
            </a:r>
          </a:p>
          <a:p>
            <a:pPr algn="just">
              <a:buNone/>
            </a:pPr>
            <a:endParaRPr lang="pt-BR" dirty="0"/>
          </a:p>
          <a:p>
            <a:pPr algn="just">
              <a:buNone/>
            </a:pPr>
            <a:r>
              <a:rPr lang="pt-BR" dirty="0"/>
              <a:t>Texto 2: Estudo da MIT comprova que notícias falsas têm 70% mais chances de viralizar que as verdadeiras — emoções como medo e raiva são os "combustíveis".  </a:t>
            </a:r>
          </a:p>
          <a:p>
            <a:pPr algn="just">
              <a:buNone/>
            </a:pPr>
            <a:endParaRPr lang="pt-BR" dirty="0"/>
          </a:p>
          <a:p>
            <a:pPr algn="just">
              <a:buNone/>
            </a:pPr>
            <a:r>
              <a:rPr lang="pt-BR" dirty="0"/>
              <a:t>Texto 3: Documentário “O Dilema das Redes” revela como algoritmos promovem conteúdo polarizante para manter usuários viciados.  </a:t>
            </a:r>
          </a:p>
          <a:p>
            <a:pPr algn="just">
              <a:buNone/>
            </a:pPr>
            <a:endParaRPr lang="pt-BR" dirty="0"/>
          </a:p>
          <a:p>
            <a:pPr algn="just">
              <a:buNone/>
            </a:pPr>
            <a:r>
              <a:rPr lang="pt-BR" dirty="0"/>
              <a:t>Texto 4: Projeto “</a:t>
            </a:r>
            <a:r>
              <a:rPr lang="pt-BR" dirty="0" err="1"/>
              <a:t>EducaMídia</a:t>
            </a:r>
            <a:r>
              <a:rPr lang="pt-BR" dirty="0"/>
              <a:t>” defende que escolas ensinem checagem de fontes como habilidade essencial no século XXI.  </a:t>
            </a:r>
          </a:p>
          <a:p>
            <a:pPr algn="just">
              <a:buNone/>
            </a:pPr>
            <a:br>
              <a:rPr lang="pt-BR" dirty="0"/>
            </a:br>
            <a:endParaRPr lang="pt-BR" dirty="0"/>
          </a:p>
        </p:txBody>
      </p:sp>
    </p:spTree>
    <p:extLst>
      <p:ext uri="{BB962C8B-B14F-4D97-AF65-F5344CB8AC3E}">
        <p14:creationId xmlns:p14="http://schemas.microsoft.com/office/powerpoint/2010/main" val="39437101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B899E-DCBC-BE1A-E185-1D56AAF0F7F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B888C2-46E8-CC82-6754-1E6D9E5D69BB}"/>
              </a:ext>
            </a:extLst>
          </p:cNvPr>
          <p:cNvSpPr>
            <a:spLocks noGrp="1"/>
          </p:cNvSpPr>
          <p:nvPr>
            <p:ph type="title"/>
          </p:nvPr>
        </p:nvSpPr>
        <p:spPr>
          <a:xfrm>
            <a:off x="2886768" y="-153060"/>
            <a:ext cx="10058400" cy="1356206"/>
          </a:xfrm>
        </p:spPr>
        <p:txBody>
          <a:bodyPr>
            <a:normAutofit/>
          </a:bodyPr>
          <a:lstStyle/>
          <a:p>
            <a:r>
              <a:rPr lang="pt-BR" sz="4800" dirty="0">
                <a:solidFill>
                  <a:schemeClr val="accent1">
                    <a:lumMod val="75000"/>
                  </a:schemeClr>
                </a:solidFill>
              </a:rPr>
              <a:t>Analisando  a  </a:t>
            </a:r>
            <a:r>
              <a:rPr lang="pt-BR" sz="4800" dirty="0" err="1">
                <a:solidFill>
                  <a:schemeClr val="accent1">
                    <a:lumMod val="75000"/>
                  </a:schemeClr>
                </a:solidFill>
              </a:rPr>
              <a:t>rEDAÇÃO</a:t>
            </a:r>
            <a:endParaRPr lang="pt-BR" sz="4800" dirty="0">
              <a:solidFill>
                <a:schemeClr val="accent1">
                  <a:lumMod val="75000"/>
                </a:schemeClr>
              </a:solidFill>
            </a:endParaRPr>
          </a:p>
        </p:txBody>
      </p:sp>
      <p:sp>
        <p:nvSpPr>
          <p:cNvPr id="5" name="CaixaDeTexto 4">
            <a:extLst>
              <a:ext uri="{FF2B5EF4-FFF2-40B4-BE49-F238E27FC236}">
                <a16:creationId xmlns:a16="http://schemas.microsoft.com/office/drawing/2014/main" id="{61FF1052-C6EA-2C86-27ED-BFD1FA0498B0}"/>
              </a:ext>
            </a:extLst>
          </p:cNvPr>
          <p:cNvSpPr txBox="1"/>
          <p:nvPr/>
        </p:nvSpPr>
        <p:spPr>
          <a:xfrm>
            <a:off x="196788" y="797510"/>
            <a:ext cx="11798423" cy="575542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rgbClr val="222222"/>
                </a:solidFill>
                <a:effectLst/>
                <a:cs typeface="Arial" panose="020B0604020202020204" pitchFamily="34" charset="0"/>
              </a:rPr>
              <a:t>	Já caiu numa fake </a:t>
            </a:r>
            <a:r>
              <a:rPr kumimoji="0" lang="pt-BR" altLang="pt-BR" sz="1600" b="0" i="0" u="none" strike="noStrike" cap="none" normalizeH="0" baseline="0" dirty="0" err="1">
                <a:ln>
                  <a:noFill/>
                </a:ln>
                <a:solidFill>
                  <a:srgbClr val="222222"/>
                </a:solidFill>
                <a:effectLst/>
                <a:cs typeface="Arial" panose="020B0604020202020204" pitchFamily="34" charset="0"/>
              </a:rPr>
              <a:t>news</a:t>
            </a:r>
            <a:r>
              <a:rPr kumimoji="0" lang="pt-BR" altLang="pt-BR" sz="1600" b="0" i="0" u="none" strike="noStrike" cap="none" normalizeH="0" baseline="0" dirty="0">
                <a:ln>
                  <a:noFill/>
                </a:ln>
                <a:solidFill>
                  <a:srgbClr val="222222"/>
                </a:solidFill>
                <a:effectLst/>
                <a:cs typeface="Arial" panose="020B0604020202020204" pitchFamily="34" charset="0"/>
              </a:rPr>
              <a:t> hoje? Pode parecer exagero, mas se você passou mais de 5 minutos nas redes sociais, a resposta provavelmente é SIM. Eu mesma, semana passada, quase compartilhei um vídeo alarmante sobre "vacinas que causam autismo" — até minha tia, bióloga, me alertar: "Filha, isso é boato de 1998 que já foi desmentido 500 vezes!". Fiquei pensando: como fui tão ingênua? Mas aí lembrei: o problema não é só eu ou você. É um sistema que </a:t>
            </a:r>
            <a:r>
              <a:rPr lang="pt-BR" altLang="pt-BR" sz="1600" dirty="0">
                <a:solidFill>
                  <a:srgbClr val="222222"/>
                </a:solidFill>
                <a:cs typeface="Arial" panose="020B0604020202020204" pitchFamily="34" charset="0"/>
              </a:rPr>
              <a:t>“</a:t>
            </a:r>
            <a:r>
              <a:rPr kumimoji="0" lang="pt-BR" altLang="pt-BR" sz="1600" b="0" i="0" u="none" strike="noStrike" cap="none" normalizeH="0" baseline="0" dirty="0">
                <a:ln>
                  <a:noFill/>
                </a:ln>
                <a:solidFill>
                  <a:srgbClr val="222222"/>
                </a:solidFill>
                <a:effectLst/>
                <a:cs typeface="Arial" panose="020B0604020202020204" pitchFamily="34" charset="0"/>
              </a:rPr>
              <a:t>fabrica” desinformação feito fast-food: rápida, barata e viciante.  </a:t>
            </a:r>
            <a:endParaRPr kumimoji="0" lang="pt-BR" altLang="pt-BR" sz="16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rgbClr val="222222"/>
                </a:solidFill>
                <a:effectLst/>
                <a:cs typeface="Arial" panose="020B0604020202020204" pitchFamily="34" charset="0"/>
              </a:rPr>
              <a:t>	O MIT já provou que notícias falsas viralizam 70% mais que as verdadeiras. Motivo? Elas exploram nossos vieses — medo, raiva, curiosidade mórbida. Lembram daquela fake </a:t>
            </a:r>
            <a:r>
              <a:rPr kumimoji="0" lang="pt-BR" altLang="pt-BR" sz="1600" b="0" i="0" u="none" strike="noStrike" cap="none" normalizeH="0" baseline="0" dirty="0" err="1">
                <a:ln>
                  <a:noFill/>
                </a:ln>
                <a:solidFill>
                  <a:srgbClr val="222222"/>
                </a:solidFill>
                <a:effectLst/>
                <a:cs typeface="Arial" panose="020B0604020202020204" pitchFamily="34" charset="0"/>
              </a:rPr>
              <a:t>news</a:t>
            </a:r>
            <a:r>
              <a:rPr kumimoji="0" lang="pt-BR" altLang="pt-BR" sz="1600" b="0" i="0" u="none" strike="noStrike" cap="none" normalizeH="0" baseline="0" dirty="0">
                <a:ln>
                  <a:noFill/>
                </a:ln>
                <a:solidFill>
                  <a:srgbClr val="222222"/>
                </a:solidFill>
                <a:effectLst/>
                <a:cs typeface="Arial" panose="020B0604020202020204" pitchFamily="34" charset="0"/>
              </a:rPr>
              <a:t> do "golpe em 2023" que lotou os grupos de família? Pois é: quanto mais absurdo, mais engaja. E as redes sociais “amam</a:t>
            </a:r>
            <a:r>
              <a:rPr lang="pt-BR" altLang="pt-BR" sz="1600" dirty="0">
                <a:solidFill>
                  <a:srgbClr val="222222"/>
                </a:solidFill>
                <a:cs typeface="Arial" panose="020B0604020202020204" pitchFamily="34" charset="0"/>
              </a:rPr>
              <a:t>”</a:t>
            </a:r>
            <a:r>
              <a:rPr kumimoji="0" lang="pt-BR" altLang="pt-BR" sz="1600" b="0" i="0" u="none" strike="noStrike" cap="none" normalizeH="0" baseline="0" dirty="0">
                <a:ln>
                  <a:noFill/>
                </a:ln>
                <a:solidFill>
                  <a:srgbClr val="222222"/>
                </a:solidFill>
                <a:effectLst/>
                <a:cs typeface="Arial" panose="020B0604020202020204" pitchFamily="34" charset="0"/>
              </a:rPr>
              <a:t> isso. O documentário “O Dilema das Redes” mostra como algoritmos priorizam polêmica, não verdade. Resultado? Viramos marionetes de um jogo onde cliques valem mais que fatos.    </a:t>
            </a:r>
            <a:endParaRPr kumimoji="0" lang="pt-BR" altLang="pt-BR" sz="16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rgbClr val="222222"/>
                </a:solidFill>
                <a:effectLst/>
                <a:cs typeface="Arial" panose="020B0604020202020204" pitchFamily="34" charset="0"/>
              </a:rPr>
              <a:t>	Tem quem diga: "Ah, mas quem compartilha é burro". Será? Um estudo da Reuters revela que 62% dos jovens </a:t>
            </a:r>
            <a:r>
              <a:rPr lang="pt-BR" altLang="pt-BR" sz="1600" dirty="0">
                <a:solidFill>
                  <a:srgbClr val="222222"/>
                </a:solidFill>
                <a:cs typeface="Arial" panose="020B0604020202020204" pitchFamily="34" charset="0"/>
              </a:rPr>
              <a:t>“</a:t>
            </a:r>
            <a:r>
              <a:rPr kumimoji="0" lang="pt-BR" altLang="pt-BR" sz="1600" b="0" i="0" u="none" strike="noStrike" cap="none" normalizeH="0" baseline="0" dirty="0">
                <a:ln>
                  <a:noFill/>
                </a:ln>
                <a:solidFill>
                  <a:srgbClr val="222222"/>
                </a:solidFill>
                <a:effectLst/>
                <a:cs typeface="Arial" panose="020B0604020202020204" pitchFamily="34" charset="0"/>
              </a:rPr>
              <a:t>nunca” checam a fonte. Mas como cobrar isso se as próprias plataformas dificultam a verificação? Notícias falsas têm “design</a:t>
            </a:r>
            <a:r>
              <a:rPr lang="pt-BR" altLang="pt-BR" sz="1600" dirty="0">
                <a:solidFill>
                  <a:srgbClr val="222222"/>
                </a:solidFill>
                <a:cs typeface="Arial" panose="020B0604020202020204" pitchFamily="34" charset="0"/>
              </a:rPr>
              <a:t>”</a:t>
            </a:r>
            <a:r>
              <a:rPr kumimoji="0" lang="pt-BR" altLang="pt-BR" sz="1600" b="0" i="0" u="none" strike="noStrike" cap="none" normalizeH="0" baseline="0" dirty="0">
                <a:ln>
                  <a:noFill/>
                </a:ln>
                <a:solidFill>
                  <a:srgbClr val="222222"/>
                </a:solidFill>
                <a:effectLst/>
                <a:cs typeface="Arial" panose="020B0604020202020204" pitchFamily="34" charset="0"/>
              </a:rPr>
              <a:t> profissional: logotipos falsos de jornais, áudios editados, "especialistas" inventados. É armadilha para leigos e desinformados. E o pior: quando a mentira vira "debate", todo mundo perde — desde eleições até saúde pública (olá, surto de sarampo por recusa vacinal!).    </a:t>
            </a:r>
            <a:endParaRPr kumimoji="0" lang="pt-BR" altLang="pt-BR" sz="16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rgbClr val="222222"/>
                </a:solidFill>
                <a:effectLst/>
                <a:cs typeface="Arial" panose="020B0604020202020204" pitchFamily="34" charset="0"/>
              </a:rPr>
              <a:t>	Mas tá tudo perdido? Não! Algumas saídas:  </a:t>
            </a:r>
            <a:endParaRPr kumimoji="0" lang="pt-BR" altLang="pt-BR" sz="16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rgbClr val="222222"/>
                </a:solidFill>
                <a:effectLst/>
                <a:cs typeface="Arial" panose="020B0604020202020204" pitchFamily="34" charset="0"/>
              </a:rPr>
              <a:t>	Projetos como “</a:t>
            </a:r>
            <a:r>
              <a:rPr kumimoji="0" lang="pt-BR" altLang="pt-BR" sz="1600" b="0" i="0" u="none" strike="noStrike" cap="none" normalizeH="0" baseline="0" dirty="0" err="1">
                <a:ln>
                  <a:noFill/>
                </a:ln>
                <a:solidFill>
                  <a:srgbClr val="222222"/>
                </a:solidFill>
                <a:effectLst/>
                <a:cs typeface="Arial" panose="020B0604020202020204" pitchFamily="34" charset="0"/>
              </a:rPr>
              <a:t>EducaMídia</a:t>
            </a:r>
            <a:r>
              <a:rPr lang="pt-BR" altLang="pt-BR" sz="1600" dirty="0">
                <a:solidFill>
                  <a:srgbClr val="222222"/>
                </a:solidFill>
                <a:cs typeface="Arial" panose="020B0604020202020204" pitchFamily="34" charset="0"/>
              </a:rPr>
              <a:t>”</a:t>
            </a:r>
            <a:r>
              <a:rPr kumimoji="0" lang="pt-BR" altLang="pt-BR" sz="1600" b="0" i="0" u="none" strike="noStrike" cap="none" normalizeH="0" baseline="0" dirty="0">
                <a:ln>
                  <a:noFill/>
                </a:ln>
                <a:solidFill>
                  <a:srgbClr val="222222"/>
                </a:solidFill>
                <a:effectLst/>
                <a:cs typeface="Arial" panose="020B0604020202020204" pitchFamily="34" charset="0"/>
              </a:rPr>
              <a:t> ensinam a ler URLs suspeitas e usar sites como Aos Fatos. Devia ser matéria obrigatória!  </a:t>
            </a:r>
            <a:endParaRPr kumimoji="0" lang="pt-BR" altLang="pt-BR" sz="16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rgbClr val="222222"/>
                </a:solidFill>
                <a:effectLst/>
                <a:cs typeface="Arial" panose="020B0604020202020204" pitchFamily="34" charset="0"/>
              </a:rPr>
              <a:t>	Exigir que “fake News</a:t>
            </a:r>
            <a:r>
              <a:rPr lang="pt-BR" altLang="pt-BR" sz="1600" dirty="0">
                <a:solidFill>
                  <a:srgbClr val="222222"/>
                </a:solidFill>
                <a:cs typeface="Arial" panose="020B0604020202020204" pitchFamily="34" charset="0"/>
              </a:rPr>
              <a:t>”</a:t>
            </a:r>
            <a:r>
              <a:rPr kumimoji="0" lang="pt-BR" altLang="pt-BR" sz="1600" b="0" i="0" u="none" strike="noStrike" cap="none" normalizeH="0" baseline="0" dirty="0">
                <a:ln>
                  <a:noFill/>
                </a:ln>
                <a:solidFill>
                  <a:srgbClr val="222222"/>
                </a:solidFill>
                <a:effectLst/>
                <a:cs typeface="Arial" panose="020B0604020202020204" pitchFamily="34" charset="0"/>
              </a:rPr>
              <a:t> tenham rótulo igual cigarro ("ISTO É MENTIRA") e que algoritmos parem de lucrar com caos.  </a:t>
            </a:r>
            <a:endParaRPr kumimoji="0" lang="pt-BR" altLang="pt-BR" sz="16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rgbClr val="222222"/>
                </a:solidFill>
                <a:effectLst/>
                <a:cs typeface="Arial" panose="020B0604020202020204" pitchFamily="34" charset="0"/>
              </a:rPr>
              <a:t>	Antes de compartilhar aquele print bombástico, respirar e perguntar: "Será que eu só quero acreditar nisso?".  </a:t>
            </a:r>
            <a:endParaRPr kumimoji="0" lang="pt-BR" altLang="pt-BR" sz="16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pt-BR" altLang="pt-BR" sz="1600" b="0" i="0" u="none" strike="noStrike" cap="none" normalizeH="0" baseline="0" dirty="0">
                <a:ln>
                  <a:noFill/>
                </a:ln>
                <a:solidFill>
                  <a:srgbClr val="222222"/>
                </a:solidFill>
                <a:effectLst/>
                <a:cs typeface="Arial" panose="020B0604020202020204" pitchFamily="34" charset="0"/>
              </a:rPr>
              <a:t>	NO FIM, A ESCOLHA É NOSSA: continuar sendo </a:t>
            </a:r>
            <a:r>
              <a:rPr lang="pt-BR" altLang="pt-BR" sz="1600" dirty="0">
                <a:solidFill>
                  <a:srgbClr val="222222"/>
                </a:solidFill>
                <a:cs typeface="Arial" panose="020B0604020202020204" pitchFamily="34" charset="0"/>
              </a:rPr>
              <a:t>“</a:t>
            </a:r>
            <a:r>
              <a:rPr kumimoji="0" lang="pt-BR" altLang="pt-BR" sz="1600" b="0" i="0" u="none" strike="noStrike" cap="none" normalizeH="0" baseline="0" dirty="0">
                <a:ln>
                  <a:noFill/>
                </a:ln>
                <a:solidFill>
                  <a:srgbClr val="222222"/>
                </a:solidFill>
                <a:effectLst/>
                <a:cs typeface="Arial" panose="020B0604020202020204" pitchFamily="34" charset="0"/>
              </a:rPr>
              <a:t>gado” do algoritmo ou virar caçador(a) de fatos. Eu já decidi: vou treinar meu olhar crítico. E você? Vai ficar só no “</a:t>
            </a:r>
            <a:r>
              <a:rPr kumimoji="0" lang="pt-BR" altLang="pt-BR" sz="1600" b="0" i="0" u="none" strike="noStrike" cap="none" normalizeH="0" baseline="0" dirty="0" err="1">
                <a:ln>
                  <a:noFill/>
                </a:ln>
                <a:solidFill>
                  <a:srgbClr val="222222"/>
                </a:solidFill>
                <a:effectLst/>
                <a:cs typeface="Arial" panose="020B0604020202020204" pitchFamily="34" charset="0"/>
              </a:rPr>
              <a:t>share</a:t>
            </a:r>
            <a:r>
              <a:rPr kumimoji="0" lang="pt-BR" altLang="pt-BR" sz="1600" b="0" i="0" u="none" strike="noStrike" cap="none" normalizeH="0" baseline="0">
                <a:ln>
                  <a:noFill/>
                </a:ln>
                <a:solidFill>
                  <a:srgbClr val="222222"/>
                </a:solidFill>
                <a:effectLst/>
                <a:cs typeface="Arial" panose="020B0604020202020204" pitchFamily="34" charset="0"/>
              </a:rPr>
              <a:t>”? </a:t>
            </a:r>
            <a:r>
              <a:rPr kumimoji="0" lang="pt-BR" altLang="pt-BR" sz="1600" b="0" i="0" u="none" strike="noStrike" cap="none" normalizeH="0" baseline="0" dirty="0">
                <a:ln>
                  <a:noFill/>
                </a:ln>
                <a:solidFill>
                  <a:srgbClr val="222222"/>
                </a:solidFill>
                <a:effectLst/>
                <a:cs typeface="Arial" panose="020B0604020202020204" pitchFamily="34" charset="0"/>
              </a:rPr>
              <a:t>#PenseAntesDeClicar  </a:t>
            </a:r>
            <a:endParaRPr kumimoji="0" lang="pt-BR" altLang="pt-BR"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7463551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ipo de Madeira">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TM03090434[[fn=Tipo de Madeira]]</Template>
  <TotalTime>1218</TotalTime>
  <Words>829</Words>
  <Application>Microsoft Office PowerPoint</Application>
  <PresentationFormat>Widescreen</PresentationFormat>
  <Paragraphs>30</Paragraphs>
  <Slides>4</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4</vt:i4>
      </vt:variant>
    </vt:vector>
  </HeadingPairs>
  <TitlesOfParts>
    <vt:vector size="9" baseType="lpstr">
      <vt:lpstr>Arial</vt:lpstr>
      <vt:lpstr>Rockwell</vt:lpstr>
      <vt:lpstr>Rockwell Condensed</vt:lpstr>
      <vt:lpstr>Wingdings</vt:lpstr>
      <vt:lpstr>Tipo de Madeira</vt:lpstr>
      <vt:lpstr>           Redação  </vt:lpstr>
      <vt:lpstr>Analisando  a  PROPOSTA</vt:lpstr>
      <vt:lpstr>Analisando  a  PROPOSTA</vt:lpstr>
      <vt:lpstr>Analisando  a  rEDAÇÃO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Raphael Santos</dc:creator>
  <cp:lastModifiedBy>Raphael Rufatto dos Santos</cp:lastModifiedBy>
  <cp:revision>77</cp:revision>
  <dcterms:created xsi:type="dcterms:W3CDTF">2019-02-17T18:29:06Z</dcterms:created>
  <dcterms:modified xsi:type="dcterms:W3CDTF">2025-04-15T11:00:47Z</dcterms:modified>
</cp:coreProperties>
</file>