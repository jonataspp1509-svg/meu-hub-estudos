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9" r:id="rId5"/>
    <p:sldId id="270" r:id="rId6"/>
    <p:sldId id="264" r:id="rId7"/>
    <p:sldId id="258" r:id="rId8"/>
    <p:sldId id="259" r:id="rId9"/>
    <p:sldId id="261" r:id="rId10"/>
    <p:sldId id="262" r:id="rId11"/>
    <p:sldId id="265" r:id="rId12"/>
    <p:sldId id="266" r:id="rId13"/>
    <p:sldId id="267" r:id="rId14"/>
    <p:sldId id="268" r:id="rId15"/>
    <p:sldId id="271" r:id="rId16"/>
    <p:sldId id="27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E16F-35B7-4408-A128-A88F4F61F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2DC965-CFCC-438C-A05B-08F9B9ADA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0DC4EA-20F7-4723-8B26-BD64EE48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3BE3DD-F1CB-4D89-9E4D-BAFEDB0A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E99D4F-34B0-4B81-9F43-C877BB9B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0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C7A70-0F92-40D3-9216-5B9FC5D8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B4BFC9-D130-4CE2-B40A-B708D635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98D65C-1CD8-4DC5-A4D6-DF597C76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47AEEF-18F3-47E1-8583-A70A7060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9D30F3-19CA-49C2-9ABA-69550498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21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0B08D-C806-45B3-8E20-6244B7252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82B75E-E104-4C18-AF5A-CA30780A5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9FF41D-CEC5-4D12-909F-3F8DE0803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D325E-11AB-4C3C-85AC-52125067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556C07-1624-47A0-B2BD-2B8C055C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70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D9276-D007-4654-B744-02D00CCD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671160-79E6-47EA-ACAD-F9DD6ECBF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8488C2-905A-48FC-B372-3BE810D08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5CC633-9256-40FB-89D4-B54DC5CF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69DDCC-DCEE-476D-99E0-8BE643367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EAE1CA-B727-4E3E-93DA-719DEB67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28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6CCA0-59B9-4BD1-BCBA-DD6C7B6D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893BFC-9F14-4FCC-AB45-F623A9D90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A834E9-DB63-4B04-BD03-AC6B5579C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BB8262-3E9F-4685-9752-328A89DA9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1D44E7-653B-4AD8-A2E5-5C5F1CB85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84D2C6-2F22-47EA-993E-CCAD38B8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6341FC-6C26-4182-A1A3-302B3A97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AF2B5A-0261-40F3-88A2-B2C1FBA9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68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C3BE9-E160-4793-8DBD-E01CD87E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729338-2370-4761-8F2F-652C53555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149535-A600-403F-BFD0-D104B305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6906F5-B901-458F-8730-E5534239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6D435A7-E52C-4CB0-8708-A5EDAF7A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3097BB-B385-4C20-A025-CF9CE6F2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7DE052-08B8-4C11-A267-4CAC3EB1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91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4E4D0-1EFF-4298-B582-7FB18B6F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2EE0E2-336E-4341-A83A-15E72964C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42C15C-1591-4C3A-A724-960F330E1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C457D2-A13F-4729-A009-11F98480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E621C4-F93A-444A-9548-46E9F6F6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58164B-6ED3-4E8D-A7FE-0D3BA3E2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115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49D53-66DB-4CFF-80A0-D8A42C122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E8D8A0-A1A2-4F6F-9943-94ADBB8FE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30F03B-AA40-416A-A64E-8FB21E9A3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6176DB-CFD2-4EB6-A8FE-F85F3FD2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A61974-1D00-40AB-9CC7-CC32F442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A4F8B6-A467-4043-9B68-DF125CB5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77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10A18-6177-4B2D-9E90-C3BF3C7C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37FA7C-6088-458D-A169-AF925AB4B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FB84FF-C9B4-428D-BD7A-05C9FF82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D125F2-955C-4741-9DAB-12618108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FA0BEA-3966-483E-A3CB-05C278DE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04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85B7AA-5BD6-49C8-99C2-34DAB532A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9EC35F-61B3-48F4-8824-93DB0C3BE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0AC326-1173-4D0B-9CFF-CFA85285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28189B-97A0-4EE3-9F23-B764EE89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5415D4-FEE7-4645-90AC-47C67D6B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91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59E8F0F-F6C6-4E4A-ADCD-ED6100B8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E9F078-4180-4321-B156-6312A1090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FB0FC3-7BC7-4649-A601-47F21A384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B161A-CB26-4BCD-B2BE-2204C994C118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C1AF1B-BE96-4041-9D04-72E751470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8533D0-C7F2-49AB-8BD1-88B4F8CC9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6BBC0-D9C7-43AF-B04E-6D71C22F9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435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A230A-AC04-43B6-A5DE-09DE590FD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1868" y="1145988"/>
            <a:ext cx="7128264" cy="456602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latin typeface="+mn-lt"/>
              </a:rPr>
              <a:t>CITAÇÃO INDIRETA, PARÁFRASE E CONTEXTUALIZAÇÃO DO TEXTO-FONTE</a:t>
            </a:r>
          </a:p>
        </p:txBody>
      </p:sp>
    </p:spTree>
    <p:extLst>
      <p:ext uri="{BB962C8B-B14F-4D97-AF65-F5344CB8AC3E}">
        <p14:creationId xmlns:p14="http://schemas.microsoft.com/office/powerpoint/2010/main" val="225013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82F42-068F-4F51-9ADD-A311E4B3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é citação indireta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AA3D5E-7C60-436A-B748-9C885E27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pt-BR" b="1" dirty="0"/>
              <a:t>Citação indireta</a:t>
            </a:r>
            <a:r>
              <a:rPr lang="pt-BR" dirty="0"/>
              <a:t> é o recurso linguístico em que o autor reproduz, em </a:t>
            </a:r>
            <a:r>
              <a:rPr lang="pt-BR" b="1" dirty="0"/>
              <a:t>terceira pessoa </a:t>
            </a:r>
            <a:r>
              <a:rPr lang="pt-BR" dirty="0"/>
              <a:t>e com suas próprias palavras, a ideia de outro autor ou falante, </a:t>
            </a:r>
            <a:r>
              <a:rPr lang="pt-BR" b="1" dirty="0"/>
              <a:t>sem usar aspas</a:t>
            </a:r>
            <a:r>
              <a:rPr lang="pt-BR" dirty="0"/>
              <a:t>. Nessa reformulação, ajustam-se pronomes e tempos verbais para integrar o conteúdo ao novo texto, mantendo o sentido original.</a:t>
            </a:r>
          </a:p>
        </p:txBody>
      </p:sp>
    </p:spTree>
    <p:extLst>
      <p:ext uri="{BB962C8B-B14F-4D97-AF65-F5344CB8AC3E}">
        <p14:creationId xmlns:p14="http://schemas.microsoft.com/office/powerpoint/2010/main" val="40388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82361-35B8-42FD-AB0A-5E92B0E6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é paráfrase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583FBC-9783-45D1-BEBA-6F719AACA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pt-BR" b="1" dirty="0"/>
              <a:t>Paráfrase</a:t>
            </a:r>
            <a:r>
              <a:rPr lang="pt-BR" dirty="0"/>
              <a:t> é a reescrita de um texto ou trecho com outras palavras, preservando o mesmo sentido original. </a:t>
            </a:r>
          </a:p>
          <a:p>
            <a:pPr marL="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511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68584-1038-44E1-BD31-2B89024E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é contextualização do texto-fonte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B5D5F9-CEFE-4D5B-B1F8-F2D078E9C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14000"/>
              </a:lnSpc>
              <a:buNone/>
            </a:pPr>
            <a:r>
              <a:rPr lang="pt-BR" b="1" dirty="0"/>
              <a:t>Contextualização do texto-fonte</a:t>
            </a:r>
            <a:r>
              <a:rPr lang="pt-BR" dirty="0"/>
              <a:t> corresponde à apresentação inicial que situa o leitor em relação ao material original. Ela informa </a:t>
            </a:r>
            <a:r>
              <a:rPr lang="pt-BR" b="1" dirty="0"/>
              <a:t>quem é o autor</a:t>
            </a:r>
            <a:r>
              <a:rPr lang="pt-BR" dirty="0"/>
              <a:t>, </a:t>
            </a:r>
            <a:r>
              <a:rPr lang="pt-BR" b="1" dirty="0"/>
              <a:t>qual é a obra ou publicação de onde o trecho foi retirado</a:t>
            </a:r>
            <a:r>
              <a:rPr lang="pt-BR" dirty="0"/>
              <a:t>, </a:t>
            </a:r>
            <a:r>
              <a:rPr lang="pt-BR" b="1" dirty="0"/>
              <a:t>o tema central</a:t>
            </a:r>
            <a:r>
              <a:rPr lang="pt-BR" dirty="0"/>
              <a:t> e, se necessário, </a:t>
            </a:r>
            <a:r>
              <a:rPr lang="pt-BR" b="1" dirty="0"/>
              <a:t>o momento histórico ou social em que foi produzido</a:t>
            </a:r>
            <a:r>
              <a:rPr lang="pt-BR" dirty="0"/>
              <a:t>. </a:t>
            </a:r>
          </a:p>
          <a:p>
            <a:pPr marL="0" indent="0" algn="just">
              <a:lnSpc>
                <a:spcPct val="114000"/>
              </a:lnSpc>
              <a:buNone/>
            </a:pPr>
            <a:r>
              <a:rPr lang="pt-BR" dirty="0"/>
              <a:t>Essa etapa é fundamental porque oferece ao leitor uma visão geral antes da síntese das ideias principais, garantindo clareza, objetividade e credibilidade ao resumo.</a:t>
            </a:r>
          </a:p>
        </p:txBody>
      </p:sp>
    </p:spTree>
    <p:extLst>
      <p:ext uri="{BB962C8B-B14F-4D97-AF65-F5344CB8AC3E}">
        <p14:creationId xmlns:p14="http://schemas.microsoft.com/office/powerpoint/2010/main" val="201662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01385-C1A2-4072-963B-8DD57ACF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Exemplo: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CAE6CB0-97AA-4061-9C3E-23CCB4317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361" y="1892616"/>
            <a:ext cx="11861277" cy="2791559"/>
          </a:xfrm>
        </p:spPr>
      </p:pic>
    </p:spTree>
    <p:extLst>
      <p:ext uri="{BB962C8B-B14F-4D97-AF65-F5344CB8AC3E}">
        <p14:creationId xmlns:p14="http://schemas.microsoft.com/office/powerpoint/2010/main" val="398336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A957DA-C575-425E-B707-9EF375042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967"/>
            <a:ext cx="10515600" cy="262327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200" dirty="0"/>
              <a:t>A contextualização dos texto-fonte, a citação indireta e a paráfrase são muito utilizadas em gêneros como </a:t>
            </a:r>
            <a:r>
              <a:rPr lang="pt-BR" sz="3200" b="1" dirty="0"/>
              <a:t>verbete, resumo </a:t>
            </a:r>
            <a:r>
              <a:rPr lang="pt-BR" sz="3200" dirty="0"/>
              <a:t>e</a:t>
            </a:r>
            <a:r>
              <a:rPr lang="pt-BR" sz="3200" b="1" dirty="0"/>
              <a:t> dissertação argumentativa</a:t>
            </a:r>
            <a:r>
              <a:rPr lang="pt-BR" sz="3200" dirty="0"/>
              <a:t>, pois nesses casos é essencial garantir </a:t>
            </a:r>
            <a:r>
              <a:rPr lang="pt-BR" sz="3200" b="1" dirty="0"/>
              <a:t>clareza, autoria </a:t>
            </a:r>
            <a:r>
              <a:rPr lang="pt-BR" sz="3200" dirty="0"/>
              <a:t>e</a:t>
            </a:r>
            <a:r>
              <a:rPr lang="pt-BR" sz="3200" b="1" dirty="0"/>
              <a:t> domínio das ideias</a:t>
            </a:r>
            <a:r>
              <a:rPr lang="pt-BR" sz="3200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285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62797-5D45-4057-9E6B-F31B5A9F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Como parafrasear o discurso em 1ª pessoa?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A8CBAE-BC26-481D-928C-1CF79D72D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Adaptar o discurso da 1ª para a 3ª pessoa, ou seja do discurso direto para o discurso indireto:</a:t>
            </a:r>
          </a:p>
          <a:p>
            <a:endParaRPr lang="pt-BR" b="1" dirty="0"/>
          </a:p>
          <a:p>
            <a:r>
              <a:rPr lang="pt-BR" dirty="0"/>
              <a:t>Trocar </a:t>
            </a:r>
            <a:r>
              <a:rPr lang="pt-BR" b="1" dirty="0"/>
              <a:t>pronomes</a:t>
            </a:r>
            <a:r>
              <a:rPr lang="pt-BR" dirty="0"/>
              <a:t>: eu → ele/ela | nós → eles/elas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Ajustar </a:t>
            </a:r>
            <a:r>
              <a:rPr lang="pt-BR" b="1" dirty="0"/>
              <a:t>formas verbais</a:t>
            </a:r>
            <a:r>
              <a:rPr lang="pt-BR" dirty="0"/>
              <a:t>: 1ª pessoa → 3ª pessoa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Substituir </a:t>
            </a:r>
            <a:r>
              <a:rPr lang="pt-BR" b="1" dirty="0"/>
              <a:t>marcas pessoais</a:t>
            </a:r>
            <a:r>
              <a:rPr lang="pt-BR" dirty="0"/>
              <a:t> por narrativas indiretas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Manter o </a:t>
            </a:r>
            <a:r>
              <a:rPr lang="pt-BR" b="1" dirty="0"/>
              <a:t>mesmo sentido original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810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98EBD-9678-451E-B1FC-A90AA9EB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 prático: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AC7A4A-8E3E-4A56-AB43-1E11374D1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129"/>
            <a:ext cx="10515600" cy="525574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b="1" dirty="0"/>
              <a:t>Original (</a:t>
            </a:r>
            <a:r>
              <a:rPr lang="pt-BR" b="1" dirty="0">
                <a:solidFill>
                  <a:srgbClr val="0000FF"/>
                </a:solidFill>
              </a:rPr>
              <a:t>1ª pessoa</a:t>
            </a:r>
            <a:r>
              <a:rPr lang="pt-BR" b="1" dirty="0"/>
              <a:t>):</a:t>
            </a:r>
            <a:br>
              <a:rPr lang="pt-BR" dirty="0"/>
            </a:br>
            <a:r>
              <a:rPr lang="pt-BR" dirty="0"/>
              <a:t>“</a:t>
            </a:r>
            <a:r>
              <a:rPr lang="pt-BR" b="1" dirty="0">
                <a:solidFill>
                  <a:srgbClr val="0000FF"/>
                </a:solidFill>
              </a:rPr>
              <a:t>Eu percebi </a:t>
            </a:r>
            <a:r>
              <a:rPr lang="pt-BR" dirty="0"/>
              <a:t>que a fala dos mais velhos tinha muito valor.”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dirty="0"/>
              <a:t>Transformado (3ª pessoa):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dirty="0"/>
              <a:t>“</a:t>
            </a:r>
            <a:r>
              <a:rPr lang="pt-BR" b="1" dirty="0" err="1">
                <a:solidFill>
                  <a:srgbClr val="FF33CC"/>
                </a:solidFill>
              </a:rPr>
              <a:t>Krenak</a:t>
            </a:r>
            <a:r>
              <a:rPr lang="pt-BR" b="1" dirty="0">
                <a:solidFill>
                  <a:srgbClr val="FF33CC"/>
                </a:solidFill>
              </a:rPr>
              <a:t> percebeu </a:t>
            </a:r>
            <a:r>
              <a:rPr lang="pt-BR" dirty="0">
                <a:solidFill>
                  <a:srgbClr val="00B050"/>
                </a:solidFill>
              </a:rPr>
              <a:t>que</a:t>
            </a:r>
            <a:r>
              <a:rPr lang="pt-BR" dirty="0"/>
              <a:t> a fala dos mais velhos tinha muito valor.”</a:t>
            </a:r>
            <a:br>
              <a:rPr lang="pt-BR" dirty="0"/>
            </a:br>
            <a:r>
              <a:rPr lang="pt-BR" dirty="0"/>
              <a:t>“</a:t>
            </a:r>
            <a:r>
              <a:rPr lang="pt-BR" b="1" dirty="0">
                <a:solidFill>
                  <a:srgbClr val="FF33CC"/>
                </a:solidFill>
              </a:rPr>
              <a:t>Ele percebeu </a:t>
            </a:r>
            <a:r>
              <a:rPr lang="pt-BR" dirty="0">
                <a:solidFill>
                  <a:srgbClr val="00B050"/>
                </a:solidFill>
              </a:rPr>
              <a:t>que</a:t>
            </a:r>
            <a:r>
              <a:rPr lang="pt-BR" dirty="0"/>
              <a:t> a fala dos mais velhos tinha muito valor.”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b="1" dirty="0"/>
              <a:t>Passo a passo:</a:t>
            </a:r>
            <a:endParaRPr lang="pt-BR" dirty="0"/>
          </a:p>
          <a:p>
            <a:pPr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Verbo na </a:t>
            </a:r>
            <a:r>
              <a:rPr lang="pt-BR" dirty="0">
                <a:solidFill>
                  <a:srgbClr val="0000FF"/>
                </a:solidFill>
              </a:rPr>
              <a:t>1ª pessoa: </a:t>
            </a:r>
            <a:r>
              <a:rPr lang="pt-BR" i="1" dirty="0">
                <a:solidFill>
                  <a:srgbClr val="0000FF"/>
                </a:solidFill>
              </a:rPr>
              <a:t>percebi</a:t>
            </a:r>
            <a:endParaRPr lang="pt-BR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Troca para </a:t>
            </a:r>
            <a:r>
              <a:rPr lang="pt-BR" dirty="0">
                <a:solidFill>
                  <a:srgbClr val="FF33CC"/>
                </a:solidFill>
              </a:rPr>
              <a:t>3ª pessoa: </a:t>
            </a:r>
            <a:r>
              <a:rPr lang="pt-BR" i="1" dirty="0">
                <a:solidFill>
                  <a:srgbClr val="FF33CC"/>
                </a:solidFill>
              </a:rPr>
              <a:t>percebeu</a:t>
            </a:r>
            <a:endParaRPr lang="pt-BR" dirty="0">
              <a:solidFill>
                <a:srgbClr val="FF33CC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Troca de pronome: </a:t>
            </a:r>
            <a:r>
              <a:rPr lang="pt-BR" i="1" dirty="0">
                <a:solidFill>
                  <a:srgbClr val="0000FF"/>
                </a:solidFill>
              </a:rPr>
              <a:t>eu</a:t>
            </a:r>
            <a:r>
              <a:rPr lang="pt-BR" dirty="0"/>
              <a:t> → </a:t>
            </a:r>
            <a:r>
              <a:rPr lang="pt-BR" i="1" dirty="0">
                <a:solidFill>
                  <a:srgbClr val="FF33CC"/>
                </a:solidFill>
              </a:rPr>
              <a:t>ele</a:t>
            </a:r>
            <a:endParaRPr lang="pt-BR" dirty="0">
              <a:solidFill>
                <a:srgbClr val="FF33CC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Reescrita em discurso indireto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425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72557-B8A5-47BB-84AF-F14CBB69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977" y="726141"/>
            <a:ext cx="10712823" cy="1264024"/>
          </a:xfrm>
        </p:spPr>
        <p:txBody>
          <a:bodyPr>
            <a:normAutofit fontScale="90000"/>
          </a:bodyPr>
          <a:lstStyle/>
          <a:p>
            <a: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Exercício</a:t>
            </a:r>
            <a:br>
              <a:rPr kumimoji="0" lang="pt-BR" altLang="pt-B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E65DC9-D79D-4C18-BE17-02A2F464B1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977" y="1566952"/>
            <a:ext cx="10910046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Reescreva as frases abaixo em discurso indireto (3ª pessoa):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a) “Eu comecei a ter os mesmos sonhos premonitórios.”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b) “Se alguém me chama para fazer uma viagem, eu espero sonhar com aquilo.”</a:t>
            </a:r>
          </a:p>
        </p:txBody>
      </p:sp>
    </p:spTree>
    <p:extLst>
      <p:ext uri="{BB962C8B-B14F-4D97-AF65-F5344CB8AC3E}">
        <p14:creationId xmlns:p14="http://schemas.microsoft.com/office/powerpoint/2010/main" val="424062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22957-D6E3-4F1A-803E-26377101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+mn-lt"/>
                <a:cs typeface="Arial" panose="020B0604020202020204" pitchFamily="34" charset="0"/>
              </a:rPr>
              <a:t>Respostas esperadas: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0F1F12-6821-4BF5-ADA2-6AFD3D4DC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93506" cy="449972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a) “</a:t>
            </a:r>
            <a:r>
              <a:rPr lang="pt-BR" kern="100" dirty="0">
                <a:solidFill>
                  <a:srgbClr val="3366FF"/>
                </a:solidFill>
                <a:effectLst/>
                <a:ea typeface="Aptos"/>
                <a:cs typeface="Arial" panose="020B0604020202020204" pitchFamily="34" charset="0"/>
              </a:rPr>
              <a:t>Eu comecei </a:t>
            </a: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a ter os mesmos sonhos premonitórios.”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kern="100" dirty="0" err="1">
                <a:solidFill>
                  <a:srgbClr val="00B050"/>
                </a:solidFill>
                <a:effectLst/>
                <a:ea typeface="Aptos"/>
                <a:cs typeface="Arial" panose="020B0604020202020204" pitchFamily="34" charset="0"/>
              </a:rPr>
              <a:t>Krenak</a:t>
            </a:r>
            <a:r>
              <a:rPr lang="pt-BR" kern="100" dirty="0">
                <a:solidFill>
                  <a:srgbClr val="00B050"/>
                </a:solidFill>
                <a:effectLst/>
                <a:ea typeface="Aptos"/>
                <a:cs typeface="Arial" panose="020B0604020202020204" pitchFamily="34" charset="0"/>
              </a:rPr>
              <a:t> contou que </a:t>
            </a:r>
            <a:r>
              <a:rPr lang="pt-BR" kern="100" dirty="0">
                <a:solidFill>
                  <a:srgbClr val="FF33CC"/>
                </a:solidFill>
                <a:effectLst/>
                <a:ea typeface="Aptos"/>
                <a:cs typeface="Arial" panose="020B0604020202020204" pitchFamily="34" charset="0"/>
              </a:rPr>
              <a:t>havia começado </a:t>
            </a: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a ter os mesmos sonhos premonitórios.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endParaRPr lang="pt-BR" kern="100" dirty="0">
              <a:effectLst/>
              <a:ea typeface="Aptos"/>
              <a:cs typeface="Arial" panose="020B0604020202020204" pitchFamily="34" charset="0"/>
            </a:endParaRP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b) “Se alguém </a:t>
            </a:r>
            <a:r>
              <a:rPr lang="pt-BR" kern="100" dirty="0">
                <a:solidFill>
                  <a:srgbClr val="3366FF"/>
                </a:solidFill>
                <a:effectLst/>
                <a:ea typeface="Aptos"/>
                <a:cs typeface="Arial" panose="020B0604020202020204" pitchFamily="34" charset="0"/>
              </a:rPr>
              <a:t>me chama </a:t>
            </a: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para fazer uma viagem, </a:t>
            </a:r>
            <a:r>
              <a:rPr lang="pt-BR" kern="100" dirty="0">
                <a:solidFill>
                  <a:srgbClr val="3366FF"/>
                </a:solidFill>
                <a:effectLst/>
                <a:ea typeface="Aptos"/>
                <a:cs typeface="Arial" panose="020B0604020202020204" pitchFamily="34" charset="0"/>
              </a:rPr>
              <a:t>eu espero </a:t>
            </a: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sonhar com aquilo.”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kern="100" dirty="0">
                <a:solidFill>
                  <a:srgbClr val="00B050"/>
                </a:solidFill>
                <a:effectLst/>
                <a:ea typeface="Aptos"/>
                <a:cs typeface="Arial" panose="020B0604020202020204" pitchFamily="34" charset="0"/>
              </a:rPr>
              <a:t>Ele disse que</a:t>
            </a: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, se alguém </a:t>
            </a:r>
            <a:r>
              <a:rPr lang="pt-BR" kern="100" dirty="0">
                <a:solidFill>
                  <a:srgbClr val="FF33CC"/>
                </a:solidFill>
                <a:effectLst/>
                <a:ea typeface="Aptos"/>
                <a:cs typeface="Arial" panose="020B0604020202020204" pitchFamily="34" charset="0"/>
              </a:rPr>
              <a:t>o chamasse </a:t>
            </a: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para fazer uma viagem, </a:t>
            </a:r>
            <a:r>
              <a:rPr lang="pt-BR" kern="100" dirty="0">
                <a:solidFill>
                  <a:srgbClr val="FF33CC"/>
                </a:solidFill>
                <a:effectLst/>
                <a:ea typeface="Aptos"/>
                <a:cs typeface="Arial" panose="020B0604020202020204" pitchFamily="34" charset="0"/>
              </a:rPr>
              <a:t>ele esperava </a:t>
            </a:r>
            <a:r>
              <a:rPr lang="pt-BR" kern="100" dirty="0">
                <a:effectLst/>
                <a:ea typeface="Aptos"/>
                <a:cs typeface="Arial" panose="020B0604020202020204" pitchFamily="34" charset="0"/>
              </a:rPr>
              <a:t>sonhar com aquilo.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520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B5CCB-FB8F-4928-B96B-706B269B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Vamos parafrasear?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40CD5D-93C1-4301-BE6E-532CCFB95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651"/>
            <a:ext cx="10515600" cy="4962312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Leia atentamente o trecho a seguir:</a:t>
            </a:r>
            <a:br>
              <a:rPr lang="pt-BR" dirty="0"/>
            </a:br>
            <a:endParaRPr lang="pt-BR" dirty="0"/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pt-BR" sz="2400" dirty="0"/>
              <a:t>“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Na época eu ouvia os velhos como um espectador. Até que comecei a ter os mesmos sonhos premonitórios ao olhar as estradas, os tratores e as motosserras chegando; o barulho delas derrubando as grandes árvores, a revolta dos rios. Passei a ouvir os rios falando, ora com raiva, ora ofendidos. Nós acabamos nos constituindo como um terminal nervoso do que chamam de natureza. E a ciência daquele pajé, alertando toda uma geração que hoje está com cinquenta, sessenta anos de que seu território ficaria devastado e sem caça, cumpriu-se de maneira absolutamente correta.”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0054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21485F-F74B-4B8E-A297-356D1CE3B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251"/>
            <a:ext cx="10515600" cy="5876712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Observe os pronomes e as formas verbais em 1ª pessoa. Lembre-se de que eles serão modificados para 3ª pessoa. Além disso, a paráfrase tem a função de reescrever um texto ou trecho com outras palavras, preservando o mesmo sentido original.</a:t>
            </a:r>
          </a:p>
          <a:p>
            <a:pPr marL="0" indent="0">
              <a:buNone/>
            </a:pPr>
            <a:endParaRPr lang="pt-BR" dirty="0"/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pt-BR" sz="2400" dirty="0"/>
              <a:t>“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Na época </a:t>
            </a:r>
            <a:r>
              <a:rPr lang="pt-BR" sz="2400" dirty="0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eu ouvia 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os velhos como um espectador. Até que </a:t>
            </a:r>
            <a:r>
              <a:rPr lang="pt-BR" sz="2400" dirty="0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comecei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 a ter os mesmos sonhos premonitórios ao olhar as estradas, os tratores e as motosserras chegando; o barulho delas derrubando as grandes árvores, a revolta dos rios. </a:t>
            </a:r>
            <a:r>
              <a:rPr lang="pt-BR" sz="2400" dirty="0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Passei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 a ouvir os rios falando, ora com raiva, ora ofendidos. </a:t>
            </a:r>
            <a:r>
              <a:rPr lang="pt-BR" sz="2400" dirty="0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Nós acabamos nos </a:t>
            </a:r>
            <a:r>
              <a:rPr lang="pt-BR" sz="2400" dirty="0">
                <a:effectLst/>
                <a:ea typeface="Times New Roman" panose="02020603050405020304" pitchFamily="18" charset="0"/>
              </a:rPr>
              <a:t>constituindo como um terminal nervoso do que chamam de natureza. E a ciência daquele pajé, alertando toda uma geração que hoje está com cinquenta, sessenta anos de que seu território ficaria devastado e sem caça, cumpriu-se de maneira absolutamente correta.”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0437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ço Reservado para Conteúdo 15">
            <a:extLst>
              <a:ext uri="{FF2B5EF4-FFF2-40B4-BE49-F238E27FC236}">
                <a16:creationId xmlns:a16="http://schemas.microsoft.com/office/drawing/2014/main" id="{B10C6351-F038-4B47-8FAF-D54661717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98495"/>
            <a:ext cx="12084214" cy="3043432"/>
          </a:xfrm>
        </p:spPr>
      </p:pic>
    </p:spTree>
    <p:extLst>
      <p:ext uri="{BB962C8B-B14F-4D97-AF65-F5344CB8AC3E}">
        <p14:creationId xmlns:p14="http://schemas.microsoft.com/office/powerpoint/2010/main" val="3912089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2DDB0-E9C2-4223-A1E5-AA750B4C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Será que é possível sintetizar mais?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27EF7B-DE2A-48B7-90C7-2D54CCF5C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291" y="1777064"/>
            <a:ext cx="11764546" cy="2445312"/>
          </a:xfrm>
        </p:spPr>
      </p:pic>
    </p:spTree>
    <p:extLst>
      <p:ext uri="{BB962C8B-B14F-4D97-AF65-F5344CB8AC3E}">
        <p14:creationId xmlns:p14="http://schemas.microsoft.com/office/powerpoint/2010/main" val="2539834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46522-CCA2-48A9-841E-326CDA73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Note que este trecho está repleto de marcas da 1ª pessoa do discurso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0E576-C648-4716-B66E-854D47AC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pt-BR" sz="2400" dirty="0"/>
              <a:t>"Foi esse ponto de observação que </a:t>
            </a:r>
            <a:r>
              <a:rPr lang="pt-BR" sz="2400" dirty="0">
                <a:solidFill>
                  <a:srgbClr val="0000FF"/>
                </a:solidFill>
              </a:rPr>
              <a:t>me</a:t>
            </a:r>
            <a:r>
              <a:rPr lang="pt-BR" sz="2400" dirty="0"/>
              <a:t> fez afirmar que </a:t>
            </a:r>
            <a:r>
              <a:rPr lang="pt-BR" sz="2400" dirty="0">
                <a:solidFill>
                  <a:srgbClr val="0000FF"/>
                </a:solidFill>
              </a:rPr>
              <a:t>nós </a:t>
            </a:r>
            <a:r>
              <a:rPr lang="pt-BR" sz="2400" dirty="0"/>
              <a:t>não</a:t>
            </a:r>
            <a:r>
              <a:rPr lang="pt-BR" sz="2400" dirty="0">
                <a:solidFill>
                  <a:srgbClr val="0000FF"/>
                </a:solidFill>
              </a:rPr>
              <a:t> somos </a:t>
            </a:r>
            <a:r>
              <a:rPr lang="pt-BR" sz="2400" dirty="0"/>
              <a:t>a humanidade que </a:t>
            </a:r>
            <a:r>
              <a:rPr lang="pt-BR" sz="2400" dirty="0">
                <a:solidFill>
                  <a:srgbClr val="0000FF"/>
                </a:solidFill>
              </a:rPr>
              <a:t>pensamos</a:t>
            </a:r>
            <a:r>
              <a:rPr lang="pt-BR" sz="2400" dirty="0"/>
              <a:t> ser. É mais ou menos o seguinte: se </a:t>
            </a:r>
            <a:r>
              <a:rPr lang="pt-BR" sz="2400" dirty="0">
                <a:solidFill>
                  <a:srgbClr val="0000FF"/>
                </a:solidFill>
              </a:rPr>
              <a:t>acreditamos</a:t>
            </a:r>
            <a:r>
              <a:rPr lang="pt-BR" sz="2400" dirty="0"/>
              <a:t> que quem apita nesse organismo maravilhoso que é a Terra são os tais humanos, </a:t>
            </a:r>
            <a:r>
              <a:rPr lang="pt-BR" sz="2400" dirty="0">
                <a:solidFill>
                  <a:srgbClr val="0000FF"/>
                </a:solidFill>
              </a:rPr>
              <a:t>acabamos</a:t>
            </a:r>
            <a:r>
              <a:rPr lang="pt-BR" sz="2400" dirty="0"/>
              <a:t> incorrendo no grave erro de achar que existe uma qualidade humana especial. Ora, se essa qualidade existisse, </a:t>
            </a:r>
            <a:r>
              <a:rPr lang="pt-BR" sz="2400" dirty="0">
                <a:solidFill>
                  <a:srgbClr val="0000FF"/>
                </a:solidFill>
              </a:rPr>
              <a:t>nós</a:t>
            </a:r>
            <a:r>
              <a:rPr lang="pt-BR" sz="2400" dirty="0"/>
              <a:t> não </a:t>
            </a:r>
            <a:r>
              <a:rPr lang="pt-BR" sz="2400" dirty="0">
                <a:solidFill>
                  <a:srgbClr val="0000FF"/>
                </a:solidFill>
              </a:rPr>
              <a:t>estaríamos</a:t>
            </a:r>
            <a:r>
              <a:rPr lang="pt-BR" sz="2400" dirty="0"/>
              <a:t> hoje discutindo a indiferença de algumas pessoas em relação à morte e à destruição da base da vida no planeta. Destruir a floresta, o rio, destruir as paisagens, assim como ignorar a morte das pessoas, mostra que não há parâmetro de qualidade nenhum na humanidade, que isso não passa de uma construção histórica não confirmada pela realidade."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814240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E47C0-8910-441E-BDDB-34171253E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Após a síntese e a paráfrase, a </a:t>
            </a:r>
            <a:r>
              <a:rPr lang="pt-BR" b="1" dirty="0"/>
              <a:t>citação indireta </a:t>
            </a:r>
            <a:r>
              <a:rPr lang="pt-BR" dirty="0"/>
              <a:t>do trecho: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79F6483-BC9A-4A6F-8353-9700865CE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869" y="2141113"/>
            <a:ext cx="11712262" cy="2575773"/>
          </a:xfrm>
        </p:spPr>
      </p:pic>
    </p:spTree>
    <p:extLst>
      <p:ext uri="{BB962C8B-B14F-4D97-AF65-F5344CB8AC3E}">
        <p14:creationId xmlns:p14="http://schemas.microsoft.com/office/powerpoint/2010/main" val="757804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906</Words>
  <Application>Microsoft Office PowerPoint</Application>
  <PresentationFormat>Widescreen</PresentationFormat>
  <Paragraphs>49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CITAÇÃO INDIRETA, PARÁFRASE E CONTEXTUALIZAÇÃO DO TEXTO-FONTE</vt:lpstr>
      <vt:lpstr>O que é citação indireta</vt:lpstr>
      <vt:lpstr>O que é paráfrase</vt:lpstr>
      <vt:lpstr>O que é contextualização do texto-fonte</vt:lpstr>
      <vt:lpstr>Exemplo:</vt:lpstr>
      <vt:lpstr>Apresentação do PowerPoint</vt:lpstr>
      <vt:lpstr>Como parafrasear o discurso em 1ª pessoa?</vt:lpstr>
      <vt:lpstr>Exemplo prático: </vt:lpstr>
      <vt:lpstr>Exercício </vt:lpstr>
      <vt:lpstr>Respostas esperadas:</vt:lpstr>
      <vt:lpstr>Vamos parafrasear? </vt:lpstr>
      <vt:lpstr>Apresentação do PowerPoint</vt:lpstr>
      <vt:lpstr>Apresentação do PowerPoint</vt:lpstr>
      <vt:lpstr>Será que é possível sintetizar mais?</vt:lpstr>
      <vt:lpstr>Note que este trecho está repleto de marcas da 1ª pessoa do discurso</vt:lpstr>
      <vt:lpstr>Após a síntese e a paráfrase, a citação indireta do trecho: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Paráfrase</dc:title>
  <dc:creator>Thaís Cavalcante</dc:creator>
  <cp:lastModifiedBy>Thaís Cavalcante</cp:lastModifiedBy>
  <cp:revision>12</cp:revision>
  <dcterms:created xsi:type="dcterms:W3CDTF">2025-09-05T11:10:49Z</dcterms:created>
  <dcterms:modified xsi:type="dcterms:W3CDTF">2025-09-14T18:06:53Z</dcterms:modified>
</cp:coreProperties>
</file>