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60" r:id="rId5"/>
    <p:sldId id="258" r:id="rId6"/>
    <p:sldId id="271" r:id="rId7"/>
    <p:sldId id="261" r:id="rId8"/>
    <p:sldId id="262" r:id="rId9"/>
    <p:sldId id="270" r:id="rId10"/>
    <p:sldId id="264" r:id="rId11"/>
    <p:sldId id="266" r:id="rId12"/>
    <p:sldId id="265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CDFF"/>
    <a:srgbClr val="6666FF"/>
    <a:srgbClr val="2607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BD77F-FC26-EAB5-FCFC-B01C76E3A247}" v="67" dt="2024-04-23T07:43:53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BEA33-BCCD-D9F6-CD12-4C314D543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635A3E-D529-4759-8324-ADE39C136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4E1EF7-159B-2951-B656-E14998CB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94BE70-1733-8B49-CC90-4E666A5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3AAA5D-724E-76A5-110D-19F8BA70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05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928FA-AD91-1B04-1B77-EBFEEBFF2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052E54-AB1A-84EC-1E03-C755C8496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E58052-409A-0554-9020-82188AE8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E44B89-6645-F198-46E3-17669E91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C2EC15-A8A8-7EF3-35E2-25BB4C859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58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15D36-EC7C-D162-22CD-959993B55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466C87-5DDA-698E-530B-AF35F659B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BAB71-3F31-F9C9-E524-4DECCAEF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F4A397-B443-F8AA-D94D-D99A5894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8C606D-533F-3D07-1DC8-7B07B7BE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0637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0F332-18B4-BC2B-5D3F-5BE2744B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F9BC8E-854E-FC1B-F529-5817255CA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B704A4-9FC9-5423-C245-27BEFCBF3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FC00EF-5F50-5141-A481-0D9A3EC1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EB7F37-FB11-BF85-594B-C7EDFDA6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44FFE5-4B09-E943-C790-3B912A93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500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FDC04-BE34-CDDF-B884-24444BD4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FA406F-E421-52CB-15D8-6C1133046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8E5133-68EF-F80A-F2E5-DABC10703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D542BA-9D5A-1B8F-8965-A4D4E0C0C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200665-2D41-E2F3-10FA-9C6905CE5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4090B54-B708-3F84-2497-116A37C8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DEFA57-0ECF-E0A6-30ED-16CEF344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C4C7C99-E87A-1841-980A-F5DE85AD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65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5FB3E-3225-E321-B0CF-022A23AC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E475CF-0ACA-985C-E7F0-A027EFFBE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4C3D26-AD77-A0C5-9C5C-B1D7517B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759A1C-FE5E-DCB4-F8B0-32EDBE5D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288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17614D-6246-9FEB-1532-56C6BC2B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49206C3-BE12-310F-771B-E0E855E2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953839-0B9A-A5DF-812C-EC7006DE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9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E0ADF-1B1A-51E8-78D5-F2C15FC2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FED2D8-7FD6-6931-5B44-996DDB2AB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A15DF9-E7E6-2982-0251-E938EA96E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ED1ACB-6749-BF6C-39F5-BDAF9045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584D57-54C2-2F66-B757-9C9DA644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AFBA85-549A-5352-610D-746DD286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6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C9C3D-1895-52D9-E611-2FC700A3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54D8667-4AD9-99E4-D95F-12D852AF6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E2FCC7-B8F8-8D7A-E9E1-69F9A767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9DE94A-2C4B-F018-9D51-27A543BCC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5B7D20-3377-3EA5-CE4E-9F0CB7828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CB56BE-AB38-E061-4AA7-3ADB1CA45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20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61366-F4CA-E8CB-D35F-05297AA8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0A000F-54D7-78A6-95E3-313251D34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917984-61AC-70BE-3E4F-8151C2EB7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5C01E4-EE6B-0E94-B11F-1E445A41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FBA8C2-1B07-8ED2-97CC-68CF3E28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54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B50225-82C6-46ED-9316-47C1ED585B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36560A-5289-9A7E-3F80-A00E026B8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ABD375-E05F-F7F6-71DD-F358BA23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150608-4F1C-DFF2-B9AA-3A51FD7D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4AC760-D9F8-F81B-F21E-908AB638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9465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4CEC583-0107-EBFD-7696-83846E1F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569498-9C6F-4D32-6925-E72E5EE5C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041091-236F-8CC4-C067-B95BB277A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6E592-8820-419A-A0C6-4C4BB6DB0E42}" type="datetimeFigureOut">
              <a:rPr lang="pt-BR" smtClean="0"/>
              <a:t>23/04/2024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AC581F-E846-115B-7A74-67EA737DB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6A9AF8-00A4-C157-D195-31E3FEA7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F2F56-D94D-4D9D-B6CF-58FE00981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450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rasilescola.uol.com.br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463BEC-87DC-D7FB-1EB3-BAEAF0005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pt-BR" b="1"/>
              <a:t>Laboratório de Produção Textual</a:t>
            </a:r>
            <a:endParaRPr lang="pt-BR"/>
          </a:p>
          <a:p>
            <a:pPr marL="0" indent="0" algn="ctr">
              <a:buNone/>
            </a:pPr>
            <a:r>
              <a:rPr lang="pt-BR" b="1"/>
              <a:t>1ª série</a:t>
            </a:r>
            <a:endParaRPr lang="pt-BR" b="1">
              <a:cs typeface="Calibri" panose="020F0502020204030204"/>
            </a:endParaRPr>
          </a:p>
          <a:p>
            <a:pPr marL="0" indent="0">
              <a:buNone/>
            </a:pPr>
            <a:endParaRPr lang="pt-BR"/>
          </a:p>
          <a:p>
            <a:pPr marL="0" indent="0" algn="ctr">
              <a:buNone/>
            </a:pPr>
            <a:r>
              <a:rPr lang="pt-BR" sz="1800" dirty="0"/>
              <a:t>2º Período de 2024</a:t>
            </a:r>
            <a:endParaRPr lang="pt-BR" sz="1800" dirty="0">
              <a:cs typeface="Calibri"/>
            </a:endParaRPr>
          </a:p>
          <a:p>
            <a:pPr marL="0" indent="0" algn="r">
              <a:buNone/>
            </a:pPr>
            <a:endParaRPr lang="pt-BR" sz="1800" dirty="0">
              <a:cs typeface="Calibri"/>
            </a:endParaRPr>
          </a:p>
          <a:p>
            <a:pPr marL="0" indent="0" algn="r">
              <a:buNone/>
            </a:pPr>
            <a:endParaRPr lang="pt-BR" sz="1800" dirty="0"/>
          </a:p>
          <a:p>
            <a:pPr marL="0" indent="0" algn="r">
              <a:buNone/>
            </a:pPr>
            <a:endParaRPr lang="pt-BR" sz="1800" dirty="0"/>
          </a:p>
          <a:p>
            <a:pPr marL="0" indent="0" algn="r">
              <a:buNone/>
            </a:pPr>
            <a:r>
              <a:rPr lang="pt-BR" sz="1800" dirty="0"/>
              <a:t>Prof.ª Isabella Vieira</a:t>
            </a:r>
            <a:endParaRPr lang="pt-BR" sz="1800" dirty="0">
              <a:cs typeface="Calibri"/>
            </a:endParaRPr>
          </a:p>
          <a:p>
            <a:pPr marL="0" indent="0" algn="r">
              <a:buNone/>
            </a:pPr>
            <a:r>
              <a:rPr lang="pt-BR" sz="1800" dirty="0"/>
              <a:t>Prof.ª Thaís Dantas</a:t>
            </a:r>
            <a:endParaRPr lang="pt-BR" sz="1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06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6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F20D6D-33D5-2037-1419-33CD681D7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pt-BR" b="1">
                <a:latin typeface="+mn-lt"/>
              </a:rPr>
              <a:t>Tipo textual expositivo</a:t>
            </a:r>
          </a:p>
        </p:txBody>
      </p:sp>
    </p:spTree>
    <p:extLst>
      <p:ext uri="{BB962C8B-B14F-4D97-AF65-F5344CB8AC3E}">
        <p14:creationId xmlns:p14="http://schemas.microsoft.com/office/powerpoint/2010/main" val="1624702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33EA6E-CFD1-9A8F-B788-85650A780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pt-BR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Aft>
                <a:spcPts val="800"/>
              </a:spcAft>
              <a:buNone/>
            </a:pPr>
            <a:endParaRPr lang="pt-BR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r>
              <a:rPr lang="pt-BR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A capacidade de organizar e apresentar de modo claro e coerente está na base dos textos expositivos. </a:t>
            </a:r>
            <a:r>
              <a:rPr lang="pt-BR" kern="100" dirty="0"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pt-BR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utilizado para introduzir, discutir ou explicar um determinado assunto. Ele é muito comum em contextos acadêmicos e escolares, como em aulas, palestras, entrevistas, seminários, defesas de dissertações, congressos etc.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30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C5C608-4C2C-4D0E-508A-DBD2B14A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Alguns gêneros textuais de tipologia textual expositiva: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773A77-96DD-01F0-DC57-71295DF44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t-BR" dirty="0"/>
              <a:t>verbete</a:t>
            </a:r>
          </a:p>
          <a:p>
            <a:r>
              <a:rPr lang="pt-BR" dirty="0"/>
              <a:t>panfletos informativos</a:t>
            </a:r>
          </a:p>
          <a:p>
            <a:r>
              <a:rPr lang="pt-BR" dirty="0"/>
              <a:t>livros didáticos</a:t>
            </a:r>
          </a:p>
          <a:p>
            <a:r>
              <a:rPr lang="pt-BR" dirty="0"/>
              <a:t>reportagem</a:t>
            </a:r>
          </a:p>
          <a:p>
            <a:r>
              <a:rPr lang="pt-BR" dirty="0"/>
              <a:t>seminário</a:t>
            </a:r>
          </a:p>
          <a:p>
            <a:r>
              <a:rPr lang="pt-BR" dirty="0"/>
              <a:t>apresentação</a:t>
            </a:r>
          </a:p>
          <a:p>
            <a:r>
              <a:rPr lang="pt-BR" dirty="0"/>
              <a:t>relatório</a:t>
            </a:r>
          </a:p>
          <a:p>
            <a:r>
              <a:rPr lang="pt-BR" dirty="0"/>
              <a:t>resumo</a:t>
            </a:r>
          </a:p>
          <a:p>
            <a:r>
              <a:rPr lang="pt-BR" dirty="0"/>
              <a:t>palestra</a:t>
            </a:r>
          </a:p>
          <a:p>
            <a:r>
              <a:rPr lang="pt-BR" dirty="0"/>
              <a:t>aula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3957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3FA86D7-7BBB-5C08-7D29-65D375514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6000"/>
                    </a14:imgEffect>
                    <a14:imgEffect>
                      <a14:saturation sat="118000"/>
                    </a14:imgEffect>
                    <a14:imgEffect>
                      <a14:brightnessContrast contrast="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57376" y="1748671"/>
            <a:ext cx="8763622" cy="3067267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20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91D91A-BC78-0FA9-ACA7-4FAE18A67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pt-BR" sz="2000" dirty="0">
                <a:solidFill>
                  <a:srgbClr val="FFFFFF"/>
                </a:solidFill>
              </a:rPr>
              <a:t>Leia atentamente o texto a seguir: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5E06BE-06C5-F58A-4DE4-104A901FD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0070" y="313154"/>
            <a:ext cx="7112109" cy="5863809"/>
          </a:xfrm>
        </p:spPr>
        <p:txBody>
          <a:bodyPr anchor="ctr"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1800" dirty="0"/>
              <a:t>"ORWELL, G. </a:t>
            </a:r>
            <a:r>
              <a:rPr lang="pt-BR" sz="1800" b="1" dirty="0"/>
              <a:t>1984</a:t>
            </a:r>
            <a:r>
              <a:rPr lang="pt-BR" sz="1800" dirty="0"/>
              <a:t>. São Paulo: Companhia das Letras, 2009.</a:t>
            </a:r>
            <a:endParaRPr lang="pt-BR" dirty="0">
              <a:cs typeface="Calibri" panose="020F0502020204030204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1800" dirty="0"/>
              <a:t>	Em 1984, o mundo vive uma distopia que evidencia uma guerra constante entre três nações. O conflito é pano de fundo e de sustentação de um governo autoritário em que a população é vigiada pelas chamadas “teletelas”, que consistem em câmeras de vigilância dispostas nas casas e em diversos ambientes abertos. Tudo isso é permeado por um ambiente de constante tensão, cercado pela figura do Grande Irmão (Big Brother) e amparado pelos lemas: “Guerra é paz”, “Liberdade é escravidão” e “Ignorância é força”. É nesse ambiente que Winston Smith, um integrante do partido, começa a questionar o ambiente em que vive e se envolve de maneira amorosa com uma insurgente do sistema totalitário vigente. Tomados por ideias subversivas de Emmanuel Goldstein, Winston e seu recente par romântico são inflados pelo sentimento de resistência, mas logo são oprimidos com a descoberta de que tudo não passou de criação do próprio sistema dessa sociedade de controle. Ao final, descobre-se que a resistência foi forjada e que ninguém é capaz de escapar da vigilância constante das teletelas e do Grande Irmão. </a:t>
            </a:r>
            <a:endParaRPr lang="pt-BR" sz="1800" dirty="0">
              <a:cs typeface="Calibri" panose="020F0502020204030204"/>
            </a:endParaRPr>
          </a:p>
          <a:p>
            <a:pPr marL="0" indent="0" algn="r">
              <a:buNone/>
            </a:pPr>
            <a:r>
              <a:rPr lang="pt-BR" sz="1400" dirty="0"/>
              <a:t>Disponível em: </a:t>
            </a:r>
            <a:r>
              <a:rPr lang="pt-BR" sz="1400" dirty="0">
                <a:hlinkClick r:id="rId2"/>
              </a:rPr>
              <a:t>https://brasilescola.uol.com.br/</a:t>
            </a:r>
            <a:r>
              <a:rPr lang="pt-BR" sz="1400" dirty="0"/>
              <a:t>. Acesso em: 21 abr. 2024.</a:t>
            </a:r>
            <a:endParaRPr lang="pt-BR" sz="1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841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393BE7-66A1-6ECF-339F-6264D4FE8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05" y="125714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	</a:t>
            </a:r>
            <a:endParaRPr lang="pt-BR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  <a:p>
            <a:pPr marL="0" indent="0" algn="just">
              <a:buNone/>
            </a:pPr>
            <a:r>
              <a:rPr lang="pt-BR" dirty="0"/>
              <a:t>	Na nossa rotina escolar, muitas vezes você é solicitado a fazer um </a:t>
            </a:r>
            <a:r>
              <a:rPr lang="pt-BR" b="1" dirty="0"/>
              <a:t>resumo</a:t>
            </a:r>
            <a:r>
              <a:rPr lang="pt-BR" dirty="0"/>
              <a:t> de livro ou artigo. Nessas horas, você se depara com um problema: ter de produzir um texto em </a:t>
            </a:r>
            <a:r>
              <a:rPr lang="pt-BR" b="1" dirty="0"/>
              <a:t>tamanho reduzido</a:t>
            </a:r>
            <a:r>
              <a:rPr lang="pt-BR" dirty="0"/>
              <a:t>, </a:t>
            </a:r>
            <a:r>
              <a:rPr lang="pt-BR" b="1" dirty="0"/>
              <a:t>fiel ao original</a:t>
            </a:r>
            <a:r>
              <a:rPr lang="pt-BR" dirty="0"/>
              <a:t>, </a:t>
            </a:r>
            <a:r>
              <a:rPr lang="pt-BR" b="1" dirty="0">
                <a:highlight>
                  <a:srgbClr val="FFFF00"/>
                </a:highlight>
              </a:rPr>
              <a:t>mas</a:t>
            </a:r>
            <a:r>
              <a:rPr lang="pt-BR" dirty="0"/>
              <a:t> </a:t>
            </a:r>
            <a:r>
              <a:rPr lang="pt-BR" b="1" dirty="0"/>
              <a:t>sem copiá-lo</a:t>
            </a:r>
            <a:r>
              <a:rPr lang="pt-BR" dirty="0"/>
              <a:t>. </a:t>
            </a: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14857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6977A7-5863-4542-3A53-BF9510B5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FFFFFF"/>
                </a:solidFill>
              </a:rPr>
              <a:t>RESUMO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EDFAD-C1CF-E3C3-C18D-AB8755BE8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5880" y="591344"/>
            <a:ext cx="7087919" cy="558561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pt-BR" dirty="0"/>
              <a:t>	</a:t>
            </a:r>
            <a:r>
              <a:rPr lang="pt-BR" sz="2400" dirty="0"/>
              <a:t>O resumo é um texto reduzido que recupera as ideias principais de um texto-fonte, a fim de oferecer ao leitor uma visão geral de seu conteúdo. Sendo assim, ele sintetiza o texto-fonte com fidelidade. </a:t>
            </a:r>
            <a:endParaRPr lang="pt-BR" sz="24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400" dirty="0"/>
              <a:t>	É importante entender que, para resumir um texto, é preciso lê-lo em sua </a:t>
            </a:r>
            <a:r>
              <a:rPr lang="pt-BR" sz="2400" b="1" dirty="0"/>
              <a:t>totalidade</a:t>
            </a:r>
            <a:r>
              <a:rPr lang="pt-BR" sz="2400" dirty="0"/>
              <a:t> e com atenção, para que se apreendam os pontos importantes que serão, depois, destacados.</a:t>
            </a:r>
            <a:endParaRPr lang="pt-BR" sz="24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41012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6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6FF78A-9479-E7CF-08C2-811F9B1D2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pt-BR" sz="4100" b="1" dirty="0">
                <a:solidFill>
                  <a:srgbClr val="FFFFFF"/>
                </a:solidFill>
              </a:rPr>
              <a:t>Características do resumo </a:t>
            </a:r>
            <a:br>
              <a:rPr lang="pt-BR" sz="4100">
                <a:solidFill>
                  <a:srgbClr val="FFFFFF"/>
                </a:solidFill>
              </a:rPr>
            </a:br>
            <a:endParaRPr lang="pt-BR" sz="4100">
              <a:solidFill>
                <a:srgbClr val="FFFFFF"/>
              </a:solidFill>
            </a:endParaRPr>
          </a:p>
        </p:txBody>
      </p:sp>
      <p:sp>
        <p:nvSpPr>
          <p:cNvPr id="30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9D9897-7ABC-AC70-7EC7-5D6AEE857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7402395" cy="558561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pt-BR" sz="2000" dirty="0"/>
              <a:t>• tamanho reduzido; </a:t>
            </a:r>
            <a:endParaRPr lang="pt-BR" sz="2000">
              <a:cs typeface="Calibri"/>
            </a:endParaRPr>
          </a:p>
          <a:p>
            <a:pPr marL="0" indent="0" algn="just">
              <a:buNone/>
            </a:pPr>
            <a:r>
              <a:rPr lang="pt-BR" sz="2000" dirty="0"/>
              <a:t>• uso do modo indicativo; </a:t>
            </a:r>
            <a:endParaRPr lang="pt-BR" sz="20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000" dirty="0"/>
              <a:t>• citação de referências, bibliográficas; </a:t>
            </a:r>
            <a:endParaRPr lang="pt-BR" sz="20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000" dirty="0"/>
              <a:t>• foco narrativo em terceira pessoa; </a:t>
            </a:r>
            <a:endParaRPr lang="pt-BR" sz="20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000" dirty="0"/>
              <a:t>• fidelidade e suficiência em relação às  informações do texto-fonte; </a:t>
            </a:r>
            <a:endParaRPr lang="pt-BR" sz="20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000" dirty="0"/>
              <a:t>• ausência de avaliações do narrador;</a:t>
            </a:r>
            <a:endParaRPr lang="pt-BR" sz="20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000" dirty="0"/>
              <a:t>• contextualização; </a:t>
            </a:r>
            <a:endParaRPr lang="pt-BR" sz="20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000" dirty="0"/>
              <a:t>• ausência de interações com o leitor;  </a:t>
            </a:r>
            <a:endParaRPr lang="pt-BR" sz="20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000" dirty="0"/>
              <a:t>• adaptação das marcas temporais.</a:t>
            </a:r>
            <a:endParaRPr lang="pt-BR" sz="2000" dirty="0">
              <a:cs typeface="Calibri" panose="020F0502020204030204"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0681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DA1407-3CAA-00F8-E8BA-8541C8F8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Regras de redução de informações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71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FED89E-C61D-9D31-2AEA-AB557987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1 - Supressão de informações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10E1ED-74F5-FDED-2703-2D84B784F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03505" cy="44360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sz="2200" dirty="0"/>
              <a:t>Uma regra prática para reduzir um texto é preservar as informações importantes e eliminar as redundantes ou irrelevantes.</a:t>
            </a:r>
            <a:endParaRPr lang="pt-BR" dirty="0"/>
          </a:p>
          <a:p>
            <a:pPr marL="0" indent="0" algn="just">
              <a:buNone/>
            </a:pPr>
            <a:r>
              <a:rPr lang="pt-BR" sz="2200" dirty="0"/>
              <a:t>Palavras e expressões sujeitas a supressão:</a:t>
            </a:r>
            <a:endParaRPr lang="pt-BR" sz="2200" dirty="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200" dirty="0"/>
              <a:t>• exemplos; </a:t>
            </a:r>
            <a:endParaRPr lang="pt-BR" sz="2200"/>
          </a:p>
          <a:p>
            <a:pPr marL="0" indent="0" algn="just">
              <a:buNone/>
            </a:pPr>
            <a:r>
              <a:rPr lang="pt-BR" sz="2200" dirty="0"/>
              <a:t>• expressões explicativas intercaladas por vírgulas ou parênteses; </a:t>
            </a:r>
            <a:endParaRPr lang="pt-BR" sz="22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200" dirty="0"/>
              <a:t>• explicações de casos particulares; </a:t>
            </a:r>
            <a:endParaRPr lang="pt-BR" sz="22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200" dirty="0"/>
              <a:t>• redundâncias – palavras ou expressões repetidas ou equivalentes; </a:t>
            </a:r>
            <a:endParaRPr lang="pt-BR" sz="22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200" dirty="0"/>
              <a:t>• ideias repetidas; </a:t>
            </a:r>
            <a:endParaRPr lang="pt-BR" sz="22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200" dirty="0"/>
              <a:t>• comentários ou avaliações pessoais; </a:t>
            </a:r>
            <a:endParaRPr lang="pt-BR" sz="2200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sz="2200" dirty="0"/>
              <a:t>• detalhamentos.</a:t>
            </a:r>
            <a:endParaRPr lang="pt-BR" sz="22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27836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68BB6F-2CC7-D5F4-F26D-87512E15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2- Generalização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611A18-FA4E-6E9A-43C0-E82F406E3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dirty="0"/>
              <a:t>	Quando temos uma enumeração de pessoas, propriedades, ações etc. que se prestem a formar agrupamento, podemos falar de uma só vez de todos os elementos, generalizando-os. Assim, em vez de eliminar o trecho, é possível reduzi-lo. Avaliando a importância das informações para o texto, decidimos sobre a conveniência de adotar um ou outro procedimento.</a:t>
            </a: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15798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16B77F-5E41-210E-D036-264BBA73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3- Identificação dos tópicos (ideias principais)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175721-4813-6C60-55C8-F026A8D54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dirty="0"/>
              <a:t>1º) Numere os parágrafos do texto-fonte.</a:t>
            </a:r>
            <a:endParaRPr lang="pt-BR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dirty="0"/>
              <a:t>2º) Releia cada parágrafo para captar a </a:t>
            </a:r>
            <a:r>
              <a:rPr lang="pt-BR" b="1" dirty="0"/>
              <a:t>ideia </a:t>
            </a:r>
            <a:r>
              <a:rPr lang="pt-BR" dirty="0"/>
              <a:t>ou </a:t>
            </a:r>
            <a:r>
              <a:rPr lang="pt-BR" b="1" dirty="0"/>
              <a:t>fato principal </a:t>
            </a:r>
            <a:r>
              <a:rPr lang="pt-BR" dirty="0"/>
              <a:t>contido nele. A ideia principal de um parágrafo também é chamada de </a:t>
            </a:r>
            <a:r>
              <a:rPr lang="pt-BR" b="1" dirty="0"/>
              <a:t>“tópico”</a:t>
            </a:r>
            <a:r>
              <a:rPr lang="pt-BR" dirty="0"/>
              <a:t>. Registre todos os tópicos numerados e em sequência.</a:t>
            </a:r>
            <a:endParaRPr lang="pt-BR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dirty="0"/>
              <a:t>Dicas: construa uma frase para cada parágrafo e expresse-se com suas palavras, sem copiar as construções sintáticas do autor.</a:t>
            </a: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7742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B44313-9B85-62F7-573F-94D4736E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4- Combinação de tópicos</a:t>
            </a:r>
            <a:br>
              <a:rPr lang="pt-BR" dirty="0"/>
            </a:br>
            <a:endParaRPr lang="pt-BR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F4E0A1-1B45-6BCD-C15A-99ED8829F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05" y="136600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dirty="0"/>
              <a:t>	O levantamento dos tópicos já é meio caminho andado em direção ao resumo. No entanto, ainda podemos dar mais alguns passos. Observe os tópicos levantados. Alguns deles tratam das mesmas questões.</a:t>
            </a:r>
            <a:endParaRPr lang="pt-BR">
              <a:cs typeface="Calibri" panose="020F0502020204030204"/>
            </a:endParaRPr>
          </a:p>
          <a:p>
            <a:pPr marL="0" indent="0" algn="just">
              <a:buNone/>
            </a:pPr>
            <a:r>
              <a:rPr lang="pt-BR" dirty="0"/>
              <a:t>	Para resumir ainda mais o texto, podemos agrupá-los e construir com eles uma única frase.</a:t>
            </a:r>
            <a:endParaRPr lang="pt-BR">
              <a:cs typeface="Calibri" panose="020F0502020204030204"/>
            </a:endParaRPr>
          </a:p>
          <a:p>
            <a:pPr marL="514350" indent="-514350" algn="just">
              <a:buAutoNum type="arabicPeriod"/>
            </a:pPr>
            <a:r>
              <a:rPr lang="pt-BR" dirty="0"/>
              <a:t>Faça uma lista dos tópicos que podem ser agrupados. </a:t>
            </a:r>
            <a:endParaRPr lang="pt-BR">
              <a:cs typeface="Calibri" panose="020F0502020204030204"/>
            </a:endParaRPr>
          </a:p>
          <a:p>
            <a:pPr marL="514350" indent="-514350" algn="just">
              <a:buAutoNum type="arabicPeriod"/>
            </a:pPr>
            <a:r>
              <a:rPr lang="pt-BR" dirty="0"/>
              <a:t>Junte as frases de cada grupo em uma só.</a:t>
            </a: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92812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8274942-0066-7228-E666-3142A3F3A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4" y="864989"/>
            <a:ext cx="10872172" cy="2636501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5AC2AB-23F5-648F-181A-A5FC92305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297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834</Words>
  <Application>Microsoft Office PowerPoint</Application>
  <PresentationFormat>Widescreen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Apresentação do PowerPoint</vt:lpstr>
      <vt:lpstr>Tipo textual expositivo</vt:lpstr>
      <vt:lpstr>Apresentação do PowerPoint</vt:lpstr>
      <vt:lpstr>Alguns gêneros textuais de tipologia textual expositiva:</vt:lpstr>
      <vt:lpstr>Apresentação do PowerPoint</vt:lpstr>
      <vt:lpstr>Leia atentamente o texto a seguir:</vt:lpstr>
      <vt:lpstr>Apresentação do PowerPoint</vt:lpstr>
      <vt:lpstr>RESUMO</vt:lpstr>
      <vt:lpstr>Características do resumo  </vt:lpstr>
      <vt:lpstr>Regras de redução de informações</vt:lpstr>
      <vt:lpstr>1 - Supressão de informações</vt:lpstr>
      <vt:lpstr>2- Generalização</vt:lpstr>
      <vt:lpstr>3- Identificação dos tópicos (ideias principais)</vt:lpstr>
      <vt:lpstr>4- Combinação de tópicos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Tipo textual expositivo</dc:title>
  <dc:creator>Fernando Monteiro</dc:creator>
  <cp:lastModifiedBy>Fernando Monteiro</cp:lastModifiedBy>
  <cp:revision>73</cp:revision>
  <dcterms:created xsi:type="dcterms:W3CDTF">2024-04-20T14:22:32Z</dcterms:created>
  <dcterms:modified xsi:type="dcterms:W3CDTF">2024-04-23T07:48:11Z</dcterms:modified>
</cp:coreProperties>
</file>