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5" r:id="rId3"/>
    <p:sldMasterId id="2147483712" r:id="rId4"/>
  </p:sldMasterIdLst>
  <p:sldIdLst>
    <p:sldId id="265" r:id="rId5"/>
    <p:sldId id="256" r:id="rId6"/>
    <p:sldId id="257" r:id="rId7"/>
    <p:sldId id="258" r:id="rId8"/>
    <p:sldId id="259" r:id="rId9"/>
    <p:sldId id="261" r:id="rId10"/>
    <p:sldId id="262" r:id="rId11"/>
    <p:sldId id="263" r:id="rId12"/>
    <p:sldId id="264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6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85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82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07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01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68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43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54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99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543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253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90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171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460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977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7062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233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93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6318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273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5852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38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936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26237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8986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9041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79918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5678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5640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27590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34896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5121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9579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6806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61248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5595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9593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08122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30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3228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60787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0235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03848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24358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5058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87723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7156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5944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8831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880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5110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6352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8028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93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2426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3362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6935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061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0952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793659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1905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 w="3175" cmpd="sng">
                  <a:noFill/>
                </a:ln>
                <a:solidFill>
                  <a:srgbClr val="5FCBEF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78902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5575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4108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0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A55A9FB-640D-4210-8450-0A7CEA7DFD5A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1AE1EDB-5DE0-4AFE-8523-27BF13D752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4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57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79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5CDDC-D5A9-4537-897F-51171BCDD81D}" type="datetimeFigureOut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09/10/2025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2196F-267B-4D44-9748-751E62AFDDB1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srgbClr val="5FCBE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srgbClr val="5FCBEF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32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21.gi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2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39" y="2471737"/>
            <a:ext cx="9936000" cy="343338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CaixaDeTexto 2"/>
          <p:cNvSpPr txBox="1"/>
          <p:nvPr/>
        </p:nvSpPr>
        <p:spPr>
          <a:xfrm>
            <a:off x="1907822" y="880533"/>
            <a:ext cx="5813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Arial Black" panose="020B0A04020102020204" pitchFamily="34" charset="0"/>
              </a:rPr>
              <a:t>EXERCÍCIOS EQUILÍBRIO TÉRMICO</a:t>
            </a:r>
          </a:p>
          <a:p>
            <a:endParaRPr lang="pt-BR" dirty="0">
              <a:latin typeface="Arial Black" panose="020B0A04020102020204" pitchFamily="34" charset="0"/>
            </a:endParaRPr>
          </a:p>
          <a:p>
            <a:r>
              <a:rPr lang="pt-BR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PÁG. 164 EX: 9,10,11,12 </a:t>
            </a:r>
            <a:r>
              <a:rPr lang="pt-BR" dirty="0" smtClean="0">
                <a:latin typeface="Arial Black" panose="020B0A04020102020204" pitchFamily="34" charset="0"/>
              </a:rPr>
              <a:t>/ </a:t>
            </a:r>
            <a:r>
              <a:rPr lang="pt-BR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PÁG.165 EX:6 PÁG.166 EX:9 E 11 </a:t>
            </a:r>
            <a:r>
              <a:rPr lang="pt-BR" dirty="0" smtClean="0">
                <a:latin typeface="Arial Black" panose="020B0A04020102020204" pitchFamily="34" charset="0"/>
              </a:rPr>
              <a:t>/ </a:t>
            </a:r>
            <a:r>
              <a:rPr lang="pt-BR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PÁG.167 EX:4</a:t>
            </a:r>
            <a:endParaRPr lang="pt-BR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638175"/>
            <a:ext cx="10844211" cy="5688000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1444978" y="3330222"/>
            <a:ext cx="282222" cy="3160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20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3" y="609069"/>
            <a:ext cx="11071931" cy="5760000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377244" y="4425244"/>
            <a:ext cx="304800" cy="2709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4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656696"/>
            <a:ext cx="7064022" cy="303847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695171"/>
            <a:ext cx="7064022" cy="26860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222" y="3318933"/>
            <a:ext cx="1873955" cy="2892601"/>
          </a:xfrm>
          <a:prstGeom prst="rect">
            <a:avLst/>
          </a:prstGeom>
        </p:spPr>
      </p:pic>
      <p:sp>
        <p:nvSpPr>
          <p:cNvPr id="5" name="Elipse 4"/>
          <p:cNvSpPr/>
          <p:nvPr/>
        </p:nvSpPr>
        <p:spPr>
          <a:xfrm>
            <a:off x="8511822" y="5283200"/>
            <a:ext cx="237067" cy="2144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0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571500"/>
            <a:ext cx="10901362" cy="5719424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399822" y="4278489"/>
            <a:ext cx="338667" cy="3386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16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638165"/>
            <a:ext cx="10715625" cy="5656077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591733" y="4492978"/>
            <a:ext cx="248356" cy="237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51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600072"/>
            <a:ext cx="10086975" cy="5572127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636889" y="3759200"/>
            <a:ext cx="237067" cy="2144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945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681037"/>
            <a:ext cx="10467975" cy="5400000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761067" y="4741333"/>
            <a:ext cx="259644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867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203" y="646112"/>
            <a:ext cx="6915150" cy="2924175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03" y="3570287"/>
            <a:ext cx="4019550" cy="240030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353" y="3570287"/>
            <a:ext cx="6419850" cy="17526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5441244" y="5599289"/>
            <a:ext cx="3081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RESPOSTA D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98759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F58C6A5-E910-4062-9C29-62CD0B028FD0}"/>
              </a:ext>
            </a:extLst>
          </p:cNvPr>
          <p:cNvSpPr txBox="1"/>
          <p:nvPr/>
        </p:nvSpPr>
        <p:spPr>
          <a:xfrm>
            <a:off x="249378" y="0"/>
            <a:ext cx="106957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Extra 3-) 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Num calorímetro com capacidade térmica de 5,0 cal/ºC, inicialmente a 10 ºC, são colocados 300 g de um líquido de calor específico 0,20 cal/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g.ºC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na temperatura de 41 ºC.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3D9BC0-C58B-417D-BCBF-BE68E80864FE}"/>
              </a:ext>
            </a:extLst>
          </p:cNvPr>
          <p:cNvSpPr txBox="1"/>
          <p:nvPr/>
        </p:nvSpPr>
        <p:spPr>
          <a:xfrm>
            <a:off x="249377" y="1593273"/>
            <a:ext cx="106957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a-) a que temperatura se estabelece o equilíbrio térmico entre o calorímetro e o líquido?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945659-DA86-4D5B-AEF0-359F71A46EC5}"/>
              </a:ext>
            </a:extLst>
          </p:cNvPr>
          <p:cNvSpPr txBox="1"/>
          <p:nvPr/>
        </p:nvSpPr>
        <p:spPr>
          <a:xfrm>
            <a:off x="429487" y="2500398"/>
            <a:ext cx="929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Vamos colocar as informações em uma tabela: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5">
                <a:extLst>
                  <a:ext uri="{FF2B5EF4-FFF2-40B4-BE49-F238E27FC236}">
                    <a16:creationId xmlns:a16="http://schemas.microsoft.com/office/drawing/2014/main" id="{A090E391-3C35-4330-A15F-6A4E2AFD360A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49377" y="3085173"/>
              <a:ext cx="10848113" cy="9837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2388">
                      <a:extLst>
                        <a:ext uri="{9D8B030D-6E8A-4147-A177-3AD203B41FA5}">
                          <a16:colId xmlns:a16="http://schemas.microsoft.com/office/drawing/2014/main" val="1811782789"/>
                        </a:ext>
                      </a:extLst>
                    </a:gridCol>
                    <a:gridCol w="8875725">
                      <a:extLst>
                        <a:ext uri="{9D8B030D-6E8A-4147-A177-3AD203B41FA5}">
                          <a16:colId xmlns:a16="http://schemas.microsoft.com/office/drawing/2014/main" val="3577992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Calorímetro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 = 5,0 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cal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/º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∆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𝜽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7552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Líquido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𝟑𝟎𝟎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𝒈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𝒄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cal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i="0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g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i="0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.º</m:t>
                                </m:r>
                                <m:r>
                                  <m:rPr>
                                    <m:nor/>
                                  </m:rPr>
                                  <a:rPr lang="pt-BR" sz="2400" b="1" dirty="0" smtClean="0">
                                    <a:solidFill>
                                      <a:schemeClr val="tx1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C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𝟒𝟏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∆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𝜽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𝟒𝟏</m:t>
                                </m:r>
                              </m:oMath>
                            </m:oMathPara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08700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5">
                <a:extLst>
                  <a:ext uri="{FF2B5EF4-FFF2-40B4-BE49-F238E27FC236}">
                    <a16:creationId xmlns:a16="http://schemas.microsoft.com/office/drawing/2014/main" id="{A090E391-3C35-4330-A15F-6A4E2AFD36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7305751"/>
                  </p:ext>
                </p:extLst>
              </p:nvPr>
            </p:nvGraphicFramePr>
            <p:xfrm>
              <a:off x="249377" y="3085173"/>
              <a:ext cx="10848113" cy="9837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2388">
                      <a:extLst>
                        <a:ext uri="{9D8B030D-6E8A-4147-A177-3AD203B41FA5}">
                          <a16:colId xmlns:a16="http://schemas.microsoft.com/office/drawing/2014/main" val="1811782789"/>
                        </a:ext>
                      </a:extLst>
                    </a:gridCol>
                    <a:gridCol w="8875725">
                      <a:extLst>
                        <a:ext uri="{9D8B030D-6E8A-4147-A177-3AD203B41FA5}">
                          <a16:colId xmlns:a16="http://schemas.microsoft.com/office/drawing/2014/main" val="357799240"/>
                        </a:ext>
                      </a:extLst>
                    </a:gridCol>
                  </a:tblGrid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Calorímetro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22306" t="-8642" r="-275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7552429"/>
                      </a:ext>
                    </a:extLst>
                  </a:tr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Líquido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22306" t="-108642" r="-275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08700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id="{726978F1-5083-4301-85C5-572587DE8A8B}"/>
              </a:ext>
            </a:extLst>
          </p:cNvPr>
          <p:cNvSpPr txBox="1"/>
          <p:nvPr/>
        </p:nvSpPr>
        <p:spPr>
          <a:xfrm>
            <a:off x="3048374" y="4068915"/>
            <a:ext cx="3842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calorímetro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líquido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E83A0F6-E428-415C-9ECA-6A41882FEFA0}"/>
                  </a:ext>
                </a:extLst>
              </p:cNvPr>
              <p:cNvSpPr txBox="1"/>
              <p:nvPr/>
            </p:nvSpPr>
            <p:spPr>
              <a:xfrm>
                <a:off x="803560" y="4592135"/>
                <a:ext cx="5399812" cy="5619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𝑪𝒂𝒍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𝑪𝒂𝒍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𝒍𝒊𝒒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𝒍𝒊𝒒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𝒍𝒊𝒒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8E83A0F6-E428-415C-9ECA-6A41882FE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60" y="4592135"/>
                <a:ext cx="5399812" cy="561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6D0A9F9-DE64-4CD5-AE8F-217C524B6076}"/>
                  </a:ext>
                </a:extLst>
              </p:cNvPr>
              <p:cNvSpPr txBox="1"/>
              <p:nvPr/>
            </p:nvSpPr>
            <p:spPr>
              <a:xfrm>
                <a:off x="803560" y="5082398"/>
                <a:ext cx="6563720" cy="594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d>
                        <m:d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pt-BR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pt-BR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kumimoji="0" lang="pt-BR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sub>
                          </m:s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</m:e>
                      </m:d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𝟑𝟎𝟎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d>
                        <m:d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pt-BR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0" lang="pt-BR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kumimoji="0" lang="pt-BR" sz="2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𝒇</m:t>
                              </m:r>
                            </m:sub>
                          </m:s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𝟒𝟏</m:t>
                          </m:r>
                        </m:e>
                      </m:d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A6D0A9F9-DE64-4CD5-AE8F-217C524B6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60" y="5082398"/>
                <a:ext cx="6563720" cy="59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0F8BDCF-9457-475E-9838-8C8ECCBA079C}"/>
                  </a:ext>
                </a:extLst>
              </p:cNvPr>
              <p:cNvSpPr txBox="1"/>
              <p:nvPr/>
            </p:nvSpPr>
            <p:spPr>
              <a:xfrm>
                <a:off x="1176676" y="5564317"/>
                <a:ext cx="4954561" cy="564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𝟔𝟎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𝟐𝟒𝟔𝟎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E0F8BDCF-9457-475E-9838-8C8ECCBA0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676" y="5564317"/>
                <a:ext cx="4954561" cy="564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29E3442-4C5B-452A-B366-4F3A549CA860}"/>
                  </a:ext>
                </a:extLst>
              </p:cNvPr>
              <p:cNvSpPr txBox="1"/>
              <p:nvPr/>
            </p:nvSpPr>
            <p:spPr>
              <a:xfrm>
                <a:off x="2118181" y="6087537"/>
                <a:ext cx="2426883" cy="564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𝟔𝟓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𝟐𝟓𝟏𝟎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29E3442-4C5B-452A-B366-4F3A549C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181" y="6087537"/>
                <a:ext cx="2426883" cy="564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9BC3679E-49EC-4608-B845-54387CCFC4D0}"/>
              </a:ext>
            </a:extLst>
          </p:cNvPr>
          <p:cNvSpPr/>
          <p:nvPr/>
        </p:nvSpPr>
        <p:spPr>
          <a:xfrm>
            <a:off x="4869007" y="6128382"/>
            <a:ext cx="617562" cy="523220"/>
          </a:xfrm>
          <a:prstGeom prst="rightArrow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B0B4A93-1E6A-46F4-A787-CDF5CDC838F4}"/>
                  </a:ext>
                </a:extLst>
              </p:cNvPr>
              <p:cNvSpPr txBox="1"/>
              <p:nvPr/>
            </p:nvSpPr>
            <p:spPr>
              <a:xfrm>
                <a:off x="5677651" y="6029968"/>
                <a:ext cx="2355260" cy="564065"/>
              </a:xfrm>
              <a:prstGeom prst="rect">
                <a:avLst/>
              </a:prstGeom>
              <a:noFill/>
              <a:ln w="57150" cmpd="dbl">
                <a:solidFill>
                  <a:schemeClr val="accent5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𝒇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𝟑𝟖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°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B0B4A93-1E6A-46F4-A787-CDF5CDC83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651" y="6029968"/>
                <a:ext cx="2355260" cy="5640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57150" cmpd="dbl"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m 13" descr="Uma imagem contendo laranja, mesa&#10;&#10;Descrição gerada automaticamente">
            <a:extLst>
              <a:ext uri="{FF2B5EF4-FFF2-40B4-BE49-F238E27FC236}">
                <a16:creationId xmlns:a16="http://schemas.microsoft.com/office/drawing/2014/main" id="{A2327D4D-9BE3-4177-825F-38CFBBA611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116" y="4514552"/>
            <a:ext cx="2067358" cy="206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6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C807104-67A5-4E15-864E-78345B88A5C3}"/>
              </a:ext>
            </a:extLst>
          </p:cNvPr>
          <p:cNvSpPr txBox="1"/>
          <p:nvPr/>
        </p:nvSpPr>
        <p:spPr>
          <a:xfrm>
            <a:off x="221668" y="152401"/>
            <a:ext cx="106957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b-) em seguida, coloca-se no calorímetro um bloco metálico de massa 500 g a 200 ºC e o novo equilíbrio térmico se estabelece a 60 ºC. Qual é o calor específico do metal de que é feito o bloco?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AC5D87-2BF9-4295-A7BE-DB0BEE1CFD57}"/>
              </a:ext>
            </a:extLst>
          </p:cNvPr>
          <p:cNvSpPr txBox="1"/>
          <p:nvPr/>
        </p:nvSpPr>
        <p:spPr>
          <a:xfrm>
            <a:off x="922353" y="1810927"/>
            <a:ext cx="929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Vamos colocar as informações em uma tabela: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5">
                <a:extLst>
                  <a:ext uri="{FF2B5EF4-FFF2-40B4-BE49-F238E27FC236}">
                    <a16:creationId xmlns:a16="http://schemas.microsoft.com/office/drawing/2014/main" id="{81D54581-8A36-4F93-B5BA-F99F0F0B3D7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91161" y="2342769"/>
              <a:ext cx="10695710" cy="18413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8727">
                      <a:extLst>
                        <a:ext uri="{9D8B030D-6E8A-4147-A177-3AD203B41FA5}">
                          <a16:colId xmlns:a16="http://schemas.microsoft.com/office/drawing/2014/main" val="902158128"/>
                        </a:ext>
                      </a:extLst>
                    </a:gridCol>
                    <a:gridCol w="8666983">
                      <a:extLst>
                        <a:ext uri="{9D8B030D-6E8A-4147-A177-3AD203B41FA5}">
                          <a16:colId xmlns:a16="http://schemas.microsoft.com/office/drawing/2014/main" val="1384603062"/>
                        </a:ext>
                      </a:extLst>
                    </a:gridCol>
                  </a:tblGrid>
                  <a:tr h="405312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Calorímetro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 = 5,0 cal/ºC;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𝟑𝟖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°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𝑪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; </m:t>
                              </m:r>
                              <m:sSub>
                                <m:sSubPr>
                                  <m:ctrlP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𝒇</m:t>
                                  </m:r>
                                </m:sub>
                              </m:sSub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𝟔𝟎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°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𝑪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; ∆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𝜽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𝟐𝟏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°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𝑪</m:t>
                              </m:r>
                            </m:oMath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4280384"/>
                      </a:ext>
                    </a:extLst>
                  </a:tr>
                  <a:tr h="405312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Líquido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𝒍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𝟑𝟎𝟎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𝒈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𝒄𝒂𝒍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𝒈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.°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𝟑𝟖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  ∆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𝜽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𝟐𝟏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2126303"/>
                      </a:ext>
                    </a:extLst>
                  </a:tr>
                  <a:tr h="405312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Bloco</a:t>
                          </a:r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𝑩𝒍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𝟓𝟎𝟎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𝒈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𝑩𝒍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𝟐𝟎𝟎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∆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𝜽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=−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𝟏𝟒𝟎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098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5">
                <a:extLst>
                  <a:ext uri="{FF2B5EF4-FFF2-40B4-BE49-F238E27FC236}">
                    <a16:creationId xmlns:a16="http://schemas.microsoft.com/office/drawing/2014/main" id="{81D54581-8A36-4F93-B5BA-F99F0F0B3D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1703508"/>
                  </p:ext>
                </p:extLst>
              </p:nvPr>
            </p:nvGraphicFramePr>
            <p:xfrm>
              <a:off x="291161" y="2342769"/>
              <a:ext cx="10695710" cy="184137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28727">
                      <a:extLst>
                        <a:ext uri="{9D8B030D-6E8A-4147-A177-3AD203B41FA5}">
                          <a16:colId xmlns:a16="http://schemas.microsoft.com/office/drawing/2014/main" val="902158128"/>
                        </a:ext>
                      </a:extLst>
                    </a:gridCol>
                    <a:gridCol w="8666983">
                      <a:extLst>
                        <a:ext uri="{9D8B030D-6E8A-4147-A177-3AD203B41FA5}">
                          <a16:colId xmlns:a16="http://schemas.microsoft.com/office/drawing/2014/main" val="1384603062"/>
                        </a:ext>
                      </a:extLst>
                    </a:gridCol>
                  </a:tblGrid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Calorímetro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23472" t="-9877" r="-281" b="-2962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4280384"/>
                      </a:ext>
                    </a:extLst>
                  </a:tr>
                  <a:tr h="85763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Líquido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23472" t="-63121" r="-281" b="-702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26303"/>
                      </a:ext>
                    </a:extLst>
                  </a:tr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Bloco</a:t>
                          </a:r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23472" t="-283951" r="-281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0986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7E9DCA10-4FE0-4A5A-B7E7-D94A8F53773E}"/>
              </a:ext>
            </a:extLst>
          </p:cNvPr>
          <p:cNvSpPr txBox="1"/>
          <p:nvPr/>
        </p:nvSpPr>
        <p:spPr>
          <a:xfrm>
            <a:off x="2299852" y="4180318"/>
            <a:ext cx="5166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calorímetro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líquido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bloco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1FD1C3-DDAA-4DB9-B528-0E11B9391F2A}"/>
                  </a:ext>
                </a:extLst>
              </p:cNvPr>
              <p:cNvSpPr txBox="1"/>
              <p:nvPr/>
            </p:nvSpPr>
            <p:spPr>
              <a:xfrm>
                <a:off x="291161" y="4702853"/>
                <a:ext cx="93074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𝑪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𝒂𝒍𝒐𝒓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í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𝒎𝒆𝒕𝒓𝒐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𝑳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𝒃𝒍𝒐𝒄𝒐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𝒃𝒍𝒐𝒄𝒐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𝒃𝒍𝒐𝒄𝒐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1FD1C3-DDAA-4DB9-B528-0E11B9391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61" y="4702853"/>
                <a:ext cx="930748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9B583BB-F612-4193-89A5-ECB638369A56}"/>
                  </a:ext>
                </a:extLst>
              </p:cNvPr>
              <p:cNvSpPr txBox="1"/>
              <p:nvPr/>
            </p:nvSpPr>
            <p:spPr>
              <a:xfrm>
                <a:off x="976865" y="5225388"/>
                <a:ext cx="85016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𝟓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𝟐𝟏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𝟑𝟎𝟎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𝟐𝟏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𝟒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𝟓𝟎𝟎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𝒃𝒍𝒐𝒄𝒐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(−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𝟏𝟒𝟎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 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9B583BB-F612-4193-89A5-ECB638369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65" y="5225388"/>
                <a:ext cx="850162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60A04E7-ADA8-4964-8DD6-07F796F760AA}"/>
                  </a:ext>
                </a:extLst>
              </p:cNvPr>
              <p:cNvSpPr txBox="1"/>
              <p:nvPr/>
            </p:nvSpPr>
            <p:spPr>
              <a:xfrm>
                <a:off x="1097022" y="5707148"/>
                <a:ext cx="35714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𝟕𝟎𝟎𝟎𝟎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𝒃𝒍𝒐𝒄𝒐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𝟏𝟑𝟗𝟏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60A04E7-ADA8-4964-8DD6-07F796F7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022" y="5707148"/>
                <a:ext cx="35714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1A7735FE-3451-4474-8D8C-9469B5FC5F01}"/>
              </a:ext>
            </a:extLst>
          </p:cNvPr>
          <p:cNvSpPr/>
          <p:nvPr/>
        </p:nvSpPr>
        <p:spPr>
          <a:xfrm>
            <a:off x="4949140" y="5961763"/>
            <a:ext cx="595749" cy="418428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77ABFDC-EA88-4E85-AD6A-544CB823D8B5}"/>
                  </a:ext>
                </a:extLst>
              </p:cNvPr>
              <p:cNvSpPr txBox="1"/>
              <p:nvPr/>
            </p:nvSpPr>
            <p:spPr>
              <a:xfrm>
                <a:off x="5803856" y="5964934"/>
                <a:ext cx="3404137" cy="523220"/>
              </a:xfrm>
              <a:prstGeom prst="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𝟎𝟐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𝒄𝒂𝒍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/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𝒈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.°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𝑪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77ABFDC-EA88-4E85-AD6A-544CB823D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856" y="5964934"/>
                <a:ext cx="340413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 descr="Uma imagem contendo no interior, mesa, homem, pequeno&#10;&#10;Descrição gerada automaticamente">
            <a:extLst>
              <a:ext uri="{FF2B5EF4-FFF2-40B4-BE49-F238E27FC236}">
                <a16:creationId xmlns:a16="http://schemas.microsoft.com/office/drawing/2014/main" id="{FACDA9E9-B456-4335-AD73-45A97E9AE5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179" y="4697952"/>
            <a:ext cx="2253894" cy="20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A888C6D-D2D8-4FE1-9B2F-503B1879C271}"/>
              </a:ext>
            </a:extLst>
          </p:cNvPr>
          <p:cNvSpPr txBox="1"/>
          <p:nvPr/>
        </p:nvSpPr>
        <p:spPr>
          <a:xfrm>
            <a:off x="249378" y="0"/>
            <a:ext cx="106957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Extra 4-) 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(MACKENZIE – SP) Um calorímetro de capacidade térmica 40 cal/ºC contém 110 g de água (calor específico 1,0 cal/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g.ºC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a 90 ºC. Que massa de alumínio (calor específico 0,2 cal/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g.ºC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), a 20 ºC devemos colocar nesse calorímetro para esfriar a água a 80 ºC?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F7CF1F-A44A-4B2F-A858-6A456FE461B8}"/>
              </a:ext>
            </a:extLst>
          </p:cNvPr>
          <p:cNvSpPr txBox="1"/>
          <p:nvPr/>
        </p:nvSpPr>
        <p:spPr>
          <a:xfrm>
            <a:off x="950063" y="2106418"/>
            <a:ext cx="929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Vamos colocar as informações em uma tabela: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5">
                <a:extLst>
                  <a:ext uri="{FF2B5EF4-FFF2-40B4-BE49-F238E27FC236}">
                    <a16:creationId xmlns:a16="http://schemas.microsoft.com/office/drawing/2014/main" id="{23F0BD63-5FC8-46F5-9B3F-FDE39E3EC7AF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249378" y="2691193"/>
              <a:ext cx="11817933" cy="14756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5787">
                      <a:extLst>
                        <a:ext uri="{9D8B030D-6E8A-4147-A177-3AD203B41FA5}">
                          <a16:colId xmlns:a16="http://schemas.microsoft.com/office/drawing/2014/main" val="902158128"/>
                        </a:ext>
                      </a:extLst>
                    </a:gridCol>
                    <a:gridCol w="9892146">
                      <a:extLst>
                        <a:ext uri="{9D8B030D-6E8A-4147-A177-3AD203B41FA5}">
                          <a16:colId xmlns:a16="http://schemas.microsoft.com/office/drawing/2014/main" val="1384603062"/>
                        </a:ext>
                      </a:extLst>
                    </a:gridCol>
                  </a:tblGrid>
                  <a:tr h="405312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Calorímetro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 = 40,0 cal/ºC;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𝟗𝟎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°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𝑪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; </m:t>
                              </m:r>
                              <m:sSub>
                                <m:sSubPr>
                                  <m:ctrlP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pt-BR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𝒇</m:t>
                                  </m:r>
                                </m:sub>
                              </m:sSub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𝟖𝟎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°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𝑪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; ∆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𝜽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=−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𝟏𝟎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°</m:t>
                              </m:r>
                              <m:r>
                                <a:rPr lang="pt-BR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𝑪</m:t>
                              </m:r>
                            </m:oMath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4280384"/>
                      </a:ext>
                    </a:extLst>
                  </a:tr>
                  <a:tr h="405312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Água</a:t>
                          </a:r>
                        </a:p>
                      </a:txBody>
                      <a:tcPr>
                        <a:gradFill flip="none" rotWithShape="1">
                          <a:gsLst>
                            <a:gs pos="0">
                              <a:srgbClr val="FF0000">
                                <a:tint val="66000"/>
                                <a:satMod val="160000"/>
                              </a:srgbClr>
                            </a:gs>
                            <a:gs pos="50000">
                              <a:srgbClr val="FF0000">
                                <a:tint val="44500"/>
                                <a:satMod val="160000"/>
                              </a:srgbClr>
                            </a:gs>
                            <a:gs pos="100000">
                              <a:srgbClr val="FF0000">
                                <a:tint val="23500"/>
                                <a:satMod val="160000"/>
                              </a:srgbClr>
                            </a:gs>
                          </a:gsLst>
                          <a:path path="circle">
                            <a:fillToRect l="100000" t="100000"/>
                          </a:path>
                          <a:tileRect r="-100000" b="-100000"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𝟏𝟏𝟎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𝒈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á</m:t>
                                    </m:r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𝒈𝒖𝒂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∆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𝜽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=−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gradFill flip="none" rotWithShape="1">
                          <a:gsLst>
                            <a:gs pos="0">
                              <a:srgbClr val="FF0000">
                                <a:tint val="66000"/>
                                <a:satMod val="160000"/>
                              </a:srgbClr>
                            </a:gs>
                            <a:gs pos="50000">
                              <a:srgbClr val="FF0000">
                                <a:tint val="44500"/>
                                <a:satMod val="160000"/>
                              </a:srgbClr>
                            </a:gs>
                            <a:gs pos="100000">
                              <a:srgbClr val="FF0000">
                                <a:tint val="23500"/>
                                <a:satMod val="160000"/>
                              </a:srgbClr>
                            </a:gs>
                          </a:gsLst>
                          <a:path path="circle">
                            <a:fillToRect l="100000" t="100000"/>
                          </a:path>
                          <a:tileRect r="-100000" b="-100000"/>
                        </a:gra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26303"/>
                      </a:ext>
                    </a:extLst>
                  </a:tr>
                  <a:tr h="405312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Alumínio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𝒎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𝑨𝒍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;;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𝑨𝒍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𝒄𝒂𝒍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/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𝒈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.°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</m:t>
                                </m:r>
                                <m:sSub>
                                  <m:sSubPr>
                                    <m:ctrlP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pt-BR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; ∆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𝜽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=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𝟔𝟎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°</m:t>
                                </m:r>
                                <m:r>
                                  <a:rPr lang="pt-BR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pt-BR" sz="2400" b="1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098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5">
                <a:extLst>
                  <a:ext uri="{FF2B5EF4-FFF2-40B4-BE49-F238E27FC236}">
                    <a16:creationId xmlns:a16="http://schemas.microsoft.com/office/drawing/2014/main" id="{23F0BD63-5FC8-46F5-9B3F-FDE39E3EC7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8944115"/>
                  </p:ext>
                </p:extLst>
              </p:nvPr>
            </p:nvGraphicFramePr>
            <p:xfrm>
              <a:off x="249378" y="2691193"/>
              <a:ext cx="11817933" cy="14756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5787">
                      <a:extLst>
                        <a:ext uri="{9D8B030D-6E8A-4147-A177-3AD203B41FA5}">
                          <a16:colId xmlns:a16="http://schemas.microsoft.com/office/drawing/2014/main" val="902158128"/>
                        </a:ext>
                      </a:extLst>
                    </a:gridCol>
                    <a:gridCol w="9892146">
                      <a:extLst>
                        <a:ext uri="{9D8B030D-6E8A-4147-A177-3AD203B41FA5}">
                          <a16:colId xmlns:a16="http://schemas.microsoft.com/office/drawing/2014/main" val="1384603062"/>
                        </a:ext>
                      </a:extLst>
                    </a:gridCol>
                  </a:tblGrid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Calorímetro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9520" t="-9877" r="-246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4280384"/>
                      </a:ext>
                    </a:extLst>
                  </a:tr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Água</a:t>
                          </a:r>
                        </a:p>
                      </a:txBody>
                      <a:tcPr>
                        <a:gradFill flip="none" rotWithShape="1">
                          <a:gsLst>
                            <a:gs pos="0">
                              <a:srgbClr val="FF0000">
                                <a:tint val="66000"/>
                                <a:satMod val="160000"/>
                              </a:srgbClr>
                            </a:gs>
                            <a:gs pos="50000">
                              <a:srgbClr val="FF0000">
                                <a:tint val="44500"/>
                                <a:satMod val="160000"/>
                              </a:srgbClr>
                            </a:gs>
                            <a:gs pos="100000">
                              <a:srgbClr val="FF0000">
                                <a:tint val="23500"/>
                                <a:satMod val="160000"/>
                              </a:srgbClr>
                            </a:gs>
                          </a:gsLst>
                          <a:path path="circle">
                            <a:fillToRect l="100000" t="100000"/>
                          </a:path>
                          <a:tileRect r="-100000" b="-100000"/>
                        </a:gra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9520" t="-109877" r="-246" b="-1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2126303"/>
                      </a:ext>
                    </a:extLst>
                  </a:tr>
                  <a:tr h="491871">
                    <a:tc>
                      <a:txBody>
                        <a:bodyPr/>
                        <a:lstStyle/>
                        <a:p>
                          <a:r>
                            <a:rPr lang="pt-BR" sz="2400" b="1" dirty="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Alumínio</a:t>
                          </a:r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19520" t="-209877" r="-246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90986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A0259F00-1F58-45A4-BCED-882D158B5FF4}"/>
              </a:ext>
            </a:extLst>
          </p:cNvPr>
          <p:cNvSpPr txBox="1"/>
          <p:nvPr/>
        </p:nvSpPr>
        <p:spPr>
          <a:xfrm>
            <a:off x="2784764" y="4166806"/>
            <a:ext cx="4546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calorímetro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+ </a:t>
            </a:r>
            <a:r>
              <a:rPr kumimoji="0" lang="pt-BR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</a:t>
            </a:r>
            <a:r>
              <a:rPr kumimoji="0" lang="pt-BR" sz="28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água</a:t>
            </a: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309DBDE-F0E1-46E6-908B-5A50E5D812E1}"/>
                  </a:ext>
                </a:extLst>
              </p:cNvPr>
              <p:cNvSpPr txBox="1"/>
              <p:nvPr/>
            </p:nvSpPr>
            <p:spPr>
              <a:xfrm>
                <a:off x="404240" y="4690026"/>
                <a:ext cx="9519080" cy="5640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𝑪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𝒂𝒍𝒐𝒓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í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𝒎𝒆𝒕𝒓𝒐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á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𝒈𝒖𝒂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𝒄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á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𝒈𝒖𝒂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.∆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𝜽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á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𝒈𝒖𝒂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309DBDE-F0E1-46E6-908B-5A50E5D8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40" y="4690026"/>
                <a:ext cx="9519080" cy="5640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3D1524E-DAFB-4DEB-8CB1-F60D1CCF4045}"/>
                  </a:ext>
                </a:extLst>
              </p:cNvPr>
              <p:cNvSpPr txBox="1"/>
              <p:nvPr/>
            </p:nvSpPr>
            <p:spPr>
              <a:xfrm>
                <a:off x="575084" y="5213246"/>
                <a:ext cx="82364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𝟒𝟎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.</m:t>
                      </m:r>
                      <m:d>
                        <m:d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𝟏𝟎</m:t>
                          </m:r>
                        </m:e>
                      </m:d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𝟐𝟎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𝟔𝟎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𝟏𝟏𝟎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(−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𝟏𝟎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 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3D1524E-DAFB-4DEB-8CB1-F60D1CCF4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84" y="5213246"/>
                <a:ext cx="823648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48902C8-AFCB-4C2B-A9F9-1FB690B63EC4}"/>
                  </a:ext>
                </a:extLst>
              </p:cNvPr>
              <p:cNvSpPr txBox="1"/>
              <p:nvPr/>
            </p:nvSpPr>
            <p:spPr>
              <a:xfrm>
                <a:off x="1180149" y="5777247"/>
                <a:ext cx="26593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𝟏𝟐</m:t>
                      </m:r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𝟏𝟓𝟎𝟎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48902C8-AFCB-4C2B-A9F9-1FB690B63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149" y="5777247"/>
                <a:ext cx="265931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0F61C3F-62FE-44D5-BE7A-F7B06EB88092}"/>
              </a:ext>
            </a:extLst>
          </p:cNvPr>
          <p:cNvSpPr/>
          <p:nvPr/>
        </p:nvSpPr>
        <p:spPr>
          <a:xfrm>
            <a:off x="4159431" y="5882039"/>
            <a:ext cx="595749" cy="418428"/>
          </a:xfrm>
          <a:prstGeom prst="rightArrow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6FDE10C-62BE-4A26-807E-C2479F9FB34F}"/>
                  </a:ext>
                </a:extLst>
              </p:cNvPr>
              <p:cNvSpPr txBox="1"/>
              <p:nvPr/>
            </p:nvSpPr>
            <p:spPr>
              <a:xfrm>
                <a:off x="5163780" y="5988492"/>
                <a:ext cx="2337115" cy="523220"/>
              </a:xfrm>
              <a:prstGeom prst="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𝒎</m:t>
                          </m:r>
                        </m:e>
                        <m:sub>
                          <m:r>
                            <a:rPr kumimoji="0" lang="pt-BR" sz="2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𝑨𝒍</m:t>
                          </m:r>
                        </m:sub>
                      </m:sSub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𝟏𝟐𝟓</m:t>
                      </m:r>
                      <m:r>
                        <a:rPr kumimoji="0" lang="pt-BR" sz="2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pt-BR" sz="2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𝒈</m:t>
                      </m:r>
                    </m:oMath>
                  </m:oMathPara>
                </a14:m>
                <a:endParaRPr kumimoji="0" lang="pt-BR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06FDE10C-62BE-4A26-807E-C2479F9FB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780" y="5988492"/>
                <a:ext cx="23371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E97ABB3D-9804-4F8C-BD59-314B8B34E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51" y="4947755"/>
            <a:ext cx="1957600" cy="16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9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 animBg="1"/>
      <p:bldP spid="10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1_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4.xml><?xml version="1.0" encoding="utf-8"?>
<a:theme xmlns:a="http://schemas.openxmlformats.org/drawingml/2006/main" name="2_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Sisal</Template>
  <TotalTime>80</TotalTime>
  <Words>292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2" baseType="lpstr">
      <vt:lpstr>Arial</vt:lpstr>
      <vt:lpstr>Arial Black</vt:lpstr>
      <vt:lpstr>Cambria Math</vt:lpstr>
      <vt:lpstr>Garamond</vt:lpstr>
      <vt:lpstr>Trebuchet MS</vt:lpstr>
      <vt:lpstr>Wingdings 3</vt:lpstr>
      <vt:lpstr>Orgânico</vt:lpstr>
      <vt:lpstr>Facetado</vt:lpstr>
      <vt:lpstr>1_Facetado</vt:lpstr>
      <vt:lpstr>2_Facetado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</dc:creator>
  <cp:lastModifiedBy>I</cp:lastModifiedBy>
  <cp:revision>9</cp:revision>
  <dcterms:created xsi:type="dcterms:W3CDTF">2025-09-13T22:24:24Z</dcterms:created>
  <dcterms:modified xsi:type="dcterms:W3CDTF">2025-10-09T23:22:39Z</dcterms:modified>
</cp:coreProperties>
</file>