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1" r:id="rId2"/>
    <p:sldId id="262" r:id="rId3"/>
    <p:sldId id="258" r:id="rId4"/>
    <p:sldId id="259" r:id="rId5"/>
    <p:sldId id="260" r:id="rId6"/>
    <p:sldId id="277" r:id="rId7"/>
    <p:sldId id="263" r:id="rId8"/>
    <p:sldId id="264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6483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595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788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490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600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68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77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223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51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0175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8973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9340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2704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9303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8025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7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8319B-0D6A-4975-A5F1-6CE66DA3F2A5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83DE8BC-035A-47E4-B716-FCA5FD56B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952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gif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7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gif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10.gif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11.gif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13.gi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2F49D6D-F543-4A88-BA55-4B586F957C65}"/>
              </a:ext>
            </a:extLst>
          </p:cNvPr>
          <p:cNvSpPr txBox="1"/>
          <p:nvPr/>
        </p:nvSpPr>
        <p:spPr>
          <a:xfrm>
            <a:off x="437712" y="584775"/>
            <a:ext cx="612934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Capacidade térmica de um corpo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75C15E8-B083-40EF-8574-BF37415FA045}"/>
              </a:ext>
            </a:extLst>
          </p:cNvPr>
          <p:cNvGrpSpPr/>
          <p:nvPr/>
        </p:nvGrpSpPr>
        <p:grpSpPr>
          <a:xfrm>
            <a:off x="4178440" y="1169550"/>
            <a:ext cx="5201088" cy="2549237"/>
            <a:chOff x="437712" y="1302331"/>
            <a:chExt cx="5201088" cy="2549237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DDB2E522-9F37-4411-8822-DA26946AE7A6}"/>
                </a:ext>
              </a:extLst>
            </p:cNvPr>
            <p:cNvSpPr/>
            <p:nvPr/>
          </p:nvSpPr>
          <p:spPr>
            <a:xfrm>
              <a:off x="437712" y="1302331"/>
              <a:ext cx="5201088" cy="2549237"/>
            </a:xfrm>
            <a:prstGeom prst="rect">
              <a:avLst/>
            </a:prstGeom>
            <a:solidFill>
              <a:srgbClr val="92D050"/>
            </a:solidFill>
            <a:ln w="381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A19198D1-7B33-4613-9FD0-4873E42DE94E}"/>
                </a:ext>
              </a:extLst>
            </p:cNvPr>
            <p:cNvGrpSpPr/>
            <p:nvPr/>
          </p:nvGrpSpPr>
          <p:grpSpPr>
            <a:xfrm>
              <a:off x="803563" y="1639614"/>
              <a:ext cx="2369127" cy="1745673"/>
              <a:chOff x="803563" y="1639614"/>
              <a:chExt cx="2369127" cy="1745673"/>
            </a:xfrm>
          </p:grpSpPr>
          <p:sp>
            <p:nvSpPr>
              <p:cNvPr id="5" name="Seta: para a Direita 4">
                <a:extLst>
                  <a:ext uri="{FF2B5EF4-FFF2-40B4-BE49-F238E27FC236}">
                    <a16:creationId xmlns:a16="http://schemas.microsoft.com/office/drawing/2014/main" id="{86BE03DB-CBA3-41C8-A988-7599D7B0D283}"/>
                  </a:ext>
                </a:extLst>
              </p:cNvPr>
              <p:cNvSpPr/>
              <p:nvPr/>
            </p:nvSpPr>
            <p:spPr>
              <a:xfrm>
                <a:off x="803563" y="1639614"/>
                <a:ext cx="2369127" cy="1745673"/>
              </a:xfrm>
              <a:prstGeom prst="rightArrow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C80519E-019F-46DE-8425-BC680BEA9AC3}"/>
                  </a:ext>
                </a:extLst>
              </p:cNvPr>
              <p:cNvSpPr txBox="1"/>
              <p:nvPr/>
            </p:nvSpPr>
            <p:spPr>
              <a:xfrm>
                <a:off x="900545" y="2096951"/>
                <a:ext cx="187583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Quantidade</a:t>
                </a:r>
              </a:p>
              <a:p>
                <a:r>
                  <a:rPr lang="pt-BR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 calor (Q)</a:t>
                </a:r>
              </a:p>
            </p:txBody>
          </p:sp>
        </p:grpSp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35369D4A-572C-4420-9A74-589EF51179E1}"/>
                </a:ext>
              </a:extLst>
            </p:cNvPr>
            <p:cNvGrpSpPr/>
            <p:nvPr/>
          </p:nvGrpSpPr>
          <p:grpSpPr>
            <a:xfrm>
              <a:off x="3269672" y="1572499"/>
              <a:ext cx="2027735" cy="1986231"/>
              <a:chOff x="988114" y="4286994"/>
              <a:chExt cx="2027735" cy="1986231"/>
            </a:xfrm>
          </p:grpSpPr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835D351C-866B-46C1-B3B4-A76C9610FC39}"/>
                  </a:ext>
                </a:extLst>
              </p:cNvPr>
              <p:cNvSpPr/>
              <p:nvPr/>
            </p:nvSpPr>
            <p:spPr>
              <a:xfrm>
                <a:off x="1039091" y="4286994"/>
                <a:ext cx="1925782" cy="1986231"/>
              </a:xfrm>
              <a:prstGeom prst="ellipse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CaixaDeTexto 7">
                    <a:extLst>
                      <a:ext uri="{FF2B5EF4-FFF2-40B4-BE49-F238E27FC236}">
                        <a16:creationId xmlns:a16="http://schemas.microsoft.com/office/drawing/2014/main" id="{B255625B-18BF-4C9B-A55A-9DA0783F3DE6}"/>
                      </a:ext>
                    </a:extLst>
                  </p:cNvPr>
                  <p:cNvSpPr txBox="1"/>
                  <p:nvPr/>
                </p:nvSpPr>
                <p:spPr>
                  <a:xfrm>
                    <a:off x="988114" y="4679944"/>
                    <a:ext cx="2027735" cy="120032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pt-BR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Aumenta</a:t>
                    </a:r>
                  </a:p>
                  <a:p>
                    <a:pPr algn="ctr"/>
                    <a:r>
                      <a:rPr lang="pt-BR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Temperatura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&gt;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oMath>
                      </m:oMathPara>
                    </a14:m>
                    <a:endParaRPr lang="pt-BR" sz="2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8" name="CaixaDeTexto 7">
                    <a:extLst>
                      <a:ext uri="{FF2B5EF4-FFF2-40B4-BE49-F238E27FC236}">
                        <a16:creationId xmlns:a16="http://schemas.microsoft.com/office/drawing/2014/main" id="{B255625B-18BF-4C9B-A55A-9DA0783F3D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8114" y="4679944"/>
                    <a:ext cx="2027735" cy="120032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4204" t="-3553" r="-4204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BBEE585-4530-4506-B614-83269395182F}"/>
              </a:ext>
            </a:extLst>
          </p:cNvPr>
          <p:cNvSpPr txBox="1"/>
          <p:nvPr/>
        </p:nvSpPr>
        <p:spPr>
          <a:xfrm>
            <a:off x="710692" y="1234606"/>
            <a:ext cx="2956652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Um corpo sofre uma variação de temperatura e recebe uma quantidade de calor Q.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F2580DE-58CE-4D3C-9FE5-7A93FAA8942C}"/>
              </a:ext>
            </a:extLst>
          </p:cNvPr>
          <p:cNvSpPr txBox="1"/>
          <p:nvPr/>
        </p:nvSpPr>
        <p:spPr>
          <a:xfrm>
            <a:off x="437711" y="3875364"/>
            <a:ext cx="10460137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Capacidade térmica (C) de um corpo é definida pela grandeza expressa por: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57BA3889-13C0-4C86-B242-827E2D80963E}"/>
                  </a:ext>
                </a:extLst>
              </p:cNvPr>
              <p:cNvSpPr txBox="1"/>
              <p:nvPr/>
            </p:nvSpPr>
            <p:spPr>
              <a:xfrm>
                <a:off x="4681061" y="4887666"/>
                <a:ext cx="1414939" cy="9017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7150" cmpd="dbl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𝑸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57BA3889-13C0-4C86-B242-827E2D809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061" y="4887666"/>
                <a:ext cx="1414939" cy="9017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 cmpd="dbl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ixaDeTexto 15">
            <a:extLst>
              <a:ext uri="{FF2B5EF4-FFF2-40B4-BE49-F238E27FC236}">
                <a16:creationId xmlns:a16="http://schemas.microsoft.com/office/drawing/2014/main" id="{BF5A2AD7-370C-4EFD-AE8D-0161BACBA0EE}"/>
              </a:ext>
            </a:extLst>
          </p:cNvPr>
          <p:cNvSpPr txBox="1"/>
          <p:nvPr/>
        </p:nvSpPr>
        <p:spPr>
          <a:xfrm>
            <a:off x="437712" y="5833615"/>
            <a:ext cx="9227292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 unidade usual de capacidade térmica é a caloria por grau Celsius (cal/ºC).</a:t>
            </a:r>
          </a:p>
        </p:txBody>
      </p:sp>
      <p:pic>
        <p:nvPicPr>
          <p:cNvPr id="18" name="Imagem 17" descr="Desenho de um bicho amarelo&#10;&#10;Descrição gerada automaticamente com confiança média">
            <a:extLst>
              <a:ext uri="{FF2B5EF4-FFF2-40B4-BE49-F238E27FC236}">
                <a16:creationId xmlns:a16="http://schemas.microsoft.com/office/drawing/2014/main" id="{D218FDE6-5347-49E8-AE7A-FFCB7D8462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429" y="4074429"/>
            <a:ext cx="2783571" cy="278357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3519ABE-FE36-2D87-C539-6E47AECDF5EB}"/>
              </a:ext>
            </a:extLst>
          </p:cNvPr>
          <p:cNvSpPr txBox="1"/>
          <p:nvPr/>
        </p:nvSpPr>
        <p:spPr>
          <a:xfrm>
            <a:off x="471054" y="0"/>
            <a:ext cx="61718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Calor sensível e calor latente</a:t>
            </a:r>
          </a:p>
        </p:txBody>
      </p:sp>
    </p:spTree>
    <p:extLst>
      <p:ext uri="{BB962C8B-B14F-4D97-AF65-F5344CB8AC3E}">
        <p14:creationId xmlns:p14="http://schemas.microsoft.com/office/powerpoint/2010/main" val="334993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3061893-0921-41CB-A978-52109B359F04}"/>
              </a:ext>
            </a:extLst>
          </p:cNvPr>
          <p:cNvSpPr txBox="1"/>
          <p:nvPr/>
        </p:nvSpPr>
        <p:spPr>
          <a:xfrm>
            <a:off x="326876" y="584775"/>
            <a:ext cx="845690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Significado de Capacidade térmica de um corpo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0E2209-CA11-4711-800F-69A268DF6C72}"/>
              </a:ext>
            </a:extLst>
          </p:cNvPr>
          <p:cNvSpPr txBox="1"/>
          <p:nvPr/>
        </p:nvSpPr>
        <p:spPr>
          <a:xfrm>
            <a:off x="326876" y="1064906"/>
            <a:ext cx="9385160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Um bloco metálico recebe 2000 calorias e sofre uma variação de temperatura de 20 ºC para 420 ºC. Qual a capacidade térmica desse corpo?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8486FF6-0A5A-435D-A521-A9F019BC70A7}"/>
              </a:ext>
            </a:extLst>
          </p:cNvPr>
          <p:cNvSpPr txBox="1"/>
          <p:nvPr/>
        </p:nvSpPr>
        <p:spPr>
          <a:xfrm>
            <a:off x="326876" y="2320634"/>
            <a:ext cx="226392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Resolução: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321A6E6-7E05-4359-96EF-D459C27ACDDA}"/>
                  </a:ext>
                </a:extLst>
              </p:cNvPr>
              <p:cNvSpPr txBox="1"/>
              <p:nvPr/>
            </p:nvSpPr>
            <p:spPr>
              <a:xfrm>
                <a:off x="2590800" y="2320634"/>
                <a:ext cx="1414939" cy="9017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7150" cmpd="dbl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𝑸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321A6E6-7E05-4359-96EF-D459C27AC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2320634"/>
                <a:ext cx="1414939" cy="9017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 cmpd="dbl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55708E19-8412-4ED0-9EBB-71A83D62C4A4}"/>
              </a:ext>
            </a:extLst>
          </p:cNvPr>
          <p:cNvSpPr/>
          <p:nvPr/>
        </p:nvSpPr>
        <p:spPr>
          <a:xfrm>
            <a:off x="4217414" y="2531429"/>
            <a:ext cx="637310" cy="48013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037779C-25D2-43CE-A288-65F8BB7F8A6A}"/>
                  </a:ext>
                </a:extLst>
              </p:cNvPr>
              <p:cNvSpPr txBox="1"/>
              <p:nvPr/>
            </p:nvSpPr>
            <p:spPr>
              <a:xfrm>
                <a:off x="4858714" y="2314818"/>
                <a:ext cx="2478564" cy="901785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𝟐𝟎𝟎𝟎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𝟒𝟐𝟎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𝟐𝟎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037779C-25D2-43CE-A288-65F8BB7F8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714" y="2314818"/>
                <a:ext cx="2478564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32E91B88-174E-4950-A17B-B697942D4E50}"/>
              </a:ext>
            </a:extLst>
          </p:cNvPr>
          <p:cNvSpPr/>
          <p:nvPr/>
        </p:nvSpPr>
        <p:spPr>
          <a:xfrm>
            <a:off x="7337278" y="2560699"/>
            <a:ext cx="637310" cy="480131"/>
          </a:xfrm>
          <a:prstGeom prst="rightArrow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AC50628-A95F-470E-BD8B-B54327DDE3FB}"/>
                  </a:ext>
                </a:extLst>
              </p:cNvPr>
              <p:cNvSpPr txBox="1"/>
              <p:nvPr/>
            </p:nvSpPr>
            <p:spPr>
              <a:xfrm>
                <a:off x="7940942" y="2307891"/>
                <a:ext cx="1836528" cy="901785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𝟐𝟎𝟎𝟎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𝟒𝟎𝟎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AC50628-A95F-470E-BD8B-B54327DDE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942" y="2307891"/>
                <a:ext cx="1836528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E613D6B-8CAD-4277-8CA8-DDA50027ECE4}"/>
                  </a:ext>
                </a:extLst>
              </p:cNvPr>
              <p:cNvSpPr txBox="1"/>
              <p:nvPr/>
            </p:nvSpPr>
            <p:spPr>
              <a:xfrm>
                <a:off x="4434440" y="3308936"/>
                <a:ext cx="2344681" cy="523220"/>
              </a:xfrm>
              <a:prstGeom prst="rect">
                <a:avLst/>
              </a:prstGeom>
              <a:noFill/>
              <a:ln w="57150" cmpd="dbl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𝒄𝒂𝒍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/°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E613D6B-8CAD-4277-8CA8-DDA50027E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440" y="3308936"/>
                <a:ext cx="234468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7150" cmpd="dbl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2D5CB547-8777-4DCC-A356-89A3F248AD92}"/>
              </a:ext>
            </a:extLst>
          </p:cNvPr>
          <p:cNvSpPr txBox="1"/>
          <p:nvPr/>
        </p:nvSpPr>
        <p:spPr>
          <a:xfrm>
            <a:off x="459737" y="3999862"/>
            <a:ext cx="9317733" cy="86793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 bloco metálico para ter o aumento de 1 ºC na sua temperatura precisa receber 5 cal.</a:t>
            </a:r>
          </a:p>
        </p:txBody>
      </p:sp>
      <p:pic>
        <p:nvPicPr>
          <p:cNvPr id="14" name="Imagem 13" descr="Desenho de personagem&#10;&#10;Descrição gerada automaticamente">
            <a:extLst>
              <a:ext uri="{FF2B5EF4-FFF2-40B4-BE49-F238E27FC236}">
                <a16:creationId xmlns:a16="http://schemas.microsoft.com/office/drawing/2014/main" id="{EC1DBCB7-9EAB-4382-A80F-A08748D200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7257" y="4929066"/>
            <a:ext cx="2234743" cy="161795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241517F-A62D-0BC0-E443-5B748BDFF5F7}"/>
              </a:ext>
            </a:extLst>
          </p:cNvPr>
          <p:cNvSpPr txBox="1"/>
          <p:nvPr/>
        </p:nvSpPr>
        <p:spPr>
          <a:xfrm>
            <a:off x="471054" y="0"/>
            <a:ext cx="61718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Calor sensível e calor latente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812062-975F-3DCC-B46A-B6F1EF6499BF}"/>
              </a:ext>
            </a:extLst>
          </p:cNvPr>
          <p:cNvSpPr txBox="1"/>
          <p:nvPr/>
        </p:nvSpPr>
        <p:spPr>
          <a:xfrm>
            <a:off x="426023" y="5291292"/>
            <a:ext cx="9385160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capacidade térmica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(C) de um corpo indica a 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de calor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que  ele precisa receber ou ceder 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que sua temperatura varie uma unidade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298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922F211-A418-44F9-A273-EABD17EE0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634" y="2571750"/>
            <a:ext cx="1714500" cy="17145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65D010C-142D-42D3-A9CA-02D7EC489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" y="584776"/>
            <a:ext cx="4568313" cy="340810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41064BF-F183-4B4A-A64C-1375D61A6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44" y="3995736"/>
            <a:ext cx="4004395" cy="280681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AD00D6E-81D8-4CEB-A189-98CB6AF10934}"/>
              </a:ext>
            </a:extLst>
          </p:cNvPr>
          <p:cNvSpPr txBox="1"/>
          <p:nvPr/>
        </p:nvSpPr>
        <p:spPr>
          <a:xfrm>
            <a:off x="4777004" y="738662"/>
            <a:ext cx="6240766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Quando um corpo recebe calor, e o efeito produzido é a variação de temperatura, dizemos que o corpo recebeu 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calor sensível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E879299-7E77-4F4C-A1A6-D616366BFDA1}"/>
              </a:ext>
            </a:extLst>
          </p:cNvPr>
          <p:cNvSpPr txBox="1"/>
          <p:nvPr/>
        </p:nvSpPr>
        <p:spPr>
          <a:xfrm>
            <a:off x="4571997" y="4475811"/>
            <a:ext cx="5902405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Quando um corpo recebe calor, e o efeito produzido é a mudança de estado, dizemos que o corpo recebeu 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calor latente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3D50D55-20C2-4D23-F5D1-CDDB2CD15488}"/>
              </a:ext>
            </a:extLst>
          </p:cNvPr>
          <p:cNvSpPr txBox="1"/>
          <p:nvPr/>
        </p:nvSpPr>
        <p:spPr>
          <a:xfrm>
            <a:off x="471054" y="0"/>
            <a:ext cx="10108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Cap.: 16 – pag.: 222 – Calor sensível e calor latente</a:t>
            </a:r>
          </a:p>
        </p:txBody>
      </p:sp>
    </p:spTree>
    <p:extLst>
      <p:ext uri="{BB962C8B-B14F-4D97-AF65-F5344CB8AC3E}">
        <p14:creationId xmlns:p14="http://schemas.microsoft.com/office/powerpoint/2010/main" val="16642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6FAEEE8-0DE5-40BC-93AA-2642DEBED89B}"/>
              </a:ext>
            </a:extLst>
          </p:cNvPr>
          <p:cNvSpPr txBox="1"/>
          <p:nvPr/>
        </p:nvSpPr>
        <p:spPr>
          <a:xfrm>
            <a:off x="437711" y="584775"/>
            <a:ext cx="9786943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Equação fundamental da Calorimetria. Calor específico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DA0322F-D32E-49BC-967D-051F3DA3B06E}"/>
                  </a:ext>
                </a:extLst>
              </p:cNvPr>
              <p:cNvSpPr txBox="1"/>
              <p:nvPr/>
            </p:nvSpPr>
            <p:spPr>
              <a:xfrm>
                <a:off x="560557" y="1064906"/>
                <a:ext cx="931773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Verifica-se experimentalmente que as quantidade de calor Q recebidas (ou cedidas) por corpos de mesmo material e de mesma massa são </a:t>
                </a:r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diretamente proporcionais às variações de temperatura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∆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𝜽</m:t>
                    </m:r>
                  </m:oMath>
                </a14:m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DA0322F-D32E-49BC-967D-051F3DA3B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57" y="1064906"/>
                <a:ext cx="9317733" cy="2031325"/>
              </a:xfrm>
              <a:prstGeom prst="rect">
                <a:avLst/>
              </a:prstGeom>
              <a:blipFill>
                <a:blip r:embed="rId2"/>
                <a:stretch>
                  <a:fillRect l="-1178" t="-5405" r="-1309" b="-75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E528B6C-1520-4FEA-8D1B-9386911BD988}"/>
                  </a:ext>
                </a:extLst>
              </p:cNvPr>
              <p:cNvSpPr txBox="1"/>
              <p:nvPr/>
            </p:nvSpPr>
            <p:spPr>
              <a:xfrm>
                <a:off x="437711" y="3216153"/>
                <a:ext cx="931773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Verifica-se experimentalmente que as quantidade de calor Q recebidas (ou cedidas) por corpos de mesmo material e de massas diferentes, sujeitas à mesma variação de temperatura, (</a:t>
                </a:r>
                <a14:m>
                  <m:oMath xmlns:m="http://schemas.openxmlformats.org/officeDocument/2006/math">
                    <m:r>
                      <a:rPr lang="pt-BR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∆</m:t>
                    </m:r>
                    <m:r>
                      <a:rPr lang="pt-BR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𝜽</m:t>
                    </m:r>
                  </m:oMath>
                </a14:m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 são </a:t>
                </a:r>
                <a:r>
                  <a:rPr lang="pt-BR" sz="28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diretamente proporcionais às massas</a:t>
                </a:r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E528B6C-1520-4FEA-8D1B-9386911BD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11" y="3216153"/>
                <a:ext cx="9317733" cy="2031325"/>
              </a:xfrm>
              <a:prstGeom prst="rect">
                <a:avLst/>
              </a:prstGeom>
              <a:blipFill>
                <a:blip r:embed="rId3"/>
                <a:stretch>
                  <a:fillRect l="-1178" t="-5405" r="-1309" b="-75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 descr="Ícone&#10;&#10;Descrição gerada automaticamente com confiança média">
            <a:extLst>
              <a:ext uri="{FF2B5EF4-FFF2-40B4-BE49-F238E27FC236}">
                <a16:creationId xmlns:a16="http://schemas.microsoft.com/office/drawing/2014/main" id="{73ABF9E1-5FCD-4EA9-8861-BD5816EEEF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193" y="3928759"/>
            <a:ext cx="2763116" cy="323012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42DE26-BAD9-80D5-DA56-F41130834823}"/>
              </a:ext>
            </a:extLst>
          </p:cNvPr>
          <p:cNvSpPr txBox="1"/>
          <p:nvPr/>
        </p:nvSpPr>
        <p:spPr>
          <a:xfrm>
            <a:off x="471054" y="0"/>
            <a:ext cx="10108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Cap.: 16 – pag.: 222 – Calor sensível e calor latente</a:t>
            </a:r>
          </a:p>
        </p:txBody>
      </p:sp>
    </p:spTree>
    <p:extLst>
      <p:ext uri="{BB962C8B-B14F-4D97-AF65-F5344CB8AC3E}">
        <p14:creationId xmlns:p14="http://schemas.microsoft.com/office/powerpoint/2010/main" val="247534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23C789C-5890-4320-9103-E9D435781497}"/>
              </a:ext>
            </a:extLst>
          </p:cNvPr>
          <p:cNvSpPr txBox="1"/>
          <p:nvPr/>
        </p:nvSpPr>
        <p:spPr>
          <a:xfrm>
            <a:off x="437711" y="584775"/>
            <a:ext cx="9786943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Equação fundamental da Calorimetria. Calor específico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6696D44-0D16-4F30-87AE-FA6E9B395D48}"/>
              </a:ext>
            </a:extLst>
          </p:cNvPr>
          <p:cNvSpPr txBox="1"/>
          <p:nvPr/>
        </p:nvSpPr>
        <p:spPr>
          <a:xfrm>
            <a:off x="304800" y="1169550"/>
            <a:ext cx="9317733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Resumindo as duas conclusões anteriores, vem: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2E5D0BB-8AB0-4263-BB59-0D8755819B60}"/>
                  </a:ext>
                </a:extLst>
              </p:cNvPr>
              <p:cNvSpPr txBox="1"/>
              <p:nvPr/>
            </p:nvSpPr>
            <p:spPr>
              <a:xfrm>
                <a:off x="304799" y="1833512"/>
                <a:ext cx="10473129" cy="1255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:r>
                  <a:rPr lang="pt-BR" sz="28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quantidade de </a:t>
                </a:r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calor Q</a:t>
                </a:r>
                <a:r>
                  <a:rPr lang="pt-BR" sz="28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recebida (ou cedida) por um corpo é diretamente proporcional à sua </a:t>
                </a:r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massa</a:t>
                </a:r>
                <a:r>
                  <a:rPr lang="pt-BR" sz="28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pt-BR" sz="28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 à </a:t>
                </a:r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variação de temperatura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∆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𝜽</m:t>
                    </m:r>
                  </m:oMath>
                </a14:m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pt-BR" sz="28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sofrida pelo corpo.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2E5D0BB-8AB0-4263-BB59-0D8755819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1833512"/>
                <a:ext cx="10473129" cy="1255728"/>
              </a:xfrm>
              <a:prstGeom prst="rect">
                <a:avLst/>
              </a:prstGeom>
              <a:blipFill>
                <a:blip r:embed="rId2"/>
                <a:stretch>
                  <a:fillRect l="-1164" t="-8738" r="-1164" b="-126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19630AEE-3A92-431F-9022-5EC2039E61A2}"/>
              </a:ext>
            </a:extLst>
          </p:cNvPr>
          <p:cNvSpPr txBox="1"/>
          <p:nvPr/>
        </p:nvSpPr>
        <p:spPr>
          <a:xfrm>
            <a:off x="304799" y="3333008"/>
            <a:ext cx="340822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Matematicamente: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B22D542-8352-4B25-804D-BC8C239B370A}"/>
                  </a:ext>
                </a:extLst>
              </p:cNvPr>
              <p:cNvSpPr txBox="1"/>
              <p:nvPr/>
            </p:nvSpPr>
            <p:spPr>
              <a:xfrm>
                <a:off x="692728" y="3952676"/>
                <a:ext cx="2285999" cy="48013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𝑸</m:t>
                      </m:r>
                      <m:r>
                        <a:rPr lang="pt-BR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=</m:t>
                      </m:r>
                      <m:r>
                        <a:rPr lang="pt-BR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  <m:r>
                        <a:rPr lang="pt-BR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</m:t>
                      </m:r>
                      <m:r>
                        <a:rPr lang="pt-BR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.∆</m:t>
                      </m:r>
                      <m:r>
                        <a:rPr lang="pt-BR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𝜽</m:t>
                      </m:r>
                    </m:oMath>
                  </m:oMathPara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B22D542-8352-4B25-804D-BC8C239B3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28" y="3952676"/>
                <a:ext cx="2285999" cy="4801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FA5ABD2E-4B8F-41C3-B557-E87AE6E113E2}"/>
              </a:ext>
            </a:extLst>
          </p:cNvPr>
          <p:cNvSpPr/>
          <p:nvPr/>
        </p:nvSpPr>
        <p:spPr>
          <a:xfrm>
            <a:off x="3131125" y="3952675"/>
            <a:ext cx="637310" cy="480131"/>
          </a:xfrm>
          <a:prstGeom prst="rightArrow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DE5303D-DB1B-4969-9F24-260866B587E8}"/>
              </a:ext>
            </a:extLst>
          </p:cNvPr>
          <p:cNvSpPr txBox="1"/>
          <p:nvPr/>
        </p:nvSpPr>
        <p:spPr>
          <a:xfrm>
            <a:off x="3768435" y="3952675"/>
            <a:ext cx="687749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Equação fundamental da Calorimetria.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A448385-5868-45CC-BB3E-F5BEB18BFAEB}"/>
              </a:ext>
            </a:extLst>
          </p:cNvPr>
          <p:cNvSpPr txBox="1"/>
          <p:nvPr/>
        </p:nvSpPr>
        <p:spPr>
          <a:xfrm>
            <a:off x="437711" y="4537450"/>
            <a:ext cx="9317733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coeficiente de proporcionalidade 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uma característica do material que constitui o corpo, denominada 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calor específico</a:t>
            </a: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15055D0-227E-46E8-851F-2A4F3F2FF3A0}"/>
                  </a:ext>
                </a:extLst>
              </p:cNvPr>
              <p:cNvSpPr txBox="1"/>
              <p:nvPr/>
            </p:nvSpPr>
            <p:spPr>
              <a:xfrm>
                <a:off x="193965" y="5897821"/>
                <a:ext cx="2285999" cy="48013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𝑸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=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.∆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𝜽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15055D0-227E-46E8-851F-2A4F3F2FF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65" y="5897821"/>
                <a:ext cx="2285999" cy="4801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88F3EC16-0829-4A6D-B34F-25BA3857FDC6}"/>
              </a:ext>
            </a:extLst>
          </p:cNvPr>
          <p:cNvSpPr/>
          <p:nvPr/>
        </p:nvSpPr>
        <p:spPr>
          <a:xfrm>
            <a:off x="2493815" y="5938736"/>
            <a:ext cx="637310" cy="48013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8D65170-27E3-4E81-887B-3B634477B972}"/>
                  </a:ext>
                </a:extLst>
              </p:cNvPr>
              <p:cNvSpPr txBox="1"/>
              <p:nvPr/>
            </p:nvSpPr>
            <p:spPr>
              <a:xfrm>
                <a:off x="3308413" y="5769650"/>
                <a:ext cx="2022769" cy="818301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rgbClr val="002060"/>
                </a:solidFill>
              </a:ln>
              <a:scene3d>
                <a:camera prst="orthographicFront"/>
                <a:lightRig rig="threePt" dir="t"/>
              </a:scene3d>
              <a:sp3d>
                <a:bevelT w="114300" prst="artDeco"/>
              </a:sp3d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=</m:t>
                      </m:r>
                      <m:f>
                        <m:fPr>
                          <m:ctrlPr>
                            <a:rPr lang="pt-BR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𝑸</m:t>
                          </m:r>
                        </m:num>
                        <m:den>
                          <m:r>
                            <a:rPr lang="pt-BR" sz="28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  <m:r>
                            <a:rPr lang="pt-BR" sz="28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.∆</m:t>
                          </m:r>
                          <m:r>
                            <a:rPr lang="pt-BR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8D65170-27E3-4E81-887B-3B634477B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413" y="5769650"/>
                <a:ext cx="2022769" cy="8183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AFFF625-2D17-494B-81F7-3F778C2F76B8}"/>
                  </a:ext>
                </a:extLst>
              </p:cNvPr>
              <p:cNvSpPr txBox="1"/>
              <p:nvPr/>
            </p:nvSpPr>
            <p:spPr>
              <a:xfrm>
                <a:off x="5606781" y="5841174"/>
                <a:ext cx="3417763" cy="724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(unidade de c: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𝒄𝒂𝒍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𝒈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.°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𝑪</m:t>
                        </m:r>
                      </m:den>
                    </m:f>
                  </m:oMath>
                </a14:m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AFFF625-2D17-494B-81F7-3F778C2F7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781" y="5841174"/>
                <a:ext cx="3417763" cy="724942"/>
              </a:xfrm>
              <a:prstGeom prst="rect">
                <a:avLst/>
              </a:prstGeom>
              <a:blipFill>
                <a:blip r:embed="rId6"/>
                <a:stretch>
                  <a:fillRect l="-3750" t="-2521" r="-179" b="-8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m 15" descr="Uma imagem contendo laranja, mesa&#10;&#10;Descrição gerada automaticamente">
            <a:extLst>
              <a:ext uri="{FF2B5EF4-FFF2-40B4-BE49-F238E27FC236}">
                <a16:creationId xmlns:a16="http://schemas.microsoft.com/office/drawing/2014/main" id="{F9D84FF8-7A06-451D-AA83-2EC2318FCD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191" y="4660479"/>
            <a:ext cx="1966844" cy="1966844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A3A98EDE-E7A1-F420-D838-758D1FAE6054}"/>
              </a:ext>
            </a:extLst>
          </p:cNvPr>
          <p:cNvSpPr txBox="1"/>
          <p:nvPr/>
        </p:nvSpPr>
        <p:spPr>
          <a:xfrm>
            <a:off x="471054" y="0"/>
            <a:ext cx="10108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Cap.: 16 – pag.: 222 – Calor sensível e calor latente</a:t>
            </a:r>
          </a:p>
        </p:txBody>
      </p:sp>
    </p:spTree>
    <p:extLst>
      <p:ext uri="{BB962C8B-B14F-4D97-AF65-F5344CB8AC3E}">
        <p14:creationId xmlns:p14="http://schemas.microsoft.com/office/powerpoint/2010/main" val="30626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23C789C-5890-4320-9103-E9D435781497}"/>
              </a:ext>
            </a:extLst>
          </p:cNvPr>
          <p:cNvSpPr txBox="1"/>
          <p:nvPr/>
        </p:nvSpPr>
        <p:spPr>
          <a:xfrm>
            <a:off x="437711" y="584775"/>
            <a:ext cx="565828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Significado do calor específico: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8D65170-27E3-4E81-887B-3B634477B972}"/>
                  </a:ext>
                </a:extLst>
              </p:cNvPr>
              <p:cNvSpPr txBox="1"/>
              <p:nvPr/>
            </p:nvSpPr>
            <p:spPr>
              <a:xfrm>
                <a:off x="640164" y="1240530"/>
                <a:ext cx="2022769" cy="818301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rgbClr val="002060"/>
                </a:solidFill>
              </a:ln>
              <a:scene3d>
                <a:camera prst="orthographicFront"/>
                <a:lightRig rig="threePt" dir="t"/>
              </a:scene3d>
              <a:sp3d>
                <a:bevelT w="114300" prst="artDeco"/>
              </a:sp3d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=</m:t>
                      </m:r>
                      <m:f>
                        <m:fPr>
                          <m:ctrlPr>
                            <a:rPr lang="pt-BR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𝑸</m:t>
                          </m:r>
                        </m:num>
                        <m:den>
                          <m:r>
                            <a:rPr lang="pt-BR" sz="28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  <m:r>
                            <a:rPr lang="pt-BR" sz="28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.∆</m:t>
                          </m:r>
                          <m:r>
                            <a:rPr lang="pt-BR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8D65170-27E3-4E81-887B-3B634477B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64" y="1240530"/>
                <a:ext cx="2022769" cy="818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AFFF625-2D17-494B-81F7-3F778C2F76B8}"/>
                  </a:ext>
                </a:extLst>
              </p:cNvPr>
              <p:cNvSpPr txBox="1"/>
              <p:nvPr/>
            </p:nvSpPr>
            <p:spPr>
              <a:xfrm>
                <a:off x="2818610" y="1285925"/>
                <a:ext cx="3417763" cy="724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(unidade de c: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𝒄𝒂𝒍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𝒈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.°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𝑪</m:t>
                        </m:r>
                      </m:den>
                    </m:f>
                  </m:oMath>
                </a14:m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AFFF625-2D17-494B-81F7-3F778C2F7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610" y="1285925"/>
                <a:ext cx="3417763" cy="724942"/>
              </a:xfrm>
              <a:prstGeom prst="rect">
                <a:avLst/>
              </a:prstGeom>
              <a:blipFill>
                <a:blip r:embed="rId3"/>
                <a:stretch>
                  <a:fillRect l="-3565" t="-3361" r="-178" b="-8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A3A98EDE-E7A1-F420-D838-758D1FAE6054}"/>
              </a:ext>
            </a:extLst>
          </p:cNvPr>
          <p:cNvSpPr txBox="1"/>
          <p:nvPr/>
        </p:nvSpPr>
        <p:spPr>
          <a:xfrm>
            <a:off x="471054" y="0"/>
            <a:ext cx="10108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Cap.: 16 – pag.: 222 – Calor sensível e calor latente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6498F4-E59A-98FB-25A2-E6C4B135ADA3}"/>
              </a:ext>
            </a:extLst>
          </p:cNvPr>
          <p:cNvSpPr txBox="1"/>
          <p:nvPr/>
        </p:nvSpPr>
        <p:spPr>
          <a:xfrm>
            <a:off x="471054" y="2638269"/>
            <a:ext cx="99471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calor específico (c)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indica a </a:t>
            </a: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de calor que cada unidade de massa do corpo precisa receber ou ceder para que sua temperatura varie uma unidade.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7F22370-014E-F5C6-1338-E9DA5E645E47}"/>
              </a:ext>
            </a:extLst>
          </p:cNvPr>
          <p:cNvSpPr txBox="1"/>
          <p:nvPr/>
        </p:nvSpPr>
        <p:spPr>
          <a:xfrm>
            <a:off x="537645" y="4079928"/>
            <a:ext cx="99471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calor específico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não depende da massa do corpo, pois é uma característica da substância e não do corpo.</a:t>
            </a:r>
          </a:p>
        </p:txBody>
      </p:sp>
      <p:pic>
        <p:nvPicPr>
          <p:cNvPr id="19" name="Imagem 18" descr="Uma imagem contendo no interior, pequeno&#10;&#10;Descrição gerada automaticamente">
            <a:extLst>
              <a:ext uri="{FF2B5EF4-FFF2-40B4-BE49-F238E27FC236}">
                <a16:creationId xmlns:a16="http://schemas.microsoft.com/office/drawing/2014/main" id="{D30CED2F-A319-EB1C-E43B-153F0D53D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8951" y="4883051"/>
            <a:ext cx="2501995" cy="187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8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2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09A24E4-7429-4256-AE90-3FDE04434BB5}"/>
              </a:ext>
            </a:extLst>
          </p:cNvPr>
          <p:cNvSpPr txBox="1"/>
          <p:nvPr/>
        </p:nvSpPr>
        <p:spPr>
          <a:xfrm>
            <a:off x="463273" y="875135"/>
            <a:ext cx="729312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Da equação fundamental da calorimetria: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975A208-2B51-4B26-9862-2B5B63B02787}"/>
                  </a:ext>
                </a:extLst>
              </p:cNvPr>
              <p:cNvSpPr txBox="1"/>
              <p:nvPr/>
            </p:nvSpPr>
            <p:spPr>
              <a:xfrm>
                <a:off x="3969974" y="1558798"/>
                <a:ext cx="2920492" cy="48013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𝑸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=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.∆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𝜽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  (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𝑰</m:t>
                      </m:r>
                      <m:r>
                        <a:rPr lang="pt-BR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975A208-2B51-4B26-9862-2B5B63B02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974" y="1558798"/>
                <a:ext cx="2920492" cy="4801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62C40FF-A9D8-4F6D-8580-A713D1D9E8D5}"/>
              </a:ext>
            </a:extLst>
          </p:cNvPr>
          <p:cNvSpPr txBox="1"/>
          <p:nvPr/>
        </p:nvSpPr>
        <p:spPr>
          <a:xfrm>
            <a:off x="463273" y="2391197"/>
            <a:ext cx="673894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E da definição de capacidade térmica: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728517B-7782-4261-883E-DAC732B30255}"/>
                  </a:ext>
                </a:extLst>
              </p:cNvPr>
              <p:cNvSpPr txBox="1"/>
              <p:nvPr/>
            </p:nvSpPr>
            <p:spPr>
              <a:xfrm>
                <a:off x="7427852" y="2338323"/>
                <a:ext cx="2202873" cy="901722"/>
              </a:xfrm>
              <a:prstGeom prst="rect">
                <a:avLst/>
              </a:prstGeom>
              <a:solidFill>
                <a:srgbClr val="FFFF00"/>
              </a:solidFill>
              <a:ln w="57150" cmpd="dbl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𝑸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den>
                      </m:f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(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𝑰𝑰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728517B-7782-4261-883E-DAC732B30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7852" y="2338323"/>
                <a:ext cx="2202873" cy="9017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 cmpd="dbl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906C4AB6-F515-4052-98D2-D95235D7DEF3}"/>
              </a:ext>
            </a:extLst>
          </p:cNvPr>
          <p:cNvSpPr txBox="1"/>
          <p:nvPr/>
        </p:nvSpPr>
        <p:spPr>
          <a:xfrm>
            <a:off x="708522" y="3552417"/>
            <a:ext cx="511796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Substituindo (I) em (II), vem: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31143BA-377B-4259-9EFD-5270AACC9D67}"/>
                  </a:ext>
                </a:extLst>
              </p:cNvPr>
              <p:cNvSpPr txBox="1"/>
              <p:nvPr/>
            </p:nvSpPr>
            <p:spPr>
              <a:xfrm>
                <a:off x="5730022" y="3444033"/>
                <a:ext cx="2202873" cy="905441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  <m:r>
                            <a:rPr lang="pt-BR" sz="28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pt-BR" sz="28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pt-BR" sz="28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.∆</m:t>
                          </m:r>
                          <m:r>
                            <a:rPr lang="pt-BR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den>
                      </m:f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31143BA-377B-4259-9EFD-5270AACC9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022" y="3444033"/>
                <a:ext cx="2202873" cy="905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1DE848E-B4C3-4398-869C-B186B0FEA3D5}"/>
              </a:ext>
            </a:extLst>
          </p:cNvPr>
          <p:cNvCxnSpPr>
            <a:stCxn id="10" idx="2"/>
          </p:cNvCxnSpPr>
          <p:nvPr/>
        </p:nvCxnSpPr>
        <p:spPr>
          <a:xfrm flipV="1">
            <a:off x="6831459" y="4076018"/>
            <a:ext cx="547255" cy="27345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B3D3999-3135-409D-8D95-44B1C0411570}"/>
              </a:ext>
            </a:extLst>
          </p:cNvPr>
          <p:cNvCxnSpPr/>
          <p:nvPr/>
        </p:nvCxnSpPr>
        <p:spPr>
          <a:xfrm flipV="1">
            <a:off x="7226960" y="3555421"/>
            <a:ext cx="547255" cy="27345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F9238E55-8CA4-4F98-B820-B92180EAB4DC}"/>
              </a:ext>
            </a:extLst>
          </p:cNvPr>
          <p:cNvSpPr/>
          <p:nvPr/>
        </p:nvSpPr>
        <p:spPr>
          <a:xfrm>
            <a:off x="7932895" y="3775606"/>
            <a:ext cx="637310" cy="48013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C30925F2-522E-46AE-934E-95498396D0DB}"/>
                  </a:ext>
                </a:extLst>
              </p:cNvPr>
              <p:cNvSpPr txBox="1"/>
              <p:nvPr/>
            </p:nvSpPr>
            <p:spPr>
              <a:xfrm>
                <a:off x="8875652" y="3732517"/>
                <a:ext cx="1510146" cy="523220"/>
              </a:xfrm>
              <a:prstGeom prst="rect">
                <a:avLst/>
              </a:prstGeom>
              <a:noFill/>
              <a:ln w="57150" cmpd="dbl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𝒎𝒄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C30925F2-522E-46AE-934E-95498396D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5652" y="3732517"/>
                <a:ext cx="151014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7150" cmpd="dbl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m 16" descr="Imagem digital fictícia de personagem de desenho animado&#10;&#10;Descrição gerada automaticamente">
            <a:extLst>
              <a:ext uri="{FF2B5EF4-FFF2-40B4-BE49-F238E27FC236}">
                <a16:creationId xmlns:a16="http://schemas.microsoft.com/office/drawing/2014/main" id="{4676E39E-C408-4575-A265-0CE1AC336E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184" y="4145256"/>
            <a:ext cx="2969168" cy="236102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61BD70E-9FD2-4FBC-EC24-1C5C2E40E38B}"/>
              </a:ext>
            </a:extLst>
          </p:cNvPr>
          <p:cNvSpPr txBox="1"/>
          <p:nvPr/>
        </p:nvSpPr>
        <p:spPr>
          <a:xfrm>
            <a:off x="471054" y="59960"/>
            <a:ext cx="10108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Cap.: 16 – pag.: 222 – Calor sensível e calor latente</a:t>
            </a:r>
          </a:p>
        </p:txBody>
      </p:sp>
    </p:spTree>
    <p:extLst>
      <p:ext uri="{BB962C8B-B14F-4D97-AF65-F5344CB8AC3E}">
        <p14:creationId xmlns:p14="http://schemas.microsoft.com/office/powerpoint/2010/main" val="58746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9" grpId="0"/>
      <p:bldP spid="10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F5CA7AB-FE1A-40C7-BA6B-D008D13B1364}"/>
              </a:ext>
            </a:extLst>
          </p:cNvPr>
          <p:cNvSpPr txBox="1"/>
          <p:nvPr/>
        </p:nvSpPr>
        <p:spPr>
          <a:xfrm>
            <a:off x="326876" y="584775"/>
            <a:ext cx="9468288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 -1)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Um corpo de massa 50 g recebe 300 cal e sua temperatura sobe de – 10 ºC até 20 ºC. Determine a capacidade térmica C do corpo e o calor específico c da substância que o constitui.</a:t>
            </a:r>
            <a:endParaRPr lang="pt-BR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2B5FCE-E468-414C-AC02-B97F99258BEE}"/>
              </a:ext>
            </a:extLst>
          </p:cNvPr>
          <p:cNvSpPr txBox="1"/>
          <p:nvPr/>
        </p:nvSpPr>
        <p:spPr>
          <a:xfrm>
            <a:off x="540327" y="0"/>
            <a:ext cx="1893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F6EC6C-15B9-493A-BC0F-27A9E29E7777}"/>
              </a:ext>
            </a:extLst>
          </p:cNvPr>
          <p:cNvSpPr txBox="1"/>
          <p:nvPr/>
        </p:nvSpPr>
        <p:spPr>
          <a:xfrm>
            <a:off x="326876" y="2193666"/>
            <a:ext cx="226392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Resolução: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F743087-6797-4963-A4CF-0C71217D9343}"/>
              </a:ext>
            </a:extLst>
          </p:cNvPr>
          <p:cNvSpPr txBox="1"/>
          <p:nvPr/>
        </p:nvSpPr>
        <p:spPr>
          <a:xfrm>
            <a:off x="326876" y="2675558"/>
            <a:ext cx="599079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Definição de capacidade térmica: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128A5D7-DF49-4696-A131-BE9DC39FF630}"/>
                  </a:ext>
                </a:extLst>
              </p:cNvPr>
              <p:cNvSpPr txBox="1"/>
              <p:nvPr/>
            </p:nvSpPr>
            <p:spPr>
              <a:xfrm>
                <a:off x="6206837" y="2496076"/>
                <a:ext cx="1565563" cy="901722"/>
              </a:xfrm>
              <a:prstGeom prst="rect">
                <a:avLst/>
              </a:prstGeom>
              <a:solidFill>
                <a:srgbClr val="FFFF00"/>
              </a:solidFill>
              <a:ln w="57150" cmpd="dbl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𝑸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den>
                      </m:f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128A5D7-DF49-4696-A131-BE9DC39FF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837" y="2496076"/>
                <a:ext cx="1565563" cy="9017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 cmpd="dbl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5FBADE2-6898-4779-BA52-928694A10A7F}"/>
                  </a:ext>
                </a:extLst>
              </p:cNvPr>
              <p:cNvSpPr txBox="1"/>
              <p:nvPr/>
            </p:nvSpPr>
            <p:spPr>
              <a:xfrm>
                <a:off x="326876" y="3429000"/>
                <a:ext cx="3286344" cy="978217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𝟑𝟎𝟎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𝟐𝟎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 −(−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𝟏𝟎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den>
                      </m:f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5FBADE2-6898-4779-BA52-928694A10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76" y="3429000"/>
                <a:ext cx="3286344" cy="978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9A34D9B3-EE87-4191-9F42-93A0DC331206}"/>
              </a:ext>
            </a:extLst>
          </p:cNvPr>
          <p:cNvSpPr/>
          <p:nvPr/>
        </p:nvSpPr>
        <p:spPr>
          <a:xfrm>
            <a:off x="3322274" y="3702312"/>
            <a:ext cx="637310" cy="480131"/>
          </a:xfrm>
          <a:prstGeom prst="rightArrow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C6B26EB-75AC-4ABB-8935-07A9B7832024}"/>
                  </a:ext>
                </a:extLst>
              </p:cNvPr>
              <p:cNvSpPr txBox="1"/>
              <p:nvPr/>
            </p:nvSpPr>
            <p:spPr>
              <a:xfrm>
                <a:off x="3959584" y="3467215"/>
                <a:ext cx="1945270" cy="901785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𝟑𝟎𝟎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den>
                      </m:f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C6B26EB-75AC-4ABB-8935-07A9B7832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584" y="3467215"/>
                <a:ext cx="1945270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BB52F7B4-E8C0-4127-8007-740C2A240DFB}"/>
              </a:ext>
            </a:extLst>
          </p:cNvPr>
          <p:cNvSpPr/>
          <p:nvPr/>
        </p:nvSpPr>
        <p:spPr>
          <a:xfrm>
            <a:off x="5777345" y="3702311"/>
            <a:ext cx="637310" cy="480131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6B0E632-EA9C-44CB-9E63-670E01ADA972}"/>
                  </a:ext>
                </a:extLst>
              </p:cNvPr>
              <p:cNvSpPr txBox="1"/>
              <p:nvPr/>
            </p:nvSpPr>
            <p:spPr>
              <a:xfrm>
                <a:off x="6600059" y="3702311"/>
                <a:ext cx="2559483" cy="523220"/>
              </a:xfrm>
              <a:prstGeom prst="rect">
                <a:avLst/>
              </a:prstGeom>
              <a:noFill/>
              <a:ln w="57150" cmpd="dbl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𝒄𝒂𝒍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/°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6B0E632-EA9C-44CB-9E63-670E01ADA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59" y="3702311"/>
                <a:ext cx="255948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7150" cmpd="dbl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ixaDeTexto 12">
            <a:extLst>
              <a:ext uri="{FF2B5EF4-FFF2-40B4-BE49-F238E27FC236}">
                <a16:creationId xmlns:a16="http://schemas.microsoft.com/office/drawing/2014/main" id="{B9BA64CE-8618-4929-BEAF-6B183E85A01B}"/>
              </a:ext>
            </a:extLst>
          </p:cNvPr>
          <p:cNvSpPr txBox="1"/>
          <p:nvPr/>
        </p:nvSpPr>
        <p:spPr>
          <a:xfrm>
            <a:off x="423859" y="4601102"/>
            <a:ext cx="273497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0B1C7BD-606C-41F7-961B-1FCA99F9075C}"/>
                  </a:ext>
                </a:extLst>
              </p:cNvPr>
              <p:cNvSpPr txBox="1"/>
              <p:nvPr/>
            </p:nvSpPr>
            <p:spPr>
              <a:xfrm>
                <a:off x="3158837" y="4579557"/>
                <a:ext cx="1510146" cy="523220"/>
              </a:xfrm>
              <a:prstGeom prst="rect">
                <a:avLst/>
              </a:prstGeom>
              <a:noFill/>
              <a:ln w="57150" cmpd="dbl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𝒎𝒄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0B1C7BD-606C-41F7-961B-1FCA99F90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837" y="4579557"/>
                <a:ext cx="151014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57150" cmpd="dbl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70681EEB-0A9F-4F17-A092-78EA8B412EDA}"/>
              </a:ext>
            </a:extLst>
          </p:cNvPr>
          <p:cNvSpPr/>
          <p:nvPr/>
        </p:nvSpPr>
        <p:spPr>
          <a:xfrm>
            <a:off x="4938977" y="4677401"/>
            <a:ext cx="637310" cy="48013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729CDC6B-77A1-46E3-81D2-9FA2E8204B20}"/>
                  </a:ext>
                </a:extLst>
              </p:cNvPr>
              <p:cNvSpPr txBox="1"/>
              <p:nvPr/>
            </p:nvSpPr>
            <p:spPr>
              <a:xfrm>
                <a:off x="5756056" y="4658556"/>
                <a:ext cx="2016343" cy="523220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729CDC6B-77A1-46E3-81D2-9FA2E8204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056" y="4658556"/>
                <a:ext cx="201634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B6593A5D-D9F6-4138-AFE1-80659D6D6785}"/>
                  </a:ext>
                </a:extLst>
              </p:cNvPr>
              <p:cNvSpPr txBox="1"/>
              <p:nvPr/>
            </p:nvSpPr>
            <p:spPr>
              <a:xfrm>
                <a:off x="2858147" y="5499891"/>
                <a:ext cx="1565563" cy="901722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𝟓𝟎</m:t>
                          </m:r>
                        </m:den>
                      </m:f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B6593A5D-D9F6-4138-AFE1-80659D6D6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147" y="5499891"/>
                <a:ext cx="1565563" cy="9017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ECAC8021-23DF-411C-934A-8C834E55C2C5}"/>
              </a:ext>
            </a:extLst>
          </p:cNvPr>
          <p:cNvSpPr/>
          <p:nvPr/>
        </p:nvSpPr>
        <p:spPr>
          <a:xfrm>
            <a:off x="4318000" y="5710686"/>
            <a:ext cx="637310" cy="480131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4FC2800-6B36-466C-A82E-B6D76C3455C6}"/>
                  </a:ext>
                </a:extLst>
              </p:cNvPr>
              <p:cNvSpPr txBox="1"/>
              <p:nvPr/>
            </p:nvSpPr>
            <p:spPr>
              <a:xfrm>
                <a:off x="5244280" y="5591081"/>
                <a:ext cx="2863780" cy="523220"/>
              </a:xfrm>
              <a:prstGeom prst="rect">
                <a:avLst/>
              </a:prstGeom>
              <a:noFill/>
              <a:ln w="57150" cmpd="dbl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𝒄𝒂𝒍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𝒈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°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4FC2800-6B36-466C-A82E-B6D76C345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280" y="5591081"/>
                <a:ext cx="286378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57150" cmpd="dbl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Imagem 20" descr="Desenho de olhos e boca&#10;&#10;Descrição gerada automaticamente">
            <a:extLst>
              <a:ext uri="{FF2B5EF4-FFF2-40B4-BE49-F238E27FC236}">
                <a16:creationId xmlns:a16="http://schemas.microsoft.com/office/drawing/2014/main" id="{7A615A06-4518-412B-88D7-C3EE188873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671" y="4543331"/>
            <a:ext cx="2095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5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E9956D0-43F0-0776-6986-CD270B430241}"/>
              </a:ext>
            </a:extLst>
          </p:cNvPr>
          <p:cNvSpPr txBox="1"/>
          <p:nvPr/>
        </p:nvSpPr>
        <p:spPr>
          <a:xfrm>
            <a:off x="256771" y="584775"/>
            <a:ext cx="1029630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2-) (Enem) pag.: 224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 Inmetro procedeu à análise de garrafas térmicas com ampolas de vidro, para manter o consumidor informado sobre a adequação dos produtos aos Regulamentos e Normas Técnicas. Uma das análises é a de eficiência térmica. Nesse ensaio, verifica-se a capacidade da garrafa térmica de conservar o líquido aquecido em seu interior por determinado tempo. A garrafa é completada com água a 90 °C até o volume total. Após 3 horas, a temperatura do líquido é medida e deve ser, no mínimo, de 81 °C para garrafas com capacidade de 1 litro, pois o calor específico da água é igual a 1 cal/g °C. Atingindo a água 81 °C nesse prazo, a energia interna do sistema e a quantidade de calor perdida para o meio são, respectivamente,</a:t>
            </a:r>
          </a:p>
        </p:txBody>
      </p:sp>
    </p:spTree>
    <p:extLst>
      <p:ext uri="{BB962C8B-B14F-4D97-AF65-F5344CB8AC3E}">
        <p14:creationId xmlns:p14="http://schemas.microsoft.com/office/powerpoint/2010/main" val="2327371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FA3F3A8-F70C-BF54-B7CF-611ABCA16C2B}"/>
              </a:ext>
            </a:extLst>
          </p:cNvPr>
          <p:cNvSpPr/>
          <p:nvPr/>
        </p:nvSpPr>
        <p:spPr>
          <a:xfrm>
            <a:off x="377786" y="2024600"/>
            <a:ext cx="4307003" cy="612225"/>
          </a:xfrm>
          <a:prstGeom prst="roundRect">
            <a:avLst/>
          </a:prstGeom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D6BAC8-7279-26DC-6E82-C9A0CF8F36E5}"/>
              </a:ext>
            </a:extLst>
          </p:cNvPr>
          <p:cNvSpPr txBox="1"/>
          <p:nvPr/>
        </p:nvSpPr>
        <p:spPr>
          <a:xfrm>
            <a:off x="444879" y="651615"/>
            <a:ext cx="4519535" cy="324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a) constante e de 900 cal.</a:t>
            </a:r>
          </a:p>
          <a:p>
            <a:pPr algn="just">
              <a:lnSpc>
                <a:spcPct val="15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b) maior e de 900 cal.</a:t>
            </a:r>
          </a:p>
          <a:p>
            <a:pPr algn="just">
              <a:lnSpc>
                <a:spcPct val="15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c) menor e de 9000 cal.</a:t>
            </a:r>
          </a:p>
          <a:p>
            <a:pPr algn="just">
              <a:lnSpc>
                <a:spcPct val="15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d) maior e de 9 000 cal.</a:t>
            </a:r>
          </a:p>
          <a:p>
            <a:pPr algn="just">
              <a:lnSpc>
                <a:spcPct val="15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e) menor e de 900 cal.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9EC8B8-2F43-38D7-66B3-9A4555FB1EAE}"/>
              </a:ext>
            </a:extLst>
          </p:cNvPr>
          <p:cNvSpPr txBox="1"/>
          <p:nvPr/>
        </p:nvSpPr>
        <p:spPr>
          <a:xfrm>
            <a:off x="502170" y="299803"/>
            <a:ext cx="4705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Dado: 1L = 1000 g de água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343F3D6-99D5-1A20-8AEB-7F8F658F215A}"/>
              </a:ext>
            </a:extLst>
          </p:cNvPr>
          <p:cNvSpPr txBox="1"/>
          <p:nvPr/>
        </p:nvSpPr>
        <p:spPr>
          <a:xfrm>
            <a:off x="502170" y="4113505"/>
            <a:ext cx="2004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44754E-CA82-3A43-AC90-5D64627C5044}"/>
              </a:ext>
            </a:extLst>
          </p:cNvPr>
          <p:cNvSpPr txBox="1"/>
          <p:nvPr/>
        </p:nvSpPr>
        <p:spPr>
          <a:xfrm>
            <a:off x="502170" y="4636725"/>
            <a:ext cx="264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2D19DD9-815F-FB70-F47B-29693332C292}"/>
                  </a:ext>
                </a:extLst>
              </p:cNvPr>
              <p:cNvSpPr txBox="1"/>
              <p:nvPr/>
            </p:nvSpPr>
            <p:spPr>
              <a:xfrm>
                <a:off x="3144240" y="4636725"/>
                <a:ext cx="223349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𝑸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.∆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𝜽</m:t>
                    </m:r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2D19DD9-815F-FB70-F47B-29693332C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240" y="4636725"/>
                <a:ext cx="223349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11265-301E-58DC-F0F6-07D70AA3D492}"/>
                  </a:ext>
                </a:extLst>
              </p:cNvPr>
              <p:cNvSpPr txBox="1"/>
              <p:nvPr/>
            </p:nvSpPr>
            <p:spPr>
              <a:xfrm>
                <a:off x="444879" y="5159945"/>
                <a:ext cx="39399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𝑸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𝟏𝟎𝟎𝟎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.(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𝟖𝟏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𝟗𝟎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11265-301E-58DC-F0F6-07D70AA3D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79" y="5159945"/>
                <a:ext cx="393992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8A19860-23E1-3FFD-4461-F206C78DF878}"/>
                  </a:ext>
                </a:extLst>
              </p:cNvPr>
              <p:cNvSpPr txBox="1"/>
              <p:nvPr/>
            </p:nvSpPr>
            <p:spPr>
              <a:xfrm>
                <a:off x="444879" y="5683165"/>
                <a:ext cx="27566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𝑸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=−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𝟗𝟎𝟎𝟎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𝒄𝒂𝒍</m:t>
                    </m:r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8A19860-23E1-3FFD-4461-F206C78DF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79" y="5683165"/>
                <a:ext cx="2756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7617A1D0-3790-7AE1-6E00-228517C54986}"/>
              </a:ext>
            </a:extLst>
          </p:cNvPr>
          <p:cNvSpPr txBox="1"/>
          <p:nvPr/>
        </p:nvSpPr>
        <p:spPr>
          <a:xfrm>
            <a:off x="5584662" y="390403"/>
            <a:ext cx="63156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Sinal negativo indica que essa energia foi retirada do sistema, assim, a </a:t>
            </a: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energia no sistema é menor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vale: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2D5BD2D-0DD9-5E00-61FB-B75EEB6CA2C2}"/>
                  </a:ext>
                </a:extLst>
              </p:cNvPr>
              <p:cNvSpPr txBox="1"/>
              <p:nvPr/>
            </p:nvSpPr>
            <p:spPr>
              <a:xfrm>
                <a:off x="7384407" y="2206285"/>
                <a:ext cx="2716193" cy="52322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pt-BR" sz="28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𝑸</m:t>
                        </m:r>
                      </m:e>
                    </m:d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𝟗𝟎𝟎𝟎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𝒄𝒂𝒍</m:t>
                    </m:r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2D5BD2D-0DD9-5E00-61FB-B75EEB6CA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407" y="2206285"/>
                <a:ext cx="271619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13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D67A504-C3A2-D6D5-EC39-F7A673F89631}"/>
              </a:ext>
            </a:extLst>
          </p:cNvPr>
          <p:cNvSpPr txBox="1"/>
          <p:nvPr/>
        </p:nvSpPr>
        <p:spPr>
          <a:xfrm>
            <a:off x="367257" y="454012"/>
            <a:ext cx="1074045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3-) pag.: 224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 chamado leite longa vida é pasteurizado pelo processo UHT (Ultra High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Temperature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), que consiste em aquecer o leite da temperatura ambiente (22 °C) até 137 °C em apenas 4,0 s, sendo em seguida envasado em embalagem impermeável a luz e a microrganismos.</a:t>
            </a:r>
          </a:p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 calor específico do leite é praticamente igual ao da água, 1,0 cal/g °C. Assim, no aquecimento descrito, que quantidade de calor, em quilocalorias (kcal), cada litro (1000 g) de leite precisou receber?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4F046C-4EB9-E810-BF55-940EE1B8A45A}"/>
              </a:ext>
            </a:extLst>
          </p:cNvPr>
          <p:cNvSpPr txBox="1"/>
          <p:nvPr/>
        </p:nvSpPr>
        <p:spPr>
          <a:xfrm>
            <a:off x="424548" y="4424330"/>
            <a:ext cx="2004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AA0E72C-B74F-6D51-A0F1-C6E2BB864EE4}"/>
              </a:ext>
            </a:extLst>
          </p:cNvPr>
          <p:cNvSpPr txBox="1"/>
          <p:nvPr/>
        </p:nvSpPr>
        <p:spPr>
          <a:xfrm>
            <a:off x="424548" y="4947550"/>
            <a:ext cx="264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CBD8039-E1EC-768E-839C-6E55CAC4FBE3}"/>
                  </a:ext>
                </a:extLst>
              </p:cNvPr>
              <p:cNvSpPr txBox="1"/>
              <p:nvPr/>
            </p:nvSpPr>
            <p:spPr>
              <a:xfrm>
                <a:off x="3066618" y="4947550"/>
                <a:ext cx="223349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𝑸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.∆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𝜽</m:t>
                    </m:r>
                  </m:oMath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CBD8039-E1EC-768E-839C-6E55CAC4F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618" y="4947550"/>
                <a:ext cx="223349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34EAC61-EA97-0C04-5075-6C93A233E5D1}"/>
                  </a:ext>
                </a:extLst>
              </p:cNvPr>
              <p:cNvSpPr txBox="1"/>
              <p:nvPr/>
            </p:nvSpPr>
            <p:spPr>
              <a:xfrm>
                <a:off x="367257" y="5470770"/>
                <a:ext cx="415472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𝑸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𝟏𝟎𝟎𝟎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.(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𝟏𝟑𝟕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𝟐𝟐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34EAC61-EA97-0C04-5075-6C93A233E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57" y="5470770"/>
                <a:ext cx="415472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157713A-D886-91AA-416D-6C042DE5F9E5}"/>
                  </a:ext>
                </a:extLst>
              </p:cNvPr>
              <p:cNvSpPr txBox="1"/>
              <p:nvPr/>
            </p:nvSpPr>
            <p:spPr>
              <a:xfrm>
                <a:off x="367257" y="5993990"/>
                <a:ext cx="29185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𝑸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𝟏𝟏𝟓𝟎𝟎𝟎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𝒄𝒂𝒍</m:t>
                    </m:r>
                  </m:oMath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157713A-D886-91AA-416D-6C042DE5F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57" y="5993990"/>
                <a:ext cx="291855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CC285803-49A2-3869-65C0-1539C360EB01}"/>
              </a:ext>
            </a:extLst>
          </p:cNvPr>
          <p:cNvSpPr/>
          <p:nvPr/>
        </p:nvSpPr>
        <p:spPr>
          <a:xfrm>
            <a:off x="3484174" y="5993990"/>
            <a:ext cx="839449" cy="52322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E8FF41A-99E5-BC18-DC2D-549E68242DF8}"/>
                  </a:ext>
                </a:extLst>
              </p:cNvPr>
              <p:cNvSpPr txBox="1"/>
              <p:nvPr/>
            </p:nvSpPr>
            <p:spPr>
              <a:xfrm>
                <a:off x="4521984" y="5993990"/>
                <a:ext cx="2493760" cy="52322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𝑸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𝟏𝟏𝟓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𝒌𝒄𝒂𝒍</m:t>
                    </m:r>
                  </m:oMath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E8FF41A-99E5-BC18-DC2D-549E68242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984" y="5993990"/>
                <a:ext cx="249376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49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546848-41EB-8461-69E0-D5A2F9A81520}"/>
              </a:ext>
            </a:extLst>
          </p:cNvPr>
          <p:cNvSpPr txBox="1"/>
          <p:nvPr/>
        </p:nvSpPr>
        <p:spPr>
          <a:xfrm>
            <a:off x="307297" y="437744"/>
            <a:ext cx="1057556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4-) pag.: 224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 massa e o calor específico sensível de cinco amostras de materiais sólidos e homogêneos são fornecidos a seguir: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CB815FB9-050A-9C40-2F9C-02B5144B4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928179"/>
              </p:ext>
            </p:extLst>
          </p:nvPr>
        </p:nvGraphicFramePr>
        <p:xfrm>
          <a:off x="1531077" y="1822739"/>
          <a:ext cx="882712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962">
                  <a:extLst>
                    <a:ext uri="{9D8B030D-6E8A-4147-A177-3AD203B41FA5}">
                      <a16:colId xmlns:a16="http://schemas.microsoft.com/office/drawing/2014/main" val="3203223112"/>
                    </a:ext>
                  </a:extLst>
                </a:gridCol>
                <a:gridCol w="2018663">
                  <a:extLst>
                    <a:ext uri="{9D8B030D-6E8A-4147-A177-3AD203B41FA5}">
                      <a16:colId xmlns:a16="http://schemas.microsoft.com/office/drawing/2014/main" val="4054105629"/>
                    </a:ext>
                  </a:extLst>
                </a:gridCol>
                <a:gridCol w="4759500">
                  <a:extLst>
                    <a:ext uri="{9D8B030D-6E8A-4147-A177-3AD203B41FA5}">
                      <a16:colId xmlns:a16="http://schemas.microsoft.com/office/drawing/2014/main" val="1865243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Massa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Calor específico (cal/</a:t>
                      </a:r>
                      <a:r>
                        <a:rPr lang="pt-BR" sz="28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gºC</a:t>
                      </a:r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825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3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247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927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691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162757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F7E35597-7CD4-8F23-D6D7-A3073CA77DDC}"/>
              </a:ext>
            </a:extLst>
          </p:cNvPr>
          <p:cNvSpPr txBox="1"/>
          <p:nvPr/>
        </p:nvSpPr>
        <p:spPr>
          <a:xfrm>
            <a:off x="472190" y="5035262"/>
            <a:ext cx="104106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As cinco amostras encontram-se inicialmente à mesma temperatura e recebem quantidades iguais  e calor. Qual delas atingirá a maior temperatura?</a:t>
            </a:r>
          </a:p>
        </p:txBody>
      </p:sp>
    </p:spTree>
    <p:extLst>
      <p:ext uri="{BB962C8B-B14F-4D97-AF65-F5344CB8AC3E}">
        <p14:creationId xmlns:p14="http://schemas.microsoft.com/office/powerpoint/2010/main" val="3752946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E7FF4F1-41CD-736D-6758-BA081A718143}"/>
              </a:ext>
            </a:extLst>
          </p:cNvPr>
          <p:cNvSpPr/>
          <p:nvPr/>
        </p:nvSpPr>
        <p:spPr>
          <a:xfrm>
            <a:off x="376942" y="5214157"/>
            <a:ext cx="6499162" cy="426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3A6EF42-1A88-426D-EC82-D003A354C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561997"/>
              </p:ext>
            </p:extLst>
          </p:nvPr>
        </p:nvGraphicFramePr>
        <p:xfrm>
          <a:off x="461271" y="175911"/>
          <a:ext cx="882712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962">
                  <a:extLst>
                    <a:ext uri="{9D8B030D-6E8A-4147-A177-3AD203B41FA5}">
                      <a16:colId xmlns:a16="http://schemas.microsoft.com/office/drawing/2014/main" val="1953814746"/>
                    </a:ext>
                  </a:extLst>
                </a:gridCol>
                <a:gridCol w="2018663">
                  <a:extLst>
                    <a:ext uri="{9D8B030D-6E8A-4147-A177-3AD203B41FA5}">
                      <a16:colId xmlns:a16="http://schemas.microsoft.com/office/drawing/2014/main" val="1639662721"/>
                    </a:ext>
                  </a:extLst>
                </a:gridCol>
                <a:gridCol w="4759500">
                  <a:extLst>
                    <a:ext uri="{9D8B030D-6E8A-4147-A177-3AD203B41FA5}">
                      <a16:colId xmlns:a16="http://schemas.microsoft.com/office/drawing/2014/main" val="369524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Massa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Calor específico (cal/</a:t>
                      </a:r>
                      <a:r>
                        <a:rPr lang="pt-BR" sz="28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gºC</a:t>
                      </a:r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070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44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786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991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261736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C3B1BC39-2BBE-2FAB-EA98-AF4C01B40EBD}"/>
              </a:ext>
            </a:extLst>
          </p:cNvPr>
          <p:cNvSpPr txBox="1"/>
          <p:nvPr/>
        </p:nvSpPr>
        <p:spPr>
          <a:xfrm>
            <a:off x="288119" y="3296553"/>
            <a:ext cx="10684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Maior temperatura a amostra que tiver menor capacidade térmica, assim: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10223C5-73CE-3C84-D88E-2A462421564C}"/>
              </a:ext>
            </a:extLst>
          </p:cNvPr>
          <p:cNvSpPr txBox="1"/>
          <p:nvPr/>
        </p:nvSpPr>
        <p:spPr>
          <a:xfrm>
            <a:off x="1219200" y="4191615"/>
            <a:ext cx="596341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Definição de capacidade térmica: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1292D04-E19A-8528-E981-72501EBB39B1}"/>
                  </a:ext>
                </a:extLst>
              </p:cNvPr>
              <p:cNvSpPr txBox="1"/>
              <p:nvPr/>
            </p:nvSpPr>
            <p:spPr>
              <a:xfrm>
                <a:off x="7017724" y="4170070"/>
                <a:ext cx="1510146" cy="523220"/>
              </a:xfrm>
              <a:prstGeom prst="rect">
                <a:avLst/>
              </a:prstGeom>
              <a:noFill/>
              <a:ln w="57150" cmpd="dbl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𝒎𝒄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1292D04-E19A-8528-E981-72501EBB3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724" y="4170070"/>
                <a:ext cx="151014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 cmpd="dbl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0015DA1-F2B4-5470-55DC-BDBBFE342A22}"/>
                  </a:ext>
                </a:extLst>
              </p:cNvPr>
              <p:cNvSpPr txBox="1"/>
              <p:nvPr/>
            </p:nvSpPr>
            <p:spPr>
              <a:xfrm>
                <a:off x="381323" y="4671746"/>
                <a:ext cx="27212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𝟏𝟓𝟎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𝟐𝟎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0015DA1-F2B4-5470-55DC-BDBBFE342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23" y="4671746"/>
                <a:ext cx="27212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B5610A7E-C2B3-1C40-109D-3B35EA30B256}"/>
              </a:ext>
            </a:extLst>
          </p:cNvPr>
          <p:cNvSpPr/>
          <p:nvPr/>
        </p:nvSpPr>
        <p:spPr>
          <a:xfrm>
            <a:off x="3102581" y="4799339"/>
            <a:ext cx="704537" cy="268034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C5E9DF8-143A-CB94-7B20-88AE2889CAAA}"/>
                  </a:ext>
                </a:extLst>
              </p:cNvPr>
              <p:cNvSpPr txBox="1"/>
              <p:nvPr/>
            </p:nvSpPr>
            <p:spPr>
              <a:xfrm>
                <a:off x="3987000" y="4671746"/>
                <a:ext cx="27474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𝒄𝒂𝒍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/°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C5E9DF8-143A-CB94-7B20-88AE2889C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000" y="4671746"/>
                <a:ext cx="274748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C5820AE-3059-165A-C225-8A1432A6D9AD}"/>
                  </a:ext>
                </a:extLst>
              </p:cNvPr>
              <p:cNvSpPr txBox="1"/>
              <p:nvPr/>
            </p:nvSpPr>
            <p:spPr>
              <a:xfrm>
                <a:off x="381323" y="5194966"/>
                <a:ext cx="252248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𝑩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𝟑𝟎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C5820AE-3059-165A-C225-8A1432A6D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23" y="5194966"/>
                <a:ext cx="252248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AD5FC943-A99F-2C65-487A-C162E4F363D2}"/>
              </a:ext>
            </a:extLst>
          </p:cNvPr>
          <p:cNvSpPr/>
          <p:nvPr/>
        </p:nvSpPr>
        <p:spPr>
          <a:xfrm>
            <a:off x="3102581" y="5252339"/>
            <a:ext cx="704537" cy="268034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DB4B9C9-B65B-738F-75F6-CA368A147472}"/>
                  </a:ext>
                </a:extLst>
              </p:cNvPr>
              <p:cNvSpPr txBox="1"/>
              <p:nvPr/>
            </p:nvSpPr>
            <p:spPr>
              <a:xfrm>
                <a:off x="3987000" y="5124746"/>
                <a:ext cx="276351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𝑩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𝟏𝟓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𝒄𝒂𝒍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/°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DB4B9C9-B65B-738F-75F6-CA368A147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000" y="5124746"/>
                <a:ext cx="276351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E718ED9-7CC8-0C55-D87D-59746755E436}"/>
                  </a:ext>
                </a:extLst>
              </p:cNvPr>
              <p:cNvSpPr txBox="1"/>
              <p:nvPr/>
            </p:nvSpPr>
            <p:spPr>
              <a:xfrm>
                <a:off x="381323" y="5708687"/>
                <a:ext cx="27132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𝟐𝟓𝟎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E718ED9-7CC8-0C55-D87D-59746755E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23" y="5708687"/>
                <a:ext cx="271324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DBFF03D5-527A-F69F-ED5F-95F35685FABA}"/>
              </a:ext>
            </a:extLst>
          </p:cNvPr>
          <p:cNvSpPr/>
          <p:nvPr/>
        </p:nvSpPr>
        <p:spPr>
          <a:xfrm>
            <a:off x="3102581" y="5766060"/>
            <a:ext cx="704537" cy="2680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D853785-236A-B347-D25A-4A8A305B2C95}"/>
                  </a:ext>
                </a:extLst>
              </p:cNvPr>
              <p:cNvSpPr txBox="1"/>
              <p:nvPr/>
            </p:nvSpPr>
            <p:spPr>
              <a:xfrm>
                <a:off x="3987000" y="5638467"/>
                <a:ext cx="276351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𝟐𝟓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𝒄𝒂𝒍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/°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D853785-236A-B347-D25A-4A8A305B2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000" y="5638467"/>
                <a:ext cx="276351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169A901F-62D7-9E68-1B11-6CBE3A2808C6}"/>
                  </a:ext>
                </a:extLst>
              </p:cNvPr>
              <p:cNvSpPr txBox="1"/>
              <p:nvPr/>
            </p:nvSpPr>
            <p:spPr>
              <a:xfrm>
                <a:off x="381323" y="6158869"/>
                <a:ext cx="263149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𝑪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𝑫</m:t>
                        </m:r>
                      </m:sub>
                    </m:sSub>
                    <m:r>
                      <a:rPr lang="pt-BR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𝟏𝟒𝟎</m:t>
                    </m:r>
                    <m:r>
                      <a:rPr lang="pt-BR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pt-BR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pt-BR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</m:oMath>
                </a14:m>
                <a:r>
                  <a:rPr lang="pt-BR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169A901F-62D7-9E68-1B11-6CBE3A280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23" y="6158869"/>
                <a:ext cx="2631490" cy="523220"/>
              </a:xfrm>
              <a:prstGeom prst="rect">
                <a:avLst/>
              </a:prstGeom>
              <a:blipFill>
                <a:blip r:embed="rId9"/>
                <a:stretch>
                  <a:fillRect t="-11628" r="-3712" b="-313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9E2D0650-C928-DC31-CBD6-9FAB3BBA71A5}"/>
              </a:ext>
            </a:extLst>
          </p:cNvPr>
          <p:cNvSpPr/>
          <p:nvPr/>
        </p:nvSpPr>
        <p:spPr>
          <a:xfrm>
            <a:off x="3102581" y="6286462"/>
            <a:ext cx="704537" cy="268034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4CAC6546-1913-3BEE-048E-3470F600899D}"/>
                  </a:ext>
                </a:extLst>
              </p:cNvPr>
              <p:cNvSpPr txBox="1"/>
              <p:nvPr/>
            </p:nvSpPr>
            <p:spPr>
              <a:xfrm>
                <a:off x="3876563" y="6078642"/>
                <a:ext cx="27474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𝑫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𝟑𝟓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𝒄𝒂𝒍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/°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4CAC6546-1913-3BEE-048E-3470F6008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563" y="6078642"/>
                <a:ext cx="274748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07CA6F43-00E0-2E64-AADD-3C53A1B45FED}"/>
                  </a:ext>
                </a:extLst>
              </p:cNvPr>
              <p:cNvSpPr txBox="1"/>
              <p:nvPr/>
            </p:nvSpPr>
            <p:spPr>
              <a:xfrm>
                <a:off x="7017724" y="4738956"/>
                <a:ext cx="27453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𝑬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𝟒𝟎𝟎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𝟏𝟓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07CA6F43-00E0-2E64-AADD-3C53A1B45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724" y="4738956"/>
                <a:ext cx="274530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0AE2339D-6DAA-CA1A-697C-984B759BB3CC}"/>
              </a:ext>
            </a:extLst>
          </p:cNvPr>
          <p:cNvSpPr/>
          <p:nvPr/>
        </p:nvSpPr>
        <p:spPr>
          <a:xfrm>
            <a:off x="9738982" y="4866549"/>
            <a:ext cx="704537" cy="268034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4378FF10-6573-E264-7A49-93CC9BC08661}"/>
                  </a:ext>
                </a:extLst>
              </p:cNvPr>
              <p:cNvSpPr txBox="1"/>
              <p:nvPr/>
            </p:nvSpPr>
            <p:spPr>
              <a:xfrm>
                <a:off x="7432136" y="5227252"/>
                <a:ext cx="27474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𝑬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𝟔𝟎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𝒄𝒂𝒍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/°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4378FF10-6573-E264-7A49-93CC9BC08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2136" y="5227252"/>
                <a:ext cx="2747483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Imagem 24" descr="Desenho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0146160D-8273-67CB-A5A0-1B919457518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680" y="853771"/>
            <a:ext cx="1830604" cy="232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1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" grpId="0"/>
      <p:bldP spid="5" grpId="0"/>
      <p:bldP spid="6" grpId="0" animBg="1"/>
      <p:bldP spid="7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409B0AA-3293-A6BB-CB83-12347DEC4E92}"/>
              </a:ext>
            </a:extLst>
          </p:cNvPr>
          <p:cNvSpPr txBox="1"/>
          <p:nvPr/>
        </p:nvSpPr>
        <p:spPr>
          <a:xfrm>
            <a:off x="367259" y="307059"/>
            <a:ext cx="99609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5-) pag.: 224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Uma fonte térmica foi utilizada para o aquecimento de 1,0 L de água (1000 g) da temperatura ambiente (20 °C) até o ponto de ebulição (100 °C) em um intervalo de tempo igual a 1 min 40 s com rendimento de 100%. Sendo o calor específico da água igual a 1,0 cal/g °C, qual o valor da potência dessa fonte?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D063DDB-16CD-5494-C51C-E734378A34D1}"/>
              </a:ext>
            </a:extLst>
          </p:cNvPr>
          <p:cNvSpPr txBox="1"/>
          <p:nvPr/>
        </p:nvSpPr>
        <p:spPr>
          <a:xfrm>
            <a:off x="367259" y="3035509"/>
            <a:ext cx="2004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440E41A-B54A-1BB2-CE9F-FC90CB010FC9}"/>
              </a:ext>
            </a:extLst>
          </p:cNvPr>
          <p:cNvSpPr txBox="1"/>
          <p:nvPr/>
        </p:nvSpPr>
        <p:spPr>
          <a:xfrm>
            <a:off x="367259" y="3558729"/>
            <a:ext cx="264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C1CF2EA-A831-24AC-544B-76BC037A21BA}"/>
                  </a:ext>
                </a:extLst>
              </p:cNvPr>
              <p:cNvSpPr txBox="1"/>
              <p:nvPr/>
            </p:nvSpPr>
            <p:spPr>
              <a:xfrm>
                <a:off x="3009329" y="3558729"/>
                <a:ext cx="223349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𝑸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.∆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𝜽</m:t>
                    </m:r>
                  </m:oMath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C1CF2EA-A831-24AC-544B-76BC037A2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329" y="3558729"/>
                <a:ext cx="223349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05A66E7-1DF0-9020-F8E3-C18FB6DB4FC7}"/>
                  </a:ext>
                </a:extLst>
              </p:cNvPr>
              <p:cNvSpPr txBox="1"/>
              <p:nvPr/>
            </p:nvSpPr>
            <p:spPr>
              <a:xfrm>
                <a:off x="5388530" y="3318684"/>
                <a:ext cx="1341201" cy="901785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∅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𝑸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05A66E7-1DF0-9020-F8E3-C18FB6DB4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530" y="3318684"/>
                <a:ext cx="1341201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AF979EB-44C6-E709-36A0-46F3960F7FB8}"/>
                  </a:ext>
                </a:extLst>
              </p:cNvPr>
              <p:cNvSpPr txBox="1"/>
              <p:nvPr/>
            </p:nvSpPr>
            <p:spPr>
              <a:xfrm>
                <a:off x="370147" y="4340514"/>
                <a:ext cx="2196627" cy="905504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∅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.∆</m:t>
                          </m:r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num>
                        <m:den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AF979EB-44C6-E709-36A0-46F3960F7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47" y="4340514"/>
                <a:ext cx="2196627" cy="9055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B02BF9E1-2982-C549-6E63-DF8E53A42A10}"/>
              </a:ext>
            </a:extLst>
          </p:cNvPr>
          <p:cNvSpPr/>
          <p:nvPr/>
        </p:nvSpPr>
        <p:spPr>
          <a:xfrm>
            <a:off x="2595252" y="4596870"/>
            <a:ext cx="828153" cy="452752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732CFAA-B3E2-5ED2-3DDB-B342C5775F03}"/>
                  </a:ext>
                </a:extLst>
              </p:cNvPr>
              <p:cNvSpPr txBox="1"/>
              <p:nvPr/>
            </p:nvSpPr>
            <p:spPr>
              <a:xfrm>
                <a:off x="3514947" y="4336762"/>
                <a:ext cx="4117859" cy="913007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∅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𝟏𝟎𝟎𝟎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.(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𝟐𝟎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732CFAA-B3E2-5ED2-3DDB-B342C5775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947" y="4336762"/>
                <a:ext cx="4117859" cy="9130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A8837A7E-0212-60BE-56E3-EDE367C59FCD}"/>
                  </a:ext>
                </a:extLst>
              </p:cNvPr>
              <p:cNvSpPr txBox="1"/>
              <p:nvPr/>
            </p:nvSpPr>
            <p:spPr>
              <a:xfrm>
                <a:off x="2829504" y="5662371"/>
                <a:ext cx="2593146" cy="523220"/>
              </a:xfrm>
              <a:prstGeom prst="rect">
                <a:avLst/>
              </a:prstGeom>
              <a:noFill/>
              <a:ln w="57150" cmpd="dbl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∅</m:t>
                      </m:r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𝟖𝟎𝟎</m:t>
                      </m:r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𝒄𝒂𝒍</m:t>
                      </m:r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/</m:t>
                      </m:r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𝒔</m:t>
                      </m:r>
                    </m:oMath>
                  </m:oMathPara>
                </a14:m>
                <a:endParaRPr lang="pt-BR" sz="28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A8837A7E-0212-60BE-56E3-EDE367C59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504" y="5662371"/>
                <a:ext cx="259314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57150" cmpd="dbl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58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B39EA52-E0F2-26DF-9A1C-CDF76661C856}"/>
              </a:ext>
            </a:extLst>
          </p:cNvPr>
          <p:cNvSpPr txBox="1"/>
          <p:nvPr/>
        </p:nvSpPr>
        <p:spPr>
          <a:xfrm>
            <a:off x="337279" y="142806"/>
            <a:ext cx="100059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6-) pag.: 224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Uma fonte térmica de potência constante fornece 50 cal/min para uma amostra de 100 g de uma substância. O gráfico fornece a temperatura em função do tempo de aquecimento desse corpo. Qual é o valor do calor específico do material dessa substância?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B03CF33-AA9F-A521-C632-4547048DE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79" y="2389575"/>
            <a:ext cx="4179673" cy="347377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3E50123-8121-C575-4E83-A365DE4ED9A3}"/>
              </a:ext>
            </a:extLst>
          </p:cNvPr>
          <p:cNvSpPr txBox="1"/>
          <p:nvPr/>
        </p:nvSpPr>
        <p:spPr>
          <a:xfrm>
            <a:off x="141542" y="5863349"/>
            <a:ext cx="264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9D54BD91-82A7-9D49-0A1C-723586A53D57}"/>
                  </a:ext>
                </a:extLst>
              </p:cNvPr>
              <p:cNvSpPr txBox="1"/>
              <p:nvPr/>
            </p:nvSpPr>
            <p:spPr>
              <a:xfrm>
                <a:off x="2783612" y="5863349"/>
                <a:ext cx="223349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𝑸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.∆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𝜽</m:t>
                    </m:r>
                  </m:oMath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9D54BD91-82A7-9D49-0A1C-723586A53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12" y="5863349"/>
                <a:ext cx="223349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1AE813A-6A8D-89F3-AC64-8EBBF803B177}"/>
                  </a:ext>
                </a:extLst>
              </p:cNvPr>
              <p:cNvSpPr txBox="1"/>
              <p:nvPr/>
            </p:nvSpPr>
            <p:spPr>
              <a:xfrm>
                <a:off x="5162813" y="5623304"/>
                <a:ext cx="1341201" cy="901785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∅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𝑸</m:t>
                          </m:r>
                        </m:num>
                        <m:den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1AE813A-6A8D-89F3-AC64-8EBBF803B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813" y="5623304"/>
                <a:ext cx="1341201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tângulo 9">
            <a:extLst>
              <a:ext uri="{FF2B5EF4-FFF2-40B4-BE49-F238E27FC236}">
                <a16:creationId xmlns:a16="http://schemas.microsoft.com/office/drawing/2014/main" id="{C91E1724-35CC-DCC0-F916-70467EC7B4BF}"/>
              </a:ext>
            </a:extLst>
          </p:cNvPr>
          <p:cNvSpPr/>
          <p:nvPr/>
        </p:nvSpPr>
        <p:spPr>
          <a:xfrm>
            <a:off x="6649718" y="2503357"/>
            <a:ext cx="95856" cy="421183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A3B19A6-273E-5611-CA2B-19F85F657165}"/>
                  </a:ext>
                </a:extLst>
              </p:cNvPr>
              <p:cNvSpPr txBox="1"/>
              <p:nvPr/>
            </p:nvSpPr>
            <p:spPr>
              <a:xfrm>
                <a:off x="7011200" y="2389575"/>
                <a:ext cx="2196627" cy="905504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∅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.∆</m:t>
                          </m:r>
                          <m:r>
                            <a:rPr lang="pt-BR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num>
                        <m:den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pt-BR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A3B19A6-273E-5611-CA2B-19F85F657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200" y="2389575"/>
                <a:ext cx="2196627" cy="9055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EBF485F2-CAEE-C330-7E21-0D0C2E057B3D}"/>
                  </a:ext>
                </a:extLst>
              </p:cNvPr>
              <p:cNvSpPr txBox="1"/>
              <p:nvPr/>
            </p:nvSpPr>
            <p:spPr>
              <a:xfrm>
                <a:off x="6745574" y="3383581"/>
                <a:ext cx="3858172" cy="913007"/>
              </a:xfrm>
              <a:prstGeom prst="rect">
                <a:avLst/>
              </a:prstGeom>
              <a:noFill/>
              <a:ln w="57150" cmpd="dbl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𝟓𝟎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.(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𝟓𝟎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</m:t>
                          </m:r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𝟐𝟎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EBF485F2-CAEE-C330-7E21-0D0C2E057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574" y="3383581"/>
                <a:ext cx="3858172" cy="9130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57150" cmpd="dbl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6443B05-D71C-F15C-27E7-70A84535BA72}"/>
                  </a:ext>
                </a:extLst>
              </p:cNvPr>
              <p:cNvSpPr txBox="1"/>
              <p:nvPr/>
            </p:nvSpPr>
            <p:spPr>
              <a:xfrm>
                <a:off x="6891278" y="4347665"/>
                <a:ext cx="26508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𝟏𝟎𝟎𝟎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𝟒𝟎𝟎𝟎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</m:t>
                    </m:r>
                  </m:oMath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6443B05-D71C-F15C-27E7-70A84535B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278" y="4347665"/>
                <a:ext cx="265085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CEF46C96-C304-A2B1-200D-EE3C344614C3}"/>
                  </a:ext>
                </a:extLst>
              </p:cNvPr>
              <p:cNvSpPr txBox="1"/>
              <p:nvPr/>
            </p:nvSpPr>
            <p:spPr>
              <a:xfrm>
                <a:off x="7011200" y="4960660"/>
                <a:ext cx="2508123" cy="986360"/>
              </a:xfrm>
              <a:prstGeom prst="rect">
                <a:avLst/>
              </a:prstGeom>
              <a:noFill/>
              <a:ln w="57150" cmpd="dbl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𝒄</m:t>
                      </m:r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pt-BR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𝟐𝟓</m:t>
                      </m:r>
                      <m:f>
                        <m:fPr>
                          <m:ctrlP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𝒄𝒂𝒍</m:t>
                          </m:r>
                        </m:num>
                        <m:den>
                          <m: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  <m: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.°</m:t>
                          </m:r>
                          <m:r>
                            <a:rPr lang="pt-BR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den>
                      </m:f>
                    </m:oMath>
                  </m:oMathPara>
                </a14:m>
                <a:endParaRPr lang="pt-BR" sz="28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CEF46C96-C304-A2B1-200D-EE3C34461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200" y="4960660"/>
                <a:ext cx="2508123" cy="9863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57150" cmpd="dbl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70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  <p:bldP spid="11" grpId="0"/>
      <p:bldP spid="12" grpId="0"/>
      <p:bldP spid="13" grpId="0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1D22A5A-4EA2-077D-4AE8-50DB35A08FE8}"/>
              </a:ext>
            </a:extLst>
          </p:cNvPr>
          <p:cNvSpPr txBox="1"/>
          <p:nvPr/>
        </p:nvSpPr>
        <p:spPr>
          <a:xfrm>
            <a:off x="367259" y="277080"/>
            <a:ext cx="1029074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7-) pag.: 224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Um aquecedor elétrico de potência 1500 W e capacidade de 135 litros está totalmente cheio com água à temperatura ambiente (20 °C). Quanto tempo o aquecedor gasta para elevar a temperatura dessa água até 60 °C? Dados: calor específico da água = 1,0 cal/g °C; densidade absoluta da água = 1,0 kg/L; 1 cal = 4 J.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542528D-89FF-12F1-0FA6-90006F5B3BB8}"/>
              </a:ext>
            </a:extLst>
          </p:cNvPr>
          <p:cNvSpPr txBox="1"/>
          <p:nvPr/>
        </p:nvSpPr>
        <p:spPr>
          <a:xfrm>
            <a:off x="367259" y="2954736"/>
            <a:ext cx="264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FBBE7780-00CC-9F06-9CCE-4D4565A8DC92}"/>
                  </a:ext>
                </a:extLst>
              </p:cNvPr>
              <p:cNvSpPr txBox="1"/>
              <p:nvPr/>
            </p:nvSpPr>
            <p:spPr>
              <a:xfrm>
                <a:off x="3009329" y="2954736"/>
                <a:ext cx="1225785" cy="6648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𝑽</m:t>
                        </m:r>
                      </m:den>
                    </m:f>
                  </m:oMath>
                </a14:m>
                <a:r>
                  <a:rPr lang="pt-BR" sz="28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FBBE7780-00CC-9F06-9CCE-4D4565A8D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329" y="2954736"/>
                <a:ext cx="1225785" cy="6648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001CFA5-FFA3-D5BE-349F-E017038D9226}"/>
                  </a:ext>
                </a:extLst>
              </p:cNvPr>
              <p:cNvSpPr txBox="1"/>
              <p:nvPr/>
            </p:nvSpPr>
            <p:spPr>
              <a:xfrm>
                <a:off x="4870215" y="2954736"/>
                <a:ext cx="1437381" cy="666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𝟏𝟑𝟓</m:t>
                        </m:r>
                      </m:den>
                    </m:f>
                  </m:oMath>
                </a14:m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001CFA5-FFA3-D5BE-349F-E017038D9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215" y="2954736"/>
                <a:ext cx="1437381" cy="6669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4F82A455-D635-C749-2FD9-8B9CBCC87A0E}"/>
                  </a:ext>
                </a:extLst>
              </p:cNvPr>
              <p:cNvSpPr txBox="1"/>
              <p:nvPr/>
            </p:nvSpPr>
            <p:spPr>
              <a:xfrm>
                <a:off x="6902226" y="2954974"/>
                <a:ext cx="42706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𝟏𝟑𝟓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𝒌𝒈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𝟏𝟑𝟓𝟎𝟎𝟎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𝒈</m:t>
                    </m:r>
                  </m:oMath>
                </a14:m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4F82A455-D635-C749-2FD9-8B9CBCC87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226" y="2954974"/>
                <a:ext cx="427065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2744A8CD-2440-FF56-F133-9D1A15888A6A}"/>
              </a:ext>
            </a:extLst>
          </p:cNvPr>
          <p:cNvSpPr/>
          <p:nvPr/>
        </p:nvSpPr>
        <p:spPr>
          <a:xfrm>
            <a:off x="4235114" y="3122275"/>
            <a:ext cx="539645" cy="329784"/>
          </a:xfrm>
          <a:prstGeom prst="rightArrow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E8A70047-F1B6-E701-68CD-4B368396B6A9}"/>
              </a:ext>
            </a:extLst>
          </p:cNvPr>
          <p:cNvSpPr/>
          <p:nvPr/>
        </p:nvSpPr>
        <p:spPr>
          <a:xfrm>
            <a:off x="6307596" y="3114779"/>
            <a:ext cx="539645" cy="329784"/>
          </a:xfrm>
          <a:prstGeom prst="rightArrow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BBEB2F4-5921-BB1F-F971-4FB3E1EC0312}"/>
                  </a:ext>
                </a:extLst>
              </p:cNvPr>
              <p:cNvSpPr txBox="1"/>
              <p:nvPr/>
            </p:nvSpPr>
            <p:spPr>
              <a:xfrm>
                <a:off x="673361" y="3736723"/>
                <a:ext cx="1291507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𝝓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𝑸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den>
                    </m:f>
                  </m:oMath>
                </a14:m>
                <a:r>
                  <a:rPr lang="pt-BR" sz="28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BBEB2F4-5921-BB1F-F971-4FB3E1EC0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61" y="3736723"/>
                <a:ext cx="1291507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D7AC690-950D-7CC7-C3A7-6320FA72586F}"/>
                  </a:ext>
                </a:extLst>
              </p:cNvPr>
              <p:cNvSpPr txBox="1"/>
              <p:nvPr/>
            </p:nvSpPr>
            <p:spPr>
              <a:xfrm>
                <a:off x="2674820" y="3741494"/>
                <a:ext cx="2041713" cy="717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𝝓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.∆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𝜽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den>
                    </m:f>
                  </m:oMath>
                </a14:m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D7AC690-950D-7CC7-C3A7-6320FA725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820" y="3741494"/>
                <a:ext cx="2041713" cy="7173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C6CF92D-E4CE-2A28-0A28-D4860ED57653}"/>
                  </a:ext>
                </a:extLst>
              </p:cNvPr>
              <p:cNvSpPr txBox="1"/>
              <p:nvPr/>
            </p:nvSpPr>
            <p:spPr>
              <a:xfrm>
                <a:off x="5426485" y="3698155"/>
                <a:ext cx="2076979" cy="7704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∆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𝒕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.∆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𝜽</m:t>
                        </m:r>
                      </m:num>
                      <m:den>
                        <m:r>
                          <a:rPr lang="pt-BR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𝝓</m:t>
                        </m:r>
                      </m:den>
                    </m:f>
                  </m:oMath>
                </a14:m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C6CF92D-E4CE-2A28-0A28-D4860ED57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485" y="3698155"/>
                <a:ext cx="2076979" cy="7704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86D16F09-A70D-604A-5EAA-C761DDAFBB92}"/>
                  </a:ext>
                </a:extLst>
              </p:cNvPr>
              <p:cNvSpPr txBox="1"/>
              <p:nvPr/>
            </p:nvSpPr>
            <p:spPr>
              <a:xfrm>
                <a:off x="1202178" y="4750213"/>
                <a:ext cx="3572581" cy="7228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∆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𝒕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𝟏𝟑𝟓𝟎𝟎𝟎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.(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𝟔𝟎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𝟐𝟎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𝟏𝟓𝟎𝟎</m:t>
                        </m:r>
                      </m:den>
                    </m:f>
                  </m:oMath>
                </a14:m>
                <a:r>
                  <a:rPr lang="pt-BR" sz="28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86D16F09-A70D-604A-5EAA-C761DDAFB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178" y="4750213"/>
                <a:ext cx="3572581" cy="7228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17CF26AB-3306-317A-8898-25E3439B42B3}"/>
                  </a:ext>
                </a:extLst>
              </p:cNvPr>
              <p:cNvSpPr txBox="1"/>
              <p:nvPr/>
            </p:nvSpPr>
            <p:spPr>
              <a:xfrm>
                <a:off x="5371635" y="4722152"/>
                <a:ext cx="2849626" cy="7210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∆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𝒕</m:t>
                    </m:r>
                    <m:r>
                      <a:rPr lang="pt-BR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𝟏𝟑𝟓𝟎𝟎𝟎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𝟒𝟎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𝟏𝟓𝟎𝟎</m:t>
                        </m:r>
                      </m:den>
                    </m:f>
                  </m:oMath>
                </a14:m>
                <a:r>
                  <a:rPr lang="pt-B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17CF26AB-3306-317A-8898-25E3439B4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635" y="4722152"/>
                <a:ext cx="2849626" cy="7210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653C6939-682D-C0BA-0B93-CE92ED38ED3E}"/>
              </a:ext>
            </a:extLst>
          </p:cNvPr>
          <p:cNvSpPr/>
          <p:nvPr/>
        </p:nvSpPr>
        <p:spPr>
          <a:xfrm>
            <a:off x="1970267" y="3935290"/>
            <a:ext cx="539645" cy="32978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25B6C3F0-931A-5133-34AF-CDDDCBBAD96C}"/>
              </a:ext>
            </a:extLst>
          </p:cNvPr>
          <p:cNvSpPr/>
          <p:nvPr/>
        </p:nvSpPr>
        <p:spPr>
          <a:xfrm>
            <a:off x="4716533" y="3919150"/>
            <a:ext cx="539645" cy="329784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7B52FBAB-0D96-B2F6-8151-A636C3BE714A}"/>
              </a:ext>
            </a:extLst>
          </p:cNvPr>
          <p:cNvSpPr/>
          <p:nvPr/>
        </p:nvSpPr>
        <p:spPr>
          <a:xfrm>
            <a:off x="4774759" y="4898526"/>
            <a:ext cx="539645" cy="329784"/>
          </a:xfrm>
          <a:prstGeom prst="rightArrow">
            <a:avLst/>
          </a:prstGeom>
          <a:solidFill>
            <a:srgbClr val="00206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71C767F9-FB3F-0FCE-A59D-463A69C1A404}"/>
              </a:ext>
            </a:extLst>
          </p:cNvPr>
          <p:cNvCxnSpPr/>
          <p:nvPr/>
        </p:nvCxnSpPr>
        <p:spPr>
          <a:xfrm flipH="1">
            <a:off x="7134770" y="4758752"/>
            <a:ext cx="224853" cy="2707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9C4A3563-6592-8CD3-0BBF-EB5100AD342A}"/>
              </a:ext>
            </a:extLst>
          </p:cNvPr>
          <p:cNvCxnSpPr/>
          <p:nvPr/>
        </p:nvCxnSpPr>
        <p:spPr>
          <a:xfrm flipH="1">
            <a:off x="7114785" y="5172437"/>
            <a:ext cx="224853" cy="2707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5856B079-6CF8-0D4A-2F60-74A2D8963D8D}"/>
                  </a:ext>
                </a:extLst>
              </p:cNvPr>
              <p:cNvSpPr txBox="1"/>
              <p:nvPr/>
            </p:nvSpPr>
            <p:spPr>
              <a:xfrm>
                <a:off x="1548766" y="5890303"/>
                <a:ext cx="258083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𝟑𝟔𝟎𝟎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𝒔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5856B079-6CF8-0D4A-2F60-74A2D8963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66" y="5890303"/>
                <a:ext cx="258083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E36F4B88-00ED-97F6-4021-0360DCCF5D66}"/>
              </a:ext>
            </a:extLst>
          </p:cNvPr>
          <p:cNvSpPr/>
          <p:nvPr/>
        </p:nvSpPr>
        <p:spPr>
          <a:xfrm>
            <a:off x="4369200" y="6000794"/>
            <a:ext cx="539645" cy="329784"/>
          </a:xfrm>
          <a:prstGeom prst="rightArrow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0161F0D1-A434-B378-7A33-74085DD316B9}"/>
                  </a:ext>
                </a:extLst>
              </p:cNvPr>
              <p:cNvSpPr txBox="1"/>
              <p:nvPr/>
            </p:nvSpPr>
            <p:spPr>
              <a:xfrm>
                <a:off x="5148444" y="5890303"/>
                <a:ext cx="1984518" cy="5232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pt-B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pt-B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pt-B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pt-B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pt-B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𝒉</m:t>
                      </m:r>
                    </m:oMath>
                  </m:oMathPara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0161F0D1-A434-B378-7A33-74085DD31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444" y="5890303"/>
                <a:ext cx="198451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Imagem 24" descr="Uma imagem contendo no interior, avião, pássaro, grande&#10;&#10;Descrição gerada automaticamente">
            <a:extLst>
              <a:ext uri="{FF2B5EF4-FFF2-40B4-BE49-F238E27FC236}">
                <a16:creationId xmlns:a16="http://schemas.microsoft.com/office/drawing/2014/main" id="{3A38D4C1-38F7-600D-ED88-A44AC0D7BCC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639" y="4127523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5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  <p:bldP spid="17" grpId="0" animBg="1"/>
      <p:bldP spid="21" grpId="0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031DB3D-7155-58D3-DF35-7CB6FEA7642D}"/>
              </a:ext>
            </a:extLst>
          </p:cNvPr>
          <p:cNvSpPr txBox="1"/>
          <p:nvPr/>
        </p:nvSpPr>
        <p:spPr>
          <a:xfrm>
            <a:off x="367259" y="277080"/>
            <a:ext cx="1029074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8-) pag.: 224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Um bom chuveiro elétrico, quando ligado na posição “inverno”, dissipa uma potência de 6,4 kW, fornecendo essa energia à água que o atravessa com vazão de 50 gramas por segundo. Se a água, ao entrar no chuveiro, tem uma temperatura de 23 °C, qual a sua temperatura na saída? Dado: calor específico da água = 1,0 cal/g °C; 1 cal = 4 J.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B04D7D-1E21-D02D-34AA-064B6D0EDCF6}"/>
              </a:ext>
            </a:extLst>
          </p:cNvPr>
          <p:cNvSpPr txBox="1"/>
          <p:nvPr/>
        </p:nvSpPr>
        <p:spPr>
          <a:xfrm>
            <a:off x="367259" y="3614303"/>
            <a:ext cx="264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Sabemos que: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AF18AB1-2F56-2155-7663-3FCE3574E7EE}"/>
                  </a:ext>
                </a:extLst>
              </p:cNvPr>
              <p:cNvSpPr txBox="1"/>
              <p:nvPr/>
            </p:nvSpPr>
            <p:spPr>
              <a:xfrm>
                <a:off x="3009329" y="3518571"/>
                <a:ext cx="1291507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𝝓</m:t>
                    </m:r>
                    <m:r>
                      <a:rPr lang="pt-BR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𝑸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den>
                    </m:f>
                  </m:oMath>
                </a14:m>
                <a:r>
                  <a:rPr lang="pt-BR" sz="28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AF18AB1-2F56-2155-7663-3FCE3574E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329" y="3518571"/>
                <a:ext cx="1291507" cy="714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DEF2F51-8723-4F3B-C917-6FD47E620BD1}"/>
                  </a:ext>
                </a:extLst>
              </p:cNvPr>
              <p:cNvSpPr txBox="1"/>
              <p:nvPr/>
            </p:nvSpPr>
            <p:spPr>
              <a:xfrm>
                <a:off x="5075143" y="3518571"/>
                <a:ext cx="2041713" cy="717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𝝓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.∆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𝜽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den>
                    </m:f>
                  </m:oMath>
                </a14:m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DEF2F51-8723-4F3B-C917-6FD47E620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143" y="3518571"/>
                <a:ext cx="2041713" cy="717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4632A69-0106-DE9C-F2F3-4490D70A451C}"/>
              </a:ext>
            </a:extLst>
          </p:cNvPr>
          <p:cNvSpPr/>
          <p:nvPr/>
        </p:nvSpPr>
        <p:spPr>
          <a:xfrm>
            <a:off x="4370590" y="3712367"/>
            <a:ext cx="539645" cy="32978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6F69B72-D9CC-F0A2-58A3-36F961438C81}"/>
                  </a:ext>
                </a:extLst>
              </p:cNvPr>
              <p:cNvSpPr txBox="1"/>
              <p:nvPr/>
            </p:nvSpPr>
            <p:spPr>
              <a:xfrm>
                <a:off x="649804" y="4366203"/>
                <a:ext cx="3985578" cy="720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𝟔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𝟏𝟎𝟎𝟎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𝟓𝟎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.(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𝜽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𝟐𝟑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pt-BR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6F69B72-D9CC-F0A2-58A3-36F961438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04" y="4366203"/>
                <a:ext cx="3985578" cy="720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F4A9A22-2485-A23F-C759-970D4E30B6F4}"/>
                  </a:ext>
                </a:extLst>
              </p:cNvPr>
              <p:cNvSpPr txBox="1"/>
              <p:nvPr/>
            </p:nvSpPr>
            <p:spPr>
              <a:xfrm>
                <a:off x="649804" y="5149420"/>
                <a:ext cx="37678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𝟔𝟒𝟎𝟎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𝟐𝟎𝟎</m:t>
                      </m:r>
                      <m:r>
                        <a:rPr lang="pt-BR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.(</m:t>
                      </m:r>
                      <m:r>
                        <a:rPr lang="pt-BR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𝜽</m:t>
                      </m:r>
                      <m:r>
                        <a:rPr lang="pt-BR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pt-BR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𝟐𝟑</m:t>
                      </m:r>
                      <m:r>
                        <a:rPr lang="pt-BR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pt-BR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F4A9A22-2485-A23F-C759-970D4E30B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04" y="5149420"/>
                <a:ext cx="376789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52481E5-A84F-ED53-1B62-16BC178DCD55}"/>
              </a:ext>
            </a:extLst>
          </p:cNvPr>
          <p:cNvCxnSpPr/>
          <p:nvPr/>
        </p:nvCxnSpPr>
        <p:spPr>
          <a:xfrm flipH="1">
            <a:off x="1385018" y="5315658"/>
            <a:ext cx="224853" cy="2707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277E441-16F0-1451-61F8-4053A8D6E6C8}"/>
              </a:ext>
            </a:extLst>
          </p:cNvPr>
          <p:cNvCxnSpPr/>
          <p:nvPr/>
        </p:nvCxnSpPr>
        <p:spPr>
          <a:xfrm flipH="1">
            <a:off x="2417740" y="5275657"/>
            <a:ext cx="224853" cy="2707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38E4D420-0990-0F0B-14BE-C1066CFF205B}"/>
                  </a:ext>
                </a:extLst>
              </p:cNvPr>
              <p:cNvSpPr txBox="1"/>
              <p:nvPr/>
            </p:nvSpPr>
            <p:spPr>
              <a:xfrm>
                <a:off x="649804" y="5838878"/>
                <a:ext cx="225702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𝟑𝟐</m:t>
                      </m:r>
                      <m:r>
                        <a:rPr lang="pt-B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𝜽</m:t>
                      </m:r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pt-BR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𝟐𝟑</m:t>
                      </m:r>
                    </m:oMath>
                  </m:oMathPara>
                </a14:m>
                <a:endParaRPr lang="pt-BR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38E4D420-0990-0F0B-14BE-C1066CFF2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04" y="5838878"/>
                <a:ext cx="225702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FFCCD642-EC4E-BCAC-0C28-858803F649CD}"/>
              </a:ext>
            </a:extLst>
          </p:cNvPr>
          <p:cNvSpPr/>
          <p:nvPr/>
        </p:nvSpPr>
        <p:spPr>
          <a:xfrm>
            <a:off x="3234613" y="5902666"/>
            <a:ext cx="539645" cy="329784"/>
          </a:xfrm>
          <a:prstGeom prst="rightArrow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D002536-6E94-3229-6E50-A1CEFF632168}"/>
                  </a:ext>
                </a:extLst>
              </p:cNvPr>
              <p:cNvSpPr txBox="1"/>
              <p:nvPr/>
            </p:nvSpPr>
            <p:spPr>
              <a:xfrm>
                <a:off x="3946629" y="5838878"/>
                <a:ext cx="1844543" cy="523220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𝜽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𝟓𝟓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°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</m:oMath>
                  </m:oMathPara>
                </a14:m>
                <a:endParaRPr lang="pt-BR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D002536-6E94-3229-6E50-A1CEFF632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629" y="5838878"/>
                <a:ext cx="184454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914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7" grpId="0"/>
      <p:bldP spid="8" grpId="0"/>
      <p:bldP spid="11" grpId="0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6181</TotalTime>
  <Words>1692</Words>
  <Application>Microsoft Office PowerPoint</Application>
  <PresentationFormat>Widescreen</PresentationFormat>
  <Paragraphs>175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Cambria Math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WILLI PENDL JUNIOR</dc:creator>
  <cp:lastModifiedBy>I</cp:lastModifiedBy>
  <cp:revision>6</cp:revision>
  <dcterms:created xsi:type="dcterms:W3CDTF">2022-03-09T23:04:19Z</dcterms:created>
  <dcterms:modified xsi:type="dcterms:W3CDTF">2025-09-16T22:42:49Z</dcterms:modified>
</cp:coreProperties>
</file>