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8" r:id="rId6"/>
    <p:sldId id="260" r:id="rId7"/>
    <p:sldId id="261" r:id="rId8"/>
    <p:sldId id="262" r:id="rId9"/>
    <p:sldId id="263" r:id="rId10"/>
    <p:sldId id="264" r:id="rId11"/>
    <p:sldId id="265" r:id="rId12"/>
    <p:sldId id="267" r:id="rId13"/>
    <p:sldId id="266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354" y="9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DA972ADE-AC65-4315-8257-1E2E1E343E23}" type="datetimeFigureOut">
              <a:rPr lang="pt-BR" smtClean="0"/>
              <a:pPr/>
              <a:t>05/08/2025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133205C-BD47-403D-8B2A-3AAE0BFD4AE1}" type="slidenum">
              <a:rPr lang="pt-BR" smtClean="0"/>
              <a:pPr/>
              <a:t>‹nº›</a:t>
            </a:fld>
            <a:endParaRPr lang="pt-BR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71888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72ADE-AC65-4315-8257-1E2E1E343E23}" type="datetimeFigureOut">
              <a:rPr lang="pt-BR" smtClean="0"/>
              <a:pPr/>
              <a:t>05/08/2025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3205C-BD47-403D-8B2A-3AAE0BFD4AE1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31985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72ADE-AC65-4315-8257-1E2E1E343E23}" type="datetimeFigureOut">
              <a:rPr lang="pt-BR" smtClean="0"/>
              <a:pPr/>
              <a:t>05/08/2025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3205C-BD47-403D-8B2A-3AAE0BFD4AE1}" type="slidenum">
              <a:rPr lang="pt-BR" smtClean="0"/>
              <a:pPr/>
              <a:t>‹nº›</a:t>
            </a:fld>
            <a:endParaRPr lang="pt-BR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11976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72ADE-AC65-4315-8257-1E2E1E343E23}" type="datetimeFigureOut">
              <a:rPr lang="pt-BR" smtClean="0"/>
              <a:pPr/>
              <a:t>05/08/2025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3205C-BD47-403D-8B2A-3AAE0BFD4AE1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08895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72ADE-AC65-4315-8257-1E2E1E343E23}" type="datetimeFigureOut">
              <a:rPr lang="pt-BR" smtClean="0"/>
              <a:pPr/>
              <a:t>05/08/2025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3205C-BD47-403D-8B2A-3AAE0BFD4AE1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743918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72ADE-AC65-4315-8257-1E2E1E343E23}" type="datetimeFigureOut">
              <a:rPr lang="pt-BR" smtClean="0"/>
              <a:pPr/>
              <a:t>05/08/2025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3205C-BD47-403D-8B2A-3AAE0BFD4AE1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9352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72ADE-AC65-4315-8257-1E2E1E343E23}" type="datetimeFigureOut">
              <a:rPr lang="pt-BR" smtClean="0"/>
              <a:pPr/>
              <a:t>05/08/2025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3205C-BD47-403D-8B2A-3AAE0BFD4AE1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749518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72ADE-AC65-4315-8257-1E2E1E343E23}" type="datetimeFigureOut">
              <a:rPr lang="pt-BR" smtClean="0"/>
              <a:pPr/>
              <a:t>05/08/2025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3205C-BD47-403D-8B2A-3AAE0BFD4AE1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834471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72ADE-AC65-4315-8257-1E2E1E343E23}" type="datetimeFigureOut">
              <a:rPr lang="pt-BR" smtClean="0"/>
              <a:pPr/>
              <a:t>05/08/2025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3205C-BD47-403D-8B2A-3AAE0BFD4AE1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14688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72ADE-AC65-4315-8257-1E2E1E343E23}" type="datetimeFigureOut">
              <a:rPr lang="pt-BR" smtClean="0"/>
              <a:pPr/>
              <a:t>05/08/2025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3205C-BD47-403D-8B2A-3AAE0BFD4AE1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23843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72ADE-AC65-4315-8257-1E2E1E343E23}" type="datetimeFigureOut">
              <a:rPr lang="pt-BR" smtClean="0"/>
              <a:pPr/>
              <a:t>05/08/2025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3205C-BD47-403D-8B2A-3AAE0BFD4AE1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919972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DA972ADE-AC65-4315-8257-1E2E1E343E23}" type="datetimeFigureOut">
              <a:rPr lang="pt-BR" smtClean="0"/>
              <a:pPr/>
              <a:t>05/08/2025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4133205C-BD47-403D-8B2A-3AAE0BFD4AE1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694773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2135560" y="548681"/>
            <a:ext cx="64087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TERMOLOGIA</a:t>
            </a:r>
            <a:r>
              <a:rPr lang="pt-BR" dirty="0"/>
              <a:t> : É o ramo da física que estuda os fenômenos de aquecimento, resfriamento e mudança de estado da matéria. Tais fenômenos estão associados a uma energia chamada de térmica.</a:t>
            </a:r>
          </a:p>
          <a:p>
            <a:endParaRPr lang="pt-BR" dirty="0"/>
          </a:p>
        </p:txBody>
      </p:sp>
      <p:pic>
        <p:nvPicPr>
          <p:cNvPr id="11266" name="Picture 2" descr="http://t0.gstatic.com/images?q=tbn:ANd9GcS3zmmSffmz8JZo8pxnChKEbj4_5GwJUgRDBZ0e2QdXyb-HY4pZUw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03712" y="2132855"/>
            <a:ext cx="4608512" cy="297613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2135560" y="548680"/>
            <a:ext cx="748883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. </a:t>
            </a:r>
          </a:p>
          <a:p>
            <a:endParaRPr lang="pt-BR" dirty="0"/>
          </a:p>
          <a:p>
            <a:r>
              <a:rPr lang="pt-BR" dirty="0"/>
              <a:t> A temperatura está associada a energia térmica  e às partículas de um sistema</a:t>
            </a:r>
          </a:p>
          <a:p>
            <a:endParaRPr lang="pt-BR" dirty="0"/>
          </a:p>
          <a:p>
            <a:r>
              <a:rPr lang="pt-BR" dirty="0"/>
              <a:t>Energia térmica: é a soma das energias potencial e cinética das partícula que formam um corpo.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b="1" dirty="0"/>
          </a:p>
          <a:p>
            <a:endParaRPr lang="pt-BR" b="1" dirty="0"/>
          </a:p>
        </p:txBody>
      </p:sp>
      <p:sp>
        <p:nvSpPr>
          <p:cNvPr id="5" name="Retângulo 4"/>
          <p:cNvSpPr/>
          <p:nvPr/>
        </p:nvSpPr>
        <p:spPr>
          <a:xfrm>
            <a:off x="2279576" y="332656"/>
            <a:ext cx="6768752" cy="7920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b="1" dirty="0"/>
              <a:t>TEMPERATURA:  </a:t>
            </a:r>
            <a:r>
              <a:rPr lang="pt-BR" dirty="0"/>
              <a:t>É uma grandeza que, quando associada a um sistema, caracteriza o  estado térmico desse sistema. </a:t>
            </a:r>
          </a:p>
        </p:txBody>
      </p:sp>
      <p:pic>
        <p:nvPicPr>
          <p:cNvPr id="1026" name="Picture 2" descr="Solidificação - Mudança de Estado Físico - Física e Química - InfoEscola">
            <a:extLst>
              <a:ext uri="{FF2B5EF4-FFF2-40B4-BE49-F238E27FC236}">
                <a16:creationId xmlns:a16="http://schemas.microsoft.com/office/drawing/2014/main" id="{F310B564-FD70-43F5-9167-EE111C6F4E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149" y="2673344"/>
            <a:ext cx="6793654" cy="3852000"/>
          </a:xfrm>
          <a:prstGeom prst="rect">
            <a:avLst/>
          </a:prstGeom>
          <a:noFill/>
          <a:ln w="3810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1991544" y="404665"/>
            <a:ext cx="79928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IMPORTANTE :  Dois corpos podem possuir a mesma temperatura mas diferentes energias térmicas </a:t>
            </a:r>
          </a:p>
          <a:p>
            <a:endParaRPr lang="pt-BR" b="1" dirty="0"/>
          </a:p>
          <a:p>
            <a:endParaRPr lang="pt-BR" b="1" dirty="0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83633" y="1700808"/>
            <a:ext cx="6143625" cy="4152900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2207568" y="404664"/>
            <a:ext cx="712879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u="sng" dirty="0"/>
              <a:t>EQUILÍBRIO TÉRMICO (Lei Zero da Termodinâmica)</a:t>
            </a:r>
          </a:p>
          <a:p>
            <a:endParaRPr lang="pt-BR" b="1" dirty="0"/>
          </a:p>
          <a:p>
            <a:r>
              <a:rPr lang="pt-BR" b="1" dirty="0"/>
              <a:t>Dois ou mais sistemas físicos estão em equilíbrio térmico entre si quando suas temperaturas são iguais.</a:t>
            </a:r>
          </a:p>
          <a:p>
            <a:endParaRPr lang="pt-BR" b="1" dirty="0"/>
          </a:p>
          <a:p>
            <a:r>
              <a:rPr lang="pt-BR" b="1" dirty="0"/>
              <a:t> </a:t>
            </a:r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19736" y="2492896"/>
            <a:ext cx="3028950" cy="2305050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4" name="CaixaDeTexto 3"/>
          <p:cNvSpPr txBox="1"/>
          <p:nvPr/>
        </p:nvSpPr>
        <p:spPr>
          <a:xfrm>
            <a:off x="2199490" y="5517232"/>
            <a:ext cx="6840760" cy="46166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2400" dirty="0"/>
              <a:t>No equilíbrio térmico  teremos :  T</a:t>
            </a:r>
            <a:r>
              <a:rPr lang="pt-BR" sz="2400" baseline="-25000" dirty="0"/>
              <a:t>A </a:t>
            </a:r>
            <a:r>
              <a:rPr lang="pt-BR" sz="2400" dirty="0"/>
              <a:t> =  T</a:t>
            </a:r>
            <a:r>
              <a:rPr lang="pt-BR" sz="2400" baseline="-25000" dirty="0"/>
              <a:t>B</a:t>
            </a:r>
            <a:r>
              <a:rPr lang="pt-BR" sz="2400" dirty="0"/>
              <a:t> </a:t>
            </a:r>
            <a:r>
              <a:rPr lang="pt-BR" sz="2400" baseline="-25000" dirty="0"/>
              <a:t> </a:t>
            </a:r>
            <a:r>
              <a:rPr lang="pt-BR" sz="2400" dirty="0"/>
              <a:t> = T</a:t>
            </a:r>
            <a:r>
              <a:rPr lang="pt-BR" sz="2400" baseline="-25000" dirty="0"/>
              <a:t>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988D864F-9A20-4AFB-83A7-0E273FCADB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592" y="980728"/>
            <a:ext cx="6408711" cy="4032447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C4334480-F2D8-4B26-AE20-7B678AA5579B}"/>
              </a:ext>
            </a:extLst>
          </p:cNvPr>
          <p:cNvSpPr txBox="1"/>
          <p:nvPr/>
        </p:nvSpPr>
        <p:spPr>
          <a:xfrm>
            <a:off x="3647728" y="5507940"/>
            <a:ext cx="3744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RADIAÇÃO CÓSMICA DE FUNDO</a:t>
            </a:r>
          </a:p>
        </p:txBody>
      </p:sp>
    </p:spTree>
    <p:extLst>
      <p:ext uri="{BB962C8B-B14F-4D97-AF65-F5344CB8AC3E}">
        <p14:creationId xmlns:p14="http://schemas.microsoft.com/office/powerpoint/2010/main" val="15395447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2063552" y="332657"/>
            <a:ext cx="799288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                                           A MEDIÇÃO DA TEMPERATURA</a:t>
            </a:r>
          </a:p>
          <a:p>
            <a:endParaRPr lang="pt-BR" dirty="0"/>
          </a:p>
          <a:p>
            <a:r>
              <a:rPr lang="pt-BR" dirty="0"/>
              <a:t>A medição da temperatura de um sistema é feito de forma indireta, usando-se um segundo corpo denominado termômetro.</a:t>
            </a:r>
          </a:p>
          <a:p>
            <a:endParaRPr lang="pt-BR" dirty="0"/>
          </a:p>
          <a:p>
            <a:r>
              <a:rPr lang="pt-BR" b="1" dirty="0"/>
              <a:t>TERMÔMETRO</a:t>
            </a:r>
            <a:r>
              <a:rPr lang="pt-BR" dirty="0"/>
              <a:t>: É qualquer sistema  que sofra uma alteração mensurável em suas propriedades físicas  ao trocar energia térmica com o que está ao seu redor.</a:t>
            </a:r>
          </a:p>
        </p:txBody>
      </p:sp>
      <p:pic>
        <p:nvPicPr>
          <p:cNvPr id="17412" name="Picture 4" descr="http://t2.gstatic.com/images?q=tbn:ANd9GcTMYYo2wJt5X1_9LaS3zr6zvQo0_3-pL6936gZ2namlrbLUdMz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03913" y="3573017"/>
            <a:ext cx="2143125" cy="2143125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17414" name="Picture 6" descr="http://t0.gstatic.com/images?q=tbn:ANd9GcQdOYogXMLSlTAmB36eUejbnHnsRwM3xoogss0Uu6JtP7C_CN7j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040217" y="3429001"/>
            <a:ext cx="1647825" cy="2762251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17416" name="Picture 8" descr="http://t1.gstatic.com/images?q=tbn:ANd9GcQbhcPG2qLEs45Wa2CGDHFdjigMbliS2t_n3igac0w3roCtWsSqWw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063553" y="2924944"/>
            <a:ext cx="2619375" cy="1743076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3287688" y="323364"/>
            <a:ext cx="5544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u="sng" dirty="0"/>
              <a:t>ESTRUTURA BÁSICA DE UM TERMÔMETRO</a:t>
            </a:r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23792" y="908720"/>
            <a:ext cx="4104456" cy="36004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CaixaDeTexto 3"/>
          <p:cNvSpPr txBox="1"/>
          <p:nvPr/>
        </p:nvSpPr>
        <p:spPr>
          <a:xfrm>
            <a:off x="407368" y="4941168"/>
            <a:ext cx="4205715" cy="120032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b="1" dirty="0"/>
              <a:t>Substância termométrica</a:t>
            </a:r>
            <a:r>
              <a:rPr lang="pt-BR" dirty="0"/>
              <a:t>: É aquela em que ao menos uma de suas propriedades físicas varia de forma mensurável com a temperatura.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6528048" y="4936028"/>
            <a:ext cx="4032448" cy="120032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b="1" dirty="0"/>
              <a:t>Grandeza termométrica</a:t>
            </a:r>
            <a:r>
              <a:rPr lang="pt-BR" dirty="0"/>
              <a:t>: É a propriedade física da substância que varia de forma mensurável com a temperatura.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2783632" y="260649"/>
            <a:ext cx="71287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                                      FUNÇÃO TERMOMÉTRICA</a:t>
            </a:r>
          </a:p>
          <a:p>
            <a:endParaRPr lang="pt-BR" dirty="0"/>
          </a:p>
          <a:p>
            <a:r>
              <a:rPr lang="pt-BR" dirty="0"/>
              <a:t>É o nome dada a relação entre a temperatura e a grandeza termométrica</a:t>
            </a:r>
          </a:p>
          <a:p>
            <a:endParaRPr lang="pt-BR" dirty="0"/>
          </a:p>
        </p:txBody>
      </p:sp>
      <p:sp>
        <p:nvSpPr>
          <p:cNvPr id="3" name="CaixaDeTexto 2"/>
          <p:cNvSpPr txBox="1"/>
          <p:nvPr/>
        </p:nvSpPr>
        <p:spPr>
          <a:xfrm>
            <a:off x="1919536" y="2183960"/>
            <a:ext cx="6768752" cy="95410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2800" b="1" dirty="0"/>
              <a:t>G = a</a:t>
            </a:r>
            <a:r>
              <a:rPr lang="el-GR" sz="2800" b="1" dirty="0"/>
              <a:t>θ</a:t>
            </a:r>
            <a:r>
              <a:rPr lang="pt-BR" sz="2800" b="1" dirty="0"/>
              <a:t> + b </a:t>
            </a:r>
            <a:r>
              <a:rPr lang="pt-BR" sz="2800" dirty="0"/>
              <a:t>( unidade de G, unidade de </a:t>
            </a:r>
            <a:r>
              <a:rPr lang="el-GR" sz="2800" dirty="0"/>
              <a:t>θ</a:t>
            </a:r>
            <a:r>
              <a:rPr lang="pt-BR" sz="2800" dirty="0"/>
              <a:t>)</a:t>
            </a:r>
          </a:p>
          <a:p>
            <a:endParaRPr lang="pt-BR" sz="2800" dirty="0"/>
          </a:p>
        </p:txBody>
      </p:sp>
      <p:sp>
        <p:nvSpPr>
          <p:cNvPr id="4" name="CaixaDeTexto 3"/>
          <p:cNvSpPr txBox="1"/>
          <p:nvPr/>
        </p:nvSpPr>
        <p:spPr>
          <a:xfrm>
            <a:off x="2783632" y="3861049"/>
            <a:ext cx="63367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a</a:t>
            </a:r>
            <a:r>
              <a:rPr lang="pt-BR" dirty="0"/>
              <a:t> e</a:t>
            </a:r>
            <a:r>
              <a:rPr lang="pt-BR" b="1" dirty="0"/>
              <a:t> b </a:t>
            </a:r>
            <a:r>
              <a:rPr lang="pt-BR" dirty="0"/>
              <a:t>são constantes características do termômetro e </a:t>
            </a:r>
            <a:r>
              <a:rPr lang="pt-BR" b="1" dirty="0"/>
              <a:t>G</a:t>
            </a:r>
            <a:r>
              <a:rPr lang="pt-BR" dirty="0"/>
              <a:t> é a grandeza termométrica.</a:t>
            </a:r>
          </a:p>
          <a:p>
            <a:endParaRPr lang="pt-BR" dirty="0"/>
          </a:p>
          <a:p>
            <a:r>
              <a:rPr lang="pt-BR" dirty="0"/>
              <a:t>A relação é,  normalmente, uma relação de 1° grau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2135560" y="260648"/>
            <a:ext cx="756084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                                       ESCALAS TERMOMÉTRICAS</a:t>
            </a:r>
          </a:p>
          <a:p>
            <a:endParaRPr lang="pt-BR" b="1" dirty="0"/>
          </a:p>
          <a:p>
            <a:r>
              <a:rPr lang="pt-BR" dirty="0"/>
              <a:t>Escala termométrica é um conjunto de valores numéricos em que cada valor é associado a um certa temperatura.</a:t>
            </a:r>
          </a:p>
          <a:p>
            <a:endParaRPr lang="pt-BR" dirty="0"/>
          </a:p>
          <a:p>
            <a:endParaRPr lang="pt-BR" dirty="0"/>
          </a:p>
          <a:p>
            <a:r>
              <a:rPr lang="pt-BR" b="1" dirty="0"/>
              <a:t>                                                      PONTOS FIXOS</a:t>
            </a:r>
          </a:p>
          <a:p>
            <a:endParaRPr lang="pt-BR" b="1" dirty="0"/>
          </a:p>
          <a:p>
            <a:r>
              <a:rPr lang="pt-BR" dirty="0"/>
              <a:t>Os valores numéricos de uma escala termométrica são obtidos a partir de dois valores  previamente escolhidos , aos quais são atribuídos valores bem definidos. Esses pontos são chamados de pontos fixos.</a:t>
            </a:r>
          </a:p>
          <a:p>
            <a:endParaRPr lang="pt-BR" dirty="0"/>
          </a:p>
          <a:p>
            <a:r>
              <a:rPr lang="pt-BR" b="1" dirty="0"/>
              <a:t>1° Ponto Fixo : Ponto de gelo – temperatura na qual encontramos gelo e água em equilíbrio térmico sob pressão normal </a:t>
            </a:r>
          </a:p>
          <a:p>
            <a:endParaRPr lang="pt-BR" b="1" dirty="0"/>
          </a:p>
          <a:p>
            <a:r>
              <a:rPr lang="pt-BR" b="1" dirty="0"/>
              <a:t>2°Ponto Fixo: Ponto de vapor -  temperatura na qual a água pura entra em ebulição sob pressão normal </a:t>
            </a:r>
            <a:r>
              <a:rPr lang="pt-BR" dirty="0"/>
              <a:t> 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4151784" y="332657"/>
            <a:ext cx="4608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ESCALAS CELSIUS E FAHRENHEIT 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2135560" y="1412776"/>
            <a:ext cx="748883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ESCALA CELSIUS </a:t>
            </a:r>
            <a:r>
              <a:rPr lang="pt-BR" dirty="0"/>
              <a:t>: pontos fixos – ponto de gelo (0°C) e ponto de vapor(100°C) </a:t>
            </a:r>
          </a:p>
          <a:p>
            <a:endParaRPr lang="pt-BR" dirty="0"/>
          </a:p>
          <a:p>
            <a:endParaRPr lang="pt-BR" dirty="0"/>
          </a:p>
          <a:p>
            <a:r>
              <a:rPr lang="pt-BR" b="1" dirty="0"/>
              <a:t>ESCALA FAHRENHEIT</a:t>
            </a:r>
            <a:r>
              <a:rPr lang="pt-BR" dirty="0"/>
              <a:t>: pontos fixos – mistura de gelo e cloreto de amônia (0°F) e temperatura do corpo humano (100 °F)</a:t>
            </a:r>
          </a:p>
        </p:txBody>
      </p:sp>
      <p:sp>
        <p:nvSpPr>
          <p:cNvPr id="19458" name="AutoShape 2" descr="data:image/jpeg;base64,/9j/4AAQSkZJRgABAQAAAQABAAD/2wCEAAkGBhQREBIQDxQTFRIUERQTERgQEhIVEhYWFBgVGB8VFxIXHyYeIx0jGRYXIi8gIycpLCwvFyE9NTEqNigrLCkBCQoKDgwOGg8PGi0lHyQ0MzE1LywsLCwqKSw1MzUvLC0pKjIqLywsLCosLCkvLCwqKSksKS0pLDU1KiwtLiksLP/AABEIAKYAnQMBIgACEQEDEQH/xAAbAAEAAgMBAQAAAAAAAAAAAAAABQYCAwQBB//EAD0QAAEEAAQCBgcFCAIDAAAAAAEAAgMRBBIhMRMiBQYyQXGBFCNRYZGhsXJ0orKzFTM0QmJzgsFS4QckJf/EABkBAQADAQEAAAAAAAAAAAAAAAACAwQBBf/EADIRAAECBAMGAwcFAAAAAAAAAAABAgMRMYETscESITNBYaEEMnEUI1GR4fDxIkJEYtH/2gAMAwEAAhEDEQA/APuKIiAIi5ZMYcxZG3M4VmJOVjb1ALqJsjuAPddWuo1VoRc5G1OPpbAzOljkhfTWUXNzOb2XBx5QKdnaCzmrLdjXRRHVGD0vCYfFyTTGd5bJKWyva1r2u5sPwbyhoILC0i/feqsceLOYMkblJ7Ja7Mwkd10DddxHgtX7Bw/FM3Bi4hcHF2RuYuGzz7XChzHXRFRUqGuR1DvREXCQREQBERAEREAVK6z4XEQwYiUyvNzQcIRyva458S0VrQb6t4joWDV6Ha1y4s5iyNuZwrMS7Kxt6gE0Tda0B7PaFoxEbJqhxcLHAm2h1SRlzddMwHMBZ1Hca2U9hZTK8Vs5fj50PehInNjJe2RhdI85JZeKWgOLQA/2ENDqs1mUggCKBYEREBjnF1Yurrvr20tXpseXPnZkus2ZuW9qzXW6pPWLDev6TEEbi6To+AO4cbwZHNkxBe0PApzuG5oqyeYBc3BZ6dJO6Mno+QzBoETiwynDYdmYMA/ma2RgNakEDU6gfRlxdG7y/wB1/wBVz9XMK9mDwjJS4SMw0LZGmjztjaCCd7u+9a8G9wdPzO0lIAAZZLne0j2kK1iTapniu2XtX1yJDHDRp9kkdebgPoT8V0qLnkJEZzOp0jQQ4MsU4d4HtC7+EaAzu8abfhsuOSSIShu2nKvobUWvhnXmdrt2dPDT6pwzpzHTfs6+On0VZcbEWrhGjzu1Psbp7hosuGbvMdtuWvHZAZotXBNVndvvTb8Nl7wzrzHXbs6eGn1QGxCtfCOnM7Tfs6+On0XhiNHmdr7m6eGiA5ujP5z3mSW/KR7R8mgeSz6S7Lf7sX6jR9CVw4J5HF5nU1zzTQyyTLN3ke5Z4xziI+Z1F7LBDLBEsQ3A8VqVnvJ9TA2ImDKXL6Zkstc07WUXua0EgDMQLJ7hfenDOvMdRp2dPeNPqqv18bBwWxzx8WSRskMbnYeSZsQkAzyOEbDVACtASaAqyVlN5auILy2Lomr1oVrXmPisYZ2vFsc1wuraQRY7rCpscMIxzDle6J3RL2yPdDLne24SA92W8xjaeU82+lro6kyQl2JlhY6LiujdwhhpYWxta0tbo5jWl5DSXZbrlHdZAtyIiAKGwnan+8M/OFMqGwnan+8M/OFfCotszJ4jzNvkp4GM9W5gZmM9PLQ27D9nEd+veppQzi71WYNDeMMpDiSefvBAr4lTKjEolyUCq2yCIiqNIREQBERAEKIUBC4XbEfaf+rMvJWMtpjDLMoDywNvMJ4rDiO/XvXuE2xH2n/qzL3EF1szBoHEGWnEkjjxbggV8Stq8S+h5ScK2pMoiLEeqEREAREQBQ2E7U/3hn5wplQ2E7U/3hn5wr4VFtmZPEeZt8lMn9mKzfrvgM+yl1C5G+rc1oBM9OOTKSQ720L8VNLkSiXJQKrbIIiKk0hERAEREAQohQELhNsR9p/6syyxN+rs363TSqHHi0WOE2xH2n/qzLyZjLaWNAJlAccmUkieLWyBfjqtq8S+h5ScK2pNoiLEeqEREAREQBQ2E7U/3hn5wplQ2E7U/wB4Z+cK+FRbZmTxHmbfJT12aorquLy1d9vvUwoYuFRjNmPG25eXn20H11UyuRKJclAqtsgiIqTSEREAREQBCiFAQuE2xH2n/qzLLE5rZmy1xBlq7rjxb2scJtiPtP8A1Zl7O4cgzZjxf6eX18XLygbe/VbV4l9Dyk4VtSZREWI9UIiIAiIgChsJ2p/vDPzhTKhsJ2p/vDPzhXwqLbMyeI8zb5KZOqoqFeuo6VfPupdQ7s1RXVcbloG+33qYXIlEuSgVW2QREVJpCIiAIiIAhRCgIXCbYj7T/wBWZZYgjkoV62jYq6ni1/7WOE2xH2n/AKsyyxOa2ZstcQZaBuuPFutq8S+h5ScK2pMIiLEeqEREBB9cJJY8JPPBK6N0OHnkAayJ2ZzWEtzcRrtARsKu91lgMeIYmHEzl7pQHxh7WCSsjS4NZE0ZgDZvLpm1Ul0hgGTxPhlBMcjS14DnNtp0ItpBojRRE3Q8kOJinwwbI1uGOHcyWRweGhweHMlId4EHem66ICYixbXhrmczXgFrm0W0e+1ER4lsYxUj9GslD3mtmtdZND3AqbiJyjMAHVqGmwD7iqx0z/CdJfZk+jlog0W2ZQ9qOiw2rzVcjqwuPjljhfC/OHSh/aJIDnacp1Hhopvj6A5Xb7UL+qrPVl94DAaEUIxrWuo1FHZWtcipLvmSRqMivanKRq42/K7T3DXw1Xom25Xa+4aeOq2IqC01cfQnK7Q+wWfDVe8XWqdtd0K8FsRAafSNLyv3rYX47rLi78rtPcNfBbEQGrjbcrtfcNPHVDPoeV2nuGvhqtqFAQLMQ1keKkfo1vEc73ASzE6BYMx0crInwvzhz2v7RJAdNEQMp1HhpS5ulv4PpD+1P+edOgn3gsDoRUcI1rWnwaiidFvVP1T66GFsNPZMTnTuWYy7jK7QXtv4KB65YiaPCTYmCV8Rihe4NDITbrFF2drttdBW6sS5OlOjI8TE6GYExvFODXvZY9hLSDXuWA3HLD0gyB3BnxIfI7nYJeG2TI6mjRgaCM1i6G9KVUFP0E52MjmzOEUcAYMszw9zg8O5x/M2hRzE3anUAXB0r0yzDhuYPc5weWtjbmeWxjM51ewD6gCyQF3qE6bwMxxEGIga15jjxEbmPfl/fCMh10dnRAH3ONexAS2FxTZY2SRkOY9jXsI2LXAEEeIIVa6Z/hOkvsyfRymeh+ieBh8PC5xJhgiitrnBruG0NvLda13qH6bw4GCxx5ryzfzO1q9xevmtEHnbMqVFxocvia+rDXeg4HMQRUeUBpBGo3Nm/gFbVWOrEA/Z2DdreWH+Z1C3DYXQVh9EFAW/Q3+8ffxu1yNW6klRcZ8/ibkWo4Yam3c2/O/5C9PJBhhy6u5dud/z1181QTNqLT6KKIt+pv8AePvyN6eS99HF3btq7bq+F1fvQG1Fo9EFAW/Q3+8kv43fksvRxbjbuYUed/yF6eSA2rwrX6MOXV3Ltzv+euvmvDhRRFv11/ePvyN6eSArfS38H0h/an/POvOgmu9DwWYgjhQZQGkEDPBubN/ALPpnDj0HGnWxFiR2na0+bcXr5rLoPDj9n4N3NZZhh2naW+PYXpsNlvVUnProZmo72KXX6lmXPj8a2GMyODiBQAY0ue4uIAa1o7ySAszhxZNu1FHndXkL08QtGPY9sRELeIbALXSuY4tJ5qk1NgEkeFWFgNJFP684cMZIRNkObiHgSepySGJ3GoctSNcD9knYWrCqOOr+LZCMOIo5cO6aWZ8bsS5pAc/OzD8RzHEsu3OO5utru7j3oD1ERAFW+ntMFj294bKT/k3MPkQrIq71uGXD4r2Pwj/jHfzIf+BXQayIy94xev33kY9Vj/8AOwLf+TY/w26/w/NWRVnqXzYXBj/hhQ4+LyQPk16syRtzpep12+K9ev33mERFSdCIiAIiIAiIgK306KwWPb3tjn/GHSA/jryKy6B16PwLe9zcPX+AEh/Cwr3rYKw+M/rwUh84wf8ATwnVLmw+E/owbD5vA/00/FbP2bV+3+laJLw+x/aVvwWFERYywIiIAiIgCr3XrTByHvyPHk5jwVYVCdb4g/DZDs6RjDW9POU/IlXQN8REK4j0ht21om/5HP8A+P8AXAQu9rQ3yZyf6J8yrGojqrhRFh+Ey8scszG2bNNkcNSpdcjcR3qdY5Hptpz3/PeERFUTCIiAIiIAiIgIDrwP/Smd7IpB4h7HNr4kH/ELHqLrgonHfhxt8mxs0+JJ8109a4g/DOY7svfGx1b097Wmj4FOq0AjgMbbyskfG298rDlFn20Atf8AHuZ8VuJhc/N2kTCIiyGgIiIAiIgC4emMAZo8oNEPY8XtyOBpeopNcrVRUIRGI9qtdRTPo7CGNhBIJMkj9P63F1fNdSIjlVyzU6xqNajU5BERRJBERAEREAREQHH0rgjLHlBAIex+u3I4Or5L3ozBmJhBNl0j36bDO4ml4intrsbHIqwm4mJzlI7ERFAtCIiA/9k=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9461" name="AutoShape 5" descr="data:image/jpeg;base64,/9j/4AAQSkZJRgABAQAAAQABAAD/2wCEAAkGBhQREBIQDxQTFRIUERQTERgQEhIVEhYWFBgVGB8VFxIXHyYeIx0jGRYXIi8gIycpLCwvFyE9NTEqNigrLCkBCQoKDgwOGg8PGi0lHyQ0MzE1LywsLCwqKSw1MzUvLC0pKjIqLywsLCosLCkvLCwqKSksKS0pLDU1KiwtLiksLP/AABEIAKYAnQMBIgACEQEDEQH/xAAbAAEAAgMBAQAAAAAAAAAAAAAABQYCAwQBB//EAD0QAAEEAAQCBgcFCAIDAAAAAAEAAgMRBBIhMRMiBQYyQXGBFCNRYZGhsXJ0orKzFTM0QmJzgsFS4QckJf/EABkBAQADAQEAAAAAAAAAAAAAAAACAwQBBf/EADIRAAECBAMGAwcFAAAAAAAAAAABAgMRMYETscESITNBYaEEMnEUI1GR4fDxIkJEYtH/2gAMAwEAAhEDEQA/APuKIiAIi5ZMYcxZG3M4VmJOVjb1ALqJsjuAPddWuo1VoRc5G1OPpbAzOljkhfTWUXNzOb2XBx5QKdnaCzmrLdjXRRHVGD0vCYfFyTTGd5bJKWyva1r2u5sPwbyhoILC0i/feqsceLOYMkblJ7Ja7Mwkd10DddxHgtX7Bw/FM3Bi4hcHF2RuYuGzz7XChzHXRFRUqGuR1DvREXCQREQBERAEREAVK6z4XEQwYiUyvNzQcIRyva458S0VrQb6t4joWDV6Ha1y4s5iyNuZwrMS7Kxt6gE0Tda0B7PaFoxEbJqhxcLHAm2h1SRlzddMwHMBZ1Hca2U9hZTK8Vs5fj50PehInNjJe2RhdI85JZeKWgOLQA/2ENDqs1mUggCKBYEREBjnF1Yurrvr20tXpseXPnZkus2ZuW9qzXW6pPWLDev6TEEbi6To+AO4cbwZHNkxBe0PApzuG5oqyeYBc3BZ6dJO6Mno+QzBoETiwynDYdmYMA/ma2RgNakEDU6gfRlxdG7y/wB1/wBVz9XMK9mDwjJS4SMw0LZGmjztjaCCd7u+9a8G9wdPzO0lIAAZZLne0j2kK1iTapniu2XtX1yJDHDRp9kkdebgPoT8V0qLnkJEZzOp0jQQ4MsU4d4HtC7+EaAzu8abfhsuOSSIShu2nKvobUWvhnXmdrt2dPDT6pwzpzHTfs6+On0VZcbEWrhGjzu1Psbp7hosuGbvMdtuWvHZAZotXBNVndvvTb8Nl7wzrzHXbs6eGn1QGxCtfCOnM7Tfs6+On0XhiNHmdr7m6eGiA5ujP5z3mSW/KR7R8mgeSz6S7Lf7sX6jR9CVw4J5HF5nU1zzTQyyTLN3ke5Z4xziI+Z1F7LBDLBEsQ3A8VqVnvJ9TA2ImDKXL6Zkstc07WUXua0EgDMQLJ7hfenDOvMdRp2dPeNPqqv18bBwWxzx8WSRskMbnYeSZsQkAzyOEbDVACtASaAqyVlN5auILy2Lomr1oVrXmPisYZ2vFsc1wuraQRY7rCpscMIxzDle6J3RL2yPdDLne24SA92W8xjaeU82+lro6kyQl2JlhY6LiujdwhhpYWxta0tbo5jWl5DSXZbrlHdZAtyIiAKGwnan+8M/OFMqGwnan+8M/OFfCotszJ4jzNvkp4GM9W5gZmM9PLQ27D9nEd+veppQzi71WYNDeMMpDiSefvBAr4lTKjEolyUCq2yCIiqNIREQBERAEKIUBC4XbEfaf+rMvJWMtpjDLMoDywNvMJ4rDiO/XvXuE2xH2n/qzL3EF1szBoHEGWnEkjjxbggV8Stq8S+h5ScK2pMoiLEeqEREAREQBQ2E7U/3hn5wplQ2E7U/3hn5wr4VFtmZPEeZt8lMn9mKzfrvgM+yl1C5G+rc1oBM9OOTKSQ720L8VNLkSiXJQKrbIIiKk0hERAEREAQohQELhNsR9p/6syyxN+rs363TSqHHi0WOE2xH2n/qzLyZjLaWNAJlAccmUkieLWyBfjqtq8S+h5ScK2pNoiLEeqEREAREQBQ2E7U/3hn5wplQ2E7U/wB4Z+cK+FRbZmTxHmbfJT12aorquLy1d9vvUwoYuFRjNmPG25eXn20H11UyuRKJclAqtsgiIqTSEREAREQBCiFAQuE2xH2n/qzLLE5rZmy1xBlq7rjxb2scJtiPtP8A1Zl7O4cgzZjxf6eX18XLygbe/VbV4l9Dyk4VtSZREWI9UIiIAiIgChsJ2p/vDPzhTKhsJ2p/vDPzhXwqLbMyeI8zb5KZOqoqFeuo6VfPupdQ7s1RXVcbloG+33qYXIlEuSgVW2QREVJpCIiAIiIAhRCgIXCbYj7T/wBWZZYgjkoV62jYq6ni1/7WOE2xH2n/AKsyyxOa2ZstcQZaBuuPFutq8S+h5ScK2pMIiLEeqEREBB9cJJY8JPPBK6N0OHnkAayJ2ZzWEtzcRrtARsKu91lgMeIYmHEzl7pQHxh7WCSsjS4NZE0ZgDZvLpm1Ul0hgGTxPhlBMcjS14DnNtp0ItpBojRRE3Q8kOJinwwbI1uGOHcyWRweGhweHMlId4EHem66ICYixbXhrmczXgFrm0W0e+1ER4lsYxUj9GslD3mtmtdZND3AqbiJyjMAHVqGmwD7iqx0z/CdJfZk+jlog0W2ZQ9qOiw2rzVcjqwuPjljhfC/OHSh/aJIDnacp1Hhopvj6A5Xb7UL+qrPVl94DAaEUIxrWuo1FHZWtcipLvmSRqMivanKRq42/K7T3DXw1Xom25Xa+4aeOq2IqC01cfQnK7Q+wWfDVe8XWqdtd0K8FsRAafSNLyv3rYX47rLi78rtPcNfBbEQGrjbcrtfcNPHVDPoeV2nuGvhqtqFAQLMQ1keKkfo1vEc73ASzE6BYMx0crInwvzhz2v7RJAdNEQMp1HhpS5ulv4PpD+1P+edOgn3gsDoRUcI1rWnwaiidFvVP1T66GFsNPZMTnTuWYy7jK7QXtv4KB65YiaPCTYmCV8Rihe4NDITbrFF2drttdBW6sS5OlOjI8TE6GYExvFODXvZY9hLSDXuWA3HLD0gyB3BnxIfI7nYJeG2TI6mjRgaCM1i6G9KVUFP0E52MjmzOEUcAYMszw9zg8O5x/M2hRzE3anUAXB0r0yzDhuYPc5weWtjbmeWxjM51ewD6gCyQF3qE6bwMxxEGIga15jjxEbmPfl/fCMh10dnRAH3ONexAS2FxTZY2SRkOY9jXsI2LXAEEeIIVa6Z/hOkvsyfRymeh+ieBh8PC5xJhgiitrnBruG0NvLda13qH6bw4GCxx5ryzfzO1q9xevmtEHnbMqVFxocvia+rDXeg4HMQRUeUBpBGo3Nm/gFbVWOrEA/Z2DdreWH+Z1C3DYXQVh9EFAW/Q3+8ffxu1yNW6klRcZ8/ibkWo4Yam3c2/O/5C9PJBhhy6u5dud/z1181QTNqLT6KKIt+pv8AePvyN6eS99HF3btq7bq+F1fvQG1Fo9EFAW/Q3+8kv43fksvRxbjbuYUed/yF6eSA2rwrX6MOXV3Ltzv+euvmvDhRRFv11/ePvyN6eSArfS38H0h/an/POvOgmu9DwWYgjhQZQGkEDPBubN/ALPpnDj0HGnWxFiR2na0+bcXr5rLoPDj9n4N3NZZhh2naW+PYXpsNlvVUnProZmo72KXX6lmXPj8a2GMyODiBQAY0ue4uIAa1o7ySAszhxZNu1FHndXkL08QtGPY9sRELeIbALXSuY4tJ5qk1NgEkeFWFgNJFP684cMZIRNkObiHgSepySGJ3GoctSNcD9knYWrCqOOr+LZCMOIo5cO6aWZ8bsS5pAc/OzD8RzHEsu3OO5utru7j3oD1ERAFW+ntMFj294bKT/k3MPkQrIq71uGXD4r2Pwj/jHfzIf+BXQayIy94xev33kY9Vj/8AOwLf+TY/w26/w/NWRVnqXzYXBj/hhQ4+LyQPk16syRtzpep12+K9ev33mERFSdCIiAIiIAiIgK306KwWPb3tjn/GHSA/jryKy6B16PwLe9zcPX+AEh/Cwr3rYKw+M/rwUh84wf8ATwnVLmw+E/owbD5vA/00/FbP2bV+3+laJLw+x/aVvwWFERYywIiIAiIgCr3XrTByHvyPHk5jwVYVCdb4g/DZDs6RjDW9POU/IlXQN8REK4j0ht21om/5HP8A+P8AXAQu9rQ3yZyf6J8yrGojqrhRFh+Ey8scszG2bNNkcNSpdcjcR3qdY5Hptpz3/PeERFUTCIiAIiIAiIgIDrwP/Smd7IpB4h7HNr4kH/ELHqLrgonHfhxt8mxs0+JJ8109a4g/DOY7svfGx1b097Wmj4FOq0AjgMbbyskfG298rDlFn20Atf8AHuZ8VuJhc/N2kTCIiyGgIiIAiIgC4emMAZo8oNEPY8XtyOBpeopNcrVRUIRGI9qtdRTPo7CGNhBIJMkj9P63F1fNdSIjlVyzU6xqNajU5BERRJBERAEREAREQHH0rgjLHlBAIex+u3I4Or5L3ozBmJhBNl0j36bDO4ml4intrsbHIqwm4mJzlI7ERFAtCIiA/9k=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19462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647728" y="3356992"/>
            <a:ext cx="3672408" cy="3096344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4079776" y="260648"/>
            <a:ext cx="2664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u="sng" dirty="0"/>
              <a:t>ESCALA ABSOLUTA 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1451484" y="1152755"/>
            <a:ext cx="7920880" cy="120032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dirty="0"/>
              <a:t>A temperatura na qual todo o movimento das partículas que formam um sistema cessaria é chamada de </a:t>
            </a:r>
            <a:r>
              <a:rPr lang="pt-BR" b="1" dirty="0"/>
              <a:t>zero absoluto</a:t>
            </a:r>
            <a:r>
              <a:rPr lang="pt-BR" dirty="0"/>
              <a:t>. É útil dispor de uma escala de temperatura com o ponto zero correspondendo ao zero absoluto. Tal escala de temperatura é denominada </a:t>
            </a:r>
            <a:r>
              <a:rPr lang="pt-BR" b="1" dirty="0"/>
              <a:t>escala de temperatura absoluta. </a:t>
            </a:r>
          </a:p>
        </p:txBody>
      </p:sp>
      <p:pic>
        <p:nvPicPr>
          <p:cNvPr id="22532" name="Picture 4" descr="http://t2.gstatic.com/images?q=tbn:ANd9GcR4OVWazwbB_gq56HnPcUOe5fg-2kRwXblE0TTNoIA2JDrR30tx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96200" y="3068961"/>
            <a:ext cx="2343150" cy="1952625"/>
          </a:xfrm>
          <a:prstGeom prst="rect">
            <a:avLst/>
          </a:prstGeom>
          <a:noFill/>
        </p:spPr>
      </p:pic>
      <p:sp>
        <p:nvSpPr>
          <p:cNvPr id="6" name="CaixaDeTexto 5"/>
          <p:cNvSpPr txBox="1"/>
          <p:nvPr/>
        </p:nvSpPr>
        <p:spPr>
          <a:xfrm>
            <a:off x="8256240" y="2780928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            GÁS</a:t>
            </a:r>
          </a:p>
        </p:txBody>
      </p:sp>
      <p:pic>
        <p:nvPicPr>
          <p:cNvPr id="22533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51384" y="2492896"/>
            <a:ext cx="5876925" cy="3409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CaixaDeTexto 7"/>
          <p:cNvSpPr txBox="1"/>
          <p:nvPr/>
        </p:nvSpPr>
        <p:spPr>
          <a:xfrm>
            <a:off x="4367808" y="5733257"/>
            <a:ext cx="5832648" cy="646331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b="1" dirty="0"/>
              <a:t>NÃO HÁ TEMPERATURAS NEGATIVAS NA ESCALA ABSOLUTA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D222AADC-35D7-4E81-92A5-FA61AA37FD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5520" y="764704"/>
            <a:ext cx="7272808" cy="4248472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05723070-0326-48E6-926F-48B763612A05}"/>
              </a:ext>
            </a:extLst>
          </p:cNvPr>
          <p:cNvSpPr txBox="1"/>
          <p:nvPr/>
        </p:nvSpPr>
        <p:spPr>
          <a:xfrm>
            <a:off x="3503712" y="5484282"/>
            <a:ext cx="36724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/>
              <a:t>condensado de </a:t>
            </a:r>
            <a:r>
              <a:rPr lang="pt-BR" sz="2000" b="1" dirty="0" err="1"/>
              <a:t>bose-einstein</a:t>
            </a:r>
            <a:endParaRPr lang="pt-BR" sz="2000" b="1" dirty="0"/>
          </a:p>
        </p:txBody>
      </p:sp>
    </p:spTree>
    <p:extLst>
      <p:ext uri="{BB962C8B-B14F-4D97-AF65-F5344CB8AC3E}">
        <p14:creationId xmlns:p14="http://schemas.microsoft.com/office/powerpoint/2010/main" val="1858507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2783632" y="260649"/>
            <a:ext cx="6552728" cy="64633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b="1" dirty="0"/>
              <a:t>CONVERSÃO ENTRE AS PRINCIPAIS ESCALAS TERMOMÉTRICAS</a:t>
            </a:r>
          </a:p>
        </p:txBody>
      </p:sp>
      <p:pic>
        <p:nvPicPr>
          <p:cNvPr id="23558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51984" y="1484784"/>
            <a:ext cx="3888432" cy="309634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63553" y="1268760"/>
            <a:ext cx="3267075" cy="337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744D5E91-F5D3-4B98-BD88-BDA409CA69B2}"/>
                  </a:ext>
                </a:extLst>
              </p:cNvPr>
              <p:cNvSpPr txBox="1"/>
              <p:nvPr/>
            </p:nvSpPr>
            <p:spPr>
              <a:xfrm>
                <a:off x="4577423" y="5253000"/>
                <a:ext cx="2482346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pt-BR" sz="2800" b="1" i="1" smtClean="0">
                              <a:latin typeface="Cambria Math" panose="02040503050406030204" pitchFamily="18" charset="0"/>
                            </a:rPr>
                            <m:t>𝑲</m:t>
                          </m:r>
                        </m:sub>
                      </m:sSub>
                      <m:r>
                        <a:rPr lang="pt-BR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pt-BR" sz="2800" b="1" i="1" smtClean="0">
                              <a:latin typeface="Cambria Math" panose="02040503050406030204" pitchFamily="18" charset="0"/>
                            </a:rPr>
                            <m:t>𝑪</m:t>
                          </m:r>
                        </m:sub>
                      </m:sSub>
                      <m:r>
                        <a:rPr lang="pt-BR" sz="28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</a:rPr>
                        <m:t>𝟐𝟕𝟑</m:t>
                      </m:r>
                    </m:oMath>
                  </m:oMathPara>
                </a14:m>
                <a:endParaRPr lang="pt-BR" sz="28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744D5E91-F5D3-4B98-BD88-BDA409CA69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7423" y="5253000"/>
                <a:ext cx="2482346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Base">
  <a:themeElements>
    <a:clrScheme name="Vermelho Laranja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ase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Base</Template>
  <TotalTime>272</TotalTime>
  <Words>507</Words>
  <Application>Microsoft Office PowerPoint</Application>
  <PresentationFormat>Widescreen</PresentationFormat>
  <Paragraphs>57</Paragraphs>
  <Slides>13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7" baseType="lpstr">
      <vt:lpstr>Arial</vt:lpstr>
      <vt:lpstr>Cambria Math</vt:lpstr>
      <vt:lpstr>Corbel</vt:lpstr>
      <vt:lpstr>Base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Marcos</dc:creator>
  <cp:lastModifiedBy>I</cp:lastModifiedBy>
  <cp:revision>35</cp:revision>
  <dcterms:created xsi:type="dcterms:W3CDTF">2012-06-09T18:23:32Z</dcterms:created>
  <dcterms:modified xsi:type="dcterms:W3CDTF">2025-08-05T22:10:52Z</dcterms:modified>
</cp:coreProperties>
</file>