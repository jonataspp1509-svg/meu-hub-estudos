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57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DE48FE-994A-9346-AD5B-5BC2B5A79E5B}" v="1" dt="2024-03-16T23:00:47.9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2"/>
    <p:restoredTop sz="94695"/>
  </p:normalViewPr>
  <p:slideViewPr>
    <p:cSldViewPr snapToGrid="0">
      <p:cViewPr varScale="1">
        <p:scale>
          <a:sx n="179" d="100"/>
          <a:sy n="179" d="100"/>
        </p:scale>
        <p:origin x="14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lma Cristina Castelhano" userId="62084f3622c28081" providerId="LiveId" clId="{53DE48FE-994A-9346-AD5B-5BC2B5A79E5B}"/>
    <pc:docChg chg="custSel modSld">
      <pc:chgData name="Telma Cristina Castelhano" userId="62084f3622c28081" providerId="LiveId" clId="{53DE48FE-994A-9346-AD5B-5BC2B5A79E5B}" dt="2024-03-16T23:04:12.164" v="51" actId="14100"/>
      <pc:docMkLst>
        <pc:docMk/>
      </pc:docMkLst>
      <pc:sldChg chg="addSp modSp mod">
        <pc:chgData name="Telma Cristina Castelhano" userId="62084f3622c28081" providerId="LiveId" clId="{53DE48FE-994A-9346-AD5B-5BC2B5A79E5B}" dt="2024-03-16T23:01:04.996" v="21" actId="1076"/>
        <pc:sldMkLst>
          <pc:docMk/>
          <pc:sldMk cId="3135518044" sldId="256"/>
        </pc:sldMkLst>
        <pc:spChg chg="add mod">
          <ac:chgData name="Telma Cristina Castelhano" userId="62084f3622c28081" providerId="LiveId" clId="{53DE48FE-994A-9346-AD5B-5BC2B5A79E5B}" dt="2024-03-16T23:01:04.996" v="21" actId="1076"/>
          <ac:spMkLst>
            <pc:docMk/>
            <pc:sldMk cId="3135518044" sldId="256"/>
            <ac:spMk id="4" creationId="{C1117ACC-8EF8-7987-3624-7B0D1D2FCEC1}"/>
          </ac:spMkLst>
        </pc:spChg>
      </pc:sldChg>
      <pc:sldChg chg="modSp mod">
        <pc:chgData name="Telma Cristina Castelhano" userId="62084f3622c28081" providerId="LiveId" clId="{53DE48FE-994A-9346-AD5B-5BC2B5A79E5B}" dt="2024-03-16T23:03:09.329" v="39" actId="14100"/>
        <pc:sldMkLst>
          <pc:docMk/>
          <pc:sldMk cId="2257445419" sldId="260"/>
        </pc:sldMkLst>
        <pc:spChg chg="mod">
          <ac:chgData name="Telma Cristina Castelhano" userId="62084f3622c28081" providerId="LiveId" clId="{53DE48FE-994A-9346-AD5B-5BC2B5A79E5B}" dt="2024-03-16T23:02:57.164" v="36" actId="14100"/>
          <ac:spMkLst>
            <pc:docMk/>
            <pc:sldMk cId="2257445419" sldId="260"/>
            <ac:spMk id="2" creationId="{CC44D6D3-A993-9109-248D-C107C0029573}"/>
          </ac:spMkLst>
        </pc:spChg>
        <pc:spChg chg="mod">
          <ac:chgData name="Telma Cristina Castelhano" userId="62084f3622c28081" providerId="LiveId" clId="{53DE48FE-994A-9346-AD5B-5BC2B5A79E5B}" dt="2024-03-16T23:03:09.329" v="39" actId="14100"/>
          <ac:spMkLst>
            <pc:docMk/>
            <pc:sldMk cId="2257445419" sldId="260"/>
            <ac:spMk id="3" creationId="{413C6F75-19DA-D6B8-D12D-C441B4F9368C}"/>
          </ac:spMkLst>
        </pc:spChg>
      </pc:sldChg>
      <pc:sldChg chg="modSp mod">
        <pc:chgData name="Telma Cristina Castelhano" userId="62084f3622c28081" providerId="LiveId" clId="{53DE48FE-994A-9346-AD5B-5BC2B5A79E5B}" dt="2024-03-16T23:01:51.964" v="27" actId="113"/>
        <pc:sldMkLst>
          <pc:docMk/>
          <pc:sldMk cId="3155389197" sldId="261"/>
        </pc:sldMkLst>
        <pc:spChg chg="mod">
          <ac:chgData name="Telma Cristina Castelhano" userId="62084f3622c28081" providerId="LiveId" clId="{53DE48FE-994A-9346-AD5B-5BC2B5A79E5B}" dt="2024-03-16T23:01:51.964" v="27" actId="113"/>
          <ac:spMkLst>
            <pc:docMk/>
            <pc:sldMk cId="3155389197" sldId="261"/>
            <ac:spMk id="3" creationId="{DEA9A3C5-A594-2886-711B-971DA20F664D}"/>
          </ac:spMkLst>
        </pc:spChg>
      </pc:sldChg>
      <pc:sldChg chg="modSp mod">
        <pc:chgData name="Telma Cristina Castelhano" userId="62084f3622c28081" providerId="LiveId" clId="{53DE48FE-994A-9346-AD5B-5BC2B5A79E5B}" dt="2024-03-16T23:02:35.562" v="34" actId="255"/>
        <pc:sldMkLst>
          <pc:docMk/>
          <pc:sldMk cId="853487165" sldId="262"/>
        </pc:sldMkLst>
        <pc:spChg chg="mod">
          <ac:chgData name="Telma Cristina Castelhano" userId="62084f3622c28081" providerId="LiveId" clId="{53DE48FE-994A-9346-AD5B-5BC2B5A79E5B}" dt="2024-03-16T23:02:35.562" v="34" actId="255"/>
          <ac:spMkLst>
            <pc:docMk/>
            <pc:sldMk cId="853487165" sldId="262"/>
            <ac:spMk id="3" creationId="{3E2012ED-9FEB-8755-8C48-A83500447E77}"/>
          </ac:spMkLst>
        </pc:spChg>
      </pc:sldChg>
      <pc:sldChg chg="modSp mod">
        <pc:chgData name="Telma Cristina Castelhano" userId="62084f3622c28081" providerId="LiveId" clId="{53DE48FE-994A-9346-AD5B-5BC2B5A79E5B}" dt="2024-03-16T23:03:45.399" v="47" actId="113"/>
        <pc:sldMkLst>
          <pc:docMk/>
          <pc:sldMk cId="2347685173" sldId="263"/>
        </pc:sldMkLst>
        <pc:spChg chg="mod">
          <ac:chgData name="Telma Cristina Castelhano" userId="62084f3622c28081" providerId="LiveId" clId="{53DE48FE-994A-9346-AD5B-5BC2B5A79E5B}" dt="2024-03-16T23:03:45.399" v="47" actId="113"/>
          <ac:spMkLst>
            <pc:docMk/>
            <pc:sldMk cId="2347685173" sldId="263"/>
            <ac:spMk id="3" creationId="{55D44971-B8E3-6796-AF26-C8C500865AAC}"/>
          </ac:spMkLst>
        </pc:spChg>
      </pc:sldChg>
      <pc:sldChg chg="modSp mod">
        <pc:chgData name="Telma Cristina Castelhano" userId="62084f3622c28081" providerId="LiveId" clId="{53DE48FE-994A-9346-AD5B-5BC2B5A79E5B}" dt="2024-03-16T23:03:52.594" v="49" actId="27636"/>
        <pc:sldMkLst>
          <pc:docMk/>
          <pc:sldMk cId="2922330438" sldId="264"/>
        </pc:sldMkLst>
        <pc:spChg chg="mod">
          <ac:chgData name="Telma Cristina Castelhano" userId="62084f3622c28081" providerId="LiveId" clId="{53DE48FE-994A-9346-AD5B-5BC2B5A79E5B}" dt="2024-03-16T23:03:52.594" v="49" actId="27636"/>
          <ac:spMkLst>
            <pc:docMk/>
            <pc:sldMk cId="2922330438" sldId="264"/>
            <ac:spMk id="3" creationId="{48793E76-C84C-0440-F24D-603F3D29FC6B}"/>
          </ac:spMkLst>
        </pc:spChg>
      </pc:sldChg>
      <pc:sldChg chg="modSp mod">
        <pc:chgData name="Telma Cristina Castelhano" userId="62084f3622c28081" providerId="LiveId" clId="{53DE48FE-994A-9346-AD5B-5BC2B5A79E5B}" dt="2024-03-16T23:03:56.123" v="50" actId="20577"/>
        <pc:sldMkLst>
          <pc:docMk/>
          <pc:sldMk cId="211367777" sldId="265"/>
        </pc:sldMkLst>
        <pc:spChg chg="mod">
          <ac:chgData name="Telma Cristina Castelhano" userId="62084f3622c28081" providerId="LiveId" clId="{53DE48FE-994A-9346-AD5B-5BC2B5A79E5B}" dt="2024-03-16T23:03:56.123" v="50" actId="20577"/>
          <ac:spMkLst>
            <pc:docMk/>
            <pc:sldMk cId="211367777" sldId="265"/>
            <ac:spMk id="3" creationId="{E4104D71-84CF-1A28-8D34-6D824A591F24}"/>
          </ac:spMkLst>
        </pc:spChg>
      </pc:sldChg>
      <pc:sldChg chg="modSp mod">
        <pc:chgData name="Telma Cristina Castelhano" userId="62084f3622c28081" providerId="LiveId" clId="{53DE48FE-994A-9346-AD5B-5BC2B5A79E5B}" dt="2024-03-16T23:04:12.164" v="51" actId="14100"/>
        <pc:sldMkLst>
          <pc:docMk/>
          <pc:sldMk cId="3523885450" sldId="267"/>
        </pc:sldMkLst>
        <pc:spChg chg="mod">
          <ac:chgData name="Telma Cristina Castelhano" userId="62084f3622c28081" providerId="LiveId" clId="{53DE48FE-994A-9346-AD5B-5BC2B5A79E5B}" dt="2024-03-16T23:04:12.164" v="51" actId="14100"/>
          <ac:spMkLst>
            <pc:docMk/>
            <pc:sldMk cId="3523885450" sldId="267"/>
            <ac:spMk id="3" creationId="{9B2586AA-36CF-A323-E28A-0502EF14E64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D59BCF6-914F-2947-ABA6-A94BC8DE6013}" type="datetimeFigureOut">
              <a:rPr lang="pt-BR" smtClean="0"/>
              <a:t>16/03/2024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D7594DB-8BDA-EE4D-869D-B79A8DE58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2782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BCF6-914F-2947-ABA6-A94BC8DE6013}" type="datetimeFigureOut">
              <a:rPr lang="pt-BR" smtClean="0"/>
              <a:t>16/03/2024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94DB-8BDA-EE4D-869D-B79A8DE58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987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BCF6-914F-2947-ABA6-A94BC8DE6013}" type="datetimeFigureOut">
              <a:rPr lang="pt-BR" smtClean="0"/>
              <a:t>16/03/2024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94DB-8BDA-EE4D-869D-B79A8DE58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178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BCF6-914F-2947-ABA6-A94BC8DE6013}" type="datetimeFigureOut">
              <a:rPr lang="pt-BR" smtClean="0"/>
              <a:t>16/03/2024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94DB-8BDA-EE4D-869D-B79A8DE58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332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BCF6-914F-2947-ABA6-A94BC8DE6013}" type="datetimeFigureOut">
              <a:rPr lang="pt-BR" smtClean="0"/>
              <a:t>16/03/2024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94DB-8BDA-EE4D-869D-B79A8DE58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9390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BCF6-914F-2947-ABA6-A94BC8DE6013}" type="datetimeFigureOut">
              <a:rPr lang="pt-BR" smtClean="0"/>
              <a:t>16/03/2024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94DB-8BDA-EE4D-869D-B79A8DE58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6553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BCF6-914F-2947-ABA6-A94BC8DE6013}" type="datetimeFigureOut">
              <a:rPr lang="pt-BR" smtClean="0"/>
              <a:t>16/03/2024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94DB-8BDA-EE4D-869D-B79A8DE58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8680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BCF6-914F-2947-ABA6-A94BC8DE6013}" type="datetimeFigureOut">
              <a:rPr lang="pt-BR" smtClean="0"/>
              <a:t>16/03/2024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94DB-8BDA-EE4D-869D-B79A8DE58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108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BCF6-914F-2947-ABA6-A94BC8DE6013}" type="datetimeFigureOut">
              <a:rPr lang="pt-BR" smtClean="0"/>
              <a:t>16/03/2024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94DB-8BDA-EE4D-869D-B79A8DE58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3148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BCF6-914F-2947-ABA6-A94BC8DE6013}" type="datetimeFigureOut">
              <a:rPr lang="pt-BR" smtClean="0"/>
              <a:t>16/03/2024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94DB-8BDA-EE4D-869D-B79A8DE58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351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BCF6-914F-2947-ABA6-A94BC8DE6013}" type="datetimeFigureOut">
              <a:rPr lang="pt-BR" smtClean="0"/>
              <a:t>16/03/2024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94DB-8BDA-EE4D-869D-B79A8DE58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4644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BCF6-914F-2947-ABA6-A94BC8DE6013}" type="datetimeFigureOut">
              <a:rPr lang="pt-BR" smtClean="0"/>
              <a:t>16/03/2024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94DB-8BDA-EE4D-869D-B79A8DE585F9}" type="slidenum">
              <a:rPr lang="pt-BR" smtClean="0"/>
              <a:t>‹nº›</a:t>
            </a:fld>
            <a:endParaRPr lang="pt-B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01813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BCF6-914F-2947-ABA6-A94BC8DE6013}" type="datetimeFigureOut">
              <a:rPr lang="pt-BR" smtClean="0"/>
              <a:t>16/03/2024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94DB-8BDA-EE4D-869D-B79A8DE58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8583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BCF6-914F-2947-ABA6-A94BC8DE6013}" type="datetimeFigureOut">
              <a:rPr lang="pt-BR" smtClean="0"/>
              <a:t>16/03/2024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94DB-8BDA-EE4D-869D-B79A8DE58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021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BCF6-914F-2947-ABA6-A94BC8DE6013}" type="datetimeFigureOut">
              <a:rPr lang="pt-BR" smtClean="0"/>
              <a:t>16/03/2024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94DB-8BDA-EE4D-869D-B79A8DE58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1778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BCF6-914F-2947-ABA6-A94BC8DE6013}" type="datetimeFigureOut">
              <a:rPr lang="pt-BR" smtClean="0"/>
              <a:t>16/03/2024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94DB-8BDA-EE4D-869D-B79A8DE58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1849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BCF6-914F-2947-ABA6-A94BC8DE6013}" type="datetimeFigureOut">
              <a:rPr lang="pt-BR" smtClean="0"/>
              <a:t>16/03/2024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94DB-8BDA-EE4D-869D-B79A8DE58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73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9BCF6-914F-2947-ABA6-A94BC8DE6013}" type="datetimeFigureOut">
              <a:rPr lang="pt-BR" smtClean="0"/>
              <a:t>16/03/2024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594DB-8BDA-EE4D-869D-B79A8DE58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99280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9BAFD-4769-2246-27A6-C96D3B45E9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ortoépia</a:t>
            </a:r>
            <a:r>
              <a:rPr lang="pt-BR" dirty="0"/>
              <a:t> e prosódia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EA84B0-3699-1FDD-C81F-B220E2788E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/>
              <a:t>ortoépia</a:t>
            </a:r>
            <a:r>
              <a:rPr lang="pt-BR" dirty="0"/>
              <a:t>: trata da correta pronúncia dos fonemas.</a:t>
            </a:r>
          </a:p>
          <a:p>
            <a:r>
              <a:rPr lang="pt-BR" dirty="0"/>
              <a:t>prosódia: trata da correta acentuação e entonação dos fonemas.</a:t>
            </a:r>
          </a:p>
          <a:p>
            <a:r>
              <a:rPr lang="pt-BR" dirty="0"/>
              <a:t>(conhecimento da sílaba tônica)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1117ACC-8EF8-7987-3624-7B0D1D2FCEC1}"/>
              </a:ext>
            </a:extLst>
          </p:cNvPr>
          <p:cNvSpPr txBox="1"/>
          <p:nvPr/>
        </p:nvSpPr>
        <p:spPr>
          <a:xfrm>
            <a:off x="4914901" y="5815013"/>
            <a:ext cx="1835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Telma Castelhano</a:t>
            </a:r>
          </a:p>
        </p:txBody>
      </p:sp>
    </p:spTree>
    <p:extLst>
      <p:ext uri="{BB962C8B-B14F-4D97-AF65-F5344CB8AC3E}">
        <p14:creationId xmlns:p14="http://schemas.microsoft.com/office/powerpoint/2010/main" val="3135518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44D6D3-A993-9109-248D-C107C0029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47031"/>
            <a:ext cx="9905998" cy="1145988"/>
          </a:xfrm>
        </p:spPr>
        <p:txBody>
          <a:bodyPr/>
          <a:lstStyle/>
          <a:p>
            <a:r>
              <a:rPr lang="pt-BR" dirty="0"/>
              <a:t>ORTOÉPIA: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3C6F75-19DA-D6B8-D12D-C441B4F9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13618"/>
            <a:ext cx="9905999" cy="5501482"/>
          </a:xfrm>
        </p:spPr>
        <p:txBody>
          <a:bodyPr>
            <a:noAutofit/>
          </a:bodyPr>
          <a:lstStyle/>
          <a:p>
            <a:pPr marL="0" indent="0">
              <a:buNone/>
            </a:pP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-  </a:t>
            </a:r>
            <a:r>
              <a:rPr lang="pt-BR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omitir fonemas:</a:t>
            </a:r>
          </a:p>
          <a:p>
            <a:pPr marL="0" indent="0">
              <a:buNone/>
            </a:pPr>
            <a:r>
              <a:rPr lang="pt-BR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CANTAR</a:t>
            </a:r>
            <a:r>
              <a:rPr lang="pt-BR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 canta</a:t>
            </a:r>
          </a:p>
          <a:p>
            <a:pPr marL="0" indent="0">
              <a:buNone/>
            </a:pPr>
            <a:r>
              <a:rPr lang="pt-BR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TRABALHAR/trabalha</a:t>
            </a:r>
          </a:p>
          <a:p>
            <a:pPr marL="0" indent="0">
              <a:buNone/>
            </a:pPr>
            <a:r>
              <a:rPr lang="pt-BR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AMOR/amo</a:t>
            </a:r>
          </a:p>
          <a:p>
            <a:pPr marL="0" indent="0">
              <a:buNone/>
            </a:pPr>
            <a:r>
              <a:rPr lang="pt-BR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ABÓBORA/</a:t>
            </a:r>
            <a:r>
              <a:rPr lang="pt-BR" b="1" i="0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abóbra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REIVINDICAR/ reivindicar</a:t>
            </a:r>
          </a:p>
          <a:p>
            <a:pPr marL="0" indent="0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AÇOUGUE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açogue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FROUXO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froxo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MANTEIGA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mantega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445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A0B8B-174B-081F-B2D4-617BA9DB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ORTOÉPIA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A9A3C5-A594-2886-711B-971DA20F6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pt-BR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acréscimo de fonemas: </a:t>
            </a:r>
          </a:p>
          <a:p>
            <a:pPr marL="0" indent="0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PNEU</a:t>
            </a:r>
            <a:r>
              <a:rPr lang="pt-BR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b="1" i="0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peneu</a:t>
            </a:r>
            <a:r>
              <a:rPr lang="pt-BR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FREADA</a:t>
            </a:r>
            <a:r>
              <a:rPr lang="pt-BR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pt-BR" b="1" i="0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freiada</a:t>
            </a:r>
            <a:endParaRPr lang="pt-BR" b="1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BANDEJA</a:t>
            </a:r>
            <a:r>
              <a:rPr lang="pt-BR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pt-BR" b="1" i="0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bandeija</a:t>
            </a:r>
            <a:endParaRPr lang="pt-BR" b="1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BENEFICENTE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beneficiente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389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8EC95-3559-9C9F-3ABB-2378C6210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ORTOÉPIA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2012ED-9FEB-8755-8C48-A83500447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Tx/>
              <a:buChar char="-"/>
            </a:pPr>
            <a:r>
              <a:rPr lang="pt-BR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substituição de fonemas: </a:t>
            </a:r>
          </a:p>
          <a:p>
            <a:pPr>
              <a:buFontTx/>
              <a:buChar char="-"/>
            </a:pPr>
            <a:endParaRPr lang="pt-BR" b="1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CABEÇALHO/ </a:t>
            </a:r>
            <a:r>
              <a:rPr lang="pt-BR" b="1" i="0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cabeçário</a:t>
            </a:r>
            <a:r>
              <a:rPr lang="pt-BR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pt-BR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BUEIRO/ </a:t>
            </a:r>
            <a:r>
              <a:rPr lang="pt-BR" b="1" i="0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boeiro</a:t>
            </a:r>
            <a:endParaRPr lang="pt-BR" b="1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ABECEDÁRIO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abecedalho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ATERRISSAGEM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aterrisagem</a:t>
            </a:r>
          </a:p>
          <a:p>
            <a:pPr marL="0" indent="0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EMPECILHO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impecilho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487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AAC3A-D17A-29A2-A099-DA87F11F3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ORTOÉPIA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D44971-B8E3-6796-AF26-C8C500865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065588"/>
          </a:xfrm>
        </p:spPr>
        <p:txBody>
          <a:bodyPr>
            <a:noAutofit/>
          </a:bodyPr>
          <a:lstStyle/>
          <a:p>
            <a:pPr>
              <a:buFontTx/>
              <a:buChar char="-"/>
            </a:pPr>
            <a:r>
              <a:rPr lang="pt-BR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troca de posição de um ou mais fonemas: </a:t>
            </a:r>
          </a:p>
          <a:p>
            <a:pPr>
              <a:buFontTx/>
              <a:buChar char="-"/>
            </a:pPr>
            <a:endParaRPr lang="pt-BR" b="1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CADERNETA/ </a:t>
            </a:r>
            <a:r>
              <a:rPr lang="pt-BR" b="1" i="0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cardeneta</a:t>
            </a:r>
            <a:endParaRPr lang="pt-BR" b="1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BICARBONATO/ bicabornato </a:t>
            </a:r>
          </a:p>
          <a:p>
            <a:pPr marL="0" indent="0">
              <a:buNone/>
            </a:pPr>
            <a:r>
              <a:rPr lang="pt-BR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MUÇULMANO/ mulçumano</a:t>
            </a:r>
          </a:p>
          <a:p>
            <a:pPr marL="0" indent="0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ESTUPRO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estrupo</a:t>
            </a:r>
          </a:p>
          <a:p>
            <a:pPr marL="0" indent="0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LAGARTO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largato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pt-BR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685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B6717-4DA4-0703-F41C-4E0DCA1EB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ORTOÉPIA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793E76-C84C-0440-F24D-603F3D29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pt-BR" b="1" i="0" u="none" strike="noStrike" dirty="0">
                <a:effectLst/>
                <a:latin typeface="Source Sans Pro" panose="020B0503030403020204" pitchFamily="34" charset="0"/>
              </a:rPr>
              <a:t>nasalização de vogais: </a:t>
            </a:r>
          </a:p>
          <a:p>
            <a:pPr>
              <a:buFontTx/>
              <a:buChar char="-"/>
            </a:pPr>
            <a:endParaRPr lang="pt-BR" b="1" i="0" u="none" strike="noStrike" dirty="0">
              <a:effectLst/>
              <a:latin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pt-BR" b="1" i="0" u="none" strike="noStrike" dirty="0">
                <a:effectLst/>
                <a:latin typeface="Source Sans Pro" panose="020B0503030403020204" pitchFamily="34" charset="0"/>
              </a:rPr>
              <a:t>SOBRANCELHA/ </a:t>
            </a:r>
            <a:r>
              <a:rPr lang="pt-BR" b="1" i="0" u="none" strike="noStrike" dirty="0" err="1">
                <a:effectLst/>
                <a:latin typeface="Source Sans Pro" panose="020B0503030403020204" pitchFamily="34" charset="0"/>
              </a:rPr>
              <a:t>sombrancelha</a:t>
            </a:r>
            <a:endParaRPr lang="pt-BR" b="1" i="0" u="none" strike="noStrike" dirty="0">
              <a:effectLst/>
              <a:latin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pt-BR" b="1" i="0" u="none" strike="noStrike" dirty="0">
                <a:effectLst/>
                <a:latin typeface="Source Sans Pro" panose="020B0503030403020204" pitchFamily="34" charset="0"/>
              </a:rPr>
              <a:t>MENDIGO/ </a:t>
            </a:r>
            <a:r>
              <a:rPr lang="pt-BR" b="1" i="0" u="none" strike="noStrike" dirty="0" err="1">
                <a:effectLst/>
                <a:latin typeface="Source Sans Pro" panose="020B0503030403020204" pitchFamily="34" charset="0"/>
              </a:rPr>
              <a:t>mendingo</a:t>
            </a:r>
            <a:r>
              <a:rPr lang="pt-BR" b="1" i="0" u="none" strike="noStrike" dirty="0">
                <a:effectLst/>
                <a:latin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pt-BR" b="1" i="0" u="none" strike="noStrike" dirty="0">
                <a:effectLst/>
                <a:latin typeface="Source Sans Pro" panose="020B0503030403020204" pitchFamily="34" charset="0"/>
              </a:rPr>
              <a:t>BUGIGANGA/ </a:t>
            </a:r>
            <a:r>
              <a:rPr lang="pt-BR" b="1" i="0" u="none" strike="noStrike" dirty="0" err="1">
                <a:effectLst/>
                <a:latin typeface="Source Sans Pro" panose="020B0503030403020204" pitchFamily="34" charset="0"/>
              </a:rPr>
              <a:t>bungiganga</a:t>
            </a:r>
            <a:r>
              <a:rPr lang="pt-BR" b="1" i="0" u="none" strike="noStrike" dirty="0">
                <a:effectLst/>
                <a:latin typeface="Source Sans Pro" panose="020B0503030403020204" pitchFamily="34" charset="0"/>
              </a:rPr>
              <a:t> ou </a:t>
            </a:r>
            <a:r>
              <a:rPr lang="pt-BR" b="1" i="0" u="none" strike="noStrike" dirty="0" err="1">
                <a:effectLst/>
                <a:latin typeface="Source Sans Pro" panose="020B0503030403020204" pitchFamily="34" charset="0"/>
              </a:rPr>
              <a:t>buginganga</a:t>
            </a:r>
            <a:br>
              <a:rPr lang="pt-BR" b="1" i="0" u="none" strike="noStrike" dirty="0">
                <a:effectLst/>
                <a:latin typeface="Source Sans Pro" panose="020B0503030403020204" pitchFamily="34" charset="0"/>
              </a:rPr>
            </a:br>
            <a:endParaRPr lang="pt-BR" b="1" dirty="0">
              <a:latin typeface="Source Sans Pro" panose="020B0503030403020204" pitchFamily="34" charset="0"/>
            </a:endParaRPr>
          </a:p>
          <a:p>
            <a:pPr>
              <a:buFontTx/>
              <a:buChar char="-"/>
            </a:pPr>
            <a:r>
              <a:rPr lang="pt-BR" b="1" i="0" u="none" strike="noStrike" dirty="0">
                <a:effectLst/>
                <a:latin typeface="Source Sans Pro" panose="020B0503030403020204" pitchFamily="34" charset="0"/>
              </a:rPr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2330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8B367-52A2-273F-F062-AF891E5C3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ORTOÉPIA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104D71-84CF-1A28-8D34-6D824A591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pt-BR" b="1" i="0" u="none" strike="noStrike" dirty="0">
                <a:effectLst/>
                <a:latin typeface="Source Sans Pro" panose="020B0503030403020204" pitchFamily="34" charset="0"/>
              </a:rPr>
              <a:t>pronunciar a crase: </a:t>
            </a:r>
          </a:p>
          <a:p>
            <a:pPr>
              <a:buFontTx/>
              <a:buChar char="-"/>
            </a:pPr>
            <a:endParaRPr lang="pt-BR" b="1" i="0" u="none" strike="noStrike" dirty="0">
              <a:effectLst/>
              <a:latin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pt-BR" b="1" i="0" u="none" strike="noStrike" dirty="0">
                <a:effectLst/>
                <a:latin typeface="Source Sans Pro" panose="020B0503030403020204" pitchFamily="34" charset="0"/>
              </a:rPr>
              <a:t>A aula iria acabar às cinco horas.</a:t>
            </a:r>
          </a:p>
          <a:p>
            <a:pPr marL="0" indent="0">
              <a:buNone/>
            </a:pPr>
            <a:r>
              <a:rPr lang="pt-BR" b="1" i="0" u="none" strike="noStrike" dirty="0">
                <a:effectLst/>
                <a:latin typeface="Source Sans Pro" panose="020B0503030403020204" pitchFamily="34" charset="0"/>
              </a:rPr>
              <a:t>A aula iria acabar "</a:t>
            </a:r>
            <a:r>
              <a:rPr lang="pt-BR" b="1" i="0" u="none" strike="noStrike" dirty="0" err="1">
                <a:effectLst/>
                <a:latin typeface="Source Sans Pro" panose="020B0503030403020204" pitchFamily="34" charset="0"/>
              </a:rPr>
              <a:t>àas</a:t>
            </a:r>
            <a:r>
              <a:rPr lang="pt-BR" b="1" i="0" u="none" strike="noStrike" dirty="0">
                <a:effectLst/>
                <a:latin typeface="Source Sans Pro" panose="020B0503030403020204" pitchFamily="34" charset="0"/>
              </a:rPr>
              <a:t>" cinco horas.</a:t>
            </a:r>
            <a:br>
              <a:rPr lang="pt-BR" b="1" i="0" u="none" strike="noStrike" dirty="0">
                <a:effectLst/>
                <a:latin typeface="Source Sans Pro" panose="020B0503030403020204" pitchFamily="34" charset="0"/>
              </a:rPr>
            </a:br>
            <a:endParaRPr lang="pt-BR" b="1" i="0" u="none" strike="noStrike" dirty="0">
              <a:effectLst/>
              <a:latin typeface="Source Sans Pro" panose="020B0503030403020204" pitchFamily="34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367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5786D233-A4D7-BEBE-48FC-50288009D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ORTOÉPIA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633BE501-DB21-6579-5081-5DB21B6CE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latin typeface="Source Sans Pro" panose="020B0503030403020204" pitchFamily="34" charset="0"/>
              </a:rPr>
              <a:t>l</a:t>
            </a:r>
            <a:r>
              <a:rPr lang="pt-BR" b="1" i="0" u="none" strike="noStrike" dirty="0">
                <a:effectLst/>
                <a:latin typeface="Source Sans Pro" panose="020B0503030403020204" pitchFamily="34" charset="0"/>
              </a:rPr>
              <a:t>igar as palavras na frase de forma incorreta:</a:t>
            </a:r>
            <a:br>
              <a:rPr lang="pt-BR" dirty="0"/>
            </a:br>
            <a:br>
              <a:rPr lang="pt-BR" dirty="0"/>
            </a:br>
            <a:r>
              <a:rPr lang="pt-BR" b="0" i="0" u="none" strike="noStrike" dirty="0">
                <a:effectLst/>
                <a:latin typeface="Source Sans Pro" panose="020B0503030403020204" pitchFamily="34" charset="0"/>
              </a:rPr>
              <a:t>correta: A aula/ iria acabar/ às cinco horas.</a:t>
            </a:r>
            <a:br>
              <a:rPr lang="pt-BR" dirty="0"/>
            </a:br>
            <a:br>
              <a:rPr lang="pt-BR" dirty="0"/>
            </a:br>
            <a:r>
              <a:rPr lang="pt-BR" b="0" i="0" u="none" strike="noStrike" dirty="0">
                <a:effectLst/>
                <a:latin typeface="Source Sans Pro" panose="020B0503030403020204" pitchFamily="34" charset="0"/>
              </a:rPr>
              <a:t>Exemplo de ligação incorreta: A/ aula iria/ acabar/ às/ cinco horas.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849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5C9739-C230-ED60-D5DC-0C5DDD7AC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ortoépia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D014AD-EEC0-8961-CFFE-95DB0CF09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87794"/>
            <a:ext cx="9905999" cy="4513005"/>
          </a:xfrm>
        </p:spPr>
        <p:txBody>
          <a:bodyPr/>
          <a:lstStyle/>
          <a:p>
            <a:r>
              <a:rPr lang="pt-BR" dirty="0" err="1"/>
              <a:t>cacoépia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 erros de pronúncia. </a:t>
            </a:r>
          </a:p>
        </p:txBody>
      </p:sp>
    </p:spTree>
    <p:extLst>
      <p:ext uri="{BB962C8B-B14F-4D97-AF65-F5344CB8AC3E}">
        <p14:creationId xmlns:p14="http://schemas.microsoft.com/office/powerpoint/2010/main" val="2457020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551ACB-B250-2185-A9E4-49A670B69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64331"/>
            <a:ext cx="9905998" cy="1350169"/>
          </a:xfrm>
        </p:spPr>
        <p:txBody>
          <a:bodyPr>
            <a:normAutofit fontScale="90000"/>
          </a:bodyPr>
          <a:lstStyle/>
          <a:p>
            <a:r>
              <a:rPr lang="pt-BR" dirty="0"/>
              <a:t>PROSÓDIA</a:t>
            </a:r>
            <a:br>
              <a:rPr lang="pt-BR" dirty="0"/>
            </a:br>
            <a:r>
              <a:rPr lang="pt-BR" cap="none" dirty="0"/>
              <a:t>pronúncia adequada de acordo com a sílaba tônica</a:t>
            </a:r>
            <a:br>
              <a:rPr lang="pt-BR" cap="none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2586AA-36CF-A323-E28A-0502EF14E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543050"/>
            <a:ext cx="9905999" cy="4872498"/>
          </a:xfrm>
        </p:spPr>
        <p:txBody>
          <a:bodyPr>
            <a:normAutofit/>
          </a:bodyPr>
          <a:lstStyle/>
          <a:p>
            <a:r>
              <a:rPr lang="pt-BR" dirty="0"/>
              <a:t>Silabada = erro de prosódia</a:t>
            </a:r>
          </a:p>
          <a:p>
            <a:pPr marL="0" indent="0">
              <a:buNone/>
            </a:pPr>
            <a:r>
              <a:rPr lang="pt-BR" dirty="0" err="1"/>
              <a:t>suTIL</a:t>
            </a:r>
            <a:r>
              <a:rPr lang="pt-BR" dirty="0"/>
              <a:t> (oxítona)</a:t>
            </a:r>
          </a:p>
          <a:p>
            <a:pPr marL="0" indent="0">
              <a:buNone/>
            </a:pPr>
            <a:r>
              <a:rPr lang="pt-BR" dirty="0" err="1"/>
              <a:t>conDOR</a:t>
            </a:r>
            <a:r>
              <a:rPr lang="pt-BR" dirty="0"/>
              <a:t> (oxítona)</a:t>
            </a:r>
          </a:p>
          <a:p>
            <a:pPr marL="0" indent="0">
              <a:buNone/>
            </a:pPr>
            <a:r>
              <a:rPr lang="pt-BR" dirty="0" err="1"/>
              <a:t>cateTER</a:t>
            </a:r>
            <a:r>
              <a:rPr lang="pt-BR" dirty="0"/>
              <a:t> (oxítona)</a:t>
            </a:r>
          </a:p>
          <a:p>
            <a:pPr marL="0" indent="0">
              <a:buNone/>
            </a:pPr>
            <a:r>
              <a:rPr lang="pt-BR" dirty="0" err="1"/>
              <a:t>misTER</a:t>
            </a:r>
            <a:r>
              <a:rPr lang="pt-BR" dirty="0"/>
              <a:t> (oxítona)</a:t>
            </a:r>
          </a:p>
          <a:p>
            <a:pPr marL="0" indent="0">
              <a:buNone/>
            </a:pPr>
            <a:r>
              <a:rPr lang="pt-BR" dirty="0" err="1"/>
              <a:t>ÍNterim</a:t>
            </a:r>
            <a:r>
              <a:rPr lang="pt-BR" dirty="0"/>
              <a:t> (proparoxítona)</a:t>
            </a:r>
          </a:p>
          <a:p>
            <a:pPr marL="0" indent="0">
              <a:buNone/>
            </a:pPr>
            <a:r>
              <a:rPr lang="pt-BR" dirty="0" err="1"/>
              <a:t>noBEL</a:t>
            </a:r>
            <a:r>
              <a:rPr lang="pt-BR" dirty="0"/>
              <a:t> (oxítona)</a:t>
            </a:r>
          </a:p>
        </p:txBody>
      </p:sp>
    </p:spTree>
    <p:extLst>
      <p:ext uri="{BB962C8B-B14F-4D97-AF65-F5344CB8AC3E}">
        <p14:creationId xmlns:p14="http://schemas.microsoft.com/office/powerpoint/2010/main" val="3523885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2345B9-9120-676C-8FBC-1DC216EB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PROSÓDIA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FFC8F2-69C4-9579-F2AC-ADC102F57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13717"/>
            <a:ext cx="9905999" cy="4358483"/>
          </a:xfrm>
        </p:spPr>
        <p:txBody>
          <a:bodyPr/>
          <a:lstStyle/>
          <a:p>
            <a:r>
              <a:rPr lang="pt-BR" dirty="0" err="1"/>
              <a:t>ruIM</a:t>
            </a:r>
            <a:r>
              <a:rPr lang="pt-BR" dirty="0"/>
              <a:t> (oxítona)</a:t>
            </a:r>
          </a:p>
          <a:p>
            <a:r>
              <a:rPr lang="pt-BR" dirty="0" err="1"/>
              <a:t>ureTER</a:t>
            </a:r>
            <a:r>
              <a:rPr lang="pt-BR" dirty="0"/>
              <a:t> (oxítona)</a:t>
            </a:r>
          </a:p>
          <a:p>
            <a:r>
              <a:rPr lang="pt-BR" dirty="0" err="1"/>
              <a:t>ausTEro</a:t>
            </a:r>
            <a:r>
              <a:rPr lang="pt-BR" dirty="0"/>
              <a:t> (paroxítona)</a:t>
            </a:r>
          </a:p>
          <a:p>
            <a:r>
              <a:rPr lang="pt-BR" dirty="0" err="1"/>
              <a:t>cartomanCIa</a:t>
            </a:r>
            <a:r>
              <a:rPr lang="pt-BR" dirty="0"/>
              <a:t> (paroxítona)</a:t>
            </a:r>
          </a:p>
          <a:p>
            <a:r>
              <a:rPr lang="pt-BR" dirty="0" err="1"/>
              <a:t>graTUIto</a:t>
            </a:r>
            <a:r>
              <a:rPr lang="pt-BR" dirty="0"/>
              <a:t> (paroxítona)</a:t>
            </a:r>
          </a:p>
          <a:p>
            <a:r>
              <a:rPr lang="pt-BR" dirty="0" err="1"/>
              <a:t>reCORde</a:t>
            </a:r>
            <a:r>
              <a:rPr lang="pt-BR" dirty="0"/>
              <a:t> (paroxítona)</a:t>
            </a:r>
          </a:p>
          <a:p>
            <a:r>
              <a:rPr lang="pt-BR" dirty="0" err="1"/>
              <a:t>ruBRIca</a:t>
            </a:r>
            <a:r>
              <a:rPr lang="pt-BR" dirty="0"/>
              <a:t> (paroxítona)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8873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32C2AE-CE8C-47A2-AC7B-4DECC5B68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DUPLA GRAFIA: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9DE69C-C367-EB06-7FCA-C95B523EC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aCRÓbata</a:t>
            </a:r>
            <a:r>
              <a:rPr lang="pt-BR" dirty="0"/>
              <a:t> / </a:t>
            </a:r>
            <a:r>
              <a:rPr lang="pt-BR" dirty="0" err="1"/>
              <a:t>acroBAta</a:t>
            </a:r>
            <a:r>
              <a:rPr lang="pt-BR" dirty="0"/>
              <a:t> </a:t>
            </a:r>
          </a:p>
          <a:p>
            <a:r>
              <a:rPr lang="pt-BR" dirty="0" err="1"/>
              <a:t>hieRÓglifo</a:t>
            </a:r>
            <a:r>
              <a:rPr lang="pt-BR" dirty="0"/>
              <a:t> / </a:t>
            </a:r>
            <a:r>
              <a:rPr lang="pt-BR" dirty="0" err="1"/>
              <a:t>hieroGLIfo</a:t>
            </a:r>
            <a:r>
              <a:rPr lang="pt-BR" dirty="0"/>
              <a:t> </a:t>
            </a:r>
          </a:p>
          <a:p>
            <a:r>
              <a:rPr lang="pt-BR" dirty="0" err="1"/>
              <a:t>proJÉtil</a:t>
            </a:r>
            <a:r>
              <a:rPr lang="pt-BR" dirty="0"/>
              <a:t> / </a:t>
            </a:r>
            <a:r>
              <a:rPr lang="pt-BR" dirty="0" err="1"/>
              <a:t>projeTIL</a:t>
            </a:r>
            <a:r>
              <a:rPr lang="pt-BR" dirty="0"/>
              <a:t> </a:t>
            </a:r>
          </a:p>
          <a:p>
            <a:r>
              <a:rPr lang="pt-BR" dirty="0" err="1"/>
              <a:t>RÉPtil</a:t>
            </a:r>
            <a:r>
              <a:rPr lang="pt-BR" dirty="0"/>
              <a:t> / </a:t>
            </a:r>
            <a:r>
              <a:rPr lang="pt-BR" dirty="0" err="1"/>
              <a:t>repTIL</a:t>
            </a:r>
            <a:r>
              <a:rPr lang="pt-BR" dirty="0"/>
              <a:t> </a:t>
            </a:r>
          </a:p>
          <a:p>
            <a:r>
              <a:rPr lang="pt-BR" dirty="0" err="1"/>
              <a:t>XÉrox</a:t>
            </a:r>
            <a:r>
              <a:rPr lang="pt-BR" dirty="0"/>
              <a:t> / </a:t>
            </a:r>
            <a:r>
              <a:rPr lang="pt-BR" dirty="0" err="1"/>
              <a:t>xeROX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969752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{5A46DDB6-AAAE-E644-AEC3-E2AED4148DD2}tf10001122</Template>
  <TotalTime>212</TotalTime>
  <Words>308</Words>
  <Application>Microsoft Macintosh PowerPoint</Application>
  <PresentationFormat>Widescreen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Source Sans Pro</vt:lpstr>
      <vt:lpstr>Tw Cen MT</vt:lpstr>
      <vt:lpstr>Circuito</vt:lpstr>
      <vt:lpstr>ortoépia e prosódia</vt:lpstr>
      <vt:lpstr>ORTOÉPIA:</vt:lpstr>
      <vt:lpstr>ORTOÉPIA</vt:lpstr>
      <vt:lpstr>ORTOÉPIA</vt:lpstr>
      <vt:lpstr>ORTOÉPIA</vt:lpstr>
      <vt:lpstr>ORTOÉPIA</vt:lpstr>
      <vt:lpstr>ORTOÉPIA</vt:lpstr>
      <vt:lpstr>ORTOÉPIA</vt:lpstr>
      <vt:lpstr>ortoépia</vt:lpstr>
      <vt:lpstr>PROSÓDIA pronúncia adequada de acordo com a sílaba tônica </vt:lpstr>
      <vt:lpstr>PROSÓDIA</vt:lpstr>
      <vt:lpstr>DUPLA GRAFIA: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ortoépia e prosódia</dc:title>
  <dc:creator>Telma Cristina Castelhano</dc:creator>
  <cp:lastModifiedBy>Telma Cristina Castelhano</cp:lastModifiedBy>
  <cp:revision>1</cp:revision>
  <dcterms:created xsi:type="dcterms:W3CDTF">2023-02-12T14:15:15Z</dcterms:created>
  <dcterms:modified xsi:type="dcterms:W3CDTF">2024-03-16T23:04:12Z</dcterms:modified>
</cp:coreProperties>
</file>