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020CF-6BA9-3842-A3A1-F342CB943D34}" v="21" dt="2023-05-03T19:49:47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/>
    <p:restoredTop sz="96327"/>
  </p:normalViewPr>
  <p:slideViewPr>
    <p:cSldViewPr snapToGrid="0">
      <p:cViewPr varScale="1">
        <p:scale>
          <a:sx n="128" d="100"/>
          <a:sy n="128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lma Cristina Castelhano" userId="62084f3622c28081" providerId="LiveId" clId="{1A3020CF-6BA9-3842-A3A1-F342CB943D34}"/>
    <pc:docChg chg="undo custSel addSld modSld">
      <pc:chgData name="Telma Cristina Castelhano" userId="62084f3622c28081" providerId="LiveId" clId="{1A3020CF-6BA9-3842-A3A1-F342CB943D34}" dt="2023-05-03T19:56:45.318" v="891" actId="20577"/>
      <pc:docMkLst>
        <pc:docMk/>
      </pc:docMkLst>
      <pc:sldChg chg="modSp mod">
        <pc:chgData name="Telma Cristina Castelhano" userId="62084f3622c28081" providerId="LiveId" clId="{1A3020CF-6BA9-3842-A3A1-F342CB943D34}" dt="2023-05-03T19:56:45.318" v="891" actId="20577"/>
        <pc:sldMkLst>
          <pc:docMk/>
          <pc:sldMk cId="3900013880" sldId="256"/>
        </pc:sldMkLst>
        <pc:spChg chg="mod">
          <ac:chgData name="Telma Cristina Castelhano" userId="62084f3622c28081" providerId="LiveId" clId="{1A3020CF-6BA9-3842-A3A1-F342CB943D34}" dt="2023-05-03T19:56:45.318" v="891" actId="20577"/>
          <ac:spMkLst>
            <pc:docMk/>
            <pc:sldMk cId="3900013880" sldId="256"/>
            <ac:spMk id="2" creationId="{CE754826-C534-0805-D286-221520A36C4B}"/>
          </ac:spMkLst>
        </pc:spChg>
      </pc:sldChg>
      <pc:sldChg chg="modSp mod">
        <pc:chgData name="Telma Cristina Castelhano" userId="62084f3622c28081" providerId="LiveId" clId="{1A3020CF-6BA9-3842-A3A1-F342CB943D34}" dt="2023-05-03T18:53:06.706" v="22" actId="113"/>
        <pc:sldMkLst>
          <pc:docMk/>
          <pc:sldMk cId="253704209" sldId="258"/>
        </pc:sldMkLst>
        <pc:spChg chg="mod">
          <ac:chgData name="Telma Cristina Castelhano" userId="62084f3622c28081" providerId="LiveId" clId="{1A3020CF-6BA9-3842-A3A1-F342CB943D34}" dt="2023-05-03T18:53:06.706" v="22" actId="113"/>
          <ac:spMkLst>
            <pc:docMk/>
            <pc:sldMk cId="253704209" sldId="258"/>
            <ac:spMk id="3" creationId="{CD201407-B3C5-218E-1A19-D14BF27BA707}"/>
          </ac:spMkLst>
        </pc:spChg>
      </pc:sldChg>
      <pc:sldChg chg="modSp mod">
        <pc:chgData name="Telma Cristina Castelhano" userId="62084f3622c28081" providerId="LiveId" clId="{1A3020CF-6BA9-3842-A3A1-F342CB943D34}" dt="2023-05-03T19:24:37.281" v="60" actId="20577"/>
        <pc:sldMkLst>
          <pc:docMk/>
          <pc:sldMk cId="1600306507" sldId="259"/>
        </pc:sldMkLst>
        <pc:spChg chg="mod">
          <ac:chgData name="Telma Cristina Castelhano" userId="62084f3622c28081" providerId="LiveId" clId="{1A3020CF-6BA9-3842-A3A1-F342CB943D34}" dt="2023-05-03T19:24:37.281" v="60" actId="20577"/>
          <ac:spMkLst>
            <pc:docMk/>
            <pc:sldMk cId="1600306507" sldId="259"/>
            <ac:spMk id="3" creationId="{15F1C864-54FD-09D1-E32D-38C661F8907B}"/>
          </ac:spMkLst>
        </pc:spChg>
      </pc:sldChg>
      <pc:sldChg chg="modSp mod">
        <pc:chgData name="Telma Cristina Castelhano" userId="62084f3622c28081" providerId="LiveId" clId="{1A3020CF-6BA9-3842-A3A1-F342CB943D34}" dt="2023-05-03T18:54:14.901" v="41" actId="20577"/>
        <pc:sldMkLst>
          <pc:docMk/>
          <pc:sldMk cId="3045124779" sldId="260"/>
        </pc:sldMkLst>
        <pc:spChg chg="mod">
          <ac:chgData name="Telma Cristina Castelhano" userId="62084f3622c28081" providerId="LiveId" clId="{1A3020CF-6BA9-3842-A3A1-F342CB943D34}" dt="2023-05-03T18:54:14.901" v="41" actId="20577"/>
          <ac:spMkLst>
            <pc:docMk/>
            <pc:sldMk cId="3045124779" sldId="260"/>
            <ac:spMk id="3" creationId="{6D08A8D7-6053-77CA-EF4C-81D956A3B7DF}"/>
          </ac:spMkLst>
        </pc:spChg>
      </pc:sldChg>
      <pc:sldChg chg="modSp mod">
        <pc:chgData name="Telma Cristina Castelhano" userId="62084f3622c28081" providerId="LiveId" clId="{1A3020CF-6BA9-3842-A3A1-F342CB943D34}" dt="2023-05-03T19:25:05.485" v="62" actId="20577"/>
        <pc:sldMkLst>
          <pc:docMk/>
          <pc:sldMk cId="1652620213" sldId="261"/>
        </pc:sldMkLst>
        <pc:spChg chg="mod">
          <ac:chgData name="Telma Cristina Castelhano" userId="62084f3622c28081" providerId="LiveId" clId="{1A3020CF-6BA9-3842-A3A1-F342CB943D34}" dt="2023-05-03T19:25:05.485" v="62" actId="20577"/>
          <ac:spMkLst>
            <pc:docMk/>
            <pc:sldMk cId="1652620213" sldId="261"/>
            <ac:spMk id="3" creationId="{4EE64688-508C-92A5-3902-72E56CB75C6A}"/>
          </ac:spMkLst>
        </pc:spChg>
      </pc:sldChg>
      <pc:sldChg chg="modSp new mod">
        <pc:chgData name="Telma Cristina Castelhano" userId="62084f3622c28081" providerId="LiveId" clId="{1A3020CF-6BA9-3842-A3A1-F342CB943D34}" dt="2023-05-03T19:30:50.642" v="155" actId="113"/>
        <pc:sldMkLst>
          <pc:docMk/>
          <pc:sldMk cId="2743163731" sldId="262"/>
        </pc:sldMkLst>
        <pc:spChg chg="mod">
          <ac:chgData name="Telma Cristina Castelhano" userId="62084f3622c28081" providerId="LiveId" clId="{1A3020CF-6BA9-3842-A3A1-F342CB943D34}" dt="2023-05-03T19:28:19.227" v="86" actId="20577"/>
          <ac:spMkLst>
            <pc:docMk/>
            <pc:sldMk cId="2743163731" sldId="262"/>
            <ac:spMk id="2" creationId="{E2AD3A92-5D95-4B4E-658F-6F16F5055AF4}"/>
          </ac:spMkLst>
        </pc:spChg>
        <pc:spChg chg="mod">
          <ac:chgData name="Telma Cristina Castelhano" userId="62084f3622c28081" providerId="LiveId" clId="{1A3020CF-6BA9-3842-A3A1-F342CB943D34}" dt="2023-05-03T19:30:50.642" v="155" actId="113"/>
          <ac:spMkLst>
            <pc:docMk/>
            <pc:sldMk cId="2743163731" sldId="262"/>
            <ac:spMk id="3" creationId="{56DFAC9C-0CB3-3C2E-F1B1-933865AC0B85}"/>
          </ac:spMkLst>
        </pc:spChg>
      </pc:sldChg>
      <pc:sldChg chg="modSp new mod">
        <pc:chgData name="Telma Cristina Castelhano" userId="62084f3622c28081" providerId="LiveId" clId="{1A3020CF-6BA9-3842-A3A1-F342CB943D34}" dt="2023-05-03T19:31:32.219" v="188" actId="20577"/>
        <pc:sldMkLst>
          <pc:docMk/>
          <pc:sldMk cId="2867236012" sldId="263"/>
        </pc:sldMkLst>
        <pc:spChg chg="mod">
          <ac:chgData name="Telma Cristina Castelhano" userId="62084f3622c28081" providerId="LiveId" clId="{1A3020CF-6BA9-3842-A3A1-F342CB943D34}" dt="2023-05-03T19:30:12.172" v="146" actId="14100"/>
          <ac:spMkLst>
            <pc:docMk/>
            <pc:sldMk cId="2867236012" sldId="263"/>
            <ac:spMk id="2" creationId="{5D624613-72E5-4388-767B-FCB2417A2E0F}"/>
          </ac:spMkLst>
        </pc:spChg>
        <pc:spChg chg="mod">
          <ac:chgData name="Telma Cristina Castelhano" userId="62084f3622c28081" providerId="LiveId" clId="{1A3020CF-6BA9-3842-A3A1-F342CB943D34}" dt="2023-05-03T19:31:32.219" v="188" actId="20577"/>
          <ac:spMkLst>
            <pc:docMk/>
            <pc:sldMk cId="2867236012" sldId="263"/>
            <ac:spMk id="3" creationId="{BF4F7DAE-F2AE-D0D2-EA9F-9DB1D2F89A4C}"/>
          </ac:spMkLst>
        </pc:spChg>
      </pc:sldChg>
      <pc:sldChg chg="modSp new mod">
        <pc:chgData name="Telma Cristina Castelhano" userId="62084f3622c28081" providerId="LiveId" clId="{1A3020CF-6BA9-3842-A3A1-F342CB943D34}" dt="2023-05-03T19:32:46.347" v="218" actId="255"/>
        <pc:sldMkLst>
          <pc:docMk/>
          <pc:sldMk cId="1404524656" sldId="264"/>
        </pc:sldMkLst>
        <pc:spChg chg="mod">
          <ac:chgData name="Telma Cristina Castelhano" userId="62084f3622c28081" providerId="LiveId" clId="{1A3020CF-6BA9-3842-A3A1-F342CB943D34}" dt="2023-05-03T19:32:01.655" v="204" actId="14100"/>
          <ac:spMkLst>
            <pc:docMk/>
            <pc:sldMk cId="1404524656" sldId="264"/>
            <ac:spMk id="2" creationId="{09982BB9-E5CC-A26A-D434-4F327506DE74}"/>
          </ac:spMkLst>
        </pc:spChg>
        <pc:spChg chg="mod">
          <ac:chgData name="Telma Cristina Castelhano" userId="62084f3622c28081" providerId="LiveId" clId="{1A3020CF-6BA9-3842-A3A1-F342CB943D34}" dt="2023-05-03T19:32:46.347" v="218" actId="255"/>
          <ac:spMkLst>
            <pc:docMk/>
            <pc:sldMk cId="1404524656" sldId="264"/>
            <ac:spMk id="3" creationId="{08C7D4A3-287C-5D4E-CA5E-9E34F1754A77}"/>
          </ac:spMkLst>
        </pc:spChg>
      </pc:sldChg>
      <pc:sldChg chg="modSp new mod">
        <pc:chgData name="Telma Cristina Castelhano" userId="62084f3622c28081" providerId="LiveId" clId="{1A3020CF-6BA9-3842-A3A1-F342CB943D34}" dt="2023-05-03T19:34:01.434" v="246" actId="255"/>
        <pc:sldMkLst>
          <pc:docMk/>
          <pc:sldMk cId="296369354" sldId="265"/>
        </pc:sldMkLst>
        <pc:spChg chg="mod">
          <ac:chgData name="Telma Cristina Castelhano" userId="62084f3622c28081" providerId="LiveId" clId="{1A3020CF-6BA9-3842-A3A1-F342CB943D34}" dt="2023-05-03T19:33:21.822" v="232" actId="14100"/>
          <ac:spMkLst>
            <pc:docMk/>
            <pc:sldMk cId="296369354" sldId="265"/>
            <ac:spMk id="2" creationId="{E45C49FE-F9C3-DBC1-E5AB-428C5190ABF3}"/>
          </ac:spMkLst>
        </pc:spChg>
        <pc:spChg chg="mod">
          <ac:chgData name="Telma Cristina Castelhano" userId="62084f3622c28081" providerId="LiveId" clId="{1A3020CF-6BA9-3842-A3A1-F342CB943D34}" dt="2023-05-03T19:34:01.434" v="246" actId="255"/>
          <ac:spMkLst>
            <pc:docMk/>
            <pc:sldMk cId="296369354" sldId="265"/>
            <ac:spMk id="3" creationId="{BC9C883F-96FA-9AF8-B220-2F7238979E3C}"/>
          </ac:spMkLst>
        </pc:spChg>
      </pc:sldChg>
      <pc:sldChg chg="addSp modSp new mod">
        <pc:chgData name="Telma Cristina Castelhano" userId="62084f3622c28081" providerId="LiveId" clId="{1A3020CF-6BA9-3842-A3A1-F342CB943D34}" dt="2023-05-03T19:39:09.175" v="468" actId="20577"/>
        <pc:sldMkLst>
          <pc:docMk/>
          <pc:sldMk cId="1644644084" sldId="266"/>
        </pc:sldMkLst>
        <pc:spChg chg="mod">
          <ac:chgData name="Telma Cristina Castelhano" userId="62084f3622c28081" providerId="LiveId" clId="{1A3020CF-6BA9-3842-A3A1-F342CB943D34}" dt="2023-05-03T19:34:31.988" v="261" actId="14100"/>
          <ac:spMkLst>
            <pc:docMk/>
            <pc:sldMk cId="1644644084" sldId="266"/>
            <ac:spMk id="2" creationId="{68CA4505-185C-3002-E9A3-D7990AAE3262}"/>
          </ac:spMkLst>
        </pc:spChg>
        <pc:spChg chg="mod">
          <ac:chgData name="Telma Cristina Castelhano" userId="62084f3622c28081" providerId="LiveId" clId="{1A3020CF-6BA9-3842-A3A1-F342CB943D34}" dt="2023-05-03T19:38:30.160" v="456" actId="20577"/>
          <ac:spMkLst>
            <pc:docMk/>
            <pc:sldMk cId="1644644084" sldId="266"/>
            <ac:spMk id="3" creationId="{61EE4D16-F8FF-0F6B-6738-48EE359CC023}"/>
          </ac:spMkLst>
        </pc:spChg>
        <pc:graphicFrameChg chg="add mod modGraphic">
          <ac:chgData name="Telma Cristina Castelhano" userId="62084f3622c28081" providerId="LiveId" clId="{1A3020CF-6BA9-3842-A3A1-F342CB943D34}" dt="2023-05-03T19:39:09.175" v="468" actId="20577"/>
          <ac:graphicFrameMkLst>
            <pc:docMk/>
            <pc:sldMk cId="1644644084" sldId="266"/>
            <ac:graphicFrameMk id="4" creationId="{1E079245-E09B-B0BC-39B7-72477262D8D6}"/>
          </ac:graphicFrameMkLst>
        </pc:graphicFrameChg>
      </pc:sldChg>
      <pc:sldChg chg="modSp new mod">
        <pc:chgData name="Telma Cristina Castelhano" userId="62084f3622c28081" providerId="LiveId" clId="{1A3020CF-6BA9-3842-A3A1-F342CB943D34}" dt="2023-05-03T19:41:03.048" v="503" actId="255"/>
        <pc:sldMkLst>
          <pc:docMk/>
          <pc:sldMk cId="3586936090" sldId="267"/>
        </pc:sldMkLst>
        <pc:spChg chg="mod">
          <ac:chgData name="Telma Cristina Castelhano" userId="62084f3622c28081" providerId="LiveId" clId="{1A3020CF-6BA9-3842-A3A1-F342CB943D34}" dt="2023-05-03T19:39:46.636" v="485" actId="14100"/>
          <ac:spMkLst>
            <pc:docMk/>
            <pc:sldMk cId="3586936090" sldId="267"/>
            <ac:spMk id="2" creationId="{2B5F0B39-4464-5DF1-7323-9FC06EA8FDD5}"/>
          </ac:spMkLst>
        </pc:spChg>
        <pc:spChg chg="mod">
          <ac:chgData name="Telma Cristina Castelhano" userId="62084f3622c28081" providerId="LiveId" clId="{1A3020CF-6BA9-3842-A3A1-F342CB943D34}" dt="2023-05-03T19:41:03.048" v="503" actId="255"/>
          <ac:spMkLst>
            <pc:docMk/>
            <pc:sldMk cId="3586936090" sldId="267"/>
            <ac:spMk id="3" creationId="{208503E5-3A08-C1EE-BD68-DB53D8D85D61}"/>
          </ac:spMkLst>
        </pc:spChg>
      </pc:sldChg>
      <pc:sldChg chg="modSp new mod">
        <pc:chgData name="Telma Cristina Castelhano" userId="62084f3622c28081" providerId="LiveId" clId="{1A3020CF-6BA9-3842-A3A1-F342CB943D34}" dt="2023-05-03T19:44:24.411" v="570" actId="20577"/>
        <pc:sldMkLst>
          <pc:docMk/>
          <pc:sldMk cId="1862904753" sldId="268"/>
        </pc:sldMkLst>
        <pc:spChg chg="mod">
          <ac:chgData name="Telma Cristina Castelhano" userId="62084f3622c28081" providerId="LiveId" clId="{1A3020CF-6BA9-3842-A3A1-F342CB943D34}" dt="2023-05-03T19:42:47.890" v="530" actId="255"/>
          <ac:spMkLst>
            <pc:docMk/>
            <pc:sldMk cId="1862904753" sldId="268"/>
            <ac:spMk id="2" creationId="{3AA36294-66F4-D941-AEAB-9AE7BE301ABF}"/>
          </ac:spMkLst>
        </pc:spChg>
        <pc:spChg chg="mod">
          <ac:chgData name="Telma Cristina Castelhano" userId="62084f3622c28081" providerId="LiveId" clId="{1A3020CF-6BA9-3842-A3A1-F342CB943D34}" dt="2023-05-03T19:44:24.411" v="570" actId="20577"/>
          <ac:spMkLst>
            <pc:docMk/>
            <pc:sldMk cId="1862904753" sldId="268"/>
            <ac:spMk id="3" creationId="{07C1F9F7-F8B5-CB8D-0F31-9EEB7A68EAE6}"/>
          </ac:spMkLst>
        </pc:spChg>
      </pc:sldChg>
      <pc:sldChg chg="modSp new mod">
        <pc:chgData name="Telma Cristina Castelhano" userId="62084f3622c28081" providerId="LiveId" clId="{1A3020CF-6BA9-3842-A3A1-F342CB943D34}" dt="2023-05-03T19:49:00.913" v="664" actId="20577"/>
        <pc:sldMkLst>
          <pc:docMk/>
          <pc:sldMk cId="4213427961" sldId="269"/>
        </pc:sldMkLst>
        <pc:spChg chg="mod">
          <ac:chgData name="Telma Cristina Castelhano" userId="62084f3622c28081" providerId="LiveId" clId="{1A3020CF-6BA9-3842-A3A1-F342CB943D34}" dt="2023-05-03T19:45:15.921" v="619" actId="1076"/>
          <ac:spMkLst>
            <pc:docMk/>
            <pc:sldMk cId="4213427961" sldId="269"/>
            <ac:spMk id="2" creationId="{39514CA0-7A84-50ED-5F33-354CDFBE5A7D}"/>
          </ac:spMkLst>
        </pc:spChg>
        <pc:spChg chg="mod">
          <ac:chgData name="Telma Cristina Castelhano" userId="62084f3622c28081" providerId="LiveId" clId="{1A3020CF-6BA9-3842-A3A1-F342CB943D34}" dt="2023-05-03T19:49:00.913" v="664" actId="20577"/>
          <ac:spMkLst>
            <pc:docMk/>
            <pc:sldMk cId="4213427961" sldId="269"/>
            <ac:spMk id="3" creationId="{C5643CB6-7DCA-E9FA-37F1-3C34D1FFB078}"/>
          </ac:spMkLst>
        </pc:spChg>
      </pc:sldChg>
      <pc:sldChg chg="modSp new mod">
        <pc:chgData name="Telma Cristina Castelhano" userId="62084f3622c28081" providerId="LiveId" clId="{1A3020CF-6BA9-3842-A3A1-F342CB943D34}" dt="2023-05-03T19:52:45.022" v="878" actId="255"/>
        <pc:sldMkLst>
          <pc:docMk/>
          <pc:sldMk cId="323356314" sldId="270"/>
        </pc:sldMkLst>
        <pc:spChg chg="mod">
          <ac:chgData name="Telma Cristina Castelhano" userId="62084f3622c28081" providerId="LiveId" clId="{1A3020CF-6BA9-3842-A3A1-F342CB943D34}" dt="2023-05-03T19:50:35.403" v="767" actId="14100"/>
          <ac:spMkLst>
            <pc:docMk/>
            <pc:sldMk cId="323356314" sldId="270"/>
            <ac:spMk id="2" creationId="{7D6372EB-22C5-A7B6-8AF5-76894B19C11E}"/>
          </ac:spMkLst>
        </pc:spChg>
        <pc:spChg chg="mod">
          <ac:chgData name="Telma Cristina Castelhano" userId="62084f3622c28081" providerId="LiveId" clId="{1A3020CF-6BA9-3842-A3A1-F342CB943D34}" dt="2023-05-03T19:52:45.022" v="878" actId="255"/>
          <ac:spMkLst>
            <pc:docMk/>
            <pc:sldMk cId="323356314" sldId="270"/>
            <ac:spMk id="3" creationId="{748BA75E-A626-16F7-1FBF-60EE7FEF7A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826-C534-0805-D286-221520A36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 e formação DAS PALAVRAS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6FE44C-0B94-BA85-CE53-F08A19AB4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TELMA CASTELHANO</a:t>
            </a:r>
          </a:p>
        </p:txBody>
      </p:sp>
    </p:spTree>
    <p:extLst>
      <p:ext uri="{BB962C8B-B14F-4D97-AF65-F5344CB8AC3E}">
        <p14:creationId xmlns:p14="http://schemas.microsoft.com/office/powerpoint/2010/main" val="390001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86364-CD75-3E51-5BCB-5B9754AA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DAS PALAVRAS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970460-DFC1-A3CC-6B54-1B18F9127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161455"/>
          </a:xfrm>
        </p:spPr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pt-BR" sz="2500" cap="none" dirty="0"/>
              <a:t>in	+	</a:t>
            </a:r>
            <a:r>
              <a:rPr lang="pt-BR" sz="2500" cap="none" dirty="0" err="1"/>
              <a:t>explic</a:t>
            </a:r>
            <a:r>
              <a:rPr lang="pt-BR" sz="2500" cap="none" dirty="0"/>
              <a:t>	+	</a:t>
            </a:r>
            <a:r>
              <a:rPr lang="pt-BR" sz="2500" cap="none" dirty="0" err="1"/>
              <a:t>ável</a:t>
            </a:r>
            <a:r>
              <a:rPr lang="pt-BR" sz="2500" cap="none" dirty="0"/>
              <a:t>  (morfemas) </a:t>
            </a:r>
          </a:p>
          <a:p>
            <a:pPr marL="109728" indent="0">
              <a:buNone/>
            </a:pPr>
            <a:r>
              <a:rPr lang="pt-BR" sz="2500" cap="none" dirty="0"/>
              <a:t>(negação)     (significado     (indicador de possibilidade) 	    		</a:t>
            </a:r>
          </a:p>
          <a:p>
            <a:pPr marL="109728" indent="0">
              <a:buNone/>
            </a:pPr>
            <a:r>
              <a:rPr lang="pt-BR" sz="2500" cap="none" dirty="0"/>
              <a:t>                   base da palavra)</a:t>
            </a:r>
          </a:p>
          <a:p>
            <a:pPr marL="109728" indent="0">
              <a:buNone/>
            </a:pPr>
            <a:endParaRPr lang="pt-BR" sz="2500" cap="none" dirty="0"/>
          </a:p>
          <a:p>
            <a:pPr marL="109728" indent="0" algn="just">
              <a:buNone/>
            </a:pPr>
            <a:r>
              <a:rPr lang="pt-BR" sz="2500" cap="none" dirty="0"/>
              <a:t>Morfemas- menores unidades significativas que, reunidas, formam as palavras e dão sentido a elas.</a:t>
            </a:r>
          </a:p>
          <a:p>
            <a:pPr marL="109728" indent="0" algn="just">
              <a:buNone/>
            </a:pPr>
            <a:endParaRPr lang="pt-BR" sz="2500" cap="none" dirty="0"/>
          </a:p>
          <a:p>
            <a:pPr marL="10972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500" cap="none" dirty="0"/>
              <a:t>divisão silábica: </a:t>
            </a:r>
            <a:r>
              <a:rPr lang="pt-BR" sz="2500" cap="none" dirty="0" err="1"/>
              <a:t>pas</a:t>
            </a:r>
            <a:r>
              <a:rPr lang="pt-BR" sz="2500" cap="none" dirty="0"/>
              <a:t>-</a:t>
            </a:r>
            <a:r>
              <a:rPr lang="pt-BR" sz="2500" cap="none" dirty="0" err="1"/>
              <a:t>sa</a:t>
            </a:r>
            <a:r>
              <a:rPr lang="pt-BR" sz="2500" cap="none" dirty="0"/>
              <a:t>-</a:t>
            </a:r>
            <a:r>
              <a:rPr lang="pt-BR" sz="2500" cap="none" dirty="0" err="1"/>
              <a:t>ri-nhos</a:t>
            </a:r>
            <a:endParaRPr lang="pt-BR" sz="2500" cap="none" dirty="0"/>
          </a:p>
          <a:p>
            <a:pPr marL="109728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500" cap="none" dirty="0"/>
              <a:t>divisão mórfica: passar-</a:t>
            </a:r>
            <a:r>
              <a:rPr lang="pt-BR" sz="2500" cap="none" dirty="0" err="1"/>
              <a:t>inh</a:t>
            </a:r>
            <a:r>
              <a:rPr lang="pt-BR" sz="2500" cap="none" dirty="0"/>
              <a:t>-</a:t>
            </a:r>
            <a:r>
              <a:rPr lang="pt-BR" sz="2500" cap="none" dirty="0" err="1"/>
              <a:t>o-s</a:t>
            </a:r>
            <a:endParaRPr lang="pt-BR" sz="2500" cap="none" dirty="0"/>
          </a:p>
          <a:p>
            <a:pPr marL="109728" indent="0" algn="just">
              <a:buNone/>
            </a:pPr>
            <a:endParaRPr lang="pt-BR" sz="2500" cap="none" dirty="0"/>
          </a:p>
          <a:p>
            <a:pPr marL="0" indent="0">
              <a:buNone/>
            </a:pP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7299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64385-ADD1-6955-3400-DABC764C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MORFEMAS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201407-B3C5-218E-1A19-D14BF27BA7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43100"/>
            <a:ext cx="10363826" cy="4645959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pt-BR" sz="2500" cap="none" dirty="0"/>
              <a:t>A-) </a:t>
            </a:r>
            <a:r>
              <a:rPr lang="pt-BR" sz="2500" b="1" cap="none" dirty="0"/>
              <a:t>RADICAL</a:t>
            </a:r>
            <a:r>
              <a:rPr lang="pt-BR" sz="2500" cap="none" dirty="0"/>
              <a:t>- contém o significado básico, principal da palavra.</a:t>
            </a:r>
          </a:p>
          <a:p>
            <a:pPr marL="109728" indent="0">
              <a:buNone/>
            </a:pPr>
            <a:r>
              <a:rPr lang="en-US" sz="2500" cap="none" dirty="0"/>
              <a:t>	</a:t>
            </a:r>
            <a:r>
              <a:rPr lang="en-US" sz="2500" cap="none" dirty="0" err="1"/>
              <a:t>explic</a:t>
            </a:r>
            <a:r>
              <a:rPr lang="en-US" sz="2500" cap="none" dirty="0"/>
              <a:t>		</a:t>
            </a:r>
            <a:r>
              <a:rPr lang="en-US" sz="2500" cap="none" dirty="0" err="1"/>
              <a:t>ar</a:t>
            </a:r>
            <a:r>
              <a:rPr lang="en-US" sz="2500" cap="none" dirty="0"/>
              <a:t>			</a:t>
            </a:r>
            <a:r>
              <a:rPr lang="en-US" sz="2500" cap="none" dirty="0" err="1"/>
              <a:t>duvid</a:t>
            </a:r>
            <a:r>
              <a:rPr lang="en-US" sz="2500" cap="none" dirty="0"/>
              <a:t>		</a:t>
            </a:r>
            <a:r>
              <a:rPr lang="en-US" sz="2500" cap="none" dirty="0" err="1"/>
              <a:t>osa</a:t>
            </a:r>
            <a:endParaRPr lang="pt-BR" sz="2500" cap="none" dirty="0"/>
          </a:p>
          <a:p>
            <a:pPr marL="109728" indent="0">
              <a:buNone/>
            </a:pPr>
            <a:r>
              <a:rPr lang="en-US" sz="2500" cap="none" dirty="0"/>
              <a:t>in 	</a:t>
            </a:r>
            <a:r>
              <a:rPr lang="pt-BR" sz="2500" cap="none" dirty="0" err="1"/>
              <a:t>explic</a:t>
            </a:r>
            <a:r>
              <a:rPr lang="pt-BR" sz="2500" cap="none" dirty="0"/>
              <a:t>		</a:t>
            </a:r>
            <a:r>
              <a:rPr lang="pt-BR" sz="2500" cap="none" dirty="0" err="1"/>
              <a:t>ável</a:t>
            </a:r>
            <a:r>
              <a:rPr lang="pt-BR" sz="2500" cap="none" dirty="0"/>
              <a:t>			</a:t>
            </a:r>
            <a:r>
              <a:rPr lang="pt-BR" sz="2500" cap="none" dirty="0" err="1"/>
              <a:t>dubit</a:t>
            </a:r>
            <a:r>
              <a:rPr lang="pt-BR" sz="2500" cap="none" dirty="0"/>
              <a:t>		</a:t>
            </a:r>
            <a:r>
              <a:rPr lang="pt-BR" sz="2500" cap="none" dirty="0" err="1"/>
              <a:t>ável</a:t>
            </a:r>
            <a:endParaRPr lang="pt-BR" sz="2500" cap="none" dirty="0"/>
          </a:p>
          <a:p>
            <a:pPr marL="109728" indent="0">
              <a:buNone/>
            </a:pPr>
            <a:r>
              <a:rPr lang="pt-BR" sz="2500" cap="none" dirty="0"/>
              <a:t>          </a:t>
            </a:r>
            <a:r>
              <a:rPr lang="pt-BR" sz="2500" b="1" cap="none" dirty="0"/>
              <a:t>radical			          radical</a:t>
            </a:r>
          </a:p>
          <a:p>
            <a:pPr marL="109728" indent="0">
              <a:buNone/>
            </a:pPr>
            <a:r>
              <a:rPr lang="pt-BR" sz="2500" cap="none" dirty="0"/>
              <a:t>Obs.-</a:t>
            </a:r>
          </a:p>
          <a:p>
            <a:pPr marL="109728" indent="0">
              <a:buNone/>
            </a:pPr>
            <a:r>
              <a:rPr lang="pt-BR" sz="2500" cap="none" dirty="0"/>
              <a:t>1-) O radical pode sofrer alterações, mas o significado é o mesmo.</a:t>
            </a:r>
          </a:p>
          <a:p>
            <a:pPr marL="109728" indent="0">
              <a:buNone/>
            </a:pPr>
            <a:r>
              <a:rPr lang="pt-BR" sz="2500" cap="none" dirty="0"/>
              <a:t>2-) flor, paz</a:t>
            </a:r>
          </a:p>
          <a:p>
            <a:pPr marL="109728" indent="0">
              <a:buNone/>
            </a:pPr>
            <a:r>
              <a:rPr lang="pt-BR" sz="2500" cap="none" dirty="0"/>
              <a:t>3-) mesmo radical= cognatas</a:t>
            </a:r>
          </a:p>
          <a:p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25370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D69A0-9673-0914-C609-E5CCAD9E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MORFEMAS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1C864-54FD-09D1-E32D-38C661F890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109728" indent="0">
              <a:buNone/>
            </a:pPr>
            <a:r>
              <a:rPr lang="pt-BR" sz="2500" cap="none" dirty="0" err="1"/>
              <a:t>B</a:t>
            </a:r>
            <a:r>
              <a:rPr lang="pt-BR" sz="2500" cap="none" dirty="0"/>
              <a:t>-) </a:t>
            </a:r>
            <a:r>
              <a:rPr lang="pt-BR" sz="2500" b="1" cap="none" dirty="0"/>
              <a:t>AFIXOS</a:t>
            </a:r>
            <a:r>
              <a:rPr lang="pt-BR" sz="2500" cap="none" dirty="0"/>
              <a:t>- morfemas que se juntam ao radical.</a:t>
            </a:r>
          </a:p>
          <a:p>
            <a:pPr marL="109728" indent="0">
              <a:buNone/>
            </a:pPr>
            <a:r>
              <a:rPr lang="pt-BR" sz="2500" cap="none" dirty="0"/>
              <a:t>	Prefixos- antes do radical</a:t>
            </a:r>
          </a:p>
          <a:p>
            <a:pPr marL="109728" indent="0">
              <a:buNone/>
            </a:pPr>
            <a:r>
              <a:rPr lang="pt-BR" sz="2500" cap="none" dirty="0"/>
              <a:t>	Sufixos- depois do radical</a:t>
            </a:r>
          </a:p>
          <a:p>
            <a:pPr marL="109728" indent="0">
              <a:buNone/>
            </a:pPr>
            <a:endParaRPr lang="pt-BR" sz="2500" cap="none" dirty="0"/>
          </a:p>
          <a:p>
            <a:pPr marL="109728" indent="0">
              <a:buNone/>
            </a:pPr>
            <a:r>
              <a:rPr lang="pt-BR" sz="2500" cap="none" dirty="0"/>
              <a:t> in      </a:t>
            </a:r>
            <a:r>
              <a:rPr lang="pt-BR" sz="2500" cap="none" dirty="0" err="1"/>
              <a:t>explic</a:t>
            </a:r>
            <a:r>
              <a:rPr lang="pt-BR" sz="2500" cap="none" dirty="0"/>
              <a:t>	  </a:t>
            </a:r>
            <a:r>
              <a:rPr lang="pt-BR" sz="2500" cap="none" dirty="0" err="1"/>
              <a:t>ável</a:t>
            </a:r>
            <a:r>
              <a:rPr lang="pt-BR" sz="2500" cap="none" dirty="0"/>
              <a:t>		</a:t>
            </a:r>
            <a:r>
              <a:rPr lang="pt-BR" sz="2500" cap="none" dirty="0" err="1"/>
              <a:t>re</a:t>
            </a:r>
            <a:r>
              <a:rPr lang="pt-BR" sz="2500" cap="none" dirty="0"/>
              <a:t>	lembrar</a:t>
            </a:r>
          </a:p>
          <a:p>
            <a:pPr marL="109728" indent="0">
              <a:buNone/>
            </a:pPr>
            <a:r>
              <a:rPr lang="pt-BR" sz="2500" cap="none" dirty="0"/>
              <a:t>prefixo	  sufixo         prefixo</a:t>
            </a:r>
          </a:p>
          <a:p>
            <a:pPr marL="0" indent="0">
              <a:buNone/>
            </a:pPr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1600306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2AF5-60A3-51C1-4435-05D23753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47870"/>
            <a:ext cx="10364451" cy="726189"/>
          </a:xfrm>
        </p:spPr>
        <p:txBody>
          <a:bodyPr/>
          <a:lstStyle/>
          <a:p>
            <a:r>
              <a:rPr lang="pt-BR" dirty="0"/>
              <a:t>TIPOS DE MORFEMAS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08A8D7-6053-77CA-EF4C-81D956A3B7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075765"/>
            <a:ext cx="10363826" cy="5634365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pt-BR" sz="2200" cap="none" dirty="0"/>
              <a:t>C-) </a:t>
            </a:r>
            <a:r>
              <a:rPr lang="pt-BR" sz="2200" b="1" cap="none" dirty="0"/>
              <a:t>DESINÊNCIAS</a:t>
            </a:r>
            <a:r>
              <a:rPr lang="pt-BR" sz="2200" cap="none" dirty="0"/>
              <a:t>- indicam as flexões (=variações) que os nomes e os verbos podem apresentar.</a:t>
            </a:r>
          </a:p>
          <a:p>
            <a:pPr marL="109728" indent="0">
              <a:buNone/>
            </a:pPr>
            <a:r>
              <a:rPr lang="pt-BR" sz="2200" cap="none" dirty="0"/>
              <a:t>- </a:t>
            </a:r>
            <a:r>
              <a:rPr lang="pt-BR" sz="2200" b="1" cap="none" dirty="0"/>
              <a:t>Desinências nominais- </a:t>
            </a:r>
            <a:r>
              <a:rPr lang="pt-BR" sz="2200" cap="none" dirty="0"/>
              <a:t>gênero e número</a:t>
            </a:r>
          </a:p>
          <a:p>
            <a:pPr marL="109728" indent="0">
              <a:buNone/>
            </a:pPr>
            <a:r>
              <a:rPr lang="pt-BR" sz="2200" cap="none" dirty="0"/>
              <a:t>	</a:t>
            </a:r>
            <a:r>
              <a:rPr lang="pt-BR" sz="2200" cap="none" dirty="0" err="1"/>
              <a:t>alun</a:t>
            </a:r>
            <a:r>
              <a:rPr lang="pt-BR" sz="2200" cap="none" dirty="0"/>
              <a:t>     a      </a:t>
            </a:r>
            <a:r>
              <a:rPr lang="pt-BR" sz="2200" cap="none" dirty="0" err="1"/>
              <a:t>s</a:t>
            </a:r>
            <a:r>
              <a:rPr lang="pt-BR" sz="2200" cap="none" dirty="0"/>
              <a:t>		desinência nominal de número (plural)</a:t>
            </a:r>
          </a:p>
          <a:p>
            <a:pPr marL="109728" indent="0">
              <a:buNone/>
            </a:pPr>
            <a:r>
              <a:rPr lang="pt-BR" sz="2200" cap="none" dirty="0"/>
              <a:t>      radical  desinência nominal de gênero (feminino)</a:t>
            </a:r>
          </a:p>
          <a:p>
            <a:pPr marL="109728" indent="0">
              <a:buNone/>
            </a:pPr>
            <a:r>
              <a:rPr lang="pt-BR" sz="2200" cap="none" dirty="0"/>
              <a:t> - </a:t>
            </a:r>
            <a:r>
              <a:rPr lang="pt-BR" sz="2200" b="1" cap="none" dirty="0"/>
              <a:t>Desinências verbais</a:t>
            </a:r>
            <a:r>
              <a:rPr lang="pt-BR" sz="2200" cap="none" dirty="0"/>
              <a:t>- indicam:</a:t>
            </a:r>
          </a:p>
          <a:p>
            <a:pPr marL="10972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200" cap="none" dirty="0"/>
              <a:t>				Pessoa (1ª, 2ª, 3ª)</a:t>
            </a:r>
          </a:p>
          <a:p>
            <a:pPr marL="10972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200" cap="none" dirty="0"/>
              <a:t>				Número (singular ou plural)</a:t>
            </a:r>
          </a:p>
          <a:p>
            <a:pPr marL="10972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200" cap="none" dirty="0"/>
              <a:t>				Tempo (presente, passado, futuro)</a:t>
            </a:r>
          </a:p>
          <a:p>
            <a:pPr marL="10972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200" cap="none" dirty="0"/>
              <a:t>				Modo (indicativo, subjuntivo, imperativo)</a:t>
            </a:r>
          </a:p>
          <a:p>
            <a:pPr marL="109728" indent="0">
              <a:buNone/>
            </a:pPr>
            <a:r>
              <a:rPr lang="pt-BR" sz="2200" cap="none" dirty="0"/>
              <a:t>	</a:t>
            </a:r>
            <a:r>
              <a:rPr lang="pt-BR" sz="2200" cap="none" dirty="0" err="1"/>
              <a:t>cant</a:t>
            </a:r>
            <a:r>
              <a:rPr lang="pt-BR" sz="2200" cap="none" dirty="0"/>
              <a:t>     á     </a:t>
            </a:r>
            <a:r>
              <a:rPr lang="pt-BR" sz="2200" cap="none" dirty="0" err="1"/>
              <a:t>va</a:t>
            </a:r>
            <a:r>
              <a:rPr lang="pt-BR" sz="2200" cap="none" dirty="0"/>
              <a:t>    </a:t>
            </a:r>
            <a:r>
              <a:rPr lang="pt-BR" sz="2200" cap="none" dirty="0" err="1"/>
              <a:t>mos</a:t>
            </a:r>
            <a:r>
              <a:rPr lang="pt-BR" sz="2200" cap="none" dirty="0"/>
              <a:t>             indica pessoa (1ª) e número (plural)</a:t>
            </a:r>
          </a:p>
          <a:p>
            <a:pPr marL="109728" indent="0">
              <a:buNone/>
            </a:pPr>
            <a:r>
              <a:rPr lang="pt-BR" sz="2200" cap="none" dirty="0"/>
              <a:t>          radical        indica tempo (pret. imp.) e modo (indicativo)</a:t>
            </a:r>
          </a:p>
          <a:p>
            <a:endParaRPr lang="pt-BR" sz="2200" cap="none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AF07D63-1FCC-0D2E-B0A2-A1BA85742987}"/>
              </a:ext>
            </a:extLst>
          </p:cNvPr>
          <p:cNvCxnSpPr/>
          <p:nvPr/>
        </p:nvCxnSpPr>
        <p:spPr>
          <a:xfrm>
            <a:off x="4410635" y="5762065"/>
            <a:ext cx="800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DF60BFD-D0D5-26D9-2798-47D7646A9B84}"/>
              </a:ext>
            </a:extLst>
          </p:cNvPr>
          <p:cNvCxnSpPr/>
          <p:nvPr/>
        </p:nvCxnSpPr>
        <p:spPr>
          <a:xfrm>
            <a:off x="2864224" y="2931459"/>
            <a:ext cx="0" cy="255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7FFC22F-64C7-E0B8-5ABA-31D539BF9870}"/>
              </a:ext>
            </a:extLst>
          </p:cNvPr>
          <p:cNvCxnSpPr/>
          <p:nvPr/>
        </p:nvCxnSpPr>
        <p:spPr>
          <a:xfrm>
            <a:off x="3570194" y="2817159"/>
            <a:ext cx="981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5E79034-5C68-3E70-1FC8-DFC9614EA71B}"/>
              </a:ext>
            </a:extLst>
          </p:cNvPr>
          <p:cNvCxnSpPr/>
          <p:nvPr/>
        </p:nvCxnSpPr>
        <p:spPr>
          <a:xfrm>
            <a:off x="2124635" y="2931459"/>
            <a:ext cx="0" cy="255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8A692C3-8C60-41BC-F0B4-E72D62E78B9B}"/>
              </a:ext>
            </a:extLst>
          </p:cNvPr>
          <p:cNvCxnSpPr/>
          <p:nvPr/>
        </p:nvCxnSpPr>
        <p:spPr>
          <a:xfrm>
            <a:off x="2144806" y="5876365"/>
            <a:ext cx="0" cy="26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F77B442-7E90-BF82-3770-D9D00EFBA522}"/>
              </a:ext>
            </a:extLst>
          </p:cNvPr>
          <p:cNvCxnSpPr/>
          <p:nvPr/>
        </p:nvCxnSpPr>
        <p:spPr>
          <a:xfrm>
            <a:off x="3476065" y="5876365"/>
            <a:ext cx="0" cy="26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12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F96D-5C58-59FF-CC8F-1D7C459A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MORFEMAS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E64688-508C-92A5-3902-72E56CB75C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pt-BR" cap="none" dirty="0" err="1"/>
              <a:t>D</a:t>
            </a:r>
            <a:r>
              <a:rPr lang="pt-BR" cap="none" dirty="0"/>
              <a:t>-) </a:t>
            </a:r>
            <a:r>
              <a:rPr lang="pt-BR" b="1" cap="none" dirty="0"/>
              <a:t>VOGAIS TEMÁTICAS VERBAIS</a:t>
            </a:r>
            <a:r>
              <a:rPr lang="pt-BR" cap="none" dirty="0"/>
              <a:t>: se colocam entre o radical e as desinências</a:t>
            </a:r>
          </a:p>
          <a:p>
            <a:pPr marL="109728" indent="0">
              <a:buNone/>
            </a:pPr>
            <a:r>
              <a:rPr lang="pt-BR" cap="none" dirty="0"/>
              <a:t>			</a:t>
            </a:r>
            <a:r>
              <a:rPr lang="pt-BR" cap="none" dirty="0" err="1"/>
              <a:t>Cant</a:t>
            </a:r>
            <a:r>
              <a:rPr lang="pt-BR" cap="none" dirty="0"/>
              <a:t>    á    </a:t>
            </a:r>
            <a:r>
              <a:rPr lang="pt-BR" cap="none" dirty="0" err="1"/>
              <a:t>va</a:t>
            </a:r>
            <a:r>
              <a:rPr lang="pt-BR" cap="none" dirty="0"/>
              <a:t>     </a:t>
            </a:r>
            <a:r>
              <a:rPr lang="pt-BR" cap="none" dirty="0" err="1"/>
              <a:t>mos</a:t>
            </a:r>
            <a:endParaRPr lang="pt-BR" cap="none" dirty="0"/>
          </a:p>
          <a:p>
            <a:pPr marL="109728" indent="0">
              <a:buNone/>
            </a:pPr>
            <a:r>
              <a:rPr lang="pt-BR" cap="none" dirty="0"/>
              <a:t>     		          Radical  V.T.    Desinências</a:t>
            </a:r>
          </a:p>
          <a:p>
            <a:pPr marL="109728" indent="0">
              <a:buNone/>
            </a:pPr>
            <a:r>
              <a:rPr lang="pt-BR" cap="none" dirty="0"/>
              <a:t> </a:t>
            </a:r>
          </a:p>
          <a:p>
            <a:pPr marL="109728" indent="0">
              <a:buNone/>
            </a:pPr>
            <a:r>
              <a:rPr lang="pt-BR" cap="none" dirty="0" err="1"/>
              <a:t>Obs</a:t>
            </a:r>
            <a:r>
              <a:rPr lang="pt-BR" cap="none" dirty="0"/>
              <a:t>- nem toda forma verbal tem V.T. </a:t>
            </a:r>
          </a:p>
          <a:p>
            <a:pPr marL="109728" indent="0">
              <a:buNone/>
            </a:pPr>
            <a:r>
              <a:rPr lang="pt-BR" cap="none" dirty="0"/>
              <a:t>         Ex. : </a:t>
            </a:r>
            <a:r>
              <a:rPr lang="pt-BR" cap="none" dirty="0" err="1"/>
              <a:t>Cant</a:t>
            </a:r>
            <a:r>
              <a:rPr lang="pt-BR" cap="none" dirty="0"/>
              <a:t>     o (radical + desinência)</a:t>
            </a:r>
          </a:p>
          <a:p>
            <a:pPr marL="0" indent="0">
              <a:buNone/>
            </a:pPr>
            <a:endParaRPr lang="pt-BR" cap="none" dirty="0"/>
          </a:p>
        </p:txBody>
      </p:sp>
    </p:spTree>
    <p:extLst>
      <p:ext uri="{BB962C8B-B14F-4D97-AF65-F5344CB8AC3E}">
        <p14:creationId xmlns:p14="http://schemas.microsoft.com/office/powerpoint/2010/main" val="165262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D3A92-5D95-4B4E-658F-6F16F505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DAS PALAVRAS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DFAC9C-0CB3-3C2E-F1B1-933865AC0B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28191"/>
            <a:ext cx="10363826" cy="4661451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2500" b="1" cap="none" dirty="0"/>
              <a:t>Primitivas</a:t>
            </a:r>
            <a:r>
              <a:rPr lang="pt-BR" sz="2500" cap="none" dirty="0"/>
              <a:t>: não se formam a partir de outra palavra da língua.</a:t>
            </a:r>
          </a:p>
          <a:p>
            <a:pPr marL="68580" indent="0">
              <a:buNone/>
            </a:pPr>
            <a:r>
              <a:rPr lang="pt-BR" sz="2500" cap="none" dirty="0"/>
              <a:t>Exemplo: sombra, árvore, região</a:t>
            </a:r>
          </a:p>
          <a:p>
            <a:pPr marL="68580" indent="0">
              <a:buNone/>
            </a:pPr>
            <a:r>
              <a:rPr lang="pt-BR" sz="2500" cap="none" dirty="0"/>
              <a:t> </a:t>
            </a:r>
          </a:p>
          <a:p>
            <a:pPr marL="68580" indent="0">
              <a:buNone/>
            </a:pPr>
            <a:r>
              <a:rPr lang="pt-BR" sz="2500" b="1" cap="none" dirty="0"/>
              <a:t>Derivadas</a:t>
            </a:r>
            <a:r>
              <a:rPr lang="pt-BR" sz="2500" cap="none" dirty="0"/>
              <a:t>: têm origem em uma única palavra que já existe.</a:t>
            </a:r>
          </a:p>
          <a:p>
            <a:pPr marL="68580" indent="0">
              <a:buNone/>
            </a:pPr>
            <a:r>
              <a:rPr lang="pt-BR" sz="2500" cap="none" dirty="0"/>
              <a:t>Exemplo: pedreiro, ambiental</a:t>
            </a:r>
          </a:p>
          <a:p>
            <a:pPr marL="68580" indent="0">
              <a:buNone/>
            </a:pPr>
            <a:r>
              <a:rPr lang="pt-BR" sz="2500" cap="none" dirty="0"/>
              <a:t> </a:t>
            </a:r>
          </a:p>
          <a:p>
            <a:pPr marL="68580" indent="0">
              <a:buNone/>
            </a:pPr>
            <a:r>
              <a:rPr lang="pt-BR" sz="2500" b="1" cap="none" dirty="0"/>
              <a:t>Compostas</a:t>
            </a:r>
            <a:r>
              <a:rPr lang="pt-BR" sz="2500" cap="none" dirty="0"/>
              <a:t>: formam-se pela reunião de duas ou mais palavras ou radicais.</a:t>
            </a:r>
          </a:p>
          <a:p>
            <a:pPr marL="68580" indent="0">
              <a:buNone/>
            </a:pPr>
            <a:r>
              <a:rPr lang="pt-BR" sz="2500" cap="none" dirty="0"/>
              <a:t>Exemplo: guarda-chuvas, pontapé</a:t>
            </a:r>
          </a:p>
          <a:p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274316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24613-72E5-4388-767B-FCB2417A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68849"/>
          </a:xfrm>
        </p:spPr>
        <p:txBody>
          <a:bodyPr/>
          <a:lstStyle/>
          <a:p>
            <a:r>
              <a:rPr lang="pt-BR" dirty="0"/>
              <a:t>derivação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4F7DAE-F2AE-D0D2-EA9F-9DB1D2F89A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71448"/>
            <a:ext cx="10363826" cy="4929352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2500" b="1" cap="none" dirty="0"/>
              <a:t>DERIVAÇÃO PREFIXAL</a:t>
            </a:r>
            <a:r>
              <a:rPr lang="pt-BR" sz="2500" cap="none" dirty="0"/>
              <a:t>: acréscimo de um prefixo</a:t>
            </a:r>
          </a:p>
          <a:p>
            <a:pPr marL="68580" indent="0">
              <a:buNone/>
            </a:pPr>
            <a:r>
              <a:rPr lang="pt-BR" sz="2500" cap="none" dirty="0"/>
              <a:t>		in + feliz = infeliz</a:t>
            </a:r>
          </a:p>
          <a:p>
            <a:pPr marL="68580" indent="0">
              <a:buNone/>
            </a:pPr>
            <a:r>
              <a:rPr lang="pt-BR" sz="2500" cap="none" dirty="0"/>
              <a:t>Exemplo: contrapor, pré-natal, desligar</a:t>
            </a:r>
          </a:p>
          <a:p>
            <a:pPr marL="68580" indent="0">
              <a:buNone/>
            </a:pPr>
            <a:r>
              <a:rPr lang="pt-BR" sz="2500" cap="none" dirty="0"/>
              <a:t> </a:t>
            </a:r>
          </a:p>
          <a:p>
            <a:pPr marL="68580" indent="0">
              <a:buNone/>
            </a:pPr>
            <a:endParaRPr lang="pt-BR" sz="2500" cap="none" dirty="0"/>
          </a:p>
          <a:p>
            <a:pPr marL="68580" indent="0">
              <a:buNone/>
            </a:pPr>
            <a:r>
              <a:rPr lang="pt-BR" sz="2500" b="1" cap="none" dirty="0"/>
              <a:t>DERIVAÇÃO SUFIXAL</a:t>
            </a:r>
            <a:r>
              <a:rPr lang="pt-BR" sz="2500" cap="none" dirty="0"/>
              <a:t>: acréscimo de sufixo</a:t>
            </a:r>
          </a:p>
          <a:p>
            <a:pPr marL="68580" indent="0">
              <a:buNone/>
            </a:pPr>
            <a:r>
              <a:rPr lang="pt-BR" sz="2500" cap="none" dirty="0"/>
              <a:t>		</a:t>
            </a:r>
            <a:r>
              <a:rPr lang="pt-BR" sz="2500" cap="none" dirty="0" err="1"/>
              <a:t>chuv</a:t>
            </a:r>
            <a:r>
              <a:rPr lang="pt-BR" sz="2500" cap="none" dirty="0"/>
              <a:t> + </a:t>
            </a:r>
            <a:r>
              <a:rPr lang="pt-BR" sz="2500" cap="none" dirty="0" err="1"/>
              <a:t>eiro</a:t>
            </a:r>
            <a:r>
              <a:rPr lang="pt-BR" sz="2500" cap="none" dirty="0"/>
              <a:t> = chuveiro</a:t>
            </a:r>
          </a:p>
          <a:p>
            <a:pPr marL="68580" indent="0">
              <a:buNone/>
            </a:pPr>
            <a:r>
              <a:rPr lang="pt-BR" sz="2500" cap="none" dirty="0"/>
              <a:t>Exemplo: orgulhoso, ligação, pertinho, velozmente</a:t>
            </a:r>
          </a:p>
          <a:p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286723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82BB9-E5CC-A26A-D434-4F327506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82900"/>
          </a:xfrm>
        </p:spPr>
        <p:txBody>
          <a:bodyPr/>
          <a:lstStyle/>
          <a:p>
            <a:r>
              <a:rPr lang="pt-BR" dirty="0"/>
              <a:t>derivação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C7D4A3-287C-5D4E-CA5E-9E34F1754A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20688"/>
            <a:ext cx="10363826" cy="4270512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2500" b="1" cap="none" dirty="0"/>
              <a:t>DERIVAÇÃO PREFIXAL E SUFIXAL</a:t>
            </a:r>
            <a:r>
              <a:rPr lang="pt-BR" sz="2500" cap="none" dirty="0"/>
              <a:t>: </a:t>
            </a:r>
          </a:p>
          <a:p>
            <a:pPr marL="68580" indent="0">
              <a:buNone/>
            </a:pPr>
            <a:endParaRPr lang="pt-BR" sz="2500" cap="none" dirty="0"/>
          </a:p>
          <a:p>
            <a:pPr marL="68580" indent="0">
              <a:buNone/>
            </a:pPr>
            <a:r>
              <a:rPr lang="pt-BR" sz="2500" cap="none" dirty="0"/>
              <a:t>in + feliz = infeliz   (derivação prefixal)</a:t>
            </a:r>
          </a:p>
          <a:p>
            <a:pPr marL="68580" indent="0">
              <a:buNone/>
            </a:pPr>
            <a:r>
              <a:rPr lang="pt-BR" sz="2500" cap="none" dirty="0"/>
              <a:t>feliz + mente = felizmente (derivação sufixal)</a:t>
            </a:r>
          </a:p>
          <a:p>
            <a:pPr marL="68580" indent="0">
              <a:buNone/>
            </a:pPr>
            <a:r>
              <a:rPr lang="pt-BR" sz="2500" cap="none" dirty="0"/>
              <a:t> </a:t>
            </a:r>
          </a:p>
          <a:p>
            <a:pPr marL="68580" indent="0">
              <a:buNone/>
            </a:pPr>
            <a:endParaRPr lang="pt-BR" sz="2500" cap="none" dirty="0"/>
          </a:p>
          <a:p>
            <a:pPr marL="68580" indent="0">
              <a:buNone/>
            </a:pPr>
            <a:r>
              <a:rPr lang="pt-BR" sz="2500" cap="none" dirty="0"/>
              <a:t>infelizmente = derivação prefixal e sufixal</a:t>
            </a:r>
          </a:p>
          <a:p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140452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C49FE-F9C3-DBC1-E5AB-428C5190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42535"/>
          </a:xfrm>
        </p:spPr>
        <p:txBody>
          <a:bodyPr/>
          <a:lstStyle/>
          <a:p>
            <a:r>
              <a:rPr lang="pt-BR" dirty="0"/>
              <a:t>derivação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9C883F-96FA-9AF8-B220-2F7238979E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00200"/>
            <a:ext cx="10363826" cy="419099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pt-BR" sz="2700" b="1" cap="none" dirty="0"/>
              <a:t>DERIVAÇÃO PARASSINTÉTICA</a:t>
            </a:r>
            <a:r>
              <a:rPr lang="pt-BR" sz="2700" cap="none" dirty="0"/>
              <a:t>:</a:t>
            </a:r>
          </a:p>
          <a:p>
            <a:pPr marL="68580" indent="0">
              <a:buNone/>
            </a:pPr>
            <a:r>
              <a:rPr lang="pt-BR" sz="2700" cap="none" dirty="0" err="1"/>
              <a:t>tard</a:t>
            </a:r>
            <a:r>
              <a:rPr lang="pt-BR" sz="2700" cap="none" dirty="0"/>
              <a:t>(e) + </a:t>
            </a:r>
            <a:r>
              <a:rPr lang="pt-BR" sz="2700" cap="none" dirty="0" err="1"/>
              <a:t>ecer</a:t>
            </a:r>
            <a:r>
              <a:rPr lang="pt-BR" sz="2700" cap="none" dirty="0"/>
              <a:t> = “</a:t>
            </a:r>
            <a:r>
              <a:rPr lang="pt-BR" sz="2700" cap="none" dirty="0" err="1"/>
              <a:t>tardecer</a:t>
            </a:r>
            <a:r>
              <a:rPr lang="pt-BR" sz="2700" cap="none" dirty="0"/>
              <a:t>” (não existe)</a:t>
            </a:r>
          </a:p>
          <a:p>
            <a:pPr marL="68580" indent="0">
              <a:buNone/>
            </a:pPr>
            <a:r>
              <a:rPr lang="pt-BR" sz="2700" cap="none" dirty="0" err="1"/>
              <a:t>en</a:t>
            </a:r>
            <a:r>
              <a:rPr lang="pt-BR" sz="2700" cap="none" dirty="0"/>
              <a:t> + tarde = “</a:t>
            </a:r>
            <a:r>
              <a:rPr lang="pt-BR" sz="2700" cap="none" dirty="0" err="1"/>
              <a:t>entarde</a:t>
            </a:r>
            <a:r>
              <a:rPr lang="pt-BR" sz="2700" cap="none" dirty="0"/>
              <a:t>” (não existe)</a:t>
            </a:r>
          </a:p>
          <a:p>
            <a:pPr marL="68580" indent="0">
              <a:buNone/>
            </a:pPr>
            <a:r>
              <a:rPr lang="pt-BR" sz="2700" cap="none" dirty="0"/>
              <a:t> </a:t>
            </a:r>
          </a:p>
          <a:p>
            <a:pPr marL="68580" indent="0">
              <a:buNone/>
            </a:pPr>
            <a:r>
              <a:rPr lang="pt-BR" sz="2700" cap="none" dirty="0" err="1"/>
              <a:t>en</a:t>
            </a:r>
            <a:r>
              <a:rPr lang="pt-BR" sz="2700" cap="none" dirty="0"/>
              <a:t> + </a:t>
            </a:r>
            <a:r>
              <a:rPr lang="pt-BR" sz="2700" cap="none" dirty="0" err="1"/>
              <a:t>tard</a:t>
            </a:r>
            <a:r>
              <a:rPr lang="pt-BR" sz="2700" cap="none" dirty="0"/>
              <a:t>(e) + </a:t>
            </a:r>
            <a:r>
              <a:rPr lang="pt-BR" sz="2700" cap="none" dirty="0" err="1"/>
              <a:t>ecer</a:t>
            </a:r>
            <a:r>
              <a:rPr lang="pt-BR" sz="2700" cap="none" dirty="0"/>
              <a:t> = entardecer</a:t>
            </a:r>
          </a:p>
          <a:p>
            <a:endParaRPr lang="pt-BR" sz="2700" cap="none" dirty="0"/>
          </a:p>
        </p:txBody>
      </p:sp>
    </p:spTree>
    <p:extLst>
      <p:ext uri="{BB962C8B-B14F-4D97-AF65-F5344CB8AC3E}">
        <p14:creationId xmlns:p14="http://schemas.microsoft.com/office/powerpoint/2010/main" val="29636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A4505-185C-3002-E9A3-D7990AAE3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pt-BR" dirty="0"/>
              <a:t>derivação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EE4D16-F8FF-0F6B-6738-48EE359CC0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70991"/>
            <a:ext cx="10363826" cy="5009321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pt-BR" sz="2600" b="1" cap="none" dirty="0"/>
              <a:t>DERIVAÇÃO REGRESSIVA</a:t>
            </a:r>
            <a:r>
              <a:rPr lang="pt-BR" sz="2600" cap="none" dirty="0"/>
              <a:t>:</a:t>
            </a:r>
          </a:p>
          <a:p>
            <a:pPr marL="68580" indent="0">
              <a:buNone/>
            </a:pPr>
            <a:r>
              <a:rPr lang="pt-BR" sz="2600" cap="none" dirty="0"/>
              <a:t>		</a:t>
            </a:r>
          </a:p>
          <a:p>
            <a:pPr marL="68580" indent="0">
              <a:buNone/>
            </a:pPr>
            <a:r>
              <a:rPr lang="pt-BR" sz="2600" cap="none" dirty="0"/>
              <a:t>    		</a:t>
            </a:r>
          </a:p>
          <a:p>
            <a:pPr marL="68580" indent="0">
              <a:buNone/>
            </a:pPr>
            <a:r>
              <a:rPr lang="pt-BR" sz="2600" cap="none" dirty="0"/>
              <a:t> 			</a:t>
            </a:r>
          </a:p>
          <a:p>
            <a:endParaRPr lang="pt-BR" sz="2600" cap="none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E079245-E09B-B0BC-39B7-72477262D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14450"/>
              </p:ext>
            </p:extLst>
          </p:nvPr>
        </p:nvGraphicFramePr>
        <p:xfrm>
          <a:off x="1405835" y="2684226"/>
          <a:ext cx="9606721" cy="3239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6432">
                  <a:extLst>
                    <a:ext uri="{9D8B030D-6E8A-4147-A177-3AD203B41FA5}">
                      <a16:colId xmlns:a16="http://schemas.microsoft.com/office/drawing/2014/main" val="1692091999"/>
                    </a:ext>
                  </a:extLst>
                </a:gridCol>
                <a:gridCol w="4760289">
                  <a:extLst>
                    <a:ext uri="{9D8B030D-6E8A-4147-A177-3AD203B41FA5}">
                      <a16:colId xmlns:a16="http://schemas.microsoft.com/office/drawing/2014/main" val="762526825"/>
                    </a:ext>
                  </a:extLst>
                </a:gridCol>
              </a:tblGrid>
              <a:tr h="1461426">
                <a:tc>
                  <a:txBody>
                    <a:bodyPr/>
                    <a:lstStyle/>
                    <a:p>
                      <a:r>
                        <a:rPr lang="pt-BR" sz="2500" cap="none" dirty="0"/>
                        <a:t>VERBO PRIMITIVO</a:t>
                      </a:r>
                      <a:endParaRPr lang="pt-B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indent="0">
                        <a:buNone/>
                      </a:pPr>
                      <a:r>
                        <a:rPr lang="pt-BR" sz="2500" cap="none" dirty="0"/>
                        <a:t>SUBSTANTIVO (indicador de ação) </a:t>
                      </a:r>
                    </a:p>
                    <a:p>
                      <a:pPr marL="68580" indent="0">
                        <a:buNone/>
                      </a:pPr>
                      <a:r>
                        <a:rPr lang="pt-BR" sz="2500" cap="none" dirty="0"/>
                        <a:t>DERIVAÇÃO REGRESSIVA                      		</a:t>
                      </a:r>
                      <a:endParaRPr lang="pt-B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547004"/>
                  </a:ext>
                </a:extLst>
              </a:tr>
              <a:tr h="592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500" cap="none" dirty="0"/>
                        <a:t>beijar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indent="0">
                        <a:buNone/>
                      </a:pPr>
                      <a:r>
                        <a:rPr lang="pt-BR" sz="2500" dirty="0"/>
                        <a:t>beijo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088621"/>
                  </a:ext>
                </a:extLst>
              </a:tr>
              <a:tr h="592690">
                <a:tc>
                  <a:txBody>
                    <a:bodyPr/>
                    <a:lstStyle/>
                    <a:p>
                      <a:r>
                        <a:rPr lang="pt-BR" sz="2500" dirty="0"/>
                        <a:t>resgatar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indent="0">
                        <a:buNone/>
                      </a:pPr>
                      <a:r>
                        <a:rPr lang="pt-BR" sz="2500" dirty="0"/>
                        <a:t>resgate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180939"/>
                  </a:ext>
                </a:extLst>
              </a:tr>
              <a:tr h="592690">
                <a:tc>
                  <a:txBody>
                    <a:bodyPr/>
                    <a:lstStyle/>
                    <a:p>
                      <a:r>
                        <a:rPr lang="pt-BR" sz="2500" dirty="0"/>
                        <a:t>comprar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8580" indent="0">
                        <a:buNone/>
                      </a:pPr>
                      <a:r>
                        <a:rPr lang="pt-BR" sz="2500" dirty="0"/>
                        <a:t>compra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60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64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F0B39-4464-5DF1-7323-9FC06EA8F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13326"/>
          </a:xfrm>
        </p:spPr>
        <p:txBody>
          <a:bodyPr/>
          <a:lstStyle/>
          <a:p>
            <a:r>
              <a:rPr lang="pt-BR" dirty="0"/>
              <a:t>DERIVAÇÃO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8503E5-3A08-C1EE-BD68-DB53D8D85D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31844"/>
            <a:ext cx="10363826" cy="5198165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pt-BR" sz="2500" b="1" cap="none" dirty="0"/>
              <a:t>DERIVAÇÃO IMPRÓPRIA</a:t>
            </a:r>
            <a:r>
              <a:rPr lang="pt-BR" sz="2500" cap="none" dirty="0"/>
              <a:t>:</a:t>
            </a:r>
          </a:p>
          <a:p>
            <a:pPr marL="68580" indent="0">
              <a:buNone/>
            </a:pPr>
            <a:r>
              <a:rPr lang="pt-BR" sz="2500" cap="none" dirty="0"/>
              <a:t>Mudança na classe gramatical da palavra.</a:t>
            </a:r>
          </a:p>
          <a:p>
            <a:pPr marL="68580" indent="0">
              <a:buNone/>
            </a:pPr>
            <a:r>
              <a:rPr lang="pt-BR" sz="2500" cap="none" dirty="0"/>
              <a:t>Exemplo:</a:t>
            </a:r>
          </a:p>
          <a:p>
            <a:pPr marL="68580" indent="0">
              <a:buNone/>
            </a:pPr>
            <a:r>
              <a:rPr lang="pt-BR" sz="2500" cap="none" dirty="0"/>
              <a:t>	Onde estão os meus </a:t>
            </a:r>
            <a:r>
              <a:rPr lang="pt-BR" sz="2500" u="sng" cap="none" dirty="0"/>
              <a:t>verdes</a:t>
            </a:r>
            <a:r>
              <a:rPr lang="pt-BR" sz="2500" cap="none" dirty="0"/>
              <a:t>?</a:t>
            </a:r>
          </a:p>
          <a:p>
            <a:pPr marL="68580" indent="0">
              <a:buNone/>
            </a:pPr>
            <a:r>
              <a:rPr lang="pt-BR" sz="2500" cap="none" dirty="0"/>
              <a:t>	Os meus azuis?</a:t>
            </a:r>
          </a:p>
          <a:p>
            <a:pPr marL="68580" indent="0">
              <a:buNone/>
            </a:pPr>
            <a:r>
              <a:rPr lang="pt-BR" sz="2500" cap="none" dirty="0"/>
              <a:t>				</a:t>
            </a:r>
            <a:r>
              <a:rPr lang="pt-BR" cap="none" dirty="0"/>
              <a:t>Mário quintana</a:t>
            </a:r>
          </a:p>
          <a:p>
            <a:pPr marL="68580" indent="0">
              <a:buNone/>
            </a:pPr>
            <a:r>
              <a:rPr lang="pt-BR" sz="2500" cap="none" dirty="0"/>
              <a:t>	</a:t>
            </a:r>
          </a:p>
          <a:p>
            <a:pPr marL="68580" indent="0">
              <a:buNone/>
            </a:pPr>
            <a:r>
              <a:rPr lang="pt-BR" sz="2500" cap="none" dirty="0"/>
              <a:t>	O professor falava alto.</a:t>
            </a:r>
          </a:p>
          <a:p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358693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36294-66F4-D941-AEAB-9AE7BE301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48479"/>
            <a:ext cx="10364451" cy="1192695"/>
          </a:xfrm>
        </p:spPr>
        <p:txBody>
          <a:bodyPr>
            <a:normAutofit fontScale="90000"/>
          </a:bodyPr>
          <a:lstStyle/>
          <a:p>
            <a:r>
              <a:rPr lang="pt-BR" dirty="0"/>
              <a:t>composição</a:t>
            </a:r>
            <a:br>
              <a:rPr lang="pt-BR" dirty="0"/>
            </a:br>
            <a:r>
              <a:rPr lang="pt-BR" sz="2800" cap="none" dirty="0"/>
              <a:t>É um processo que consiste em formar uma nova palavra a partir de duas ou mais já existentes.</a:t>
            </a:r>
            <a:endParaRPr lang="pt-BR" sz="2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1F9F7-F8B5-CB8D-0F31-9EEB7A68EA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739" y="1590261"/>
            <a:ext cx="10581861" cy="50192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cap="none" dirty="0"/>
              <a:t> Composição por justaposição</a:t>
            </a:r>
          </a:p>
          <a:p>
            <a:pPr marL="0" indent="0">
              <a:buNone/>
            </a:pPr>
            <a:r>
              <a:rPr lang="pt-BR" cap="none" dirty="0"/>
              <a:t> 	Não sofre alteração na grafia e pronúncia.</a:t>
            </a:r>
          </a:p>
          <a:p>
            <a:pPr marL="0" indent="0">
              <a:buNone/>
            </a:pPr>
            <a:r>
              <a:rPr lang="pt-BR" cap="none" dirty="0"/>
              <a:t>	Ex.: 	pontapé (ponta + pé)</a:t>
            </a:r>
          </a:p>
          <a:p>
            <a:pPr marL="0" indent="0">
              <a:buNone/>
            </a:pPr>
            <a:r>
              <a:rPr lang="pt-BR" cap="none" dirty="0"/>
              <a:t>		girassol (gira + sol)</a:t>
            </a:r>
          </a:p>
          <a:p>
            <a:pPr marL="0" indent="0">
              <a:buNone/>
            </a:pPr>
            <a:r>
              <a:rPr lang="pt-BR" cap="none" dirty="0"/>
              <a:t>		justaposição (justa + posição)</a:t>
            </a:r>
          </a:p>
          <a:p>
            <a:pPr marL="0" indent="0">
              <a:buNone/>
            </a:pPr>
            <a:r>
              <a:rPr lang="pt-BR" cap="none" dirty="0"/>
              <a:t>		guarda-chuva</a:t>
            </a:r>
          </a:p>
          <a:p>
            <a:pPr marL="0" indent="0">
              <a:buNone/>
            </a:pPr>
            <a:r>
              <a:rPr lang="pt-BR" cap="none" dirty="0"/>
              <a:t> </a:t>
            </a:r>
            <a:r>
              <a:rPr lang="pt-BR" b="1" cap="none" dirty="0"/>
              <a:t>Composição por aglutinação</a:t>
            </a:r>
          </a:p>
          <a:p>
            <a:pPr marL="0" indent="0">
              <a:buNone/>
            </a:pPr>
            <a:r>
              <a:rPr lang="pt-BR" cap="none" dirty="0"/>
              <a:t> 	Uma das palavras que se unem sofre alteração.</a:t>
            </a:r>
          </a:p>
          <a:p>
            <a:pPr marL="0" indent="0">
              <a:buNone/>
            </a:pPr>
            <a:r>
              <a:rPr lang="pt-BR" cap="none" dirty="0"/>
              <a:t>	Ex.:	</a:t>
            </a:r>
            <a:r>
              <a:rPr lang="pt-BR" cap="none" dirty="0" err="1"/>
              <a:t>jobisomem</a:t>
            </a:r>
            <a:r>
              <a:rPr lang="pt-BR" cap="none" dirty="0"/>
              <a:t> (lobo + homem)</a:t>
            </a:r>
          </a:p>
          <a:p>
            <a:pPr marL="0" indent="0">
              <a:buNone/>
            </a:pPr>
            <a:r>
              <a:rPr lang="pt-BR" cap="none" dirty="0"/>
              <a:t>		planalto (plano + alto)</a:t>
            </a:r>
          </a:p>
          <a:p>
            <a:pPr marL="0" indent="0">
              <a:buNone/>
            </a:pPr>
            <a:r>
              <a:rPr lang="pt-BR" cap="none" dirty="0"/>
              <a:t>		pernilongo (perna + longa)</a:t>
            </a:r>
          </a:p>
          <a:p>
            <a:endParaRPr lang="pt-BR" cap="none" dirty="0"/>
          </a:p>
        </p:txBody>
      </p:sp>
    </p:spTree>
    <p:extLst>
      <p:ext uri="{BB962C8B-B14F-4D97-AF65-F5344CB8AC3E}">
        <p14:creationId xmlns:p14="http://schemas.microsoft.com/office/powerpoint/2010/main" val="186290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14CA0-7A84-50ED-5F33-354CDFBE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98174"/>
            <a:ext cx="10364451" cy="623874"/>
          </a:xfrm>
        </p:spPr>
        <p:txBody>
          <a:bodyPr/>
          <a:lstStyle/>
          <a:p>
            <a:r>
              <a:rPr lang="pt-BR" dirty="0"/>
              <a:t>PROCESSOS SECUNDÁRIOS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643CB6-7DCA-E9FA-37F1-3C34D1FFB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093304"/>
            <a:ext cx="10363826" cy="56255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cap="none" dirty="0"/>
              <a:t>A-) </a:t>
            </a:r>
            <a:r>
              <a:rPr lang="pt-BR" b="1" cap="none" dirty="0"/>
              <a:t>HIBRIDISMO</a:t>
            </a:r>
            <a:r>
              <a:rPr lang="pt-BR" cap="none" dirty="0"/>
              <a:t>: morfemas (radicais, sufixos etc.) De idiomas diferentes</a:t>
            </a:r>
          </a:p>
          <a:p>
            <a:pPr marL="0" indent="0">
              <a:buNone/>
            </a:pPr>
            <a:r>
              <a:rPr lang="pt-BR" cap="none" dirty="0"/>
              <a:t>	Ex.:	televisão (tele [grego] + visão [latim])</a:t>
            </a:r>
          </a:p>
          <a:p>
            <a:pPr marL="0" indent="0">
              <a:buNone/>
            </a:pPr>
            <a:r>
              <a:rPr lang="pt-BR" cap="none" dirty="0"/>
              <a:t>		burocracia (</a:t>
            </a:r>
            <a:r>
              <a:rPr lang="pt-BR" cap="none" dirty="0" err="1"/>
              <a:t>buro</a:t>
            </a:r>
            <a:r>
              <a:rPr lang="pt-BR" cap="none" dirty="0"/>
              <a:t> [francês] + </a:t>
            </a:r>
            <a:r>
              <a:rPr lang="pt-BR" cap="none" dirty="0" err="1"/>
              <a:t>cracia</a:t>
            </a:r>
            <a:r>
              <a:rPr lang="pt-BR" cap="none" dirty="0"/>
              <a:t> [grego])</a:t>
            </a:r>
          </a:p>
          <a:p>
            <a:pPr marL="0" indent="0">
              <a:buNone/>
            </a:pPr>
            <a:r>
              <a:rPr lang="pt-BR" cap="none" dirty="0" err="1"/>
              <a:t>B</a:t>
            </a:r>
            <a:r>
              <a:rPr lang="pt-BR" cap="none" dirty="0"/>
              <a:t>-) </a:t>
            </a:r>
            <a:r>
              <a:rPr lang="pt-BR" b="1" cap="none" dirty="0"/>
              <a:t>ONOMATOPEIA</a:t>
            </a:r>
            <a:r>
              <a:rPr lang="pt-BR" cap="none" dirty="0"/>
              <a:t>: imitação de sons.</a:t>
            </a:r>
            <a:endParaRPr lang="pt-BR" cap="none" dirty="0">
              <a:ea typeface="Verdana"/>
            </a:endParaRPr>
          </a:p>
          <a:p>
            <a:pPr marL="0" indent="0">
              <a:buNone/>
            </a:pPr>
            <a:r>
              <a:rPr lang="pt-BR" cap="none" dirty="0"/>
              <a:t>	Ex.: 	</a:t>
            </a:r>
            <a:r>
              <a:rPr lang="pt-BR" cap="none" dirty="0" err="1"/>
              <a:t>smack</a:t>
            </a:r>
            <a:endParaRPr lang="pt-BR" cap="none" dirty="0"/>
          </a:p>
          <a:p>
            <a:pPr marL="0" indent="0">
              <a:buNone/>
            </a:pPr>
            <a:r>
              <a:rPr lang="pt-BR" cap="none" dirty="0"/>
              <a:t>		</a:t>
            </a:r>
            <a:r>
              <a:rPr lang="pt-BR" cap="none" dirty="0" err="1"/>
              <a:t>soc</a:t>
            </a:r>
            <a:endParaRPr lang="pt-BR" cap="none" dirty="0"/>
          </a:p>
          <a:p>
            <a:pPr marL="0" indent="0">
              <a:buNone/>
            </a:pPr>
            <a:r>
              <a:rPr lang="pt-BR" cap="none" dirty="0"/>
              <a:t>C-) </a:t>
            </a:r>
            <a:r>
              <a:rPr lang="pt-BR" b="1" cap="none" dirty="0"/>
              <a:t>SIGLA</a:t>
            </a:r>
            <a:r>
              <a:rPr lang="pt-BR" cap="none" dirty="0"/>
              <a:t>: letras iniciais.</a:t>
            </a:r>
          </a:p>
          <a:p>
            <a:pPr marL="0" indent="0">
              <a:buNone/>
            </a:pPr>
            <a:r>
              <a:rPr lang="pt-BR" cap="none" dirty="0"/>
              <a:t>	Ex.:	PUC (pontifícia universidade católica)</a:t>
            </a:r>
          </a:p>
          <a:p>
            <a:pPr marL="0" indent="0">
              <a:buNone/>
            </a:pPr>
            <a:r>
              <a:rPr lang="pt-BR" cap="none" dirty="0"/>
              <a:t>		CBF (confederação brasileira de futebol)</a:t>
            </a:r>
          </a:p>
          <a:p>
            <a:pPr marL="0" indent="0">
              <a:buNone/>
            </a:pPr>
            <a:r>
              <a:rPr lang="pt-BR" cap="none" dirty="0" err="1"/>
              <a:t>D</a:t>
            </a:r>
            <a:r>
              <a:rPr lang="pt-BR" cap="none" dirty="0"/>
              <a:t>-) </a:t>
            </a:r>
            <a:r>
              <a:rPr lang="pt-BR" b="1" cap="none" dirty="0"/>
              <a:t>ABREVIAÇÃO VOCABULAR ou REDUÇÃO</a:t>
            </a:r>
            <a:r>
              <a:rPr lang="pt-BR" cap="none" dirty="0"/>
              <a:t>: </a:t>
            </a:r>
          </a:p>
          <a:p>
            <a:pPr marL="0" indent="0">
              <a:buNone/>
            </a:pPr>
            <a:r>
              <a:rPr lang="pt-BR" cap="none" dirty="0"/>
              <a:t>	Ex.:	fone (telefone)</a:t>
            </a:r>
          </a:p>
          <a:p>
            <a:pPr marL="0" indent="0">
              <a:buNone/>
            </a:pPr>
            <a:r>
              <a:rPr lang="pt-BR" cap="none" dirty="0"/>
              <a:t>		moto (motocicleta)</a:t>
            </a:r>
          </a:p>
          <a:p>
            <a:endParaRPr lang="pt-BR" cap="none" dirty="0"/>
          </a:p>
        </p:txBody>
      </p:sp>
    </p:spTree>
    <p:extLst>
      <p:ext uri="{BB962C8B-B14F-4D97-AF65-F5344CB8AC3E}">
        <p14:creationId xmlns:p14="http://schemas.microsoft.com/office/powerpoint/2010/main" val="4213427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2EB-22C5-A7B6-8AF5-76894B19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51866"/>
          </a:xfrm>
        </p:spPr>
        <p:txBody>
          <a:bodyPr/>
          <a:lstStyle/>
          <a:p>
            <a:r>
              <a:rPr lang="pt-BR" dirty="0"/>
              <a:t>PROCESSOS SECUNDÁRIOS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8BA75E-A626-16F7-1FBF-60EE7FEF7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606904"/>
            <a:ext cx="10363826" cy="4632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500" cap="none" dirty="0"/>
              <a:t>E-) </a:t>
            </a:r>
            <a:r>
              <a:rPr lang="pt-BR" sz="2500" b="1" cap="none" dirty="0"/>
              <a:t>EMPRÉSTIMOS LEXICAIS </a:t>
            </a:r>
            <a:r>
              <a:rPr lang="pt-BR" sz="2500" cap="none" dirty="0"/>
              <a:t>ou E</a:t>
            </a:r>
            <a:r>
              <a:rPr lang="pt-BR" sz="2500" b="1" cap="none" dirty="0"/>
              <a:t>STRANGEIRIMOS</a:t>
            </a:r>
            <a:r>
              <a:rPr lang="pt-BR" sz="2500" cap="none" dirty="0"/>
              <a:t>: </a:t>
            </a:r>
          </a:p>
          <a:p>
            <a:pPr marL="0" indent="0">
              <a:buNone/>
            </a:pPr>
            <a:r>
              <a:rPr lang="pt-BR" sz="2500" cap="none" dirty="0"/>
              <a:t>	</a:t>
            </a:r>
            <a:r>
              <a:rPr lang="pt-BR" sz="2500" cap="none" dirty="0" err="1"/>
              <a:t>Ex</a:t>
            </a:r>
            <a:r>
              <a:rPr lang="pt-BR" sz="2500" cap="none" dirty="0"/>
              <a:t>: 	show</a:t>
            </a:r>
          </a:p>
          <a:p>
            <a:pPr marL="0" indent="0">
              <a:buNone/>
            </a:pPr>
            <a:r>
              <a:rPr lang="pt-BR" sz="2500" cap="none" dirty="0"/>
              <a:t>		shampoo</a:t>
            </a:r>
          </a:p>
          <a:p>
            <a:pPr marL="0" indent="0">
              <a:buNone/>
            </a:pPr>
            <a:r>
              <a:rPr lang="pt-BR" sz="2500" cap="none" dirty="0" err="1"/>
              <a:t>F</a:t>
            </a:r>
            <a:r>
              <a:rPr lang="pt-BR" sz="2500" cap="none" dirty="0"/>
              <a:t>-) </a:t>
            </a:r>
            <a:r>
              <a:rPr lang="pt-BR" sz="2500" b="1" cap="none" dirty="0"/>
              <a:t>NEOLOGISMO</a:t>
            </a:r>
            <a:r>
              <a:rPr lang="pt-BR" sz="2500" cap="none" dirty="0"/>
              <a:t>: palavra nova.</a:t>
            </a:r>
          </a:p>
          <a:p>
            <a:pPr marL="0" indent="0">
              <a:buNone/>
            </a:pPr>
            <a:r>
              <a:rPr lang="pt-BR" sz="2500" cap="none" dirty="0"/>
              <a:t>	Ex.:	tuitar </a:t>
            </a:r>
          </a:p>
          <a:p>
            <a:pPr marL="0" indent="0">
              <a:buNone/>
            </a:pPr>
            <a:r>
              <a:rPr lang="pt-BR" sz="2500" cap="none" dirty="0"/>
              <a:t>		professorando</a:t>
            </a:r>
          </a:p>
          <a:p>
            <a:pPr marL="0" indent="0">
              <a:buNone/>
            </a:pPr>
            <a:endParaRPr lang="pt-BR" sz="2500" cap="none" dirty="0"/>
          </a:p>
        </p:txBody>
      </p:sp>
    </p:spTree>
    <p:extLst>
      <p:ext uri="{BB962C8B-B14F-4D97-AF65-F5344CB8AC3E}">
        <p14:creationId xmlns:p14="http://schemas.microsoft.com/office/powerpoint/2010/main" val="323356314"/>
      </p:ext>
    </p:extLst>
  </p:cSld>
  <p:clrMapOvr>
    <a:masterClrMapping/>
  </p:clrMapOvr>
</p:sld>
</file>

<file path=ppt/theme/theme1.xml><?xml version="1.0" encoding="utf-8"?>
<a:theme xmlns:a="http://schemas.openxmlformats.org/drawingml/2006/main" name="Gotícul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Gotícula</Template>
  <TotalTime>94</TotalTime>
  <Words>855</Words>
  <Application>Microsoft Macintosh PowerPoint</Application>
  <PresentationFormat>Widescreen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Gotícula</vt:lpstr>
      <vt:lpstr>ESTRUTURA e formação DAS PALAVRAS</vt:lpstr>
      <vt:lpstr>ESTRUTURA DAS PALAVRAS</vt:lpstr>
      <vt:lpstr>TIPOS DE MORFEMAS</vt:lpstr>
      <vt:lpstr>TIPOS DE MORFEMAS</vt:lpstr>
      <vt:lpstr>TIPOS DE MORFEMAS</vt:lpstr>
      <vt:lpstr>TIPOS DE MORFEMAS</vt:lpstr>
      <vt:lpstr>FORMAÇÃO DAS PALAVRAS</vt:lpstr>
      <vt:lpstr>derivação</vt:lpstr>
      <vt:lpstr>derivação</vt:lpstr>
      <vt:lpstr>derivação</vt:lpstr>
      <vt:lpstr>derivação</vt:lpstr>
      <vt:lpstr>DERIVAÇÃO</vt:lpstr>
      <vt:lpstr>composição É um processo que consiste em formar uma nova palavra a partir de duas ou mais já existentes.</vt:lpstr>
      <vt:lpstr>PROCESSOS SECUNDÁRIOS</vt:lpstr>
      <vt:lpstr>PROCESSOS SECUNDÁRIOS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DAS PALAVRAS</dc:title>
  <dc:creator>Telma Cristina Castelhano</dc:creator>
  <cp:lastModifiedBy>Telma Cristina Castelhano</cp:lastModifiedBy>
  <cp:revision>1</cp:revision>
  <dcterms:created xsi:type="dcterms:W3CDTF">2023-04-21T22:41:53Z</dcterms:created>
  <dcterms:modified xsi:type="dcterms:W3CDTF">2023-05-03T19:56:51Z</dcterms:modified>
</cp:coreProperties>
</file>