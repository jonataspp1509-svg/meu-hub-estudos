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30" r:id="rId2"/>
    <p:sldId id="326" r:id="rId3"/>
    <p:sldId id="344" r:id="rId4"/>
    <p:sldId id="345" r:id="rId5"/>
    <p:sldId id="328" r:id="rId6"/>
    <p:sldId id="334" r:id="rId7"/>
    <p:sldId id="335" r:id="rId8"/>
    <p:sldId id="336" r:id="rId9"/>
    <p:sldId id="337" r:id="rId10"/>
    <p:sldId id="339" r:id="rId11"/>
    <p:sldId id="338" r:id="rId12"/>
    <p:sldId id="341" r:id="rId13"/>
    <p:sldId id="340" r:id="rId14"/>
    <p:sldId id="346" r:id="rId15"/>
    <p:sldId id="347" r:id="rId16"/>
    <p:sldId id="343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38" autoAdjust="0"/>
  </p:normalViewPr>
  <p:slideViewPr>
    <p:cSldViewPr snapToGrid="0">
      <p:cViewPr varScale="1">
        <p:scale>
          <a:sx n="88" d="100"/>
          <a:sy n="88" d="100"/>
        </p:scale>
        <p:origin x="494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20FCF-D47B-42FC-BB49-F3E92BE4C988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72BF4-9CC8-4CFC-99FC-DEA3D4808A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151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7F6EA-23C1-41B8-8A2A-A21BB552F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EAF473-6876-492F-8957-D7F8B39B0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B634D8-E161-4C6E-8B47-617C17B1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2CA9C9-0210-400C-AAC6-0C8BF9A5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7DC13E-8113-41CF-AD6A-49EB5741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6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515B1-4DEE-4F5C-9203-1A50D0A9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3EF76-3A89-4753-A2E0-1C7F571A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5BBFF7-7962-46ED-8D50-AFFD3959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AE6961-B696-43D8-94CA-61828A53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2DB571-C2C9-48EB-B3B4-D9BD209A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76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0C9FB-C5A4-45E9-B968-0A64F093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9CE341-28C3-4572-83D2-92AB2BFAB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BE7B10-7FD2-4BDA-9C61-ECB627C9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42ACC6-1881-4E99-8296-FF2D41C6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7E6C16-791C-4FD1-87CD-B86ED04C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36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DA1DD-9272-4A05-8EF6-C2D8302C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DA551F-3774-4522-BD01-78ED5CBDF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E2D0A2-D5DC-4709-A0F6-4E6CF1297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25E1BD-1A78-4074-9FD5-DEEF8884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38A90E-7436-4804-851E-D11DCC3E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7F8D2A-C482-4B18-B7A8-C5095BC5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09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7DC5A-D00B-4F5F-B667-B20BC0496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23A82E-05BF-44E2-8699-8002E6E5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FD1AEC-1585-4659-9EFA-0FE9A69BA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6DF8C7-62AE-4D5A-80F3-5F5697E7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6FC768-1C5D-4127-9B5D-774D9F865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37F541-829E-48AA-A738-5B6F32F9B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2F49AF-9AC6-4B3E-90A0-2A8DC77F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1E1A62-C3BB-4C52-BD10-E242185D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0961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C77DB-643F-4201-B112-5F20408C9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7979A2-0EDE-4E60-8DE5-F57EE0CA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02D140-7986-43A6-8529-130434947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02A7C9-F783-4232-9DBC-5A45F246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56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E36C6F-2D9F-440E-987F-7209853D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52068E1-22B5-49EB-8F51-5EB2BC64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A0C7F4-FCB8-4CE2-A6EF-571E6F79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865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2D20E-2A73-475A-A24D-88FA0E2FB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8F8623-18B1-465D-944A-67270A312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F1C053-76C1-4083-8E10-88111AED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02922D-9EA2-4854-A14C-6D421D37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DC8EB8-4C97-4408-9E71-F1A5D98D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5E4AF9-A73F-4AC2-8752-B771C7C9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76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10E8B-ECFA-4FFD-ADAA-035F4D23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C58C5F-86EC-4B7E-B3FD-B81B6B433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CDE92E-0679-45D8-BAF7-58B76DE19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4BE210-9FAF-4228-A600-A9A32450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D8FBFA-14D1-4808-A010-661C5D48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EF7FE9-7408-4E1D-B1FD-16963A98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6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377C1-F84D-4792-99DC-A168120DF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05B2C0-90CD-49DD-8EA3-7BCAE4463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07893D-090D-4234-98DD-15498717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5185D2-005E-4A4E-B331-E8126C35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2D5B66-4EEA-4415-B235-46007EA3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14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A8DD31-F561-4287-B830-3FD1B79B1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6FD11E-B177-4B20-B3A6-23E629F1D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765D24-7B17-4AAB-8C89-782F2256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98871A-0A1D-48F2-B879-544B114E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D362CC-C6B6-444B-B6D6-27C1CD81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48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39BE51-190F-464E-B3D8-75DA07C2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0A6F51-5091-4AE9-9FA8-52E4EE170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C4D85-8520-458F-8460-7148CD7AF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DD5FF-6DF9-4B49-8C5B-5D3DC6D638CB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860F85-50FF-4025-A37A-C166863A9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BB9CCF-9278-4843-A022-1FFA0AF56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DD73E-9E7B-4CAD-80B3-9FC2556DF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06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1C46C00-85B1-47F5-937B-A7B05A79F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48" y="1415772"/>
            <a:ext cx="10227075" cy="544222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D6EDD74-1178-4E8A-B94B-9024270762E7}"/>
              </a:ext>
            </a:extLst>
          </p:cNvPr>
          <p:cNvSpPr/>
          <p:nvPr/>
        </p:nvSpPr>
        <p:spPr>
          <a:xfrm>
            <a:off x="-2" y="0"/>
            <a:ext cx="12038121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6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Gêneros Literários e Metrificação</a:t>
            </a:r>
          </a:p>
          <a:p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UNIDADE 1 -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CAPÍTULO 2 – p. 152</a:t>
            </a: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 smtClean="0"/>
          </a:p>
        </p:txBody>
      </p:sp>
    </p:spTree>
    <p:extLst>
      <p:ext uri="{BB962C8B-B14F-4D97-AF65-F5344CB8AC3E}">
        <p14:creationId xmlns:p14="http://schemas.microsoft.com/office/powerpoint/2010/main" val="197096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F6AF871-7432-454A-917E-6AFC28B5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899" y="0"/>
            <a:ext cx="122718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4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640" y="156119"/>
            <a:ext cx="10646229" cy="48831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GÊNERO LÍRICO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7640" y="771886"/>
            <a:ext cx="5181600" cy="596854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b="1" dirty="0"/>
              <a:t> </a:t>
            </a:r>
            <a:r>
              <a:rPr lang="pt-BR" b="1" dirty="0" smtClean="0"/>
              <a:t>                                                    </a:t>
            </a:r>
            <a:r>
              <a:rPr lang="pt-BR" sz="5600" b="1" dirty="0" smtClean="0"/>
              <a:t>MOTIVO </a:t>
            </a:r>
            <a:endParaRPr lang="pt-BR" sz="5600" b="1" dirty="0"/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dirty="0"/>
              <a:t>    Eu canto porque o instante existe</a:t>
            </a:r>
          </a:p>
          <a:p>
            <a:pPr marL="0" indent="0">
              <a:buNone/>
            </a:pPr>
            <a:r>
              <a:rPr lang="pt-BR" sz="5600" dirty="0"/>
              <a:t>    e a minha vida está completa.</a:t>
            </a:r>
          </a:p>
          <a:p>
            <a:pPr marL="0" indent="0">
              <a:buNone/>
            </a:pPr>
            <a:r>
              <a:rPr lang="pt-BR" sz="5600" dirty="0"/>
              <a:t>    Não sou alegre nem sou triste:</a:t>
            </a:r>
          </a:p>
          <a:p>
            <a:pPr marL="0" indent="0">
              <a:buNone/>
            </a:pPr>
            <a:r>
              <a:rPr lang="pt-BR" sz="5600" dirty="0"/>
              <a:t>    sou poeta.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dirty="0"/>
              <a:t>    Irmão das coisas fugidias</a:t>
            </a:r>
            <a:r>
              <a:rPr lang="pt-BR" sz="5600" dirty="0" smtClean="0"/>
              <a:t>,</a:t>
            </a:r>
            <a:endParaRPr lang="pt-BR" sz="5600" dirty="0"/>
          </a:p>
          <a:p>
            <a:pPr marL="0" indent="0">
              <a:buNone/>
            </a:pPr>
            <a:r>
              <a:rPr lang="pt-BR" sz="5600" dirty="0"/>
              <a:t>    não sinto gozo nem tormento. </a:t>
            </a:r>
          </a:p>
          <a:p>
            <a:pPr marL="0" indent="0">
              <a:buNone/>
            </a:pPr>
            <a:r>
              <a:rPr lang="pt-BR" sz="5600" dirty="0"/>
              <a:t>    Atravesso noites e dias</a:t>
            </a:r>
          </a:p>
          <a:p>
            <a:pPr marL="0" indent="0">
              <a:buNone/>
            </a:pPr>
            <a:r>
              <a:rPr lang="pt-BR" sz="5600" dirty="0"/>
              <a:t>    no vento.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dirty="0"/>
              <a:t>    Se desmorono ou se edifico,</a:t>
            </a:r>
          </a:p>
          <a:p>
            <a:pPr marL="0" indent="0">
              <a:buNone/>
            </a:pPr>
            <a:r>
              <a:rPr lang="pt-BR" sz="5600" dirty="0"/>
              <a:t>    se permaneço ou me desfaço,</a:t>
            </a:r>
          </a:p>
          <a:p>
            <a:pPr marL="0" indent="0">
              <a:buNone/>
            </a:pPr>
            <a:r>
              <a:rPr lang="pt-BR" sz="5600" dirty="0"/>
              <a:t>    — não sei, não sei. Não sei se fico</a:t>
            </a:r>
          </a:p>
          <a:p>
            <a:pPr marL="0" indent="0">
              <a:buNone/>
            </a:pPr>
            <a:r>
              <a:rPr lang="pt-BR" sz="5600" dirty="0"/>
              <a:t>    ou passo. 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dirty="0"/>
              <a:t>    Sei que canto. E a canção é tudo.</a:t>
            </a:r>
          </a:p>
          <a:p>
            <a:pPr marL="0" indent="0">
              <a:buNone/>
            </a:pPr>
            <a:r>
              <a:rPr lang="pt-BR" sz="5600" dirty="0"/>
              <a:t>    Tem sangue eterno a asa ritmada.</a:t>
            </a:r>
          </a:p>
          <a:p>
            <a:pPr marL="0" indent="0">
              <a:buNone/>
            </a:pPr>
            <a:r>
              <a:rPr lang="pt-BR" sz="5600" dirty="0"/>
              <a:t>    E um dia sei que estarei mudo:</a:t>
            </a:r>
          </a:p>
          <a:p>
            <a:pPr marL="0" indent="0">
              <a:buNone/>
            </a:pPr>
            <a:r>
              <a:rPr lang="pt-BR" sz="5600" dirty="0"/>
              <a:t>    — mais nada.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621538" y="771886"/>
            <a:ext cx="4411530" cy="5898880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endParaRPr lang="pt-BR" sz="3800" dirty="0" smtClean="0"/>
          </a:p>
          <a:p>
            <a:pPr marL="0" indent="0" algn="just">
              <a:buNone/>
            </a:pPr>
            <a:r>
              <a:rPr lang="pt-BR" sz="8000" b="1" dirty="0" smtClean="0"/>
              <a:t>Principais características:</a:t>
            </a:r>
          </a:p>
          <a:p>
            <a:pPr marL="0" indent="0" algn="just">
              <a:buNone/>
            </a:pPr>
            <a:r>
              <a:rPr lang="pt-BR" sz="8000" dirty="0" smtClean="0"/>
              <a:t> </a:t>
            </a:r>
            <a:endParaRPr lang="pt-BR" sz="8000" dirty="0"/>
          </a:p>
          <a:p>
            <a:pPr marL="0" indent="0" algn="just">
              <a:buNone/>
            </a:pPr>
            <a:r>
              <a:rPr lang="pt-BR" sz="8000" dirty="0" smtClean="0"/>
              <a:t>. a palavra usada para ser cantada;</a:t>
            </a:r>
          </a:p>
          <a:p>
            <a:pPr marL="0" indent="0" algn="just">
              <a:buNone/>
            </a:pPr>
            <a:endParaRPr lang="pt-BR" sz="8000" dirty="0"/>
          </a:p>
          <a:p>
            <a:pPr marL="0" indent="0" algn="just">
              <a:buNone/>
            </a:pPr>
            <a:r>
              <a:rPr lang="pt-BR" sz="8000" dirty="0" smtClean="0"/>
              <a:t>. </a:t>
            </a:r>
            <a:r>
              <a:rPr lang="pt-BR" sz="8000" dirty="0"/>
              <a:t>eu lírico em 1ª pessoa</a:t>
            </a:r>
            <a:r>
              <a:rPr lang="pt-BR" sz="8000" dirty="0" smtClean="0"/>
              <a:t>;</a:t>
            </a:r>
          </a:p>
          <a:p>
            <a:pPr marL="0" indent="0" algn="just">
              <a:buNone/>
            </a:pPr>
            <a:endParaRPr lang="pt-BR" sz="8000" dirty="0"/>
          </a:p>
          <a:p>
            <a:pPr marL="0" indent="0" algn="just">
              <a:buNone/>
            </a:pPr>
            <a:r>
              <a:rPr lang="pt-BR" sz="8000" dirty="0"/>
              <a:t>. expressa emoções e sentimentos do eu lírico</a:t>
            </a:r>
            <a:r>
              <a:rPr lang="pt-BR" sz="8000" dirty="0" smtClean="0"/>
              <a:t>;</a:t>
            </a:r>
          </a:p>
          <a:p>
            <a:pPr marL="0" indent="0" algn="just">
              <a:buNone/>
            </a:pPr>
            <a:endParaRPr lang="pt-BR" sz="8000" dirty="0"/>
          </a:p>
          <a:p>
            <a:pPr marL="0" indent="0" algn="just">
              <a:buNone/>
            </a:pPr>
            <a:r>
              <a:rPr lang="pt-BR" sz="8000" dirty="0"/>
              <a:t>. gênero subjetivo, centrado no eu lírico e </a:t>
            </a:r>
            <a:r>
              <a:rPr lang="pt-BR" sz="8000" dirty="0" smtClean="0"/>
              <a:t>em seu </a:t>
            </a:r>
            <a:r>
              <a:rPr lang="pt-BR" sz="8000" dirty="0"/>
              <a:t>mundo </a:t>
            </a:r>
            <a:r>
              <a:rPr lang="pt-BR" sz="8000" dirty="0" smtClean="0"/>
              <a:t>interior.</a:t>
            </a:r>
            <a:endParaRPr lang="pt-BR" sz="8000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sz="4800" dirty="0"/>
              <a:t>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pt-BR" sz="4800" dirty="0" smtClean="0"/>
              <a:t>                          </a:t>
            </a:r>
            <a:endParaRPr lang="pt-BR" sz="4800" dirty="0"/>
          </a:p>
          <a:p>
            <a:pPr marL="0" indent="0">
              <a:buNone/>
            </a:pPr>
            <a:endParaRPr lang="pt-BR" sz="4800" b="1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/>
          <a:srcRect l="12074" t="-1933" r="9586" b="553"/>
          <a:stretch/>
        </p:blipFill>
        <p:spPr>
          <a:xfrm>
            <a:off x="3566159" y="3431373"/>
            <a:ext cx="2429692" cy="3248297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4764038" y="6586545"/>
            <a:ext cx="16596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Cecília Meireles</a:t>
            </a:r>
          </a:p>
        </p:txBody>
      </p:sp>
    </p:spTree>
    <p:extLst>
      <p:ext uri="{BB962C8B-B14F-4D97-AF65-F5344CB8AC3E}">
        <p14:creationId xmlns:p14="http://schemas.microsoft.com/office/powerpoint/2010/main" val="2010529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" y="60959"/>
            <a:ext cx="11292840" cy="984069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GÊNERO ÉPICO </a:t>
            </a:r>
            <a:br>
              <a:rPr lang="pt-BR" b="1" dirty="0">
                <a:solidFill>
                  <a:srgbClr val="FF0000"/>
                </a:solidFill>
              </a:rPr>
            </a:b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52549" y="792480"/>
            <a:ext cx="4171405" cy="589570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sz="3300" dirty="0" smtClean="0"/>
              <a:t>                </a:t>
            </a:r>
            <a:r>
              <a:rPr lang="pt-BR" sz="3300" b="1" dirty="0" smtClean="0"/>
              <a:t>OS </a:t>
            </a:r>
            <a:r>
              <a:rPr lang="pt-BR" sz="3300" b="1" dirty="0"/>
              <a:t>LUSÍADAS</a:t>
            </a:r>
          </a:p>
          <a:p>
            <a:pPr marL="0" indent="0">
              <a:buNone/>
            </a:pPr>
            <a:endParaRPr lang="pt-BR" sz="3300" dirty="0"/>
          </a:p>
          <a:p>
            <a:pPr marL="0" indent="0">
              <a:buNone/>
            </a:pPr>
            <a:r>
              <a:rPr lang="pt-BR" sz="3300" dirty="0"/>
              <a:t>As armas e os Barões assinalados</a:t>
            </a:r>
          </a:p>
          <a:p>
            <a:pPr marL="0" indent="0">
              <a:buNone/>
            </a:pPr>
            <a:r>
              <a:rPr lang="pt-BR" sz="3300" dirty="0"/>
              <a:t>Que da Ocidental praia lusitana</a:t>
            </a:r>
          </a:p>
          <a:p>
            <a:pPr marL="0" indent="0">
              <a:buNone/>
            </a:pPr>
            <a:r>
              <a:rPr lang="pt-BR" sz="3300" dirty="0"/>
              <a:t>Por mares nunca de antes navegados</a:t>
            </a:r>
          </a:p>
          <a:p>
            <a:pPr marL="0" indent="0">
              <a:buNone/>
            </a:pPr>
            <a:r>
              <a:rPr lang="pt-BR" sz="3300" dirty="0"/>
              <a:t>Passaram ainda além da </a:t>
            </a:r>
            <a:r>
              <a:rPr lang="pt-BR" sz="3300" dirty="0" err="1"/>
              <a:t>Taprobana</a:t>
            </a:r>
            <a:r>
              <a:rPr lang="pt-BR" sz="3300" dirty="0"/>
              <a:t>,</a:t>
            </a:r>
          </a:p>
          <a:p>
            <a:pPr marL="0" indent="0">
              <a:buNone/>
            </a:pPr>
            <a:r>
              <a:rPr lang="pt-BR" sz="3300" dirty="0"/>
              <a:t>Em perigos e guerras esforçados</a:t>
            </a:r>
          </a:p>
          <a:p>
            <a:pPr marL="0" indent="0">
              <a:buNone/>
            </a:pPr>
            <a:r>
              <a:rPr lang="pt-BR" sz="3300" dirty="0"/>
              <a:t>Mais do que prometia a força humana,</a:t>
            </a:r>
          </a:p>
          <a:p>
            <a:pPr marL="0" indent="0">
              <a:buNone/>
            </a:pPr>
            <a:r>
              <a:rPr lang="pt-BR" sz="3300" dirty="0"/>
              <a:t>E entre gente remota edificaram</a:t>
            </a:r>
          </a:p>
          <a:p>
            <a:pPr marL="0" indent="0">
              <a:buNone/>
            </a:pPr>
            <a:r>
              <a:rPr lang="pt-BR" sz="3300" dirty="0"/>
              <a:t>Novo Reino, que tanto sublimaram;</a:t>
            </a:r>
          </a:p>
          <a:p>
            <a:pPr marL="0" indent="0">
              <a:buNone/>
            </a:pPr>
            <a:endParaRPr lang="pt-BR" sz="3300" dirty="0"/>
          </a:p>
          <a:p>
            <a:pPr marL="0" indent="0">
              <a:buNone/>
            </a:pPr>
            <a:r>
              <a:rPr lang="pt-BR" sz="3300" dirty="0"/>
              <a:t>E também as memórias gloriosas</a:t>
            </a:r>
          </a:p>
          <a:p>
            <a:pPr marL="0" indent="0">
              <a:buNone/>
            </a:pPr>
            <a:r>
              <a:rPr lang="pt-BR" sz="3300" dirty="0"/>
              <a:t>Daqueles Reis que foram dilatando</a:t>
            </a:r>
          </a:p>
          <a:p>
            <a:pPr marL="0" indent="0">
              <a:buNone/>
            </a:pPr>
            <a:r>
              <a:rPr lang="pt-BR" sz="3300" dirty="0"/>
              <a:t>A Fé, o Império, e as terras viciosas</a:t>
            </a:r>
          </a:p>
          <a:p>
            <a:pPr marL="0" indent="0">
              <a:buNone/>
            </a:pPr>
            <a:r>
              <a:rPr lang="pt-BR" sz="3300" dirty="0"/>
              <a:t>De África e de Ásia andaram devastando,</a:t>
            </a:r>
          </a:p>
          <a:p>
            <a:pPr marL="0" indent="0">
              <a:buNone/>
            </a:pPr>
            <a:r>
              <a:rPr lang="pt-BR" sz="3300" dirty="0"/>
              <a:t>E aqueles que por obras valorosas</a:t>
            </a:r>
          </a:p>
          <a:p>
            <a:pPr marL="0" indent="0">
              <a:buNone/>
            </a:pPr>
            <a:r>
              <a:rPr lang="pt-BR" sz="3300" dirty="0"/>
              <a:t>Se vão da lei da Morte libertando,</a:t>
            </a:r>
          </a:p>
          <a:p>
            <a:pPr marL="0" indent="0">
              <a:buNone/>
            </a:pPr>
            <a:r>
              <a:rPr lang="pt-BR" sz="3300" dirty="0"/>
              <a:t>Cantando espalharei por toda parte,</a:t>
            </a:r>
          </a:p>
          <a:p>
            <a:pPr marL="0" indent="0">
              <a:buNone/>
            </a:pPr>
            <a:r>
              <a:rPr lang="pt-BR" sz="3300" dirty="0"/>
              <a:t>Se a tanto me ajudar o engenho e arte.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330103" y="1045028"/>
            <a:ext cx="4792227" cy="5712823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pt-BR" sz="5100" b="1" dirty="0" smtClean="0"/>
              <a:t>Principais características:</a:t>
            </a:r>
          </a:p>
          <a:p>
            <a:pPr marL="0" indent="0" algn="just">
              <a:buNone/>
            </a:pPr>
            <a:endParaRPr lang="pt-BR" sz="5100" dirty="0" smtClean="0"/>
          </a:p>
          <a:p>
            <a:pPr marL="0" indent="0" algn="just">
              <a:buNone/>
            </a:pPr>
            <a:r>
              <a:rPr lang="pt-BR" sz="5100" dirty="0" smtClean="0"/>
              <a:t>. a palavra usada para ser narrada;</a:t>
            </a:r>
          </a:p>
          <a:p>
            <a:pPr marL="0" indent="0" algn="just">
              <a:buNone/>
            </a:pPr>
            <a:endParaRPr lang="pt-BR" sz="5100" dirty="0"/>
          </a:p>
          <a:p>
            <a:pPr marL="0" indent="0" algn="just">
              <a:buNone/>
            </a:pPr>
            <a:r>
              <a:rPr lang="pt-BR" sz="5100" dirty="0" smtClean="0"/>
              <a:t>. eu lírico em 3ª pessoa;</a:t>
            </a:r>
          </a:p>
          <a:p>
            <a:pPr marL="0" indent="0" algn="just">
              <a:buNone/>
            </a:pPr>
            <a:endParaRPr lang="pt-BR" sz="5100" dirty="0" smtClean="0"/>
          </a:p>
          <a:p>
            <a:pPr marL="0" indent="0" algn="just">
              <a:buNone/>
            </a:pPr>
            <a:r>
              <a:rPr lang="pt-BR" sz="5100" dirty="0" smtClean="0"/>
              <a:t>. narra as aventuras de um herói;</a:t>
            </a:r>
          </a:p>
          <a:p>
            <a:pPr marL="0" indent="0" algn="just">
              <a:buNone/>
            </a:pPr>
            <a:endParaRPr lang="pt-BR" sz="5100" dirty="0" smtClean="0"/>
          </a:p>
          <a:p>
            <a:pPr marL="0" indent="0" algn="just">
              <a:buNone/>
            </a:pPr>
            <a:r>
              <a:rPr lang="pt-BR" sz="5100" dirty="0" smtClean="0"/>
              <a:t>. o herói tem caráter quase sagrado, realizador de eventos edificantes.</a:t>
            </a:r>
          </a:p>
          <a:p>
            <a:pPr marL="0" indent="0" algn="just">
              <a:buNone/>
            </a:pPr>
            <a:endParaRPr lang="pt-BR" sz="3800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210" y="3204754"/>
            <a:ext cx="2667778" cy="3114097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5025599" y="6318851"/>
            <a:ext cx="16223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Luís Vaz de Camões</a:t>
            </a:r>
          </a:p>
        </p:txBody>
      </p:sp>
    </p:spTree>
    <p:extLst>
      <p:ext uri="{BB962C8B-B14F-4D97-AF65-F5344CB8AC3E}">
        <p14:creationId xmlns:p14="http://schemas.microsoft.com/office/powerpoint/2010/main" val="7639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7C339-81C7-4A17-A41D-DFEFAEB4D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60" y="98795"/>
            <a:ext cx="10515600" cy="1481430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GÊNERO </a:t>
            </a:r>
            <a:r>
              <a:rPr lang="pt-BR" b="1" dirty="0" smtClean="0">
                <a:solidFill>
                  <a:srgbClr val="FF0000"/>
                </a:solidFill>
              </a:rPr>
              <a:t>DRAMÁTICO</a:t>
            </a:r>
            <a:r>
              <a:rPr lang="pt-BR" b="1" dirty="0">
                <a:solidFill>
                  <a:srgbClr val="FF0000"/>
                </a:solidFill>
              </a:rPr>
              <a:t/>
            </a:r>
            <a:br>
              <a:rPr lang="pt-BR" b="1" dirty="0">
                <a:solidFill>
                  <a:srgbClr val="FF0000"/>
                </a:solidFill>
              </a:rPr>
            </a:br>
            <a:r>
              <a:rPr lang="pt-BR" sz="3100" b="1" dirty="0">
                <a:solidFill>
                  <a:srgbClr val="00B050"/>
                </a:solidFill>
              </a:rPr>
              <a:t>comédia</a:t>
            </a:r>
            <a:br>
              <a:rPr lang="pt-BR" sz="3100" b="1" dirty="0">
                <a:solidFill>
                  <a:srgbClr val="00B050"/>
                </a:solidFill>
              </a:rPr>
            </a:br>
            <a:r>
              <a:rPr lang="pt-BR" sz="3100" b="1" dirty="0">
                <a:solidFill>
                  <a:srgbClr val="00B050"/>
                </a:solidFill>
              </a:rPr>
              <a:t>tragédia</a:t>
            </a:r>
            <a:br>
              <a:rPr lang="pt-BR" sz="3100" b="1" dirty="0">
                <a:solidFill>
                  <a:srgbClr val="00B050"/>
                </a:solidFill>
              </a:rPr>
            </a:br>
            <a:endParaRPr lang="pt-BR" sz="1100" b="1" dirty="0">
              <a:solidFill>
                <a:srgbClr val="00B05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6C9143-0238-4C4C-B8D8-ADAB789F1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459" y="1580225"/>
            <a:ext cx="11563905" cy="531328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sz="5100" dirty="0" smtClean="0"/>
              <a:t>Romeu e Julieta</a:t>
            </a:r>
          </a:p>
          <a:p>
            <a:pPr marL="0" indent="0">
              <a:buNone/>
            </a:pPr>
            <a:endParaRPr lang="pt-BR" i="1" dirty="0" smtClean="0"/>
          </a:p>
          <a:p>
            <a:pPr marL="0" indent="0">
              <a:buNone/>
            </a:pPr>
            <a:r>
              <a:rPr lang="pt-BR" i="1" dirty="0" smtClean="0"/>
              <a:t>(Entra </a:t>
            </a:r>
            <a:r>
              <a:rPr lang="pt-BR" i="1" dirty="0"/>
              <a:t>o </a:t>
            </a:r>
            <a:r>
              <a:rPr lang="pt-BR" i="1" dirty="0" smtClean="0"/>
              <a:t>Coro)</a:t>
            </a:r>
            <a:endParaRPr lang="pt-BR" i="1" dirty="0"/>
          </a:p>
          <a:p>
            <a:pPr marL="0" indent="0">
              <a:buNone/>
            </a:pPr>
            <a:r>
              <a:rPr lang="pt-BR" dirty="0" smtClean="0"/>
              <a:t>Duas </a:t>
            </a:r>
            <a:r>
              <a:rPr lang="pt-BR" dirty="0"/>
              <a:t>casas de fortuna, iguais em dignidade,</a:t>
            </a:r>
          </a:p>
          <a:p>
            <a:pPr marL="0" indent="0">
              <a:buNone/>
            </a:pPr>
            <a:r>
              <a:rPr lang="pt-BR" dirty="0"/>
              <a:t>Lá na bela Verona, o palco desta ação,</a:t>
            </a:r>
          </a:p>
          <a:p>
            <a:pPr marL="0" indent="0">
              <a:buNone/>
            </a:pPr>
            <a:r>
              <a:rPr lang="pt-BR" dirty="0"/>
              <a:t>Por um rancor antigo, em nova hostilidade</a:t>
            </a:r>
          </a:p>
          <a:p>
            <a:pPr marL="0" indent="0">
              <a:buNone/>
            </a:pPr>
            <a:r>
              <a:rPr lang="pt-BR" dirty="0"/>
              <a:t>Irrompem, derramando, irmãs, o sangue irmão.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Das vísceras fatais, da inimizade dura,</a:t>
            </a:r>
          </a:p>
          <a:p>
            <a:pPr marL="0" indent="0">
              <a:buNone/>
            </a:pPr>
            <a:r>
              <a:rPr lang="pt-BR" dirty="0"/>
              <a:t>Ao mundo vem um par de amantes desditosos,</a:t>
            </a:r>
          </a:p>
          <a:p>
            <a:pPr marL="0" indent="0">
              <a:buNone/>
            </a:pPr>
            <a:r>
              <a:rPr lang="pt-BR" dirty="0"/>
              <a:t>Que, ao preço de sua vida, em vária desventura,</a:t>
            </a:r>
          </a:p>
          <a:p>
            <a:pPr marL="0" indent="0">
              <a:buNone/>
            </a:pPr>
            <a:r>
              <a:rPr lang="pt-BR" dirty="0"/>
              <a:t>Põem fim à longa guerra e aos lances rancorosos.</a:t>
            </a:r>
          </a:p>
          <a:p>
            <a:pPr marL="0" indent="0">
              <a:buNone/>
            </a:pPr>
            <a:r>
              <a:rPr lang="pt-BR" dirty="0"/>
              <a:t>O fado desse amor, marcado pela morte,</a:t>
            </a:r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fúria dos seus pais, e os ódios mais extremos</a:t>
            </a:r>
            <a:r>
              <a:rPr lang="pt-BR" dirty="0" smtClean="0"/>
              <a:t>,</a:t>
            </a:r>
          </a:p>
          <a:p>
            <a:pPr marL="0" indent="0">
              <a:buNone/>
            </a:pPr>
            <a:r>
              <a:rPr lang="pt-BR" dirty="0" smtClean="0"/>
              <a:t>E a paz que decretou a dolorosa Sorte,</a:t>
            </a:r>
          </a:p>
          <a:p>
            <a:pPr marL="0" indent="0">
              <a:buNone/>
            </a:pPr>
            <a:r>
              <a:rPr lang="pt-BR" dirty="0" smtClean="0"/>
              <a:t>Nas </a:t>
            </a:r>
            <a:r>
              <a:rPr lang="pt-BR" dirty="0"/>
              <a:t>horas deste palco agora encenaremos.</a:t>
            </a:r>
          </a:p>
          <a:p>
            <a:pPr marL="0" indent="0">
              <a:buNone/>
            </a:pPr>
            <a:r>
              <a:rPr lang="pt-BR" dirty="0"/>
              <a:t>Vossa atenção eu rogo à história que começa;</a:t>
            </a:r>
          </a:p>
          <a:p>
            <a:pPr marL="0" indent="0">
              <a:buNone/>
            </a:pPr>
            <a:r>
              <a:rPr lang="pt-BR" dirty="0"/>
              <a:t>O que o resumo cala, encontrareis na peça.</a:t>
            </a:r>
          </a:p>
          <a:p>
            <a:pPr marL="0" indent="0">
              <a:buNone/>
            </a:pPr>
            <a:r>
              <a:rPr lang="pt-BR" i="1" dirty="0" smtClean="0"/>
              <a:t>(Sai)</a:t>
            </a:r>
            <a:endParaRPr lang="pt-BR" sz="24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85" y="3738297"/>
            <a:ext cx="2223221" cy="284140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657" y="598571"/>
            <a:ext cx="2682241" cy="205754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6414646" y="2588805"/>
            <a:ext cx="558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CORO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406105" y="6575726"/>
            <a:ext cx="15172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William Shakespeare</a:t>
            </a:r>
          </a:p>
        </p:txBody>
      </p:sp>
      <p:sp>
        <p:nvSpPr>
          <p:cNvPr id="6" name="Retângulo 5"/>
          <p:cNvSpPr/>
          <p:nvPr/>
        </p:nvSpPr>
        <p:spPr>
          <a:xfrm>
            <a:off x="7735675" y="299721"/>
            <a:ext cx="45092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Principais </a:t>
            </a:r>
            <a:r>
              <a:rPr lang="pt-BR" b="1" dirty="0" smtClean="0"/>
              <a:t>características:</a:t>
            </a:r>
          </a:p>
          <a:p>
            <a:r>
              <a:rPr lang="pt-BR" dirty="0" smtClean="0"/>
              <a:t> </a:t>
            </a:r>
            <a:endParaRPr lang="pt-BR" dirty="0"/>
          </a:p>
          <a:p>
            <a:r>
              <a:rPr lang="pt-BR" dirty="0" smtClean="0"/>
              <a:t>. a palavra usada para ser representada;</a:t>
            </a:r>
          </a:p>
          <a:p>
            <a:endParaRPr lang="pt-BR" dirty="0" smtClean="0"/>
          </a:p>
          <a:p>
            <a:r>
              <a:rPr lang="pt-BR" dirty="0" smtClean="0"/>
              <a:t>. divide-se em tragédia e comédia;</a:t>
            </a:r>
          </a:p>
          <a:p>
            <a:endParaRPr lang="pt-BR" dirty="0" smtClean="0"/>
          </a:p>
          <a:p>
            <a:r>
              <a:rPr lang="pt-BR" dirty="0" smtClean="0"/>
              <a:t>. ausência de narrador;</a:t>
            </a:r>
          </a:p>
          <a:p>
            <a:endParaRPr lang="pt-BR" dirty="0" smtClean="0"/>
          </a:p>
          <a:p>
            <a:r>
              <a:rPr lang="pt-BR" dirty="0" smtClean="0"/>
              <a:t>. as vozes das personagens constroem o texto;</a:t>
            </a:r>
          </a:p>
          <a:p>
            <a:endParaRPr lang="pt-BR" dirty="0" smtClean="0"/>
          </a:p>
          <a:p>
            <a:pPr algn="just"/>
            <a:r>
              <a:rPr lang="pt-BR" dirty="0" smtClean="0"/>
              <a:t>. a ação dramática constitui-se de exposição, conflito, complicação, clímax e desfecho;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. Possui informações cênicas: rubricas;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. Um dos elementos marcantes é a catarse. 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856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4651" y="217079"/>
            <a:ext cx="10515600" cy="505732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GÊNERO DRAMÁTICO (cont.)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80851" y="722811"/>
            <a:ext cx="5181600" cy="545156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pt-BR" sz="5600" b="1" dirty="0" smtClean="0"/>
          </a:p>
          <a:p>
            <a:pPr marL="0" indent="0">
              <a:buNone/>
            </a:pPr>
            <a:r>
              <a:rPr lang="pt-BR" sz="5600" b="1" dirty="0" smtClean="0"/>
              <a:t>Romeu</a:t>
            </a:r>
            <a:r>
              <a:rPr lang="pt-BR" sz="5600" b="1" dirty="0"/>
              <a:t>:</a:t>
            </a:r>
          </a:p>
          <a:p>
            <a:pPr marL="0" indent="0">
              <a:buNone/>
            </a:pPr>
            <a:r>
              <a:rPr lang="pt-BR" sz="5600" dirty="0"/>
              <a:t>Meu Deus, estou encantado</a:t>
            </a:r>
          </a:p>
          <a:p>
            <a:pPr marL="0" indent="0">
              <a:buNone/>
            </a:pPr>
            <a:r>
              <a:rPr lang="pt-BR" sz="5600" dirty="0"/>
              <a:t>com toda aquela beleza!</a:t>
            </a:r>
          </a:p>
          <a:p>
            <a:pPr marL="0" indent="0">
              <a:buNone/>
            </a:pPr>
            <a:r>
              <a:rPr lang="pt-BR" sz="5600" dirty="0"/>
              <a:t>Aquela Moça parece</a:t>
            </a:r>
          </a:p>
          <a:p>
            <a:pPr marL="0" indent="0">
              <a:buNone/>
            </a:pPr>
            <a:r>
              <a:rPr lang="pt-BR" sz="5600" dirty="0"/>
              <a:t>uma Fada, uma Princesa</a:t>
            </a:r>
            <a:r>
              <a:rPr lang="pt-BR" sz="5600" dirty="0" smtClean="0"/>
              <a:t>!</a:t>
            </a:r>
          </a:p>
          <a:p>
            <a:pPr marL="0" indent="0">
              <a:buNone/>
            </a:pPr>
            <a:r>
              <a:rPr lang="pt-BR" sz="5600" dirty="0" smtClean="0"/>
              <a:t>(</a:t>
            </a:r>
            <a:r>
              <a:rPr lang="pt-BR" sz="5600" i="1" dirty="0" smtClean="0"/>
              <a:t>Perguntando, fascinado</a:t>
            </a:r>
            <a:r>
              <a:rPr lang="pt-BR" sz="5600" dirty="0" smtClean="0"/>
              <a:t>) </a:t>
            </a:r>
            <a:r>
              <a:rPr lang="pt-BR" sz="5600" b="1" dirty="0" smtClean="0"/>
              <a:t>→ rubrica</a:t>
            </a:r>
            <a:endParaRPr lang="pt-BR" sz="5600" b="1" dirty="0"/>
          </a:p>
          <a:p>
            <a:pPr marL="0" indent="0">
              <a:buNone/>
            </a:pPr>
            <a:r>
              <a:rPr lang="pt-BR" sz="5600" dirty="0" err="1"/>
              <a:t>Mercúcio</a:t>
            </a:r>
            <a:r>
              <a:rPr lang="pt-BR" sz="5600" dirty="0"/>
              <a:t>, quem é aquela?</a:t>
            </a:r>
          </a:p>
          <a:p>
            <a:pPr marL="0" indent="0">
              <a:buNone/>
            </a:pPr>
            <a:r>
              <a:rPr lang="pt-BR" sz="5600" dirty="0"/>
              <a:t>Quem é aquela lindeza?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b="1" dirty="0" err="1"/>
              <a:t>Mercúcio</a:t>
            </a:r>
            <a:r>
              <a:rPr lang="pt-BR" sz="5600" b="1" dirty="0"/>
              <a:t>:</a:t>
            </a:r>
          </a:p>
          <a:p>
            <a:pPr marL="0" indent="0">
              <a:buNone/>
            </a:pPr>
            <a:r>
              <a:rPr lang="pt-BR" sz="5600" dirty="0"/>
              <a:t>É filha de </a:t>
            </a:r>
            <a:r>
              <a:rPr lang="pt-BR" sz="5600" dirty="0" err="1"/>
              <a:t>Capuleto</a:t>
            </a:r>
            <a:r>
              <a:rPr lang="pt-BR" sz="5600" dirty="0"/>
              <a:t>!</a:t>
            </a:r>
          </a:p>
          <a:p>
            <a:pPr marL="0" indent="0">
              <a:buNone/>
            </a:pPr>
            <a:r>
              <a:rPr lang="pt-BR" sz="5600" dirty="0"/>
              <a:t>O leque que ela trazia</a:t>
            </a:r>
          </a:p>
          <a:p>
            <a:pPr marL="0" indent="0">
              <a:buNone/>
            </a:pPr>
            <a:r>
              <a:rPr lang="pt-BR" sz="5600" dirty="0"/>
              <a:t>caiu de sua bela mão,</a:t>
            </a:r>
          </a:p>
          <a:p>
            <a:pPr marL="0" indent="0">
              <a:buNone/>
            </a:pPr>
            <a:r>
              <a:rPr lang="pt-BR" sz="5600" dirty="0"/>
              <a:t>quando, há pouco, se movia</a:t>
            </a:r>
            <a:r>
              <a:rPr lang="pt-BR" sz="5600" dirty="0" smtClean="0"/>
              <a:t>!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b="1" dirty="0"/>
              <a:t>Romeu:</a:t>
            </a:r>
          </a:p>
          <a:p>
            <a:pPr marL="0" indent="0">
              <a:buNone/>
            </a:pPr>
            <a:r>
              <a:rPr lang="pt-BR" sz="5600" dirty="0"/>
              <a:t>Eu vou lá! Vou apanhá-lo!</a:t>
            </a:r>
          </a:p>
          <a:p>
            <a:pPr marL="0" indent="0">
              <a:buNone/>
            </a:pPr>
            <a:r>
              <a:rPr lang="pt-BR" sz="5600" dirty="0"/>
              <a:t>(Entregando o leque:) </a:t>
            </a:r>
            <a:r>
              <a:rPr lang="pt-BR" sz="5600" b="1" dirty="0"/>
              <a:t>→ rubrica</a:t>
            </a:r>
          </a:p>
          <a:p>
            <a:pPr marL="0" indent="0">
              <a:buNone/>
            </a:pPr>
            <a:r>
              <a:rPr lang="pt-BR" sz="5600" dirty="0"/>
              <a:t>O leque lhe pertencia?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91497" y="722811"/>
            <a:ext cx="5181600" cy="601208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5600" b="1" dirty="0"/>
              <a:t>Julieta:</a:t>
            </a:r>
          </a:p>
          <a:p>
            <a:pPr marL="0" indent="0">
              <a:buNone/>
            </a:pPr>
            <a:r>
              <a:rPr lang="pt-BR" sz="5600" dirty="0"/>
              <a:t>Sim, o leque me pertence!</a:t>
            </a:r>
          </a:p>
          <a:p>
            <a:pPr marL="0" indent="0">
              <a:buNone/>
            </a:pPr>
            <a:r>
              <a:rPr lang="pt-BR" sz="5600" dirty="0"/>
              <a:t>Muito obrigada, Senhor!</a:t>
            </a:r>
          </a:p>
          <a:p>
            <a:pPr marL="0" indent="0">
              <a:buNone/>
            </a:pPr>
            <a:r>
              <a:rPr lang="pt-BR" sz="5600" dirty="0"/>
              <a:t>Em paga da gentileza</a:t>
            </a:r>
          </a:p>
          <a:p>
            <a:pPr marL="0" indent="0">
              <a:buNone/>
            </a:pPr>
            <a:r>
              <a:rPr lang="pt-BR" sz="5600" dirty="0"/>
              <a:t>queira aceitar esta flor:</a:t>
            </a:r>
          </a:p>
          <a:p>
            <a:pPr marL="0" indent="0">
              <a:buNone/>
            </a:pPr>
            <a:r>
              <a:rPr lang="pt-BR" sz="5600" dirty="0"/>
              <a:t>receba esta Violeta</a:t>
            </a:r>
          </a:p>
          <a:p>
            <a:pPr marL="0" indent="0">
              <a:buNone/>
            </a:pPr>
            <a:r>
              <a:rPr lang="pt-BR" sz="5600" dirty="0"/>
              <a:t>em troca do seu favor</a:t>
            </a:r>
            <a:r>
              <a:rPr lang="pt-BR" sz="5600" dirty="0" smtClean="0"/>
              <a:t>!</a:t>
            </a:r>
          </a:p>
          <a:p>
            <a:pPr marL="0" indent="0">
              <a:buNone/>
            </a:pPr>
            <a:endParaRPr lang="pt-BR" sz="5600" dirty="0" smtClean="0"/>
          </a:p>
          <a:p>
            <a:pPr marL="0" indent="0">
              <a:buNone/>
            </a:pPr>
            <a:r>
              <a:rPr lang="pt-BR" sz="5600" b="1" dirty="0"/>
              <a:t>Romeu:</a:t>
            </a:r>
          </a:p>
          <a:p>
            <a:pPr marL="0" indent="0">
              <a:buNone/>
            </a:pPr>
            <a:r>
              <a:rPr lang="pt-BR" sz="5600" dirty="0"/>
              <a:t>Eu beijo esta doce Flor</a:t>
            </a:r>
          </a:p>
          <a:p>
            <a:pPr marL="0" indent="0">
              <a:buNone/>
            </a:pPr>
            <a:r>
              <a:rPr lang="pt-BR" sz="5600" dirty="0"/>
              <a:t>Vou guardá-la junto ao peito,</a:t>
            </a:r>
          </a:p>
          <a:p>
            <a:pPr marL="0" indent="0">
              <a:buNone/>
            </a:pPr>
            <a:r>
              <a:rPr lang="pt-BR" sz="5600" dirty="0"/>
              <a:t>com todo amor e cuidado,</a:t>
            </a:r>
          </a:p>
          <a:p>
            <a:pPr marL="0" indent="0">
              <a:buNone/>
            </a:pPr>
            <a:r>
              <a:rPr lang="pt-BR" sz="5600" dirty="0"/>
              <a:t>como se fosse uma </a:t>
            </a:r>
            <a:r>
              <a:rPr lang="pt-BR" sz="5600" dirty="0" smtClean="0"/>
              <a:t>joia</a:t>
            </a:r>
            <a:endParaRPr lang="pt-BR" sz="5600" dirty="0"/>
          </a:p>
          <a:p>
            <a:pPr marL="0" indent="0">
              <a:buNone/>
            </a:pPr>
            <a:r>
              <a:rPr lang="pt-BR" sz="5600" dirty="0"/>
              <a:t>que aqui eu tivesse achado</a:t>
            </a:r>
            <a:r>
              <a:rPr lang="pt-BR" sz="5600" dirty="0" smtClean="0"/>
              <a:t>.</a:t>
            </a:r>
          </a:p>
          <a:p>
            <a:pPr marL="0" indent="0">
              <a:buNone/>
            </a:pPr>
            <a:endParaRPr lang="pt-BR" sz="5600" dirty="0"/>
          </a:p>
          <a:p>
            <a:pPr marL="0" indent="0">
              <a:buNone/>
            </a:pPr>
            <a:r>
              <a:rPr lang="pt-BR" sz="3600" dirty="0"/>
              <a:t>https://www.youtube.com/watch?v=gqqkn7gRNkE&amp;list=PLaALxC_iM0-ZxFX3iyPxPo35sOTz6jSCx&amp;index=4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003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520" y="69034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MÉTRICA (metrificação ou escansão)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0520" y="753293"/>
            <a:ext cx="10515600" cy="60959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Amor é um fogo que arde sem se ver</a:t>
            </a:r>
            <a:r>
              <a:rPr lang="pt-BR" dirty="0" smtClean="0"/>
              <a:t>;         </a:t>
            </a:r>
            <a:r>
              <a:rPr lang="pt-BR" dirty="0" smtClean="0">
                <a:solidFill>
                  <a:srgbClr val="0070C0"/>
                </a:solidFill>
              </a:rPr>
              <a:t>A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ferida que dói, e não se sente</a:t>
            </a:r>
            <a:r>
              <a:rPr lang="pt-BR" dirty="0" smtClean="0"/>
              <a:t>;                   </a:t>
            </a:r>
            <a:r>
              <a:rPr lang="pt-BR" dirty="0" smtClean="0">
                <a:solidFill>
                  <a:srgbClr val="0070C0"/>
                </a:solidFill>
              </a:rPr>
              <a:t>B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um contentamento descontente</a:t>
            </a:r>
            <a:r>
              <a:rPr lang="pt-BR" dirty="0" smtClean="0"/>
              <a:t>;              </a:t>
            </a:r>
            <a:r>
              <a:rPr lang="pt-BR" dirty="0" smtClean="0">
                <a:solidFill>
                  <a:srgbClr val="0070C0"/>
                </a:solidFill>
              </a:rPr>
              <a:t>B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dor que desatina sem doer</a:t>
            </a:r>
            <a:r>
              <a:rPr lang="pt-BR" dirty="0" smtClean="0"/>
              <a:t>.                        </a:t>
            </a:r>
            <a:r>
              <a:rPr lang="pt-BR" dirty="0" smtClean="0">
                <a:solidFill>
                  <a:srgbClr val="0070C0"/>
                </a:solidFill>
              </a:rPr>
              <a:t>A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É um não querer mais que bem querer</a:t>
            </a:r>
            <a:r>
              <a:rPr lang="pt-BR" dirty="0" smtClean="0"/>
              <a:t>;      </a:t>
            </a:r>
            <a:r>
              <a:rPr lang="pt-BR" dirty="0" smtClean="0">
                <a:solidFill>
                  <a:srgbClr val="0070C0"/>
                </a:solidFill>
              </a:rPr>
              <a:t>A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um andar solitário entre a gente</a:t>
            </a:r>
            <a:r>
              <a:rPr lang="pt-BR" dirty="0" smtClean="0"/>
              <a:t>;              </a:t>
            </a:r>
            <a:r>
              <a:rPr lang="pt-BR" dirty="0" smtClean="0">
                <a:solidFill>
                  <a:srgbClr val="0070C0"/>
                </a:solidFill>
              </a:rPr>
              <a:t>B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nunca </a:t>
            </a:r>
            <a:r>
              <a:rPr lang="pt-BR" dirty="0"/>
              <a:t>contentar-se </a:t>
            </a:r>
            <a:r>
              <a:rPr lang="pt-BR" dirty="0" smtClean="0"/>
              <a:t>de </a:t>
            </a:r>
            <a:r>
              <a:rPr lang="pt-BR" dirty="0"/>
              <a:t>contente</a:t>
            </a:r>
            <a:r>
              <a:rPr lang="pt-BR" dirty="0" smtClean="0"/>
              <a:t>;               </a:t>
            </a:r>
            <a:r>
              <a:rPr lang="pt-BR" dirty="0" smtClean="0">
                <a:solidFill>
                  <a:srgbClr val="0070C0"/>
                </a:solidFill>
              </a:rPr>
              <a:t>B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um cuidar que ganha em se perder</a:t>
            </a:r>
            <a:r>
              <a:rPr lang="pt-BR" dirty="0" smtClean="0"/>
              <a:t>;          </a:t>
            </a:r>
            <a:r>
              <a:rPr lang="pt-BR" dirty="0" smtClean="0">
                <a:solidFill>
                  <a:srgbClr val="0070C0"/>
                </a:solidFill>
              </a:rPr>
              <a:t>A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É querer estar preso por vontade</a:t>
            </a:r>
            <a:r>
              <a:rPr lang="pt-BR" dirty="0" smtClean="0"/>
              <a:t>;                 </a:t>
            </a:r>
            <a:r>
              <a:rPr lang="pt-BR" dirty="0" smtClean="0">
                <a:solidFill>
                  <a:srgbClr val="0070C0"/>
                </a:solidFill>
              </a:rPr>
              <a:t>C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servir a quem vence, o vencedor</a:t>
            </a:r>
            <a:r>
              <a:rPr lang="pt-BR" dirty="0" smtClean="0"/>
              <a:t>;               </a:t>
            </a:r>
            <a:r>
              <a:rPr lang="pt-BR" dirty="0" smtClean="0">
                <a:solidFill>
                  <a:srgbClr val="0070C0"/>
                </a:solidFill>
              </a:rPr>
              <a:t>D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ter com quem nos mata, lealdade</a:t>
            </a:r>
            <a:r>
              <a:rPr lang="pt-BR" dirty="0" smtClean="0"/>
              <a:t>.             </a:t>
            </a:r>
            <a:r>
              <a:rPr lang="pt-BR" dirty="0" smtClean="0">
                <a:solidFill>
                  <a:srgbClr val="0070C0"/>
                </a:solidFill>
              </a:rPr>
              <a:t>C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Mas como causar pode seu </a:t>
            </a:r>
            <a:r>
              <a:rPr lang="pt-BR" dirty="0" smtClean="0"/>
              <a:t>favor                   </a:t>
            </a:r>
            <a:r>
              <a:rPr lang="pt-BR" dirty="0" smtClean="0">
                <a:solidFill>
                  <a:srgbClr val="0070C0"/>
                </a:solidFill>
              </a:rPr>
              <a:t>D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nos </a:t>
            </a:r>
            <a:r>
              <a:rPr lang="pt-BR" dirty="0"/>
              <a:t>corações humanos amizade</a:t>
            </a:r>
            <a:r>
              <a:rPr lang="pt-BR" dirty="0" smtClean="0"/>
              <a:t>,                    </a:t>
            </a:r>
            <a:r>
              <a:rPr lang="pt-BR" dirty="0" smtClean="0">
                <a:solidFill>
                  <a:srgbClr val="0070C0"/>
                </a:solidFill>
              </a:rPr>
              <a:t>C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dirty="0" smtClean="0"/>
              <a:t>se </a:t>
            </a:r>
            <a:r>
              <a:rPr lang="pt-BR" dirty="0"/>
              <a:t>tão contrário a si é o mesmo Amor</a:t>
            </a:r>
            <a:r>
              <a:rPr lang="pt-BR" dirty="0" smtClean="0"/>
              <a:t>?         </a:t>
            </a:r>
            <a:r>
              <a:rPr lang="pt-BR" dirty="0" smtClean="0">
                <a:solidFill>
                  <a:srgbClr val="0070C0"/>
                </a:solidFill>
              </a:rPr>
              <a:t>D</a:t>
            </a:r>
            <a:endParaRPr lang="pt-BR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sz="2200" b="1" dirty="0" smtClean="0"/>
              <a:t>                                       Luís </a:t>
            </a:r>
            <a:r>
              <a:rPr lang="pt-BR" sz="2200" b="1" dirty="0"/>
              <a:t>Vaz de </a:t>
            </a:r>
            <a:r>
              <a:rPr lang="pt-BR" sz="2200" b="1" dirty="0" smtClean="0"/>
              <a:t>Camões. </a:t>
            </a:r>
            <a:r>
              <a:rPr lang="pt-BR" sz="2200" b="1" i="1" dirty="0" smtClean="0"/>
              <a:t>Sonetos</a:t>
            </a:r>
            <a:r>
              <a:rPr lang="pt-BR" sz="2200" b="1" dirty="0" smtClean="0"/>
              <a:t>.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264703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70262" y="1365797"/>
            <a:ext cx="1145177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dirty="0" smtClean="0"/>
              <a:t>A/mor/ </a:t>
            </a:r>
            <a:r>
              <a:rPr lang="pt-BR" sz="4000" dirty="0"/>
              <a:t>é </a:t>
            </a:r>
            <a:r>
              <a:rPr lang="pt-BR" sz="4000" dirty="0" smtClean="0"/>
              <a:t>um/ </a:t>
            </a:r>
            <a:r>
              <a:rPr lang="pt-BR" sz="4000" dirty="0" err="1" smtClean="0"/>
              <a:t>fo</a:t>
            </a:r>
            <a:r>
              <a:rPr lang="pt-BR" sz="4000" dirty="0" smtClean="0"/>
              <a:t>/go/ </a:t>
            </a:r>
            <a:r>
              <a:rPr lang="pt-BR" sz="4000" dirty="0"/>
              <a:t>que </a:t>
            </a:r>
            <a:r>
              <a:rPr lang="pt-BR" sz="4000" dirty="0" smtClean="0"/>
              <a:t>ar/de/ sem/ se/ </a:t>
            </a:r>
            <a:r>
              <a:rPr lang="pt-BR" sz="4000" dirty="0">
                <a:solidFill>
                  <a:srgbClr val="FF0000"/>
                </a:solidFill>
              </a:rPr>
              <a:t>ver</a:t>
            </a:r>
            <a:r>
              <a:rPr lang="pt-BR" sz="4000" dirty="0" smtClean="0"/>
              <a:t>;/    </a:t>
            </a:r>
            <a:r>
              <a:rPr lang="pt-BR" sz="4000" b="1" dirty="0" smtClean="0">
                <a:solidFill>
                  <a:srgbClr val="0070C0"/>
                </a:solidFill>
              </a:rPr>
              <a:t>A</a:t>
            </a:r>
          </a:p>
          <a:p>
            <a:endParaRPr lang="pt-BR" sz="4000" dirty="0" smtClean="0"/>
          </a:p>
          <a:p>
            <a:r>
              <a:rPr lang="pt-BR" sz="4000" dirty="0" smtClean="0"/>
              <a:t>é/ </a:t>
            </a:r>
            <a:r>
              <a:rPr lang="pt-BR" sz="4000" dirty="0" err="1" smtClean="0"/>
              <a:t>fe</a:t>
            </a:r>
            <a:r>
              <a:rPr lang="pt-BR" sz="4000" dirty="0" smtClean="0"/>
              <a:t>/ri/da/ que/ </a:t>
            </a:r>
            <a:r>
              <a:rPr lang="pt-BR" sz="4000" dirty="0"/>
              <a:t>dói</a:t>
            </a:r>
            <a:r>
              <a:rPr lang="pt-BR" sz="4000" dirty="0" smtClean="0"/>
              <a:t>,/ e/ não/ se/ </a:t>
            </a:r>
            <a:r>
              <a:rPr lang="pt-BR" sz="4000" dirty="0" err="1" smtClean="0">
                <a:solidFill>
                  <a:srgbClr val="FF0000"/>
                </a:solidFill>
              </a:rPr>
              <a:t>sen</a:t>
            </a:r>
            <a:r>
              <a:rPr lang="pt-BR" sz="4000" dirty="0" smtClean="0"/>
              <a:t>/</a:t>
            </a:r>
            <a:r>
              <a:rPr lang="pt-BR" sz="4000" strike="sngStrike" dirty="0" smtClean="0">
                <a:solidFill>
                  <a:srgbClr val="00B050"/>
                </a:solidFill>
              </a:rPr>
              <a:t>te</a:t>
            </a:r>
            <a:r>
              <a:rPr lang="pt-BR" sz="4000" dirty="0" smtClean="0"/>
              <a:t>;              </a:t>
            </a:r>
            <a:r>
              <a:rPr lang="pt-BR" sz="4000" b="1" dirty="0" smtClean="0">
                <a:solidFill>
                  <a:srgbClr val="0070C0"/>
                </a:solidFill>
              </a:rPr>
              <a:t>B</a:t>
            </a:r>
          </a:p>
          <a:p>
            <a:endParaRPr lang="pt-BR" sz="4000" dirty="0" smtClean="0"/>
          </a:p>
          <a:p>
            <a:r>
              <a:rPr lang="pt-BR" sz="4000" dirty="0" smtClean="0"/>
              <a:t>é/ um/ </a:t>
            </a:r>
            <a:r>
              <a:rPr lang="pt-BR" sz="4000" dirty="0" err="1" smtClean="0"/>
              <a:t>con</a:t>
            </a:r>
            <a:r>
              <a:rPr lang="pt-BR" sz="4000" dirty="0" smtClean="0"/>
              <a:t>/</a:t>
            </a:r>
            <a:r>
              <a:rPr lang="pt-BR" sz="4000" dirty="0" err="1" smtClean="0"/>
              <a:t>ten</a:t>
            </a:r>
            <a:r>
              <a:rPr lang="pt-BR" sz="4000" dirty="0" smtClean="0"/>
              <a:t>/</a:t>
            </a:r>
            <a:r>
              <a:rPr lang="pt-BR" sz="4000" dirty="0" err="1" smtClean="0"/>
              <a:t>ta</a:t>
            </a:r>
            <a:r>
              <a:rPr lang="pt-BR" sz="4000" dirty="0" smtClean="0"/>
              <a:t>/</a:t>
            </a:r>
            <a:r>
              <a:rPr lang="pt-BR" sz="4000" dirty="0" err="1" smtClean="0"/>
              <a:t>men</a:t>
            </a:r>
            <a:r>
              <a:rPr lang="pt-BR" sz="4000" dirty="0" smtClean="0"/>
              <a:t>/</a:t>
            </a:r>
            <a:r>
              <a:rPr lang="pt-BR" sz="4000" dirty="0" err="1" smtClean="0"/>
              <a:t>to</a:t>
            </a:r>
            <a:r>
              <a:rPr lang="pt-BR" sz="4000" dirty="0" smtClean="0"/>
              <a:t>/ </a:t>
            </a:r>
            <a:r>
              <a:rPr lang="pt-BR" sz="4000" dirty="0" err="1" smtClean="0"/>
              <a:t>des</a:t>
            </a:r>
            <a:r>
              <a:rPr lang="pt-BR" sz="4000" dirty="0" smtClean="0"/>
              <a:t>/</a:t>
            </a:r>
            <a:r>
              <a:rPr lang="pt-BR" sz="4000" dirty="0" err="1" smtClean="0"/>
              <a:t>con</a:t>
            </a:r>
            <a:r>
              <a:rPr lang="pt-BR" sz="4000" dirty="0" smtClean="0"/>
              <a:t>/</a:t>
            </a:r>
            <a:r>
              <a:rPr lang="pt-BR" sz="4000" dirty="0" err="1" smtClean="0">
                <a:solidFill>
                  <a:srgbClr val="FF0000"/>
                </a:solidFill>
              </a:rPr>
              <a:t>ten</a:t>
            </a:r>
            <a:r>
              <a:rPr lang="pt-BR" sz="4000" dirty="0" smtClean="0"/>
              <a:t>/</a:t>
            </a:r>
            <a:r>
              <a:rPr lang="pt-BR" sz="4000" strike="sngStrike" dirty="0" smtClean="0">
                <a:solidFill>
                  <a:srgbClr val="00B050"/>
                </a:solidFill>
              </a:rPr>
              <a:t>te</a:t>
            </a:r>
            <a:r>
              <a:rPr lang="pt-BR" sz="4000" dirty="0" smtClean="0"/>
              <a:t>;         </a:t>
            </a:r>
            <a:r>
              <a:rPr lang="pt-BR" sz="4000" b="1" dirty="0" smtClean="0">
                <a:solidFill>
                  <a:srgbClr val="0070C0"/>
                </a:solidFill>
              </a:rPr>
              <a:t>B</a:t>
            </a:r>
          </a:p>
          <a:p>
            <a:endParaRPr lang="pt-BR" sz="4000" dirty="0"/>
          </a:p>
          <a:p>
            <a:r>
              <a:rPr lang="pt-BR" sz="4000" dirty="0" smtClean="0"/>
              <a:t>é/ dor/ que/ de/</a:t>
            </a:r>
            <a:r>
              <a:rPr lang="pt-BR" sz="4000" dirty="0" err="1" smtClean="0"/>
              <a:t>sa</a:t>
            </a:r>
            <a:r>
              <a:rPr lang="pt-BR" sz="4000" dirty="0" smtClean="0"/>
              <a:t>/ti/na/ sem/ do/</a:t>
            </a:r>
            <a:r>
              <a:rPr lang="pt-BR" sz="4000" dirty="0" err="1" smtClean="0">
                <a:solidFill>
                  <a:srgbClr val="FF0000"/>
                </a:solidFill>
              </a:rPr>
              <a:t>er</a:t>
            </a:r>
            <a:r>
              <a:rPr lang="pt-BR" sz="4000" dirty="0" smtClean="0"/>
              <a:t>./                    </a:t>
            </a:r>
            <a:r>
              <a:rPr lang="pt-BR" sz="4000" b="1" dirty="0" smtClean="0">
                <a:solidFill>
                  <a:srgbClr val="0070C0"/>
                </a:solidFill>
              </a:rPr>
              <a:t>A</a:t>
            </a:r>
          </a:p>
          <a:p>
            <a:r>
              <a:rPr lang="pt-BR" sz="4000" b="1" dirty="0" smtClean="0">
                <a:solidFill>
                  <a:srgbClr val="0070C0"/>
                </a:solidFill>
              </a:rPr>
              <a:t>                                                        </a:t>
            </a:r>
          </a:p>
          <a:p>
            <a:r>
              <a:rPr lang="pt-BR" sz="3200" b="1" dirty="0" smtClean="0">
                <a:solidFill>
                  <a:srgbClr val="FF0000"/>
                </a:solidFill>
              </a:rPr>
              <a:t>versos decassílabos  </a:t>
            </a:r>
            <a:r>
              <a:rPr lang="pt-BR" sz="3200" b="1" dirty="0" smtClean="0">
                <a:solidFill>
                  <a:srgbClr val="0070C0"/>
                </a:solidFill>
              </a:rPr>
              <a:t>                                             rimas interpoladas</a:t>
            </a:r>
            <a:endParaRPr lang="pt-BR" sz="3200" b="1" dirty="0">
              <a:solidFill>
                <a:srgbClr val="0070C0"/>
              </a:solidFill>
            </a:endParaRPr>
          </a:p>
          <a:p>
            <a:endParaRPr lang="pt-BR" sz="4000" b="1" dirty="0">
              <a:solidFill>
                <a:srgbClr val="0070C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48342" y="161499"/>
            <a:ext cx="7953075" cy="15388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000" b="1" dirty="0">
                <a:solidFill>
                  <a:srgbClr val="FF0000"/>
                </a:solidFill>
              </a:rPr>
              <a:t>MÉTRICA (metrificação ou escansão</a:t>
            </a:r>
            <a:r>
              <a:rPr lang="pt-BR" sz="4000" b="1" dirty="0" smtClean="0">
                <a:solidFill>
                  <a:srgbClr val="FF0000"/>
                </a:solidFill>
              </a:rPr>
              <a:t>)</a:t>
            </a:r>
          </a:p>
          <a:p>
            <a:endParaRPr lang="pt-BR" sz="4000" b="1" dirty="0" smtClean="0">
              <a:solidFill>
                <a:srgbClr val="FF0000"/>
              </a:solidFill>
            </a:endParaRPr>
          </a:p>
          <a:p>
            <a:r>
              <a:rPr lang="pt-BR" sz="1400" b="1" dirty="0" smtClean="0">
                <a:solidFill>
                  <a:srgbClr val="FF0000"/>
                </a:solidFill>
              </a:rPr>
              <a:t>                                                   elisão                                                                    </a:t>
            </a:r>
            <a:r>
              <a:rPr lang="pt-BR" sz="1400" b="1" dirty="0" err="1" smtClean="0">
                <a:solidFill>
                  <a:srgbClr val="FF0000"/>
                </a:solidFill>
              </a:rPr>
              <a:t>elisão</a:t>
            </a:r>
            <a:endParaRPr lang="pt-BR" sz="1400" b="1" dirty="0">
              <a:solidFill>
                <a:srgbClr val="FF0000"/>
              </a:solidFill>
            </a:endParaRPr>
          </a:p>
        </p:txBody>
      </p:sp>
      <p:sp>
        <p:nvSpPr>
          <p:cNvPr id="4" name="Semicírculo 3"/>
          <p:cNvSpPr/>
          <p:nvPr/>
        </p:nvSpPr>
        <p:spPr>
          <a:xfrm rot="10800000">
            <a:off x="2351314" y="1802673"/>
            <a:ext cx="600892" cy="435429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790" y="2020388"/>
            <a:ext cx="609653" cy="2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2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0851" y="225789"/>
            <a:ext cx="11736977" cy="688612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VERSOS MAIS FAMOSOS NA LITERATURA, QUANTO AO NÚMERO DE SÍLABAS POÉTICAS 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1183" y="1811383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4800" dirty="0" smtClean="0"/>
              <a:t>. 5→  redondilha menor</a:t>
            </a:r>
          </a:p>
          <a:p>
            <a:pPr marL="0" indent="0">
              <a:buNone/>
            </a:pPr>
            <a:r>
              <a:rPr lang="pt-BR" sz="4800" dirty="0" smtClean="0"/>
              <a:t>. 7→  </a:t>
            </a:r>
            <a:r>
              <a:rPr lang="pt-BR" sz="4800" dirty="0"/>
              <a:t>redondilha </a:t>
            </a:r>
            <a:r>
              <a:rPr lang="pt-BR" sz="4800" dirty="0" smtClean="0"/>
              <a:t>maior</a:t>
            </a:r>
          </a:p>
          <a:p>
            <a:pPr marL="0" indent="0">
              <a:buNone/>
            </a:pPr>
            <a:endParaRPr lang="pt-BR" sz="4800" dirty="0" smtClean="0"/>
          </a:p>
          <a:p>
            <a:pPr marL="0" indent="0">
              <a:buNone/>
            </a:pPr>
            <a:r>
              <a:rPr lang="pt-BR" sz="4800" dirty="0" smtClean="0"/>
              <a:t>. 10→ decassílabo</a:t>
            </a:r>
          </a:p>
          <a:p>
            <a:pPr marL="0" indent="0">
              <a:buNone/>
            </a:pPr>
            <a:endParaRPr lang="pt-BR" sz="4800" dirty="0" smtClean="0"/>
          </a:p>
          <a:p>
            <a:pPr marL="0" indent="0">
              <a:buNone/>
            </a:pPr>
            <a:r>
              <a:rPr lang="pt-BR" sz="4800" dirty="0" smtClean="0"/>
              <a:t>. 12→ alexandrino</a:t>
            </a:r>
            <a:endParaRPr lang="pt-BR" sz="4800" dirty="0"/>
          </a:p>
        </p:txBody>
      </p:sp>
      <p:sp>
        <p:nvSpPr>
          <p:cNvPr id="4" name="Chave Direita 3"/>
          <p:cNvSpPr/>
          <p:nvPr/>
        </p:nvSpPr>
        <p:spPr>
          <a:xfrm>
            <a:off x="6252755" y="1705928"/>
            <a:ext cx="261257" cy="12975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6600" dirty="0"/>
          </a:p>
        </p:txBody>
      </p:sp>
      <p:sp>
        <p:nvSpPr>
          <p:cNvPr id="5" name="Retângulo 4"/>
          <p:cNvSpPr/>
          <p:nvPr/>
        </p:nvSpPr>
        <p:spPr>
          <a:xfrm>
            <a:off x="7079285" y="1945416"/>
            <a:ext cx="27000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600" dirty="0">
                <a:solidFill>
                  <a:srgbClr val="00B050"/>
                </a:solidFill>
              </a:rPr>
              <a:t>medida velha</a:t>
            </a:r>
          </a:p>
        </p:txBody>
      </p:sp>
    </p:spTree>
    <p:extLst>
      <p:ext uri="{BB962C8B-B14F-4D97-AF65-F5344CB8AC3E}">
        <p14:creationId xmlns:p14="http://schemas.microsoft.com/office/powerpoint/2010/main" val="424307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388" y="121285"/>
            <a:ext cx="11684726" cy="706029"/>
          </a:xfrm>
        </p:spPr>
        <p:txBody>
          <a:bodyPr>
            <a:norm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QUANTO À CLASSE GRAMATICAL, A RIMA PODE SER: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72142" y="957944"/>
            <a:ext cx="11710852" cy="57650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. pobre   </a:t>
            </a:r>
            <a:r>
              <a:rPr lang="pt-BR" sz="1600" dirty="0" smtClean="0"/>
              <a:t>De </a:t>
            </a:r>
            <a:r>
              <a:rPr lang="pt-BR" sz="1600" dirty="0"/>
              <a:t>repente do riso fez-se o </a:t>
            </a:r>
            <a:r>
              <a:rPr lang="pt-BR" sz="1600" dirty="0" smtClean="0">
                <a:solidFill>
                  <a:srgbClr val="0070C0"/>
                </a:solidFill>
              </a:rPr>
              <a:t>pranto                </a:t>
            </a:r>
            <a:r>
              <a:rPr lang="pt-BR" sz="1600" dirty="0" smtClean="0"/>
              <a:t>(substantivo)</a:t>
            </a:r>
            <a:endParaRPr lang="pt-BR" sz="1600" dirty="0"/>
          </a:p>
          <a:p>
            <a:pPr marL="0" indent="0">
              <a:buNone/>
            </a:pPr>
            <a:r>
              <a:rPr lang="pt-BR" sz="1600" dirty="0" smtClean="0"/>
              <a:t>                           Silencioso </a:t>
            </a:r>
            <a:r>
              <a:rPr lang="pt-BR" sz="1600" dirty="0"/>
              <a:t>e branco como a </a:t>
            </a:r>
            <a:r>
              <a:rPr lang="pt-BR" sz="1600" dirty="0" smtClean="0">
                <a:solidFill>
                  <a:srgbClr val="C00000"/>
                </a:solidFill>
              </a:rPr>
              <a:t>bruma                </a:t>
            </a:r>
            <a:r>
              <a:rPr lang="pt-BR" sz="1600" dirty="0" smtClean="0"/>
              <a:t>(</a:t>
            </a:r>
            <a:r>
              <a:rPr lang="pt-BR" sz="1600" dirty="0"/>
              <a:t>substantivo)</a:t>
            </a:r>
          </a:p>
          <a:p>
            <a:pPr marL="0" indent="0">
              <a:buNone/>
            </a:pPr>
            <a:r>
              <a:rPr lang="pt-BR" sz="1600" dirty="0" smtClean="0"/>
              <a:t>                           E </a:t>
            </a:r>
            <a:r>
              <a:rPr lang="pt-BR" sz="1600" dirty="0"/>
              <a:t>das bocas unidas fez-se a </a:t>
            </a:r>
            <a:r>
              <a:rPr lang="pt-BR" sz="1600" dirty="0" smtClean="0">
                <a:solidFill>
                  <a:srgbClr val="C00000"/>
                </a:solidFill>
              </a:rPr>
              <a:t>espuma              </a:t>
            </a:r>
            <a:r>
              <a:rPr lang="pt-BR" sz="1600" dirty="0" smtClean="0"/>
              <a:t>(</a:t>
            </a:r>
            <a:r>
              <a:rPr lang="pt-BR" sz="1600" dirty="0"/>
              <a:t>substantivo)</a:t>
            </a:r>
          </a:p>
          <a:p>
            <a:pPr marL="0" indent="0">
              <a:buNone/>
            </a:pPr>
            <a:r>
              <a:rPr lang="pt-BR" sz="1600" dirty="0" smtClean="0"/>
              <a:t>                           E </a:t>
            </a:r>
            <a:r>
              <a:rPr lang="pt-BR" sz="1600" dirty="0"/>
              <a:t>das mãos espalmadas fez-se o </a:t>
            </a:r>
            <a:r>
              <a:rPr lang="pt-BR" sz="1600" dirty="0" smtClean="0">
                <a:solidFill>
                  <a:srgbClr val="0070C0"/>
                </a:solidFill>
              </a:rPr>
              <a:t>espanto     </a:t>
            </a:r>
            <a:r>
              <a:rPr lang="pt-BR" sz="1600" dirty="0" smtClean="0"/>
              <a:t>(</a:t>
            </a:r>
            <a:r>
              <a:rPr lang="pt-BR" sz="1600" dirty="0"/>
              <a:t>substantivo)</a:t>
            </a:r>
            <a:endParaRPr lang="pt-BR" sz="1600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 rica       </a:t>
            </a:r>
            <a:r>
              <a:rPr lang="pt-BR" sz="1600" dirty="0"/>
              <a:t>Mas que na forma se disfarce o </a:t>
            </a:r>
            <a:r>
              <a:rPr lang="pt-BR" sz="1600" dirty="0" smtClean="0">
                <a:solidFill>
                  <a:srgbClr val="0070C0"/>
                </a:solidFill>
              </a:rPr>
              <a:t>emprego     </a:t>
            </a:r>
            <a:r>
              <a:rPr lang="pt-BR" sz="1600" dirty="0" smtClean="0"/>
              <a:t>(substantivo)</a:t>
            </a:r>
            <a:endParaRPr lang="pt-BR" sz="1600" dirty="0"/>
          </a:p>
          <a:p>
            <a:pPr marL="0" indent="0">
              <a:buNone/>
            </a:pPr>
            <a:r>
              <a:rPr lang="pt-BR" sz="1600" dirty="0" smtClean="0"/>
              <a:t>                           Do </a:t>
            </a:r>
            <a:r>
              <a:rPr lang="pt-BR" sz="1600" dirty="0"/>
              <a:t>esforço: e trama viva se </a:t>
            </a:r>
            <a:r>
              <a:rPr lang="pt-BR" sz="1600" dirty="0" smtClean="0">
                <a:solidFill>
                  <a:srgbClr val="C00000"/>
                </a:solidFill>
              </a:rPr>
              <a:t>construa              </a:t>
            </a:r>
            <a:r>
              <a:rPr lang="pt-BR" sz="1600" dirty="0" smtClean="0"/>
              <a:t>(verbo)</a:t>
            </a:r>
            <a:endParaRPr lang="pt-BR" sz="1600" dirty="0"/>
          </a:p>
          <a:p>
            <a:pPr marL="0" indent="0">
              <a:buNone/>
            </a:pPr>
            <a:r>
              <a:rPr lang="pt-BR" sz="1600" dirty="0" smtClean="0"/>
              <a:t>                           De </a:t>
            </a:r>
            <a:r>
              <a:rPr lang="pt-BR" sz="1600" dirty="0"/>
              <a:t>tal modo, que a imagem fique </a:t>
            </a:r>
            <a:r>
              <a:rPr lang="pt-BR" sz="1600" dirty="0" smtClean="0">
                <a:solidFill>
                  <a:srgbClr val="C00000"/>
                </a:solidFill>
              </a:rPr>
              <a:t>nua           </a:t>
            </a:r>
            <a:r>
              <a:rPr lang="pt-BR" sz="1600" dirty="0" smtClean="0"/>
              <a:t>(adjetivo)</a:t>
            </a:r>
            <a:endParaRPr lang="pt-BR" sz="1600" dirty="0"/>
          </a:p>
          <a:p>
            <a:pPr marL="0" indent="0">
              <a:buNone/>
            </a:pPr>
            <a:r>
              <a:rPr lang="pt-BR" sz="1600" dirty="0" smtClean="0"/>
              <a:t>                           Rica </a:t>
            </a:r>
            <a:r>
              <a:rPr lang="pt-BR" sz="1600" dirty="0"/>
              <a:t>mas sóbria, como um templo </a:t>
            </a:r>
            <a:r>
              <a:rPr lang="pt-BR" sz="1600" dirty="0" smtClean="0">
                <a:solidFill>
                  <a:srgbClr val="0070C0"/>
                </a:solidFill>
              </a:rPr>
              <a:t>grego       </a:t>
            </a:r>
            <a:r>
              <a:rPr lang="pt-BR" sz="1600" dirty="0" smtClean="0"/>
              <a:t>(adjetivo)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 rara     </a:t>
            </a:r>
            <a:r>
              <a:rPr lang="pt-BR" sz="1600" dirty="0" smtClean="0"/>
              <a:t>É </a:t>
            </a:r>
            <a:r>
              <a:rPr lang="pt-BR" sz="1600" dirty="0"/>
              <a:t>tanta a glória que nos encaminha</a:t>
            </a:r>
          </a:p>
          <a:p>
            <a:pPr marL="0" indent="0">
              <a:buNone/>
            </a:pPr>
            <a:r>
              <a:rPr lang="pt-BR" sz="1600" dirty="0" smtClean="0"/>
              <a:t>                          Em </a:t>
            </a:r>
            <a:r>
              <a:rPr lang="pt-BR" sz="1600" dirty="0"/>
              <a:t>nosso amor de seleção, profundo</a:t>
            </a:r>
            <a:r>
              <a:rPr lang="pt-BR" sz="1600" dirty="0" smtClean="0"/>
              <a:t>,</a:t>
            </a:r>
          </a:p>
          <a:p>
            <a:pPr marL="0" indent="0">
              <a:buNone/>
            </a:pPr>
            <a:r>
              <a:rPr lang="pt-BR" sz="1600" dirty="0" smtClean="0"/>
              <a:t>                          Que (ouço ao longe o oráculo de </a:t>
            </a:r>
            <a:r>
              <a:rPr lang="pt-BR" sz="1600" dirty="0" err="1" smtClean="0">
                <a:solidFill>
                  <a:srgbClr val="0070C0"/>
                </a:solidFill>
              </a:rPr>
              <a:t>Elêusis</a:t>
            </a:r>
            <a:r>
              <a:rPr lang="pt-BR" sz="1600" dirty="0" smtClean="0"/>
              <a:t>) </a:t>
            </a:r>
          </a:p>
          <a:p>
            <a:pPr marL="0" indent="0">
              <a:buNone/>
            </a:pPr>
            <a:r>
              <a:rPr lang="pt-BR" sz="1600" dirty="0"/>
              <a:t>                          (...) </a:t>
            </a:r>
            <a:r>
              <a:rPr lang="pt-BR" sz="1600" dirty="0" smtClean="0"/>
              <a:t>                                                                          rimas </a:t>
            </a:r>
            <a:r>
              <a:rPr lang="pt-BR" sz="1600" dirty="0"/>
              <a:t>que se constituem </a:t>
            </a:r>
            <a:r>
              <a:rPr lang="pt-BR" sz="1600" dirty="0" smtClean="0"/>
              <a:t>de </a:t>
            </a:r>
            <a:r>
              <a:rPr lang="pt-BR" sz="1600" dirty="0"/>
              <a:t>terminações incomuns, não muito convencionais.</a:t>
            </a:r>
          </a:p>
          <a:p>
            <a:pPr marL="0" indent="0">
              <a:buNone/>
            </a:pPr>
            <a:r>
              <a:rPr lang="pt-BR" sz="1600" dirty="0" smtClean="0"/>
              <a:t>                          E </a:t>
            </a:r>
            <a:r>
              <a:rPr lang="pt-BR" sz="1600" dirty="0"/>
              <a:t>do teu ventre nasceriam </a:t>
            </a:r>
            <a:r>
              <a:rPr lang="pt-BR" sz="1600" dirty="0">
                <a:solidFill>
                  <a:srgbClr val="0070C0"/>
                </a:solidFill>
              </a:rPr>
              <a:t>deuses</a:t>
            </a:r>
            <a:r>
              <a:rPr lang="pt-BR" sz="1600" dirty="0"/>
              <a:t>...</a:t>
            </a:r>
          </a:p>
        </p:txBody>
      </p:sp>
      <p:sp>
        <p:nvSpPr>
          <p:cNvPr id="5" name="Chave Direita 4"/>
          <p:cNvSpPr/>
          <p:nvPr/>
        </p:nvSpPr>
        <p:spPr>
          <a:xfrm>
            <a:off x="4868091" y="5538651"/>
            <a:ext cx="174172" cy="10450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83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349" y="112577"/>
            <a:ext cx="11501846" cy="941161"/>
          </a:xfrm>
        </p:spPr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QUANTO À POSIÇÃO NA ESTROFE, A RIMA PODE SER: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72143" y="1425031"/>
            <a:ext cx="11649892" cy="5080272"/>
          </a:xfrm>
        </p:spPr>
        <p:txBody>
          <a:bodyPr>
            <a:noAutofit/>
          </a:bodyPr>
          <a:lstStyle/>
          <a:p>
            <a:r>
              <a:rPr lang="pt-BR" sz="3600" b="1" dirty="0" smtClean="0"/>
              <a:t>alternada</a:t>
            </a:r>
            <a:r>
              <a:rPr lang="pt-BR" sz="3600" dirty="0" smtClean="0"/>
              <a:t> (ou cruzada)→ </a:t>
            </a:r>
            <a:r>
              <a:rPr lang="pt-BR" sz="3600" dirty="0" smtClean="0">
                <a:solidFill>
                  <a:srgbClr val="0070C0"/>
                </a:solidFill>
              </a:rPr>
              <a:t>ABAB</a:t>
            </a:r>
          </a:p>
          <a:p>
            <a:r>
              <a:rPr lang="pt-BR" sz="3600" b="1" dirty="0" smtClean="0"/>
              <a:t>emparelhada</a:t>
            </a:r>
            <a:r>
              <a:rPr lang="pt-BR" sz="3600" dirty="0" smtClean="0"/>
              <a:t> (ou paralela) </a:t>
            </a:r>
            <a:r>
              <a:rPr lang="pt-BR" sz="3600" dirty="0"/>
              <a:t>→ </a:t>
            </a:r>
            <a:r>
              <a:rPr lang="pt-BR" sz="3600" dirty="0" smtClean="0">
                <a:solidFill>
                  <a:srgbClr val="0070C0"/>
                </a:solidFill>
              </a:rPr>
              <a:t>AABB</a:t>
            </a:r>
          </a:p>
          <a:p>
            <a:r>
              <a:rPr lang="pt-BR" sz="3600" b="1" dirty="0" smtClean="0"/>
              <a:t>interpolada </a:t>
            </a:r>
            <a:r>
              <a:rPr lang="pt-BR" sz="3600" dirty="0" smtClean="0"/>
              <a:t>(ou intercalada) </a:t>
            </a:r>
            <a:r>
              <a:rPr lang="pt-BR" sz="3600" dirty="0"/>
              <a:t>→</a:t>
            </a:r>
            <a:r>
              <a:rPr lang="pt-BR" sz="3600" dirty="0" smtClean="0">
                <a:solidFill>
                  <a:srgbClr val="0070C0"/>
                </a:solidFill>
              </a:rPr>
              <a:t>ABBA</a:t>
            </a:r>
          </a:p>
          <a:p>
            <a:endParaRPr lang="pt-BR" sz="3600" dirty="0" smtClean="0"/>
          </a:p>
          <a:p>
            <a:r>
              <a:rPr lang="pt-BR" sz="3600" dirty="0" smtClean="0"/>
              <a:t>encadeada</a:t>
            </a:r>
          </a:p>
          <a:p>
            <a:r>
              <a:rPr lang="pt-BR" sz="3600" dirty="0" smtClean="0"/>
              <a:t>mista (ou misturada)</a:t>
            </a:r>
          </a:p>
          <a:p>
            <a:endParaRPr lang="pt-BR" sz="3600" dirty="0" smtClean="0"/>
          </a:p>
          <a:p>
            <a:pPr marL="0" indent="0">
              <a:buNone/>
            </a:pPr>
            <a:r>
              <a:rPr lang="pt-BR" sz="3200" dirty="0" smtClean="0">
                <a:solidFill>
                  <a:srgbClr val="FF0000"/>
                </a:solidFill>
              </a:rPr>
              <a:t>Obs.: versos brancos (ou </a:t>
            </a:r>
            <a:r>
              <a:rPr lang="pt-BR" sz="3200" dirty="0">
                <a:solidFill>
                  <a:srgbClr val="FF0000"/>
                </a:solidFill>
              </a:rPr>
              <a:t>soltos) → </a:t>
            </a:r>
            <a:r>
              <a:rPr lang="pt-BR" sz="3200" dirty="0" smtClean="0">
                <a:solidFill>
                  <a:srgbClr val="FF0000"/>
                </a:solidFill>
              </a:rPr>
              <a:t>versos que não apresentam rimas.</a:t>
            </a:r>
            <a:endParaRPr lang="pt-BR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550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91886" y="257469"/>
            <a:ext cx="11573691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0000"/>
                </a:solidFill>
              </a:rPr>
              <a:t>SONETO ITALIANO</a:t>
            </a:r>
          </a:p>
          <a:p>
            <a:endParaRPr lang="pt-BR" sz="2800" b="1" dirty="0" smtClean="0">
              <a:solidFill>
                <a:srgbClr val="FF0000"/>
              </a:solidFill>
            </a:endParaRPr>
          </a:p>
          <a:p>
            <a:r>
              <a:rPr lang="pt-BR" dirty="0" smtClean="0"/>
              <a:t>Vós </a:t>
            </a:r>
            <a:r>
              <a:rPr lang="pt-BR" dirty="0"/>
              <a:t>que em rimas, brotando ao coração,</a:t>
            </a:r>
          </a:p>
          <a:p>
            <a:r>
              <a:rPr lang="pt-BR" dirty="0"/>
              <a:t>Ouvistes dos suspiros o rumor</a:t>
            </a:r>
          </a:p>
          <a:p>
            <a:r>
              <a:rPr lang="pt-BR" dirty="0"/>
              <a:t>Do meu primeiro e juvenil </a:t>
            </a:r>
            <a:r>
              <a:rPr lang="pt-BR" dirty="0" err="1"/>
              <a:t>error</a:t>
            </a:r>
            <a:r>
              <a:rPr lang="pt-BR" dirty="0"/>
              <a:t>,</a:t>
            </a:r>
          </a:p>
          <a:p>
            <a:r>
              <a:rPr lang="pt-BR" dirty="0"/>
              <a:t>Quando era outra a minha condição;</a:t>
            </a:r>
          </a:p>
          <a:p>
            <a:endParaRPr lang="pt-BR" dirty="0"/>
          </a:p>
          <a:p>
            <a:r>
              <a:rPr lang="pt-BR" dirty="0"/>
              <a:t>Aos versos, em que choro sem razão</a:t>
            </a:r>
          </a:p>
          <a:p>
            <a:r>
              <a:rPr lang="pt-BR" dirty="0"/>
              <a:t>Entre a vã esperança e o vão temor,</a:t>
            </a:r>
          </a:p>
          <a:p>
            <a:r>
              <a:rPr lang="pt-BR" dirty="0"/>
              <a:t>Onde haja quem por prova entenda amor,</a:t>
            </a:r>
          </a:p>
          <a:p>
            <a:r>
              <a:rPr lang="pt-BR" dirty="0"/>
              <a:t>Espero achar piedade, não perdão.</a:t>
            </a:r>
          </a:p>
          <a:p>
            <a:endParaRPr lang="pt-BR" dirty="0"/>
          </a:p>
          <a:p>
            <a:r>
              <a:rPr lang="pt-BR" dirty="0"/>
              <a:t>E, a toda a gente, só agora vejo</a:t>
            </a:r>
          </a:p>
          <a:p>
            <a:r>
              <a:rPr lang="pt-BR" dirty="0"/>
              <a:t>Que fui causa de riso, tão-somente,</a:t>
            </a:r>
          </a:p>
          <a:p>
            <a:r>
              <a:rPr lang="pt-BR" dirty="0"/>
              <a:t>Do que comigo mesmo me envergonho.</a:t>
            </a:r>
          </a:p>
          <a:p>
            <a:endParaRPr lang="pt-BR" dirty="0"/>
          </a:p>
          <a:p>
            <a:r>
              <a:rPr lang="pt-BR" dirty="0"/>
              <a:t>E é a vergonha o fruto do desejo,</a:t>
            </a:r>
          </a:p>
          <a:p>
            <a:r>
              <a:rPr lang="pt-BR" dirty="0"/>
              <a:t>E o carpir, percebendo claramente</a:t>
            </a:r>
          </a:p>
          <a:p>
            <a:r>
              <a:rPr lang="pt-BR" dirty="0"/>
              <a:t>Que quanto apraz ao mundo é breve sonho.</a:t>
            </a:r>
          </a:p>
          <a:p>
            <a:endParaRPr lang="pt-BR" dirty="0"/>
          </a:p>
          <a:p>
            <a:r>
              <a:rPr lang="pt-BR" sz="1200" b="1" dirty="0" smtClean="0"/>
              <a:t>                                                     PETRARCA</a:t>
            </a:r>
            <a:r>
              <a:rPr lang="pt-BR" sz="1200" b="1" dirty="0"/>
              <a:t>, Francesco. Soneto 1. In: LYRA, Pedro (Trad.). </a:t>
            </a:r>
            <a:r>
              <a:rPr lang="pt-BR" sz="1200" b="1" i="1" dirty="0"/>
              <a:t>Vinte sonetos de amor e uma canção de despedida</a:t>
            </a:r>
            <a:r>
              <a:rPr lang="pt-BR" sz="1200" b="1" dirty="0"/>
              <a:t>. Revista Brasileira, Rio de Janeiro, 2006.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471" y="718443"/>
            <a:ext cx="3388179" cy="520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25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09302" y="359458"/>
            <a:ext cx="1147789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 smtClean="0">
                <a:solidFill>
                  <a:srgbClr val="FF0000"/>
                </a:solidFill>
              </a:rPr>
              <a:t>SONETO INGLÊS</a:t>
            </a:r>
          </a:p>
          <a:p>
            <a:endParaRPr lang="pt-BR" sz="3600" dirty="0" smtClean="0">
              <a:solidFill>
                <a:srgbClr val="FF0000"/>
              </a:solidFill>
            </a:endParaRPr>
          </a:p>
          <a:p>
            <a:r>
              <a:rPr lang="pt-BR" dirty="0" smtClean="0"/>
              <a:t>Quando </a:t>
            </a:r>
            <a:r>
              <a:rPr lang="pt-BR" dirty="0"/>
              <a:t>no assédio de quarenta invernos</a:t>
            </a:r>
          </a:p>
          <a:p>
            <a:r>
              <a:rPr lang="pt-BR" dirty="0"/>
              <a:t>Se cavarem as linhas de teu rosto,</a:t>
            </a:r>
          </a:p>
          <a:p>
            <a:r>
              <a:rPr lang="pt-BR" dirty="0"/>
              <a:t>Da juventude os teus galões </a:t>
            </a:r>
            <a:r>
              <a:rPr lang="pt-BR" dirty="0" err="1"/>
              <a:t>supernos</a:t>
            </a:r>
            <a:endParaRPr lang="pt-BR" dirty="0"/>
          </a:p>
          <a:p>
            <a:r>
              <a:rPr lang="pt-BR" dirty="0"/>
              <a:t>Pobres andrajos se tiverem posto,</a:t>
            </a:r>
          </a:p>
          <a:p>
            <a:r>
              <a:rPr lang="pt-BR" dirty="0"/>
              <a:t>Se então te perguntarem pelo fausto</a:t>
            </a:r>
          </a:p>
          <a:p>
            <a:r>
              <a:rPr lang="pt-BR" dirty="0"/>
              <a:t>De teus dias de glória e de beleza,</a:t>
            </a:r>
          </a:p>
          <a:p>
            <a:r>
              <a:rPr lang="pt-BR" dirty="0"/>
              <a:t>Dizer que tudo jaz no olhar exausto,</a:t>
            </a:r>
          </a:p>
          <a:p>
            <a:r>
              <a:rPr lang="pt-BR" dirty="0"/>
              <a:t>Opróbrio fora, encômio sem grandeza.</a:t>
            </a:r>
          </a:p>
          <a:p>
            <a:r>
              <a:rPr lang="pt-BR" dirty="0"/>
              <a:t>Mais mérito terias nessa usança</a:t>
            </a:r>
          </a:p>
          <a:p>
            <a:r>
              <a:rPr lang="pt-BR" dirty="0"/>
              <a:t>Se pudesses dizer: “Meu filho </a:t>
            </a:r>
            <a:r>
              <a:rPr lang="pt-BR" dirty="0" err="1"/>
              <a:t>há-de</a:t>
            </a:r>
            <a:endParaRPr lang="pt-BR" dirty="0"/>
          </a:p>
          <a:p>
            <a:r>
              <a:rPr lang="pt-BR" dirty="0"/>
              <a:t>Saldar-me a dívida, exculpar-me a idade”,</a:t>
            </a:r>
          </a:p>
          <a:p>
            <a:r>
              <a:rPr lang="pt-BR" dirty="0"/>
              <a:t>Provando que a beleza é tua herança.</a:t>
            </a:r>
          </a:p>
          <a:p>
            <a:endParaRPr lang="pt-BR" dirty="0"/>
          </a:p>
          <a:p>
            <a:r>
              <a:rPr lang="pt-BR" dirty="0"/>
              <a:t>Fora tornar em novo as coisas velhas</a:t>
            </a:r>
          </a:p>
          <a:p>
            <a:r>
              <a:rPr lang="pt-BR" dirty="0"/>
              <a:t>E ver o sangue quente enquanto engelhas.</a:t>
            </a:r>
          </a:p>
          <a:p>
            <a:endParaRPr lang="pt-BR" sz="1200" b="1" dirty="0" smtClean="0"/>
          </a:p>
          <a:p>
            <a:endParaRPr lang="pt-BR" sz="1200" b="1" dirty="0"/>
          </a:p>
          <a:p>
            <a:r>
              <a:rPr lang="pt-BR" sz="1200" b="1" dirty="0" smtClean="0"/>
              <a:t>                 SHAKESPEARE</a:t>
            </a:r>
            <a:r>
              <a:rPr lang="pt-BR" sz="1200" b="1" dirty="0"/>
              <a:t>, William. </a:t>
            </a:r>
            <a:r>
              <a:rPr lang="pt-BR" sz="1200" b="1" i="1" dirty="0" smtClean="0"/>
              <a:t>50 </a:t>
            </a:r>
            <a:r>
              <a:rPr lang="pt-BR" sz="1200" b="1" i="1" dirty="0"/>
              <a:t>sonetos</a:t>
            </a:r>
            <a:r>
              <a:rPr lang="pt-BR" sz="1200" b="1" dirty="0"/>
              <a:t>. Tradução de Ivo Barroso. Rio de Janeiro: Nova Fronteira, 2015.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606" y="359458"/>
            <a:ext cx="3344091" cy="471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01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348" y="129994"/>
            <a:ext cx="10515600" cy="775697"/>
          </a:xfrm>
        </p:spPr>
        <p:txBody>
          <a:bodyPr/>
          <a:lstStyle/>
          <a:p>
            <a:r>
              <a:rPr lang="pt-BR" b="1" dirty="0"/>
              <a:t>RESPOSTA DO EXERCÍCIO </a:t>
            </a:r>
            <a:r>
              <a:rPr lang="pt-BR" b="1" dirty="0" smtClean="0"/>
              <a:t>3 </a:t>
            </a:r>
            <a:r>
              <a:rPr lang="pt-BR" b="1" dirty="0"/>
              <a:t>– P. 160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0519" y="1288869"/>
            <a:ext cx="11954691" cy="53644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4000" dirty="0" err="1" smtClean="0"/>
              <a:t>Ro</a:t>
            </a:r>
            <a:r>
              <a:rPr lang="pt-BR" sz="4000" dirty="0" smtClean="0"/>
              <a:t>/meu,/ </a:t>
            </a:r>
            <a:r>
              <a:rPr lang="pt-BR" sz="4000" dirty="0" err="1" smtClean="0"/>
              <a:t>Ro</a:t>
            </a:r>
            <a:r>
              <a:rPr lang="pt-BR" sz="4000" dirty="0" smtClean="0"/>
              <a:t>/meu,/ por/ que há/ de/ ser/ </a:t>
            </a:r>
            <a:r>
              <a:rPr lang="pt-BR" sz="4000" dirty="0" err="1" smtClean="0"/>
              <a:t>Ro</a:t>
            </a:r>
            <a:r>
              <a:rPr lang="pt-BR" sz="4000" dirty="0" smtClean="0"/>
              <a:t>/</a:t>
            </a:r>
            <a:r>
              <a:rPr lang="pt-BR" sz="4000" b="1" u="sng" dirty="0" smtClean="0">
                <a:solidFill>
                  <a:srgbClr val="FF0000"/>
                </a:solidFill>
              </a:rPr>
              <a:t>meu</a:t>
            </a:r>
            <a:r>
              <a:rPr lang="pt-BR" sz="4000" dirty="0" smtClean="0"/>
              <a:t>?/</a:t>
            </a:r>
          </a:p>
          <a:p>
            <a:pPr marL="0" indent="0">
              <a:buNone/>
            </a:pPr>
            <a:endParaRPr lang="pt-BR" sz="4000" dirty="0"/>
          </a:p>
          <a:p>
            <a:pPr marL="0" indent="0">
              <a:buNone/>
            </a:pPr>
            <a:r>
              <a:rPr lang="pt-BR" sz="4000" dirty="0" smtClean="0"/>
              <a:t>Ne/</a:t>
            </a:r>
            <a:r>
              <a:rPr lang="pt-BR" sz="4000" dirty="0" err="1" smtClean="0"/>
              <a:t>gue</a:t>
            </a:r>
            <a:r>
              <a:rPr lang="pt-BR" sz="4000" dirty="0" smtClean="0"/>
              <a:t> o/ seu/ </a:t>
            </a:r>
            <a:r>
              <a:rPr lang="pt-BR" sz="4000" dirty="0"/>
              <a:t>pai</a:t>
            </a:r>
            <a:r>
              <a:rPr lang="pt-BR" sz="4000" dirty="0" smtClean="0"/>
              <a:t>,/ </a:t>
            </a:r>
            <a:r>
              <a:rPr lang="pt-BR" sz="4000" dirty="0" err="1" smtClean="0"/>
              <a:t>re</a:t>
            </a:r>
            <a:r>
              <a:rPr lang="pt-BR" sz="4000" dirty="0" smtClean="0"/>
              <a:t>/cu/se/-se es/se/ </a:t>
            </a:r>
            <a:r>
              <a:rPr lang="pt-BR" sz="4000" b="1" u="sng" dirty="0" smtClean="0">
                <a:solidFill>
                  <a:srgbClr val="FF0000"/>
                </a:solidFill>
              </a:rPr>
              <a:t>no</a:t>
            </a:r>
            <a:r>
              <a:rPr lang="pt-BR" sz="4000" dirty="0" smtClean="0"/>
              <a:t>/</a:t>
            </a:r>
            <a:r>
              <a:rPr lang="pt-BR" sz="4000" strike="sngStrike" dirty="0" smtClean="0">
                <a:solidFill>
                  <a:srgbClr val="00B050"/>
                </a:solidFill>
              </a:rPr>
              <a:t>me</a:t>
            </a:r>
            <a:r>
              <a:rPr lang="pt-BR" sz="4000" dirty="0" smtClean="0"/>
              <a:t>;</a:t>
            </a:r>
          </a:p>
          <a:p>
            <a:pPr marL="0" indent="0">
              <a:buNone/>
            </a:pPr>
            <a:endParaRPr lang="pt-BR" sz="4000" dirty="0"/>
          </a:p>
          <a:p>
            <a:pPr marL="0" indent="0">
              <a:buNone/>
            </a:pPr>
            <a:r>
              <a:rPr lang="pt-BR" sz="4000" dirty="0" smtClean="0"/>
              <a:t>Ou/ se/ não/ quer,/ </a:t>
            </a:r>
            <a:r>
              <a:rPr lang="pt-BR" sz="4000" dirty="0" err="1" smtClean="0"/>
              <a:t>ju</a:t>
            </a:r>
            <a:r>
              <a:rPr lang="pt-BR" sz="4000" dirty="0" smtClean="0"/>
              <a:t>/</a:t>
            </a:r>
            <a:r>
              <a:rPr lang="pt-BR" sz="4000" dirty="0" err="1" smtClean="0"/>
              <a:t>re</a:t>
            </a:r>
            <a:r>
              <a:rPr lang="pt-BR" sz="4000" dirty="0" smtClean="0"/>
              <a:t>/ só/ que/ me/ </a:t>
            </a:r>
            <a:r>
              <a:rPr lang="pt-BR" sz="4000" b="1" u="sng" dirty="0" smtClean="0">
                <a:solidFill>
                  <a:srgbClr val="FF0000"/>
                </a:solidFill>
              </a:rPr>
              <a:t>a</a:t>
            </a:r>
            <a:r>
              <a:rPr lang="pt-BR" sz="4000" dirty="0" smtClean="0"/>
              <a:t>/</a:t>
            </a:r>
            <a:r>
              <a:rPr lang="pt-BR" sz="4000" strike="sngStrike" dirty="0" err="1" smtClean="0">
                <a:solidFill>
                  <a:srgbClr val="00B050"/>
                </a:solidFill>
              </a:rPr>
              <a:t>ma</a:t>
            </a:r>
            <a:endParaRPr lang="pt-BR" sz="4000" strike="sngStrike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pt-BR" sz="4000" strike="sngStrike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4000" dirty="0" smtClean="0"/>
              <a:t>E/ eu/ não/ se/rei/ mais/ dos/ Ca/</a:t>
            </a:r>
            <a:r>
              <a:rPr lang="pt-BR" sz="4000" dirty="0" err="1" smtClean="0"/>
              <a:t>pu</a:t>
            </a:r>
            <a:r>
              <a:rPr lang="pt-BR" sz="4000" dirty="0" smtClean="0"/>
              <a:t>/</a:t>
            </a:r>
            <a:r>
              <a:rPr lang="pt-BR" sz="4000" b="1" dirty="0" err="1" smtClean="0">
                <a:solidFill>
                  <a:srgbClr val="FF0000"/>
                </a:solidFill>
              </a:rPr>
              <a:t>le</a:t>
            </a:r>
            <a:r>
              <a:rPr lang="pt-BR" sz="4000" dirty="0" smtClean="0"/>
              <a:t>/</a:t>
            </a:r>
            <a:r>
              <a:rPr lang="pt-BR" sz="4000" b="1" strike="sngStrike" dirty="0" err="1" smtClean="0">
                <a:solidFill>
                  <a:srgbClr val="00B050"/>
                </a:solidFill>
              </a:rPr>
              <a:t>tos</a:t>
            </a:r>
            <a:r>
              <a:rPr lang="pt-BR" sz="4000" dirty="0" smtClean="0"/>
              <a:t>.</a:t>
            </a:r>
          </a:p>
          <a:p>
            <a:pPr marL="0" indent="0">
              <a:buNone/>
            </a:pPr>
            <a:endParaRPr lang="pt-BR" sz="4000" dirty="0"/>
          </a:p>
          <a:p>
            <a:pPr marL="0" indent="0">
              <a:buNone/>
            </a:pPr>
            <a:r>
              <a:rPr lang="pt-BR" sz="4000" b="1" dirty="0" smtClean="0">
                <a:solidFill>
                  <a:srgbClr val="FF0000"/>
                </a:solidFill>
              </a:rPr>
              <a:t>Versos decassílabos</a:t>
            </a:r>
            <a:endParaRPr lang="pt-BR" sz="4000" b="1" dirty="0">
              <a:solidFill>
                <a:srgbClr val="FF00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211" y="1719497"/>
            <a:ext cx="609653" cy="23166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099" y="2932611"/>
            <a:ext cx="609653" cy="23166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01" y="2834639"/>
            <a:ext cx="609653" cy="2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55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3434" y="199663"/>
            <a:ext cx="10515600" cy="775697"/>
          </a:xfrm>
        </p:spPr>
        <p:txBody>
          <a:bodyPr/>
          <a:lstStyle/>
          <a:p>
            <a:r>
              <a:rPr lang="pt-BR" b="1" dirty="0"/>
              <a:t>RESPOSTA DO EXERCÍCIO 3 – P. 160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3103" y="1573076"/>
            <a:ext cx="10515600" cy="5080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 smtClean="0"/>
              <a:t>Meu/ </a:t>
            </a:r>
            <a:r>
              <a:rPr lang="pt-BR" sz="3600" dirty="0"/>
              <a:t>Deus</a:t>
            </a:r>
            <a:r>
              <a:rPr lang="pt-BR" sz="3600" dirty="0" smtClean="0"/>
              <a:t>,/ es/</a:t>
            </a:r>
            <a:r>
              <a:rPr lang="pt-BR" sz="3600" dirty="0" err="1" smtClean="0"/>
              <a:t>tou</a:t>
            </a:r>
            <a:r>
              <a:rPr lang="pt-BR" sz="3600" dirty="0" smtClean="0"/>
              <a:t>/ </a:t>
            </a:r>
            <a:r>
              <a:rPr lang="pt-BR" sz="3600" dirty="0" err="1" smtClean="0"/>
              <a:t>en</a:t>
            </a:r>
            <a:r>
              <a:rPr lang="pt-BR" sz="3600" dirty="0" smtClean="0"/>
              <a:t>/</a:t>
            </a:r>
            <a:r>
              <a:rPr lang="pt-BR" sz="3600" dirty="0" err="1" smtClean="0"/>
              <a:t>can</a:t>
            </a:r>
            <a:r>
              <a:rPr lang="pt-BR" sz="3600" dirty="0" smtClean="0"/>
              <a:t>/</a:t>
            </a:r>
            <a:r>
              <a:rPr lang="pt-BR" sz="3600" b="1" u="sng" dirty="0" err="1" smtClean="0">
                <a:solidFill>
                  <a:srgbClr val="FF0000"/>
                </a:solidFill>
              </a:rPr>
              <a:t>ta</a:t>
            </a:r>
            <a:r>
              <a:rPr lang="pt-BR" sz="3600" dirty="0" smtClean="0"/>
              <a:t>/</a:t>
            </a:r>
            <a:r>
              <a:rPr lang="pt-BR" sz="3600" strike="sngStrike" dirty="0" smtClean="0">
                <a:solidFill>
                  <a:srgbClr val="00B050"/>
                </a:solidFill>
              </a:rPr>
              <a:t>do</a:t>
            </a:r>
            <a:endParaRPr lang="pt-BR" sz="3600" strike="sngStrike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3600" dirty="0" smtClean="0"/>
              <a:t>Com/ </a:t>
            </a:r>
            <a:r>
              <a:rPr lang="pt-BR" sz="3600" dirty="0" err="1" smtClean="0"/>
              <a:t>to</a:t>
            </a:r>
            <a:r>
              <a:rPr lang="pt-BR" sz="3600" dirty="0" smtClean="0"/>
              <a:t>/da a/que/</a:t>
            </a:r>
            <a:r>
              <a:rPr lang="pt-BR" sz="3600" dirty="0" err="1" smtClean="0"/>
              <a:t>la</a:t>
            </a:r>
            <a:r>
              <a:rPr lang="pt-BR" sz="3600" dirty="0" smtClean="0"/>
              <a:t>/ </a:t>
            </a:r>
            <a:r>
              <a:rPr lang="pt-BR" sz="3600" dirty="0" err="1" smtClean="0"/>
              <a:t>be</a:t>
            </a:r>
            <a:r>
              <a:rPr lang="pt-BR" sz="3600" dirty="0" smtClean="0"/>
              <a:t>/</a:t>
            </a:r>
            <a:r>
              <a:rPr lang="pt-BR" sz="3600" b="1" u="sng" dirty="0" err="1" smtClean="0">
                <a:solidFill>
                  <a:srgbClr val="FF0000"/>
                </a:solidFill>
              </a:rPr>
              <a:t>le</a:t>
            </a:r>
            <a:r>
              <a:rPr lang="pt-BR" sz="3600" dirty="0" smtClean="0"/>
              <a:t>/</a:t>
            </a:r>
            <a:r>
              <a:rPr lang="pt-BR" sz="3600" strike="sngStrike" dirty="0" err="1" smtClean="0">
                <a:solidFill>
                  <a:srgbClr val="00B050"/>
                </a:solidFill>
              </a:rPr>
              <a:t>za</a:t>
            </a:r>
            <a:r>
              <a:rPr lang="pt-BR" sz="3600" dirty="0" smtClean="0"/>
              <a:t>!</a:t>
            </a:r>
            <a:endParaRPr lang="pt-BR" sz="3600" dirty="0"/>
          </a:p>
          <a:p>
            <a:pPr marL="0" indent="0">
              <a:buNone/>
            </a:pPr>
            <a:r>
              <a:rPr lang="pt-BR" sz="3600" dirty="0" smtClean="0"/>
              <a:t>A/que/</a:t>
            </a:r>
            <a:r>
              <a:rPr lang="pt-BR" sz="3600" dirty="0" err="1" smtClean="0"/>
              <a:t>la</a:t>
            </a:r>
            <a:r>
              <a:rPr lang="pt-BR" sz="3600" dirty="0" smtClean="0"/>
              <a:t>/ </a:t>
            </a:r>
            <a:r>
              <a:rPr lang="pt-BR" sz="3600" dirty="0" err="1" smtClean="0"/>
              <a:t>Mo</a:t>
            </a:r>
            <a:r>
              <a:rPr lang="pt-BR" sz="3600" dirty="0" smtClean="0"/>
              <a:t>/</a:t>
            </a:r>
            <a:r>
              <a:rPr lang="pt-BR" sz="3600" dirty="0" err="1" smtClean="0"/>
              <a:t>ça</a:t>
            </a:r>
            <a:r>
              <a:rPr lang="pt-BR" sz="3600" dirty="0" smtClean="0"/>
              <a:t>/ </a:t>
            </a:r>
            <a:r>
              <a:rPr lang="pt-BR" sz="3600" dirty="0" err="1" smtClean="0"/>
              <a:t>pa</a:t>
            </a:r>
            <a:r>
              <a:rPr lang="pt-BR" sz="3600" dirty="0" smtClean="0"/>
              <a:t>/</a:t>
            </a:r>
            <a:r>
              <a:rPr lang="pt-BR" sz="3600" b="1" u="sng" dirty="0" err="1" smtClean="0">
                <a:solidFill>
                  <a:srgbClr val="FF0000"/>
                </a:solidFill>
              </a:rPr>
              <a:t>re</a:t>
            </a:r>
            <a:r>
              <a:rPr lang="pt-BR" sz="3600" dirty="0" smtClean="0"/>
              <a:t>/</a:t>
            </a:r>
            <a:r>
              <a:rPr lang="pt-BR" sz="3600" strike="sngStrike" dirty="0" err="1" smtClean="0">
                <a:solidFill>
                  <a:srgbClr val="00B050"/>
                </a:solidFill>
              </a:rPr>
              <a:t>ce</a:t>
            </a:r>
            <a:endParaRPr lang="pt-BR" sz="3600" strike="sngStrike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3600" dirty="0" smtClean="0"/>
              <a:t>u/</a:t>
            </a:r>
            <a:r>
              <a:rPr lang="pt-BR" sz="3600" dirty="0" err="1" smtClean="0"/>
              <a:t>ma</a:t>
            </a:r>
            <a:r>
              <a:rPr lang="pt-BR" sz="3600" dirty="0" smtClean="0"/>
              <a:t>/ </a:t>
            </a:r>
            <a:r>
              <a:rPr lang="pt-BR" sz="3600" dirty="0" err="1" smtClean="0"/>
              <a:t>Fa</a:t>
            </a:r>
            <a:r>
              <a:rPr lang="pt-BR" sz="3600" dirty="0" smtClean="0"/>
              <a:t>/da</a:t>
            </a:r>
            <a:r>
              <a:rPr lang="pt-BR" sz="3600" dirty="0"/>
              <a:t>, </a:t>
            </a:r>
            <a:r>
              <a:rPr lang="pt-BR" sz="3600" dirty="0" smtClean="0"/>
              <a:t>u/</a:t>
            </a:r>
            <a:r>
              <a:rPr lang="pt-BR" sz="3600" dirty="0" err="1" smtClean="0"/>
              <a:t>ma</a:t>
            </a:r>
            <a:r>
              <a:rPr lang="pt-BR" sz="3600" dirty="0" smtClean="0"/>
              <a:t>/ </a:t>
            </a:r>
            <a:r>
              <a:rPr lang="pt-BR" sz="3600" dirty="0" err="1" smtClean="0"/>
              <a:t>Prin</a:t>
            </a:r>
            <a:r>
              <a:rPr lang="pt-BR" sz="3600" dirty="0" smtClean="0"/>
              <a:t>/</a:t>
            </a:r>
            <a:r>
              <a:rPr lang="pt-BR" sz="3600" b="1" u="sng" dirty="0" err="1" smtClean="0">
                <a:solidFill>
                  <a:srgbClr val="FF0000"/>
                </a:solidFill>
              </a:rPr>
              <a:t>ce</a:t>
            </a:r>
            <a:r>
              <a:rPr lang="pt-BR" sz="3600" dirty="0" smtClean="0"/>
              <a:t>/</a:t>
            </a:r>
            <a:r>
              <a:rPr lang="pt-BR" sz="3600" strike="sngStrike" dirty="0" err="1" smtClean="0">
                <a:solidFill>
                  <a:srgbClr val="00B050"/>
                </a:solidFill>
              </a:rPr>
              <a:t>sa</a:t>
            </a:r>
            <a:r>
              <a:rPr lang="pt-BR" sz="3600" dirty="0"/>
              <a:t>!</a:t>
            </a:r>
          </a:p>
          <a:p>
            <a:pPr marL="0" indent="0">
              <a:buNone/>
            </a:pPr>
            <a:r>
              <a:rPr lang="pt-BR" sz="3600" dirty="0" err="1" smtClean="0"/>
              <a:t>Mer</a:t>
            </a:r>
            <a:r>
              <a:rPr lang="pt-BR" sz="3600" dirty="0" smtClean="0"/>
              <a:t>/</a:t>
            </a:r>
            <a:r>
              <a:rPr lang="pt-BR" sz="3600" dirty="0" err="1" smtClean="0"/>
              <a:t>cú</a:t>
            </a:r>
            <a:r>
              <a:rPr lang="pt-BR" sz="3600" dirty="0" smtClean="0"/>
              <a:t>/cio,/ quem/ é/ a/</a:t>
            </a:r>
            <a:r>
              <a:rPr lang="pt-BR" sz="3600" b="1" u="sng" dirty="0" smtClean="0">
                <a:solidFill>
                  <a:srgbClr val="FF0000"/>
                </a:solidFill>
              </a:rPr>
              <a:t>que</a:t>
            </a:r>
            <a:r>
              <a:rPr lang="pt-BR" sz="3600" dirty="0" smtClean="0"/>
              <a:t>/</a:t>
            </a:r>
            <a:r>
              <a:rPr lang="pt-BR" sz="3600" b="1" strike="sngStrike" dirty="0" err="1" smtClean="0">
                <a:solidFill>
                  <a:srgbClr val="00B050"/>
                </a:solidFill>
              </a:rPr>
              <a:t>la</a:t>
            </a:r>
            <a:r>
              <a:rPr lang="pt-BR" sz="3600" dirty="0"/>
              <a:t>?</a:t>
            </a:r>
          </a:p>
          <a:p>
            <a:pPr marL="0" indent="0">
              <a:buNone/>
            </a:pPr>
            <a:r>
              <a:rPr lang="pt-BR" sz="3600" dirty="0" smtClean="0"/>
              <a:t>Quem/ é/ a/que/</a:t>
            </a:r>
            <a:r>
              <a:rPr lang="pt-BR" sz="3600" dirty="0" err="1" smtClean="0"/>
              <a:t>la</a:t>
            </a:r>
            <a:r>
              <a:rPr lang="pt-BR" sz="3600" dirty="0" smtClean="0"/>
              <a:t>/ </a:t>
            </a:r>
            <a:r>
              <a:rPr lang="pt-BR" sz="3600" dirty="0" err="1" smtClean="0"/>
              <a:t>lin</a:t>
            </a:r>
            <a:r>
              <a:rPr lang="pt-BR" sz="3600" dirty="0" smtClean="0"/>
              <a:t>/</a:t>
            </a:r>
            <a:r>
              <a:rPr lang="pt-BR" sz="3600" b="1" u="sng" dirty="0" smtClean="0">
                <a:solidFill>
                  <a:srgbClr val="FF0000"/>
                </a:solidFill>
              </a:rPr>
              <a:t>de</a:t>
            </a:r>
            <a:r>
              <a:rPr lang="pt-BR" sz="3600" dirty="0" smtClean="0"/>
              <a:t>/</a:t>
            </a:r>
            <a:r>
              <a:rPr lang="pt-BR" sz="3600" b="1" strike="sngStrike" dirty="0" err="1" smtClean="0">
                <a:solidFill>
                  <a:srgbClr val="00B050"/>
                </a:solidFill>
              </a:rPr>
              <a:t>za</a:t>
            </a:r>
            <a:r>
              <a:rPr lang="pt-BR" sz="3600" dirty="0" smtClean="0"/>
              <a:t>?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b="1" dirty="0">
                <a:solidFill>
                  <a:srgbClr val="FF0000"/>
                </a:solidFill>
              </a:rPr>
              <a:t>Versos </a:t>
            </a:r>
            <a:r>
              <a:rPr lang="pt-BR" sz="3600" b="1" dirty="0" err="1" smtClean="0">
                <a:solidFill>
                  <a:srgbClr val="FF0000"/>
                </a:solidFill>
              </a:rPr>
              <a:t>heptassílabos</a:t>
            </a:r>
            <a:r>
              <a:rPr lang="pt-BR" sz="3600" b="1" dirty="0" smtClean="0">
                <a:solidFill>
                  <a:srgbClr val="FF0000"/>
                </a:solidFill>
              </a:rPr>
              <a:t> (redondilha maior)</a:t>
            </a:r>
            <a:endParaRPr lang="pt-BR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sz="3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910" y="2616481"/>
            <a:ext cx="609653" cy="23166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16" y="3881544"/>
            <a:ext cx="609653" cy="2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39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1515" y="147411"/>
            <a:ext cx="10515600" cy="540566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RESPOSTA DO EXERCÍCIO 4 – P. 160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17715" y="1134473"/>
            <a:ext cx="5181600" cy="55537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Duas casas, iguais em seu valor.</a:t>
            </a:r>
          </a:p>
          <a:p>
            <a:pPr marL="0" indent="0">
              <a:buNone/>
            </a:pPr>
            <a:r>
              <a:rPr lang="pt-BR" dirty="0"/>
              <a:t>Em Verona, que a nossa cena ostenta,</a:t>
            </a:r>
          </a:p>
          <a:p>
            <a:pPr marL="0" indent="0">
              <a:buNone/>
            </a:pPr>
            <a:r>
              <a:rPr lang="pt-BR" dirty="0"/>
              <a:t> Brigam de novo, com velho rancor,</a:t>
            </a:r>
          </a:p>
          <a:p>
            <a:pPr marL="0" indent="0">
              <a:buNone/>
            </a:pPr>
            <a:r>
              <a:rPr lang="pt-BR" dirty="0"/>
              <a:t>Pondo guerra civil em mão sangrenta.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Dos fatais ventres desses dois inimigos</a:t>
            </a:r>
          </a:p>
          <a:p>
            <a:pPr marL="0" indent="0">
              <a:buNone/>
            </a:pPr>
            <a:r>
              <a:rPr lang="pt-BR" dirty="0"/>
              <a:t>Nasce, com má estrela, um par de amantes,</a:t>
            </a:r>
          </a:p>
          <a:p>
            <a:pPr marL="0" indent="0">
              <a:buNone/>
            </a:pPr>
            <a:r>
              <a:rPr lang="pt-BR" dirty="0"/>
              <a:t>Cuja derrota em trágicos perigos</a:t>
            </a:r>
          </a:p>
          <a:p>
            <a:pPr marL="0" indent="0">
              <a:buNone/>
            </a:pPr>
            <a:r>
              <a:rPr lang="pt-BR" dirty="0"/>
              <a:t>Com sua morte enterra a luta de antes.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 triste história desse amor marcado</a:t>
            </a:r>
          </a:p>
          <a:p>
            <a:pPr marL="0" indent="0">
              <a:buNone/>
            </a:pPr>
            <a:r>
              <a:rPr lang="pt-BR" dirty="0"/>
              <a:t>E de seus pais o ódio permanente,</a:t>
            </a:r>
          </a:p>
          <a:p>
            <a:pPr marL="0" indent="0">
              <a:buNone/>
            </a:pPr>
            <a:r>
              <a:rPr lang="pt-BR" dirty="0"/>
              <a:t> Só com a morte dos filhos terminado,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Por duas horas em cena está presente.</a:t>
            </a:r>
          </a:p>
          <a:p>
            <a:pPr marL="0" indent="0">
              <a:buNone/>
            </a:pPr>
            <a:r>
              <a:rPr lang="pt-BR" dirty="0"/>
              <a:t>Se tiverem paciência para ouvir-nos,</a:t>
            </a:r>
          </a:p>
          <a:p>
            <a:pPr marL="0" indent="0">
              <a:buNone/>
            </a:pPr>
            <a:r>
              <a:rPr lang="pt-BR" dirty="0"/>
              <a:t>Havemos de lutar para corrigir-nos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80909" y="1134472"/>
            <a:ext cx="5181600" cy="541437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Duas casas, iguais em seu valor.</a:t>
            </a:r>
          </a:p>
          <a:p>
            <a:pPr marL="0" indent="0">
              <a:buNone/>
            </a:pPr>
            <a:r>
              <a:rPr lang="pt-BR" dirty="0"/>
              <a:t>Em Verona, que a nossa cena ostenta,</a:t>
            </a:r>
          </a:p>
          <a:p>
            <a:pPr marL="0" indent="0">
              <a:buNone/>
            </a:pPr>
            <a:r>
              <a:rPr lang="pt-BR" dirty="0"/>
              <a:t> Brigam de novo, com velho rancor,</a:t>
            </a:r>
          </a:p>
          <a:p>
            <a:pPr marL="0" indent="0">
              <a:buNone/>
            </a:pPr>
            <a:r>
              <a:rPr lang="pt-BR" dirty="0"/>
              <a:t>Pondo guerra civil em mão sangrenta.</a:t>
            </a:r>
          </a:p>
          <a:p>
            <a:pPr marL="0" indent="0">
              <a:buNone/>
            </a:pPr>
            <a:r>
              <a:rPr lang="pt-BR" dirty="0" smtClean="0"/>
              <a:t>Dos </a:t>
            </a:r>
            <a:r>
              <a:rPr lang="pt-BR" dirty="0"/>
              <a:t>fatais ventres desses dois inimigos</a:t>
            </a:r>
          </a:p>
          <a:p>
            <a:pPr marL="0" indent="0">
              <a:buNone/>
            </a:pPr>
            <a:r>
              <a:rPr lang="pt-BR" dirty="0"/>
              <a:t>Nasce, com má estrela, um par de amantes,</a:t>
            </a:r>
          </a:p>
          <a:p>
            <a:pPr marL="0" indent="0">
              <a:buNone/>
            </a:pPr>
            <a:r>
              <a:rPr lang="pt-BR" dirty="0"/>
              <a:t>Cuja derrota em trágicos perigos</a:t>
            </a:r>
          </a:p>
          <a:p>
            <a:pPr marL="0" indent="0">
              <a:buNone/>
            </a:pPr>
            <a:r>
              <a:rPr lang="pt-BR" dirty="0"/>
              <a:t>Com sua morte enterra a luta de antes.</a:t>
            </a:r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triste história desse amor marcado</a:t>
            </a:r>
          </a:p>
          <a:p>
            <a:pPr marL="0" indent="0">
              <a:buNone/>
            </a:pPr>
            <a:r>
              <a:rPr lang="pt-BR" dirty="0"/>
              <a:t>E de seus pais o ódio permanente,</a:t>
            </a:r>
          </a:p>
          <a:p>
            <a:pPr marL="0" indent="0">
              <a:buNone/>
            </a:pPr>
            <a:r>
              <a:rPr lang="pt-BR" dirty="0"/>
              <a:t> Só com a morte dos filhos terminado,</a:t>
            </a:r>
          </a:p>
          <a:p>
            <a:pPr marL="0" indent="0">
              <a:buNone/>
            </a:pPr>
            <a:r>
              <a:rPr lang="pt-BR" dirty="0" smtClean="0"/>
              <a:t>Por </a:t>
            </a:r>
            <a:r>
              <a:rPr lang="pt-BR" dirty="0"/>
              <a:t>duas horas em cena está presente.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Se </a:t>
            </a:r>
            <a:r>
              <a:rPr lang="pt-BR" dirty="0"/>
              <a:t>tiverem paciência para ouvir-nos,</a:t>
            </a:r>
          </a:p>
          <a:p>
            <a:pPr marL="0" indent="0">
              <a:buNone/>
            </a:pPr>
            <a:r>
              <a:rPr lang="pt-BR" dirty="0"/>
              <a:t>Havemos de lutar para corrigir-nos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5176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1765</Words>
  <Application>Microsoft Office PowerPoint</Application>
  <PresentationFormat>Widescreen</PresentationFormat>
  <Paragraphs>327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GÊNERO LÍRICO</vt:lpstr>
      <vt:lpstr>GÊNERO ÉPICO  </vt:lpstr>
      <vt:lpstr>GÊNERO DRAMÁTICO comédia tragédia </vt:lpstr>
      <vt:lpstr>GÊNERO DRAMÁTICO (cont.)</vt:lpstr>
      <vt:lpstr>MÉTRICA (metrificação ou escansão)</vt:lpstr>
      <vt:lpstr>Apresentação do PowerPoint</vt:lpstr>
      <vt:lpstr>VERSOS MAIS FAMOSOS NA LITERATURA, QUANTO AO NÚMERO DE SÍLABAS POÉTICAS </vt:lpstr>
      <vt:lpstr>QUANTO À CLASSE GRAMATICAL, A RIMA PODE SER:</vt:lpstr>
      <vt:lpstr>QUANTO À POSIÇÃO NA ESTROFE, A RIMA PODE SER:</vt:lpstr>
      <vt:lpstr>Apresentação do PowerPoint</vt:lpstr>
      <vt:lpstr>Apresentação do PowerPoint</vt:lpstr>
      <vt:lpstr>RESPOSTA DO EXERCÍCIO 3 – P. 160</vt:lpstr>
      <vt:lpstr>RESPOSTA DO EXERCÍCIO 3 – P. 160</vt:lpstr>
      <vt:lpstr>RESPOSTA DO EXERCÍCIO 4 – P. 160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Suely</dc:creator>
  <cp:lastModifiedBy>Usuario</cp:lastModifiedBy>
  <cp:revision>89</cp:revision>
  <dcterms:created xsi:type="dcterms:W3CDTF">2020-01-27T00:28:07Z</dcterms:created>
  <dcterms:modified xsi:type="dcterms:W3CDTF">2025-03-23T16:07:26Z</dcterms:modified>
</cp:coreProperties>
</file>