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22"/>
  </p:notesMasterIdLst>
  <p:sldIdLst>
    <p:sldId id="1031" r:id="rId2"/>
    <p:sldId id="486" r:id="rId3"/>
    <p:sldId id="478" r:id="rId4"/>
    <p:sldId id="487" r:id="rId5"/>
    <p:sldId id="485" r:id="rId6"/>
    <p:sldId id="484" r:id="rId7"/>
    <p:sldId id="556" r:id="rId8"/>
    <p:sldId id="555" r:id="rId9"/>
    <p:sldId id="1032" r:id="rId10"/>
    <p:sldId id="521" r:id="rId11"/>
    <p:sldId id="522" r:id="rId12"/>
    <p:sldId id="524" r:id="rId13"/>
    <p:sldId id="526" r:id="rId14"/>
    <p:sldId id="527" r:id="rId15"/>
    <p:sldId id="523" r:id="rId16"/>
    <p:sldId id="528" r:id="rId17"/>
    <p:sldId id="529" r:id="rId18"/>
    <p:sldId id="534" r:id="rId19"/>
    <p:sldId id="532" r:id="rId20"/>
    <p:sldId id="531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edro Guarulhos" initials="PG" lastIdx="1" clrIdx="0">
    <p:extLst>
      <p:ext uri="{19B8F6BF-5375-455C-9EA6-DF929625EA0E}">
        <p15:presenceInfo xmlns:p15="http://schemas.microsoft.com/office/powerpoint/2012/main" userId="af1de961154a498e" providerId="Windows Live"/>
      </p:ext>
    </p:extLst>
  </p:cmAuthor>
  <p:cmAuthor id="2" name="Poliedro Guarulhos D01" initials="PGD" lastIdx="1" clrIdx="1">
    <p:extLst>
      <p:ext uri="{19B8F6BF-5375-455C-9EA6-DF929625EA0E}">
        <p15:presenceInfo xmlns:p15="http://schemas.microsoft.com/office/powerpoint/2012/main" userId="04358dae0d16bd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4D9A"/>
    <a:srgbClr val="C4160C"/>
    <a:srgbClr val="154A95"/>
    <a:srgbClr val="00B0F0"/>
    <a:srgbClr val="00CED7"/>
    <a:srgbClr val="0432FF"/>
    <a:srgbClr val="838787"/>
    <a:srgbClr val="FFFFFF"/>
    <a:srgbClr val="F7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7" autoAdjust="0"/>
    <p:restoredTop sz="94150"/>
  </p:normalViewPr>
  <p:slideViewPr>
    <p:cSldViewPr snapToGrid="0" snapToObjects="1">
      <p:cViewPr varScale="1">
        <p:scale>
          <a:sx n="24" d="100"/>
          <a:sy n="24" d="100"/>
        </p:scale>
        <p:origin x="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- Centr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o do Título"/>
          <p:cNvSpPr txBox="1"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4"/>
            </a:lvl1pPr>
          </a:lstStyle>
          <a:p>
            <a:r>
              <a:t>Texto do Título</a:t>
            </a:r>
          </a:p>
        </p:txBody>
      </p:sp>
      <p:sp>
        <p:nvSpPr>
          <p:cNvPr id="4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10461" y="6096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110584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e 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72" name="Texto"/>
          <p:cNvSpPr txBox="1">
            <a:spLocks noGrp="1"/>
          </p:cNvSpPr>
          <p:nvPr>
            <p:ph type="body" sz="quarter" idx="13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63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3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74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20835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, Marcadores e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4" name="Texto"/>
          <p:cNvSpPr txBox="1">
            <a:spLocks noGrp="1"/>
          </p:cNvSpPr>
          <p:nvPr>
            <p:ph type="body" sz="quarter" idx="13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63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5" name="Imagem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6" name="Texto do Títul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7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3000"/>
            </a:lvl1pPr>
            <a:lvl2pPr>
              <a:buClr>
                <a:schemeClr val="accent1"/>
              </a:buClr>
              <a:buChar char="▸"/>
              <a:defRPr sz="3000"/>
            </a:lvl2pPr>
            <a:lvl3pPr>
              <a:buClr>
                <a:schemeClr val="accent1"/>
              </a:buClr>
              <a:buChar char="▸"/>
              <a:defRPr sz="3000"/>
            </a:lvl3pPr>
            <a:lvl4pPr>
              <a:buClr>
                <a:schemeClr val="accent1"/>
              </a:buClr>
              <a:buChar char="▸"/>
              <a:defRPr sz="3000"/>
            </a:lvl4pPr>
            <a:lvl5pPr>
              <a:buClr>
                <a:schemeClr val="accent1"/>
              </a:buClr>
              <a:buChar char="▸"/>
              <a:defRPr sz="30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25617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06" name="Texto"/>
          <p:cNvSpPr txBox="1">
            <a:spLocks noGrp="1"/>
          </p:cNvSpPr>
          <p:nvPr>
            <p:ph type="body" sz="quarter" idx="13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63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84041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taçã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26" name="Balão Explicativo"/>
          <p:cNvSpPr/>
          <p:nvPr/>
        </p:nvSpPr>
        <p:spPr>
          <a:xfrm>
            <a:off x="876300" y="3314704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 sz="3000"/>
          </a:p>
        </p:txBody>
      </p:sp>
      <p:sp>
        <p:nvSpPr>
          <p:cNvPr id="127" name="Digite uma citação aqui."/>
          <p:cNvSpPr txBox="1">
            <a:spLocks noGrp="1"/>
          </p:cNvSpPr>
          <p:nvPr>
            <p:ph type="body" sz="quarter" idx="13"/>
          </p:nvPr>
        </p:nvSpPr>
        <p:spPr>
          <a:xfrm>
            <a:off x="1676400" y="4089402"/>
            <a:ext cx="21056600" cy="13562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005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Digite uma citação aqui.</a:t>
            </a:r>
          </a:p>
        </p:txBody>
      </p:sp>
      <p:sp>
        <p:nvSpPr>
          <p:cNvPr id="128" name="Jaime Silveira"/>
          <p:cNvSpPr txBox="1">
            <a:spLocks noGrp="1"/>
          </p:cNvSpPr>
          <p:nvPr>
            <p:ph type="body" sz="quarter" idx="14"/>
          </p:nvPr>
        </p:nvSpPr>
        <p:spPr>
          <a:xfrm>
            <a:off x="762000" y="11098702"/>
            <a:ext cx="22860000" cy="916598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525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Jaime Silveira</a:t>
            </a:r>
          </a:p>
        </p:txBody>
      </p:sp>
      <p:sp>
        <p:nvSpPr>
          <p:cNvPr id="129" name="Texto"/>
          <p:cNvSpPr txBox="1">
            <a:spLocks noGrp="1"/>
          </p:cNvSpPr>
          <p:nvPr>
            <p:ph type="body" sz="quarter" idx="15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63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3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1554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e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ha"/>
          <p:cNvSpPr/>
          <p:nvPr/>
        </p:nvSpPr>
        <p:spPr>
          <a:xfrm flipV="1">
            <a:off x="762003" y="8635636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4" name="Texto do Título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4"/>
            </a:lvl1pPr>
          </a:lstStyle>
          <a:p>
            <a:r>
              <a:t>Texto do Título</a:t>
            </a:r>
          </a:p>
        </p:txBody>
      </p:sp>
      <p:sp>
        <p:nvSpPr>
          <p:cNvPr id="35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171446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342892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514337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685783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2960481" y="5842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180637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A2BCF62-B3E4-49B0-B173-E6828F44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D599B-3FC8-4576-8B60-CCEC5EAF8D67}" type="datetimeFigureOut">
              <a:rPr lang="en-US"/>
              <a:pPr>
                <a:defRPr/>
              </a:pPr>
              <a:t>4/1/2022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F73C18-6981-4934-8FEF-F21A0952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DDD19A-2667-4103-AD27-8CFC72E1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8757" y="12496800"/>
            <a:ext cx="663643" cy="4432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E2DFF55-9D0E-4D3B-8BE8-42390904135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881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33728" y="457200"/>
            <a:ext cx="21742400" cy="1981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1633728" y="3200400"/>
            <a:ext cx="21742400" cy="8991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>
            <a:extLst>
              <a:ext uri="{FF2B5EF4-FFF2-40B4-BE49-F238E27FC236}">
                <a16:creationId xmlns:a16="http://schemas.microsoft.com/office/drawing/2014/main" id="{11E5CBB5-39D1-48E8-919C-5EF7E8F5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50F12-23F4-4AE1-852C-EF9752F73764}" type="datetimeFigureOut">
              <a:rPr lang="en-US"/>
              <a:pPr>
                <a:defRPr/>
              </a:pPr>
              <a:t>4/1/2022</a:t>
            </a:fld>
            <a:endParaRPr lang="en-US" dirty="0"/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3F41488F-9B2B-4AEA-BB0F-DDF0FB9B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>
            <a:extLst>
              <a:ext uri="{FF2B5EF4-FFF2-40B4-BE49-F238E27FC236}">
                <a16:creationId xmlns:a16="http://schemas.microsoft.com/office/drawing/2014/main" id="{E3B8B2CF-77BB-4361-8BA2-30EA751F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949204" y="609602"/>
            <a:ext cx="663644" cy="4432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6D2C9-328E-4260-87CC-E33B94BD4E4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411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"/>
          <p:cNvSpPr/>
          <p:nvPr/>
        </p:nvSpPr>
        <p:spPr>
          <a:xfrm flipV="1">
            <a:off x="762000" y="1396999"/>
            <a:ext cx="20955003" cy="4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892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" name="Texto do Títul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06913" y="609602"/>
            <a:ext cx="605935" cy="434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7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23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71" r:id="rId2"/>
    <p:sldLayoutId id="2147483673" r:id="rId3"/>
    <p:sldLayoutId id="2147483674" r:id="rId4"/>
    <p:sldLayoutId id="2147483676" r:id="rId5"/>
    <p:sldLayoutId id="2147483685" r:id="rId6"/>
    <p:sldLayoutId id="2147483687" r:id="rId7"/>
    <p:sldLayoutId id="2147483688" r:id="rId8"/>
  </p:sldLayoutIdLst>
  <p:transition spd="med"/>
  <p:txStyles>
    <p:titleStyle>
      <a:lvl1pPr marL="0" marR="0" indent="0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171446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342892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514337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685783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857228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028675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200120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371566" algn="l" defTabSz="619109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tabLst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76238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952476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428714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904953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381191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857429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333667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809905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286143" marR="0" indent="-476238" algn="l" defTabSz="619109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171446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342892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514337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685783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857228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028675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200120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371566" algn="r" defTabSz="619109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altLang="pt-BR" sz="8000" dirty="0">
                <a:solidFill>
                  <a:schemeClr val="bg1"/>
                </a:solidFill>
              </a:rPr>
              <a:t>O Sistema Português: Brasil</a:t>
            </a:r>
            <a:r>
              <a:rPr lang="pt-BR" sz="7200" dirty="0">
                <a:solidFill>
                  <a:schemeClr val="bg1"/>
                </a:solidFill>
              </a:rPr>
              <a:t>.  Obs. Espanha (*)</a:t>
            </a:r>
            <a:endParaRPr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069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>
            <a:extLst>
              <a:ext uri="{FF2B5EF4-FFF2-40B4-BE49-F238E27FC236}">
                <a16:creationId xmlns:a16="http://schemas.microsoft.com/office/drawing/2014/main" id="{C5049957-F647-42CF-BADB-FE7A64B4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457200"/>
            <a:ext cx="19800421" cy="1981200"/>
          </a:xfrm>
        </p:spPr>
        <p:txBody>
          <a:bodyPr/>
          <a:lstStyle/>
          <a:p>
            <a:r>
              <a:rPr lang="pt-BR" altLang="pt-BR" dirty="0"/>
              <a:t>D. João III: Manutenção do Império.</a:t>
            </a:r>
          </a:p>
        </p:txBody>
      </p:sp>
      <p:sp>
        <p:nvSpPr>
          <p:cNvPr id="10243" name="Espaço Reservado para Conteúdo 2">
            <a:extLst>
              <a:ext uri="{FF2B5EF4-FFF2-40B4-BE49-F238E27FC236}">
                <a16:creationId xmlns:a16="http://schemas.microsoft.com/office/drawing/2014/main" id="{C29C4EAD-CE93-4533-BB56-ACCBB4B70C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79929" y="1425388"/>
            <a:ext cx="19800421" cy="107666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a) Portugal: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Gastos administrativos.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b) Índias: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Ataques, naufrágios...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c) Brasil: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Presença de Estrangeiros.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d) Espanha (*):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Sucesso da Espanha.</a:t>
            </a:r>
          </a:p>
          <a:p>
            <a:pPr marL="0" indent="0">
              <a:buNone/>
            </a:pPr>
            <a:endParaRPr lang="pt-BR" alt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>
            <a:extLst>
              <a:ext uri="{FF2B5EF4-FFF2-40B4-BE49-F238E27FC236}">
                <a16:creationId xmlns:a16="http://schemas.microsoft.com/office/drawing/2014/main" id="{5CE6314D-BAF9-4754-9980-EA4B7EE4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18" y="672352"/>
            <a:ext cx="19746632" cy="1766047"/>
          </a:xfrm>
        </p:spPr>
        <p:txBody>
          <a:bodyPr/>
          <a:lstStyle/>
          <a:p>
            <a:r>
              <a:rPr lang="pt-BR" altLang="pt-BR" dirty="0"/>
              <a:t>Projeto Brasil: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52B20-DC0E-49F2-B401-BD9F609812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3718" y="1452282"/>
            <a:ext cx="19746632" cy="1073971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a) Colonizar: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Para não perder/posse efetiva.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Base econômica estável.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b) Produto: 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Experiência; Adaptação e Mercado.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c) Escolha: </a:t>
            </a:r>
          </a:p>
          <a:p>
            <a:pPr marL="0" indent="0">
              <a:buNone/>
              <a:defRPr/>
            </a:pPr>
            <a:r>
              <a:rPr lang="pt-BR" sz="7200" b="1" dirty="0">
                <a:solidFill>
                  <a:schemeClr val="bg1"/>
                </a:solidFill>
              </a:rPr>
              <a:t>Açúcar.</a:t>
            </a:r>
          </a:p>
          <a:p>
            <a:pPr marL="1028700" indent="-1028700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  <a:p>
            <a:pPr marL="1028700" indent="-1028700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  <a:p>
            <a:pPr marL="1028700" indent="-1028700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tângulo 3">
            <a:extLst>
              <a:ext uri="{FF2B5EF4-FFF2-40B4-BE49-F238E27FC236}">
                <a16:creationId xmlns:a16="http://schemas.microsoft.com/office/drawing/2014/main" id="{03B50195-25F0-4900-A825-6075C167A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17" y="1506071"/>
            <a:ext cx="20735365" cy="1155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5600" dirty="0">
                <a:solidFill>
                  <a:srgbClr val="222222"/>
                </a:solidFill>
              </a:rPr>
              <a:t>"Coloquemo-nos naquela Europa anterior ao</a:t>
            </a:r>
            <a:br>
              <a:rPr lang="pt-BR" altLang="pt-BR" sz="5600" dirty="0"/>
            </a:br>
            <a:r>
              <a:rPr lang="pt-BR" altLang="pt-BR" sz="5600" dirty="0">
                <a:solidFill>
                  <a:srgbClr val="222222"/>
                </a:solidFill>
              </a:rPr>
              <a:t>século XVI, isolada dos trópicos, só indireta e longinquamente acessíveis e imaginemo-la, como de fato estava, privada quase inteiramente de produtos que se hoje, pela sua banalidade, parecem secundários, eram então prezados como requintes de luxo. Tome-se o caso do açúcar (...), era artigo de grande raridade e muita procura; até nos enxovais de rainhas ele chegou a figurar como dote precioso e altamente prezado.“</a:t>
            </a:r>
          </a:p>
          <a:p>
            <a:br>
              <a:rPr lang="pt-BR" altLang="pt-BR" sz="4000" dirty="0"/>
            </a:br>
            <a:r>
              <a:rPr lang="pt-BR" altLang="pt-BR" sz="4000" dirty="0">
                <a:solidFill>
                  <a:srgbClr val="222222"/>
                </a:solidFill>
              </a:rPr>
              <a:t>Prado Jr., Caio, "Formação do Brasil Contemporâneo,"</a:t>
            </a:r>
            <a:br>
              <a:rPr lang="pt-BR" altLang="pt-BR" sz="4000" dirty="0"/>
            </a:br>
            <a:r>
              <a:rPr lang="pt-BR" altLang="pt-BR" sz="4000" dirty="0">
                <a:solidFill>
                  <a:srgbClr val="222222"/>
                </a:solidFill>
              </a:rPr>
              <a:t>Editora Brasiliense, São Paulo, 58 Edição, 1957, p. 22.</a:t>
            </a:r>
          </a:p>
          <a:p>
            <a:br>
              <a:rPr lang="pt-BR" altLang="pt-BR" sz="6000" dirty="0"/>
            </a:br>
            <a:endParaRPr lang="pt-BR" altLang="pt-BR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>
            <a:extLst>
              <a:ext uri="{FF2B5EF4-FFF2-40B4-BE49-F238E27FC236}">
                <a16:creationId xmlns:a16="http://schemas.microsoft.com/office/drawing/2014/main" id="{27DE44CF-E77C-4CA3-821D-30020850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7" y="457200"/>
            <a:ext cx="19881103" cy="1981200"/>
          </a:xfrm>
        </p:spPr>
        <p:txBody>
          <a:bodyPr/>
          <a:lstStyle/>
          <a:p>
            <a:r>
              <a:rPr lang="pt-BR" altLang="pt-BR" dirty="0"/>
              <a:t> O Esquema: “Plantation”.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A5167A-60BB-42D3-B0E2-BD0E7EAB769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99247" y="1479176"/>
            <a:ext cx="19881103" cy="1071282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a) Latifúndio.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b) Monocultura.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c) Mercado externo.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d) Mão de obra: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Escrava.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e) Apoio da Holanda:</a:t>
            </a:r>
          </a:p>
          <a:p>
            <a:pPr marL="0" indent="0">
              <a:buNone/>
              <a:defRPr/>
            </a:pPr>
            <a:r>
              <a:rPr lang="pt-BR" sz="7800" dirty="0">
                <a:solidFill>
                  <a:schemeClr val="bg1"/>
                </a:solidFill>
              </a:rPr>
              <a:t>Financiamento, transporte, refino e Venda.</a:t>
            </a:r>
          </a:p>
          <a:p>
            <a:pPr marL="0" indent="0">
              <a:buNone/>
              <a:defRPr/>
            </a:pPr>
            <a:endParaRPr lang="pt-BR" sz="7200" dirty="0"/>
          </a:p>
          <a:p>
            <a:pPr marL="1028700" indent="-1028700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D7A1E793-8986-4731-9919-617EEF4B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457200"/>
            <a:ext cx="19773526" cy="1981200"/>
          </a:xfrm>
        </p:spPr>
        <p:txBody>
          <a:bodyPr/>
          <a:lstStyle/>
          <a:p>
            <a:r>
              <a:rPr lang="pt-BR" altLang="pt-BR" dirty="0"/>
              <a:t>Unidade de Produção.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6F4BD-5333-4C18-BBCB-7C8B135A26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06824" y="1532965"/>
            <a:ext cx="19773526" cy="106590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1. O Engenho: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a) Moenda (trapiche ou reais).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b) Caldeira. 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c) Casa de purgar.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2. Casa-grande: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Senhor.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3. Senzala:</a:t>
            </a: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Escravo.</a:t>
            </a:r>
          </a:p>
          <a:p>
            <a:pPr marL="0" indent="0">
              <a:buNone/>
              <a:defRPr/>
            </a:pPr>
            <a:endParaRPr lang="pt-BR" sz="7200" dirty="0"/>
          </a:p>
          <a:p>
            <a:pPr marL="1028700" indent="-1028700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1.bp.blogspot.com/-1CZWF7SR9Zw/WSajJlCnKuI/AAAAAAAABHk/WqkZ-hSHN4MUWSD4kSh5Qnb5k4PLtfq8ACLcB/s1600/img-engenho.png">
            <a:extLst>
              <a:ext uri="{FF2B5EF4-FFF2-40B4-BE49-F238E27FC236}">
                <a16:creationId xmlns:a16="http://schemas.microsoft.com/office/drawing/2014/main" id="{2078591C-F9D9-43ED-9B5E-B5CB6E1ED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06" y="1117286"/>
            <a:ext cx="20279848" cy="1187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O engenho de açúcar no Brasil colonial - História - vídeo">
            <a:extLst>
              <a:ext uri="{FF2B5EF4-FFF2-40B4-BE49-F238E27FC236}">
                <a16:creationId xmlns:a16="http://schemas.microsoft.com/office/drawing/2014/main" id="{97B00F6B-7EF4-4AFC-A92B-B2DEFA0E3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805" y="0"/>
            <a:ext cx="15522389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>
            <a:extLst>
              <a:ext uri="{FF2B5EF4-FFF2-40B4-BE49-F238E27FC236}">
                <a16:creationId xmlns:a16="http://schemas.microsoft.com/office/drawing/2014/main" id="{842E299E-5F24-4B49-BC97-EC8B65D7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457200"/>
            <a:ext cx="19827315" cy="1981200"/>
          </a:xfrm>
        </p:spPr>
        <p:txBody>
          <a:bodyPr/>
          <a:lstStyle/>
          <a:p>
            <a:r>
              <a:rPr lang="pt-BR" altLang="pt-BR" dirty="0"/>
              <a:t>Sociedade da Colônia: Açúcar.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A8ED51-18C0-458D-8CC0-6EA9DBFE9B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035" y="1452282"/>
            <a:ext cx="19827315" cy="10739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1. Senhor de Engenho: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Controle: patriarcal.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Família, agregados, empregados e escravos.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Latifundiário: Controle da produção.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c) Ostentação e ócio: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Escravo = manual.</a:t>
            </a:r>
          </a:p>
          <a:p>
            <a:pPr marL="0" indent="0">
              <a:buNone/>
            </a:pPr>
            <a:endParaRPr lang="pt-BR" altLang="pt-BR" sz="6400" dirty="0"/>
          </a:p>
          <a:p>
            <a:pPr marL="0" indent="0">
              <a:buNone/>
            </a:pPr>
            <a:endParaRPr lang="pt-BR" altLang="pt-BR" sz="6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Jean-Baptiste Debret: 40 imagens para ver e baixar - netmundi.org">
            <a:extLst>
              <a:ext uri="{FF2B5EF4-FFF2-40B4-BE49-F238E27FC236}">
                <a16:creationId xmlns:a16="http://schemas.microsoft.com/office/drawing/2014/main" id="{1AF993D9-16C0-4353-B739-419A3433E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94122"/>
            <a:ext cx="24868094" cy="1521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>
            <a:extLst>
              <a:ext uri="{FF2B5EF4-FFF2-40B4-BE49-F238E27FC236}">
                <a16:creationId xmlns:a16="http://schemas.microsoft.com/office/drawing/2014/main" id="{53E5E700-6FA2-4321-A1A3-2552B1E1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457200"/>
            <a:ext cx="19800421" cy="1981200"/>
          </a:xfrm>
        </p:spPr>
        <p:txBody>
          <a:bodyPr/>
          <a:lstStyle/>
          <a:p>
            <a:r>
              <a:rPr lang="pt-BR" altLang="pt-BR" dirty="0"/>
              <a:t>Sociedade da Colônia: Açúcar.</a:t>
            </a:r>
          </a:p>
        </p:txBody>
      </p:sp>
      <p:sp>
        <p:nvSpPr>
          <p:cNvPr id="13315" name="Espaço Reservado para Conteúdo 2">
            <a:extLst>
              <a:ext uri="{FF2B5EF4-FFF2-40B4-BE49-F238E27FC236}">
                <a16:creationId xmlns:a16="http://schemas.microsoft.com/office/drawing/2014/main" id="{6BBAE3E0-B05B-4603-BB73-53A8AE2819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79929" y="1479176"/>
            <a:ext cx="20708471" cy="10712824"/>
          </a:xfrm>
        </p:spPr>
        <p:txBody>
          <a:bodyPr/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2. Camada intermediária: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Homem livre da colônia: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Militares, fiscais, administradores, lavradores, artesãos, clérigos, degredados, náufragos...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Clientelismo:  “ética do favor”.</a:t>
            </a:r>
          </a:p>
          <a:p>
            <a:pPr marL="0" indent="0">
              <a:buNone/>
            </a:pPr>
            <a:endParaRPr lang="pt-BR" altLang="pt-BR" sz="7200" dirty="0"/>
          </a:p>
          <a:p>
            <a:pPr marL="0" indent="0">
              <a:buNone/>
            </a:pPr>
            <a:endParaRPr lang="pt-BR" altLang="pt-BR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73E73023-CD3E-4443-8EE5-9455BD89F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457200"/>
            <a:ext cx="19558374" cy="1792941"/>
          </a:xfrm>
        </p:spPr>
        <p:txBody>
          <a:bodyPr/>
          <a:lstStyle/>
          <a:p>
            <a:r>
              <a:rPr lang="pt-BR" altLang="pt-BR" dirty="0"/>
              <a:t>Bandeirantes.</a:t>
            </a:r>
          </a:p>
        </p:txBody>
      </p:sp>
      <p:sp>
        <p:nvSpPr>
          <p:cNvPr id="16387" name="Espaço Reservado para Conteúdo 2">
            <a:extLst>
              <a:ext uri="{FF2B5EF4-FFF2-40B4-BE49-F238E27FC236}">
                <a16:creationId xmlns:a16="http://schemas.microsoft.com/office/drawing/2014/main" id="{A200410F-9000-4C10-A1D1-1CD525EC0D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8565" y="1344706"/>
            <a:ext cx="19961785" cy="11914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Onde: Sudeste (São Paulo).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Busca de riqueza x miséria e abandono.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Mito: “Gigantes” e “mosqueteiros”.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Bandeirantismo ou Entradas (interior):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“Caça ao índio”;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Contrato (</a:t>
            </a:r>
            <a:r>
              <a:rPr lang="pt-BR" altLang="pt-BR" sz="7200" dirty="0" err="1">
                <a:solidFill>
                  <a:schemeClr val="bg1"/>
                </a:solidFill>
              </a:rPr>
              <a:t>sertanismo</a:t>
            </a:r>
            <a:r>
              <a:rPr lang="pt-BR" altLang="pt-BR" sz="7200" dirty="0">
                <a:solidFill>
                  <a:schemeClr val="bg1"/>
                </a:solidFill>
              </a:rPr>
              <a:t>),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Monções e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Prospecção.</a:t>
            </a:r>
          </a:p>
          <a:p>
            <a:pPr marL="0" indent="0">
              <a:buNone/>
            </a:pPr>
            <a:endParaRPr lang="pt-BR" altLang="pt-BR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>
            <a:extLst>
              <a:ext uri="{FF2B5EF4-FFF2-40B4-BE49-F238E27FC236}">
                <a16:creationId xmlns:a16="http://schemas.microsoft.com/office/drawing/2014/main" id="{1790A7A3-2D19-47F1-80A7-D93604A09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7" y="0"/>
            <a:ext cx="960755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2DDF4842-E951-4CB5-8F78-2A7B80023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4023" y="-1449548"/>
            <a:ext cx="26645550" cy="20235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20C78622-EA66-40A6-A0C6-F0502877C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18" y="457200"/>
            <a:ext cx="19746632" cy="1981200"/>
          </a:xfrm>
        </p:spPr>
        <p:txBody>
          <a:bodyPr/>
          <a:lstStyle/>
          <a:p>
            <a:r>
              <a:rPr lang="pt-BR" altLang="pt-BR" dirty="0"/>
              <a:t>Jesuítas.</a:t>
            </a:r>
          </a:p>
        </p:txBody>
      </p:sp>
      <p:sp>
        <p:nvSpPr>
          <p:cNvPr id="14339" name="Espaço Reservado para Conteúdo 2">
            <a:extLst>
              <a:ext uri="{FF2B5EF4-FFF2-40B4-BE49-F238E27FC236}">
                <a16:creationId xmlns:a16="http://schemas.microsoft.com/office/drawing/2014/main" id="{AE3EFF0C-E9D2-4B59-9C46-B17BA303B8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3718" y="1559859"/>
            <a:ext cx="19746632" cy="10689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a) Jesuítas e outras ordens: 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Objetivo: evangelizar + civilizar (controle).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Ação: catequese + missões (reduções).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b) Resultado: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Trabalho compulsório, mortes e</a:t>
            </a:r>
          </a:p>
          <a:p>
            <a:pPr marL="0" indent="0">
              <a:buNone/>
            </a:pPr>
            <a:r>
              <a:rPr lang="pt-BR" altLang="pt-BR" sz="7800" dirty="0">
                <a:solidFill>
                  <a:schemeClr val="bg1"/>
                </a:solidFill>
              </a:rPr>
              <a:t>desestruturação cultural indígena.</a:t>
            </a:r>
          </a:p>
          <a:p>
            <a:pPr marL="0" indent="0">
              <a:buNone/>
            </a:pPr>
            <a:endParaRPr lang="pt-BR" altLang="pt-BR" sz="7200" dirty="0"/>
          </a:p>
          <a:p>
            <a:pPr marL="0" indent="0">
              <a:buNone/>
            </a:pPr>
            <a:endParaRPr lang="pt-BR" altLang="pt-BR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>
            <a:extLst>
              <a:ext uri="{FF2B5EF4-FFF2-40B4-BE49-F238E27FC236}">
                <a16:creationId xmlns:a16="http://schemas.microsoft.com/office/drawing/2014/main" id="{B7C305D4-6017-40A6-A65D-C2C721B22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41" y="645458"/>
            <a:ext cx="19854209" cy="1792941"/>
          </a:xfrm>
        </p:spPr>
        <p:txBody>
          <a:bodyPr/>
          <a:lstStyle/>
          <a:p>
            <a:r>
              <a:rPr lang="pt-BR" altLang="pt-BR" dirty="0"/>
              <a:t>Sociedade da Colônia: Açúcar.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E2562A-4219-492A-8FC0-EE2F8EC21F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6141" y="1452281"/>
            <a:ext cx="19854209" cy="1250576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3. Escrava; Indígena: </a:t>
            </a:r>
          </a:p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a) Onde: litoral.</a:t>
            </a:r>
          </a:p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b) Questões:</a:t>
            </a:r>
          </a:p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Fugas, resistência, morte (epidemias).</a:t>
            </a:r>
          </a:p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Necessidade de mão de obra.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c) Questionamento da Igreja (Jesuítas):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Resposta dos colonos ; “guerra Justa”.</a:t>
            </a:r>
          </a:p>
          <a:p>
            <a:pPr marL="0" indent="0">
              <a:buNone/>
              <a:defRPr/>
            </a:pPr>
            <a:r>
              <a:rPr lang="pt-BR" altLang="pt-BR" sz="7200" dirty="0">
                <a:solidFill>
                  <a:schemeClr val="bg1"/>
                </a:solidFill>
              </a:rPr>
              <a:t>d) Tráfico: interior/ litoral; Bandeirantes.</a:t>
            </a:r>
          </a:p>
          <a:p>
            <a:pPr marL="0" indent="0">
              <a:buNone/>
              <a:defRPr/>
            </a:pPr>
            <a:endParaRPr lang="pt-BR" altLang="pt-BR" sz="7200" dirty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>
            <a:extLst>
              <a:ext uri="{FF2B5EF4-FFF2-40B4-BE49-F238E27FC236}">
                <a16:creationId xmlns:a16="http://schemas.microsoft.com/office/drawing/2014/main" id="{24CBF7C7-19D2-4DF6-AE87-7C6CC264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457200"/>
            <a:ext cx="19800421" cy="1981200"/>
          </a:xfrm>
        </p:spPr>
        <p:txBody>
          <a:bodyPr/>
          <a:lstStyle/>
          <a:p>
            <a:r>
              <a:rPr lang="pt-BR" altLang="pt-BR" dirty="0"/>
              <a:t>Sociedade da Colônia: Açúcar.</a:t>
            </a:r>
          </a:p>
        </p:txBody>
      </p:sp>
      <p:sp>
        <p:nvSpPr>
          <p:cNvPr id="20483" name="Espaço Reservado para Conteúdo 2">
            <a:extLst>
              <a:ext uri="{FF2B5EF4-FFF2-40B4-BE49-F238E27FC236}">
                <a16:creationId xmlns:a16="http://schemas.microsoft.com/office/drawing/2014/main" id="{8DE46E82-77BE-4010-889E-7641FA283A5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79929" y="1452282"/>
            <a:ext cx="20197297" cy="12749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3. Escrava; Africana: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Interesses: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Colônia: mão de obra.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Coroa: lucro, impostos.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Igreja católica: sem oposição, manter missões.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Controle: Tráfico (milhares) e Colônia;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Uso do Terror.</a:t>
            </a:r>
          </a:p>
          <a:p>
            <a:pPr marL="0" indent="0">
              <a:buNone/>
            </a:pPr>
            <a:endParaRPr lang="pt-BR" altLang="pt-BR" sz="7200" dirty="0"/>
          </a:p>
          <a:p>
            <a:pPr marL="0" indent="0">
              <a:buNone/>
            </a:pPr>
            <a:endParaRPr lang="pt-BR" altLang="pt-BR" sz="7200" dirty="0"/>
          </a:p>
          <a:p>
            <a:pPr marL="0" indent="0">
              <a:buNone/>
            </a:pPr>
            <a:endParaRPr lang="pt-BR" altLang="pt-BR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9C109B8F-6200-4159-9416-E913C3A4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550" y="457200"/>
            <a:ext cx="16306800" cy="1981200"/>
          </a:xfrm>
        </p:spPr>
        <p:txBody>
          <a:bodyPr/>
          <a:lstStyle/>
          <a:p>
            <a:r>
              <a:rPr lang="pt-BR" altLang="pt-BR"/>
              <a:t>Sociedade Colonial: Açúcar.</a:t>
            </a:r>
          </a:p>
        </p:txBody>
      </p:sp>
      <p:sp>
        <p:nvSpPr>
          <p:cNvPr id="25603" name="Espaço Reservado para Conteúdo 2">
            <a:extLst>
              <a:ext uri="{FF2B5EF4-FFF2-40B4-BE49-F238E27FC236}">
                <a16:creationId xmlns:a16="http://schemas.microsoft.com/office/drawing/2014/main" id="{A85A4A6E-577F-4BBC-9627-A4871E2E5C9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06824" y="1425388"/>
            <a:ext cx="19773526" cy="10766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3. Escrava; Africana: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África: conflitos locais.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Portugal: intervenção e introdução;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Têxteis, álcool e armas.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c) Instabilidade das sociedades: </a:t>
            </a: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Crescimento da escravidão.</a:t>
            </a:r>
          </a:p>
          <a:p>
            <a:pPr marL="0" indent="0">
              <a:buNone/>
            </a:pP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altLang="pt-BR" dirty="0"/>
          </a:p>
          <a:p>
            <a:pPr marL="0" indent="0">
              <a:buNone/>
            </a:pPr>
            <a:endParaRPr lang="pt-BR" alt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" descr="1800s DRAWING OF DECKS OF A SLAVE SHIP SHOWING THE BODIES OF ...">
            <a:extLst>
              <a:ext uri="{FF2B5EF4-FFF2-40B4-BE49-F238E27FC236}">
                <a16:creationId xmlns:a16="http://schemas.microsoft.com/office/drawing/2014/main" id="{880F0301-D244-4DB3-8B19-29A252D6D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241427"/>
            <a:ext cx="20958176" cy="137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 descr="Estendendo a História: A África no período do tráfico negreiro ...">
            <a:extLst>
              <a:ext uri="{FF2B5EF4-FFF2-40B4-BE49-F238E27FC236}">
                <a16:creationId xmlns:a16="http://schemas.microsoft.com/office/drawing/2014/main" id="{5D78EDBA-CBCF-4CEA-A775-D5F19DFE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18288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New_Template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606</Words>
  <Application>Microsoft Office PowerPoint</Application>
  <PresentationFormat>Personalizar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Arial</vt:lpstr>
      <vt:lpstr>Avenir Next</vt:lpstr>
      <vt:lpstr>Avenir Next Medium</vt:lpstr>
      <vt:lpstr>DIN Alternate</vt:lpstr>
      <vt:lpstr>DIN Condensed</vt:lpstr>
      <vt:lpstr>Helvetica</vt:lpstr>
      <vt:lpstr>Helvetica Neue</vt:lpstr>
      <vt:lpstr>Wingdings</vt:lpstr>
      <vt:lpstr>1_New_Template7</vt:lpstr>
      <vt:lpstr>Apresentação do PowerPoint</vt:lpstr>
      <vt:lpstr>D. João III: Manutenção do Império.</vt:lpstr>
      <vt:lpstr>Projeto Brasil:</vt:lpstr>
      <vt:lpstr>Apresentação do PowerPoint</vt:lpstr>
      <vt:lpstr> O Esquema: “Plantation”.</vt:lpstr>
      <vt:lpstr>Unidade de Produção.</vt:lpstr>
      <vt:lpstr>Apresentação do PowerPoint</vt:lpstr>
      <vt:lpstr>Apresentação do PowerPoint</vt:lpstr>
      <vt:lpstr>Sociedade da Colônia: Açúcar.</vt:lpstr>
      <vt:lpstr>Apresentação do PowerPoint</vt:lpstr>
      <vt:lpstr>Sociedade da Colônia: Açúcar.</vt:lpstr>
      <vt:lpstr>Bandeirantes.</vt:lpstr>
      <vt:lpstr>Apresentação do PowerPoint</vt:lpstr>
      <vt:lpstr>Apresentação do PowerPoint</vt:lpstr>
      <vt:lpstr>Jesuítas.</vt:lpstr>
      <vt:lpstr>Sociedade da Colônia: Açúcar.</vt:lpstr>
      <vt:lpstr>Sociedade da Colônia: Açúcar.</vt:lpstr>
      <vt:lpstr>Sociedade Colonial: Açúcar.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Poliedro Guarulhos</dc:creator>
  <cp:lastModifiedBy>Poliedro Guarulhos Extra</cp:lastModifiedBy>
  <cp:revision>154</cp:revision>
  <dcterms:created xsi:type="dcterms:W3CDTF">2020-07-02T22:12:00Z</dcterms:created>
  <dcterms:modified xsi:type="dcterms:W3CDTF">2022-04-01T17:44:24Z</dcterms:modified>
</cp:coreProperties>
</file>