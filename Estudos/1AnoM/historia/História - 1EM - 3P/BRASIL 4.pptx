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032" r:id="rId3"/>
    <p:sldId id="616" r:id="rId4"/>
    <p:sldId id="592" r:id="rId5"/>
    <p:sldId id="620" r:id="rId6"/>
    <p:sldId id="1046" r:id="rId7"/>
    <p:sldId id="621" r:id="rId8"/>
    <p:sldId id="1047" r:id="rId9"/>
    <p:sldId id="594" r:id="rId10"/>
    <p:sldId id="1048" r:id="rId11"/>
    <p:sldId id="1049" r:id="rId12"/>
    <p:sldId id="105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edro Guarulhos" initials="PG" lastIdx="1" clrIdx="0"/>
  <p:cmAuthor id="2" name="Poliedro Guarulhos D01" initials="PG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4D9A"/>
    <a:srgbClr val="C4160C"/>
    <a:srgbClr val="154A95"/>
    <a:srgbClr val="00B0F0"/>
    <a:srgbClr val="00CED7"/>
    <a:srgbClr val="0432FF"/>
    <a:srgbClr val="838787"/>
    <a:srgbClr val="FFFFFF"/>
    <a:srgbClr val="F7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7" autoAdjust="0"/>
    <p:restoredTop sz="94150"/>
  </p:normalViewPr>
  <p:slideViewPr>
    <p:cSldViewPr snapToGrid="0" snapToObjects="1">
      <p:cViewPr varScale="1">
        <p:scale>
          <a:sx n="52" d="100"/>
          <a:sy n="52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- Centr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4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10461" y="6096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72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3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74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, Marcadores e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4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5" name="Imagem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96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7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3000"/>
            </a:lvl1pPr>
            <a:lvl2pPr>
              <a:buClr>
                <a:schemeClr val="accent1"/>
              </a:buClr>
              <a:buChar char="▸"/>
              <a:defRPr sz="3000"/>
            </a:lvl2pPr>
            <a:lvl3pPr>
              <a:buClr>
                <a:schemeClr val="accent1"/>
              </a:buClr>
              <a:buChar char="▸"/>
              <a:defRPr sz="3000"/>
            </a:lvl3pPr>
            <a:lvl4pPr>
              <a:buClr>
                <a:schemeClr val="accent1"/>
              </a:buClr>
              <a:buChar char="▸"/>
              <a:defRPr sz="3000"/>
            </a:lvl4pPr>
            <a:lvl5pPr>
              <a:buClr>
                <a:schemeClr val="accent1"/>
              </a:buClr>
              <a:buChar char="▸"/>
              <a:defRPr sz="30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06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itaçã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26" name="Balão Explicativo"/>
          <p:cNvSpPr/>
          <p:nvPr/>
        </p:nvSpPr>
        <p:spPr>
          <a:xfrm>
            <a:off x="876300" y="3314704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 sz="3000"/>
          </a:p>
        </p:txBody>
      </p:sp>
      <p:sp>
        <p:nvSpPr>
          <p:cNvPr id="127" name="Digite uma citação aqui.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676400" y="4089402"/>
            <a:ext cx="21056600" cy="13562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005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Digite uma citação aqui.</a:t>
            </a:r>
          </a:p>
        </p:txBody>
      </p:sp>
      <p:sp>
        <p:nvSpPr>
          <p:cNvPr id="128" name="Jaime Silveira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2000" y="11098702"/>
            <a:ext cx="22860000" cy="916598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525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Jaime Silveira</a:t>
            </a:r>
          </a:p>
        </p:txBody>
      </p:sp>
      <p:sp>
        <p:nvSpPr>
          <p:cNvPr id="129" name="Texto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3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33728" y="457200"/>
            <a:ext cx="21742400" cy="1981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 hasCustomPrompt="1"/>
          </p:nvPr>
        </p:nvSpPr>
        <p:spPr>
          <a:xfrm>
            <a:off x="1633728" y="3200400"/>
            <a:ext cx="21742400" cy="8991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50F12-23F4-4AE1-852C-EF9752F73764}" type="datetimeFigureOut">
              <a:rPr lang="en-US"/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xfrm>
            <a:off x="22949204" y="609602"/>
            <a:ext cx="663644" cy="4432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6D2C9-328E-4260-87CC-E33B94BD4E40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57256-3AD6-48B6-A269-8A4BC1E03833}" type="datetimeFigureOut">
              <a:rPr lang="en-US"/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757" y="12496800"/>
            <a:ext cx="663643" cy="4432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BC39EBA-80FF-4EC9-A2F3-7CEA35B298EF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ha"/>
          <p:cNvSpPr/>
          <p:nvPr/>
        </p:nvSpPr>
        <p:spPr>
          <a:xfrm flipV="1">
            <a:off x="762003" y="8635636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4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35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1714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3429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5143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6858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2960481" y="5842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"/>
          <p:cNvSpPr/>
          <p:nvPr/>
        </p:nvSpPr>
        <p:spPr>
          <a:xfrm flipV="1">
            <a:off x="762000" y="1396999"/>
            <a:ext cx="20955003" cy="4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" name="Texto do Títul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06913" y="609602"/>
            <a:ext cx="605935" cy="434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7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1714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3429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5143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6858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8572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0287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2001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3716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7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952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428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905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381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857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333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810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28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6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1714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3429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5143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6858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8572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0287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2001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3716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6600" dirty="0">
                <a:solidFill>
                  <a:schemeClr val="bg1"/>
                </a:solidFill>
              </a:rPr>
              <a:t>Crise do Sistema colonial.</a:t>
            </a:r>
            <a:endParaRPr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5110" y="457200"/>
            <a:ext cx="22611018" cy="1981200"/>
          </a:xfrm>
        </p:spPr>
        <p:txBody>
          <a:bodyPr/>
          <a:lstStyle/>
          <a:p>
            <a:r>
              <a:rPr lang="pt-BR" sz="8000" dirty="0"/>
              <a:t>1709; Guerra dos Emboabas</a:t>
            </a:r>
            <a:r>
              <a:rPr lang="pt-BR" dirty="0"/>
              <a:t>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5110" y="1455576"/>
            <a:ext cx="18913540" cy="10888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a) Onde: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Região das Minas.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b) Causas: 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Controle local = conflito;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Paulistas x Emboabas. 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c) Resultado: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Chegada da Coroa;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Saída dos Paulistas.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9127" y="457200"/>
            <a:ext cx="22667001" cy="1981200"/>
          </a:xfrm>
        </p:spPr>
        <p:txBody>
          <a:bodyPr>
            <a:normAutofit/>
          </a:bodyPr>
          <a:lstStyle/>
          <a:p>
            <a:r>
              <a:rPr lang="pt-BR" sz="8000" dirty="0"/>
              <a:t>1720: Revolta de Vila Rica.</a:t>
            </a:r>
            <a:endParaRPr lang="pt-BR" sz="8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09127" y="1399592"/>
            <a:ext cx="22667001" cy="10792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a) Onde: 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Minas Gerais.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b) Causas: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Felipe dos Santos.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Protestos x impostos e casas de fundição.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c) Resultado: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Conde de </a:t>
            </a:r>
            <a:r>
              <a:rPr lang="pt-BR" sz="5600" dirty="0" err="1">
                <a:solidFill>
                  <a:schemeClr val="bg1"/>
                </a:solidFill>
              </a:rPr>
              <a:t>Assumar</a:t>
            </a:r>
            <a:r>
              <a:rPr lang="pt-BR" sz="5600" dirty="0">
                <a:solidFill>
                  <a:schemeClr val="bg1"/>
                </a:solidFill>
              </a:rPr>
              <a:t>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Repressão.</a:t>
            </a:r>
            <a:endParaRPr lang="pt-BR" sz="5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ntonio Parreiras Julgamento de Filipe dos Santos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93031"/>
            <a:ext cx="18288000" cy="1092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6449" y="457200"/>
            <a:ext cx="22629679" cy="1981200"/>
          </a:xfrm>
        </p:spPr>
        <p:txBody>
          <a:bodyPr>
            <a:normAutofit/>
          </a:bodyPr>
          <a:lstStyle/>
          <a:p>
            <a:r>
              <a:rPr lang="pt-BR" sz="8000" dirty="0"/>
              <a:t>1789: Inconfidência Mineira.</a:t>
            </a:r>
            <a:endParaRPr lang="pt-BR" sz="8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46449" y="1455576"/>
            <a:ext cx="18932201" cy="108888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a) Causas: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Derrama;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b) Projeto: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Base Iluminista; 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Independência dos E.U.A.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Sem definição.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5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55" y="457200"/>
            <a:ext cx="22536373" cy="1981200"/>
          </a:xfrm>
        </p:spPr>
        <p:txBody>
          <a:bodyPr>
            <a:normAutofit/>
          </a:bodyPr>
          <a:lstStyle/>
          <a:p>
            <a:r>
              <a:rPr lang="pt-BR" sz="8000" dirty="0"/>
              <a:t>1789: Inconfidência Mineira.</a:t>
            </a:r>
            <a:endParaRPr lang="pt-BR" sz="8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839755" y="1455576"/>
            <a:ext cx="18838895" cy="108888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c) Participantes: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Tomás Antônio Gonzaga;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Joaquim Silvério;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Joaquim da Silva Xavier ou “Tiradentes”.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d) Resultado: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Devassa;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5600" dirty="0">
                <a:solidFill>
                  <a:schemeClr val="bg1"/>
                </a:solidFill>
              </a:rPr>
              <a:t>Imagem de Tiradentes.</a:t>
            </a:r>
            <a:endParaRPr lang="pt-BR" sz="5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endParaRPr lang="pt-BR" sz="5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Bandeira de Minas Gerais.sv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502" y="-1138361"/>
            <a:ext cx="21774996" cy="1524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upload.wikimedia.org/wikipedia/commons/thumb/4/4f/Tiradentes_escuartejado_%28Tiradentes_supliciado%29_by_Pedro_Am%C3%A9rico_1893.jpg/800px-Tiradentes_escuartejado_%28Tiradentes_supliciado%29_by_Pedro_Am%C3%A9rico_189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7993" y="394462"/>
            <a:ext cx="7704214" cy="1279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836" y="394462"/>
            <a:ext cx="7787052" cy="1279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Tratados e Limites.</a:t>
            </a:r>
            <a:endParaRPr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>
          <a:xfrm>
            <a:off x="753035" y="457200"/>
            <a:ext cx="19827315" cy="1981200"/>
          </a:xfrm>
        </p:spPr>
        <p:txBody>
          <a:bodyPr/>
          <a:lstStyle/>
          <a:p>
            <a:r>
              <a:rPr lang="pt-BR" altLang="pt-BR" dirty="0"/>
              <a:t>Tratados e Limites:</a:t>
            </a:r>
            <a:endParaRPr lang="pt-BR" altLang="pt-BR" dirty="0"/>
          </a:p>
        </p:txBody>
      </p:sp>
      <p:sp>
        <p:nvSpPr>
          <p:cNvPr id="2355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3035" y="1452282"/>
            <a:ext cx="20582966" cy="11806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1. 1750; Tratado de Madri:</a:t>
            </a: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a) Alexandre de Gusmão:</a:t>
            </a: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“</a:t>
            </a:r>
            <a:r>
              <a:rPr lang="pt-BR" altLang="pt-BR" sz="7200" i="1" dirty="0">
                <a:solidFill>
                  <a:schemeClr val="bg1"/>
                </a:solidFill>
              </a:rPr>
              <a:t>uti possidetis, ita </a:t>
            </a:r>
            <a:r>
              <a:rPr lang="pt-BR" altLang="pt-BR" sz="7200" i="1" dirty="0" err="1">
                <a:solidFill>
                  <a:schemeClr val="bg1"/>
                </a:solidFill>
              </a:rPr>
              <a:t>possideatis</a:t>
            </a:r>
            <a:r>
              <a:rPr lang="pt-BR" altLang="pt-BR" sz="7200" dirty="0">
                <a:solidFill>
                  <a:schemeClr val="bg1"/>
                </a:solidFill>
              </a:rPr>
              <a:t>”.</a:t>
            </a: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b) Problemas: “Sete Povos das Missões” :</a:t>
            </a: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altLang="pt-BR" sz="7200" dirty="0">
                <a:solidFill>
                  <a:schemeClr val="bg1"/>
                </a:solidFill>
              </a:rPr>
              <a:t>Missões Jesuíticas e indígenas (guaranís)</a:t>
            </a:r>
            <a:endParaRPr lang="pt-BR" altLang="pt-BR" sz="72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“Guerras Guaraníticas”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Missões Jesuíticas destruídas.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pt-BR" sz="7200" dirty="0">
                <a:solidFill>
                  <a:schemeClr val="bg1"/>
                </a:solidFill>
              </a:rPr>
              <a:t>Indígenas mortos.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altLang="pt-BR" sz="7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Lyrics by | Geografia, Ensino de histór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665" y="0"/>
            <a:ext cx="167386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630706" y="10408024"/>
            <a:ext cx="5997387" cy="330797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pt-BR" sz="4000" b="0" i="0" u="none" strike="noStrike" cap="all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DIN Condensed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New_Template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WPS Presentation</Application>
  <PresentationFormat>Personalizar</PresentationFormat>
  <Paragraphs>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Avenir Next Medium</vt:lpstr>
      <vt:lpstr>Segoe Print</vt:lpstr>
      <vt:lpstr>DIN Condensed</vt:lpstr>
      <vt:lpstr>Helvetica</vt:lpstr>
      <vt:lpstr>DIN Alternate</vt:lpstr>
      <vt:lpstr>Avenir Next</vt:lpstr>
      <vt:lpstr>Helvetica Neue</vt:lpstr>
      <vt:lpstr>Microsoft YaHei</vt:lpstr>
      <vt:lpstr>Arial Unicode MS</vt:lpstr>
      <vt:lpstr>1_New_Template7</vt:lpstr>
      <vt:lpstr>PowerPoint 演示文稿</vt:lpstr>
      <vt:lpstr>1709; Guerra dos Emboabas:</vt:lpstr>
      <vt:lpstr>1720: Revolta de Vila Rica.</vt:lpstr>
      <vt:lpstr>PowerPoint 演示文稿</vt:lpstr>
      <vt:lpstr>1789: Inconfidência Mineira.</vt:lpstr>
      <vt:lpstr>1789: Inconfidência Mineira.</vt:lpstr>
      <vt:lpstr>PowerPoint 演示文稿</vt:lpstr>
      <vt:lpstr>PowerPoint 演示文稿</vt:lpstr>
      <vt:lpstr>PowerPoint 演示文稿</vt:lpstr>
      <vt:lpstr>Tratados e Limites: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Poliedro Guarulhos</dc:creator>
  <cp:lastModifiedBy>Rodrigo Bonifacio</cp:lastModifiedBy>
  <cp:revision>173</cp:revision>
  <dcterms:created xsi:type="dcterms:W3CDTF">2020-07-02T22:12:00Z</dcterms:created>
  <dcterms:modified xsi:type="dcterms:W3CDTF">2025-08-23T16:15:26Z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D12E34039EB5411D938CC73C5B0CCBF4_12</vt:lpwstr>
  </property>
  <property fmtid="{D5CDD505-2E9C-101B-9397-08002B2CF9AE}" pid="3" name="KSOProductBuildVer">
    <vt:lpwstr>1046-12.2.0.22222</vt:lpwstr>
  </property>
</Properties>
</file>