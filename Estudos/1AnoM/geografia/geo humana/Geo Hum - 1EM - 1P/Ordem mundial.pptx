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0A1E5-2D32-4676-9C20-831B71C0B4C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79FB1B-8FB1-428D-B791-7EC62561F938}">
      <dgm:prSet/>
      <dgm:spPr/>
      <dgm:t>
        <a:bodyPr/>
        <a:lstStyle/>
        <a:p>
          <a:r>
            <a:rPr lang="pt-BR" b="1"/>
            <a:t>Doutrina Truman: </a:t>
          </a:r>
          <a:r>
            <a:rPr lang="pt-BR"/>
            <a:t>política externa cujo objetivo era conter o socialismo, isto é, isolar a URSS e impedir a expansão de sua área de influência.</a:t>
          </a:r>
          <a:endParaRPr lang="en-US"/>
        </a:p>
      </dgm:t>
    </dgm:pt>
    <dgm:pt modelId="{55540EB1-4D88-40FF-8B18-95CB077D4A6A}" type="parTrans" cxnId="{738ADB47-96C9-4C7E-B373-A5BBAEA76B42}">
      <dgm:prSet/>
      <dgm:spPr/>
      <dgm:t>
        <a:bodyPr/>
        <a:lstStyle/>
        <a:p>
          <a:endParaRPr lang="en-US"/>
        </a:p>
      </dgm:t>
    </dgm:pt>
    <dgm:pt modelId="{87EF3E21-6547-4594-8561-EE3AC62D3912}" type="sibTrans" cxnId="{738ADB47-96C9-4C7E-B373-A5BBAEA76B42}">
      <dgm:prSet/>
      <dgm:spPr/>
      <dgm:t>
        <a:bodyPr/>
        <a:lstStyle/>
        <a:p>
          <a:endParaRPr lang="en-US"/>
        </a:p>
      </dgm:t>
    </dgm:pt>
    <dgm:pt modelId="{E1F712A0-97E7-4013-A327-5117ED139162}">
      <dgm:prSet/>
      <dgm:spPr/>
      <dgm:t>
        <a:bodyPr/>
        <a:lstStyle/>
        <a:p>
          <a:r>
            <a:rPr lang="pt-BR" b="1"/>
            <a:t>Plano Marshall: </a:t>
          </a:r>
          <a:r>
            <a:rPr lang="pt-BR"/>
            <a:t>plano de ajuda econômica dos Estados Unidos para acelerar a recuperação dos países da Europa Ocidental, recuperando mercados para produtos e capitais americanos.</a:t>
          </a:r>
          <a:endParaRPr lang="en-US"/>
        </a:p>
      </dgm:t>
    </dgm:pt>
    <dgm:pt modelId="{5FFD6DD2-49E4-4785-A8D7-819F773F8665}" type="parTrans" cxnId="{41B7C85C-6C06-49BD-8F9D-FD9F1C202C83}">
      <dgm:prSet/>
      <dgm:spPr/>
      <dgm:t>
        <a:bodyPr/>
        <a:lstStyle/>
        <a:p>
          <a:endParaRPr lang="en-US"/>
        </a:p>
      </dgm:t>
    </dgm:pt>
    <dgm:pt modelId="{7FC33009-7C51-4E99-A577-7444038A58A1}" type="sibTrans" cxnId="{41B7C85C-6C06-49BD-8F9D-FD9F1C202C83}">
      <dgm:prSet/>
      <dgm:spPr/>
      <dgm:t>
        <a:bodyPr/>
        <a:lstStyle/>
        <a:p>
          <a:endParaRPr lang="en-US"/>
        </a:p>
      </dgm:t>
    </dgm:pt>
    <dgm:pt modelId="{D0803178-40C1-4B4A-BB67-CF6B2D9B2D07}" type="pres">
      <dgm:prSet presAssocID="{8580A1E5-2D32-4676-9C20-831B71C0B4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pt-BR"/>
        </a:p>
      </dgm:t>
    </dgm:pt>
    <dgm:pt modelId="{3EFFB8BC-51AB-4606-95E5-6C9F2B939F8F}" type="pres">
      <dgm:prSet presAssocID="{9279FB1B-8FB1-428D-B791-7EC62561F938}" presName="hierRoot1" presStyleCnt="0"/>
      <dgm:spPr/>
    </dgm:pt>
    <dgm:pt modelId="{D176C312-A268-47CE-A2D8-23D0FB98D21F}" type="pres">
      <dgm:prSet presAssocID="{9279FB1B-8FB1-428D-B791-7EC62561F938}" presName="composite" presStyleCnt="0"/>
      <dgm:spPr/>
    </dgm:pt>
    <dgm:pt modelId="{80E7284C-3BFB-4077-8401-A24F8154141A}" type="pres">
      <dgm:prSet presAssocID="{9279FB1B-8FB1-428D-B791-7EC62561F938}" presName="background" presStyleLbl="node0" presStyleIdx="0" presStyleCnt="2"/>
      <dgm:spPr/>
    </dgm:pt>
    <dgm:pt modelId="{032619B8-7A12-4764-89A7-D8B3D967E0B3}" type="pres">
      <dgm:prSet presAssocID="{9279FB1B-8FB1-428D-B791-7EC62561F938}" presName="text" presStyleLbl="fgAcc0" presStyleIdx="0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DC19E330-9209-4E57-A797-E0035668BA31}" type="pres">
      <dgm:prSet presAssocID="{9279FB1B-8FB1-428D-B791-7EC62561F938}" presName="hierChild2" presStyleCnt="0"/>
      <dgm:spPr/>
    </dgm:pt>
    <dgm:pt modelId="{DBBCA935-7086-4439-B85B-98647E6FD09A}" type="pres">
      <dgm:prSet presAssocID="{E1F712A0-97E7-4013-A327-5117ED139162}" presName="hierRoot1" presStyleCnt="0"/>
      <dgm:spPr/>
    </dgm:pt>
    <dgm:pt modelId="{D1C5527B-5550-4291-B1F0-B8CD39CBF2B4}" type="pres">
      <dgm:prSet presAssocID="{E1F712A0-97E7-4013-A327-5117ED139162}" presName="composite" presStyleCnt="0"/>
      <dgm:spPr/>
    </dgm:pt>
    <dgm:pt modelId="{D50FCD3E-81DD-4808-8461-1FC576A8B07D}" type="pres">
      <dgm:prSet presAssocID="{E1F712A0-97E7-4013-A327-5117ED139162}" presName="background" presStyleLbl="node0" presStyleIdx="1" presStyleCnt="2"/>
      <dgm:spPr/>
    </dgm:pt>
    <dgm:pt modelId="{CC0DF38F-ED87-4B98-80D3-4F5975EBDBA9}" type="pres">
      <dgm:prSet presAssocID="{E1F712A0-97E7-4013-A327-5117ED139162}" presName="text" presStyleLbl="fgAcc0" presStyleIdx="1" presStyleCnt="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F6589DA-456A-4F7C-9E10-28BFCB158F5B}" type="pres">
      <dgm:prSet presAssocID="{E1F712A0-97E7-4013-A327-5117ED139162}" presName="hierChild2" presStyleCnt="0"/>
      <dgm:spPr/>
    </dgm:pt>
  </dgm:ptLst>
  <dgm:cxnLst>
    <dgm:cxn modelId="{9BFFB0A3-F08B-43C0-A988-E4F3DF684632}" type="presOf" srcId="{8580A1E5-2D32-4676-9C20-831B71C0B4C8}" destId="{D0803178-40C1-4B4A-BB67-CF6B2D9B2D07}" srcOrd="0" destOrd="0" presId="urn:microsoft.com/office/officeart/2005/8/layout/hierarchy1"/>
    <dgm:cxn modelId="{B30B1F67-CD77-423E-B966-61C7D470F908}" type="presOf" srcId="{E1F712A0-97E7-4013-A327-5117ED139162}" destId="{CC0DF38F-ED87-4B98-80D3-4F5975EBDBA9}" srcOrd="0" destOrd="0" presId="urn:microsoft.com/office/officeart/2005/8/layout/hierarchy1"/>
    <dgm:cxn modelId="{7B48E6E8-F7FD-4BA1-991F-DF4A6463E1EF}" type="presOf" srcId="{9279FB1B-8FB1-428D-B791-7EC62561F938}" destId="{032619B8-7A12-4764-89A7-D8B3D967E0B3}" srcOrd="0" destOrd="0" presId="urn:microsoft.com/office/officeart/2005/8/layout/hierarchy1"/>
    <dgm:cxn modelId="{41B7C85C-6C06-49BD-8F9D-FD9F1C202C83}" srcId="{8580A1E5-2D32-4676-9C20-831B71C0B4C8}" destId="{E1F712A0-97E7-4013-A327-5117ED139162}" srcOrd="1" destOrd="0" parTransId="{5FFD6DD2-49E4-4785-A8D7-819F773F8665}" sibTransId="{7FC33009-7C51-4E99-A577-7444038A58A1}"/>
    <dgm:cxn modelId="{738ADB47-96C9-4C7E-B373-A5BBAEA76B42}" srcId="{8580A1E5-2D32-4676-9C20-831B71C0B4C8}" destId="{9279FB1B-8FB1-428D-B791-7EC62561F938}" srcOrd="0" destOrd="0" parTransId="{55540EB1-4D88-40FF-8B18-95CB077D4A6A}" sibTransId="{87EF3E21-6547-4594-8561-EE3AC62D3912}"/>
    <dgm:cxn modelId="{9F5D4B59-C889-44A8-B86E-5F32D4DCA839}" type="presParOf" srcId="{D0803178-40C1-4B4A-BB67-CF6B2D9B2D07}" destId="{3EFFB8BC-51AB-4606-95E5-6C9F2B939F8F}" srcOrd="0" destOrd="0" presId="urn:microsoft.com/office/officeart/2005/8/layout/hierarchy1"/>
    <dgm:cxn modelId="{A2A19D2D-1E6C-48AF-9EC6-ADCB7FA4D898}" type="presParOf" srcId="{3EFFB8BC-51AB-4606-95E5-6C9F2B939F8F}" destId="{D176C312-A268-47CE-A2D8-23D0FB98D21F}" srcOrd="0" destOrd="0" presId="urn:microsoft.com/office/officeart/2005/8/layout/hierarchy1"/>
    <dgm:cxn modelId="{2DD8F8E1-83B7-40DD-ACB3-E7B46EE9D73C}" type="presParOf" srcId="{D176C312-A268-47CE-A2D8-23D0FB98D21F}" destId="{80E7284C-3BFB-4077-8401-A24F8154141A}" srcOrd="0" destOrd="0" presId="urn:microsoft.com/office/officeart/2005/8/layout/hierarchy1"/>
    <dgm:cxn modelId="{53968EAD-A4F4-4B12-BFF6-51BF8A345067}" type="presParOf" srcId="{D176C312-A268-47CE-A2D8-23D0FB98D21F}" destId="{032619B8-7A12-4764-89A7-D8B3D967E0B3}" srcOrd="1" destOrd="0" presId="urn:microsoft.com/office/officeart/2005/8/layout/hierarchy1"/>
    <dgm:cxn modelId="{A4EEFD48-F307-44EC-A2A0-D3F9CDAA620E}" type="presParOf" srcId="{3EFFB8BC-51AB-4606-95E5-6C9F2B939F8F}" destId="{DC19E330-9209-4E57-A797-E0035668BA31}" srcOrd="1" destOrd="0" presId="urn:microsoft.com/office/officeart/2005/8/layout/hierarchy1"/>
    <dgm:cxn modelId="{7D5831E6-F257-430B-B3A0-82FC2C7AD910}" type="presParOf" srcId="{D0803178-40C1-4B4A-BB67-CF6B2D9B2D07}" destId="{DBBCA935-7086-4439-B85B-98647E6FD09A}" srcOrd="1" destOrd="0" presId="urn:microsoft.com/office/officeart/2005/8/layout/hierarchy1"/>
    <dgm:cxn modelId="{C1B2615E-211F-455C-B848-CEA836F3C522}" type="presParOf" srcId="{DBBCA935-7086-4439-B85B-98647E6FD09A}" destId="{D1C5527B-5550-4291-B1F0-B8CD39CBF2B4}" srcOrd="0" destOrd="0" presId="urn:microsoft.com/office/officeart/2005/8/layout/hierarchy1"/>
    <dgm:cxn modelId="{38C26888-314D-49FF-A9BE-0B8244CC2224}" type="presParOf" srcId="{D1C5527B-5550-4291-B1F0-B8CD39CBF2B4}" destId="{D50FCD3E-81DD-4808-8461-1FC576A8B07D}" srcOrd="0" destOrd="0" presId="urn:microsoft.com/office/officeart/2005/8/layout/hierarchy1"/>
    <dgm:cxn modelId="{6E4C2DB1-B54D-4067-A192-387ED6D6BF53}" type="presParOf" srcId="{D1C5527B-5550-4291-B1F0-B8CD39CBF2B4}" destId="{CC0DF38F-ED87-4B98-80D3-4F5975EBDBA9}" srcOrd="1" destOrd="0" presId="urn:microsoft.com/office/officeart/2005/8/layout/hierarchy1"/>
    <dgm:cxn modelId="{9429BD49-FCB5-4F73-BEE3-76CE90FD5B0A}" type="presParOf" srcId="{DBBCA935-7086-4439-B85B-98647E6FD09A}" destId="{4F6589DA-456A-4F7C-9E10-28BFCB158F5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7284C-3BFB-4077-8401-A24F8154141A}">
      <dsp:nvSpPr>
        <dsp:cNvPr id="0" name=""/>
        <dsp:cNvSpPr/>
      </dsp:nvSpPr>
      <dsp:spPr>
        <a:xfrm>
          <a:off x="1227" y="213139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619B8-7A12-4764-89A7-D8B3D967E0B3}">
      <dsp:nvSpPr>
        <dsp:cNvPr id="0" name=""/>
        <dsp:cNvSpPr/>
      </dsp:nvSpPr>
      <dsp:spPr>
        <a:xfrm>
          <a:off x="480082" y="668051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b="1" kern="1200"/>
            <a:t>Doutrina Truman: </a:t>
          </a:r>
          <a:r>
            <a:rPr lang="pt-BR" sz="2200" kern="1200"/>
            <a:t>política externa cujo objetivo era conter o socialismo, isto é, isolar a URSS e impedir a expansão de sua área de influência.</a:t>
          </a:r>
          <a:endParaRPr lang="en-US" sz="2200" kern="1200"/>
        </a:p>
      </dsp:txBody>
      <dsp:txXfrm>
        <a:off x="560236" y="748205"/>
        <a:ext cx="4149382" cy="2576345"/>
      </dsp:txXfrm>
    </dsp:sp>
    <dsp:sp modelId="{D50FCD3E-81DD-4808-8461-1FC576A8B07D}">
      <dsp:nvSpPr>
        <dsp:cNvPr id="0" name=""/>
        <dsp:cNvSpPr/>
      </dsp:nvSpPr>
      <dsp:spPr>
        <a:xfrm>
          <a:off x="5268627" y="213139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DF38F-ED87-4B98-80D3-4F5975EBDBA9}">
      <dsp:nvSpPr>
        <dsp:cNvPr id="0" name=""/>
        <dsp:cNvSpPr/>
      </dsp:nvSpPr>
      <dsp:spPr>
        <a:xfrm>
          <a:off x="5747481" y="668051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200" b="1" kern="1200"/>
            <a:t>Plano Marshall: </a:t>
          </a:r>
          <a:r>
            <a:rPr lang="pt-BR" sz="2200" kern="1200"/>
            <a:t>plano de ajuda econômica dos Estados Unidos para acelerar a recuperação dos países da Europa Ocidental, recuperando mercados para produtos e capitais americanos.</a:t>
          </a:r>
          <a:endParaRPr lang="en-US" sz="2200" kern="1200"/>
        </a:p>
      </dsp:txBody>
      <dsp:txXfrm>
        <a:off x="5827635" y="748205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8B07-2C06-4CF2-8E91-F7385E71E2CB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36D4-0671-4B70-A95D-BFBC9A35DA5B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D67DAC-232D-4042-B5C0-E64770A42A28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ECD2C-79BD-4B90-B3FA-E3B19B3FF97B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FDB6-7A26-4DBB-9BB0-088C0534314D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C72F-E0F0-449A-A903-6D7865ED3EFA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207D-C9F3-42EA-960B-DC9955B358C7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7A6-8947-4115-8D9E-E89B1EC0518D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0A6F-F31A-4CA3-B222-0B3C224FF998}" type="datetimeFigureOut">
              <a:rPr lang="en-US" dirty="0"/>
              <a:t>2/7/2025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69D4-B020-4602-B87C-B094679675DF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11EA-3D59-4DFE-9385-0A032B3191AF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8A1663-7765-4EF4-B97F-A02E70C6265E}" type="datetimeFigureOut">
              <a:rPr lang="en-US" dirty="0"/>
              <a:t>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CA3949-60CC-40C6-869A-1D4D54AD2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24" y="2064730"/>
            <a:ext cx="2942706" cy="2728536"/>
          </a:xfrm>
        </p:spPr>
        <p:txBody>
          <a:bodyPr anchor="ctr">
            <a:normAutofit/>
          </a:bodyPr>
          <a:lstStyle/>
          <a:p>
            <a:pPr algn="ctr"/>
            <a:endParaRPr lang="pt-BR" sz="2800" dirty="0">
              <a:solidFill>
                <a:schemeClr val="tx2"/>
              </a:solidFill>
            </a:endParaRPr>
          </a:p>
          <a:p>
            <a:pPr algn="ctr"/>
            <a:r>
              <a:rPr lang="pt-BR" sz="2800" b="1" dirty="0">
                <a:solidFill>
                  <a:schemeClr val="tx2"/>
                </a:solidFill>
              </a:rPr>
              <a:t>Capítulo 16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CFDD4A-4FA1-4CD9-90D5-E253C2040B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4818" y="720071"/>
            <a:ext cx="5417868" cy="5417858"/>
            <a:chOff x="1311770" y="720071"/>
            <a:chExt cx="5417868" cy="541785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1770" y="720071"/>
              <a:ext cx="5417868" cy="5417858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8390" y="1006688"/>
              <a:ext cx="4844628" cy="4844620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EF84889-BBF0-49EB-8F94-E572919F3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07" y="1316890"/>
            <a:ext cx="4606394" cy="4224216"/>
          </a:xfrm>
        </p:spPr>
        <p:txBody>
          <a:bodyPr>
            <a:normAutofit/>
          </a:bodyPr>
          <a:lstStyle/>
          <a:p>
            <a:pPr algn="ctr"/>
            <a:r>
              <a:rPr lang="pt-BR" sz="6000">
                <a:solidFill>
                  <a:srgbClr val="FFFFFF"/>
                </a:solidFill>
              </a:rPr>
              <a:t>Ordem mundial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5208" y="3388657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49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Uma imagem contendo água, ao ar livre, grande, barco&#10;&#10;Descrição gerada automaticamente">
            <a:extLst>
              <a:ext uri="{FF2B5EF4-FFF2-40B4-BE49-F238E27FC236}">
                <a16:creationId xmlns:a16="http://schemas.microsoft.com/office/drawing/2014/main" id="{DC22ABBF-C9F3-4164-A13B-5CF8B1839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" r="2" b="2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271163-1E03-43CD-BDE9-0233CAE1A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672" y="0"/>
            <a:ext cx="7540328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603EFA-AA7D-4A4D-82AC-3C4EDC6B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255391"/>
          </a:xfrm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A ordem internacional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2C4688-D1A1-4825-89B6-7470786AE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t-BR" sz="1800" dirty="0"/>
              <a:t>Guerra Fria (1947 – 1991): período mercado pelo antagonismo geopolítico-ideológico entre os Estados Unidos e a URSS. Bipolarização do poder entre essas duas superpotências.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1989: Queda do Muro de Berlim; 1991: fragmentação da URSS (15 repúblicas independentes); fim do bloco socialista.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Período pós-Guerra Fria: tende  a uma situação de multipolaridade.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China desponta como grande potência econômica. Países emergentes como China e Brasil vêm ganhando importância.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A84125-19BF-4B89-B0B6-72CD1A073F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CDD38B-753F-4DF4-8B85-FD3D5A11284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A78B783-89C6-45C9-95E7-2441AC748B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7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F13B5CBD-D773-4BBE-BE62-96E3B52399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6"/>
          <a:stretch/>
        </p:blipFill>
        <p:spPr>
          <a:xfrm>
            <a:off x="4946" y="0"/>
            <a:ext cx="464672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271163-1E03-43CD-BDE9-0233CAE1A26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672" y="0"/>
            <a:ext cx="7540328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489D20-302B-43ED-8FBB-9B8AA87D5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237636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dirty="0"/>
              <a:t>Ordem geopolítica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798D43-FCF9-48C6-B7AF-E9BD68CE6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1800" dirty="0"/>
              <a:t>Fim da Segunda Guerra Mundial – duas superpotências no cenário mundial: URSS (liderando o bloco socialista ou oriental) e os EUA (liderando o bloco capitalista ou ocidental).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Guerra Fria – Bipolarização do poder – acirrada corrida armamentista. Enfrentamento nuclear.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1947: Estados Unidos lançaram as bases da Doutrina Truman e do Plano Marshall.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A84125-19BF-4B89-B0B6-72CD1A073F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CDD38B-753F-4DF4-8B85-FD3D5A11284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A78B783-89C6-45C9-95E7-2441AC748BC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614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C4DC5-7489-40F5-95EC-C818F0B2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Doutrina Truman e </a:t>
            </a:r>
            <a:br>
              <a:rPr lang="pt-BR" dirty="0"/>
            </a:br>
            <a:r>
              <a:rPr lang="pt-BR" dirty="0"/>
              <a:t>Plano Marshall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093B8-A2CC-4243-9D24-415419DA148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FA9B58C-7223-41DD-9152-2FDABE83B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617797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211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268C7D75-DCA4-4381-8E5D-01A025C496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6502" y="0"/>
            <a:ext cx="612549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E566CC-9EDB-4E38-8C6B-2A43028F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051205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pt-BR" sz="3200" dirty="0"/>
              <a:t>As alianças militares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E42A2EE-F960-4350-912D-DBD8B21EE9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19" r="1" b="9684"/>
          <a:stretch/>
        </p:blipFill>
        <p:spPr>
          <a:xfrm>
            <a:off x="633999" y="640080"/>
            <a:ext cx="4794199" cy="5588101"/>
          </a:xfrm>
          <a:prstGeom prst="rect">
            <a:avLst/>
          </a:prstGeom>
        </p:spPr>
      </p:pic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953B2727-8431-4E6D-BB79-4D9C8E2D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1535837"/>
            <a:ext cx="5299585" cy="46363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t-BR" sz="1800" dirty="0"/>
              <a:t>Início da Guerra Fria: Estados Unidos criou várias alianças militares: na Europa ocidental, no Sudeste Asiático e no Oriente Médio.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Intuito: delimitar sua zona de influência e estabelecer um cinturão de isolamento em torno da superpotência rival (cordão sanitário).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Otan: sede em Bruxelas (Bélgica); organização militar criada em 1949.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Criação da República Federal da Alemanha (RFA), ou Alemanha Ocidental, cuja capital foi instalada na cidade de Bonn.</a:t>
            </a:r>
          </a:p>
        </p:txBody>
      </p:sp>
      <p:grpSp>
        <p:nvGrpSpPr>
          <p:cNvPr id="19" name="Group 12">
            <a:extLst>
              <a:ext uri="{FF2B5EF4-FFF2-40B4-BE49-F238E27FC236}">
                <a16:creationId xmlns:a16="http://schemas.microsoft.com/office/drawing/2014/main" id="{FB36AE2D-4EC3-402D-A0B6-25E51BEBF5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0" name="Oval 13">
              <a:extLst>
                <a:ext uri="{FF2B5EF4-FFF2-40B4-BE49-F238E27FC236}">
                  <a16:creationId xmlns:a16="http://schemas.microsoft.com/office/drawing/2014/main" id="{EC835156-679A-4637-8D17-75FB3F55924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1" name="Oval 14">
              <a:extLst>
                <a:ext uri="{FF2B5EF4-FFF2-40B4-BE49-F238E27FC236}">
                  <a16:creationId xmlns:a16="http://schemas.microsoft.com/office/drawing/2014/main" id="{4834248F-360A-4FB2-BD6F-9C9119DAB18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623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DDCE752-8F56-4D27-8DF4-D0811574D7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7194"/>
          <a:stretch/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sp>
        <p:nvSpPr>
          <p:cNvPr id="32" name="Rectangle 25">
            <a:extLst>
              <a:ext uri="{FF2B5EF4-FFF2-40B4-BE49-F238E27FC236}">
                <a16:creationId xmlns:a16="http://schemas.microsoft.com/office/drawing/2014/main" id="{8C4EA0CB-817F-4705-860A-1632125EC7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6502" y="0"/>
            <a:ext cx="6125497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18FB2D18-9D3D-430B-BE5D-91C636ABF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1143000"/>
            <a:ext cx="5299585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Resposta soviética: criação da República Democrática Alemã (RDA), cuja capital era Berlim.</a:t>
            </a:r>
          </a:p>
          <a:p>
            <a:pPr>
              <a:lnSpc>
                <a:spcPct val="150000"/>
              </a:lnSpc>
            </a:pPr>
            <a:r>
              <a:rPr lang="pt-BR" dirty="0"/>
              <a:t>Até a década de 1960, muitos berlinenses deixaram o setor oriental em busca de melhores condições de vida no setor ocidental.</a:t>
            </a:r>
          </a:p>
          <a:p>
            <a:pPr>
              <a:lnSpc>
                <a:spcPct val="150000"/>
              </a:lnSpc>
            </a:pPr>
            <a:r>
              <a:rPr lang="pt-BR" dirty="0"/>
              <a:t>O Muro de Berlim materializava o antagonismo da Guerra Fria.</a:t>
            </a:r>
          </a:p>
        </p:txBody>
      </p:sp>
      <p:grpSp>
        <p:nvGrpSpPr>
          <p:cNvPr id="33" name="Group 27">
            <a:extLst>
              <a:ext uri="{FF2B5EF4-FFF2-40B4-BE49-F238E27FC236}">
                <a16:creationId xmlns:a16="http://schemas.microsoft.com/office/drawing/2014/main" id="{D375E0AD-E718-4EE0-BA3D-496A7C5E36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4" name="Oval 28">
              <a:extLst>
                <a:ext uri="{FF2B5EF4-FFF2-40B4-BE49-F238E27FC236}">
                  <a16:creationId xmlns:a16="http://schemas.microsoft.com/office/drawing/2014/main" id="{EAD86D46-DFEB-48BD-AAD3-F56155CB92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5" name="Oval 29">
              <a:extLst>
                <a:ext uri="{FF2B5EF4-FFF2-40B4-BE49-F238E27FC236}">
                  <a16:creationId xmlns:a16="http://schemas.microsoft.com/office/drawing/2014/main" id="{8E9AADDA-24F7-40FF-B2DC-649C2D13A11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898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09138F-8BF1-40DF-B2EB-61DEDE1D3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4527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C15189-56B9-44EA-9224-D886E6915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793838"/>
            <a:ext cx="6743845" cy="53783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BR" sz="1800" dirty="0"/>
              <a:t>Resposta soviética ao ingresso da Alemanha Ocidental na Otan, em 1955: criação do Pacto de Varsóvia (assinado na Polônia). URSS delimitava sua própria área de influência.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Cortina de Ferro: dividia a Europa Oriental da </a:t>
            </a:r>
            <a:r>
              <a:rPr lang="pt-BR" sz="1800" dirty="0" smtClean="0"/>
              <a:t>Europa Ocidental.</a:t>
            </a:r>
          </a:p>
          <a:p>
            <a:pPr>
              <a:lnSpc>
                <a:spcPct val="150000"/>
              </a:lnSpc>
            </a:pPr>
            <a:r>
              <a:rPr lang="pt-BR" sz="1800" dirty="0" smtClean="0"/>
              <a:t> </a:t>
            </a:r>
            <a:r>
              <a:rPr lang="pt-BR" sz="1800" dirty="0"/>
              <a:t>1991: extinto o Pacto de </a:t>
            </a:r>
            <a:r>
              <a:rPr lang="pt-BR" sz="1800"/>
              <a:t>Varsóvia</a:t>
            </a:r>
            <a:r>
              <a:rPr lang="pt-BR" sz="1800" smtClean="0"/>
              <a:t>.</a:t>
            </a:r>
            <a:endParaRPr lang="pt-BR" sz="1800" dirty="0"/>
          </a:p>
          <a:p>
            <a:pPr>
              <a:lnSpc>
                <a:spcPct val="150000"/>
              </a:lnSpc>
            </a:pPr>
            <a:r>
              <a:rPr lang="pt-BR" sz="1800" dirty="0"/>
              <a:t>Diminuição da influência das alianças militares.</a:t>
            </a:r>
          </a:p>
          <a:p>
            <a:pPr>
              <a:lnSpc>
                <a:spcPct val="150000"/>
              </a:lnSpc>
            </a:pPr>
            <a:r>
              <a:rPr lang="pt-BR" sz="1800" dirty="0"/>
              <a:t>Otan hoje: redução do arsenal militar; tem como função garantir a paz na Europa e dar suporte a intervenções regionais.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6AED39B-1866-4BA3-9EF3-753FFDEAB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460" y="793838"/>
            <a:ext cx="3369177" cy="49729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0D0A1-1C50-4248-A68B-7D09D8B410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9EA430-360E-4176-9623-B9A83D31CE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1714FD0-5C47-42B7-9A05-FAF494EF4F3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7ED76833-0D4E-42A8-AEF4-8853ADB0E8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20181" y="6272783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714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425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Rockwell Extra Bold</vt:lpstr>
      <vt:lpstr>Wingdings</vt:lpstr>
      <vt:lpstr>Tipo de Madeira</vt:lpstr>
      <vt:lpstr>Ordem mundial</vt:lpstr>
      <vt:lpstr>A ordem internacional</vt:lpstr>
      <vt:lpstr>Ordem geopolítica</vt:lpstr>
      <vt:lpstr>Doutrina Truman e  Plano Marshall</vt:lpstr>
      <vt:lpstr>As alianças militares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Ordem mundial</dc:title>
  <dc:creator>FERNANDA CASTANHO P SANTOS</dc:creator>
  <cp:lastModifiedBy>Professores 1 Ensino Medio</cp:lastModifiedBy>
  <cp:revision>3</cp:revision>
  <dcterms:created xsi:type="dcterms:W3CDTF">2020-05-12T20:11:35Z</dcterms:created>
  <dcterms:modified xsi:type="dcterms:W3CDTF">2025-02-07T10:46:47Z</dcterms:modified>
</cp:coreProperties>
</file>