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1"/>
  </p:sldMasterIdLst>
  <p:sldIdLst>
    <p:sldId id="256" r:id="rId2"/>
    <p:sldId id="259" r:id="rId3"/>
    <p:sldId id="281" r:id="rId4"/>
    <p:sldId id="282" r:id="rId5"/>
    <p:sldId id="285" r:id="rId6"/>
    <p:sldId id="260" r:id="rId7"/>
    <p:sldId id="283" r:id="rId8"/>
    <p:sldId id="263" r:id="rId9"/>
    <p:sldId id="264" r:id="rId10"/>
    <p:sldId id="257" r:id="rId11"/>
    <p:sldId id="258" r:id="rId12"/>
    <p:sldId id="265" r:id="rId13"/>
    <p:sldId id="266" r:id="rId14"/>
    <p:sldId id="269" r:id="rId15"/>
    <p:sldId id="268" r:id="rId16"/>
    <p:sldId id="270" r:id="rId17"/>
    <p:sldId id="271" r:id="rId18"/>
    <p:sldId id="273" r:id="rId19"/>
    <p:sldId id="262" r:id="rId20"/>
    <p:sldId id="284" r:id="rId21"/>
    <p:sldId id="280" r:id="rId22"/>
    <p:sldId id="286" r:id="rId23"/>
    <p:sldId id="261" r:id="rId24"/>
    <p:sldId id="274" r:id="rId25"/>
    <p:sldId id="275" r:id="rId26"/>
    <p:sldId id="272" r:id="rId27"/>
    <p:sldId id="277" r:id="rId28"/>
    <p:sldId id="278" r:id="rId29"/>
    <p:sldId id="276" r:id="rId30"/>
    <p:sldId id="279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C9823B-178F-4FC9-85F8-65C8037A7512}" v="10" dt="2025-01-26T12:43:15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288" y="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A CASTANHO P SANTOS" userId="674d1cbf55774fc0" providerId="LiveId" clId="{D064952F-900B-4087-BC86-F4D8219744DB}"/>
    <pc:docChg chg="undo custSel mod addSld delSld modSld">
      <pc:chgData name="FERNANDA CASTANHO P SANTOS" userId="674d1cbf55774fc0" providerId="LiveId" clId="{D064952F-900B-4087-BC86-F4D8219744DB}" dt="2019-02-05T21:14:07.463" v="106" actId="26606"/>
      <pc:docMkLst>
        <pc:docMk/>
      </pc:docMkLst>
      <pc:sldChg chg="addSp delSp modSp mod setBg setClrOvrMap delDesignElem">
        <pc:chgData name="FERNANDA CASTANHO P SANTOS" userId="674d1cbf55774fc0" providerId="LiveId" clId="{D064952F-900B-4087-BC86-F4D8219744DB}" dt="2019-02-05T21:14:07.463" v="106" actId="26606"/>
        <pc:sldMkLst>
          <pc:docMk/>
          <pc:sldMk cId="3717685149" sldId="269"/>
        </pc:sldMkLst>
      </pc:sldChg>
      <pc:sldChg chg="addSp delSp modSp add">
        <pc:chgData name="FERNANDA CASTANHO P SANTOS" userId="674d1cbf55774fc0" providerId="LiveId" clId="{D064952F-900B-4087-BC86-F4D8219744DB}" dt="2019-02-05T21:11:36.523" v="99" actId="14100"/>
        <pc:sldMkLst>
          <pc:docMk/>
          <pc:sldMk cId="144824970" sldId="270"/>
        </pc:sldMkLst>
      </pc:sldChg>
      <pc:sldChg chg="addSp delSp modSp add del setBg">
        <pc:chgData name="FERNANDA CASTANHO P SANTOS" userId="674d1cbf55774fc0" providerId="LiveId" clId="{D064952F-900B-4087-BC86-F4D8219744DB}" dt="2019-02-05T21:11:26.034" v="98" actId="2696"/>
        <pc:sldMkLst>
          <pc:docMk/>
          <pc:sldMk cId="2303602830" sldId="271"/>
        </pc:sldMkLst>
      </pc:sldChg>
    </pc:docChg>
  </pc:docChgLst>
  <pc:docChgLst>
    <pc:chgData name="Alex Rios" userId="69fc135ea1c70fd1" providerId="LiveId" clId="{15C9823B-178F-4FC9-85F8-65C8037A7512}"/>
    <pc:docChg chg="undo custSel addSld modSld sldOrd">
      <pc:chgData name="Alex Rios" userId="69fc135ea1c70fd1" providerId="LiveId" clId="{15C9823B-178F-4FC9-85F8-65C8037A7512}" dt="2025-01-26T12:43:40.702" v="28" actId="26606"/>
      <pc:docMkLst>
        <pc:docMk/>
      </pc:docMkLst>
      <pc:sldChg chg="modSp mod">
        <pc:chgData name="Alex Rios" userId="69fc135ea1c70fd1" providerId="LiveId" clId="{15C9823B-178F-4FC9-85F8-65C8037A7512}" dt="2024-01-25T14:21:42.613" v="1" actId="20577"/>
        <pc:sldMkLst>
          <pc:docMk/>
          <pc:sldMk cId="3799033163" sldId="260"/>
        </pc:sldMkLst>
      </pc:sldChg>
      <pc:sldChg chg="addSp delSp modSp add mod modAnim">
        <pc:chgData name="Alex Rios" userId="69fc135ea1c70fd1" providerId="LiveId" clId="{15C9823B-178F-4FC9-85F8-65C8037A7512}" dt="2025-01-26T12:35:04.705" v="6"/>
        <pc:sldMkLst>
          <pc:docMk/>
          <pc:sldMk cId="413547825" sldId="285"/>
        </pc:sldMkLst>
        <pc:spChg chg="del">
          <ac:chgData name="Alex Rios" userId="69fc135ea1c70fd1" providerId="LiveId" clId="{15C9823B-178F-4FC9-85F8-65C8037A7512}" dt="2025-01-26T12:34:25.948" v="5" actId="21"/>
          <ac:spMkLst>
            <pc:docMk/>
            <pc:sldMk cId="413547825" sldId="285"/>
            <ac:spMk id="5" creationId="{D3CBD598-FC1D-C783-14D3-6CACBE83CF1C}"/>
          </ac:spMkLst>
        </pc:spChg>
        <pc:picChg chg="add mod">
          <ac:chgData name="Alex Rios" userId="69fc135ea1c70fd1" providerId="LiveId" clId="{15C9823B-178F-4FC9-85F8-65C8037A7512}" dt="2025-01-26T12:35:04.705" v="6"/>
          <ac:picMkLst>
            <pc:docMk/>
            <pc:sldMk cId="413547825" sldId="285"/>
            <ac:picMk id="3" creationId="{ED54FB63-7DCA-BCBD-DF9E-1976A806366D}"/>
          </ac:picMkLst>
        </pc:picChg>
        <pc:picChg chg="del">
          <ac:chgData name="Alex Rios" userId="69fc135ea1c70fd1" providerId="LiveId" clId="{15C9823B-178F-4FC9-85F8-65C8037A7512}" dt="2025-01-26T12:34:20.437" v="3" actId="21"/>
          <ac:picMkLst>
            <pc:docMk/>
            <pc:sldMk cId="413547825" sldId="285"/>
            <ac:picMk id="1030" creationId="{B73D65A7-188E-59DE-7CB2-EAA5EDE12AB4}"/>
          </ac:picMkLst>
        </pc:picChg>
        <pc:picChg chg="del">
          <ac:chgData name="Alex Rios" userId="69fc135ea1c70fd1" providerId="LiveId" clId="{15C9823B-178F-4FC9-85F8-65C8037A7512}" dt="2025-01-26T12:34:22.326" v="4" actId="21"/>
          <ac:picMkLst>
            <pc:docMk/>
            <pc:sldMk cId="413547825" sldId="285"/>
            <ac:picMk id="1032" creationId="{7522F232-1698-9DD3-0A23-0F2E541A2994}"/>
          </ac:picMkLst>
        </pc:picChg>
      </pc:sldChg>
      <pc:sldChg chg="addSp delSp modSp add mod ord setBg addAnim delAnim">
        <pc:chgData name="Alex Rios" userId="69fc135ea1c70fd1" providerId="LiveId" clId="{15C9823B-178F-4FC9-85F8-65C8037A7512}" dt="2025-01-26T12:43:40.702" v="28" actId="26606"/>
        <pc:sldMkLst>
          <pc:docMk/>
          <pc:sldMk cId="350339750" sldId="286"/>
        </pc:sldMkLst>
        <pc:spChg chg="del mod ord">
          <ac:chgData name="Alex Rios" userId="69fc135ea1c70fd1" providerId="LiveId" clId="{15C9823B-178F-4FC9-85F8-65C8037A7512}" dt="2025-01-26T12:43:21.727" v="24" actId="21"/>
          <ac:spMkLst>
            <pc:docMk/>
            <pc:sldMk cId="350339750" sldId="286"/>
            <ac:spMk id="2" creationId="{1043FB53-BDDC-4AE3-28F0-FADC134BF6D9}"/>
          </ac:spMkLst>
        </pc:spChg>
        <pc:spChg chg="add del mod">
          <ac:chgData name="Alex Rios" userId="69fc135ea1c70fd1" providerId="LiveId" clId="{15C9823B-178F-4FC9-85F8-65C8037A7512}" dt="2025-01-26T12:42:10.697" v="11" actId="21"/>
          <ac:spMkLst>
            <pc:docMk/>
            <pc:sldMk cId="350339750" sldId="286"/>
            <ac:spMk id="4" creationId="{2B020EBE-1743-DA92-BDD6-D17366699CD8}"/>
          </ac:spMkLst>
        </pc:spChg>
        <pc:spChg chg="add del mod">
          <ac:chgData name="Alex Rios" userId="69fc135ea1c70fd1" providerId="LiveId" clId="{15C9823B-178F-4FC9-85F8-65C8037A7512}" dt="2025-01-26T12:43:25.788" v="25" actId="21"/>
          <ac:spMkLst>
            <pc:docMk/>
            <pc:sldMk cId="350339750" sldId="286"/>
            <ac:spMk id="6" creationId="{81179A77-1489-13E2-459F-17DDF2AB9286}"/>
          </ac:spMkLst>
        </pc:spChg>
        <pc:spChg chg="add del">
          <ac:chgData name="Alex Rios" userId="69fc135ea1c70fd1" providerId="LiveId" clId="{15C9823B-178F-4FC9-85F8-65C8037A7512}" dt="2025-01-26T12:42:59.989" v="15" actId="26606"/>
          <ac:spMkLst>
            <pc:docMk/>
            <pc:sldMk cId="350339750" sldId="286"/>
            <ac:spMk id="1035" creationId="{077D6507-8E8D-40E1-A7B9-63012EF9492F}"/>
          </ac:spMkLst>
        </pc:spChg>
        <pc:spChg chg="add del">
          <ac:chgData name="Alex Rios" userId="69fc135ea1c70fd1" providerId="LiveId" clId="{15C9823B-178F-4FC9-85F8-65C8037A7512}" dt="2025-01-26T12:43:40.702" v="28" actId="26606"/>
          <ac:spMkLst>
            <pc:docMk/>
            <pc:sldMk cId="350339750" sldId="286"/>
            <ac:spMk id="1037" creationId="{3FF533E5-9750-4E88-96EA-897A0D703FD4}"/>
          </ac:spMkLst>
        </pc:spChg>
        <pc:spChg chg="add del">
          <ac:chgData name="Alex Rios" userId="69fc135ea1c70fd1" providerId="LiveId" clId="{15C9823B-178F-4FC9-85F8-65C8037A7512}" dt="2025-01-26T12:43:40.702" v="28" actId="26606"/>
          <ac:spMkLst>
            <pc:docMk/>
            <pc:sldMk cId="350339750" sldId="286"/>
            <ac:spMk id="1039" creationId="{F41BBC71-7D18-4156-8DE4-06F1CB298F54}"/>
          </ac:spMkLst>
        </pc:spChg>
        <pc:spChg chg="add del">
          <ac:chgData name="Alex Rios" userId="69fc135ea1c70fd1" providerId="LiveId" clId="{15C9823B-178F-4FC9-85F8-65C8037A7512}" dt="2025-01-26T12:43:40.702" v="28" actId="26606"/>
          <ac:spMkLst>
            <pc:docMk/>
            <pc:sldMk cId="350339750" sldId="286"/>
            <ac:spMk id="1041" creationId="{11432301-4726-4BC7-A053-C83570C6643B}"/>
          </ac:spMkLst>
        </pc:spChg>
        <pc:spChg chg="add del">
          <ac:chgData name="Alex Rios" userId="69fc135ea1c70fd1" providerId="LiveId" clId="{15C9823B-178F-4FC9-85F8-65C8037A7512}" dt="2025-01-26T12:43:40.672" v="27" actId="26606"/>
          <ac:spMkLst>
            <pc:docMk/>
            <pc:sldMk cId="350339750" sldId="286"/>
            <ac:spMk id="1048" creationId="{7B40B49E-0AAE-4F83-8B0A-EB7C41036CB8}"/>
          </ac:spMkLst>
        </pc:spChg>
        <pc:spChg chg="add del">
          <ac:chgData name="Alex Rios" userId="69fc135ea1c70fd1" providerId="LiveId" clId="{15C9823B-178F-4FC9-85F8-65C8037A7512}" dt="2025-01-26T12:43:40.672" v="27" actId="26606"/>
          <ac:spMkLst>
            <pc:docMk/>
            <pc:sldMk cId="350339750" sldId="286"/>
            <ac:spMk id="1050" creationId="{52009DA8-640E-4004-AA63-72884752D81B}"/>
          </ac:spMkLst>
        </pc:spChg>
        <pc:spChg chg="add">
          <ac:chgData name="Alex Rios" userId="69fc135ea1c70fd1" providerId="LiveId" clId="{15C9823B-178F-4FC9-85F8-65C8037A7512}" dt="2025-01-26T12:43:40.702" v="28" actId="26606"/>
          <ac:spMkLst>
            <pc:docMk/>
            <pc:sldMk cId="350339750" sldId="286"/>
            <ac:spMk id="1053" creationId="{2770B5F4-AED0-4A3A-859D-B6239ED38A3B}"/>
          </ac:spMkLst>
        </pc:spChg>
        <pc:spChg chg="del">
          <ac:chgData name="Alex Rios" userId="69fc135ea1c70fd1" providerId="LiveId" clId="{15C9823B-178F-4FC9-85F8-65C8037A7512}" dt="2025-01-26T12:42:06.613" v="10" actId="21"/>
          <ac:spMkLst>
            <pc:docMk/>
            <pc:sldMk cId="350339750" sldId="286"/>
            <ac:spMk id="13315" creationId="{276DEB97-3FFD-99A8-54CB-049BCF819892}"/>
          </ac:spMkLst>
        </pc:spChg>
        <pc:picChg chg="add mod">
          <ac:chgData name="Alex Rios" userId="69fc135ea1c70fd1" providerId="LiveId" clId="{15C9823B-178F-4FC9-85F8-65C8037A7512}" dt="2025-01-26T12:43:40.702" v="28" actId="26606"/>
          <ac:picMkLst>
            <pc:docMk/>
            <pc:sldMk cId="350339750" sldId="286"/>
            <ac:picMk id="1026" creationId="{D9F0348E-A8A8-98FF-D932-467717E45C39}"/>
          </ac:picMkLst>
        </pc:picChg>
        <pc:picChg chg="add del">
          <ac:chgData name="Alex Rios" userId="69fc135ea1c70fd1" providerId="LiveId" clId="{15C9823B-178F-4FC9-85F8-65C8037A7512}" dt="2025-01-26T12:42:59.989" v="15" actId="26606"/>
          <ac:picMkLst>
            <pc:docMk/>
            <pc:sldMk cId="350339750" sldId="286"/>
            <ac:picMk id="1031" creationId="{CFD580F5-E7BF-4C1D-BEFD-4A4601EBA876}"/>
          </ac:picMkLst>
        </pc:picChg>
        <pc:picChg chg="add del">
          <ac:chgData name="Alex Rios" userId="69fc135ea1c70fd1" providerId="LiveId" clId="{15C9823B-178F-4FC9-85F8-65C8037A7512}" dt="2025-01-26T12:42:59.989" v="15" actId="26606"/>
          <ac:picMkLst>
            <pc:docMk/>
            <pc:sldMk cId="350339750" sldId="286"/>
            <ac:picMk id="1033" creationId="{F0F06750-78FE-4472-8DA5-14CF3336F811}"/>
          </ac:picMkLst>
        </pc:picChg>
        <pc:picChg chg="add del">
          <ac:chgData name="Alex Rios" userId="69fc135ea1c70fd1" providerId="LiveId" clId="{15C9823B-178F-4FC9-85F8-65C8037A7512}" dt="2025-01-26T12:43:40.702" v="28" actId="26606"/>
          <ac:picMkLst>
            <pc:docMk/>
            <pc:sldMk cId="350339750" sldId="286"/>
            <ac:picMk id="1038" creationId="{CFD580F5-E7BF-4C1D-BEFD-4A4601EBA876}"/>
          </ac:picMkLst>
        </pc:picChg>
        <pc:picChg chg="add del">
          <ac:chgData name="Alex Rios" userId="69fc135ea1c70fd1" providerId="LiveId" clId="{15C9823B-178F-4FC9-85F8-65C8037A7512}" dt="2025-01-26T12:43:40.702" v="28" actId="26606"/>
          <ac:picMkLst>
            <pc:docMk/>
            <pc:sldMk cId="350339750" sldId="286"/>
            <ac:picMk id="1040" creationId="{F0F06750-78FE-4472-8DA5-14CF3336F811}"/>
          </ac:picMkLst>
        </pc:picChg>
        <pc:picChg chg="add del">
          <ac:chgData name="Alex Rios" userId="69fc135ea1c70fd1" providerId="LiveId" clId="{15C9823B-178F-4FC9-85F8-65C8037A7512}" dt="2025-01-26T12:43:40.672" v="27" actId="26606"/>
          <ac:picMkLst>
            <pc:docMk/>
            <pc:sldMk cId="350339750" sldId="286"/>
            <ac:picMk id="1046" creationId="{95DD5BC2-A8E7-4CAD-955A-3807355EC977}"/>
          </ac:picMkLst>
        </pc:picChg>
        <pc:picChg chg="add">
          <ac:chgData name="Alex Rios" userId="69fc135ea1c70fd1" providerId="LiveId" clId="{15C9823B-178F-4FC9-85F8-65C8037A7512}" dt="2025-01-26T12:43:40.702" v="28" actId="26606"/>
          <ac:picMkLst>
            <pc:docMk/>
            <pc:sldMk cId="350339750" sldId="286"/>
            <ac:picMk id="1052" creationId="{95DD5BC2-A8E7-4CAD-955A-3807355EC97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08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482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796027F-7875-4030-9381-8BD8C4F21935}" type="datetimeFigureOut">
              <a:rPr lang="en-US" smtClean="0"/>
              <a:pPr/>
              <a:t>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405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pPr/>
              <a:t>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272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pPr/>
              <a:t>1/26/2025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77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1/26/2025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568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1/26/2025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982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948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021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154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509A250-FF31-4206-8172-F9D3106AACB1}" type="datetimeFigureOut">
              <a:rPr lang="en-US" smtClean="0"/>
              <a:pPr/>
              <a:t>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409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AAD347D-5ACD-4C99-B74B-A9C85AD731AF}" type="datetimeFigureOut">
              <a:rPr lang="en-US" smtClean="0"/>
              <a:pPr/>
              <a:t>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344468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AAD347D-5ACD-4C99-B74B-A9C85AD731AF}" type="datetimeFigureOut">
              <a:rPr lang="en-US" smtClean="0"/>
              <a:pPr/>
              <a:t>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839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1/26/2025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399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1/26/2025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854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5315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509A250-FF31-4206-8172-F9D3106AACB1}" type="datetimeFigureOut">
              <a:rPr lang="en-US" smtClean="0"/>
              <a:pPr/>
              <a:t>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421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pPr/>
              <a:t>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8530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imaojacinto.blogspot.com/2011/04/imagens-do-planeta-terra.html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V2P-k3nPTfE?feature=oembe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16JLUCDJBk?feature=oembed" TargetMode="External"/><Relationship Id="rId4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7D6507-8E8D-40E1-A7B9-63012EF94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Uma imagem contendo mesa, azul, vidro, segurando&#10;&#10;Descrição gerada automaticamente">
            <a:extLst>
              <a:ext uri="{FF2B5EF4-FFF2-40B4-BE49-F238E27FC236}">
                <a16:creationId xmlns:a16="http://schemas.microsoft.com/office/drawing/2014/main" id="{B5A4F7FD-E0AE-4A4A-9FEE-690193DDD9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9070" r="-1" b="2510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159C597-5CBF-4134-8289-8A9C96509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3014139"/>
            <a:ext cx="9448800" cy="1825096"/>
          </a:xfrm>
        </p:spPr>
        <p:txBody>
          <a:bodyPr>
            <a:normAutofit/>
          </a:bodyPr>
          <a:lstStyle/>
          <a:p>
            <a:r>
              <a:rPr lang="pt-BR" dirty="0"/>
              <a:t>PLANETA TERRA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3DDFF1-5B26-40F1-A0FA-BF396EAE7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842934"/>
            <a:ext cx="9448800" cy="1631607"/>
          </a:xfrm>
        </p:spPr>
        <p:txBody>
          <a:bodyPr>
            <a:normAutofit/>
          </a:bodyPr>
          <a:lstStyle/>
          <a:p>
            <a:r>
              <a:rPr lang="pt-BR" sz="2400" dirty="0"/>
              <a:t>COORDENADAS</a:t>
            </a:r>
          </a:p>
          <a:p>
            <a:r>
              <a:rPr lang="pt-BR" sz="2400" dirty="0"/>
              <a:t>MOVIMENTOS</a:t>
            </a:r>
          </a:p>
          <a:p>
            <a:r>
              <a:rPr lang="pt-BR" sz="2400" dirty="0"/>
              <a:t>FUSOS HORÁRIOS</a:t>
            </a:r>
          </a:p>
        </p:txBody>
      </p:sp>
    </p:spTree>
    <p:extLst>
      <p:ext uri="{BB962C8B-B14F-4D97-AF65-F5344CB8AC3E}">
        <p14:creationId xmlns:p14="http://schemas.microsoft.com/office/powerpoint/2010/main" val="396676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FA162-A219-412E-902F-C7E6AEA2C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 Terra no espaço</a:t>
            </a:r>
          </a:p>
        </p:txBody>
      </p:sp>
      <p:pic>
        <p:nvPicPr>
          <p:cNvPr id="5" name="Espaço Reservado para Conteúdo 4" descr="Uma imagem contendo mesa, interior, sentado&#10;&#10;Descrição gerada automaticamente">
            <a:extLst>
              <a:ext uri="{FF2B5EF4-FFF2-40B4-BE49-F238E27FC236}">
                <a16:creationId xmlns:a16="http://schemas.microsoft.com/office/drawing/2014/main" id="{9CA8316E-97DA-4263-836A-56B450BCC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8833" y="2193925"/>
            <a:ext cx="7154334" cy="4024313"/>
          </a:xfrm>
        </p:spPr>
      </p:pic>
    </p:spTree>
    <p:extLst>
      <p:ext uri="{BB962C8B-B14F-4D97-AF65-F5344CB8AC3E}">
        <p14:creationId xmlns:p14="http://schemas.microsoft.com/office/powerpoint/2010/main" val="2863557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7E4A42F-CC50-2472-F995-79378023A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81605"/>
            <a:ext cx="10820400" cy="4024125"/>
          </a:xfrm>
        </p:spPr>
        <p:txBody>
          <a:bodyPr/>
          <a:lstStyle/>
          <a:p>
            <a:pPr marL="0" indent="0" algn="just">
              <a:buNone/>
            </a:pPr>
            <a:r>
              <a:rPr lang="pt-BR" sz="3200" b="0" i="0" dirty="0">
                <a:effectLst/>
                <a:latin typeface="ReithSans"/>
              </a:rPr>
              <a:t>“Novamente, nossas observações das estrelas tornam evidente que não só a Terra é circular, como também se trata de um círculo não muito grande. Uma pequena mudança de posição para o sul ou para o norte provoca uma alteração nítida no horizonte”.</a:t>
            </a:r>
          </a:p>
          <a:p>
            <a:pPr marL="0" indent="0">
              <a:buNone/>
            </a:pPr>
            <a:endParaRPr lang="pt-BR" dirty="0">
              <a:latin typeface="ReithSans"/>
            </a:endParaRPr>
          </a:p>
          <a:p>
            <a:pPr marL="0" indent="0" algn="r">
              <a:buNone/>
            </a:pPr>
            <a:r>
              <a:rPr lang="pt-BR" sz="3200" dirty="0">
                <a:latin typeface="ReithSans"/>
              </a:rPr>
              <a:t>Aristóteles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12726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32EECE7-5C63-6E0C-53DA-B0B7559CF36C}"/>
              </a:ext>
            </a:extLst>
          </p:cNvPr>
          <p:cNvSpPr txBox="1"/>
          <p:nvPr/>
        </p:nvSpPr>
        <p:spPr>
          <a:xfrm>
            <a:off x="5707527" y="412644"/>
            <a:ext cx="91440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A experiência de </a:t>
            </a:r>
            <a:r>
              <a:rPr lang="pt-BR" sz="3200" dirty="0" err="1"/>
              <a:t>Eratóstenes</a:t>
            </a:r>
            <a:endParaRPr lang="pt-BR" sz="32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8A45BD4-7FBF-B778-C5E1-1E1EB1BB4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68" y="1847850"/>
            <a:ext cx="4362450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D1D32BE-F302-DC88-9173-C785EC9FA8F5}"/>
              </a:ext>
            </a:extLst>
          </p:cNvPr>
          <p:cNvSpPr txBox="1"/>
          <p:nvPr/>
        </p:nvSpPr>
        <p:spPr>
          <a:xfrm>
            <a:off x="294868" y="5010150"/>
            <a:ext cx="44983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i="1" dirty="0">
                <a:effectLst/>
                <a:latin typeface="Open Sans" panose="020B0606030504020204" pitchFamily="34" charset="0"/>
              </a:rPr>
              <a:t>21 de junho, ao meio dia nas duas cidades.</a:t>
            </a:r>
            <a:endParaRPr lang="pt-BR" sz="1600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B6BC988B-4A51-69FF-E700-357B5BAD3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551" y="1847850"/>
            <a:ext cx="6954581" cy="2879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634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7DF2B-372B-2CA8-4132-17279978C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70F70A9-C44B-AABF-F6CD-CA6E5E8BBAAD}"/>
              </a:ext>
            </a:extLst>
          </p:cNvPr>
          <p:cNvSpPr txBox="1"/>
          <p:nvPr/>
        </p:nvSpPr>
        <p:spPr>
          <a:xfrm>
            <a:off x="5707527" y="412644"/>
            <a:ext cx="91440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A experiência de </a:t>
            </a:r>
            <a:r>
              <a:rPr lang="pt-BR" sz="3200" dirty="0" err="1"/>
              <a:t>Eratóstenes</a:t>
            </a:r>
            <a:endParaRPr lang="pt-BR" sz="3200" dirty="0"/>
          </a:p>
        </p:txBody>
      </p:sp>
      <p:pic>
        <p:nvPicPr>
          <p:cNvPr id="3" name="Mídia Online 2" title="Como Eratóstenes fez o cálculo da circunferência da Terra">
            <a:hlinkClick r:id="" action="ppaction://media"/>
            <a:extLst>
              <a:ext uri="{FF2B5EF4-FFF2-40B4-BE49-F238E27FC236}">
                <a16:creationId xmlns:a16="http://schemas.microsoft.com/office/drawing/2014/main" id="{ED54FB63-7DCA-BCBD-DF9E-1976A806366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47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1C6335C-C31E-44EA-BD1B-883A52372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549525"/>
            <a:ext cx="3977639" cy="16002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200" b="0" i="0" kern="1200" dirty="0">
                <a:latin typeface="+mj-lt"/>
                <a:ea typeface="+mj-ea"/>
                <a:cs typeface="+mj-cs"/>
              </a:rPr>
              <a:t>Forma da Terra:</a:t>
            </a:r>
            <a:br>
              <a:rPr lang="en-US" sz="3200" b="0" i="0" kern="1200" dirty="0">
                <a:latin typeface="+mj-lt"/>
                <a:ea typeface="+mj-ea"/>
                <a:cs typeface="+mj-cs"/>
              </a:rPr>
            </a:br>
            <a:r>
              <a:rPr lang="en-US" sz="3200" b="0" i="0" kern="1200" dirty="0">
                <a:latin typeface="+mj-lt"/>
                <a:ea typeface="+mj-ea"/>
                <a:cs typeface="+mj-cs"/>
              </a:rPr>
              <a:t> </a:t>
            </a:r>
            <a:br>
              <a:rPr lang="en-US" sz="3200" b="0" i="0" kern="1200" dirty="0">
                <a:latin typeface="+mj-lt"/>
                <a:ea typeface="+mj-ea"/>
                <a:cs typeface="+mj-cs"/>
              </a:rPr>
            </a:br>
            <a:r>
              <a:rPr lang="en-US" sz="3600" b="0" i="0" kern="1200" dirty="0" err="1">
                <a:latin typeface="+mj-lt"/>
                <a:ea typeface="+mj-ea"/>
                <a:cs typeface="+mj-cs"/>
              </a:rPr>
              <a:t>geóide</a:t>
            </a:r>
            <a:endParaRPr lang="en-US" sz="3600" b="0" i="0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1031" name="Picture 4" descr="Ver a imagem de origem">
            <a:extLst>
              <a:ext uri="{FF2B5EF4-FFF2-40B4-BE49-F238E27FC236}">
                <a16:creationId xmlns:a16="http://schemas.microsoft.com/office/drawing/2014/main" id="{EA00068A-FFEE-40EE-9711-8A2DA38C6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72699" y="1032342"/>
            <a:ext cx="6533501" cy="49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033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747C7-C52B-427F-9FFA-489BF67E5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140" y="812601"/>
            <a:ext cx="8610600" cy="1293028"/>
          </a:xfrm>
        </p:spPr>
        <p:txBody>
          <a:bodyPr/>
          <a:lstStyle/>
          <a:p>
            <a:pPr algn="ctr"/>
            <a:r>
              <a:rPr lang="pt-BR" dirty="0"/>
              <a:t>Movimentos da terra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6B06C-53EB-4E2E-957A-5995BF9E6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019" y="2051502"/>
            <a:ext cx="5891981" cy="4024125"/>
          </a:xfrm>
        </p:spPr>
        <p:txBody>
          <a:bodyPr>
            <a:noAutofit/>
          </a:bodyPr>
          <a:lstStyle/>
          <a:p>
            <a:r>
              <a:rPr lang="pt-BR" sz="2800" b="1" dirty="0"/>
              <a:t>Translação</a:t>
            </a:r>
          </a:p>
          <a:p>
            <a:r>
              <a:rPr lang="pt-BR" sz="2800" b="1" dirty="0"/>
              <a:t>Rotação</a:t>
            </a:r>
          </a:p>
          <a:p>
            <a:r>
              <a:rPr lang="pt-BR" sz="2400" dirty="0"/>
              <a:t>Precessão</a:t>
            </a:r>
          </a:p>
          <a:p>
            <a:r>
              <a:rPr lang="pt-BR" sz="2400" dirty="0" err="1"/>
              <a:t>Nutação</a:t>
            </a:r>
            <a:endParaRPr lang="pt-BR" sz="2400" dirty="0"/>
          </a:p>
          <a:p>
            <a:r>
              <a:rPr lang="pt-BR" sz="2400" dirty="0"/>
              <a:t>Deslocamento do periélio</a:t>
            </a:r>
          </a:p>
          <a:p>
            <a:r>
              <a:rPr lang="pt-BR" sz="2400" dirty="0"/>
              <a:t>Obliquidade da eclíptica</a:t>
            </a:r>
          </a:p>
          <a:p>
            <a:r>
              <a:rPr lang="pt-BR" sz="2400" dirty="0"/>
              <a:t>Variação da excentricidade orbital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F084931-76A5-4AA0-A5FC-E9E22EFC7424}"/>
              </a:ext>
            </a:extLst>
          </p:cNvPr>
          <p:cNvSpPr txBox="1"/>
          <p:nvPr/>
        </p:nvSpPr>
        <p:spPr>
          <a:xfrm>
            <a:off x="6415549" y="2090172"/>
            <a:ext cx="55724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Perturbações planetárias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Movimento do centro de massa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Centro de massa do sistema solar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Variação dos polos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Marés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Rotação da galáxia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Expansão do universo</a:t>
            </a:r>
          </a:p>
        </p:txBody>
      </p:sp>
    </p:spTree>
    <p:extLst>
      <p:ext uri="{BB962C8B-B14F-4D97-AF65-F5344CB8AC3E}">
        <p14:creationId xmlns:p14="http://schemas.microsoft.com/office/powerpoint/2010/main" val="4076346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747C7-C52B-427F-9FFA-489BF67E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Movimento de Translação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6B06C-53EB-4E2E-957A-5995BF9E6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800" dirty="0"/>
              <a:t>Movimento que a Terra faz ao redor do Sol</a:t>
            </a:r>
          </a:p>
          <a:p>
            <a:r>
              <a:rPr lang="pt-BR" sz="2800" dirty="0"/>
              <a:t>Duração de 365 dias e aproximadamente 6 horas</a:t>
            </a:r>
          </a:p>
          <a:p>
            <a:r>
              <a:rPr lang="pt-BR" sz="2800" dirty="0"/>
              <a:t>Essas 6 horas dão origem aos anos bissextos, a cada 4 anos</a:t>
            </a:r>
          </a:p>
          <a:p>
            <a:pPr marL="0" indent="0"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13419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E8B28E-F062-428E-9CBC-E78E6CF7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807911"/>
          </a:xfrm>
        </p:spPr>
        <p:txBody>
          <a:bodyPr/>
          <a:lstStyle/>
          <a:p>
            <a:pPr algn="ctr"/>
            <a:r>
              <a:rPr lang="pt-BR" dirty="0"/>
              <a:t>Afélio e periélio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512E1E-43A9-491E-94AF-DB64EEAD6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81157"/>
            <a:ext cx="10820400" cy="4024125"/>
          </a:xfrm>
        </p:spPr>
        <p:txBody>
          <a:bodyPr/>
          <a:lstStyle/>
          <a:p>
            <a:pPr marL="0" indent="0">
              <a:buNone/>
            </a:pPr>
            <a:r>
              <a:rPr lang="pt-BR" b="1" u="sng" dirty="0"/>
              <a:t>Afélio</a:t>
            </a:r>
            <a:r>
              <a:rPr lang="pt-BR" dirty="0"/>
              <a:t>:</a:t>
            </a:r>
          </a:p>
          <a:p>
            <a:r>
              <a:rPr lang="pt-BR" dirty="0"/>
              <a:t>Maior distância entre a Terra o Sol (152 milhões Km)</a:t>
            </a:r>
          </a:p>
          <a:p>
            <a:r>
              <a:rPr lang="pt-BR" dirty="0"/>
              <a:t>Velocidade mínima da órbita da Terra.</a:t>
            </a:r>
          </a:p>
          <a:p>
            <a:pPr marL="0" indent="0">
              <a:buNone/>
            </a:pPr>
            <a:endParaRPr lang="pt-BR" b="1" u="sng" dirty="0"/>
          </a:p>
          <a:p>
            <a:pPr marL="0" indent="0">
              <a:buNone/>
            </a:pPr>
            <a:r>
              <a:rPr lang="pt-BR" b="1" u="sng" dirty="0"/>
              <a:t>Periélio</a:t>
            </a:r>
            <a:r>
              <a:rPr lang="pt-BR" dirty="0"/>
              <a:t>: </a:t>
            </a:r>
          </a:p>
          <a:p>
            <a:r>
              <a:rPr lang="pt-BR" dirty="0"/>
              <a:t>Menor distância entre a Terra o Sol (147 milhões Km)</a:t>
            </a:r>
          </a:p>
          <a:p>
            <a:r>
              <a:rPr lang="pt-BR" dirty="0"/>
              <a:t>Velocidade máxima da órbita da Terra.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3474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ounded Rectangle 14">
            <a:extLst>
              <a:ext uri="{FF2B5EF4-FFF2-40B4-BE49-F238E27FC236}">
                <a16:creationId xmlns:a16="http://schemas.microsoft.com/office/drawing/2014/main" id="{1FDFF85F-F105-40D5-9793-90419158C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AB47A4-BA8C-4250-88BD-D49C68C5F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C8958D-EB99-414F-B735-863B67BB1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021DA2-2C72-4FE1-89B2-D27E0FD3B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165469"/>
            <a:ext cx="3687417" cy="192037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3600" b="0" i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Afélio</a:t>
            </a:r>
            <a:r>
              <a:rPr lang="en-US" sz="36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3600" b="0" i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periélio</a:t>
            </a:r>
            <a:endParaRPr lang="en-US" sz="3600" b="0" i="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E5F3CB-7BDD-4E64-B274-CD900F08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pic>
        <p:nvPicPr>
          <p:cNvPr id="5" name="Espaço Reservado para Conteúdo 4" descr="Uma imagem contendo objeto&#10;&#10;Descrição gerada automaticamente">
            <a:extLst>
              <a:ext uri="{FF2B5EF4-FFF2-40B4-BE49-F238E27FC236}">
                <a16:creationId xmlns:a16="http://schemas.microsoft.com/office/drawing/2014/main" id="{DA1D32F1-8ED2-4990-97EF-352E3EAC9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475" y="1752027"/>
            <a:ext cx="6732034" cy="360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1133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80A4D-0DF3-408A-9424-714059B6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3" y="1218374"/>
            <a:ext cx="4165580" cy="834544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Rotação</a:t>
            </a:r>
          </a:p>
        </p:txBody>
      </p:sp>
      <p:sp>
        <p:nvSpPr>
          <p:cNvPr id="30" name="Content Placeholder 11">
            <a:extLst>
              <a:ext uri="{FF2B5EF4-FFF2-40B4-BE49-F238E27FC236}">
                <a16:creationId xmlns:a16="http://schemas.microsoft.com/office/drawing/2014/main" id="{1583D608-36B5-4615-AF69-7ECF4A748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547" y="2301189"/>
            <a:ext cx="4165146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 err="1"/>
              <a:t>Movimento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 err="1"/>
              <a:t>torno</a:t>
            </a:r>
            <a:r>
              <a:rPr lang="en-US" sz="2400" dirty="0"/>
              <a:t> de </a:t>
            </a:r>
            <a:r>
              <a:rPr lang="en-US" sz="2400" dirty="0" err="1"/>
              <a:t>seu</a:t>
            </a:r>
            <a:r>
              <a:rPr lang="en-US" sz="2400" dirty="0"/>
              <a:t> </a:t>
            </a:r>
            <a:r>
              <a:rPr lang="en-US" sz="2400" dirty="0" err="1"/>
              <a:t>próprio</a:t>
            </a:r>
            <a:r>
              <a:rPr lang="en-US" sz="2400" dirty="0"/>
              <a:t> </a:t>
            </a:r>
            <a:r>
              <a:rPr lang="en-US" sz="2400" dirty="0" err="1"/>
              <a:t>eixo</a:t>
            </a:r>
            <a:r>
              <a:rPr lang="en-US" sz="2400" dirty="0"/>
              <a:t>, no </a:t>
            </a:r>
            <a:r>
              <a:rPr lang="en-US" sz="2400" dirty="0" err="1"/>
              <a:t>sentido</a:t>
            </a:r>
            <a:r>
              <a:rPr lang="en-US" sz="2400" dirty="0"/>
              <a:t> anti-</a:t>
            </a:r>
            <a:r>
              <a:rPr lang="en-US" sz="2400" dirty="0" err="1"/>
              <a:t>horário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 Terra </a:t>
            </a:r>
            <a:r>
              <a:rPr lang="en-US" sz="2400" dirty="0" err="1"/>
              <a:t>gira</a:t>
            </a:r>
            <a:r>
              <a:rPr lang="en-US" sz="2400" dirty="0"/>
              <a:t> de </a:t>
            </a:r>
            <a:r>
              <a:rPr lang="en-US" sz="2400" dirty="0" err="1"/>
              <a:t>oeste</a:t>
            </a:r>
            <a:r>
              <a:rPr lang="en-US" sz="2400" dirty="0"/>
              <a:t> para </a:t>
            </a:r>
            <a:r>
              <a:rPr lang="en-US" sz="2400" dirty="0" err="1"/>
              <a:t>leste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O </a:t>
            </a:r>
            <a:r>
              <a:rPr lang="en-US" sz="2400" dirty="0" err="1"/>
              <a:t>movimento</a:t>
            </a:r>
            <a:r>
              <a:rPr lang="en-US" sz="2400" dirty="0"/>
              <a:t> dura </a:t>
            </a:r>
            <a:r>
              <a:rPr lang="en-US" sz="2400" dirty="0" err="1"/>
              <a:t>aproximadamente</a:t>
            </a:r>
            <a:r>
              <a:rPr lang="en-US" sz="2400" dirty="0"/>
              <a:t> 24 horas (</a:t>
            </a:r>
            <a:r>
              <a:rPr lang="en-US" sz="2400" dirty="0" err="1"/>
              <a:t>mais</a:t>
            </a:r>
            <a:r>
              <a:rPr lang="en-US" sz="2400" dirty="0"/>
              <a:t> </a:t>
            </a:r>
            <a:r>
              <a:rPr lang="en-US" sz="2400" dirty="0" err="1"/>
              <a:t>especificamente</a:t>
            </a:r>
            <a:r>
              <a:rPr lang="en-US" sz="2400" dirty="0"/>
              <a:t>, 23h56m4s).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B07F1FE-E9D3-405F-A31D-00FBD30B4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958" y="1396883"/>
            <a:ext cx="5845980" cy="438448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422730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7644F-7743-43EB-ABE3-3E349FB36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0" y="1828800"/>
            <a:ext cx="3977639" cy="16002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200" dirty="0" err="1"/>
              <a:t>Eixo</a:t>
            </a:r>
            <a:r>
              <a:rPr lang="en-US" sz="3200" dirty="0"/>
              <a:t> de </a:t>
            </a:r>
            <a:r>
              <a:rPr lang="en-US" sz="3200" dirty="0" err="1"/>
              <a:t>inclinação</a:t>
            </a:r>
            <a:r>
              <a:rPr lang="en-US" sz="3200" dirty="0"/>
              <a:t> da Terra</a:t>
            </a:r>
          </a:p>
        </p:txBody>
      </p:sp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8D25211A-4CA0-4B53-82BB-1EE7C7F3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1379" y="0"/>
            <a:ext cx="72406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Gabarito comentado do teste – Professor Daniel – Geografia">
            <a:extLst>
              <a:ext uri="{FF2B5EF4-FFF2-40B4-BE49-F238E27FC236}">
                <a16:creationId xmlns:a16="http://schemas.microsoft.com/office/drawing/2014/main" id="{B0E9E7ED-CE8B-170B-9C05-C6A902B57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586" y="423759"/>
            <a:ext cx="6067364" cy="6010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528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ounded Rectangle 14">
            <a:extLst>
              <a:ext uri="{FF2B5EF4-FFF2-40B4-BE49-F238E27FC236}">
                <a16:creationId xmlns:a16="http://schemas.microsoft.com/office/drawing/2014/main" id="{1FDFF85F-F105-40D5-9793-90419158C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AB47A4-BA8C-4250-88BD-D49C68C5F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C8958D-EB99-414F-B735-863B67BB1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E887677-8230-40A5-B640-0A6E16076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96" y="2298205"/>
            <a:ext cx="3687417" cy="192037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3600" b="0" i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Principais</a:t>
            </a:r>
            <a:r>
              <a:rPr lang="en-US" sz="36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0" i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paralelos</a:t>
            </a:r>
            <a:r>
              <a:rPr lang="en-US" sz="36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da Terra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9E5F3CB-7BDD-4E64-B274-CD900F08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pic>
        <p:nvPicPr>
          <p:cNvPr id="3074" name="Picture 2" descr="Paralelos e meridianos. Paralelos e meridianos da Terra - Brasil Escola">
            <a:extLst>
              <a:ext uri="{FF2B5EF4-FFF2-40B4-BE49-F238E27FC236}">
                <a16:creationId xmlns:a16="http://schemas.microsoft.com/office/drawing/2014/main" id="{8C22E908-3D3A-6A60-5B29-F6467F309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0303" y="1320441"/>
            <a:ext cx="6462819" cy="421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696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>
            <a:extLst>
              <a:ext uri="{FF2B5EF4-FFF2-40B4-BE49-F238E27FC236}">
                <a16:creationId xmlns:a16="http://schemas.microsoft.com/office/drawing/2014/main" id="{B888A25D-DE19-40F3-9717-A75487008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 altLang="pt-BR" sz="3800"/>
              <a:t>Paralelos e Latitudes</a:t>
            </a:r>
          </a:p>
        </p:txBody>
      </p:sp>
      <p:sp>
        <p:nvSpPr>
          <p:cNvPr id="4099" name="Rectangle 7">
            <a:extLst>
              <a:ext uri="{FF2B5EF4-FFF2-40B4-BE49-F238E27FC236}">
                <a16:creationId xmlns:a16="http://schemas.microsoft.com/office/drawing/2014/main" id="{AFCE963A-9563-43A4-9BD0-20A5E5BA17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pt-BR" altLang="pt-BR" sz="2600" dirty="0"/>
              <a:t>Divisão da Terra pela linha do Equador (latitude 0º) em 2 hemisférios: Norte e Sul.</a:t>
            </a:r>
          </a:p>
          <a:p>
            <a:pPr algn="just" eaLnBrk="1" hangingPunct="1">
              <a:lnSpc>
                <a:spcPct val="90000"/>
              </a:lnSpc>
            </a:pPr>
            <a:r>
              <a:rPr lang="pt-BR" altLang="pt-BR" sz="2600" dirty="0"/>
              <a:t>Latitude: é a distância (em graus) de qualquer ponto da superfície terrestre em relação à linha do Equador. A latitude máxima é de 90º, atingida nos polos Norte e Sul.</a:t>
            </a:r>
          </a:p>
          <a:p>
            <a:pPr algn="just" eaLnBrk="1" hangingPunct="1">
              <a:lnSpc>
                <a:spcPct val="90000"/>
              </a:lnSpc>
            </a:pPr>
            <a:r>
              <a:rPr lang="pt-BR" altLang="pt-BR" sz="2600" dirty="0"/>
              <a:t>Outros paralelos importantes: trópicos de Câncer e Capricórnio e círculos polares Ártico e Antártico.</a:t>
            </a:r>
          </a:p>
          <a:p>
            <a:pPr algn="just" eaLnBrk="1" hangingPunct="1">
              <a:lnSpc>
                <a:spcPct val="90000"/>
              </a:lnSpc>
            </a:pPr>
            <a:r>
              <a:rPr lang="pt-BR" altLang="pt-BR" sz="2600" dirty="0"/>
              <a:t>A variação na distribuição dos raios solares origina as estações do ano. Essa variação é consequência direta da inclinação do eixo terrestre.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Uma imagem contendo texto&#10;&#10;Descrição gerada automaticamente">
            <a:extLst>
              <a:ext uri="{FF2B5EF4-FFF2-40B4-BE49-F238E27FC236}">
                <a16:creationId xmlns:a16="http://schemas.microsoft.com/office/drawing/2014/main" id="{1D8EDF79-9EDD-466F-A7D0-F376590D1C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2017" b="617"/>
          <a:stretch/>
        </p:blipFill>
        <p:spPr>
          <a:xfrm>
            <a:off x="663678" y="1021861"/>
            <a:ext cx="11076039" cy="565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59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8085784-DDD1-4791-B558-FC60124FED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 altLang="pt-BR" sz="3800"/>
              <a:t>Solstícios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22BFB85-468C-4E9C-A4A4-33A0000A64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43838"/>
            <a:ext cx="10820400" cy="4545452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pt-BR" altLang="pt-BR" sz="2800" dirty="0"/>
              <a:t>Marcam o início do verão e do inverno, geralmente nos dias 21 de junho e 21 de dezembro. </a:t>
            </a:r>
          </a:p>
          <a:p>
            <a:pPr algn="just" eaLnBrk="1" hangingPunct="1"/>
            <a:endParaRPr lang="pt-BR" altLang="pt-BR" sz="2800" dirty="0"/>
          </a:p>
          <a:p>
            <a:pPr algn="just" eaLnBrk="1" hangingPunct="1"/>
            <a:r>
              <a:rPr lang="pt-BR" altLang="pt-BR" sz="2800" dirty="0"/>
              <a:t>Em 21 de junho, os raios solares incidem perpendicularmente sobre o trópico de Câncer. </a:t>
            </a:r>
          </a:p>
          <a:p>
            <a:pPr algn="just" eaLnBrk="1" hangingPunct="1"/>
            <a:r>
              <a:rPr lang="pt-BR" altLang="pt-BR" sz="2800" dirty="0"/>
              <a:t>Em 21 de dezembro, sobre o trópico de Capricórnio. </a:t>
            </a:r>
          </a:p>
          <a:p>
            <a:pPr algn="just" eaLnBrk="1" hangingPunct="1"/>
            <a:endParaRPr lang="pt-BR" altLang="pt-BR" sz="2800" dirty="0"/>
          </a:p>
          <a:p>
            <a:pPr algn="just" eaLnBrk="1" hangingPunct="1"/>
            <a:r>
              <a:rPr lang="pt-BR" altLang="pt-BR" sz="2800" dirty="0"/>
              <a:t>Os solstícios marcam o </a:t>
            </a:r>
            <a:r>
              <a:rPr lang="pt-BR" altLang="pt-BR" sz="2800" b="1" dirty="0"/>
              <a:t>dia mais longo e a noite mais curta </a:t>
            </a:r>
            <a:r>
              <a:rPr lang="pt-BR" altLang="pt-BR" sz="2800" dirty="0"/>
              <a:t>do ano.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9A1853C-FA77-47D1-A138-EA6858533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 altLang="pt-BR" sz="3800"/>
              <a:t>Equinócios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AE38EEE-BC64-42E8-B9BF-4EDE335242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sz="2800" dirty="0"/>
              <a:t>Marcam o início da primavera e do outono, geralmente nos dias 21 de março e 23 de setembro.</a:t>
            </a:r>
          </a:p>
          <a:p>
            <a:pPr marL="0" indent="0" eaLnBrk="1" hangingPunct="1">
              <a:buNone/>
            </a:pPr>
            <a:endParaRPr lang="pt-BR" altLang="pt-BR" sz="2800" dirty="0"/>
          </a:p>
          <a:p>
            <a:pPr eaLnBrk="1" hangingPunct="1"/>
            <a:r>
              <a:rPr lang="pt-BR" altLang="pt-BR" sz="2800" dirty="0"/>
              <a:t>Nestes dois dias, os raios solares incidem perpendicularmente sobre a linha do Equador. Assim, a </a:t>
            </a:r>
            <a:r>
              <a:rPr lang="pt-BR" altLang="pt-BR" sz="2800" b="1" dirty="0"/>
              <a:t>duração do dia é igual à da noite</a:t>
            </a:r>
            <a:r>
              <a:rPr lang="pt-BR" altLang="pt-BR" sz="2800"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6CBA1F6-626C-4289-9BE1-6A573C9B7A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 altLang="pt-BR" sz="3800"/>
              <a:t>Círculos polares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13025F2-AB5C-4943-B91B-DD2FFA805F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pt-BR" altLang="pt-BR" sz="2800" dirty="0"/>
              <a:t>Marcam o limite máximo de iluminação das regiões polares nos solstícios de verão.</a:t>
            </a:r>
          </a:p>
          <a:p>
            <a:pPr algn="just" eaLnBrk="1" hangingPunct="1"/>
            <a:r>
              <a:rPr lang="pt-BR" altLang="pt-BR" sz="2800" dirty="0"/>
              <a:t>Dessa forma, não há noite nas regiões polares durante o verão. No inverno, ocorre o contrário.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Geografia: Movimento aparente do Sol">
            <a:extLst>
              <a:ext uri="{FF2B5EF4-FFF2-40B4-BE49-F238E27FC236}">
                <a16:creationId xmlns:a16="http://schemas.microsoft.com/office/drawing/2014/main" id="{B129760C-C6D7-56FD-9AB3-5330DA0B4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767" y="1943654"/>
            <a:ext cx="8881335" cy="4662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70C2E3D-DACC-CBF5-1AF8-27619BDCA374}"/>
              </a:ext>
            </a:extLst>
          </p:cNvPr>
          <p:cNvSpPr txBox="1"/>
          <p:nvPr/>
        </p:nvSpPr>
        <p:spPr>
          <a:xfrm>
            <a:off x="2477729" y="1194620"/>
            <a:ext cx="7637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MOVIMENTO APARENTE DO SOL</a:t>
            </a:r>
          </a:p>
        </p:txBody>
      </p:sp>
    </p:spTree>
    <p:extLst>
      <p:ext uri="{BB962C8B-B14F-4D97-AF65-F5344CB8AC3E}">
        <p14:creationId xmlns:p14="http://schemas.microsoft.com/office/powerpoint/2010/main" val="3725321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6CBA1F6-626C-4289-9BE1-6A573C9B7A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781" y="2325286"/>
            <a:ext cx="3787878" cy="1293028"/>
          </a:xfrm>
        </p:spPr>
        <p:txBody>
          <a:bodyPr>
            <a:noAutofit/>
          </a:bodyPr>
          <a:lstStyle/>
          <a:p>
            <a:pPr algn="l" eaLnBrk="1" hangingPunct="1"/>
            <a:r>
              <a:rPr lang="pt-BR" altLang="pt-BR" sz="3600" dirty="0"/>
              <a:t>O sol não nasce sempre no mesmo lugar!</a:t>
            </a:r>
          </a:p>
        </p:txBody>
      </p:sp>
      <p:pic>
        <p:nvPicPr>
          <p:cNvPr id="4098" name="Picture 2" descr="Em seu movimento aparente, o Sol surge no mesmo ponto do horizonte, todos  os dias do ano. Essa - Brainly.com.br">
            <a:extLst>
              <a:ext uri="{FF2B5EF4-FFF2-40B4-BE49-F238E27FC236}">
                <a16:creationId xmlns:a16="http://schemas.microsoft.com/office/drawing/2014/main" id="{C3054548-F730-E072-26C9-BD0A9099F7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658" y="766873"/>
            <a:ext cx="6164825" cy="5814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6457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ídia Online 3" title="MOVIMENTOS DA TERRA E AS ESTAÇÕES DO ANO">
            <a:hlinkClick r:id="" action="ppaction://media"/>
            <a:extLst>
              <a:ext uri="{FF2B5EF4-FFF2-40B4-BE49-F238E27FC236}">
                <a16:creationId xmlns:a16="http://schemas.microsoft.com/office/drawing/2014/main" id="{C15B25E1-DC71-4EEF-B55A-F0109A68712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035277" y="1238865"/>
            <a:ext cx="9313548" cy="5261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45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BECB1-75A5-86A6-1573-2228E4AA3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" name="Picture 1045">
            <a:extLst>
              <a:ext uri="{FF2B5EF4-FFF2-40B4-BE49-F238E27FC236}">
                <a16:creationId xmlns:a16="http://schemas.microsoft.com/office/drawing/2014/main" id="{95DD5BC2-A8E7-4CAD-955A-3807355EC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1053" name="Rounded Rectangle 11">
            <a:extLst>
              <a:ext uri="{FF2B5EF4-FFF2-40B4-BE49-F238E27FC236}">
                <a16:creationId xmlns:a16="http://schemas.microsoft.com/office/drawing/2014/main" id="{2770B5F4-AED0-4A3A-859D-B6239ED38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03" y="643464"/>
            <a:ext cx="10905195" cy="5571072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Globo terrestre e principais linhas imaginárias">
            <a:extLst>
              <a:ext uri="{FF2B5EF4-FFF2-40B4-BE49-F238E27FC236}">
                <a16:creationId xmlns:a16="http://schemas.microsoft.com/office/drawing/2014/main" id="{D9F0348E-A8A8-98FF-D932-467717E45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84" b="-2"/>
          <a:stretch/>
        </p:blipFill>
        <p:spPr bwMode="auto">
          <a:xfrm>
            <a:off x="2910684" y="873252"/>
            <a:ext cx="6370631" cy="5111496"/>
          </a:xfrm>
          <a:prstGeom prst="rect">
            <a:avLst/>
          </a:prstGeom>
          <a:noFill/>
          <a:ln w="31750" cap="sq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39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DA83F-1420-4678-88BD-D8E65E802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0774" y="1070759"/>
            <a:ext cx="8610600" cy="1293028"/>
          </a:xfrm>
        </p:spPr>
        <p:txBody>
          <a:bodyPr/>
          <a:lstStyle/>
          <a:p>
            <a:pPr>
              <a:defRPr/>
            </a:pPr>
            <a:r>
              <a:rPr lang="pt-BR" dirty="0"/>
              <a:t>Meridianos e Longitude</a:t>
            </a:r>
          </a:p>
        </p:txBody>
      </p:sp>
      <p:sp>
        <p:nvSpPr>
          <p:cNvPr id="13315" name="Espaço Reservado para Conteúdo 2">
            <a:extLst>
              <a:ext uri="{FF2B5EF4-FFF2-40B4-BE49-F238E27FC236}">
                <a16:creationId xmlns:a16="http://schemas.microsoft.com/office/drawing/2014/main" id="{C616EC61-0E53-4181-81A1-0886B942D3B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12956" y="2363787"/>
            <a:ext cx="11400502" cy="4494213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800" dirty="0"/>
              <a:t>Os meridianos são semicírculos que se estendem de um </a:t>
            </a:r>
            <a:r>
              <a:rPr lang="pt-BR" altLang="pt-BR" sz="2800" dirty="0" err="1"/>
              <a:t>pólo</a:t>
            </a:r>
            <a:r>
              <a:rPr lang="pt-BR" altLang="pt-BR" sz="2800" dirty="0"/>
              <a:t> ao outro.</a:t>
            </a:r>
          </a:p>
          <a:p>
            <a:pPr algn="just" eaLnBrk="1" hangingPunct="1"/>
            <a:r>
              <a:rPr lang="pt-BR" altLang="pt-BR" sz="2800" dirty="0"/>
              <a:t>Desse modo, dividem-se em meridianos e antimeridianos.</a:t>
            </a:r>
          </a:p>
          <a:p>
            <a:pPr algn="just" eaLnBrk="1" hangingPunct="1"/>
            <a:r>
              <a:rPr lang="pt-BR" altLang="pt-BR" sz="2800" dirty="0"/>
              <a:t>O meridiano de Greenwich e seu antimeridiano dividem, por convenção, a esfera terrestre em dois hemisférios: Leste ou Oriental e Oeste e Ocidental.</a:t>
            </a:r>
          </a:p>
          <a:p>
            <a:pPr algn="just" eaLnBrk="1" hangingPunct="1"/>
            <a:r>
              <a:rPr lang="pt-BR" altLang="pt-BR" sz="2800" dirty="0"/>
              <a:t>A distância de qualquer ponto da superfície terrestre ao meridiano de Greenwich recebe o nome de longitude e são calculados em graus.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C56895A-7A42-4974-96FA-91CDBE2285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 altLang="pt-BR" sz="3800"/>
              <a:t>Meridianos e longitudes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4045676-CBCA-440D-A73B-659044F053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z="2800" dirty="0"/>
              <a:t>Os meridianos e antimeridianos (o meridiano oposto) dividem a Terra em duas partes iguais, indo de um polo a outro.</a:t>
            </a:r>
          </a:p>
          <a:p>
            <a:pPr eaLnBrk="1" hangingPunct="1"/>
            <a:r>
              <a:rPr lang="pt-BR" altLang="pt-BR" sz="2800" dirty="0"/>
              <a:t>O meridiano referência é o de Greenwich, que divide a Terra em dois hemisférios: leste e oeste.</a:t>
            </a:r>
          </a:p>
          <a:p>
            <a:pPr eaLnBrk="1" hangingPunct="1"/>
            <a:r>
              <a:rPr lang="pt-BR" altLang="pt-BR" sz="2800" dirty="0"/>
              <a:t>Longitude: distância em graus de qualquer ponto da superfície terrestre em relação ao meridiano de Greenwich (0º).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144E849-6B80-4D38-9485-142A8B3124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 altLang="pt-BR" sz="3800"/>
              <a:t>Fusos horários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3C06000-F4F4-4FCE-8F12-7AB08E182C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z="2800" dirty="0"/>
              <a:t>O atual sistema de fusos horários foi criado em 1884.</a:t>
            </a:r>
          </a:p>
          <a:p>
            <a:pPr eaLnBrk="1" hangingPunct="1"/>
            <a:r>
              <a:rPr lang="pt-BR" altLang="pt-BR" sz="2800" dirty="0"/>
              <a:t>Cada fuso horário tem 15º (360º da circunferência terrestre dividido por 24 horas), delimitado por dois meridianos.</a:t>
            </a:r>
          </a:p>
          <a:p>
            <a:pPr eaLnBrk="1" hangingPunct="1"/>
            <a:r>
              <a:rPr lang="pt-BR" altLang="pt-BR" sz="2800" dirty="0"/>
              <a:t>O fuso referencial é o de </a:t>
            </a:r>
            <a:r>
              <a:rPr lang="pt-BR" altLang="pt-BR" sz="2800" b="1" dirty="0"/>
              <a:t>Greenwich</a:t>
            </a:r>
            <a:r>
              <a:rPr lang="pt-BR" altLang="pt-BR" sz="2800" dirty="0"/>
              <a:t>.</a:t>
            </a:r>
          </a:p>
          <a:p>
            <a:pPr eaLnBrk="1" hangingPunct="1"/>
            <a:r>
              <a:rPr lang="pt-BR" altLang="pt-BR" sz="2800" dirty="0"/>
              <a:t>Hora legal: é a hora marcada em todo o território de um determinado fuso.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BC3BDF1-D081-4200-ADC7-99CBC46DA8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 altLang="pt-BR" sz="3800"/>
              <a:t>Fusos práticos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480121C-76CA-4441-B344-83613BF217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z="2800"/>
              <a:t>Em muitos casos, os fusos seguem os contornos dos limites dos países ou de suas unidades administrativas e federativas, por razões administrativas ou econômicas.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ED90548-3438-4BC1-A453-E4D2612A03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38314" y="793870"/>
            <a:ext cx="8610600" cy="1293028"/>
          </a:xfrm>
        </p:spPr>
        <p:txBody>
          <a:bodyPr/>
          <a:lstStyle/>
          <a:p>
            <a:pPr algn="l" eaLnBrk="1" hangingPunct="1"/>
            <a:r>
              <a:rPr lang="pt-BR" altLang="pt-BR" sz="3800" dirty="0"/>
              <a:t>Mapa dos fusos horários</a:t>
            </a:r>
          </a:p>
        </p:txBody>
      </p:sp>
      <p:pic>
        <p:nvPicPr>
          <p:cNvPr id="13315" name="Espaço Reservado para Conteúdo 3" descr="mapa fusos horários.gif">
            <a:extLst>
              <a:ext uri="{FF2B5EF4-FFF2-40B4-BE49-F238E27FC236}">
                <a16:creationId xmlns:a16="http://schemas.microsoft.com/office/drawing/2014/main" id="{AAEB6255-4F19-4737-841C-6EFE34F2F7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38314" y="1714500"/>
            <a:ext cx="8461375" cy="5143500"/>
          </a:xfr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BD7C2DEF-63C5-495B-BBE5-720E5D12B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FE21E403-0B61-4473-BE57-AB0F16379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14338" name="Rectangle 2">
            <a:extLst>
              <a:ext uri="{FF2B5EF4-FFF2-40B4-BE49-F238E27FC236}">
                <a16:creationId xmlns:a16="http://schemas.microsoft.com/office/drawing/2014/main" id="{99CB4CEA-DFB7-4C26-9FBE-C2E1039F6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4161" y="1571243"/>
            <a:ext cx="3510640" cy="3273061"/>
          </a:xfr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pt-BR" sz="4800" dirty="0" err="1"/>
              <a:t>fusos</a:t>
            </a:r>
            <a:r>
              <a:rPr lang="en-US" altLang="pt-BR" sz="4800" dirty="0"/>
              <a:t> </a:t>
            </a:r>
            <a:r>
              <a:rPr lang="en-US" altLang="pt-BR" sz="4800" dirty="0" err="1"/>
              <a:t>horários</a:t>
            </a:r>
            <a:r>
              <a:rPr lang="en-US" altLang="pt-BR" sz="4800" dirty="0"/>
              <a:t> no </a:t>
            </a:r>
            <a:r>
              <a:rPr lang="en-US" altLang="pt-BR" sz="4800" dirty="0" err="1"/>
              <a:t>Brasil</a:t>
            </a:r>
            <a:endParaRPr lang="en-US" altLang="pt-BR" sz="4800" dirty="0"/>
          </a:p>
        </p:txBody>
      </p:sp>
      <p:pic>
        <p:nvPicPr>
          <p:cNvPr id="2052" name="Picture 4" descr="Os 4 Fusos Horários no Brasil: Organização e Mapa - Cola da Web">
            <a:extLst>
              <a:ext uri="{FF2B5EF4-FFF2-40B4-BE49-F238E27FC236}">
                <a16:creationId xmlns:a16="http://schemas.microsoft.com/office/drawing/2014/main" id="{1B69DB47-EDF6-4E6B-99BE-91B78CCA9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645" y="550474"/>
            <a:ext cx="6440653" cy="622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029C753-4CC9-4A09-B4D8-D2D22615EF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6864" y="1619779"/>
            <a:ext cx="8610600" cy="1293028"/>
          </a:xfrm>
        </p:spPr>
        <p:txBody>
          <a:bodyPr/>
          <a:lstStyle/>
          <a:p>
            <a:pPr algn="l" eaLnBrk="1" hangingPunct="1"/>
            <a:r>
              <a:rPr lang="pt-BR" altLang="pt-BR" sz="3800" dirty="0"/>
              <a:t>Linha Internacional de Mudança de Data (LID)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F763A9F-CC49-4382-AB97-8680699E9A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2845" y="3429000"/>
            <a:ext cx="10820400" cy="3169811"/>
          </a:xfrm>
        </p:spPr>
        <p:txBody>
          <a:bodyPr/>
          <a:lstStyle/>
          <a:p>
            <a:pPr algn="just" eaLnBrk="1" hangingPunct="1"/>
            <a:r>
              <a:rPr lang="pt-BR" altLang="pt-BR" sz="2800" dirty="0"/>
              <a:t>É uma linha imaginária que indica onde um dia acaba e onde começa o seguinte. Corresponde ao </a:t>
            </a:r>
            <a:r>
              <a:rPr lang="pt-BR" altLang="pt-BR" sz="2800" b="1" dirty="0"/>
              <a:t>antimeridiano de Greenwich (180º)</a:t>
            </a:r>
            <a:r>
              <a:rPr lang="pt-BR" altLang="pt-BR" sz="2800" dirty="0"/>
              <a:t>.</a:t>
            </a:r>
          </a:p>
          <a:p>
            <a:pPr algn="just" eaLnBrk="1" hangingPunct="1"/>
            <a:r>
              <a:rPr lang="pt-BR" altLang="pt-BR" sz="2800" dirty="0"/>
              <a:t>Ao cruzarmos a LID do hemisfério leste para o hemisfério oeste ganhamos um dia, e vice-versa. Passamos, por exemplo, da tarde de domingo para a tarde de sábado.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ítulo 1">
            <a:extLst>
              <a:ext uri="{FF2B5EF4-FFF2-40B4-BE49-F238E27FC236}">
                <a16:creationId xmlns:a16="http://schemas.microsoft.com/office/drawing/2014/main" id="{0B35BC0D-435D-45A2-BA1E-4E3DEBA4B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 altLang="pt-BR" sz="3800"/>
              <a:t>Horário de verão</a:t>
            </a:r>
          </a:p>
        </p:txBody>
      </p:sp>
      <p:sp>
        <p:nvSpPr>
          <p:cNvPr id="15363" name="Espaço Reservado para Conteúdo 2">
            <a:extLst>
              <a:ext uri="{FF2B5EF4-FFF2-40B4-BE49-F238E27FC236}">
                <a16:creationId xmlns:a16="http://schemas.microsoft.com/office/drawing/2014/main" id="{193617C7-FB6D-4F68-BB9E-72CFD2E82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pt-BR" altLang="pt-BR" sz="2800" dirty="0"/>
              <a:t>Adotado por vários países, que adiantam 1 hora em relação ao horário normal durante a estação do verão.</a:t>
            </a:r>
          </a:p>
          <a:p>
            <a:pPr algn="just" eaLnBrk="1" hangingPunct="1"/>
            <a:r>
              <a:rPr lang="pt-BR" altLang="pt-BR" sz="2800" dirty="0"/>
              <a:t>O objetivo é economizar energia no horário de pico (entre 17 e 22 horas), em que a demanda é maior.</a:t>
            </a:r>
          </a:p>
          <a:p>
            <a:pPr algn="just" eaLnBrk="1" hangingPunct="1"/>
            <a:r>
              <a:rPr lang="pt-BR" altLang="pt-BR" sz="2800" dirty="0"/>
              <a:t>No Brasil, ele só era adotado nos estados mais distantes da linha do Equador, em que há maior variação na duração do dia e da noite.</a:t>
            </a:r>
          </a:p>
          <a:p>
            <a:pPr eaLnBrk="1" hangingPunct="1"/>
            <a:endParaRPr lang="pt-BR" altLang="pt-BR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ilha de Vapor">
  <a:themeElements>
    <a:clrScheme name="Trilha de Vapor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Trilha de Vapor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ilha de Vapor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TM04033937[[fn=Trilha de Vapor]]</Template>
  <TotalTime>190</TotalTime>
  <Words>883</Words>
  <Application>Microsoft Office PowerPoint</Application>
  <PresentationFormat>Widescreen</PresentationFormat>
  <Paragraphs>94</Paragraphs>
  <Slides>30</Slides>
  <Notes>0</Notes>
  <HiddenSlides>0</HiddenSlides>
  <MMClips>2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5" baseType="lpstr">
      <vt:lpstr>Arial</vt:lpstr>
      <vt:lpstr>Century Gothic</vt:lpstr>
      <vt:lpstr>Open Sans</vt:lpstr>
      <vt:lpstr>ReithSans</vt:lpstr>
      <vt:lpstr>Trilha de Vapor</vt:lpstr>
      <vt:lpstr>PLANETA TERRA</vt:lpstr>
      <vt:lpstr>A Terra no espaço</vt:lpstr>
      <vt:lpstr>Apresentação do PowerPoint</vt:lpstr>
      <vt:lpstr>Apresentação do PowerPoint</vt:lpstr>
      <vt:lpstr>Apresentação do PowerPoint</vt:lpstr>
      <vt:lpstr>Forma da Terra:   geóide</vt:lpstr>
      <vt:lpstr>Movimentos da terra</vt:lpstr>
      <vt:lpstr>Movimento de Translação</vt:lpstr>
      <vt:lpstr>Afélio e periélio</vt:lpstr>
      <vt:lpstr>Afélio e periélio</vt:lpstr>
      <vt:lpstr>Rotação</vt:lpstr>
      <vt:lpstr>Eixo de inclinação da Terra</vt:lpstr>
      <vt:lpstr>Principais paralelos da Terra</vt:lpstr>
      <vt:lpstr>Paralelos e Latitudes</vt:lpstr>
      <vt:lpstr>Apresentação do PowerPoint</vt:lpstr>
      <vt:lpstr>Solstícios</vt:lpstr>
      <vt:lpstr>Equinócios</vt:lpstr>
      <vt:lpstr>Círculos polares</vt:lpstr>
      <vt:lpstr>Apresentação do PowerPoint</vt:lpstr>
      <vt:lpstr>O sol não nasce sempre no mesmo lugar!</vt:lpstr>
      <vt:lpstr>Apresentação do PowerPoint</vt:lpstr>
      <vt:lpstr>Apresentação do PowerPoint</vt:lpstr>
      <vt:lpstr>Meridianos e Longitude</vt:lpstr>
      <vt:lpstr>Meridianos e longitudes</vt:lpstr>
      <vt:lpstr>Fusos horários</vt:lpstr>
      <vt:lpstr>Fusos práticos</vt:lpstr>
      <vt:lpstr>Mapa dos fusos horários</vt:lpstr>
      <vt:lpstr>fusos horários no Brasil</vt:lpstr>
      <vt:lpstr>Linha Internacional de Mudança de Data (LID)</vt:lpstr>
      <vt:lpstr>Horário de verão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Estamos aqui!</dc:title>
  <dc:creator>FERNANDA CASTANHO P SANTOS</dc:creator>
  <cp:lastModifiedBy>Alex Rios</cp:lastModifiedBy>
  <cp:revision>34</cp:revision>
  <dcterms:created xsi:type="dcterms:W3CDTF">2019-02-05T20:54:07Z</dcterms:created>
  <dcterms:modified xsi:type="dcterms:W3CDTF">2025-01-26T12:43:41Z</dcterms:modified>
</cp:coreProperties>
</file>