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9" r:id="rId9"/>
    <p:sldId id="263" r:id="rId10"/>
    <p:sldId id="264" r:id="rId11"/>
    <p:sldId id="268" r:id="rId12"/>
    <p:sldId id="265" r:id="rId13"/>
    <p:sldId id="266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150763-4680-404D-B59B-C3591E9F655B}" v="9" dt="2026-04-21T19:46:40.3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85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Rios" userId="69fc135ea1c70fd1" providerId="LiveId" clId="{EDAF6266-BA3D-4DCE-A57F-7AEA88DC3424}"/>
    <pc:docChg chg="undo custSel addSld modSld sldOrd">
      <pc:chgData name="Alex Rios" userId="69fc135ea1c70fd1" providerId="LiveId" clId="{EDAF6266-BA3D-4DCE-A57F-7AEA88DC3424}" dt="2026-04-21T19:49:32.581" v="113" actId="255"/>
      <pc:docMkLst>
        <pc:docMk/>
      </pc:docMkLst>
      <pc:sldChg chg="modSp mod">
        <pc:chgData name="Alex Rios" userId="69fc135ea1c70fd1" providerId="LiveId" clId="{EDAF6266-BA3D-4DCE-A57F-7AEA88DC3424}" dt="2026-04-21T19:34:07.320" v="3" actId="20577"/>
        <pc:sldMkLst>
          <pc:docMk/>
          <pc:sldMk cId="0" sldId="256"/>
        </pc:sldMkLst>
        <pc:spChg chg="mod">
          <ac:chgData name="Alex Rios" userId="69fc135ea1c70fd1" providerId="LiveId" clId="{EDAF6266-BA3D-4DCE-A57F-7AEA88DC3424}" dt="2026-04-21T19:34:07.320" v="3" actId="20577"/>
          <ac:spMkLst>
            <pc:docMk/>
            <pc:sldMk cId="0" sldId="256"/>
            <ac:spMk id="6" creationId="{00000000-0000-0000-0000-000000000000}"/>
          </ac:spMkLst>
        </pc:spChg>
      </pc:sldChg>
      <pc:sldChg chg="addSp delSp modSp mod">
        <pc:chgData name="Alex Rios" userId="69fc135ea1c70fd1" providerId="LiveId" clId="{EDAF6266-BA3D-4DCE-A57F-7AEA88DC3424}" dt="2026-04-21T19:47:04.193" v="93" actId="1076"/>
        <pc:sldMkLst>
          <pc:docMk/>
          <pc:sldMk cId="0" sldId="257"/>
        </pc:sldMkLst>
        <pc:spChg chg="add mod">
          <ac:chgData name="Alex Rios" userId="69fc135ea1c70fd1" providerId="LiveId" clId="{EDAF6266-BA3D-4DCE-A57F-7AEA88DC3424}" dt="2026-04-21T19:47:04.193" v="93" actId="1076"/>
          <ac:spMkLst>
            <pc:docMk/>
            <pc:sldMk cId="0" sldId="257"/>
            <ac:spMk id="10" creationId="{58A21F72-0A45-B972-DD69-6B896C7D50C6}"/>
          </ac:spMkLst>
        </pc:spChg>
        <pc:picChg chg="del mod">
          <ac:chgData name="Alex Rios" userId="69fc135ea1c70fd1" providerId="LiveId" clId="{EDAF6266-BA3D-4DCE-A57F-7AEA88DC3424}" dt="2026-04-21T19:46:34.789" v="43" actId="21"/>
          <ac:picMkLst>
            <pc:docMk/>
            <pc:sldMk cId="0" sldId="257"/>
            <ac:picMk id="2" creationId="{00000000-0000-0000-0000-000000000000}"/>
          </ac:picMkLst>
        </pc:picChg>
        <pc:picChg chg="del">
          <ac:chgData name="Alex Rios" userId="69fc135ea1c70fd1" providerId="LiveId" clId="{EDAF6266-BA3D-4DCE-A57F-7AEA88DC3424}" dt="2026-04-21T19:45:49.827" v="37" actId="21"/>
          <ac:picMkLst>
            <pc:docMk/>
            <pc:sldMk cId="0" sldId="257"/>
            <ac:picMk id="9" creationId="{00000000-0000-0000-0000-000000000000}"/>
          </ac:picMkLst>
        </pc:picChg>
        <pc:picChg chg="add mod">
          <ac:chgData name="Alex Rios" userId="69fc135ea1c70fd1" providerId="LiveId" clId="{EDAF6266-BA3D-4DCE-A57F-7AEA88DC3424}" dt="2026-04-21T19:46:31.429" v="42" actId="1076"/>
          <ac:picMkLst>
            <pc:docMk/>
            <pc:sldMk cId="0" sldId="257"/>
            <ac:picMk id="1026" creationId="{5EE5014C-F602-7D00-6789-E3B3D74BF6DD}"/>
          </ac:picMkLst>
        </pc:picChg>
      </pc:sldChg>
      <pc:sldChg chg="modSp mod">
        <pc:chgData name="Alex Rios" userId="69fc135ea1c70fd1" providerId="LiveId" clId="{EDAF6266-BA3D-4DCE-A57F-7AEA88DC3424}" dt="2026-04-21T19:34:57.639" v="6" actId="14100"/>
        <pc:sldMkLst>
          <pc:docMk/>
          <pc:sldMk cId="0" sldId="259"/>
        </pc:sldMkLst>
        <pc:picChg chg="mod">
          <ac:chgData name="Alex Rios" userId="69fc135ea1c70fd1" providerId="LiveId" clId="{EDAF6266-BA3D-4DCE-A57F-7AEA88DC3424}" dt="2026-04-21T19:34:57.639" v="6" actId="14100"/>
          <ac:picMkLst>
            <pc:docMk/>
            <pc:sldMk cId="0" sldId="259"/>
            <ac:picMk id="7" creationId="{00000000-0000-0000-0000-000000000000}"/>
          </ac:picMkLst>
        </pc:picChg>
      </pc:sldChg>
      <pc:sldChg chg="modSp mod">
        <pc:chgData name="Alex Rios" userId="69fc135ea1c70fd1" providerId="LiveId" clId="{EDAF6266-BA3D-4DCE-A57F-7AEA88DC3424}" dt="2026-04-21T19:42:58.928" v="26" actId="20577"/>
        <pc:sldMkLst>
          <pc:docMk/>
          <pc:sldMk cId="0" sldId="260"/>
        </pc:sldMkLst>
        <pc:spChg chg="mod">
          <ac:chgData name="Alex Rios" userId="69fc135ea1c70fd1" providerId="LiveId" clId="{EDAF6266-BA3D-4DCE-A57F-7AEA88DC3424}" dt="2026-04-21T19:42:16.747" v="25" actId="20577"/>
          <ac:spMkLst>
            <pc:docMk/>
            <pc:sldMk cId="0" sldId="260"/>
            <ac:spMk id="4" creationId="{00000000-0000-0000-0000-000000000000}"/>
          </ac:spMkLst>
        </pc:spChg>
        <pc:spChg chg="mod">
          <ac:chgData name="Alex Rios" userId="69fc135ea1c70fd1" providerId="LiveId" clId="{EDAF6266-BA3D-4DCE-A57F-7AEA88DC3424}" dt="2026-04-21T19:42:58.928" v="26" actId="20577"/>
          <ac:spMkLst>
            <pc:docMk/>
            <pc:sldMk cId="0" sldId="260"/>
            <ac:spMk id="6" creationId="{00000000-0000-0000-0000-000000000000}"/>
          </ac:spMkLst>
        </pc:spChg>
      </pc:sldChg>
      <pc:sldChg chg="modSp mod">
        <pc:chgData name="Alex Rios" userId="69fc135ea1c70fd1" providerId="LiveId" clId="{EDAF6266-BA3D-4DCE-A57F-7AEA88DC3424}" dt="2026-04-21T19:48:24.359" v="100" actId="6549"/>
        <pc:sldMkLst>
          <pc:docMk/>
          <pc:sldMk cId="0" sldId="261"/>
        </pc:sldMkLst>
        <pc:spChg chg="mod">
          <ac:chgData name="Alex Rios" userId="69fc135ea1c70fd1" providerId="LiveId" clId="{EDAF6266-BA3D-4DCE-A57F-7AEA88DC3424}" dt="2026-04-21T19:48:24.359" v="100" actId="6549"/>
          <ac:spMkLst>
            <pc:docMk/>
            <pc:sldMk cId="0" sldId="261"/>
            <ac:spMk id="6" creationId="{00000000-0000-0000-0000-000000000000}"/>
          </ac:spMkLst>
        </pc:spChg>
      </pc:sldChg>
      <pc:sldChg chg="modSp mod">
        <pc:chgData name="Alex Rios" userId="69fc135ea1c70fd1" providerId="LiveId" clId="{EDAF6266-BA3D-4DCE-A57F-7AEA88DC3424}" dt="2026-04-21T19:48:53.610" v="112" actId="20577"/>
        <pc:sldMkLst>
          <pc:docMk/>
          <pc:sldMk cId="0" sldId="262"/>
        </pc:sldMkLst>
        <pc:spChg chg="mod">
          <ac:chgData name="Alex Rios" userId="69fc135ea1c70fd1" providerId="LiveId" clId="{EDAF6266-BA3D-4DCE-A57F-7AEA88DC3424}" dt="2026-04-21T19:48:53.610" v="112" actId="20577"/>
          <ac:spMkLst>
            <pc:docMk/>
            <pc:sldMk cId="0" sldId="262"/>
            <ac:spMk id="8" creationId="{00000000-0000-0000-0000-000000000000}"/>
          </ac:spMkLst>
        </pc:spChg>
      </pc:sldChg>
      <pc:sldChg chg="modSp mod">
        <pc:chgData name="Alex Rios" userId="69fc135ea1c70fd1" providerId="LiveId" clId="{EDAF6266-BA3D-4DCE-A57F-7AEA88DC3424}" dt="2026-04-21T19:49:32.581" v="113" actId="255"/>
        <pc:sldMkLst>
          <pc:docMk/>
          <pc:sldMk cId="0" sldId="266"/>
        </pc:sldMkLst>
        <pc:spChg chg="mod">
          <ac:chgData name="Alex Rios" userId="69fc135ea1c70fd1" providerId="LiveId" clId="{EDAF6266-BA3D-4DCE-A57F-7AEA88DC3424}" dt="2026-04-21T19:49:32.581" v="113" actId="255"/>
          <ac:spMkLst>
            <pc:docMk/>
            <pc:sldMk cId="0" sldId="266"/>
            <ac:spMk id="4" creationId="{00000000-0000-0000-0000-000000000000}"/>
          </ac:spMkLst>
        </pc:spChg>
      </pc:sldChg>
      <pc:sldChg chg="addSp delSp modSp add mod ord">
        <pc:chgData name="Alex Rios" userId="69fc135ea1c70fd1" providerId="LiveId" clId="{EDAF6266-BA3D-4DCE-A57F-7AEA88DC3424}" dt="2026-04-21T19:45:40.639" v="36"/>
        <pc:sldMkLst>
          <pc:docMk/>
          <pc:sldMk cId="1823405373" sldId="269"/>
        </pc:sldMkLst>
        <pc:spChg chg="mod">
          <ac:chgData name="Alex Rios" userId="69fc135ea1c70fd1" providerId="LiveId" clId="{EDAF6266-BA3D-4DCE-A57F-7AEA88DC3424}" dt="2026-04-21T19:45:40.639" v="36"/>
          <ac:spMkLst>
            <pc:docMk/>
            <pc:sldMk cId="1823405373" sldId="269"/>
            <ac:spMk id="4" creationId="{7366FEF8-1519-4590-E624-72A1875524B9}"/>
          </ac:spMkLst>
        </pc:spChg>
        <pc:spChg chg="del">
          <ac:chgData name="Alex Rios" userId="69fc135ea1c70fd1" providerId="LiveId" clId="{EDAF6266-BA3D-4DCE-A57F-7AEA88DC3424}" dt="2026-04-21T19:45:05.922" v="31" actId="21"/>
          <ac:spMkLst>
            <pc:docMk/>
            <pc:sldMk cId="1823405373" sldId="269"/>
            <ac:spMk id="6" creationId="{F495CD2D-E60F-224B-F5DD-F181EA3E19C0}"/>
          </ac:spMkLst>
        </pc:spChg>
        <pc:picChg chg="add mod">
          <ac:chgData name="Alex Rios" userId="69fc135ea1c70fd1" providerId="LiveId" clId="{EDAF6266-BA3D-4DCE-A57F-7AEA88DC3424}" dt="2026-04-21T19:45:22.058" v="35" actId="1076"/>
          <ac:picMkLst>
            <pc:docMk/>
            <pc:sldMk cId="1823405373" sldId="269"/>
            <ac:picMk id="5" creationId="{7A822581-BB90-65E2-0EE3-9C03BBE5FCDE}"/>
          </ac:picMkLst>
        </pc:picChg>
        <pc:picChg chg="del">
          <ac:chgData name="Alex Rios" userId="69fc135ea1c70fd1" providerId="LiveId" clId="{EDAF6266-BA3D-4DCE-A57F-7AEA88DC3424}" dt="2026-04-21T19:44:57.891" v="30" actId="21"/>
          <ac:picMkLst>
            <pc:docMk/>
            <pc:sldMk cId="1823405373" sldId="269"/>
            <ac:picMk id="7" creationId="{A2E6A4EC-9B98-F1C9-6F9A-93864B6EBAA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3644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B6614-3015-54FB-9B37-8BB65C54F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CF372F-1D4F-D893-D4C4-2BE637D6DF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68BB01-97D9-4CA6-816D-EAD46957DA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6781FB-E603-D250-98AD-4C46F23AC4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434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42B59-FB8D-30ED-B333-4CB8B7831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F51993-A51A-F8D1-352B-03FD3F94E4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B87E34-3F05-D28D-4801-F24F985247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2D2B5-DE71-DB9C-6314-F65B64BE5A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5987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1779045"/>
            <a:ext cx="1725216" cy="373261"/>
          </a:xfrm>
          <a:prstGeom prst="rect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1143000" y="1779045"/>
            <a:ext cx="1725216" cy="373261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Livro 5 Unidade 1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1143000" y="2630072"/>
            <a:ext cx="6429375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A36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Dinâmica do processo de urbanização</a:t>
            </a:r>
            <a:endParaRPr lang="en-US" sz="3294" dirty="0"/>
          </a:p>
        </p:txBody>
      </p:sp>
      <p:sp>
        <p:nvSpPr>
          <p:cNvPr id="6" name="Text 3"/>
          <p:cNvSpPr/>
          <p:nvPr/>
        </p:nvSpPr>
        <p:spPr>
          <a:xfrm>
            <a:off x="1143000" y="3721615"/>
            <a:ext cx="4082849" cy="2719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2D3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Capítulo 1 – </a:t>
            </a:r>
            <a:r>
              <a:rPr lang="en-US" sz="1704" dirty="0" err="1">
                <a:solidFill>
                  <a:srgbClr val="2D3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Processo</a:t>
            </a:r>
            <a:r>
              <a:rPr lang="en-US" sz="1704" dirty="0">
                <a:solidFill>
                  <a:srgbClr val="2D3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de urbanização</a:t>
            </a:r>
            <a:endParaRPr lang="en-US" sz="170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428625" y="457200"/>
            <a:ext cx="3866555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 cidades e o urbano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428625" y="1571625"/>
            <a:ext cx="2784417" cy="2436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600" dirty="0">
                <a:solidFill>
                  <a:srgbClr val="2B6C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conceito de urbanização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28625" y="1928813"/>
            <a:ext cx="4000500" cy="457200"/>
          </a:xfrm>
          <a:prstGeom prst="rect">
            <a:avLst/>
          </a:prstGeom>
          <a:noFill/>
          <a:ln/>
        </p:spPr>
        <p:txBody>
          <a:bodyPr wrap="square" lIns="229616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Processo de crescimento da população urbana em relação à rural.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28625" y="2557463"/>
            <a:ext cx="852798" cy="2436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600" dirty="0">
                <a:solidFill>
                  <a:srgbClr val="2B6C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Critérios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28625" y="2914650"/>
            <a:ext cx="4000500" cy="685800"/>
          </a:xfrm>
          <a:prstGeom prst="rect">
            <a:avLst/>
          </a:prstGeom>
          <a:noFill/>
          <a:ln/>
        </p:spPr>
        <p:txBody>
          <a:bodyPr wrap="square" lIns="229616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Funções urbanas
• Concentração populacional
• Morfologia urbana</a:t>
            </a:r>
            <a:endParaRPr lang="en-US" sz="1400" dirty="0"/>
          </a:p>
        </p:txBody>
      </p:sp>
      <p:pic>
        <p:nvPicPr>
          <p:cNvPr id="1026" name="Picture 2" descr="Mercado Antigo Em Jerusalém, Israel. Imagem de Stock Editorial - Imagem de  antigo, bazar: 34767229">
            <a:extLst>
              <a:ext uri="{FF2B5EF4-FFF2-40B4-BE49-F238E27FC236}">
                <a16:creationId xmlns:a16="http://schemas.microsoft.com/office/drawing/2014/main" id="{5EE5014C-F602-7D00-6789-E3B3D74BF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470952"/>
            <a:ext cx="4000500" cy="2660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58A21F72-0A45-B972-DD69-6B896C7D50C6}"/>
              </a:ext>
            </a:extLst>
          </p:cNvPr>
          <p:cNvSpPr txBox="1"/>
          <p:nvPr/>
        </p:nvSpPr>
        <p:spPr>
          <a:xfrm>
            <a:off x="4572000" y="4182238"/>
            <a:ext cx="4000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Mercado antigo em Jerusalém. Fonte: </a:t>
            </a:r>
            <a:r>
              <a:rPr lang="pt-BR" sz="1200" dirty="0" err="1"/>
              <a:t>Dreamstime</a:t>
            </a:r>
            <a:endParaRPr lang="pt-BR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428625" y="457200"/>
            <a:ext cx="4058803" cy="3940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Rural e Urbano no mundo</a:t>
            </a:r>
            <a:endParaRPr lang="en-US" sz="2436" dirty="0"/>
          </a:p>
        </p:txBody>
      </p:sp>
      <p:sp>
        <p:nvSpPr>
          <p:cNvPr id="5" name="Shape 2"/>
          <p:cNvSpPr/>
          <p:nvPr/>
        </p:nvSpPr>
        <p:spPr>
          <a:xfrm>
            <a:off x="428625" y="1428750"/>
            <a:ext cx="8286750" cy="492919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428625" y="1428750"/>
            <a:ext cx="71438" cy="492919"/>
          </a:xfrm>
          <a:prstGeom prst="rect">
            <a:avLst/>
          </a:prstGeom>
          <a:solidFill>
            <a:srgbClr val="38A1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428625" y="1428750"/>
            <a:ext cx="8286750" cy="548612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dificuldade na definição dos limites entre urbano e rural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28625" y="2207419"/>
            <a:ext cx="4036219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1A36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1950</a:t>
            </a:r>
            <a:endParaRPr lang="en-US" sz="1269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59" y="2573536"/>
            <a:ext cx="3943350" cy="2514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79156" y="2207419"/>
            <a:ext cx="4036219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1A36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2021</a:t>
            </a:r>
            <a:endParaRPr lang="en-US" sz="1269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5591" y="2573536"/>
            <a:ext cx="394335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428625" y="457200"/>
            <a:ext cx="6681316" cy="3940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3200"/>
              </a:lnSpc>
            </a:pPr>
            <a:r>
              <a:rPr lang="en-US" sz="2436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Rural e Urbano no </a:t>
            </a:r>
            <a:r>
              <a:rPr lang="en-US" sz="2436" b="1" dirty="0" err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mundo</a:t>
            </a:r>
            <a:r>
              <a:rPr lang="en-US" sz="2436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 no </a:t>
            </a:r>
            <a:r>
              <a:rPr lang="en-US" sz="2436" b="1" dirty="0" err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Brasil</a:t>
            </a:r>
            <a:r>
              <a:rPr lang="en-US" sz="2436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2436" b="1" dirty="0" err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atual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428625" y="1743075"/>
            <a:ext cx="29146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>
                <a:solidFill>
                  <a:srgbClr val="2B6C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Divisão Oficial</a:t>
            </a:r>
            <a:endParaRPr lang="en-US" sz="1486" dirty="0"/>
          </a:p>
        </p:txBody>
      </p:sp>
      <p:sp>
        <p:nvSpPr>
          <p:cNvPr id="6" name="Text 3"/>
          <p:cNvSpPr/>
          <p:nvPr/>
        </p:nvSpPr>
        <p:spPr>
          <a:xfrm>
            <a:off x="428625" y="2150269"/>
            <a:ext cx="3017102" cy="7594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 err="1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Divisão</a:t>
            </a:r>
            <a:r>
              <a:rPr lang="en-US" sz="16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político-administrativa</a:t>
            </a:r>
            <a:r>
              <a:rPr lang="en-US" sz="16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oficial</a:t>
            </a:r>
            <a:r>
              <a:rPr lang="en-US" sz="16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</a:t>
            </a:r>
            <a:r>
              <a:rPr lang="en-US" sz="1600" dirty="0" err="1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delimitação</a:t>
            </a:r>
            <a:r>
              <a:rPr lang="en-US" sz="16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 </a:t>
            </a:r>
            <a:r>
              <a:rPr lang="en-US" sz="1600" dirty="0" err="1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perímetro</a:t>
            </a:r>
            <a:r>
              <a:rPr lang="en-US" sz="16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urbano</a:t>
            </a:r>
            <a:endParaRPr lang="en-US" sz="16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0FBFF23-82CD-7BAD-9580-B888ACD48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3962" y="1265400"/>
            <a:ext cx="4147150" cy="3652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D2BB88B8-356D-5EC2-FCE7-17C336A75E10}"/>
              </a:ext>
            </a:extLst>
          </p:cNvPr>
          <p:cNvSpPr txBox="1"/>
          <p:nvPr/>
        </p:nvSpPr>
        <p:spPr>
          <a:xfrm>
            <a:off x="4114801" y="4917688"/>
            <a:ext cx="33119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/>
              <a:t>Ponta Grossa (PR). Fonte: IPPUP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428625" y="457200"/>
            <a:ext cx="4574970" cy="3940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Mundo: taxa de </a:t>
            </a:r>
            <a:r>
              <a:rPr lang="en-US" sz="2436" b="1" dirty="0" err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urbanização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2375157" y="1660922"/>
            <a:ext cx="4393685" cy="3243263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9451" y="1421607"/>
            <a:ext cx="4647986" cy="34254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95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428625" y="457200"/>
            <a:ext cx="4284464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Motores da urbanização</a:t>
            </a:r>
            <a:endParaRPr lang="en-US" sz="2436" dirty="0"/>
          </a:p>
        </p:txBody>
      </p:sp>
      <p:sp>
        <p:nvSpPr>
          <p:cNvPr id="5" name="Shape 2"/>
          <p:cNvSpPr/>
          <p:nvPr/>
        </p:nvSpPr>
        <p:spPr>
          <a:xfrm>
            <a:off x="714374" y="1527979"/>
            <a:ext cx="7805157" cy="878681"/>
          </a:xfrm>
          <a:prstGeom prst="rect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1272285" y="1661597"/>
            <a:ext cx="3230051" cy="7035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Fator </a:t>
            </a:r>
            <a:r>
              <a:rPr lang="en-US" sz="1400" b="1" dirty="0" err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repulsivo</a:t>
            </a: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</a:p>
          <a:p>
            <a:pPr marL="0" indent="0" algn="l">
              <a:lnSpc>
                <a:spcPts val="2800"/>
              </a:lnSpc>
              <a:buNone/>
            </a:pPr>
            <a:r>
              <a:rPr lang="en-US" sz="2121" b="1" dirty="0" err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Modernização</a:t>
            </a:r>
            <a:r>
              <a:rPr lang="en-US" sz="2121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agrícola</a:t>
            </a:r>
            <a:endParaRPr lang="en-US" sz="2121" dirty="0"/>
          </a:p>
        </p:txBody>
      </p:sp>
      <p:sp>
        <p:nvSpPr>
          <p:cNvPr id="7" name="Text 4"/>
          <p:cNvSpPr/>
          <p:nvPr/>
        </p:nvSpPr>
        <p:spPr>
          <a:xfrm>
            <a:off x="714375" y="2735311"/>
            <a:ext cx="7805156" cy="685800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marL="0" indent="0" algn="just">
              <a:lnSpc>
                <a:spcPts val="2700"/>
              </a:lnSpc>
              <a:buNone/>
            </a:pPr>
            <a:r>
              <a:rPr lang="en-US" sz="20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r>
              <a:rPr lang="en-US" sz="2000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mecanização do campo</a:t>
            </a:r>
            <a:r>
              <a:rPr lang="en-US" sz="20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reduz a necessidade de mão de obra direta, impulsionando a migração para as cidades.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428625" y="457200"/>
            <a:ext cx="4284464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Motores da urbanização</a:t>
            </a:r>
            <a:endParaRPr lang="en-US" sz="2436" dirty="0"/>
          </a:p>
        </p:txBody>
      </p:sp>
      <p:sp>
        <p:nvSpPr>
          <p:cNvPr id="5" name="Shape 2"/>
          <p:cNvSpPr/>
          <p:nvPr/>
        </p:nvSpPr>
        <p:spPr>
          <a:xfrm>
            <a:off x="714374" y="1439087"/>
            <a:ext cx="7715250" cy="1071563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1000125" y="1600200"/>
            <a:ext cx="7143750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kern="0" spc="2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FATOR ATRATIVO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1000125" y="1863269"/>
            <a:ext cx="714375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Industrialização</a:t>
            </a:r>
            <a:endParaRPr lang="en-US" sz="2121" dirty="0"/>
          </a:p>
        </p:txBody>
      </p:sp>
      <p:sp>
        <p:nvSpPr>
          <p:cNvPr id="8" name="Text 5"/>
          <p:cNvSpPr/>
          <p:nvPr/>
        </p:nvSpPr>
        <p:spPr>
          <a:xfrm>
            <a:off x="457005" y="2671763"/>
            <a:ext cx="7972620" cy="640035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oferta de empregos e serviços nas cidades atrai a </a:t>
            </a:r>
            <a:r>
              <a:rPr lang="en-US" sz="2000" dirty="0" err="1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população</a:t>
            </a:r>
            <a:r>
              <a:rPr lang="en-US" sz="20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rural, consolidando o processo de urbanização.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A17D9-DD8D-D418-2306-C494332FE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5A773C4-B49A-94CC-6BE5-0E3C3FFF3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C6E4FDB8-20CC-DACE-9227-3A2C1C2A86C9}"/>
              </a:ext>
            </a:extLst>
          </p:cNvPr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366FEF8-1519-4590-E624-72A1875524B9}"/>
              </a:ext>
            </a:extLst>
          </p:cNvPr>
          <p:cNvSpPr/>
          <p:nvPr/>
        </p:nvSpPr>
        <p:spPr>
          <a:xfrm>
            <a:off x="428625" y="457200"/>
            <a:ext cx="3900107" cy="3940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3200"/>
              </a:lnSpc>
            </a:pPr>
            <a:r>
              <a:rPr lang="en-US" sz="2436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Motores da </a:t>
            </a:r>
            <a:r>
              <a:rPr lang="en-US" sz="2436" b="1" dirty="0" err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urbanização</a:t>
            </a:r>
            <a:endParaRPr lang="en-US" sz="2436" dirty="0"/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7A822581-BB90-65E2-0EE3-9C03BBE5FC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2043" y="1381073"/>
            <a:ext cx="5166317" cy="3762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405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428625" y="457200"/>
            <a:ext cx="4822031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Urbanização na Atualidade</a:t>
            </a:r>
            <a:endParaRPr lang="en-US" sz="2436" dirty="0"/>
          </a:p>
        </p:txBody>
      </p:sp>
      <p:sp>
        <p:nvSpPr>
          <p:cNvPr id="5" name="Shape 2"/>
          <p:cNvSpPr/>
          <p:nvPr/>
        </p:nvSpPr>
        <p:spPr>
          <a:xfrm>
            <a:off x="1381116" y="1714500"/>
            <a:ext cx="714375" cy="714375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5428" y="1928813"/>
            <a:ext cx="285750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8625" y="2643188"/>
            <a:ext cx="261938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486" dirty="0">
                <a:solidFill>
                  <a:srgbClr val="1A36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Modernização econômica</a:t>
            </a:r>
            <a:endParaRPr lang="en-US" sz="1486" dirty="0"/>
          </a:p>
        </p:txBody>
      </p:sp>
      <p:sp>
        <p:nvSpPr>
          <p:cNvPr id="8" name="Text 4"/>
          <p:cNvSpPr/>
          <p:nvPr/>
        </p:nvSpPr>
        <p:spPr>
          <a:xfrm>
            <a:off x="428625" y="3386138"/>
            <a:ext cx="2619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integração global e o avanço tecnológico redefinem as funções das cidades no sistema produtivo.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214813" y="1714500"/>
            <a:ext cx="714375" cy="714375"/>
          </a:xfrm>
          <a:prstGeom prst="ellipse">
            <a:avLst/>
          </a:prstGeom>
          <a:solidFill>
            <a:srgbClr val="38A16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3406" y="1928813"/>
            <a:ext cx="357188" cy="285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262322" y="2643188"/>
            <a:ext cx="261938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486" dirty="0">
                <a:solidFill>
                  <a:srgbClr val="1A36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 e comportamento</a:t>
            </a:r>
            <a:endParaRPr lang="en-US" sz="1486" dirty="0"/>
          </a:p>
        </p:txBody>
      </p:sp>
      <p:sp>
        <p:nvSpPr>
          <p:cNvPr id="12" name="Text 7"/>
          <p:cNvSpPr/>
          <p:nvPr/>
        </p:nvSpPr>
        <p:spPr>
          <a:xfrm>
            <a:off x="3262322" y="3386138"/>
            <a:ext cx="2619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Novos estilos de vida e padrões de consumo emergem da intensa convivência no ambiente urbano.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7048509" y="1714500"/>
            <a:ext cx="714375" cy="714375"/>
          </a:xfrm>
          <a:prstGeom prst="ellipse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7103" y="1928813"/>
            <a:ext cx="357188" cy="2857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398428" y="2643188"/>
            <a:ext cx="201453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486" dirty="0">
                <a:solidFill>
                  <a:srgbClr val="1A36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Centro de inovação</a:t>
            </a:r>
            <a:endParaRPr lang="en-US" sz="1486" dirty="0"/>
          </a:p>
        </p:txBody>
      </p:sp>
      <p:sp>
        <p:nvSpPr>
          <p:cNvPr id="16" name="Text 10"/>
          <p:cNvSpPr/>
          <p:nvPr/>
        </p:nvSpPr>
        <p:spPr>
          <a:xfrm>
            <a:off x="6096019" y="3357563"/>
            <a:ext cx="2619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cidade consolida-se como o principal palco de transformações sociais e inovações constantes.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428625" y="457200"/>
            <a:ext cx="3850481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Urbanização desigual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428625" y="1714500"/>
            <a:ext cx="2494955" cy="45720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1A36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Países desenvolvidos</a:t>
            </a:r>
            <a:endParaRPr lang="en-US" sz="1704" dirty="0"/>
          </a:p>
        </p:txBody>
      </p:sp>
      <p:sp>
        <p:nvSpPr>
          <p:cNvPr id="6" name="Text 3"/>
          <p:cNvSpPr/>
          <p:nvPr/>
        </p:nvSpPr>
        <p:spPr>
          <a:xfrm>
            <a:off x="428625" y="2418159"/>
            <a:ext cx="337542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processo ocorreu de forma planejada e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428625" y="2692468"/>
            <a:ext cx="358973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acompanhou o desenvolvimento econômico</a:t>
            </a:r>
            <a:endParaRPr lang="en-US" sz="1269" dirty="0"/>
          </a:p>
        </p:txBody>
      </p:sp>
      <p:sp>
        <p:nvSpPr>
          <p:cNvPr id="8" name="Text 5"/>
          <p:cNvSpPr/>
          <p:nvPr/>
        </p:nvSpPr>
        <p:spPr>
          <a:xfrm>
            <a:off x="428625" y="2966777"/>
            <a:ext cx="175021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ao longo de décadas.</a:t>
            </a:r>
            <a:endParaRPr lang="en-US" sz="1269" dirty="0"/>
          </a:p>
        </p:txBody>
      </p:sp>
      <p:sp>
        <p:nvSpPr>
          <p:cNvPr id="9" name="Text 6"/>
          <p:cNvSpPr/>
          <p:nvPr/>
        </p:nvSpPr>
        <p:spPr>
          <a:xfrm>
            <a:off x="428625" y="3351814"/>
            <a:ext cx="3707606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1808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Urbanização gradativa</a:t>
            </a:r>
            <a:endParaRPr lang="en-US" sz="1808" dirty="0"/>
          </a:p>
        </p:txBody>
      </p:sp>
      <p:sp>
        <p:nvSpPr>
          <p:cNvPr id="10" name="Text 7"/>
          <p:cNvSpPr/>
          <p:nvPr/>
        </p:nvSpPr>
        <p:spPr>
          <a:xfrm>
            <a:off x="5007769" y="1714500"/>
            <a:ext cx="2927152" cy="45720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1A36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Países subdesenvolvidos</a:t>
            </a:r>
            <a:endParaRPr lang="en-US" sz="1704" dirty="0"/>
          </a:p>
        </p:txBody>
      </p:sp>
      <p:sp>
        <p:nvSpPr>
          <p:cNvPr id="11" name="Text 8"/>
          <p:cNvSpPr/>
          <p:nvPr/>
        </p:nvSpPr>
        <p:spPr>
          <a:xfrm>
            <a:off x="5007769" y="2418159"/>
            <a:ext cx="350579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crescimento urbano foi explosivo, muitas</a:t>
            </a:r>
            <a:endParaRPr lang="en-US" sz="1269" dirty="0"/>
          </a:p>
        </p:txBody>
      </p:sp>
      <p:sp>
        <p:nvSpPr>
          <p:cNvPr id="12" name="Text 9"/>
          <p:cNvSpPr/>
          <p:nvPr/>
        </p:nvSpPr>
        <p:spPr>
          <a:xfrm>
            <a:off x="5007769" y="2692468"/>
            <a:ext cx="327898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vezes sem infraestrutura adequada para</a:t>
            </a:r>
            <a:endParaRPr lang="en-US" sz="1269" dirty="0"/>
          </a:p>
        </p:txBody>
      </p:sp>
      <p:sp>
        <p:nvSpPr>
          <p:cNvPr id="13" name="Text 10"/>
          <p:cNvSpPr/>
          <p:nvPr/>
        </p:nvSpPr>
        <p:spPr>
          <a:xfrm>
            <a:off x="5007769" y="2966777"/>
            <a:ext cx="168413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suportar a demanda.</a:t>
            </a:r>
            <a:endParaRPr lang="en-US" sz="1269" dirty="0"/>
          </a:p>
        </p:txBody>
      </p:sp>
      <p:sp>
        <p:nvSpPr>
          <p:cNvPr id="14" name="Text 11"/>
          <p:cNvSpPr/>
          <p:nvPr/>
        </p:nvSpPr>
        <p:spPr>
          <a:xfrm>
            <a:off x="5007769" y="3351814"/>
            <a:ext cx="3707606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1808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Urbanização acelerada</a:t>
            </a:r>
            <a:endParaRPr lang="en-US" sz="1808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67276-7444-F850-D672-E1E889A1A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F63C254E-8A55-B737-853E-05081559C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75011586-D446-EBF1-318B-7DD46C8E4D30}"/>
              </a:ext>
            </a:extLst>
          </p:cNvPr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FD89C8A-1718-AF1D-C1C1-70A723BBDB54}"/>
              </a:ext>
            </a:extLst>
          </p:cNvPr>
          <p:cNvSpPr/>
          <p:nvPr/>
        </p:nvSpPr>
        <p:spPr>
          <a:xfrm>
            <a:off x="428625" y="457200"/>
            <a:ext cx="4364977" cy="3940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 err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Brasil</a:t>
            </a:r>
            <a:r>
              <a:rPr lang="en-US" sz="2436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taxa de </a:t>
            </a:r>
            <a:r>
              <a:rPr lang="en-US" sz="2436" b="1" dirty="0" err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urbanização</a:t>
            </a:r>
            <a:endParaRPr lang="en-US" sz="2436" dirty="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79BABFBD-495D-95F7-FDCC-CFB35AFE71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6498" y="1291177"/>
            <a:ext cx="5709424" cy="3676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265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428625" y="489347"/>
            <a:ext cx="4732734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Urbanização no Brasil: Regiões</a:t>
            </a:r>
            <a:endParaRPr lang="en-US" sz="2121" dirty="0"/>
          </a:p>
        </p:txBody>
      </p:sp>
      <p:sp>
        <p:nvSpPr>
          <p:cNvPr id="5" name="Shape 2"/>
          <p:cNvSpPr/>
          <p:nvPr/>
        </p:nvSpPr>
        <p:spPr>
          <a:xfrm>
            <a:off x="571500" y="1571625"/>
            <a:ext cx="1857375" cy="473273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571500" y="1571625"/>
            <a:ext cx="1857375" cy="473273"/>
          </a:xfrm>
          <a:prstGeom prst="rect">
            <a:avLst/>
          </a:prstGeom>
          <a:noFill/>
          <a:ln/>
        </p:spPr>
        <p:txBody>
          <a:bodyPr wrap="square" lIns="255143" tIns="127508" rIns="255143" bIns="127508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SUDESTE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2643188" y="1643063"/>
            <a:ext cx="592931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1A36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Concentração Industrial</a:t>
            </a:r>
            <a:endParaRPr lang="en-US" sz="1704" dirty="0"/>
          </a:p>
        </p:txBody>
      </p:sp>
      <p:sp>
        <p:nvSpPr>
          <p:cNvPr id="8" name="Text 5"/>
          <p:cNvSpPr/>
          <p:nvPr/>
        </p:nvSpPr>
        <p:spPr>
          <a:xfrm>
            <a:off x="2643188" y="2057400"/>
            <a:ext cx="592931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Pioneirismo e maior densidade do processo de urbanização impulsionado pela indústria.</a:t>
            </a:r>
            <a:endParaRPr lang="en-US" sz="1269" dirty="0"/>
          </a:p>
        </p:txBody>
      </p:sp>
      <p:sp>
        <p:nvSpPr>
          <p:cNvPr id="9" name="Shape 6"/>
          <p:cNvSpPr/>
          <p:nvPr/>
        </p:nvSpPr>
        <p:spPr>
          <a:xfrm>
            <a:off x="571500" y="3157538"/>
            <a:ext cx="1857375" cy="473273"/>
          </a:xfrm>
          <a:prstGeom prst="rect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571500" y="3157538"/>
            <a:ext cx="1857375" cy="473273"/>
          </a:xfrm>
          <a:prstGeom prst="rect">
            <a:avLst/>
          </a:prstGeom>
          <a:noFill/>
          <a:ln/>
        </p:spPr>
        <p:txBody>
          <a:bodyPr wrap="square" lIns="255143" tIns="127508" rIns="255143" bIns="127508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CENTRO-OESTE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2643188" y="3228975"/>
            <a:ext cx="592931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1A36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Brasília e Modernização Agrícola</a:t>
            </a:r>
            <a:endParaRPr lang="en-US" sz="1704" dirty="0"/>
          </a:p>
        </p:txBody>
      </p:sp>
      <p:sp>
        <p:nvSpPr>
          <p:cNvPr id="12" name="Text 9"/>
          <p:cNvSpPr/>
          <p:nvPr/>
        </p:nvSpPr>
        <p:spPr>
          <a:xfrm>
            <a:off x="2643188" y="3643313"/>
            <a:ext cx="592931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Crescimento urbano planejado e expansão da fronteira agrícola moderna.</a:t>
            </a:r>
            <a:endParaRPr lang="en-US" sz="1269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428625" y="457200"/>
            <a:ext cx="4283224" cy="3829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12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Urbanização no Brasil: Regiões</a:t>
            </a:r>
            <a:endParaRPr lang="en-US" sz="2120" dirty="0"/>
          </a:p>
        </p:txBody>
      </p:sp>
      <p:sp>
        <p:nvSpPr>
          <p:cNvPr id="5" name="Shape 2"/>
          <p:cNvSpPr/>
          <p:nvPr/>
        </p:nvSpPr>
        <p:spPr>
          <a:xfrm>
            <a:off x="571500" y="1571625"/>
            <a:ext cx="1714500" cy="514350"/>
          </a:xfrm>
          <a:prstGeom prst="rect">
            <a:avLst/>
          </a:prstGeom>
          <a:solidFill>
            <a:srgbClr val="38A1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571500" y="1571625"/>
            <a:ext cx="1714500" cy="514350"/>
          </a:xfrm>
          <a:prstGeom prst="rect">
            <a:avLst/>
          </a:prstGeom>
          <a:noFill/>
          <a:ln/>
        </p:spPr>
        <p:txBody>
          <a:bodyPr wrap="square" lIns="255143" tIns="127508" rIns="255143" bIns="127508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Sul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2500313" y="1458313"/>
            <a:ext cx="6072188" cy="798745"/>
          </a:xfrm>
          <a:prstGeom prst="rect">
            <a:avLst/>
          </a:prstGeom>
          <a:noFill/>
          <a:ln/>
        </p:spPr>
        <p:txBody>
          <a:bodyPr wrap="square" lIns="0" tIns="85090" rIns="0" bIns="170053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Modernização agrícola</a:t>
            </a:r>
            <a:r>
              <a:rPr lang="en-US" sz="14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crescimento expressivo dos setores </a:t>
            </a:r>
            <a:r>
              <a:rPr lang="en-US" sz="1400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secundário e terciário</a:t>
            </a:r>
            <a:r>
              <a:rPr lang="en-US" sz="14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 economia.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71500" y="2634593"/>
            <a:ext cx="1714500" cy="51435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571500" y="2634593"/>
            <a:ext cx="1714500" cy="514350"/>
          </a:xfrm>
          <a:prstGeom prst="rect">
            <a:avLst/>
          </a:prstGeom>
          <a:noFill/>
          <a:ln/>
        </p:spPr>
        <p:txBody>
          <a:bodyPr wrap="square" lIns="255143" tIns="127508" rIns="255143" bIns="127508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Norte</a:t>
            </a:r>
            <a:endParaRPr lang="en-US" sz="1397" dirty="0"/>
          </a:p>
        </p:txBody>
      </p:sp>
      <p:sp>
        <p:nvSpPr>
          <p:cNvPr id="10" name="Text 7"/>
          <p:cNvSpPr/>
          <p:nvPr/>
        </p:nvSpPr>
        <p:spPr>
          <a:xfrm>
            <a:off x="2500313" y="2634593"/>
            <a:ext cx="6072188" cy="798745"/>
          </a:xfrm>
          <a:prstGeom prst="rect">
            <a:avLst/>
          </a:prstGeom>
          <a:noFill/>
          <a:ln/>
        </p:spPr>
        <p:txBody>
          <a:bodyPr wrap="square" lIns="0" tIns="85090" rIns="0" bIns="170053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Forte </a:t>
            </a:r>
            <a:r>
              <a:rPr lang="en-US" sz="1400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concentração populacional</a:t>
            </a:r>
            <a:r>
              <a:rPr lang="en-US" sz="14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nos núcleos urbanos, apesar da vasta extensão territorial.</a:t>
            </a:r>
            <a:endParaRPr lang="en-US" sz="1400" dirty="0"/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C6B01CDB-7973-D3B6-C923-284DD39B92EE}"/>
              </a:ext>
            </a:extLst>
          </p:cNvPr>
          <p:cNvSpPr/>
          <p:nvPr/>
        </p:nvSpPr>
        <p:spPr>
          <a:xfrm>
            <a:off x="571500" y="3550443"/>
            <a:ext cx="1714500" cy="514350"/>
          </a:xfrm>
          <a:prstGeom prst="rect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E77904FB-4045-02D9-ACE3-883A67FBEC31}"/>
              </a:ext>
            </a:extLst>
          </p:cNvPr>
          <p:cNvSpPr/>
          <p:nvPr/>
        </p:nvSpPr>
        <p:spPr>
          <a:xfrm>
            <a:off x="1008763" y="3614737"/>
            <a:ext cx="839974" cy="318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Nordeste</a:t>
            </a:r>
            <a:endParaRPr lang="en-US" sz="140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4D8D25B5-ADFF-B75B-5AB3-1BFB462E8E6E}"/>
              </a:ext>
            </a:extLst>
          </p:cNvPr>
          <p:cNvSpPr/>
          <p:nvPr/>
        </p:nvSpPr>
        <p:spPr>
          <a:xfrm>
            <a:off x="2500313" y="3636168"/>
            <a:ext cx="3549818" cy="3070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Êxodo rural direcionado a outras regiões do país.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354</Words>
  <Application>Microsoft Office PowerPoint</Application>
  <PresentationFormat>Apresentação na tela (16:9)</PresentationFormat>
  <Paragraphs>73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Arial</vt:lpstr>
      <vt:lpstr>Inter</vt:lpstr>
      <vt:lpstr>Poppins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Alex Rios</cp:lastModifiedBy>
  <cp:revision>18</cp:revision>
  <dcterms:created xsi:type="dcterms:W3CDTF">2026-04-17T00:17:25Z</dcterms:created>
  <dcterms:modified xsi:type="dcterms:W3CDTF">2026-04-21T19:49:35Z</dcterms:modified>
</cp:coreProperties>
</file>