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57" r:id="rId7"/>
    <p:sldId id="273" r:id="rId8"/>
    <p:sldId id="267" r:id="rId9"/>
    <p:sldId id="262" r:id="rId10"/>
    <p:sldId id="259" r:id="rId11"/>
    <p:sldId id="268" r:id="rId12"/>
    <p:sldId id="263" r:id="rId13"/>
    <p:sldId id="266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DD6CF0-2AAB-4FB2-8591-1FF0531A797B}" v="95" dt="2026-08-03T00:10:08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ios" userId="69fc135ea1c70fd1" providerId="LiveId" clId="{EDAF6266-BA3D-4DCE-A57F-7AEA88DC3424}"/>
    <pc:docChg chg="undo custSel addSld delSld modSld sldOrd">
      <pc:chgData name="Alex Rios" userId="69fc135ea1c70fd1" providerId="LiveId" clId="{EDAF6266-BA3D-4DCE-A57F-7AEA88DC3424}" dt="2026-08-03T00:10:08.903" v="404" actId="255"/>
      <pc:docMkLst>
        <pc:docMk/>
      </pc:docMkLst>
      <pc:sldChg chg="modSp add del mod">
        <pc:chgData name="Alex Rios" userId="69fc135ea1c70fd1" providerId="LiveId" clId="{EDAF6266-BA3D-4DCE-A57F-7AEA88DC3424}" dt="2026-08-03T00:10:08.903" v="404" actId="255"/>
        <pc:sldMkLst>
          <pc:docMk/>
          <pc:sldMk cId="0" sldId="256"/>
        </pc:sldMkLst>
        <pc:spChg chg="mod">
          <ac:chgData name="Alex Rios" userId="69fc135ea1c70fd1" providerId="LiveId" clId="{EDAF6266-BA3D-4DCE-A57F-7AEA88DC3424}" dt="2026-08-03T00:10:08.903" v="404" actId="255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ex Rios" userId="69fc135ea1c70fd1" providerId="LiveId" clId="{EDAF6266-BA3D-4DCE-A57F-7AEA88DC3424}" dt="2026-08-02T23:14:57.759" v="114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lex Rios" userId="69fc135ea1c70fd1" providerId="LiveId" clId="{EDAF6266-BA3D-4DCE-A57F-7AEA88DC3424}" dt="2026-08-02T23:10:11.284" v="75" actId="113"/>
        <pc:sldMkLst>
          <pc:docMk/>
          <pc:sldMk cId="0" sldId="259"/>
        </pc:sldMkLst>
        <pc:spChg chg="mod">
          <ac:chgData name="Alex Rios" userId="69fc135ea1c70fd1" providerId="LiveId" clId="{EDAF6266-BA3D-4DCE-A57F-7AEA88DC3424}" dt="2026-08-02T23:10:11.284" v="75" actId="113"/>
          <ac:spMkLst>
            <pc:docMk/>
            <pc:sldMk cId="0" sldId="259"/>
            <ac:spMk id="3" creationId="{00000000-0000-0000-0000-000000000000}"/>
          </ac:spMkLst>
        </pc:spChg>
      </pc:sldChg>
      <pc:sldChg chg="ord">
        <pc:chgData name="Alex Rios" userId="69fc135ea1c70fd1" providerId="LiveId" clId="{EDAF6266-BA3D-4DCE-A57F-7AEA88DC3424}" dt="2026-08-02T23:56:55.116" v="299"/>
        <pc:sldMkLst>
          <pc:docMk/>
          <pc:sldMk cId="2461426579" sldId="262"/>
        </pc:sldMkLst>
      </pc:sldChg>
      <pc:sldChg chg="modSp mod ord">
        <pc:chgData name="Alex Rios" userId="69fc135ea1c70fd1" providerId="LiveId" clId="{EDAF6266-BA3D-4DCE-A57F-7AEA88DC3424}" dt="2026-08-03T00:03:07.287" v="307"/>
        <pc:sldMkLst>
          <pc:docMk/>
          <pc:sldMk cId="11557698" sldId="263"/>
        </pc:sldMkLst>
        <pc:picChg chg="mod">
          <ac:chgData name="Alex Rios" userId="69fc135ea1c70fd1" providerId="LiveId" clId="{EDAF6266-BA3D-4DCE-A57F-7AEA88DC3424}" dt="2026-07-21T13:59:56.896" v="29" actId="26606"/>
          <ac:picMkLst>
            <pc:docMk/>
            <pc:sldMk cId="11557698" sldId="263"/>
            <ac:picMk id="6146" creationId="{9A0A4033-5D15-B24C-F805-CCED8B95B8A5}"/>
          </ac:picMkLst>
        </pc:picChg>
      </pc:sldChg>
      <pc:sldChg chg="modSp mod">
        <pc:chgData name="Alex Rios" userId="69fc135ea1c70fd1" providerId="LiveId" clId="{EDAF6266-BA3D-4DCE-A57F-7AEA88DC3424}" dt="2026-08-03T00:08:29.660" v="394" actId="1076"/>
        <pc:sldMkLst>
          <pc:docMk/>
          <pc:sldMk cId="3008458983" sldId="265"/>
        </pc:sldMkLst>
        <pc:spChg chg="mod">
          <ac:chgData name="Alex Rios" userId="69fc135ea1c70fd1" providerId="LiveId" clId="{EDAF6266-BA3D-4DCE-A57F-7AEA88DC3424}" dt="2026-08-03T00:08:29.660" v="394" actId="1076"/>
          <ac:spMkLst>
            <pc:docMk/>
            <pc:sldMk cId="3008458983" sldId="265"/>
            <ac:spMk id="2" creationId="{BB4C5BCF-6222-A09F-6758-2669E450FB52}"/>
          </ac:spMkLst>
        </pc:spChg>
        <pc:spChg chg="mod">
          <ac:chgData name="Alex Rios" userId="69fc135ea1c70fd1" providerId="LiveId" clId="{EDAF6266-BA3D-4DCE-A57F-7AEA88DC3424}" dt="2026-08-03T00:08:26.792" v="393" actId="14100"/>
          <ac:spMkLst>
            <pc:docMk/>
            <pc:sldMk cId="3008458983" sldId="265"/>
            <ac:spMk id="3" creationId="{1FCE252C-9526-0970-E9FB-E32B98D90093}"/>
          </ac:spMkLst>
        </pc:spChg>
      </pc:sldChg>
      <pc:sldChg chg="modSp mod ord">
        <pc:chgData name="Alex Rios" userId="69fc135ea1c70fd1" providerId="LiveId" clId="{EDAF6266-BA3D-4DCE-A57F-7AEA88DC3424}" dt="2026-08-03T00:08:35.541" v="397" actId="1076"/>
        <pc:sldMkLst>
          <pc:docMk/>
          <pc:sldMk cId="802334176" sldId="266"/>
        </pc:sldMkLst>
        <pc:spChg chg="mod">
          <ac:chgData name="Alex Rios" userId="69fc135ea1c70fd1" providerId="LiveId" clId="{EDAF6266-BA3D-4DCE-A57F-7AEA88DC3424}" dt="2026-08-03T00:08:35.541" v="397" actId="1076"/>
          <ac:spMkLst>
            <pc:docMk/>
            <pc:sldMk cId="802334176" sldId="266"/>
            <ac:spMk id="2" creationId="{BF0C0B1E-CB38-6A3F-8E47-1C8593CBD45A}"/>
          </ac:spMkLst>
        </pc:spChg>
        <pc:spChg chg="mod">
          <ac:chgData name="Alex Rios" userId="69fc135ea1c70fd1" providerId="LiveId" clId="{EDAF6266-BA3D-4DCE-A57F-7AEA88DC3424}" dt="2026-08-03T00:08:33.098" v="396" actId="27636"/>
          <ac:spMkLst>
            <pc:docMk/>
            <pc:sldMk cId="802334176" sldId="266"/>
            <ac:spMk id="3" creationId="{22A09FE7-9197-5EA7-6CEC-74077BC51525}"/>
          </ac:spMkLst>
        </pc:spChg>
      </pc:sldChg>
      <pc:sldChg chg="modSp mod ord">
        <pc:chgData name="Alex Rios" userId="69fc135ea1c70fd1" providerId="LiveId" clId="{EDAF6266-BA3D-4DCE-A57F-7AEA88DC3424}" dt="2026-08-02T23:58:38.813" v="305"/>
        <pc:sldMkLst>
          <pc:docMk/>
          <pc:sldMk cId="495787730" sldId="267"/>
        </pc:sldMkLst>
        <pc:spChg chg="mod">
          <ac:chgData name="Alex Rios" userId="69fc135ea1c70fd1" providerId="LiveId" clId="{EDAF6266-BA3D-4DCE-A57F-7AEA88DC3424}" dt="2026-08-02T23:09:14.078" v="70" actId="113"/>
          <ac:spMkLst>
            <pc:docMk/>
            <pc:sldMk cId="495787730" sldId="267"/>
            <ac:spMk id="3" creationId="{1A36EF53-57A3-7BFB-3B64-5BEC874DA26B}"/>
          </ac:spMkLst>
        </pc:spChg>
      </pc:sldChg>
      <pc:sldChg chg="ord">
        <pc:chgData name="Alex Rios" userId="69fc135ea1c70fd1" providerId="LiveId" clId="{EDAF6266-BA3D-4DCE-A57F-7AEA88DC3424}" dt="2026-08-03T00:03:29.885" v="309"/>
        <pc:sldMkLst>
          <pc:docMk/>
          <pc:sldMk cId="783925016" sldId="268"/>
        </pc:sldMkLst>
      </pc:sldChg>
      <pc:sldChg chg="addSp modSp mod">
        <pc:chgData name="Alex Rios" userId="69fc135ea1c70fd1" providerId="LiveId" clId="{EDAF6266-BA3D-4DCE-A57F-7AEA88DC3424}" dt="2026-07-21T17:19:49.393" v="66" actId="2085"/>
        <pc:sldMkLst>
          <pc:docMk/>
          <pc:sldMk cId="1363911689" sldId="269"/>
        </pc:sldMkLst>
        <pc:graphicFrameChg chg="add mod modGraphic">
          <ac:chgData name="Alex Rios" userId="69fc135ea1c70fd1" providerId="LiveId" clId="{EDAF6266-BA3D-4DCE-A57F-7AEA88DC3424}" dt="2026-07-21T17:19:49.393" v="66" actId="2085"/>
          <ac:graphicFrameMkLst>
            <pc:docMk/>
            <pc:sldMk cId="1363911689" sldId="269"/>
            <ac:graphicFrameMk id="5" creationId="{3CB71721-984D-636A-3A1C-BCD6B3CB42E8}"/>
          </ac:graphicFrameMkLst>
        </pc:graphicFrameChg>
      </pc:sldChg>
      <pc:sldChg chg="addSp modSp mod">
        <pc:chgData name="Alex Rios" userId="69fc135ea1c70fd1" providerId="LiveId" clId="{EDAF6266-BA3D-4DCE-A57F-7AEA88DC3424}" dt="2026-07-21T17:20:00.768" v="67" actId="2085"/>
        <pc:sldMkLst>
          <pc:docMk/>
          <pc:sldMk cId="1961923763" sldId="270"/>
        </pc:sldMkLst>
        <pc:graphicFrameChg chg="add mod modGraphic">
          <ac:chgData name="Alex Rios" userId="69fc135ea1c70fd1" providerId="LiveId" clId="{EDAF6266-BA3D-4DCE-A57F-7AEA88DC3424}" dt="2026-07-21T17:20:00.768" v="67" actId="2085"/>
          <ac:graphicFrameMkLst>
            <pc:docMk/>
            <pc:sldMk cId="1961923763" sldId="270"/>
            <ac:graphicFrameMk id="5" creationId="{0294C232-73B0-E245-AB65-8C0B17162D80}"/>
          </ac:graphicFrameMkLst>
        </pc:graphicFrameChg>
      </pc:sldChg>
      <pc:sldChg chg="addSp modSp mod">
        <pc:chgData name="Alex Rios" userId="69fc135ea1c70fd1" providerId="LiveId" clId="{EDAF6266-BA3D-4DCE-A57F-7AEA88DC3424}" dt="2026-07-21T17:20:08.117" v="68" actId="2085"/>
        <pc:sldMkLst>
          <pc:docMk/>
          <pc:sldMk cId="1410431042" sldId="271"/>
        </pc:sldMkLst>
        <pc:spChg chg="mod">
          <ac:chgData name="Alex Rios" userId="69fc135ea1c70fd1" providerId="LiveId" clId="{EDAF6266-BA3D-4DCE-A57F-7AEA88DC3424}" dt="2026-07-14T16:26:47.085" v="1" actId="6549"/>
          <ac:spMkLst>
            <pc:docMk/>
            <pc:sldMk cId="1410431042" sldId="271"/>
            <ac:spMk id="3" creationId="{30C45D6E-5C8D-DC14-46EA-D35FC2B3B201}"/>
          </ac:spMkLst>
        </pc:spChg>
        <pc:graphicFrameChg chg="add mod modGraphic">
          <ac:chgData name="Alex Rios" userId="69fc135ea1c70fd1" providerId="LiveId" clId="{EDAF6266-BA3D-4DCE-A57F-7AEA88DC3424}" dt="2026-07-21T17:20:08.117" v="68" actId="2085"/>
          <ac:graphicFrameMkLst>
            <pc:docMk/>
            <pc:sldMk cId="1410431042" sldId="271"/>
            <ac:graphicFrameMk id="5" creationId="{17C8DA83-3EFF-4036-EB55-5D1E64389AC1}"/>
          </ac:graphicFrameMkLst>
        </pc:graphicFrameChg>
        <pc:picChg chg="mod">
          <ac:chgData name="Alex Rios" userId="69fc135ea1c70fd1" providerId="LiveId" clId="{EDAF6266-BA3D-4DCE-A57F-7AEA88DC3424}" dt="2026-07-21T17:14:48.646" v="52" actId="1076"/>
          <ac:picMkLst>
            <pc:docMk/>
            <pc:sldMk cId="1410431042" sldId="271"/>
            <ac:picMk id="3079" creationId="{19D8E8DF-1859-34EC-F391-63D7D3E5A4AC}"/>
          </ac:picMkLst>
        </pc:picChg>
      </pc:sldChg>
      <pc:sldChg chg="addSp delSp modSp add del mod">
        <pc:chgData name="Alex Rios" userId="69fc135ea1c70fd1" providerId="LiveId" clId="{EDAF6266-BA3D-4DCE-A57F-7AEA88DC3424}" dt="2026-08-02T23:46:06.560" v="180" actId="2696"/>
        <pc:sldMkLst>
          <pc:docMk/>
          <pc:sldMk cId="2792586314" sldId="273"/>
        </pc:sldMkLst>
        <pc:spChg chg="del">
          <ac:chgData name="Alex Rios" userId="69fc135ea1c70fd1" providerId="LiveId" clId="{EDAF6266-BA3D-4DCE-A57F-7AEA88DC3424}" dt="2026-08-02T23:17:51.472" v="150" actId="21"/>
          <ac:spMkLst>
            <pc:docMk/>
            <pc:sldMk cId="2792586314" sldId="273"/>
            <ac:spMk id="3" creationId="{CC7FB91E-8950-333E-7B99-9868B7DE15CF}"/>
          </ac:spMkLst>
        </pc:spChg>
        <pc:spChg chg="add del mod">
          <ac:chgData name="Alex Rios" userId="69fc135ea1c70fd1" providerId="LiveId" clId="{EDAF6266-BA3D-4DCE-A57F-7AEA88DC3424}" dt="2026-08-02T23:17:53.784" v="151" actId="21"/>
          <ac:spMkLst>
            <pc:docMk/>
            <pc:sldMk cId="2792586314" sldId="273"/>
            <ac:spMk id="4" creationId="{D46111CF-ED7E-F6F7-92AE-60EB28E2A5CB}"/>
          </ac:spMkLst>
        </pc:spChg>
        <pc:spChg chg="add mod">
          <ac:chgData name="Alex Rios" userId="69fc135ea1c70fd1" providerId="LiveId" clId="{EDAF6266-BA3D-4DCE-A57F-7AEA88DC3424}" dt="2026-08-02T23:18:54.869" v="174" actId="1076"/>
          <ac:spMkLst>
            <pc:docMk/>
            <pc:sldMk cId="2792586314" sldId="273"/>
            <ac:spMk id="7" creationId="{584C1519-EF88-4A13-C65A-1C541AAFFF39}"/>
          </ac:spMkLst>
        </pc:spChg>
        <pc:spChg chg="del">
          <ac:chgData name="Alex Rios" userId="69fc135ea1c70fd1" providerId="LiveId" clId="{EDAF6266-BA3D-4DCE-A57F-7AEA88DC3424}" dt="2026-08-02T23:18:07.438" v="154" actId="26606"/>
          <ac:spMkLst>
            <pc:docMk/>
            <pc:sldMk cId="2792586314" sldId="273"/>
            <ac:spMk id="16" creationId="{6FD2C408-66A5-1C71-2175-AA65F5D6DDFB}"/>
          </ac:spMkLst>
        </pc:spChg>
        <pc:picChg chg="add mod">
          <ac:chgData name="Alex Rios" userId="69fc135ea1c70fd1" providerId="LiveId" clId="{EDAF6266-BA3D-4DCE-A57F-7AEA88DC3424}" dt="2026-08-02T23:18:07.438" v="154" actId="26606"/>
          <ac:picMkLst>
            <pc:docMk/>
            <pc:sldMk cId="2792586314" sldId="273"/>
            <ac:picMk id="6" creationId="{27DBA1FC-BEAA-6BBD-D6CA-32B69C274FF5}"/>
          </ac:picMkLst>
        </pc:picChg>
        <pc:picChg chg="del">
          <ac:chgData name="Alex Rios" userId="69fc135ea1c70fd1" providerId="LiveId" clId="{EDAF6266-BA3D-4DCE-A57F-7AEA88DC3424}" dt="2026-08-02T23:17:48.879" v="149" actId="21"/>
          <ac:picMkLst>
            <pc:docMk/>
            <pc:sldMk cId="2792586314" sldId="273"/>
            <ac:picMk id="6146" creationId="{66675FD3-C643-BA54-CE6E-BA290384275C}"/>
          </ac:picMkLst>
        </pc:picChg>
      </pc:sldChg>
      <pc:sldChg chg="modSp add mod">
        <pc:chgData name="Alex Rios" userId="69fc135ea1c70fd1" providerId="LiveId" clId="{EDAF6266-BA3D-4DCE-A57F-7AEA88DC3424}" dt="2026-08-02T23:56:02.407" v="289" actId="123"/>
        <pc:sldMkLst>
          <pc:docMk/>
          <pc:sldMk cId="3868103972" sldId="273"/>
        </pc:sldMkLst>
        <pc:spChg chg="mod">
          <ac:chgData name="Alex Rios" userId="69fc135ea1c70fd1" providerId="LiveId" clId="{EDAF6266-BA3D-4DCE-A57F-7AEA88DC3424}" dt="2026-08-02T23:49:36.411" v="198" actId="20577"/>
          <ac:spMkLst>
            <pc:docMk/>
            <pc:sldMk cId="3868103972" sldId="273"/>
            <ac:spMk id="2" creationId="{1872A898-6329-ADC1-32E4-1EF547E7BDCF}"/>
          </ac:spMkLst>
        </pc:spChg>
        <pc:spChg chg="mod">
          <ac:chgData name="Alex Rios" userId="69fc135ea1c70fd1" providerId="LiveId" clId="{EDAF6266-BA3D-4DCE-A57F-7AEA88DC3424}" dt="2026-08-02T23:56:02.407" v="289" actId="123"/>
          <ac:spMkLst>
            <pc:docMk/>
            <pc:sldMk cId="3868103972" sldId="273"/>
            <ac:spMk id="3" creationId="{A3B8D6D1-E0BF-FEB9-79AF-83523D0C9E16}"/>
          </ac:spMkLst>
        </pc:spChg>
      </pc:sldChg>
      <pc:sldChg chg="modSp add del mod">
        <pc:chgData name="Alex Rios" userId="69fc135ea1c70fd1" providerId="LiveId" clId="{EDAF6266-BA3D-4DCE-A57F-7AEA88DC3424}" dt="2026-08-03T00:07:02.129" v="361" actId="2696"/>
        <pc:sldMkLst>
          <pc:docMk/>
          <pc:sldMk cId="1859074732" sldId="274"/>
        </pc:sldMkLst>
        <pc:spChg chg="mod">
          <ac:chgData name="Alex Rios" userId="69fc135ea1c70fd1" providerId="LiveId" clId="{EDAF6266-BA3D-4DCE-A57F-7AEA88DC3424}" dt="2026-08-03T00:06:54.315" v="360" actId="20577"/>
          <ac:spMkLst>
            <pc:docMk/>
            <pc:sldMk cId="1859074732" sldId="274"/>
            <ac:spMk id="3" creationId="{C0C1FE91-FE45-0677-4EE8-2592309B7B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Vento na grama">
            <a:extLst>
              <a:ext uri="{FF2B5EF4-FFF2-40B4-BE49-F238E27FC236}">
                <a16:creationId xmlns:a16="http://schemas.microsoft.com/office/drawing/2014/main" id="{726C42B4-4253-B8C4-7FB1-2564B55756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0629" r="4156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8000"/>
                </a:srgbClr>
              </a:gs>
              <a:gs pos="48000">
                <a:srgbClr val="000000">
                  <a:alpha val="50000"/>
                </a:srgbClr>
              </a:gs>
              <a:gs pos="78000">
                <a:srgbClr val="000000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ccent Bar"/>
          <p:cNvSpPr/>
          <p:nvPr/>
        </p:nvSpPr>
        <p:spPr>
          <a:xfrm>
            <a:off x="685800" y="2438400"/>
            <a:ext cx="109728" cy="173736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5068" y="2286000"/>
            <a:ext cx="7300000" cy="20421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l"/>
            <a:r>
              <a:rPr lang="pt-BR" sz="4800" b="1" dirty="0">
                <a:solidFill>
                  <a:srgbClr val="FFFFFF"/>
                </a:solidFill>
              </a:rPr>
              <a:t>Agropecuária</a:t>
            </a:r>
            <a:r>
              <a:rPr lang="pt-BR" sz="4400" b="1" dirty="0">
                <a:solidFill>
                  <a:srgbClr val="FFFFFF"/>
                </a:solidFill>
              </a:rPr>
              <a:t> </a:t>
            </a:r>
            <a:br>
              <a:rPr lang="pt-BR" sz="4400" b="1" dirty="0">
                <a:solidFill>
                  <a:srgbClr val="FFFFFF"/>
                </a:solidFill>
              </a:rPr>
            </a:br>
            <a:endParaRPr lang="pt-BR" b="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5068" y="4525963"/>
            <a:ext cx="7300000" cy="60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pt-BR" sz="1800" b="1" spc="200" dirty="0">
                <a:solidFill>
                  <a:srgbClr val="F79646"/>
                </a:solidFill>
              </a:rPr>
              <a:t>GEOGRAFIA</a:t>
            </a:r>
            <a:r>
              <a:rPr lang="pt-BR" sz="1800" b="1" spc="200" dirty="0">
                <a:solidFill>
                  <a:srgbClr val="FFFFFF"/>
                </a:solidFill>
              </a:rPr>
              <a:t> |Livro 2 Frente B Capítulo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EB0ED-9ED1-ACE6-B531-ED5C339A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521642-E7B8-4CD1-26C1-45365F91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pt-BR" sz="3600" dirty="0"/>
              <a:t>Origens da Agricultura e Revolução Agrícola</a:t>
            </a:r>
          </a:p>
        </p:txBody>
      </p:sp>
      <p:sp>
        <p:nvSpPr>
          <p:cNvPr id="206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C124C-2B9F-05CD-0322-281D9A640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endParaRPr lang="pt-BR" sz="1600" b="1" dirty="0"/>
          </a:p>
          <a:p>
            <a:pPr>
              <a:lnSpc>
                <a:spcPct val="90000"/>
              </a:lnSpc>
            </a:pPr>
            <a:r>
              <a:rPr lang="pt-BR" sz="2000" b="1" dirty="0"/>
              <a:t>Idade da Pedra (Paleolítico): caça e coleta</a:t>
            </a:r>
            <a:endParaRPr lang="pt-BR" sz="2000" dirty="0"/>
          </a:p>
          <a:p>
            <a:pPr lvl="1">
              <a:lnSpc>
                <a:spcPct val="90000"/>
              </a:lnSpc>
            </a:pPr>
            <a:r>
              <a:rPr lang="pt-BR" sz="2000" dirty="0"/>
              <a:t>Grupos nômades subsistiam da caça de animais e coleta de plantas selvagens.</a:t>
            </a:r>
          </a:p>
          <a:p>
            <a:pPr lvl="1">
              <a:lnSpc>
                <a:spcPct val="90000"/>
              </a:lnSpc>
            </a:pPr>
            <a:r>
              <a:rPr lang="pt-BR" sz="2000" dirty="0"/>
              <a:t>Ausência de moradias fixas e dependência direta dos recursos naturais disponíveis.</a:t>
            </a:r>
          </a:p>
          <a:p>
            <a:pPr lvl="1">
              <a:lnSpc>
                <a:spcPct val="90000"/>
              </a:lnSpc>
            </a:pPr>
            <a:endParaRPr lang="pt-BR" sz="2000" dirty="0"/>
          </a:p>
          <a:p>
            <a:pPr>
              <a:lnSpc>
                <a:spcPct val="90000"/>
              </a:lnSpc>
            </a:pPr>
            <a:r>
              <a:rPr lang="pt-BR" sz="2000" b="1" dirty="0"/>
              <a:t>Início do Período Neolítico (c. 10.000 a.C.): domesticação</a:t>
            </a:r>
            <a:endParaRPr lang="pt-BR" sz="2000" dirty="0"/>
          </a:p>
          <a:p>
            <a:pPr lvl="1">
              <a:lnSpc>
                <a:spcPct val="90000"/>
              </a:lnSpc>
            </a:pPr>
            <a:r>
              <a:rPr lang="pt-BR" sz="2000" dirty="0"/>
              <a:t>Observação e experimentação levaram à domesticação de plantas (trigo, cevada) e animais (cabras, ovelhas).</a:t>
            </a:r>
          </a:p>
          <a:p>
            <a:pPr lvl="1">
              <a:lnSpc>
                <a:spcPct val="90000"/>
              </a:lnSpc>
            </a:pPr>
            <a:r>
              <a:rPr lang="pt-BR" sz="2000" dirty="0"/>
              <a:t>Surgimento dos primeiros assentamentos permanentes.</a:t>
            </a:r>
          </a:p>
          <a:p>
            <a:pPr marL="0" indent="0">
              <a:lnSpc>
                <a:spcPct val="90000"/>
              </a:lnSpc>
              <a:buNone/>
            </a:pPr>
            <a:endParaRPr lang="pt-BR" sz="1600" b="1" dirty="0"/>
          </a:p>
          <a:p>
            <a:pPr marL="0" indent="0">
              <a:lnSpc>
                <a:spcPct val="90000"/>
              </a:lnSpc>
              <a:buNone/>
            </a:pPr>
            <a:endParaRPr lang="pt-BR" sz="1600" dirty="0"/>
          </a:p>
          <a:p>
            <a:pPr>
              <a:lnSpc>
                <a:spcPct val="90000"/>
              </a:lnSpc>
            </a:pPr>
            <a:endParaRPr lang="pt-BR" sz="1600" dirty="0"/>
          </a:p>
        </p:txBody>
      </p:sp>
      <p:pic>
        <p:nvPicPr>
          <p:cNvPr id="1026" name="Picture 2" descr="Período Neolítico: características e descobertas que transformaram a  história | Blog UNINASSAU - Feito para você não parar de crescer - Blog  UNINASSAU – Feito para você não parar de crescer">
            <a:extLst>
              <a:ext uri="{FF2B5EF4-FFF2-40B4-BE49-F238E27FC236}">
                <a16:creationId xmlns:a16="http://schemas.microsoft.com/office/drawing/2014/main" id="{E7E9B41B-E6B6-1605-BE53-AA2051D82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44" b="-3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Zoom de Slide 4">
                <a:extLst>
                  <a:ext uri="{FF2B5EF4-FFF2-40B4-BE49-F238E27FC236}">
                    <a16:creationId xmlns:a16="http://schemas.microsoft.com/office/drawing/2014/main" id="{3CB71721-984D-636A-3A1C-BCD6B3CB42E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70682184"/>
                  </p:ext>
                </p:extLst>
              </p:nvPr>
            </p:nvGraphicFramePr>
            <p:xfrm>
              <a:off x="7637744" y="3793808"/>
              <a:ext cx="90455" cy="67841"/>
            </p:xfrm>
            <a:graphic>
              <a:graphicData uri="http://schemas.microsoft.com/office/powerpoint/2016/slidezoom">
                <pslz:sldZm>
                  <pslz:sldZmObj sldId="270" cId="1961923763">
                    <pslz:zmPr id="{D741164F-6FBA-4988-862A-C5EB9725EEF7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0455" cy="6784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Zoom de Slide 4">
                <a:extLst>
                  <a:ext uri="{FF2B5EF4-FFF2-40B4-BE49-F238E27FC236}">
                    <a16:creationId xmlns:a16="http://schemas.microsoft.com/office/drawing/2014/main" id="{3CB71721-984D-636A-3A1C-BCD6B3CB42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37744" y="3793808"/>
                <a:ext cx="90455" cy="67841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3911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CDA384-C066-0AB2-6EA7-F994015E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9279D-A29C-4217-1503-9809BB1B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pt-BR" sz="4000" dirty="0"/>
              <a:t>Revolução Agrícola</a:t>
            </a:r>
          </a:p>
        </p:txBody>
      </p:sp>
      <p:sp>
        <p:nvSpPr>
          <p:cNvPr id="206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6187-CCE8-37E2-ABFF-919F3AEF1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5"/>
            <a:ext cx="5035164" cy="4548145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2000" b="1" dirty="0"/>
              <a:t>A Grande Transformação (c. 8.000 a.C. - 3.000 a.C.)</a:t>
            </a:r>
          </a:p>
          <a:p>
            <a:pPr marL="0" indent="0">
              <a:lnSpc>
                <a:spcPct val="90000"/>
              </a:lnSpc>
              <a:buNone/>
            </a:pPr>
            <a:endParaRPr lang="pt-BR" sz="2000" dirty="0"/>
          </a:p>
          <a:p>
            <a:pPr>
              <a:lnSpc>
                <a:spcPct val="90000"/>
              </a:lnSpc>
            </a:pPr>
            <a:r>
              <a:rPr lang="pt-BR" sz="2000" b="1" dirty="0"/>
              <a:t>Transição de caça e coleta para produção de alimentos:</a:t>
            </a:r>
            <a:r>
              <a:rPr lang="pt-BR" sz="2000" dirty="0"/>
              <a:t> Mudança fundamental no modo de vida humano.</a:t>
            </a:r>
          </a:p>
          <a:p>
            <a:pPr>
              <a:lnSpc>
                <a:spcPct val="90000"/>
              </a:lnSpc>
            </a:pPr>
            <a:r>
              <a:rPr lang="pt-BR" sz="2000" b="1" dirty="0"/>
              <a:t>Desenvolvimento de ferramentas:</a:t>
            </a:r>
            <a:r>
              <a:rPr lang="pt-BR" sz="2000" dirty="0"/>
              <a:t> Invenção de arados primitivos, enxadas e sistemas de irrigação.</a:t>
            </a:r>
          </a:p>
          <a:p>
            <a:pPr>
              <a:lnSpc>
                <a:spcPct val="90000"/>
              </a:lnSpc>
            </a:pPr>
            <a:r>
              <a:rPr lang="pt-BR" sz="2000" b="1" dirty="0"/>
              <a:t>Surgimento das primeiras civilizações:</a:t>
            </a:r>
            <a:r>
              <a:rPr lang="pt-BR" sz="2000" dirty="0"/>
              <a:t> Excedentes de alimentos permitiram o crescimento populacional e a especialização do trabalho.</a:t>
            </a:r>
          </a:p>
          <a:p>
            <a:pPr>
              <a:lnSpc>
                <a:spcPct val="90000"/>
              </a:lnSpc>
            </a:pPr>
            <a:r>
              <a:rPr lang="pt-BR" sz="2000" b="1" dirty="0"/>
              <a:t>Impacto social:</a:t>
            </a:r>
            <a:r>
              <a:rPr lang="pt-BR" sz="2000" dirty="0"/>
              <a:t> Formação de vilas e cidades, hierarquias sociais e novas estruturas políticas.</a:t>
            </a:r>
          </a:p>
          <a:p>
            <a:pPr marL="0" indent="0">
              <a:lnSpc>
                <a:spcPct val="90000"/>
              </a:lnSpc>
              <a:buNone/>
            </a:pPr>
            <a:endParaRPr lang="pt-BR" sz="1800" b="1" dirty="0"/>
          </a:p>
          <a:p>
            <a:pPr marL="0" indent="0">
              <a:lnSpc>
                <a:spcPct val="90000"/>
              </a:lnSpc>
              <a:buNone/>
            </a:pPr>
            <a:endParaRPr lang="pt-BR" sz="1800" dirty="0"/>
          </a:p>
          <a:p>
            <a:pPr>
              <a:lnSpc>
                <a:spcPct val="90000"/>
              </a:lnSpc>
            </a:pPr>
            <a:endParaRPr lang="pt-BR" sz="1800" dirty="0"/>
          </a:p>
        </p:txBody>
      </p:sp>
      <p:pic>
        <p:nvPicPr>
          <p:cNvPr id="2050" name="Picture 2" descr="Revolução Agrícola: contexto histórico, causas e características">
            <a:extLst>
              <a:ext uri="{FF2B5EF4-FFF2-40B4-BE49-F238E27FC236}">
                <a16:creationId xmlns:a16="http://schemas.microsoft.com/office/drawing/2014/main" id="{1574B0C1-4A5A-1988-4079-93C12EB65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15" r="33199" b="2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Zoom de Slide 4">
                <a:extLst>
                  <a:ext uri="{FF2B5EF4-FFF2-40B4-BE49-F238E27FC236}">
                    <a16:creationId xmlns:a16="http://schemas.microsoft.com/office/drawing/2014/main" id="{0294C232-73B0-E245-AB65-8C0B17162D8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5415649"/>
                  </p:ext>
                </p:extLst>
              </p:nvPr>
            </p:nvGraphicFramePr>
            <p:xfrm>
              <a:off x="6895517" y="5698759"/>
              <a:ext cx="83895" cy="62921"/>
            </p:xfrm>
            <a:graphic>
              <a:graphicData uri="http://schemas.microsoft.com/office/powerpoint/2016/slidezoom">
                <pslz:sldZm>
                  <pslz:sldZmObj sldId="271" cId="1410431042">
                    <pslz:zmPr id="{5546D680-F1F5-4CDB-A745-68A3FC9BF3C0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3895" cy="6292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Zoom de Slide 4">
                <a:extLst>
                  <a:ext uri="{FF2B5EF4-FFF2-40B4-BE49-F238E27FC236}">
                    <a16:creationId xmlns:a16="http://schemas.microsoft.com/office/drawing/2014/main" id="{0294C232-73B0-E245-AB65-8C0B17162D8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95517" y="5698759"/>
                <a:ext cx="83895" cy="62921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1923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3E342-0C4D-742F-E3D6-A96426664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0FA3A-A976-C4B7-5620-D7B1904B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4000" dirty="0"/>
              <a:t>Da Agricultura Tradicional à Moderna</a:t>
            </a:r>
          </a:p>
        </p:txBody>
      </p:sp>
      <p:sp>
        <p:nvSpPr>
          <p:cNvPr id="309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45D6E-5C8D-DC14-46EA-D35FC2B3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1911493"/>
            <a:ext cx="5035164" cy="4786684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pt-BR" sz="1600" dirty="0"/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600" b="1" dirty="0"/>
              <a:t>Idade Antiga e Média: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600" dirty="0"/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600" b="1" dirty="0"/>
              <a:t>Sistemas Agrícolas:</a:t>
            </a:r>
            <a:r>
              <a:rPr lang="pt-BR" altLang="pt-BR" sz="1600" dirty="0"/>
              <a:t> rotação de culturas, adubação orgânica e tração animal eram as bases.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600" dirty="0"/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600" b="1" dirty="0"/>
              <a:t>Expansão:</a:t>
            </a:r>
            <a:r>
              <a:rPr lang="pt-BR" altLang="pt-BR" sz="1600" dirty="0"/>
              <a:t> crescimento lento e gradual da produção agrícola, ainda limitada pela tecnologia.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600" dirty="0"/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600" b="1" dirty="0"/>
              <a:t>Séculos XVIII e XIX: Revolução Agrícola Britânica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600" dirty="0"/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600" b="1" dirty="0"/>
              <a:t>Novas técnicas:</a:t>
            </a:r>
            <a:r>
              <a:rPr lang="pt-BR" altLang="pt-BR" sz="1600" dirty="0"/>
              <a:t> Cercamento de terras, seleção de sementes, rotação de culturas </a:t>
            </a:r>
            <a:r>
              <a:rPr lang="pt-BR" altLang="pt-BR" sz="1600"/>
              <a:t>mais eficientes.</a:t>
            </a:r>
            <a:endParaRPr lang="pt-BR" altLang="pt-BR" sz="1600" dirty="0"/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600" dirty="0"/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600" b="1" dirty="0"/>
              <a:t>Mecanização inicial:</a:t>
            </a:r>
            <a:r>
              <a:rPr lang="pt-BR" altLang="pt-BR" sz="1600" dirty="0"/>
              <a:t> Uso de máquinas simples (semeadeiras de Jethro Tull).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600" dirty="0"/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600" b="1" dirty="0"/>
              <a:t>Aumento da produtividade:</a:t>
            </a:r>
            <a:r>
              <a:rPr lang="pt-BR" altLang="pt-BR" sz="1600" dirty="0"/>
              <a:t> apoio fundamental para a Revolução Industrial, fornecendo alimentos e mão de obra.</a:t>
            </a:r>
          </a:p>
          <a:p>
            <a:pPr>
              <a:lnSpc>
                <a:spcPct val="90000"/>
              </a:lnSpc>
            </a:pPr>
            <a:endParaRPr lang="pt-BR" sz="1300" dirty="0"/>
          </a:p>
        </p:txBody>
      </p:sp>
      <p:pic>
        <p:nvPicPr>
          <p:cNvPr id="3079" name="Picture 7" descr="Invenções dos Séculos XVIII-XIX: SEMEADEIRA">
            <a:extLst>
              <a:ext uri="{FF2B5EF4-FFF2-40B4-BE49-F238E27FC236}">
                <a16:creationId xmlns:a16="http://schemas.microsoft.com/office/drawing/2014/main" id="{19D8E8DF-1859-34EC-F391-63D7D3E5A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67" r="23452" b="-1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104DD4BB-5C79-81C9-BF46-F1F472BC3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7CE5A1-75C8-9643-EBB7-4885AE2EAADC}"/>
              </a:ext>
            </a:extLst>
          </p:cNvPr>
          <p:cNvSpPr txBox="1"/>
          <p:nvPr/>
        </p:nvSpPr>
        <p:spPr>
          <a:xfrm>
            <a:off x="5756743" y="6375154"/>
            <a:ext cx="2955798" cy="40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https://invencoesseculoxix.blogspot.com/2015/05/semeadeira.html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Zoom de Slide 4">
                <a:extLst>
                  <a:ext uri="{FF2B5EF4-FFF2-40B4-BE49-F238E27FC236}">
                    <a16:creationId xmlns:a16="http://schemas.microsoft.com/office/drawing/2014/main" id="{17C8DA83-3EFF-4036-EB55-5D1E64389AC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1752853"/>
                  </p:ext>
                </p:extLst>
              </p:nvPr>
            </p:nvGraphicFramePr>
            <p:xfrm>
              <a:off x="7061397" y="4408063"/>
              <a:ext cx="68855" cy="51641"/>
            </p:xfrm>
            <a:graphic>
              <a:graphicData uri="http://schemas.microsoft.com/office/powerpoint/2016/slidezoom">
                <pslz:sldZm>
                  <pslz:sldZmObj sldId="272" cId="2948450759">
                    <pslz:zmPr id="{D63254EE-9DB2-4994-8A0B-5EB0E758943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8855" cy="5164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Zoom de Slide 4">
                <a:extLst>
                  <a:ext uri="{FF2B5EF4-FFF2-40B4-BE49-F238E27FC236}">
                    <a16:creationId xmlns:a16="http://schemas.microsoft.com/office/drawing/2014/main" id="{17C8DA83-3EFF-4036-EB55-5D1E64389A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61397" y="4408063"/>
                <a:ext cx="68855" cy="51641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0431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03463-6185-3E24-1CD2-2F81D1B3B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9BB4F0-9A52-B184-13D8-F6D7CB2CB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pt-BR" sz="4700"/>
              <a:t>A Revolução Verde</a:t>
            </a:r>
          </a:p>
        </p:txBody>
      </p:sp>
      <p:sp>
        <p:nvSpPr>
          <p:cNvPr id="410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28ABF-F4F2-C674-DB4E-53E5B310A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795274"/>
          </a:xfrm>
        </p:spPr>
        <p:txBody>
          <a:bodyPr anchor="t">
            <a:normAutofit/>
          </a:bodyPr>
          <a:lstStyle/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b="1" dirty="0"/>
              <a:t>Meados do Século XX (décadas de 1940-1970)</a:t>
            </a:r>
            <a:endParaRPr lang="pt-BR" altLang="pt-BR" sz="1800" dirty="0"/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b="1" dirty="0"/>
              <a:t>Contexto:</a:t>
            </a:r>
            <a:r>
              <a:rPr lang="pt-BR" altLang="pt-BR" sz="1800" dirty="0"/>
              <a:t> crescimento populacional pós-Segunda Guerra Mundial e preocupação com a fome.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b="1" dirty="0"/>
              <a:t>Pilares:</a:t>
            </a:r>
            <a:endParaRPr lang="pt-BR" altLang="pt-BR" sz="1800" dirty="0"/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/>
              <a:t> variedades de sementes de alto rendimento: trigo, arroz e milho geneticamente aprimorados.</a:t>
            </a: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/>
              <a:t> uso intensivo de fertilizantes químicos</a:t>
            </a: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/>
              <a:t> pesticidas e herbicidas</a:t>
            </a: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/>
              <a:t> sistemas de Irrigação.</a:t>
            </a: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/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b="1" dirty="0"/>
              <a:t>Consequências: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/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b="1" dirty="0"/>
              <a:t>Aumento da produtividade:</a:t>
            </a:r>
            <a:r>
              <a:rPr lang="pt-BR" altLang="pt-BR" sz="1800" dirty="0"/>
              <a:t> evitou a fome em muitas regiões do mundo, especialmente na Ásia e América Latina.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b="1" dirty="0"/>
              <a:t>Impactos negativos:</a:t>
            </a:r>
            <a:r>
              <a:rPr lang="pt-BR" altLang="pt-BR" sz="1800" dirty="0"/>
              <a:t> degradação do solo, poluição da água, perda de biodiversidade, dependência de insumos externos e desigualdade social.</a:t>
            </a:r>
          </a:p>
          <a:p>
            <a:pPr marL="0" indent="0">
              <a:lnSpc>
                <a:spcPct val="90000"/>
              </a:lnSpc>
              <a:buNone/>
            </a:pPr>
            <a:endParaRPr lang="pt-BR" sz="1300" dirty="0"/>
          </a:p>
          <a:p>
            <a:pPr>
              <a:lnSpc>
                <a:spcPct val="90000"/>
              </a:lnSpc>
            </a:pPr>
            <a:endParaRPr lang="pt-BR" sz="1300" dirty="0"/>
          </a:p>
        </p:txBody>
      </p:sp>
      <p:pic>
        <p:nvPicPr>
          <p:cNvPr id="4100" name="Picture 4" descr="Revolução Verde: o que foi, origem, características">
            <a:extLst>
              <a:ext uri="{FF2B5EF4-FFF2-40B4-BE49-F238E27FC236}">
                <a16:creationId xmlns:a16="http://schemas.microsoft.com/office/drawing/2014/main" id="{77B52399-B949-0A52-943E-7F5A5DD23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5" r="23143" b="2"/>
          <a:stretch>
            <a:fillRect/>
          </a:stretch>
        </p:blipFill>
        <p:spPr bwMode="auto">
          <a:xfrm>
            <a:off x="5756743" y="2093976"/>
            <a:ext cx="3042368" cy="421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7ABDEDE-7BD4-AA68-ACE6-0486B620C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6D5F3E6-9154-66EA-D437-1332D0522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0E81242-9E28-5556-09C7-36FA1E2BDCAC}"/>
              </a:ext>
            </a:extLst>
          </p:cNvPr>
          <p:cNvSpPr txBox="1"/>
          <p:nvPr/>
        </p:nvSpPr>
        <p:spPr>
          <a:xfrm>
            <a:off x="5756743" y="6337346"/>
            <a:ext cx="2161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Fonte: Brasil Escola</a:t>
            </a:r>
          </a:p>
        </p:txBody>
      </p:sp>
    </p:spTree>
    <p:extLst>
      <p:ext uri="{BB962C8B-B14F-4D97-AF65-F5344CB8AC3E}">
        <p14:creationId xmlns:p14="http://schemas.microsoft.com/office/powerpoint/2010/main" val="294845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Trator em terras agrícolas">
            <a:extLst>
              <a:ext uri="{FF2B5EF4-FFF2-40B4-BE49-F238E27FC236}">
                <a16:creationId xmlns:a16="http://schemas.microsoft.com/office/drawing/2014/main" id="{8040E36E-8F9E-DB22-082D-FB544C0886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1333" b="375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775" y="557189"/>
            <a:ext cx="2644903" cy="5571899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Sistemas Agrícolas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3008" y="310897"/>
            <a:ext cx="5413248" cy="623620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2100" dirty="0">
                <a:solidFill>
                  <a:srgbClr val="FFFFFF"/>
                </a:solidFill>
              </a:rPr>
              <a:t>🌾 Agricultura Intensiva</a:t>
            </a:r>
          </a:p>
          <a:p>
            <a:pPr>
              <a:lnSpc>
                <a:spcPct val="90000"/>
              </a:lnSpc>
            </a:pPr>
            <a:r>
              <a:rPr lang="pt-BR" sz="2100" dirty="0">
                <a:solidFill>
                  <a:srgbClr val="FFFFFF"/>
                </a:solidFill>
              </a:rPr>
              <a:t>- Alta produtividade em pequenas áreas</a:t>
            </a:r>
          </a:p>
          <a:p>
            <a:pPr>
              <a:lnSpc>
                <a:spcPct val="90000"/>
              </a:lnSpc>
            </a:pPr>
            <a:r>
              <a:rPr lang="pt-BR" sz="2100" dirty="0">
                <a:solidFill>
                  <a:srgbClr val="FFFFFF"/>
                </a:solidFill>
              </a:rPr>
              <a:t>- Uso intensivo de máquinas e insumos</a:t>
            </a:r>
          </a:p>
          <a:p>
            <a:pPr>
              <a:lnSpc>
                <a:spcPct val="90000"/>
              </a:lnSpc>
            </a:pPr>
            <a:r>
              <a:rPr lang="pt-BR" sz="2100" dirty="0">
                <a:solidFill>
                  <a:srgbClr val="FFFFFF"/>
                </a:solidFill>
              </a:rPr>
              <a:t>- Exemplo: estufas com tomates ou morangos</a:t>
            </a:r>
          </a:p>
          <a:p>
            <a:pPr>
              <a:lnSpc>
                <a:spcPct val="90000"/>
              </a:lnSpc>
            </a:pPr>
            <a:endParaRPr lang="pt-BR" sz="21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pt-BR" sz="2100" dirty="0">
                <a:solidFill>
                  <a:srgbClr val="FFFFFF"/>
                </a:solidFill>
              </a:rPr>
              <a:t>🔹 Agricultura Extensiva</a:t>
            </a:r>
          </a:p>
          <a:p>
            <a:pPr>
              <a:lnSpc>
                <a:spcPct val="90000"/>
              </a:lnSpc>
            </a:pPr>
            <a:r>
              <a:rPr lang="pt-BR" sz="2100" dirty="0">
                <a:solidFill>
                  <a:srgbClr val="FFFFFF"/>
                </a:solidFill>
              </a:rPr>
              <a:t>- Grandes áreas com baixa produtividade por hectare</a:t>
            </a:r>
          </a:p>
          <a:p>
            <a:pPr>
              <a:lnSpc>
                <a:spcPct val="90000"/>
              </a:lnSpc>
            </a:pPr>
            <a:r>
              <a:rPr lang="pt-BR" sz="2100" dirty="0">
                <a:solidFill>
                  <a:srgbClr val="FFFFFF"/>
                </a:solidFill>
              </a:rPr>
              <a:t>- Pouca tecnologia, uso tradicional</a:t>
            </a:r>
          </a:p>
          <a:p>
            <a:pPr>
              <a:lnSpc>
                <a:spcPct val="90000"/>
              </a:lnSpc>
            </a:pPr>
            <a:r>
              <a:rPr lang="pt-BR" sz="2100" dirty="0">
                <a:solidFill>
                  <a:srgbClr val="FFFFFF"/>
                </a:solidFill>
              </a:rPr>
              <a:t>- Exemplo: pecuária extensiva no Pantanal</a:t>
            </a:r>
          </a:p>
          <a:p>
            <a:pPr>
              <a:lnSpc>
                <a:spcPct val="90000"/>
              </a:lnSpc>
            </a:pPr>
            <a:endParaRPr lang="pt-BR" sz="21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pt-BR" sz="2100" dirty="0">
                <a:solidFill>
                  <a:srgbClr val="FFFFFF"/>
                </a:solidFill>
              </a:rPr>
              <a:t>🔹 Agricultura Semi-intensiva</a:t>
            </a:r>
          </a:p>
          <a:p>
            <a:pPr>
              <a:lnSpc>
                <a:spcPct val="90000"/>
              </a:lnSpc>
            </a:pPr>
            <a:r>
              <a:rPr lang="pt-BR" sz="2100" dirty="0">
                <a:solidFill>
                  <a:srgbClr val="FFFFFF"/>
                </a:solidFill>
              </a:rPr>
              <a:t>- Mistura de técnicas modernas e tradicionais</a:t>
            </a:r>
          </a:p>
          <a:p>
            <a:pPr>
              <a:lnSpc>
                <a:spcPct val="90000"/>
              </a:lnSpc>
            </a:pPr>
            <a:r>
              <a:rPr lang="pt-BR" sz="2100" dirty="0">
                <a:solidFill>
                  <a:srgbClr val="FFFFFF"/>
                </a:solidFill>
              </a:rPr>
              <a:t>- Tecnologia moderada e produção variada</a:t>
            </a:r>
          </a:p>
          <a:p>
            <a:pPr>
              <a:lnSpc>
                <a:spcPct val="90000"/>
              </a:lnSpc>
            </a:pPr>
            <a:r>
              <a:rPr lang="pt-BR" sz="2100" dirty="0">
                <a:solidFill>
                  <a:srgbClr val="FFFFFF"/>
                </a:solidFill>
              </a:rPr>
              <a:t>- Exemplo: lavouras com adubação orgânica e tratores simples.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A27509-AEF0-CA9E-C46E-BAD26A861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C35D606-FEC1-B7BB-8D4E-D1863F513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2173D7-BA9F-CA9C-9E3E-EF100F5AB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Trator em terras agrícolas">
            <a:extLst>
              <a:ext uri="{FF2B5EF4-FFF2-40B4-BE49-F238E27FC236}">
                <a16:creationId xmlns:a16="http://schemas.microsoft.com/office/drawing/2014/main" id="{52DE5D2E-AA8A-09F5-12E4-A4062542E7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1333" b="375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72A898-6329-ADC1-32E4-1EF547E7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75" y="557189"/>
            <a:ext cx="2644903" cy="5571899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Modos de Produção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8D6D1-E0BF-FEB9-79AF-83523D0C9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3008" y="310897"/>
            <a:ext cx="5413248" cy="6236208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2400" dirty="0">
                <a:solidFill>
                  <a:srgbClr val="FFFFFF"/>
                </a:solidFill>
              </a:rPr>
              <a:t>🔹 </a:t>
            </a:r>
            <a:r>
              <a:rPr lang="pt-BR" sz="2400" b="1" dirty="0">
                <a:solidFill>
                  <a:srgbClr val="FFFFFF"/>
                </a:solidFill>
              </a:rPr>
              <a:t>Agricultura Tradicional</a:t>
            </a:r>
          </a:p>
          <a:p>
            <a:pPr marL="0" indent="0">
              <a:lnSpc>
                <a:spcPct val="90000"/>
              </a:lnSpc>
              <a:buNone/>
            </a:pPr>
            <a:endParaRPr lang="pt-BR" sz="2300" dirty="0">
              <a:solidFill>
                <a:srgbClr val="FFFFFF"/>
              </a:solidFill>
            </a:endParaRPr>
          </a:p>
          <a:p>
            <a:pPr algn="just">
              <a:lnSpc>
                <a:spcPct val="90000"/>
              </a:lnSpc>
            </a:pPr>
            <a:r>
              <a:rPr lang="pt-BR" sz="2200" dirty="0">
                <a:solidFill>
                  <a:srgbClr val="FFFFFF"/>
                </a:solidFill>
              </a:rPr>
              <a:t>- </a:t>
            </a:r>
            <a:r>
              <a:rPr lang="pt-BR" sz="2200" dirty="0">
                <a:solidFill>
                  <a:schemeClr val="bg1"/>
                </a:solidFill>
              </a:rPr>
              <a:t>Subsistência e abastecimento de mercados locais.</a:t>
            </a:r>
          </a:p>
          <a:p>
            <a:pPr algn="just">
              <a:lnSpc>
                <a:spcPct val="90000"/>
              </a:lnSpc>
            </a:pPr>
            <a:r>
              <a:rPr lang="pt-BR" sz="2200" dirty="0">
                <a:solidFill>
                  <a:srgbClr val="FFFFFF"/>
                </a:solidFill>
              </a:rPr>
              <a:t>- </a:t>
            </a:r>
            <a:r>
              <a:rPr lang="pt-BR" sz="2200" dirty="0">
                <a:solidFill>
                  <a:schemeClr val="bg1"/>
                </a:solidFill>
              </a:rPr>
              <a:t>Práticas antigas passadas por gerações, dependência de tração animal ou força humana.</a:t>
            </a:r>
          </a:p>
          <a:p>
            <a:pPr algn="just">
              <a:lnSpc>
                <a:spcPct val="90000"/>
              </a:lnSpc>
            </a:pPr>
            <a:r>
              <a:rPr lang="pt-BR" sz="2200" dirty="0">
                <a:solidFill>
                  <a:schemeClr val="bg1"/>
                </a:solidFill>
              </a:rPr>
              <a:t>- Sementes crioulas, adubação orgânica e controle manual de pragas</a:t>
            </a:r>
          </a:p>
          <a:p>
            <a:pPr algn="just">
              <a:lnSpc>
                <a:spcPct val="90000"/>
              </a:lnSpc>
            </a:pPr>
            <a:r>
              <a:rPr lang="pt-BR" sz="2200" dirty="0">
                <a:solidFill>
                  <a:schemeClr val="bg1"/>
                </a:solidFill>
              </a:rPr>
              <a:t>- Exemplos: agricultura itinerante e agricultura de jardinagem tradicional</a:t>
            </a:r>
          </a:p>
          <a:p>
            <a:pPr algn="just">
              <a:lnSpc>
                <a:spcPct val="90000"/>
              </a:lnSpc>
            </a:pPr>
            <a:endParaRPr lang="pt-BR" sz="2200" dirty="0">
              <a:solidFill>
                <a:srgbClr val="FFFFFF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pt-BR" sz="2200" dirty="0">
                <a:solidFill>
                  <a:srgbClr val="FFFFFF"/>
                </a:solidFill>
              </a:rPr>
              <a:t>🔹 </a:t>
            </a:r>
            <a:r>
              <a:rPr lang="pt-BR" sz="2400" b="1" dirty="0">
                <a:solidFill>
                  <a:srgbClr val="FFFFFF"/>
                </a:solidFill>
              </a:rPr>
              <a:t>Agricultura Moderna</a:t>
            </a:r>
          </a:p>
          <a:p>
            <a:pPr marL="0" indent="0" algn="just">
              <a:lnSpc>
                <a:spcPct val="90000"/>
              </a:lnSpc>
              <a:buNone/>
            </a:pPr>
            <a:endParaRPr lang="pt-BR" sz="2200" dirty="0">
              <a:solidFill>
                <a:srgbClr val="FFFFFF"/>
              </a:solidFill>
            </a:endParaRPr>
          </a:p>
          <a:p>
            <a:pPr algn="just">
              <a:lnSpc>
                <a:spcPct val="90000"/>
              </a:lnSpc>
            </a:pPr>
            <a:r>
              <a:rPr lang="pt-BR" sz="2200" dirty="0">
                <a:solidFill>
                  <a:schemeClr val="bg1"/>
                </a:solidFill>
              </a:rPr>
              <a:t>-  Exportação, agroindústria e comércio em larga escala.</a:t>
            </a:r>
          </a:p>
          <a:p>
            <a:pPr algn="just">
              <a:lnSpc>
                <a:spcPct val="90000"/>
              </a:lnSpc>
            </a:pPr>
            <a:r>
              <a:rPr lang="pt-BR" sz="2200" dirty="0">
                <a:solidFill>
                  <a:schemeClr val="bg1"/>
                </a:solidFill>
              </a:rPr>
              <a:t>- Biotecnologia, sementes transgênicas, GPS, drones e maquinário automatizado.</a:t>
            </a:r>
          </a:p>
          <a:p>
            <a:pPr algn="just">
              <a:lnSpc>
                <a:spcPct val="90000"/>
              </a:lnSpc>
            </a:pPr>
            <a:r>
              <a:rPr lang="pt-BR" sz="2200" dirty="0">
                <a:solidFill>
                  <a:schemeClr val="bg1"/>
                </a:solidFill>
              </a:rPr>
              <a:t>- Fertilizantes sintéticos, defensivos químicos e sistemas avançados de irrigação.</a:t>
            </a:r>
          </a:p>
          <a:p>
            <a:pPr algn="just">
              <a:lnSpc>
                <a:spcPct val="90000"/>
              </a:lnSpc>
            </a:pPr>
            <a:r>
              <a:rPr lang="pt-BR" sz="2200" dirty="0">
                <a:solidFill>
                  <a:schemeClr val="bg1"/>
                </a:solidFill>
              </a:rPr>
              <a:t>- Exemplos: grandes lavouras de soja e milho no Centro-Oeste brasileiro</a:t>
            </a:r>
          </a:p>
          <a:p>
            <a:pPr>
              <a:lnSpc>
                <a:spcPct val="90000"/>
              </a:lnSpc>
            </a:pPr>
            <a:endParaRPr lang="pt-BR" sz="21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pt-BR" sz="21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103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B4A6C-71E4-E4FB-B8A0-8161DDD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8B597-6D4D-6D95-9E6E-C6FA3CB1C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934" y="501651"/>
            <a:ext cx="4599704" cy="595629"/>
          </a:xfrm>
        </p:spPr>
        <p:txBody>
          <a:bodyPr anchor="b">
            <a:normAutofit/>
          </a:bodyPr>
          <a:lstStyle/>
          <a:p>
            <a:r>
              <a:rPr lang="pt-BR" sz="3200" dirty="0"/>
              <a:t>Tipos de Agricultura</a:t>
            </a:r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Agricultura de subsistência - Toda Matéria">
            <a:extLst>
              <a:ext uri="{FF2B5EF4-FFF2-40B4-BE49-F238E27FC236}">
                <a16:creationId xmlns:a16="http://schemas.microsoft.com/office/drawing/2014/main" id="{9F3CCD46-368A-C92B-F54F-BFB380A34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03" r="24769" b="-1"/>
          <a:stretch>
            <a:fillRect/>
          </a:stretch>
        </p:blipFill>
        <p:spPr bwMode="auto">
          <a:xfrm>
            <a:off x="209357" y="299509"/>
            <a:ext cx="3916219" cy="625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6EF53-57A3-7BFB-3B64-5BEC874DA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4290" y="1389888"/>
            <a:ext cx="3935971" cy="5168604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2400" dirty="0">
                <a:solidFill>
                  <a:schemeClr val="tx1">
                    <a:alpha val="80000"/>
                  </a:schemeClr>
                </a:solidFill>
              </a:rPr>
              <a:t>🔹 </a:t>
            </a:r>
            <a:r>
              <a:rPr lang="pt-BR" sz="2400" b="1" dirty="0">
                <a:solidFill>
                  <a:schemeClr val="tx1">
                    <a:alpha val="80000"/>
                  </a:schemeClr>
                </a:solidFill>
              </a:rPr>
              <a:t>Agricultura de Subsistência</a:t>
            </a:r>
          </a:p>
          <a:p>
            <a:pPr>
              <a:lnSpc>
                <a:spcPct val="90000"/>
              </a:lnSpc>
            </a:pPr>
            <a:endParaRPr lang="pt-BR" sz="19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Foco: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Produção voltada primariamente para o </a:t>
            </a: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autoconsumo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da família ou da comunidade, com o excedente raramente comercializado.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Características: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Emprego de técnicas tradicionais, uso de baixa tecnologia e dependência de condições climáticas. </a:t>
            </a:r>
            <a:r>
              <a:rPr lang="pt-BR" sz="1900" b="1" dirty="0" err="1">
                <a:solidFill>
                  <a:schemeClr val="tx1">
                    <a:alpha val="80000"/>
                  </a:schemeClr>
                </a:solidFill>
              </a:rPr>
              <a:t>Policultivo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(diversas culturas na mesma área) é comum para garantir a segurança alimentar.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Contexto: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Essencial para a sobrevivência de comunidades rurais em diversas partes do mundo, especialmente em regiões menos desenvolvidas.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Exemplo: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Pequenas roças e cultivos diversificados para consumo próprio no interior do Nordeste brasileiro e em comunidades indígenas.</a:t>
            </a:r>
          </a:p>
          <a:p>
            <a:pPr marL="0" indent="0">
              <a:lnSpc>
                <a:spcPct val="90000"/>
              </a:lnSpc>
              <a:buNone/>
            </a:pPr>
            <a:endParaRPr lang="pt-BR" sz="13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pt-BR" sz="13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787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D1C6B-B0C7-ECE6-1E2D-20E2982D5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3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62DE2-4398-E21D-8091-24D17A99E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341" y="365125"/>
            <a:ext cx="3630007" cy="183515"/>
          </a:xfrm>
        </p:spPr>
        <p:txBody>
          <a:bodyPr>
            <a:noAutofit/>
          </a:bodyPr>
          <a:lstStyle/>
          <a:p>
            <a:r>
              <a:rPr lang="pt-BR" sz="3200" dirty="0"/>
              <a:t>Tipos de Agricultura</a:t>
            </a:r>
          </a:p>
        </p:txBody>
      </p:sp>
      <p:pic>
        <p:nvPicPr>
          <p:cNvPr id="1029" name="Picture 5" descr="Agricultura e modelos de produção em Geografia | Descomplica">
            <a:extLst>
              <a:ext uri="{FF2B5EF4-FFF2-40B4-BE49-F238E27FC236}">
                <a16:creationId xmlns:a16="http://schemas.microsoft.com/office/drawing/2014/main" id="{E8692F2B-0BA7-C6E6-84F5-C7DFD432D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89" r="17359"/>
          <a:stretch>
            <a:fillRect/>
          </a:stretch>
        </p:blipFill>
        <p:spPr bwMode="auto">
          <a:xfrm>
            <a:off x="20" y="10"/>
            <a:ext cx="4587406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F1C61-43BB-A038-09BD-F9BE39880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341" y="913764"/>
            <a:ext cx="4039203" cy="594423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2200" dirty="0"/>
              <a:t>🔹 </a:t>
            </a:r>
            <a:r>
              <a:rPr lang="pt-BR" sz="2200" b="1" dirty="0"/>
              <a:t>Agricultura de Jardinagem</a:t>
            </a:r>
          </a:p>
          <a:p>
            <a:pPr marL="0" indent="0">
              <a:lnSpc>
                <a:spcPct val="90000"/>
              </a:lnSpc>
              <a:buNone/>
            </a:pPr>
            <a:endParaRPr lang="pt-BR" sz="1900" b="1" dirty="0"/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/>
              <a:t>Foco:</a:t>
            </a:r>
            <a:r>
              <a:rPr lang="pt-BR" sz="1900" dirty="0"/>
              <a:t> Cultivo intensivo em pequenas propriedades, com alta demanda de mão de obra humana e uso eficiente do espaço.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/>
              <a:t>Características:</a:t>
            </a:r>
            <a:r>
              <a:rPr lang="pt-BR" sz="1900" dirty="0"/>
              <a:t> Elevada produtividade por área, frequentemente com múltiplas safras ao longo do ano. Uso de técnicas como terraços para otimizar o terreno.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/>
              <a:t>Contexto Geográfico:</a:t>
            </a:r>
            <a:r>
              <a:rPr lang="pt-BR" sz="1900" dirty="0"/>
              <a:t> Comum em regiões densamente povoadas da Ásia, onde a terra é escassa e a demanda por alimentos é alta.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/>
              <a:t>Exemplo:</a:t>
            </a:r>
            <a:r>
              <a:rPr lang="pt-BR" sz="1900" dirty="0"/>
              <a:t> Os famosos arrozais em terraços no Sudeste Asiático (como Vietnã, Indonésia e Filipinas), onde cada pequeno lote é cultivado meticulosamente.</a:t>
            </a:r>
          </a:p>
        </p:txBody>
      </p:sp>
    </p:spTree>
    <p:extLst>
      <p:ext uri="{BB962C8B-B14F-4D97-AF65-F5344CB8AC3E}">
        <p14:creationId xmlns:p14="http://schemas.microsoft.com/office/powerpoint/2010/main" val="2461426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2054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4678" y="501651"/>
            <a:ext cx="4789322" cy="577341"/>
          </a:xfrm>
        </p:spPr>
        <p:txBody>
          <a:bodyPr anchor="b">
            <a:noAutofit/>
          </a:bodyPr>
          <a:lstStyle/>
          <a:p>
            <a:r>
              <a:rPr lang="pt-BR" sz="3200" dirty="0"/>
              <a:t>Tipos de Agricultura</a:t>
            </a:r>
          </a:p>
        </p:txBody>
      </p:sp>
      <p:sp>
        <p:nvSpPr>
          <p:cNvPr id="2053" name="Rectangle 2056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O Que É Agricultura e Quais os Tipos Encontrados no Brasil?">
            <a:extLst>
              <a:ext uri="{FF2B5EF4-FFF2-40B4-BE49-F238E27FC236}">
                <a16:creationId xmlns:a16="http://schemas.microsoft.com/office/drawing/2014/main" id="{654F711B-1329-F442-D3AE-6E03A716B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00" r="24605" b="1"/>
          <a:stretch>
            <a:fillRect/>
          </a:stretch>
        </p:blipFill>
        <p:spPr bwMode="auto">
          <a:xfrm>
            <a:off x="209357" y="299509"/>
            <a:ext cx="3916219" cy="625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444752"/>
            <a:ext cx="4145330" cy="5113740"/>
          </a:xfrm>
        </p:spPr>
        <p:txBody>
          <a:bodyPr anchor="t">
            <a:normAutofit fontScale="925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2200" dirty="0">
                <a:solidFill>
                  <a:schemeClr val="tx1">
                    <a:alpha val="80000"/>
                  </a:schemeClr>
                </a:solidFill>
              </a:rPr>
              <a:t>🔹 </a:t>
            </a:r>
            <a:r>
              <a:rPr lang="pt-BR" sz="2200" b="1" dirty="0">
                <a:solidFill>
                  <a:schemeClr val="tx1">
                    <a:alpha val="80000"/>
                  </a:schemeClr>
                </a:solidFill>
              </a:rPr>
              <a:t>Agricultura Comercial (Moderna)</a:t>
            </a:r>
          </a:p>
          <a:p>
            <a:pPr marL="0" indent="0">
              <a:lnSpc>
                <a:spcPct val="90000"/>
              </a:lnSpc>
              <a:buNone/>
            </a:pPr>
            <a:endParaRPr lang="pt-BR" sz="19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Foco: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Produção em larga escala para o mercado interno e, principalmente, para </a:t>
            </a: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exportação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Características: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Alta </a:t>
            </a: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tecnologia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e mecanização, predominância de </a:t>
            </a: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monoculturas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(cultivo de uma única espécie vegetal em grandes áreas) para otimização da produção.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Impactos: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Contribui significativamente para o PIB agrícola e a balança comercial do país, mas pode gerar </a:t>
            </a: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impactos ambientais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como desmatamento e uso intensivo de agrotóxicos.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Exemplo: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Grandes lavouras de soja, milho e algodão no agronegócio brasileiro, especialmente no Centro-Oeste.</a:t>
            </a:r>
          </a:p>
          <a:p>
            <a:pPr marL="0" indent="0">
              <a:lnSpc>
                <a:spcPct val="90000"/>
              </a:lnSpc>
              <a:buNone/>
            </a:pPr>
            <a:endParaRPr lang="pt-BR" sz="13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pt-BR" sz="13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054" name="Straight Connector 205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C5D7B-9F07-3B50-E55B-0DB04F1C1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4" name="Rectangle 718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172" name="Picture 4" descr="Diagrama, Mapa&#10;&#10;O conteúdo gerado por IA pode estar incorreto.">
            <a:extLst>
              <a:ext uri="{FF2B5EF4-FFF2-40B4-BE49-F238E27FC236}">
                <a16:creationId xmlns:a16="http://schemas.microsoft.com/office/drawing/2014/main" id="{F4BEF250-CD31-E516-1321-0886A4D1F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3" b="2"/>
          <a:stretch>
            <a:fillRect/>
          </a:stretch>
        </p:blipFill>
        <p:spPr bwMode="auto">
          <a:xfrm>
            <a:off x="20" y="1282"/>
            <a:ext cx="9143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925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DC90E8-8922-DEA5-6415-07C090D49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6009D-9258-F86C-1D16-B15A30473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021" y="3180177"/>
            <a:ext cx="8922258" cy="2067179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1900" dirty="0"/>
              <a:t>🔹 </a:t>
            </a:r>
            <a:r>
              <a:rPr lang="pt-BR" sz="2200" b="1" dirty="0"/>
              <a:t>Agricultura de Precisão</a:t>
            </a:r>
          </a:p>
          <a:p>
            <a:pPr marL="0" indent="0">
              <a:lnSpc>
                <a:spcPct val="90000"/>
              </a:lnSpc>
              <a:buNone/>
            </a:pPr>
            <a:endParaRPr lang="pt-BR" sz="1900" b="1" dirty="0"/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/>
              <a:t>Foco:</a:t>
            </a:r>
            <a:r>
              <a:rPr lang="pt-BR" sz="1900" dirty="0"/>
              <a:t> Otimização da produção agrícola através do uso de tecnologia avançada para gerenciar a variabilidade espacial e temporal nas lavouras.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/>
              <a:t>Características:</a:t>
            </a:r>
            <a:r>
              <a:rPr lang="pt-BR" sz="1900" dirty="0"/>
              <a:t> Utilização de GPS, drones, sensores, softwares de análise de dados e máquinas automatizadas. Permite aplicar insumos (água, fertilizantes, defensivos) apenas onde e quando necessário.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/>
              <a:t>Benefícios:</a:t>
            </a:r>
            <a:r>
              <a:rPr lang="pt-BR" sz="1900" dirty="0"/>
              <a:t> Redução de custos e desperdícios, aumento da produtividade, menor impacto ambiental e melhor gestão dos recursos.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/>
              <a:t>Exemplo:</a:t>
            </a:r>
            <a:r>
              <a:rPr lang="pt-BR" sz="1900" dirty="0"/>
              <a:t> Tratores equipados com sistemas de piloto automático e controle via satélite para plantio e colheita, drones para monitoramento de pragas e aplicação localizada de defensivos.</a:t>
            </a:r>
          </a:p>
        </p:txBody>
      </p:sp>
      <p:pic>
        <p:nvPicPr>
          <p:cNvPr id="6146" name="Picture 2" descr="Agricultura de precisão ganha espaço no campo e pode aumentar produtividade">
            <a:extLst>
              <a:ext uri="{FF2B5EF4-FFF2-40B4-BE49-F238E27FC236}">
                <a16:creationId xmlns:a16="http://schemas.microsoft.com/office/drawing/2014/main" id="{9A0A4033-5D15-B24C-F805-CCED8B95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0" b="18407"/>
          <a:stretch>
            <a:fillRect/>
          </a:stretch>
        </p:blipFill>
        <p:spPr bwMode="auto">
          <a:xfrm>
            <a:off x="1073254" y="138939"/>
            <a:ext cx="7299792" cy="265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7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C2147-C9B3-7464-04C0-679B7739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C0B1E-CB38-6A3F-8E47-1C8593CBD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436" y="841248"/>
            <a:ext cx="4140203" cy="339597"/>
          </a:xfrm>
        </p:spPr>
        <p:txBody>
          <a:bodyPr anchor="b">
            <a:noAutofit/>
          </a:bodyPr>
          <a:lstStyle/>
          <a:p>
            <a:r>
              <a:rPr lang="pt-BR" sz="3200" dirty="0"/>
              <a:t>Tipos de Agricultura (mão de obra)</a:t>
            </a: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Agricultura Familiar: conceito, características e importância - Toda Matéria">
            <a:extLst>
              <a:ext uri="{FF2B5EF4-FFF2-40B4-BE49-F238E27FC236}">
                <a16:creationId xmlns:a16="http://schemas.microsoft.com/office/drawing/2014/main" id="{9034B32A-D0B0-BF27-EEB5-BF0A63821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88" r="30403"/>
          <a:stretch>
            <a:fillRect/>
          </a:stretch>
        </p:blipFill>
        <p:spPr bwMode="auto">
          <a:xfrm>
            <a:off x="209357" y="299509"/>
            <a:ext cx="3916219" cy="625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9FE7-9197-5EA7-6CEC-74077BC51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4291" y="1342898"/>
            <a:ext cx="3935972" cy="5215593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2400" dirty="0">
                <a:solidFill>
                  <a:schemeClr val="tx1">
                    <a:alpha val="80000"/>
                  </a:schemeClr>
                </a:solidFill>
              </a:rPr>
              <a:t>🔹 </a:t>
            </a:r>
            <a:r>
              <a:rPr lang="pt-BR" sz="2400" b="1" dirty="0">
                <a:solidFill>
                  <a:schemeClr val="tx1">
                    <a:alpha val="80000"/>
                  </a:schemeClr>
                </a:solidFill>
              </a:rPr>
              <a:t>Agricultura Familiar</a:t>
            </a:r>
          </a:p>
          <a:p>
            <a:pPr marL="0" indent="0">
              <a:lnSpc>
                <a:spcPct val="90000"/>
              </a:lnSpc>
              <a:buNone/>
            </a:pPr>
            <a:endParaRPr lang="pt-BR" sz="1900" b="1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Foco: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Pequenas e médias propriedades rurais, com a </a:t>
            </a: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mão de obra predominantemente da própria família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. Pode ter caráter de subsistência ou comercial.</a:t>
            </a:r>
          </a:p>
          <a:p>
            <a:pPr>
              <a:lnSpc>
                <a:spcPct val="90000"/>
              </a:lnSpc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Características: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Diversidade de cultivos e criações, forte ligação com a cultura local e os alimentos regionais. Responsável por grande parte da produção de alimentos consumidos internamente.</a:t>
            </a:r>
          </a:p>
          <a:p>
            <a:pPr>
              <a:lnSpc>
                <a:spcPct val="90000"/>
              </a:lnSpc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Importância: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Fundamental para a segurança alimentar do país, geração de renda no campo e manutenção das tradições rurais.</a:t>
            </a:r>
          </a:p>
          <a:p>
            <a:pPr>
              <a:lnSpc>
                <a:spcPct val="90000"/>
              </a:lnSpc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Exemplo: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Produção de hortaliças orgânicas, frutas, laticínios e outros produtos artesanais vendidos em feiras locais e para programas de alimentação escolar</a:t>
            </a:r>
          </a:p>
          <a:p>
            <a:pPr>
              <a:lnSpc>
                <a:spcPct val="90000"/>
              </a:lnSpc>
            </a:pPr>
            <a:endParaRPr lang="pt-BR" sz="12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334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80DD6-4508-E9BB-F3F7-51F25E15F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6" name="Rectangle 513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4C5BCF-6222-A09F-6758-2669E450F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436" y="892663"/>
            <a:ext cx="3709483" cy="395435"/>
          </a:xfrm>
        </p:spPr>
        <p:txBody>
          <a:bodyPr anchor="b">
            <a:noAutofit/>
          </a:bodyPr>
          <a:lstStyle/>
          <a:p>
            <a:r>
              <a:rPr lang="pt-BR" sz="3200" dirty="0"/>
              <a:t>Tipos de Agricultura (mão de obra)</a:t>
            </a:r>
          </a:p>
        </p:txBody>
      </p:sp>
      <p:sp>
        <p:nvSpPr>
          <p:cNvPr id="5138" name="Rectangle 513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Agricultura Patronal: Eficiência e Sustentabilidade no Campo">
            <a:extLst>
              <a:ext uri="{FF2B5EF4-FFF2-40B4-BE49-F238E27FC236}">
                <a16:creationId xmlns:a16="http://schemas.microsoft.com/office/drawing/2014/main" id="{9A8E22B5-1A43-0AEA-C73A-DD682E076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0" r="14802" b="-1"/>
          <a:stretch>
            <a:fillRect/>
          </a:stretch>
        </p:blipFill>
        <p:spPr bwMode="auto">
          <a:xfrm>
            <a:off x="209357" y="299509"/>
            <a:ext cx="3916219" cy="625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E252C-9526-0970-E9FB-E32B98D90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9363" y="1891862"/>
            <a:ext cx="3959628" cy="4666630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2200" dirty="0">
                <a:solidFill>
                  <a:schemeClr val="tx1">
                    <a:alpha val="80000"/>
                  </a:schemeClr>
                </a:solidFill>
              </a:rPr>
              <a:t>🔹 </a:t>
            </a:r>
            <a:r>
              <a:rPr lang="pt-BR" sz="2200" b="1" dirty="0">
                <a:solidFill>
                  <a:schemeClr val="tx1">
                    <a:alpha val="80000"/>
                  </a:schemeClr>
                </a:solidFill>
              </a:rPr>
              <a:t>Agricultura Patronal</a:t>
            </a:r>
          </a:p>
          <a:p>
            <a:pPr marL="0" indent="0">
              <a:lnSpc>
                <a:spcPct val="90000"/>
              </a:lnSpc>
              <a:buNone/>
            </a:pPr>
            <a:endParaRPr lang="pt-BR" sz="19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pt-BR" sz="1900" b="1" dirty="0">
                <a:solidFill>
                  <a:schemeClr val="tx1">
                    <a:alpha val="80000"/>
                  </a:schemeClr>
                </a:solidFill>
              </a:rPr>
              <a:t>Diferença da Comercial:</a:t>
            </a:r>
            <a:r>
              <a:rPr lang="pt-BR" sz="1900" dirty="0">
                <a:solidFill>
                  <a:schemeClr val="tx1">
                    <a:alpha val="80000"/>
                  </a:schemeClr>
                </a:solidFill>
              </a:rPr>
              <a:t> A ênfase é na estrutura de gestão e mão de obra (patrão/empregado) em contraste com a agricultura familiar.</a:t>
            </a:r>
          </a:p>
          <a:p>
            <a:pPr>
              <a:lnSpc>
                <a:spcPct val="90000"/>
              </a:lnSpc>
            </a:pPr>
            <a:endParaRPr lang="pt-BR" sz="13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5140" name="Straight Connector 513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458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1134</Words>
  <Application>Microsoft Office PowerPoint</Application>
  <PresentationFormat>Apresentação na tela (4:3)</PresentationFormat>
  <Paragraphs>117</Paragraphs>
  <Slides>14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Agropecuária  </vt:lpstr>
      <vt:lpstr>Origens da Agricultura e Revolução Agrícola</vt:lpstr>
      <vt:lpstr>Revolução Agrícola</vt:lpstr>
      <vt:lpstr>Da Agricultura Tradicional à Moderna</vt:lpstr>
      <vt:lpstr>A Revolução Verde</vt:lpstr>
      <vt:lpstr>Sistemas Agrícolas</vt:lpstr>
      <vt:lpstr>Modos de Produção</vt:lpstr>
      <vt:lpstr>Tipos de Agricultura</vt:lpstr>
      <vt:lpstr>Tipos de Agricultura</vt:lpstr>
      <vt:lpstr>Tipos de Agricultura</vt:lpstr>
      <vt:lpstr>Apresentação do PowerPoint</vt:lpstr>
      <vt:lpstr>Apresentação do PowerPoint</vt:lpstr>
      <vt:lpstr>Tipos de Agricultura (mão de obra)</vt:lpstr>
      <vt:lpstr>Tipos de Agricultura (mão de obra)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Rios</cp:lastModifiedBy>
  <cp:revision>1</cp:revision>
  <dcterms:created xsi:type="dcterms:W3CDTF">2013-01-27T09:14:16Z</dcterms:created>
  <dcterms:modified xsi:type="dcterms:W3CDTF">2026-08-03T00:10:11Z</dcterms:modified>
  <cp:category/>
</cp:coreProperties>
</file>