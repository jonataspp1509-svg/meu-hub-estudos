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2" r:id="rId5"/>
    <p:sldId id="259" r:id="rId6"/>
    <p:sldId id="260" r:id="rId7"/>
    <p:sldId id="263" r:id="rId8"/>
    <p:sldId id="261" r:id="rId9"/>
    <p:sldId id="282" r:id="rId10"/>
    <p:sldId id="264" r:id="rId11"/>
    <p:sldId id="304" r:id="rId12"/>
    <p:sldId id="265" r:id="rId13"/>
    <p:sldId id="266" r:id="rId14"/>
    <p:sldId id="267" r:id="rId15"/>
    <p:sldId id="307" r:id="rId16"/>
    <p:sldId id="308" r:id="rId17"/>
    <p:sldId id="305" r:id="rId18"/>
    <p:sldId id="268" r:id="rId19"/>
    <p:sldId id="296" r:id="rId20"/>
    <p:sldId id="306" r:id="rId21"/>
    <p:sldId id="303" r:id="rId22"/>
    <p:sldId id="302" r:id="rId23"/>
    <p:sldId id="297" r:id="rId24"/>
    <p:sldId id="298" r:id="rId25"/>
    <p:sldId id="299" r:id="rId26"/>
    <p:sldId id="300" r:id="rId27"/>
    <p:sldId id="301" r:id="rId28"/>
    <p:sldId id="288" r:id="rId29"/>
    <p:sldId id="289" r:id="rId30"/>
    <p:sldId id="270" r:id="rId31"/>
    <p:sldId id="272" r:id="rId32"/>
    <p:sldId id="273" r:id="rId33"/>
    <p:sldId id="276" r:id="rId34"/>
    <p:sldId id="277" r:id="rId35"/>
    <p:sldId id="278" r:id="rId36"/>
    <p:sldId id="290" r:id="rId37"/>
    <p:sldId id="271" r:id="rId38"/>
    <p:sldId id="291" r:id="rId39"/>
    <p:sldId id="275" r:id="rId40"/>
    <p:sldId id="269" r:id="rId41"/>
    <p:sldId id="274" r:id="rId42"/>
    <p:sldId id="292" r:id="rId43"/>
    <p:sldId id="293" r:id="rId44"/>
    <p:sldId id="294" r:id="rId45"/>
    <p:sldId id="295"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1" d="100"/>
          <a:sy n="111"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1/27/2026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solidFill>
                  <a:schemeClr val="tx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1/27/2026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200" kern="1200" cap="all">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3268994" y="2665927"/>
            <a:ext cx="5517198" cy="1323439"/>
          </a:xfrm>
          <a:prstGeom prst="rect">
            <a:avLst/>
          </a:prstGeom>
          <a:noFill/>
        </p:spPr>
        <p:txBody>
          <a:bodyPr wrap="square" rtlCol="0">
            <a:spAutoFit/>
          </a:bodyPr>
          <a:lstStyle/>
          <a:p>
            <a:pPr algn="ctr"/>
            <a:r>
              <a:rPr lang="pt-BR" sz="8000" b="1" u="sng" dirty="0" err="1">
                <a:latin typeface="Times New Roman" panose="02020603050405020304" pitchFamily="18" charset="0"/>
                <a:cs typeface="Times New Roman" panose="02020603050405020304" pitchFamily="18" charset="0"/>
              </a:rPr>
              <a:t>Connectives</a:t>
            </a:r>
            <a:endParaRPr lang="pt-BR" sz="80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6683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695461" y="605308"/>
            <a:ext cx="10740980" cy="1754326"/>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1. </a:t>
            </a:r>
            <a:r>
              <a:rPr lang="pt-BR" sz="3600" b="1" u="sng" dirty="0">
                <a:latin typeface="Times New Roman" panose="02020603050405020304" pitchFamily="18" charset="0"/>
                <a:cs typeface="Times New Roman" panose="02020603050405020304" pitchFamily="18" charset="0"/>
              </a:rPr>
              <a:t>Função:</a:t>
            </a:r>
            <a:r>
              <a:rPr lang="pt-BR" sz="3600" dirty="0">
                <a:latin typeface="Times New Roman" panose="02020603050405020304" pitchFamily="18" charset="0"/>
                <a:cs typeface="Times New Roman" panose="02020603050405020304" pitchFamily="18" charset="0"/>
              </a:rPr>
              <a:t> unir, conectar orações, termos ou expressões estabelecendo algum tipo de relação entre elas e dando coesão ao texto.</a:t>
            </a:r>
            <a:endParaRPr lang="pt-BR" sz="36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695461" y="3230452"/>
            <a:ext cx="10740980" cy="2862322"/>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2. </a:t>
            </a:r>
            <a:r>
              <a:rPr lang="pt-BR" sz="3600" b="1" u="sng" dirty="0">
                <a:latin typeface="Times New Roman" panose="02020603050405020304" pitchFamily="18" charset="0"/>
                <a:cs typeface="Times New Roman" panose="02020603050405020304" pitchFamily="18" charset="0"/>
              </a:rPr>
              <a:t>Tipos:</a:t>
            </a:r>
            <a:r>
              <a:rPr lang="pt-BR" sz="3600" dirty="0">
                <a:latin typeface="Times New Roman" panose="02020603050405020304" pitchFamily="18" charset="0"/>
                <a:cs typeface="Times New Roman" panose="02020603050405020304" pitchFamily="18" charset="0"/>
              </a:rPr>
              <a:t> as conjunções podem ser COORDENADAS, quando conectam orações independentes e do mesmo nível sintático ou SUBORDINADAS, quando conectam uma oração que assumirá um nível sintático inferior e será dependente de uma oração principal.</a:t>
            </a:r>
            <a:endParaRPr lang="pt-BR"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547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412126" y="141667"/>
            <a:ext cx="3425778" cy="64633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 </a:t>
            </a:r>
            <a:r>
              <a:rPr lang="pt-BR" sz="3600" b="1" u="sng" dirty="0">
                <a:latin typeface="Times New Roman" panose="02020603050405020304" pitchFamily="18" charset="0"/>
                <a:cs typeface="Times New Roman" panose="02020603050405020304" pitchFamily="18" charset="0"/>
              </a:rPr>
              <a:t>Classificação:</a:t>
            </a:r>
            <a:endParaRPr lang="pt-BR"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412126" y="785142"/>
            <a:ext cx="10931736" cy="64633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3.1 </a:t>
            </a:r>
            <a:r>
              <a:rPr lang="pt-BR" sz="3600" b="1" u="sng" dirty="0">
                <a:latin typeface="Times New Roman" panose="02020603050405020304" pitchFamily="18" charset="0"/>
                <a:cs typeface="Times New Roman" panose="02020603050405020304" pitchFamily="18" charset="0"/>
              </a:rPr>
              <a:t>Aditivas:</a:t>
            </a:r>
            <a:r>
              <a:rPr lang="pt-BR" sz="3600" dirty="0">
                <a:latin typeface="Times New Roman" panose="02020603050405020304" pitchFamily="18" charset="0"/>
                <a:cs typeface="Times New Roman" panose="02020603050405020304" pitchFamily="18" charset="0"/>
              </a:rPr>
              <a:t> dão a ideia de </a:t>
            </a:r>
            <a:r>
              <a:rPr lang="pt-BR" sz="3600" b="1" dirty="0">
                <a:latin typeface="Times New Roman" panose="02020603050405020304" pitchFamily="18" charset="0"/>
                <a:cs typeface="Times New Roman" panose="02020603050405020304" pitchFamily="18" charset="0"/>
              </a:rPr>
              <a:t>adição</a:t>
            </a:r>
            <a:r>
              <a:rPr lang="pt-BR" sz="3600" dirty="0">
                <a:latin typeface="Times New Roman" panose="02020603050405020304" pitchFamily="18" charset="0"/>
                <a:cs typeface="Times New Roman" panose="02020603050405020304" pitchFamily="18" charset="0"/>
              </a:rPr>
              <a:t>, </a:t>
            </a:r>
            <a:r>
              <a:rPr lang="pt-BR" sz="3600" b="1" dirty="0">
                <a:latin typeface="Times New Roman" panose="02020603050405020304" pitchFamily="18" charset="0"/>
                <a:cs typeface="Times New Roman" panose="02020603050405020304" pitchFamily="18" charset="0"/>
              </a:rPr>
              <a:t>acréscimo</a:t>
            </a:r>
            <a:r>
              <a:rPr lang="pt-BR" sz="3600" dirty="0">
                <a:latin typeface="Times New Roman" panose="02020603050405020304" pitchFamily="18" charset="0"/>
                <a:cs typeface="Times New Roman" panose="02020603050405020304" pitchFamily="18" charset="0"/>
              </a:rPr>
              <a:t>, </a:t>
            </a:r>
            <a:r>
              <a:rPr lang="pt-BR" sz="3600" b="1" dirty="0">
                <a:latin typeface="Times New Roman" panose="02020603050405020304" pitchFamily="18" charset="0"/>
                <a:cs typeface="Times New Roman" panose="02020603050405020304" pitchFamily="18" charset="0"/>
              </a:rPr>
              <a:t>inclusão</a:t>
            </a:r>
            <a:r>
              <a:rPr lang="pt-BR" sz="3600" dirty="0">
                <a:latin typeface="Times New Roman" panose="02020603050405020304" pitchFamily="18" charset="0"/>
                <a:cs typeface="Times New Roman" panose="02020603050405020304" pitchFamily="18" charset="0"/>
              </a:rPr>
              <a:t>.</a:t>
            </a:r>
            <a:endParaRPr lang="pt-BR" sz="36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12126" y="1512085"/>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AND</a:t>
            </a:r>
            <a:r>
              <a:rPr lang="pt-BR" sz="3000" dirty="0">
                <a:latin typeface="Times New Roman" panose="02020603050405020304" pitchFamily="18" charset="0"/>
                <a:cs typeface="Times New Roman" panose="02020603050405020304" pitchFamily="18" charset="0"/>
              </a:rPr>
              <a:t> (e): </a:t>
            </a:r>
            <a:r>
              <a:rPr lang="pt-BR" sz="3000" i="1" dirty="0" err="1">
                <a:latin typeface="Times New Roman" panose="02020603050405020304" pitchFamily="18" charset="0"/>
                <a:cs typeface="Times New Roman" panose="02020603050405020304" pitchFamily="18" charset="0"/>
              </a:rPr>
              <a:t>We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have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impeach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president</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make </a:t>
            </a:r>
            <a:r>
              <a:rPr lang="pt-BR" sz="3000" i="1" dirty="0" err="1">
                <a:latin typeface="Times New Roman" panose="02020603050405020304" pitchFamily="18" charset="0"/>
                <a:cs typeface="Times New Roman" panose="02020603050405020304" pitchFamily="18" charset="0"/>
              </a:rPr>
              <a:t>him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pay</a:t>
            </a:r>
            <a:r>
              <a:rPr lang="pt-BR" sz="3000" i="1" dirty="0">
                <a:latin typeface="Times New Roman" panose="02020603050405020304" pitchFamily="18" charset="0"/>
                <a:cs typeface="Times New Roman" panose="02020603050405020304" pitchFamily="18" charset="0"/>
              </a:rPr>
              <a:t> for </a:t>
            </a:r>
            <a:r>
              <a:rPr lang="pt-BR" sz="3000" i="1" dirty="0" err="1">
                <a:latin typeface="Times New Roman" panose="02020603050405020304" pitchFamily="18" charset="0"/>
                <a:cs typeface="Times New Roman" panose="02020603050405020304" pitchFamily="18" charset="0"/>
              </a:rPr>
              <a:t>his</a:t>
            </a:r>
            <a:r>
              <a:rPr lang="pt-BR" sz="3000" i="1" dirty="0">
                <a:latin typeface="Times New Roman" panose="02020603050405020304" pitchFamily="18" charset="0"/>
                <a:cs typeface="Times New Roman" panose="02020603050405020304" pitchFamily="18" charset="0"/>
              </a:rPr>
              <a:t> crimes.</a:t>
            </a:r>
            <a:endParaRPr lang="pt-BR" sz="30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12126" y="2412268"/>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ALSO</a:t>
            </a:r>
            <a:r>
              <a:rPr lang="pt-BR" sz="3000" dirty="0">
                <a:latin typeface="Times New Roman" panose="02020603050405020304" pitchFamily="18" charset="0"/>
                <a:cs typeface="Times New Roman" panose="02020603050405020304" pitchFamily="18" charset="0"/>
              </a:rPr>
              <a:t> (também / além disso): </a:t>
            </a:r>
            <a:r>
              <a:rPr lang="pt-BR" sz="3000" i="1" dirty="0" err="1">
                <a:latin typeface="Times New Roman" panose="02020603050405020304" pitchFamily="18" charset="0"/>
                <a:cs typeface="Times New Roman" panose="02020603050405020304" pitchFamily="18" charset="0"/>
              </a:rPr>
              <a:t>My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sister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astrophysicist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who’s</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also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graduated</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Literature</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412126" y="4806419"/>
            <a:ext cx="11629620" cy="1938992"/>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FURTHERMORE</a:t>
            </a:r>
            <a:r>
              <a:rPr lang="pt-BR" sz="3000"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BESIDES</a:t>
            </a:r>
            <a:r>
              <a:rPr lang="pt-BR" sz="3000"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MOREOVER</a:t>
            </a:r>
            <a:r>
              <a:rPr lang="pt-BR" sz="3000" dirty="0">
                <a:latin typeface="Times New Roman" panose="02020603050405020304" pitchFamily="18" charset="0"/>
                <a:cs typeface="Times New Roman" panose="02020603050405020304" pitchFamily="18" charset="0"/>
              </a:rPr>
              <a:t> (além do mais / além disso): </a:t>
            </a:r>
            <a:r>
              <a:rPr lang="pt-BR" sz="3000" i="1" dirty="0">
                <a:latin typeface="Times New Roman" panose="02020603050405020304" pitchFamily="18" charset="0"/>
                <a:cs typeface="Times New Roman" panose="02020603050405020304" pitchFamily="18" charset="0"/>
              </a:rPr>
              <a:t>Bruce Dickinson </a:t>
            </a:r>
            <a:r>
              <a:rPr lang="pt-BR" sz="3000" i="1" dirty="0" err="1">
                <a:latin typeface="Times New Roman" panose="02020603050405020304" pitchFamily="18" charset="0"/>
                <a:cs typeface="Times New Roman" panose="02020603050405020304" pitchFamily="18" charset="0"/>
              </a:rPr>
              <a:t>graduated</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History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has</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doctorate</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music</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best</a:t>
            </a:r>
            <a:r>
              <a:rPr lang="pt-BR" sz="3000" i="1" dirty="0">
                <a:latin typeface="Times New Roman" panose="02020603050405020304" pitchFamily="18" charset="0"/>
                <a:cs typeface="Times New Roman" panose="02020603050405020304" pitchFamily="18" charset="0"/>
              </a:rPr>
              <a:t> metal </a:t>
            </a:r>
            <a:r>
              <a:rPr lang="pt-BR" sz="3000" i="1" dirty="0" err="1">
                <a:latin typeface="Times New Roman" panose="02020603050405020304" pitchFamily="18" charset="0"/>
                <a:cs typeface="Times New Roman" panose="02020603050405020304" pitchFamily="18" charset="0"/>
              </a:rPr>
              <a:t>singer</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world, </a:t>
            </a:r>
            <a:r>
              <a:rPr lang="pt-BR" sz="3000" i="1" dirty="0" err="1">
                <a:latin typeface="Times New Roman" panose="02020603050405020304" pitchFamily="18" charset="0"/>
                <a:cs typeface="Times New Roman" panose="02020603050405020304" pitchFamily="18" charset="0"/>
              </a:rPr>
              <a:t>has</a:t>
            </a:r>
            <a:r>
              <a:rPr lang="pt-BR" sz="3000" i="1" dirty="0">
                <a:latin typeface="Times New Roman" panose="02020603050405020304" pitchFamily="18" charset="0"/>
                <a:cs typeface="Times New Roman" panose="02020603050405020304" pitchFamily="18" charset="0"/>
              </a:rPr>
              <a:t> a radio show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great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fencer</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Furthermore</a:t>
            </a:r>
            <a:r>
              <a:rPr lang="pt-BR" sz="3000" i="1" dirty="0">
                <a:latin typeface="Times New Roman" panose="02020603050405020304" pitchFamily="18" charset="0"/>
                <a:cs typeface="Times New Roman" panose="02020603050405020304" pitchFamily="18" charset="0"/>
              </a:rPr>
              <a:t>/</a:t>
            </a:r>
            <a:r>
              <a:rPr lang="pt-BR" sz="3000" b="1" i="1" u="sng" dirty="0" err="1">
                <a:latin typeface="Times New Roman" panose="02020603050405020304" pitchFamily="18" charset="0"/>
                <a:cs typeface="Times New Roman" panose="02020603050405020304" pitchFamily="18" charset="0"/>
              </a:rPr>
              <a:t>Besides</a:t>
            </a:r>
            <a:r>
              <a:rPr lang="pt-BR" sz="3000" i="1" dirty="0">
                <a:latin typeface="Times New Roman" panose="02020603050405020304" pitchFamily="18" charset="0"/>
                <a:cs typeface="Times New Roman" panose="02020603050405020304" pitchFamily="18" charset="0"/>
              </a:rPr>
              <a:t>/</a:t>
            </a:r>
            <a:r>
              <a:rPr lang="pt-BR" sz="3000" b="1" i="1" u="sng" dirty="0" err="1">
                <a:latin typeface="Times New Roman" panose="02020603050405020304" pitchFamily="18" charset="0"/>
                <a:cs typeface="Times New Roman" panose="02020603050405020304" pitchFamily="18" charset="0"/>
              </a:rPr>
              <a:t>Moreover</a:t>
            </a:r>
            <a:r>
              <a:rPr lang="pt-BR" sz="3000" b="1" i="1" u="sng" dirty="0">
                <a:latin typeface="Times New Roman" panose="02020603050405020304" pitchFamily="18" charset="0"/>
                <a:cs typeface="Times New Roman" panose="02020603050405020304" pitchFamily="18" charset="0"/>
              </a:rPr>
              <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airplane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pilot</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
        <p:nvSpPr>
          <p:cNvPr id="10" name="TextBox 7">
            <a:extLst>
              <a:ext uri="{FF2B5EF4-FFF2-40B4-BE49-F238E27FC236}">
                <a16:creationId xmlns:a16="http://schemas.microsoft.com/office/drawing/2014/main" id="{53ED304A-8F14-46D9-97C4-FFF76F16F06E}"/>
              </a:ext>
            </a:extLst>
          </p:cNvPr>
          <p:cNvSpPr txBox="1"/>
          <p:nvPr/>
        </p:nvSpPr>
        <p:spPr>
          <a:xfrm>
            <a:off x="412126" y="3582242"/>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ALONG WITH</a:t>
            </a:r>
            <a:r>
              <a:rPr lang="pt-BR" sz="3000" dirty="0">
                <a:latin typeface="Times New Roman" panose="02020603050405020304" pitchFamily="18" charset="0"/>
                <a:cs typeface="Times New Roman" panose="02020603050405020304" pitchFamily="18" charset="0"/>
              </a:rPr>
              <a:t> (juntamente/junto de): </a:t>
            </a:r>
            <a:r>
              <a:rPr lang="pt-BR" sz="3000" b="1" i="1" u="sng" dirty="0" err="1">
                <a:latin typeface="Times New Roman" panose="02020603050405020304" pitchFamily="18" charset="0"/>
                <a:cs typeface="Times New Roman" panose="02020603050405020304" pitchFamily="18" charset="0"/>
              </a:rPr>
              <a:t>Along</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with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cold</a:t>
            </a:r>
            <a:r>
              <a:rPr lang="pt-BR" sz="3000" i="1" dirty="0">
                <a:latin typeface="Times New Roman" panose="02020603050405020304" pitchFamily="18" charset="0"/>
                <a:cs typeface="Times New Roman" panose="02020603050405020304" pitchFamily="18" charset="0"/>
              </a:rPr>
              <a:t>, came </a:t>
            </a:r>
            <a:r>
              <a:rPr lang="pt-BR" sz="3000" i="1" dirty="0" err="1">
                <a:latin typeface="Times New Roman" panose="02020603050405020304" pitchFamily="18" charset="0"/>
                <a:cs typeface="Times New Roman" panose="02020603050405020304" pitchFamily="18" charset="0"/>
              </a:rPr>
              <a:t>my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will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live</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365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1000"/>
                                        <p:tgtEl>
                                          <p:spTgt spid="9"/>
                                        </p:tgtEl>
                                      </p:cBhvr>
                                    </p:animEffect>
                                    <p:anim calcmode="lin" valueType="num">
                                      <p:cBhvr>
                                        <p:cTn id="26" dur="1000" fill="hold"/>
                                        <p:tgtEl>
                                          <p:spTgt spid="9"/>
                                        </p:tgtEl>
                                        <p:attrNameLst>
                                          <p:attrName>ppt_x</p:attrName>
                                        </p:attrNameLst>
                                      </p:cBhvr>
                                      <p:tavLst>
                                        <p:tav tm="0">
                                          <p:val>
                                            <p:strVal val="#ppt_x"/>
                                          </p:val>
                                        </p:tav>
                                        <p:tav tm="100000">
                                          <p:val>
                                            <p:strVal val="#ppt_x"/>
                                          </p:val>
                                        </p:tav>
                                      </p:tavLst>
                                    </p:anim>
                                    <p:anim calcmode="lin" valueType="num">
                                      <p:cBhvr>
                                        <p:cTn id="2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412126" y="182447"/>
            <a:ext cx="11051004" cy="64633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3.1 </a:t>
            </a:r>
            <a:r>
              <a:rPr lang="pt-BR" sz="3600" b="1" u="sng" dirty="0">
                <a:latin typeface="Times New Roman" panose="02020603050405020304" pitchFamily="18" charset="0"/>
                <a:cs typeface="Times New Roman" panose="02020603050405020304" pitchFamily="18" charset="0"/>
              </a:rPr>
              <a:t>Aditivas:</a:t>
            </a:r>
            <a:r>
              <a:rPr lang="pt-BR" sz="3600" dirty="0">
                <a:latin typeface="Times New Roman" panose="02020603050405020304" pitchFamily="18" charset="0"/>
                <a:cs typeface="Times New Roman" panose="02020603050405020304" pitchFamily="18" charset="0"/>
              </a:rPr>
              <a:t> dão a ideia de </a:t>
            </a:r>
            <a:r>
              <a:rPr lang="pt-BR" sz="3600" b="1" dirty="0">
                <a:latin typeface="Times New Roman" panose="02020603050405020304" pitchFamily="18" charset="0"/>
                <a:cs typeface="Times New Roman" panose="02020603050405020304" pitchFamily="18" charset="0"/>
              </a:rPr>
              <a:t>adição</a:t>
            </a:r>
            <a:r>
              <a:rPr lang="pt-BR" sz="3600" dirty="0">
                <a:latin typeface="Times New Roman" panose="02020603050405020304" pitchFamily="18" charset="0"/>
                <a:cs typeface="Times New Roman" panose="02020603050405020304" pitchFamily="18" charset="0"/>
              </a:rPr>
              <a:t>, </a:t>
            </a:r>
            <a:r>
              <a:rPr lang="pt-BR" sz="3600" b="1" dirty="0">
                <a:latin typeface="Times New Roman" panose="02020603050405020304" pitchFamily="18" charset="0"/>
                <a:cs typeface="Times New Roman" panose="02020603050405020304" pitchFamily="18" charset="0"/>
              </a:rPr>
              <a:t>acréscimo</a:t>
            </a:r>
            <a:r>
              <a:rPr lang="pt-BR" sz="3600" dirty="0">
                <a:latin typeface="Times New Roman" panose="02020603050405020304" pitchFamily="18" charset="0"/>
                <a:cs typeface="Times New Roman" panose="02020603050405020304" pitchFamily="18" charset="0"/>
              </a:rPr>
              <a:t>, </a:t>
            </a:r>
            <a:r>
              <a:rPr lang="pt-BR" sz="3600" b="1" dirty="0">
                <a:latin typeface="Times New Roman" panose="02020603050405020304" pitchFamily="18" charset="0"/>
                <a:cs typeface="Times New Roman" panose="02020603050405020304" pitchFamily="18" charset="0"/>
              </a:rPr>
              <a:t>inclusão</a:t>
            </a:r>
            <a:r>
              <a:rPr lang="pt-BR" sz="3600" dirty="0">
                <a:latin typeface="Times New Roman" panose="02020603050405020304" pitchFamily="18" charset="0"/>
                <a:cs typeface="Times New Roman" panose="02020603050405020304" pitchFamily="18" charset="0"/>
              </a:rPr>
              <a:t>.</a:t>
            </a:r>
            <a:endParaRPr lang="pt-BR" sz="36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12126" y="2351593"/>
            <a:ext cx="11629620" cy="147732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IN ADDITION (TO)</a:t>
            </a:r>
            <a:r>
              <a:rPr lang="pt-BR" sz="3000" dirty="0">
                <a:latin typeface="Times New Roman" panose="02020603050405020304" pitchFamily="18" charset="0"/>
                <a:cs typeface="Times New Roman" panose="02020603050405020304" pitchFamily="18" charset="0"/>
              </a:rPr>
              <a:t> (além disso): </a:t>
            </a:r>
            <a:r>
              <a:rPr lang="pt-BR" sz="3000" i="1" dirty="0">
                <a:latin typeface="Times New Roman" panose="02020603050405020304" pitchFamily="18" charset="0"/>
                <a:cs typeface="Times New Roman" panose="02020603050405020304" pitchFamily="18" charset="0"/>
              </a:rPr>
              <a:t>Goku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de </a:t>
            </a:r>
            <a:r>
              <a:rPr lang="pt-BR" sz="3000" i="1" dirty="0" err="1">
                <a:latin typeface="Times New Roman" panose="02020603050405020304" pitchFamily="18" charset="0"/>
                <a:cs typeface="Times New Roman" panose="02020603050405020304" pitchFamily="18" charset="0"/>
              </a:rPr>
              <a:t>strongest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sayajin</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universe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trains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very</a:t>
            </a:r>
            <a:r>
              <a:rPr lang="pt-BR" sz="3000" i="1" dirty="0">
                <a:latin typeface="Times New Roman" panose="02020603050405020304" pitchFamily="18" charset="0"/>
                <a:cs typeface="Times New Roman" panose="02020603050405020304" pitchFamily="18" charset="0"/>
              </a:rPr>
              <a:t> hard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protect</a:t>
            </a:r>
            <a:r>
              <a:rPr lang="pt-BR" sz="3000" i="1" dirty="0">
                <a:latin typeface="Times New Roman" panose="02020603050405020304" pitchFamily="18" charset="0"/>
                <a:cs typeface="Times New Roman" panose="02020603050405020304" pitchFamily="18" charset="0"/>
              </a:rPr>
              <a:t> Earth. </a:t>
            </a:r>
            <a:r>
              <a:rPr lang="pt-BR" sz="3000" b="1" i="1" u="sng" dirty="0">
                <a:latin typeface="Times New Roman" panose="02020603050405020304" pitchFamily="18" charset="0"/>
                <a:cs typeface="Times New Roman" panose="02020603050405020304" pitchFamily="18" charset="0"/>
              </a:rPr>
              <a:t>In </a:t>
            </a:r>
            <a:r>
              <a:rPr lang="pt-BR" sz="3000" b="1" i="1" u="sng" dirty="0" err="1">
                <a:latin typeface="Times New Roman" panose="02020603050405020304" pitchFamily="18" charset="0"/>
                <a:cs typeface="Times New Roman" panose="02020603050405020304" pitchFamily="18" charset="0"/>
              </a:rPr>
              <a:t>addition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can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transform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into</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super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sayajin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get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even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stronger</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12126" y="1049471"/>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ON TOP OF</a:t>
            </a:r>
            <a:r>
              <a:rPr lang="pt-BR" sz="3000" dirty="0">
                <a:latin typeface="Times New Roman" panose="02020603050405020304" pitchFamily="18" charset="0"/>
                <a:cs typeface="Times New Roman" panose="02020603050405020304" pitchFamily="18" charset="0"/>
              </a:rPr>
              <a:t> (além de): </a:t>
            </a:r>
            <a:r>
              <a:rPr lang="pt-BR" sz="3000" b="1" i="1" u="sng" dirty="0" err="1">
                <a:latin typeface="Times New Roman" panose="02020603050405020304" pitchFamily="18" charset="0"/>
                <a:cs typeface="Times New Roman" panose="02020603050405020304" pitchFamily="18" charset="0"/>
              </a:rPr>
              <a:t>On</a:t>
            </a:r>
            <a:r>
              <a:rPr lang="pt-BR" sz="3000" b="1" i="1" u="sng" dirty="0">
                <a:latin typeface="Times New Roman" panose="02020603050405020304" pitchFamily="18" charset="0"/>
                <a:cs typeface="Times New Roman" panose="02020603050405020304" pitchFamily="18" charset="0"/>
              </a:rPr>
              <a:t> top </a:t>
            </a:r>
            <a:r>
              <a:rPr lang="pt-BR" sz="3000" b="1" i="1" u="sng"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all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that</a:t>
            </a:r>
            <a:r>
              <a:rPr lang="pt-BR" sz="3000" i="1" dirty="0">
                <a:latin typeface="Times New Roman" panose="02020603050405020304" pitchFamily="18" charset="0"/>
                <a:cs typeface="Times New Roman" panose="02020603050405020304" pitchFamily="18" charset="0"/>
              </a:rPr>
              <a:t>, Bruce plays in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greatest</a:t>
            </a:r>
            <a:r>
              <a:rPr lang="pt-BR" sz="3000" i="1" dirty="0">
                <a:latin typeface="Times New Roman" panose="02020603050405020304" pitchFamily="18" charset="0"/>
                <a:cs typeface="Times New Roman" panose="02020603050405020304" pitchFamily="18" charset="0"/>
              </a:rPr>
              <a:t> heavy metal </a:t>
            </a:r>
            <a:r>
              <a:rPr lang="pt-BR" sz="3000" i="1" dirty="0" err="1">
                <a:latin typeface="Times New Roman" panose="02020603050405020304" pitchFamily="18" charset="0"/>
                <a:cs typeface="Times New Roman" panose="02020603050405020304" pitchFamily="18" charset="0"/>
              </a:rPr>
              <a:t>band</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history</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412126" y="4145692"/>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BOTH ... AND</a:t>
            </a:r>
            <a:r>
              <a:rPr lang="pt-BR" sz="3000" dirty="0">
                <a:latin typeface="Times New Roman" panose="02020603050405020304" pitchFamily="18" charset="0"/>
                <a:cs typeface="Times New Roman" panose="02020603050405020304" pitchFamily="18" charset="0"/>
              </a:rPr>
              <a:t> (tanto ... quanto): </a:t>
            </a:r>
            <a:r>
              <a:rPr lang="pt-BR" sz="3000" b="1" i="1" u="sng" dirty="0">
                <a:latin typeface="Times New Roman" panose="02020603050405020304" pitchFamily="18" charset="0"/>
                <a:cs typeface="Times New Roman" panose="02020603050405020304" pitchFamily="18" charset="0"/>
              </a:rPr>
              <a:t>Both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my</a:t>
            </a:r>
            <a:r>
              <a:rPr lang="pt-BR" sz="3000" i="1" dirty="0">
                <a:latin typeface="Times New Roman" panose="02020603050405020304" pitchFamily="18" charset="0"/>
                <a:cs typeface="Times New Roman" panose="02020603050405020304" pitchFamily="18" charset="0"/>
              </a:rPr>
              <a:t> brother </a:t>
            </a:r>
            <a:r>
              <a:rPr lang="pt-BR" sz="3000" b="1" i="1" u="sng"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I are </a:t>
            </a:r>
            <a:r>
              <a:rPr lang="pt-BR" sz="3000" i="1" dirty="0" err="1">
                <a:latin typeface="Times New Roman" panose="02020603050405020304" pitchFamily="18" charset="0"/>
                <a:cs typeface="Times New Roman" panose="02020603050405020304" pitchFamily="18" charset="0"/>
              </a:rPr>
              <a:t>very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good</a:t>
            </a:r>
            <a:r>
              <a:rPr lang="pt-BR" sz="3000" i="1" dirty="0">
                <a:latin typeface="Times New Roman" panose="02020603050405020304" pitchFamily="18" charset="0"/>
                <a:cs typeface="Times New Roman" panose="02020603050405020304" pitchFamily="18" charset="0"/>
              </a:rPr>
              <a:t> </a:t>
            </a:r>
            <a:r>
              <a:rPr lang="pt-BR" sz="3000" i="1">
                <a:latin typeface="Times New Roman" panose="02020603050405020304" pitchFamily="18" charset="0"/>
                <a:cs typeface="Times New Roman" panose="02020603050405020304" pitchFamily="18" charset="0"/>
              </a:rPr>
              <a:t>swimmers.</a:t>
            </a:r>
            <a:endParaRPr lang="pt-BR" sz="3000" b="1" dirty="0">
              <a:latin typeface="Times New Roman" panose="02020603050405020304" pitchFamily="18" charset="0"/>
              <a:cs typeface="Times New Roman" panose="02020603050405020304" pitchFamily="18" charset="0"/>
            </a:endParaRPr>
          </a:p>
        </p:txBody>
      </p:sp>
      <p:sp>
        <p:nvSpPr>
          <p:cNvPr id="6" name="TextBox 8">
            <a:extLst>
              <a:ext uri="{FF2B5EF4-FFF2-40B4-BE49-F238E27FC236}">
                <a16:creationId xmlns:a16="http://schemas.microsoft.com/office/drawing/2014/main" id="{2B144B31-8DC2-4780-A801-ACE46ED8D23E}"/>
              </a:ext>
            </a:extLst>
          </p:cNvPr>
          <p:cNvSpPr txBox="1"/>
          <p:nvPr/>
        </p:nvSpPr>
        <p:spPr>
          <a:xfrm>
            <a:off x="412126" y="5531519"/>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NOT ONLY ... BUT ALSO</a:t>
            </a:r>
            <a:r>
              <a:rPr lang="pt-BR" sz="3000" dirty="0">
                <a:latin typeface="Times New Roman" panose="02020603050405020304" pitchFamily="18" charset="0"/>
                <a:cs typeface="Times New Roman" panose="02020603050405020304" pitchFamily="18" charset="0"/>
              </a:rPr>
              <a:t> (não somente ... como também): </a:t>
            </a:r>
            <a:r>
              <a:rPr lang="pt-BR" sz="3000" b="1" i="1" u="sng" dirty="0" err="1">
                <a:latin typeface="Times New Roman" panose="02020603050405020304" pitchFamily="18" charset="0"/>
                <a:cs typeface="Times New Roman" panose="02020603050405020304" pitchFamily="18" charset="0"/>
              </a:rPr>
              <a:t>Not</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only</a:t>
            </a:r>
            <a:r>
              <a:rPr lang="pt-BR" sz="3000" i="1" dirty="0">
                <a:latin typeface="Times New Roman" panose="02020603050405020304" pitchFamily="18" charset="0"/>
                <a:cs typeface="Times New Roman" panose="02020603050405020304" pitchFamily="18" charset="0"/>
              </a:rPr>
              <a:t> do I </a:t>
            </a:r>
            <a:r>
              <a:rPr lang="pt-BR" sz="3000" i="1" dirty="0" err="1">
                <a:latin typeface="Times New Roman" panose="02020603050405020304" pitchFamily="18" charset="0"/>
                <a:cs typeface="Times New Roman" panose="02020603050405020304" pitchFamily="18" charset="0"/>
              </a:rPr>
              <a:t>read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literary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works</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but</a:t>
            </a:r>
            <a:r>
              <a:rPr lang="pt-BR" sz="3000" i="1" dirty="0">
                <a:latin typeface="Times New Roman" panose="02020603050405020304" pitchFamily="18" charset="0"/>
                <a:cs typeface="Times New Roman" panose="02020603050405020304" pitchFamily="18" charset="0"/>
              </a:rPr>
              <a:t> I </a:t>
            </a:r>
            <a:r>
              <a:rPr lang="pt-BR" sz="3000" b="1" i="1" u="sng" dirty="0" err="1">
                <a:latin typeface="Times New Roman" panose="02020603050405020304" pitchFamily="18" charset="0"/>
                <a:cs typeface="Times New Roman" panose="02020603050405020304" pitchFamily="18" charset="0"/>
              </a:rPr>
              <a:t>also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write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summaries</a:t>
            </a:r>
            <a:r>
              <a:rPr lang="pt-BR" sz="3000" i="1" dirty="0">
                <a:latin typeface="Times New Roman" panose="02020603050405020304" pitchFamily="18" charset="0"/>
                <a:cs typeface="Times New Roman" panose="02020603050405020304" pitchFamily="18" charset="0"/>
              </a:rPr>
              <a:t> for </a:t>
            </a:r>
            <a:r>
              <a:rPr lang="pt-BR" sz="3000" i="1" dirty="0" err="1">
                <a:latin typeface="Times New Roman" panose="02020603050405020304" pitchFamily="18" charset="0"/>
                <a:cs typeface="Times New Roman" panose="02020603050405020304" pitchFamily="18" charset="0"/>
              </a:rPr>
              <a:t>further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studies</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17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309095" y="92294"/>
            <a:ext cx="11500832" cy="1200329"/>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3.2 </a:t>
            </a:r>
            <a:r>
              <a:rPr lang="pt-BR" sz="3600" b="1" u="sng" dirty="0">
                <a:latin typeface="Times New Roman" panose="02020603050405020304" pitchFamily="18" charset="0"/>
                <a:cs typeface="Times New Roman" panose="02020603050405020304" pitchFamily="18" charset="0"/>
              </a:rPr>
              <a:t>Conclusivas:</a:t>
            </a:r>
            <a:r>
              <a:rPr lang="pt-BR" sz="3600" dirty="0">
                <a:latin typeface="Times New Roman" panose="02020603050405020304" pitchFamily="18" charset="0"/>
                <a:cs typeface="Times New Roman" panose="02020603050405020304" pitchFamily="18" charset="0"/>
              </a:rPr>
              <a:t> introduzem/estabelecem </a:t>
            </a:r>
            <a:r>
              <a:rPr lang="pt-BR" sz="3600" b="1" dirty="0">
                <a:latin typeface="Times New Roman" panose="02020603050405020304" pitchFamily="18" charset="0"/>
                <a:cs typeface="Times New Roman" panose="02020603050405020304" pitchFamily="18" charset="0"/>
              </a:rPr>
              <a:t>conclusão,</a:t>
            </a:r>
            <a:r>
              <a:rPr lang="pt-BR" sz="3600" dirty="0">
                <a:latin typeface="Times New Roman" panose="02020603050405020304" pitchFamily="18" charset="0"/>
                <a:cs typeface="Times New Roman" panose="02020603050405020304" pitchFamily="18" charset="0"/>
              </a:rPr>
              <a:t> </a:t>
            </a:r>
            <a:r>
              <a:rPr lang="pt-BR" sz="3600" b="1" dirty="0">
                <a:latin typeface="Times New Roman" panose="02020603050405020304" pitchFamily="18" charset="0"/>
                <a:cs typeface="Times New Roman" panose="02020603050405020304" pitchFamily="18" charset="0"/>
              </a:rPr>
              <a:t>consequência, efeito, resultado</a:t>
            </a:r>
            <a:r>
              <a:rPr lang="pt-BR" sz="3600" dirty="0">
                <a:latin typeface="Times New Roman" panose="02020603050405020304" pitchFamily="18" charset="0"/>
                <a:cs typeface="Times New Roman" panose="02020603050405020304" pitchFamily="18" charset="0"/>
              </a:rPr>
              <a:t>.</a:t>
            </a:r>
            <a:endParaRPr lang="pt-BR"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80307" y="2208050"/>
            <a:ext cx="12011693" cy="523220"/>
          </a:xfrm>
          <a:prstGeom prst="rect">
            <a:avLst/>
          </a:prstGeom>
          <a:noFill/>
        </p:spPr>
        <p:txBody>
          <a:bodyPr wrap="square" rtlCol="0">
            <a:spAutoFit/>
          </a:bodyPr>
          <a:lstStyle/>
          <a:p>
            <a:pPr algn="just"/>
            <a:r>
              <a:rPr lang="pt-BR" sz="2800" b="1" dirty="0">
                <a:latin typeface="Times New Roman" panose="02020603050405020304" pitchFamily="18" charset="0"/>
                <a:cs typeface="Times New Roman" panose="02020603050405020304" pitchFamily="18" charset="0"/>
              </a:rPr>
              <a:t> - </a:t>
            </a:r>
            <a:r>
              <a:rPr lang="pt-BR" sz="2800" b="1" u="sng" dirty="0">
                <a:latin typeface="Times New Roman" panose="02020603050405020304" pitchFamily="18" charset="0"/>
                <a:cs typeface="Times New Roman" panose="02020603050405020304" pitchFamily="18" charset="0"/>
              </a:rPr>
              <a:t>SO</a:t>
            </a:r>
            <a:r>
              <a:rPr lang="pt-BR" sz="2800" dirty="0">
                <a:latin typeface="Times New Roman" panose="02020603050405020304" pitchFamily="18" charset="0"/>
                <a:cs typeface="Times New Roman" panose="02020603050405020304" pitchFamily="18" charset="0"/>
              </a:rPr>
              <a:t> (então): </a:t>
            </a:r>
            <a:r>
              <a:rPr lang="pt-BR" sz="2800" i="1" dirty="0" err="1">
                <a:latin typeface="Times New Roman" panose="02020603050405020304" pitchFamily="18" charset="0"/>
                <a:cs typeface="Times New Roman" panose="02020603050405020304" pitchFamily="18" charset="0"/>
              </a:rPr>
              <a:t>You</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scored</a:t>
            </a:r>
            <a:r>
              <a:rPr lang="pt-BR" sz="2800" i="1" dirty="0">
                <a:latin typeface="Times New Roman" panose="02020603050405020304" pitchFamily="18" charset="0"/>
                <a:cs typeface="Times New Roman" panose="02020603050405020304" pitchFamily="18" charset="0"/>
              </a:rPr>
              <a:t> 100% in </a:t>
            </a:r>
            <a:r>
              <a:rPr lang="pt-BR" sz="2800" i="1" dirty="0" err="1">
                <a:latin typeface="Times New Roman" panose="02020603050405020304" pitchFamily="18" charset="0"/>
                <a:cs typeface="Times New Roman" panose="02020603050405020304" pitchFamily="18" charset="0"/>
              </a:rPr>
              <a:t>the</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test</a:t>
            </a:r>
            <a:r>
              <a:rPr lang="pt-BR" sz="2800" i="1" dirty="0">
                <a:latin typeface="Times New Roman" panose="02020603050405020304" pitchFamily="18" charset="0"/>
                <a:cs typeface="Times New Roman" panose="02020603050405020304" pitchFamily="18" charset="0"/>
              </a:rPr>
              <a:t>?! </a:t>
            </a:r>
            <a:r>
              <a:rPr lang="pt-BR" sz="2800" b="1" i="1" u="sng" dirty="0" err="1">
                <a:latin typeface="Times New Roman" panose="02020603050405020304" pitchFamily="18" charset="0"/>
                <a:cs typeface="Times New Roman" panose="02020603050405020304" pitchFamily="18" charset="0"/>
              </a:rPr>
              <a:t>So</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you</a:t>
            </a:r>
            <a:r>
              <a:rPr lang="pt-BR" sz="2800" i="1" dirty="0">
                <a:latin typeface="Times New Roman" panose="02020603050405020304" pitchFamily="18" charset="0"/>
                <a:cs typeface="Times New Roman" panose="02020603050405020304" pitchFamily="18" charset="0"/>
              </a:rPr>
              <a:t> must </a:t>
            </a:r>
            <a:r>
              <a:rPr lang="pt-BR" sz="2800" i="1" dirty="0" err="1">
                <a:latin typeface="Times New Roman" panose="02020603050405020304" pitchFamily="18" charset="0"/>
                <a:cs typeface="Times New Roman" panose="02020603050405020304" pitchFamily="18" charset="0"/>
              </a:rPr>
              <a:t>have</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studied</a:t>
            </a:r>
            <a:r>
              <a:rPr lang="pt-BR" sz="2800" i="1" dirty="0">
                <a:latin typeface="Times New Roman" panose="02020603050405020304" pitchFamily="18" charset="0"/>
                <a:cs typeface="Times New Roman" panose="02020603050405020304" pitchFamily="18" charset="0"/>
              </a:rPr>
              <a:t> a </a:t>
            </a:r>
            <a:r>
              <a:rPr lang="pt-BR" sz="2800" i="1" dirty="0" err="1">
                <a:latin typeface="Times New Roman" panose="02020603050405020304" pitchFamily="18" charset="0"/>
                <a:cs typeface="Times New Roman" panose="02020603050405020304" pitchFamily="18" charset="0"/>
              </a:rPr>
              <a:t>lot</a:t>
            </a:r>
            <a:r>
              <a:rPr lang="pt-BR" sz="2800" i="1" dirty="0">
                <a:latin typeface="Times New Roman" panose="02020603050405020304" pitchFamily="18" charset="0"/>
                <a:cs typeface="Times New Roman" panose="02020603050405020304" pitchFamily="18" charset="0"/>
              </a:rPr>
              <a:t>.</a:t>
            </a:r>
            <a:endParaRPr lang="pt-BR" sz="28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80307" y="2885613"/>
            <a:ext cx="11629620" cy="523220"/>
          </a:xfrm>
          <a:prstGeom prst="rect">
            <a:avLst/>
          </a:prstGeom>
          <a:noFill/>
        </p:spPr>
        <p:txBody>
          <a:bodyPr wrap="square" rtlCol="0">
            <a:spAutoFit/>
          </a:bodyPr>
          <a:lstStyle/>
          <a:p>
            <a:pPr algn="just"/>
            <a:r>
              <a:rPr lang="pt-BR" sz="2800" b="1" dirty="0">
                <a:latin typeface="Times New Roman" panose="02020603050405020304" pitchFamily="18" charset="0"/>
                <a:cs typeface="Times New Roman" panose="02020603050405020304" pitchFamily="18" charset="0"/>
              </a:rPr>
              <a:t> - </a:t>
            </a:r>
            <a:r>
              <a:rPr lang="pt-BR" sz="2800" b="1" u="sng" dirty="0">
                <a:latin typeface="Times New Roman" panose="02020603050405020304" pitchFamily="18" charset="0"/>
                <a:cs typeface="Times New Roman" panose="02020603050405020304" pitchFamily="18" charset="0"/>
              </a:rPr>
              <a:t>THEREFORE</a:t>
            </a:r>
            <a:r>
              <a:rPr lang="pt-BR" sz="2800" dirty="0">
                <a:latin typeface="Times New Roman" panose="02020603050405020304" pitchFamily="18" charset="0"/>
                <a:cs typeface="Times New Roman" panose="02020603050405020304" pitchFamily="18" charset="0"/>
              </a:rPr>
              <a:t> (portanto / logo): </a:t>
            </a:r>
            <a:r>
              <a:rPr lang="pt-BR" sz="2800" i="1" dirty="0">
                <a:latin typeface="Times New Roman" panose="02020603050405020304" pitchFamily="18" charset="0"/>
                <a:cs typeface="Times New Roman" panose="02020603050405020304" pitchFamily="18" charset="0"/>
              </a:rPr>
              <a:t>I </a:t>
            </a:r>
            <a:r>
              <a:rPr lang="pt-BR" sz="2800" i="1" dirty="0" err="1">
                <a:latin typeface="Times New Roman" panose="02020603050405020304" pitchFamily="18" charset="0"/>
                <a:cs typeface="Times New Roman" panose="02020603050405020304" pitchFamily="18" charset="0"/>
              </a:rPr>
              <a:t>think</a:t>
            </a:r>
            <a:r>
              <a:rPr lang="pt-BR" sz="2800" i="1" dirty="0">
                <a:latin typeface="Times New Roman" panose="02020603050405020304" pitchFamily="18" charset="0"/>
                <a:cs typeface="Times New Roman" panose="02020603050405020304" pitchFamily="18" charset="0"/>
              </a:rPr>
              <a:t>, </a:t>
            </a:r>
            <a:r>
              <a:rPr lang="pt-BR" sz="2800" b="1" i="1" u="sng" dirty="0" err="1">
                <a:latin typeface="Times New Roman" panose="02020603050405020304" pitchFamily="18" charset="0"/>
                <a:cs typeface="Times New Roman" panose="02020603050405020304" pitchFamily="18" charset="0"/>
              </a:rPr>
              <a:t>therefore</a:t>
            </a:r>
            <a:r>
              <a:rPr lang="pt-BR" sz="2800" i="1" dirty="0">
                <a:latin typeface="Times New Roman" panose="02020603050405020304" pitchFamily="18" charset="0"/>
                <a:cs typeface="Times New Roman" panose="02020603050405020304" pitchFamily="18" charset="0"/>
              </a:rPr>
              <a:t>, I am. </a:t>
            </a:r>
            <a:endParaRPr lang="pt-BR" sz="28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80307" y="3554473"/>
            <a:ext cx="11629620" cy="954107"/>
          </a:xfrm>
          <a:prstGeom prst="rect">
            <a:avLst/>
          </a:prstGeom>
          <a:noFill/>
        </p:spPr>
        <p:txBody>
          <a:bodyPr wrap="square" rtlCol="0">
            <a:spAutoFit/>
          </a:bodyPr>
          <a:lstStyle/>
          <a:p>
            <a:pPr algn="just"/>
            <a:r>
              <a:rPr lang="pt-BR" sz="2800" b="1" dirty="0">
                <a:latin typeface="Times New Roman" panose="02020603050405020304" pitchFamily="18" charset="0"/>
                <a:cs typeface="Times New Roman" panose="02020603050405020304" pitchFamily="18" charset="0"/>
              </a:rPr>
              <a:t> - </a:t>
            </a:r>
            <a:r>
              <a:rPr lang="pt-BR" sz="2800" b="1" u="sng" dirty="0">
                <a:latin typeface="Times New Roman" panose="02020603050405020304" pitchFamily="18" charset="0"/>
                <a:cs typeface="Times New Roman" panose="02020603050405020304" pitchFamily="18" charset="0"/>
              </a:rPr>
              <a:t>THUS</a:t>
            </a:r>
            <a:r>
              <a:rPr lang="pt-BR" sz="2800" dirty="0">
                <a:latin typeface="Times New Roman" panose="02020603050405020304" pitchFamily="18" charset="0"/>
                <a:cs typeface="Times New Roman" panose="02020603050405020304" pitchFamily="18" charset="0"/>
              </a:rPr>
              <a:t> (por isso / logo): </a:t>
            </a:r>
            <a:r>
              <a:rPr lang="pt-BR" sz="2800" i="1" dirty="0" err="1">
                <a:latin typeface="Times New Roman" panose="02020603050405020304" pitchFamily="18" charset="0"/>
                <a:cs typeface="Times New Roman" panose="02020603050405020304" pitchFamily="18" charset="0"/>
              </a:rPr>
              <a:t>They</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were</a:t>
            </a:r>
            <a:r>
              <a:rPr lang="pt-BR" sz="2800" i="1" dirty="0">
                <a:latin typeface="Times New Roman" panose="02020603050405020304" pitchFamily="18" charset="0"/>
                <a:cs typeface="Times New Roman" panose="02020603050405020304" pitchFamily="18" charset="0"/>
              </a:rPr>
              <a:t> feeling </a:t>
            </a:r>
            <a:r>
              <a:rPr lang="pt-BR" sz="2800" i="1" dirty="0" err="1">
                <a:latin typeface="Times New Roman" panose="02020603050405020304" pitchFamily="18" charset="0"/>
                <a:cs typeface="Times New Roman" panose="02020603050405020304" pitchFamily="18" charset="0"/>
              </a:rPr>
              <a:t>pretty</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low</a:t>
            </a:r>
            <a:r>
              <a:rPr lang="pt-BR" sz="2800" i="1" dirty="0">
                <a:latin typeface="Times New Roman" panose="02020603050405020304" pitchFamily="18" charset="0"/>
                <a:cs typeface="Times New Roman" panose="02020603050405020304" pitchFamily="18" charset="0"/>
              </a:rPr>
              <a:t>. </a:t>
            </a:r>
            <a:r>
              <a:rPr lang="pt-BR" sz="2800" b="1" i="1" u="sng" dirty="0" err="1">
                <a:latin typeface="Times New Roman" panose="02020603050405020304" pitchFamily="18" charset="0"/>
                <a:cs typeface="Times New Roman" panose="02020603050405020304" pitchFamily="18" charset="0"/>
              </a:rPr>
              <a:t>Thus</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they</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went</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to</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the</a:t>
            </a:r>
            <a:r>
              <a:rPr lang="pt-BR" sz="2800" i="1" dirty="0">
                <a:latin typeface="Times New Roman" panose="02020603050405020304" pitchFamily="18" charset="0"/>
                <a:cs typeface="Times New Roman" panose="02020603050405020304" pitchFamily="18" charset="0"/>
              </a:rPr>
              <a:t> pub </a:t>
            </a:r>
            <a:r>
              <a:rPr lang="pt-BR" sz="2800" i="1" dirty="0" err="1">
                <a:latin typeface="Times New Roman" panose="02020603050405020304" pitchFamily="18" charset="0"/>
                <a:cs typeface="Times New Roman" panose="02020603050405020304" pitchFamily="18" charset="0"/>
              </a:rPr>
              <a:t>to</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have</a:t>
            </a:r>
            <a:r>
              <a:rPr lang="pt-BR" sz="2800" i="1" dirty="0">
                <a:latin typeface="Times New Roman" panose="02020603050405020304" pitchFamily="18" charset="0"/>
                <a:cs typeface="Times New Roman" panose="02020603050405020304" pitchFamily="18" charset="0"/>
              </a:rPr>
              <a:t> some </a:t>
            </a:r>
            <a:r>
              <a:rPr lang="pt-BR" sz="2800" i="1" dirty="0" err="1">
                <a:latin typeface="Times New Roman" panose="02020603050405020304" pitchFamily="18" charset="0"/>
                <a:cs typeface="Times New Roman" panose="02020603050405020304" pitchFamily="18" charset="0"/>
              </a:rPr>
              <a:t>fun</a:t>
            </a:r>
            <a:r>
              <a:rPr lang="pt-BR" sz="2800" i="1" dirty="0">
                <a:latin typeface="Times New Roman" panose="02020603050405020304" pitchFamily="18" charset="0"/>
                <a:cs typeface="Times New Roman" panose="02020603050405020304" pitchFamily="18" charset="0"/>
              </a:rPr>
              <a:t>.</a:t>
            </a:r>
            <a:endParaRPr lang="pt-BR"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80307" y="4684998"/>
            <a:ext cx="11629620" cy="954107"/>
          </a:xfrm>
          <a:prstGeom prst="rect">
            <a:avLst/>
          </a:prstGeom>
          <a:noFill/>
        </p:spPr>
        <p:txBody>
          <a:bodyPr wrap="square" rtlCol="0">
            <a:spAutoFit/>
          </a:bodyPr>
          <a:lstStyle/>
          <a:p>
            <a:pPr algn="just"/>
            <a:r>
              <a:rPr lang="pt-BR" sz="2800" b="1" dirty="0">
                <a:latin typeface="Times New Roman" panose="02020603050405020304" pitchFamily="18" charset="0"/>
                <a:cs typeface="Times New Roman" panose="02020603050405020304" pitchFamily="18" charset="0"/>
              </a:rPr>
              <a:t> - </a:t>
            </a:r>
            <a:r>
              <a:rPr lang="pt-BR" sz="2800" b="1" u="sng" dirty="0">
                <a:latin typeface="Times New Roman" panose="02020603050405020304" pitchFamily="18" charset="0"/>
                <a:cs typeface="Times New Roman" panose="02020603050405020304" pitchFamily="18" charset="0"/>
              </a:rPr>
              <a:t>HENCE</a:t>
            </a:r>
            <a:r>
              <a:rPr lang="pt-BR" sz="2800" dirty="0">
                <a:latin typeface="Times New Roman" panose="02020603050405020304" pitchFamily="18" charset="0"/>
                <a:cs typeface="Times New Roman" panose="02020603050405020304" pitchFamily="18" charset="0"/>
              </a:rPr>
              <a:t> (daí / logo): </a:t>
            </a:r>
            <a:r>
              <a:rPr lang="pt-BR" sz="2800" i="1" dirty="0">
                <a:latin typeface="Times New Roman" panose="02020603050405020304" pitchFamily="18" charset="0"/>
                <a:cs typeface="Times New Roman" panose="02020603050405020304" pitchFamily="18" charset="0"/>
              </a:rPr>
              <a:t>Gandalf </a:t>
            </a:r>
            <a:r>
              <a:rPr lang="pt-BR" sz="2800" i="1" dirty="0" err="1">
                <a:latin typeface="Times New Roman" panose="02020603050405020304" pitchFamily="18" charset="0"/>
                <a:cs typeface="Times New Roman" panose="02020603050405020304" pitchFamily="18" charset="0"/>
              </a:rPr>
              <a:t>is</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the</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wisest</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one</a:t>
            </a:r>
            <a:r>
              <a:rPr lang="pt-BR" sz="2800" i="1" dirty="0">
                <a:latin typeface="Times New Roman" panose="02020603050405020304" pitchFamily="18" charset="0"/>
                <a:cs typeface="Times New Roman" panose="02020603050405020304" pitchFamily="18" charset="0"/>
              </a:rPr>
              <a:t> in </a:t>
            </a:r>
            <a:r>
              <a:rPr lang="pt-BR" sz="2800" i="1" dirty="0" err="1">
                <a:latin typeface="Times New Roman" panose="02020603050405020304" pitchFamily="18" charset="0"/>
                <a:cs typeface="Times New Roman" panose="02020603050405020304" pitchFamily="18" charset="0"/>
              </a:rPr>
              <a:t>the</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fellowship</a:t>
            </a:r>
            <a:r>
              <a:rPr lang="pt-BR" sz="2800" i="1" dirty="0">
                <a:latin typeface="Times New Roman" panose="02020603050405020304" pitchFamily="18" charset="0"/>
                <a:cs typeface="Times New Roman" panose="02020603050405020304" pitchFamily="18" charset="0"/>
              </a:rPr>
              <a:t>, </a:t>
            </a:r>
            <a:r>
              <a:rPr lang="pt-BR" sz="2800" b="1" i="1" u="sng" dirty="0" err="1">
                <a:latin typeface="Times New Roman" panose="02020603050405020304" pitchFamily="18" charset="0"/>
                <a:cs typeface="Times New Roman" panose="02020603050405020304" pitchFamily="18" charset="0"/>
              </a:rPr>
              <a:t>hence</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he</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is</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the</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leader</a:t>
            </a:r>
            <a:r>
              <a:rPr lang="pt-BR" sz="2800" i="1" dirty="0">
                <a:latin typeface="Times New Roman" panose="02020603050405020304" pitchFamily="18" charset="0"/>
                <a:cs typeface="Times New Roman" panose="02020603050405020304" pitchFamily="18" charset="0"/>
              </a:rPr>
              <a:t>.</a:t>
            </a:r>
            <a:endParaRPr lang="pt-BR" sz="28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80307" y="5736011"/>
            <a:ext cx="11629620" cy="954107"/>
          </a:xfrm>
          <a:prstGeom prst="rect">
            <a:avLst/>
          </a:prstGeom>
          <a:noFill/>
        </p:spPr>
        <p:txBody>
          <a:bodyPr wrap="square" rtlCol="0">
            <a:spAutoFit/>
          </a:bodyPr>
          <a:lstStyle/>
          <a:p>
            <a:pPr algn="just"/>
            <a:r>
              <a:rPr lang="pt-BR" sz="2800" b="1" dirty="0">
                <a:latin typeface="Times New Roman" panose="02020603050405020304" pitchFamily="18" charset="0"/>
                <a:cs typeface="Times New Roman" panose="02020603050405020304" pitchFamily="18" charset="0"/>
              </a:rPr>
              <a:t> - </a:t>
            </a:r>
            <a:r>
              <a:rPr lang="pt-BR" sz="2800" b="1" u="sng" dirty="0">
                <a:latin typeface="Times New Roman" panose="02020603050405020304" pitchFamily="18" charset="0"/>
                <a:cs typeface="Times New Roman" panose="02020603050405020304" pitchFamily="18" charset="0"/>
              </a:rPr>
              <a:t>THEN</a:t>
            </a:r>
            <a:r>
              <a:rPr lang="pt-BR" sz="2800" dirty="0">
                <a:latin typeface="Times New Roman" panose="02020603050405020304" pitchFamily="18" charset="0"/>
                <a:cs typeface="Times New Roman" panose="02020603050405020304" pitchFamily="18" charset="0"/>
              </a:rPr>
              <a:t> (então): </a:t>
            </a:r>
            <a:r>
              <a:rPr lang="pt-BR" sz="2800" i="1" dirty="0">
                <a:latin typeface="Times New Roman" panose="02020603050405020304" pitchFamily="18" charset="0"/>
                <a:cs typeface="Times New Roman" panose="02020603050405020304" pitchFamily="18" charset="0"/>
              </a:rPr>
              <a:t>People </a:t>
            </a:r>
            <a:r>
              <a:rPr lang="pt-BR" sz="2800" i="1" dirty="0" err="1">
                <a:latin typeface="Times New Roman" panose="02020603050405020304" pitchFamily="18" charset="0"/>
                <a:cs typeface="Times New Roman" panose="02020603050405020304" pitchFamily="18" charset="0"/>
              </a:rPr>
              <a:t>told</a:t>
            </a:r>
            <a:r>
              <a:rPr lang="pt-BR" sz="2800" i="1" dirty="0">
                <a:latin typeface="Times New Roman" panose="02020603050405020304" pitchFamily="18" charset="0"/>
                <a:cs typeface="Times New Roman" panose="02020603050405020304" pitchFamily="18" charset="0"/>
              </a:rPr>
              <a:t> me </a:t>
            </a:r>
            <a:r>
              <a:rPr lang="pt-BR" sz="2800" i="1" dirty="0" err="1">
                <a:latin typeface="Times New Roman" panose="02020603050405020304" pitchFamily="18" charset="0"/>
                <a:cs typeface="Times New Roman" panose="02020603050405020304" pitchFamily="18" charset="0"/>
              </a:rPr>
              <a:t>she</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was</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shouting</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to</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the</a:t>
            </a:r>
            <a:r>
              <a:rPr lang="pt-BR" sz="2800" i="1" dirty="0">
                <a:latin typeface="Times New Roman" panose="02020603050405020304" pitchFamily="18" charset="0"/>
                <a:cs typeface="Times New Roman" panose="02020603050405020304" pitchFamily="18" charset="0"/>
              </a:rPr>
              <a:t> top </a:t>
            </a:r>
            <a:r>
              <a:rPr lang="pt-BR" sz="2800" i="1" dirty="0" err="1">
                <a:latin typeface="Times New Roman" panose="02020603050405020304" pitchFamily="18" charset="0"/>
                <a:cs typeface="Times New Roman" panose="02020603050405020304" pitchFamily="18" charset="0"/>
              </a:rPr>
              <a:t>of</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her</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lungs</a:t>
            </a:r>
            <a:r>
              <a:rPr lang="pt-BR" sz="2800" i="1" dirty="0">
                <a:latin typeface="Times New Roman" panose="02020603050405020304" pitchFamily="18" charset="0"/>
                <a:cs typeface="Times New Roman" panose="02020603050405020304" pitchFamily="18" charset="0"/>
              </a:rPr>
              <a:t>. </a:t>
            </a:r>
            <a:r>
              <a:rPr lang="pt-BR" sz="2800" b="1" i="1" u="sng" dirty="0" err="1">
                <a:latin typeface="Times New Roman" panose="02020603050405020304" pitchFamily="18" charset="0"/>
                <a:cs typeface="Times New Roman" panose="02020603050405020304" pitchFamily="18" charset="0"/>
              </a:rPr>
              <a:t>Then</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she</a:t>
            </a:r>
            <a:r>
              <a:rPr lang="pt-BR" sz="2800" i="1" dirty="0">
                <a:latin typeface="Times New Roman" panose="02020603050405020304" pitchFamily="18" charset="0"/>
                <a:cs typeface="Times New Roman" panose="02020603050405020304" pitchFamily="18" charset="0"/>
              </a:rPr>
              <a:t> must </a:t>
            </a:r>
            <a:r>
              <a:rPr lang="pt-BR" sz="2800" i="1" dirty="0" err="1">
                <a:latin typeface="Times New Roman" panose="02020603050405020304" pitchFamily="18" charset="0"/>
                <a:cs typeface="Times New Roman" panose="02020603050405020304" pitchFamily="18" charset="0"/>
              </a:rPr>
              <a:t>have</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been</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furious</a:t>
            </a:r>
            <a:r>
              <a:rPr lang="pt-BR" sz="2800" i="1" dirty="0">
                <a:latin typeface="Times New Roman" panose="02020603050405020304" pitchFamily="18" charset="0"/>
                <a:cs typeface="Times New Roman" panose="02020603050405020304" pitchFamily="18" charset="0"/>
              </a:rPr>
              <a:t>.</a:t>
            </a:r>
            <a:endParaRPr lang="pt-BR" sz="2800"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180307" y="1204315"/>
            <a:ext cx="11629620" cy="954107"/>
          </a:xfrm>
          <a:prstGeom prst="rect">
            <a:avLst/>
          </a:prstGeom>
          <a:noFill/>
        </p:spPr>
        <p:txBody>
          <a:bodyPr wrap="square" rtlCol="0">
            <a:spAutoFit/>
          </a:bodyPr>
          <a:lstStyle/>
          <a:p>
            <a:pPr algn="just"/>
            <a:r>
              <a:rPr lang="pt-BR" sz="2800" b="1" dirty="0">
                <a:latin typeface="Times New Roman" panose="02020603050405020304" pitchFamily="18" charset="0"/>
                <a:cs typeface="Times New Roman" panose="02020603050405020304" pitchFamily="18" charset="0"/>
              </a:rPr>
              <a:t> - </a:t>
            </a:r>
            <a:r>
              <a:rPr lang="pt-BR" sz="2800" b="1" u="sng" dirty="0">
                <a:latin typeface="Times New Roman" panose="02020603050405020304" pitchFamily="18" charset="0"/>
                <a:cs typeface="Times New Roman" panose="02020603050405020304" pitchFamily="18" charset="0"/>
              </a:rPr>
              <a:t>THEREBY</a:t>
            </a:r>
            <a:r>
              <a:rPr lang="pt-BR" sz="2800" dirty="0">
                <a:latin typeface="Times New Roman" panose="02020603050405020304" pitchFamily="18" charset="0"/>
                <a:cs typeface="Times New Roman" panose="02020603050405020304" pitchFamily="18" charset="0"/>
              </a:rPr>
              <a:t> (desse modo / (sendo) assim): </a:t>
            </a:r>
            <a:r>
              <a:rPr lang="pt-BR" sz="2800" i="1" dirty="0">
                <a:latin typeface="Times New Roman" panose="02020603050405020304" pitchFamily="18" charset="0"/>
                <a:cs typeface="Times New Roman" panose="02020603050405020304" pitchFamily="18" charset="0"/>
              </a:rPr>
              <a:t>The </a:t>
            </a:r>
            <a:r>
              <a:rPr lang="pt-BR" sz="2800" i="1" dirty="0" err="1">
                <a:latin typeface="Times New Roman" panose="02020603050405020304" pitchFamily="18" charset="0"/>
                <a:cs typeface="Times New Roman" panose="02020603050405020304" pitchFamily="18" charset="0"/>
              </a:rPr>
              <a:t>competition</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will</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be</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tough</a:t>
            </a:r>
            <a:r>
              <a:rPr lang="pt-BR" sz="2800" i="1" dirty="0">
                <a:latin typeface="Times New Roman" panose="02020603050405020304" pitchFamily="18" charset="0"/>
                <a:cs typeface="Times New Roman" panose="02020603050405020304" pitchFamily="18" charset="0"/>
              </a:rPr>
              <a:t>, </a:t>
            </a:r>
            <a:r>
              <a:rPr lang="pt-BR" sz="2800" b="1" i="1" u="sng" dirty="0" err="1">
                <a:latin typeface="Times New Roman" panose="02020603050405020304" pitchFamily="18" charset="0"/>
                <a:cs typeface="Times New Roman" panose="02020603050405020304" pitchFamily="18" charset="0"/>
              </a:rPr>
              <a:t>thereby</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we’d</a:t>
            </a:r>
            <a:r>
              <a:rPr lang="pt-BR" sz="2800" i="1" dirty="0">
                <a:latin typeface="Times New Roman" panose="02020603050405020304" pitchFamily="18" charset="0"/>
                <a:cs typeface="Times New Roman" panose="02020603050405020304" pitchFamily="18" charset="0"/>
              </a:rPr>
              <a:t> </a:t>
            </a:r>
            <a:r>
              <a:rPr lang="pt-BR" sz="2800" i="1" dirty="0" err="1">
                <a:latin typeface="Times New Roman" panose="02020603050405020304" pitchFamily="18" charset="0"/>
                <a:cs typeface="Times New Roman" panose="02020603050405020304" pitchFamily="18" charset="0"/>
              </a:rPr>
              <a:t>better</a:t>
            </a:r>
            <a:r>
              <a:rPr lang="pt-BR" sz="2800" i="1" dirty="0">
                <a:latin typeface="Times New Roman" panose="02020603050405020304" pitchFamily="18" charset="0"/>
                <a:cs typeface="Times New Roman" panose="02020603050405020304" pitchFamily="18" charset="0"/>
              </a:rPr>
              <a:t> prepare </a:t>
            </a:r>
            <a:r>
              <a:rPr lang="pt-BR" sz="2800" i="1" dirty="0" err="1">
                <a:latin typeface="Times New Roman" panose="02020603050405020304" pitchFamily="18" charset="0"/>
                <a:cs typeface="Times New Roman" panose="02020603050405020304" pitchFamily="18" charset="0"/>
              </a:rPr>
              <a:t>ourselves</a:t>
            </a:r>
            <a:r>
              <a:rPr lang="pt-BR" sz="2800" i="1" dirty="0">
                <a:latin typeface="Times New Roman" panose="02020603050405020304" pitchFamily="18" charset="0"/>
                <a:cs typeface="Times New Roman" panose="02020603050405020304" pitchFamily="18" charset="0"/>
              </a:rPr>
              <a:t>.</a:t>
            </a:r>
            <a:endParaRPr lang="pt-BR"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703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309095" y="221084"/>
            <a:ext cx="11539468" cy="64633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3.3 </a:t>
            </a:r>
            <a:r>
              <a:rPr lang="pt-BR" sz="3600" b="1" u="sng" dirty="0">
                <a:latin typeface="Times New Roman" panose="02020603050405020304" pitchFamily="18" charset="0"/>
                <a:cs typeface="Times New Roman" panose="02020603050405020304" pitchFamily="18" charset="0"/>
              </a:rPr>
              <a:t>Adversativas:</a:t>
            </a:r>
            <a:r>
              <a:rPr lang="pt-BR" sz="3600" dirty="0">
                <a:latin typeface="Times New Roman" panose="02020603050405020304" pitchFamily="18" charset="0"/>
                <a:cs typeface="Times New Roman" panose="02020603050405020304" pitchFamily="18" charset="0"/>
              </a:rPr>
              <a:t> estabelecem ideia de </a:t>
            </a:r>
            <a:r>
              <a:rPr lang="pt-BR" sz="3600" b="1" dirty="0">
                <a:latin typeface="Times New Roman" panose="02020603050405020304" pitchFamily="18" charset="0"/>
                <a:cs typeface="Times New Roman" panose="02020603050405020304" pitchFamily="18" charset="0"/>
              </a:rPr>
              <a:t>oposição</a:t>
            </a:r>
            <a:r>
              <a:rPr lang="pt-BR" sz="3600" dirty="0">
                <a:latin typeface="Times New Roman" panose="02020603050405020304" pitchFamily="18" charset="0"/>
                <a:cs typeface="Times New Roman" panose="02020603050405020304" pitchFamily="18" charset="0"/>
              </a:rPr>
              <a:t>, </a:t>
            </a:r>
            <a:r>
              <a:rPr lang="pt-BR" sz="3600" b="1" dirty="0">
                <a:latin typeface="Times New Roman" panose="02020603050405020304" pitchFamily="18" charset="0"/>
                <a:cs typeface="Times New Roman" panose="02020603050405020304" pitchFamily="18" charset="0"/>
              </a:rPr>
              <a:t>contraste</a:t>
            </a:r>
            <a:r>
              <a:rPr lang="pt-BR" sz="3600" dirty="0">
                <a:latin typeface="Times New Roman" panose="02020603050405020304" pitchFamily="18" charset="0"/>
                <a:cs typeface="Times New Roman" panose="02020603050405020304" pitchFamily="18" charset="0"/>
              </a:rPr>
              <a:t>.</a:t>
            </a:r>
            <a:endParaRPr lang="pt-BR"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80307" y="1149421"/>
            <a:ext cx="11629620" cy="55399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BUT</a:t>
            </a:r>
            <a:r>
              <a:rPr lang="pt-BR" sz="3000" dirty="0">
                <a:latin typeface="Times New Roman" panose="02020603050405020304" pitchFamily="18" charset="0"/>
                <a:cs typeface="Times New Roman" panose="02020603050405020304" pitchFamily="18" charset="0"/>
              </a:rPr>
              <a:t> (mas): </a:t>
            </a:r>
            <a:r>
              <a:rPr lang="pt-BR" sz="3000" i="1" dirty="0">
                <a:latin typeface="Times New Roman" panose="02020603050405020304" pitchFamily="18" charset="0"/>
                <a:cs typeface="Times New Roman" panose="02020603050405020304" pitchFamily="18" charset="0"/>
              </a:rPr>
              <a:t>Darling,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know</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like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but</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need</a:t>
            </a:r>
            <a:r>
              <a:rPr lang="pt-BR" sz="3000" i="1" dirty="0">
                <a:latin typeface="Times New Roman" panose="02020603050405020304" pitchFamily="18" charset="0"/>
                <a:cs typeface="Times New Roman" panose="02020603050405020304" pitchFamily="18" charset="0"/>
              </a:rPr>
              <a:t> a break.</a:t>
            </a:r>
            <a:endParaRPr lang="pt-BR" sz="30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93185" y="3505407"/>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HOWEVER</a:t>
            </a:r>
            <a:r>
              <a:rPr lang="pt-BR" sz="3000" dirty="0">
                <a:latin typeface="Times New Roman" panose="02020603050405020304" pitchFamily="18" charset="0"/>
                <a:cs typeface="Times New Roman" panose="02020603050405020304" pitchFamily="18" charset="0"/>
              </a:rPr>
              <a:t> (entretanto / no entanto): </a:t>
            </a:r>
            <a:r>
              <a:rPr lang="pt-BR" sz="3000" i="1" dirty="0">
                <a:latin typeface="Times New Roman" panose="02020603050405020304" pitchFamily="18" charset="0"/>
                <a:cs typeface="Times New Roman" panose="02020603050405020304" pitchFamily="18" charset="0"/>
              </a:rPr>
              <a:t>He </a:t>
            </a:r>
            <a:r>
              <a:rPr lang="pt-BR" sz="3000" i="1" dirty="0" err="1">
                <a:latin typeface="Times New Roman" panose="02020603050405020304" pitchFamily="18" charset="0"/>
                <a:cs typeface="Times New Roman" panose="02020603050405020304" pitchFamily="18" charset="0"/>
              </a:rPr>
              <a:t>said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was</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feminist</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however</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found</a:t>
            </a:r>
            <a:r>
              <a:rPr lang="pt-BR" sz="3000" i="1" dirty="0">
                <a:latin typeface="Times New Roman" panose="02020603050405020304" pitchFamily="18" charset="0"/>
                <a:cs typeface="Times New Roman" panose="02020603050405020304" pitchFamily="18" charset="0"/>
              </a:rPr>
              <a:t> out it </a:t>
            </a:r>
            <a:r>
              <a:rPr lang="pt-BR" sz="3000" i="1" dirty="0" err="1">
                <a:latin typeface="Times New Roman" panose="02020603050405020304" pitchFamily="18" charset="0"/>
                <a:cs typeface="Times New Roman" panose="02020603050405020304" pitchFamily="18" charset="0"/>
              </a:rPr>
              <a:t>was</a:t>
            </a:r>
            <a:r>
              <a:rPr lang="pt-BR" sz="3000" i="1" dirty="0">
                <a:latin typeface="Times New Roman" panose="02020603050405020304" pitchFamily="18" charset="0"/>
                <a:cs typeface="Times New Roman" panose="02020603050405020304" pitchFamily="18" charset="0"/>
              </a:rPr>
              <a:t> a lie.</a:t>
            </a:r>
            <a:endParaRPr lang="pt-BR" sz="30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80307" y="5025390"/>
            <a:ext cx="11629620" cy="147732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NEVERTHELESS</a:t>
            </a:r>
            <a:r>
              <a:rPr lang="pt-BR" sz="3000"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NONETHELESS</a:t>
            </a:r>
            <a:r>
              <a:rPr lang="pt-BR" sz="3000" b="1" dirty="0">
                <a:latin typeface="Times New Roman" panose="02020603050405020304" pitchFamily="18" charset="0"/>
                <a:cs typeface="Times New Roman" panose="02020603050405020304" pitchFamily="18" charset="0"/>
              </a:rPr>
              <a:t> </a:t>
            </a:r>
            <a:r>
              <a:rPr lang="pt-BR" sz="3000" dirty="0">
                <a:latin typeface="Times New Roman" panose="02020603050405020304" pitchFamily="18" charset="0"/>
                <a:cs typeface="Times New Roman" panose="02020603050405020304" pitchFamily="18" charset="0"/>
              </a:rPr>
              <a:t>(não obstante / mesmo assim): </a:t>
            </a:r>
            <a:r>
              <a:rPr lang="pt-BR" sz="3000" i="1" dirty="0" err="1">
                <a:latin typeface="Times New Roman" panose="02020603050405020304" pitchFamily="18" charset="0"/>
                <a:cs typeface="Times New Roman" panose="02020603050405020304" pitchFamily="18" charset="0"/>
              </a:rPr>
              <a:t>We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have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warned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him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perils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lay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ahead</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Nevertheless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chose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follow </a:t>
            </a:r>
            <a:r>
              <a:rPr lang="pt-BR" sz="3000" i="1" dirty="0" err="1">
                <a:latin typeface="Times New Roman" panose="02020603050405020304" pitchFamily="18" charset="0"/>
                <a:cs typeface="Times New Roman" panose="02020603050405020304" pitchFamily="18" charset="0"/>
              </a:rPr>
              <a:t>that</a:t>
            </a:r>
            <a:r>
              <a:rPr lang="pt-BR" sz="3000" i="1" dirty="0">
                <a:latin typeface="Times New Roman" panose="02020603050405020304" pitchFamily="18" charset="0"/>
                <a:cs typeface="Times New Roman" panose="02020603050405020304" pitchFamily="18" charset="0"/>
              </a:rPr>
              <a:t> path .</a:t>
            </a:r>
            <a:endParaRPr lang="pt-BR" sz="3000" b="1" dirty="0">
              <a:latin typeface="Times New Roman" panose="02020603050405020304" pitchFamily="18" charset="0"/>
              <a:cs typeface="Times New Roman" panose="02020603050405020304" pitchFamily="18" charset="0"/>
            </a:endParaRPr>
          </a:p>
        </p:txBody>
      </p:sp>
      <p:sp>
        <p:nvSpPr>
          <p:cNvPr id="8" name="TextBox 6">
            <a:extLst>
              <a:ext uri="{FF2B5EF4-FFF2-40B4-BE49-F238E27FC236}">
                <a16:creationId xmlns:a16="http://schemas.microsoft.com/office/drawing/2014/main" id="{8753C93A-BA06-49E4-92EE-38FB18CAD3E3}"/>
              </a:ext>
            </a:extLst>
          </p:cNvPr>
          <p:cNvSpPr txBox="1"/>
          <p:nvPr/>
        </p:nvSpPr>
        <p:spPr>
          <a:xfrm>
            <a:off x="193185" y="2102820"/>
            <a:ext cx="11771287"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STILL</a:t>
            </a:r>
            <a:r>
              <a:rPr lang="pt-BR" sz="3000" dirty="0">
                <a:latin typeface="Times New Roman" panose="02020603050405020304" pitchFamily="18" charset="0"/>
                <a:cs typeface="Times New Roman" panose="02020603050405020304" pitchFamily="18" charset="0"/>
              </a:rPr>
              <a:t> (todavia / contudo): </a:t>
            </a:r>
            <a:r>
              <a:rPr lang="pt-BR" sz="3000" i="1" dirty="0">
                <a:latin typeface="Times New Roman" panose="02020603050405020304" pitchFamily="18" charset="0"/>
                <a:cs typeface="Times New Roman" panose="02020603050405020304" pitchFamily="18" charset="0"/>
              </a:rPr>
              <a:t>People </a:t>
            </a:r>
            <a:r>
              <a:rPr lang="pt-BR" sz="3000" i="1" dirty="0" err="1">
                <a:latin typeface="Times New Roman" panose="02020603050405020304" pitchFamily="18" charset="0"/>
                <a:cs typeface="Times New Roman" panose="02020603050405020304" pitchFamily="18" charset="0"/>
              </a:rPr>
              <a:t>say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society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improving</a:t>
            </a:r>
            <a:r>
              <a:rPr lang="pt-BR" sz="3000" i="1" dirty="0">
                <a:latin typeface="Times New Roman" panose="02020603050405020304" pitchFamily="18" charset="0"/>
                <a:cs typeface="Times New Roman" panose="02020603050405020304" pitchFamily="18" charset="0"/>
              </a:rPr>
              <a:t>. </a:t>
            </a:r>
            <a:r>
              <a:rPr lang="pt-BR" sz="3000" b="1" i="1" u="sng" dirty="0">
                <a:latin typeface="Times New Roman" panose="02020603050405020304" pitchFamily="18" charset="0"/>
                <a:cs typeface="Times New Roman" panose="02020603050405020304" pitchFamily="18" charset="0"/>
              </a:rPr>
              <a:t>Still</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believe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have</a:t>
            </a:r>
            <a:r>
              <a:rPr lang="pt-BR" sz="3000" i="1" dirty="0">
                <a:latin typeface="Times New Roman" panose="02020603050405020304" pitchFamily="18" charset="0"/>
                <a:cs typeface="Times New Roman" panose="02020603050405020304" pitchFamily="18" charset="0"/>
              </a:rPr>
              <a:t> no future.</a:t>
            </a:r>
            <a:endParaRPr lang="pt-BR" sz="3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393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309095" y="156689"/>
            <a:ext cx="11539468" cy="64633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3.3 </a:t>
            </a:r>
            <a:r>
              <a:rPr lang="pt-BR" sz="3600" b="1" u="sng" dirty="0">
                <a:latin typeface="Times New Roman" panose="02020603050405020304" pitchFamily="18" charset="0"/>
                <a:cs typeface="Times New Roman" panose="02020603050405020304" pitchFamily="18" charset="0"/>
              </a:rPr>
              <a:t>Adversativas:</a:t>
            </a:r>
            <a:r>
              <a:rPr lang="pt-BR" sz="3600" dirty="0">
                <a:latin typeface="Times New Roman" panose="02020603050405020304" pitchFamily="18" charset="0"/>
                <a:cs typeface="Times New Roman" panose="02020603050405020304" pitchFamily="18" charset="0"/>
              </a:rPr>
              <a:t> estabelecem ideia de </a:t>
            </a:r>
            <a:r>
              <a:rPr lang="pt-BR" sz="3600" b="1" dirty="0">
                <a:latin typeface="Times New Roman" panose="02020603050405020304" pitchFamily="18" charset="0"/>
                <a:cs typeface="Times New Roman" panose="02020603050405020304" pitchFamily="18" charset="0"/>
              </a:rPr>
              <a:t>oposição</a:t>
            </a:r>
            <a:r>
              <a:rPr lang="pt-BR" sz="3600" dirty="0">
                <a:latin typeface="Times New Roman" panose="02020603050405020304" pitchFamily="18" charset="0"/>
                <a:cs typeface="Times New Roman" panose="02020603050405020304" pitchFamily="18" charset="0"/>
              </a:rPr>
              <a:t>, </a:t>
            </a:r>
            <a:r>
              <a:rPr lang="pt-BR" sz="3600" b="1" dirty="0">
                <a:latin typeface="Times New Roman" panose="02020603050405020304" pitchFamily="18" charset="0"/>
                <a:cs typeface="Times New Roman" panose="02020603050405020304" pitchFamily="18" charset="0"/>
              </a:rPr>
              <a:t>contraste</a:t>
            </a:r>
            <a:r>
              <a:rPr lang="pt-BR" sz="3600" dirty="0">
                <a:latin typeface="Times New Roman" panose="02020603050405020304" pitchFamily="18" charset="0"/>
                <a:cs typeface="Times New Roman" panose="02020603050405020304" pitchFamily="18" charset="0"/>
              </a:rPr>
              <a:t>.</a:t>
            </a:r>
            <a:endParaRPr lang="pt-BR" sz="36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309094" y="961088"/>
            <a:ext cx="11771287" cy="55399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YET</a:t>
            </a:r>
            <a:r>
              <a:rPr lang="pt-BR" sz="3000" dirty="0">
                <a:latin typeface="Times New Roman" panose="02020603050405020304" pitchFamily="18" charset="0"/>
                <a:cs typeface="Times New Roman" panose="02020603050405020304" pitchFamily="18" charset="0"/>
              </a:rPr>
              <a:t> (no entanto): </a:t>
            </a:r>
            <a:r>
              <a:rPr lang="pt-BR" sz="3000" i="1" dirty="0">
                <a:latin typeface="Times New Roman" panose="02020603050405020304" pitchFamily="18" charset="0"/>
                <a:cs typeface="Times New Roman" panose="02020603050405020304" pitchFamily="18" charset="0"/>
              </a:rPr>
              <a:t>He </a:t>
            </a:r>
            <a:r>
              <a:rPr lang="pt-BR" sz="3000" i="1" dirty="0" err="1">
                <a:latin typeface="Times New Roman" panose="02020603050405020304" pitchFamily="18" charset="0"/>
                <a:cs typeface="Times New Roman" panose="02020603050405020304" pitchFamily="18" charset="0"/>
              </a:rPr>
              <a:t>cheated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many</a:t>
            </a:r>
            <a:r>
              <a:rPr lang="pt-BR" sz="3000" i="1" dirty="0">
                <a:latin typeface="Times New Roman" panose="02020603050405020304" pitchFamily="18" charset="0"/>
                <a:cs typeface="Times New Roman" panose="02020603050405020304" pitchFamily="18" charset="0"/>
              </a:rPr>
              <a:t> times. </a:t>
            </a:r>
            <a:r>
              <a:rPr lang="pt-BR" sz="3000" b="1" i="1" u="sng" dirty="0" err="1">
                <a:latin typeface="Times New Roman" panose="02020603050405020304" pitchFamily="18" charset="0"/>
                <a:cs typeface="Times New Roman" panose="02020603050405020304" pitchFamily="18" charset="0"/>
              </a:rPr>
              <a:t>Yet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she</a:t>
            </a:r>
            <a:r>
              <a:rPr lang="pt-BR" sz="3000" i="1" dirty="0">
                <a:latin typeface="Times New Roman" panose="02020603050405020304" pitchFamily="18" charset="0"/>
                <a:cs typeface="Times New Roman" panose="02020603050405020304" pitchFamily="18" charset="0"/>
              </a:rPr>
              <a:t> still </a:t>
            </a:r>
            <a:r>
              <a:rPr lang="pt-BR" sz="3000" i="1" dirty="0" err="1">
                <a:latin typeface="Times New Roman" panose="02020603050405020304" pitchFamily="18" charset="0"/>
                <a:cs typeface="Times New Roman" panose="02020603050405020304" pitchFamily="18" charset="0"/>
              </a:rPr>
              <a:t>loves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him</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309094" y="1956150"/>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WHILE</a:t>
            </a:r>
            <a:r>
              <a:rPr lang="pt-BR" sz="3000" dirty="0">
                <a:latin typeface="Times New Roman" panose="02020603050405020304" pitchFamily="18" charset="0"/>
                <a:cs typeface="Times New Roman" panose="02020603050405020304" pitchFamily="18" charset="0"/>
              </a:rPr>
              <a:t> (enquanto (que)): </a:t>
            </a:r>
            <a:r>
              <a:rPr lang="pt-BR" sz="3000" i="1" dirty="0" err="1">
                <a:latin typeface="Times New Roman" panose="02020603050405020304" pitchFamily="18" charset="0"/>
                <a:cs typeface="Times New Roman" panose="02020603050405020304" pitchFamily="18" charset="0"/>
              </a:rPr>
              <a:t>Youngsters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enjoy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going</a:t>
            </a:r>
            <a:r>
              <a:rPr lang="pt-BR" sz="3000" i="1" dirty="0">
                <a:latin typeface="Times New Roman" panose="02020603050405020304" pitchFamily="18" charset="0"/>
                <a:cs typeface="Times New Roman" panose="02020603050405020304" pitchFamily="18" charset="0"/>
              </a:rPr>
              <a:t> out dancing </a:t>
            </a:r>
            <a:r>
              <a:rPr lang="pt-BR" sz="3000" i="1" dirty="0" err="1">
                <a:latin typeface="Times New Roman" panose="02020603050405020304" pitchFamily="18" charset="0"/>
                <a:cs typeface="Times New Roman" panose="02020603050405020304" pitchFamily="18" charset="0"/>
              </a:rPr>
              <a:t>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clubs</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while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older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people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tend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prefer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have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fun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at</a:t>
            </a:r>
            <a:r>
              <a:rPr lang="pt-BR" sz="3000" i="1" dirty="0">
                <a:latin typeface="Times New Roman" panose="02020603050405020304" pitchFamily="18" charset="0"/>
                <a:cs typeface="Times New Roman" panose="02020603050405020304" pitchFamily="18" charset="0"/>
              </a:rPr>
              <a:t> home.</a:t>
            </a:r>
            <a:endParaRPr lang="pt-BR" sz="3000" b="1" i="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309094" y="3531232"/>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THOUGH</a:t>
            </a:r>
            <a:r>
              <a:rPr lang="pt-BR" sz="3000" dirty="0">
                <a:latin typeface="Times New Roman" panose="02020603050405020304" pitchFamily="18" charset="0"/>
                <a:cs typeface="Times New Roman" panose="02020603050405020304" pitchFamily="18" charset="0"/>
              </a:rPr>
              <a:t> (no entanto / mas): </a:t>
            </a:r>
            <a:r>
              <a:rPr lang="pt-BR" sz="3000" i="1" dirty="0" err="1">
                <a:latin typeface="Times New Roman" panose="02020603050405020304" pitchFamily="18" charset="0"/>
                <a:cs typeface="Times New Roman" panose="02020603050405020304" pitchFamily="18" charset="0"/>
              </a:rPr>
              <a:t>My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favorite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food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barbecue</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also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like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eating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salad</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though</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309094" y="5106315"/>
            <a:ext cx="11629620" cy="147732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ON THE OTHER SIDE/HAND</a:t>
            </a:r>
            <a:r>
              <a:rPr lang="pt-BR" sz="3000" dirty="0">
                <a:latin typeface="Times New Roman" panose="02020603050405020304" pitchFamily="18" charset="0"/>
                <a:cs typeface="Times New Roman" panose="02020603050405020304" pitchFamily="18" charset="0"/>
              </a:rPr>
              <a:t> (por outro lado): </a:t>
            </a:r>
            <a:r>
              <a:rPr lang="pt-BR" sz="3000" i="1" dirty="0">
                <a:latin typeface="Times New Roman" panose="02020603050405020304" pitchFamily="18" charset="0"/>
                <a:cs typeface="Times New Roman" panose="02020603050405020304" pitchFamily="18" charset="0"/>
              </a:rPr>
              <a:t>(</a:t>
            </a:r>
            <a:r>
              <a:rPr lang="pt-BR" sz="3000" b="1" i="1" u="sng" dirty="0" err="1">
                <a:latin typeface="Times New Roman" panose="02020603050405020304" pitchFamily="18" charset="0"/>
                <a:cs typeface="Times New Roman" panose="02020603050405020304" pitchFamily="18" charset="0"/>
              </a:rPr>
              <a:t>On</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the</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one</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hand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There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too </a:t>
            </a:r>
            <a:r>
              <a:rPr lang="pt-BR" sz="3000" i="1" dirty="0" err="1">
                <a:latin typeface="Times New Roman" panose="02020603050405020304" pitchFamily="18" charset="0"/>
                <a:cs typeface="Times New Roman" panose="02020603050405020304" pitchFamily="18" charset="0"/>
              </a:rPr>
              <a:t>much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bullshit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Internet. </a:t>
            </a:r>
            <a:r>
              <a:rPr lang="pt-BR" sz="3000" b="1" i="1" u="sng" dirty="0" err="1">
                <a:latin typeface="Times New Roman" panose="02020603050405020304" pitchFamily="18" charset="0"/>
                <a:cs typeface="Times New Roman" panose="02020603050405020304" pitchFamily="18" charset="0"/>
              </a:rPr>
              <a:t>On</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the</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other</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side</a:t>
            </a:r>
            <a:r>
              <a:rPr lang="pt-BR" sz="3000" b="1" i="1" u="sng" dirty="0">
                <a:latin typeface="Times New Roman" panose="02020603050405020304" pitchFamily="18" charset="0"/>
                <a:cs typeface="Times New Roman" panose="02020603050405020304" pitchFamily="18" charset="0"/>
              </a:rPr>
              <a:t>/</a:t>
            </a:r>
            <a:r>
              <a:rPr lang="pt-BR" sz="3000" b="1" i="1" u="sng" dirty="0" err="1">
                <a:latin typeface="Times New Roman" panose="02020603050405020304" pitchFamily="18" charset="0"/>
                <a:cs typeface="Times New Roman" panose="02020603050405020304" pitchFamily="18" charset="0"/>
              </a:rPr>
              <a:t>hand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can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also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find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very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interesting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useful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things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web.</a:t>
            </a:r>
            <a:endParaRPr lang="pt-BR"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092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309095" y="181327"/>
            <a:ext cx="11539468" cy="261610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3.4 </a:t>
            </a:r>
            <a:r>
              <a:rPr lang="pt-BR" sz="3600" b="1" u="sng" dirty="0">
                <a:latin typeface="Times New Roman" panose="02020603050405020304" pitchFamily="18" charset="0"/>
                <a:cs typeface="Times New Roman" panose="02020603050405020304" pitchFamily="18" charset="0"/>
              </a:rPr>
              <a:t>Concessivas:</a:t>
            </a:r>
            <a:r>
              <a:rPr lang="pt-BR" sz="3600" dirty="0">
                <a:latin typeface="Times New Roman" panose="02020603050405020304" pitchFamily="18" charset="0"/>
                <a:cs typeface="Times New Roman" panose="02020603050405020304" pitchFamily="18" charset="0"/>
              </a:rPr>
              <a:t> também estabelecem ideia de </a:t>
            </a:r>
            <a:r>
              <a:rPr lang="pt-BR" sz="3600" b="1" dirty="0">
                <a:latin typeface="Times New Roman" panose="02020603050405020304" pitchFamily="18" charset="0"/>
                <a:cs typeface="Times New Roman" panose="02020603050405020304" pitchFamily="18" charset="0"/>
              </a:rPr>
              <a:t>oposição</a:t>
            </a:r>
            <a:r>
              <a:rPr lang="pt-BR" sz="3600" dirty="0">
                <a:latin typeface="Times New Roman" panose="02020603050405020304" pitchFamily="18" charset="0"/>
                <a:cs typeface="Times New Roman" panose="02020603050405020304" pitchFamily="18" charset="0"/>
              </a:rPr>
              <a:t>, </a:t>
            </a:r>
            <a:r>
              <a:rPr lang="pt-BR" sz="3600" b="1" dirty="0">
                <a:latin typeface="Times New Roman" panose="02020603050405020304" pitchFamily="18" charset="0"/>
                <a:cs typeface="Times New Roman" panose="02020603050405020304" pitchFamily="18" charset="0"/>
              </a:rPr>
              <a:t>contraste</a:t>
            </a:r>
            <a:r>
              <a:rPr lang="pt-BR" sz="3600" dirty="0">
                <a:latin typeface="Times New Roman" panose="02020603050405020304" pitchFamily="18" charset="0"/>
                <a:cs typeface="Times New Roman" panose="02020603050405020304" pitchFamily="18" charset="0"/>
              </a:rPr>
              <a:t>. Expressam superação de expectativas. “Concessão”:</a:t>
            </a:r>
            <a:r>
              <a:rPr lang="pt-BR" sz="2800" dirty="0">
                <a:latin typeface="Times New Roman" panose="02020603050405020304" pitchFamily="18" charset="0"/>
                <a:cs typeface="Times New Roman" panose="02020603050405020304" pitchFamily="18" charset="0"/>
              </a:rPr>
              <a:t> fato subordinado e contrário ao da ação principal de uma oração, mas incapaz de impedir que tal ação venha a ocorrer (p.ex.: </a:t>
            </a:r>
            <a:r>
              <a:rPr lang="pt-BR" sz="2800" i="1" dirty="0">
                <a:latin typeface="Times New Roman" panose="02020603050405020304" pitchFamily="18" charset="0"/>
                <a:cs typeface="Times New Roman" panose="02020603050405020304" pitchFamily="18" charset="0"/>
              </a:rPr>
              <a:t>ele não vai viajar, embora queira</a:t>
            </a:r>
            <a:r>
              <a:rPr lang="pt-BR" sz="2800" dirty="0">
                <a:latin typeface="Times New Roman" panose="02020603050405020304" pitchFamily="18" charset="0"/>
                <a:cs typeface="Times New Roman" panose="02020603050405020304" pitchFamily="18" charset="0"/>
              </a:rPr>
              <a:t>)</a:t>
            </a:r>
            <a:r>
              <a:rPr lang="pt-BR" sz="2800" b="1" dirty="0">
                <a:latin typeface="Times New Roman" panose="02020603050405020304" pitchFamily="18" charset="0"/>
                <a:cs typeface="Times New Roman" panose="02020603050405020304" pitchFamily="18" charset="0"/>
              </a:rPr>
              <a:t>.</a:t>
            </a:r>
            <a:endParaRPr lang="pt-BR" sz="28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64019" y="3111407"/>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IN SPITE OF</a:t>
            </a:r>
            <a:r>
              <a:rPr lang="pt-BR" sz="3000" dirty="0">
                <a:latin typeface="Times New Roman" panose="02020603050405020304" pitchFamily="18" charset="0"/>
                <a:cs typeface="Times New Roman" panose="02020603050405020304" pitchFamily="18" charset="0"/>
              </a:rPr>
              <a:t> (embora / apesar de): </a:t>
            </a:r>
            <a:r>
              <a:rPr lang="pt-BR" sz="3000" b="1" i="1" u="sng" dirty="0">
                <a:latin typeface="Times New Roman" panose="02020603050405020304" pitchFamily="18" charset="0"/>
                <a:cs typeface="Times New Roman" panose="02020603050405020304" pitchFamily="18" charset="0"/>
              </a:rPr>
              <a:t>In </a:t>
            </a:r>
            <a:r>
              <a:rPr lang="pt-BR" sz="3000" b="1" i="1" u="sng" dirty="0" err="1">
                <a:latin typeface="Times New Roman" panose="02020603050405020304" pitchFamily="18" charset="0"/>
                <a:cs typeface="Times New Roman" panose="02020603050405020304" pitchFamily="18" charset="0"/>
              </a:rPr>
              <a:t>spite</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sick</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went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work</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18943" y="4381421"/>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DESPITE</a:t>
            </a:r>
            <a:r>
              <a:rPr lang="pt-BR" sz="3000" dirty="0">
                <a:latin typeface="Times New Roman" panose="02020603050405020304" pitchFamily="18" charset="0"/>
                <a:cs typeface="Times New Roman" panose="02020603050405020304" pitchFamily="18" charset="0"/>
              </a:rPr>
              <a:t> (embora / apesar de):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had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walk</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away</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despite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my</a:t>
            </a:r>
            <a:r>
              <a:rPr lang="pt-BR" sz="3000" i="1" dirty="0">
                <a:latin typeface="Times New Roman" panose="02020603050405020304" pitchFamily="18" charset="0"/>
                <a:cs typeface="Times New Roman" panose="02020603050405020304" pitchFamily="18" charset="0"/>
              </a:rPr>
              <a:t> feelings for her.</a:t>
            </a:r>
            <a:endParaRPr lang="pt-BR" sz="3000"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264019" y="5651435"/>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WHEREAS</a:t>
            </a:r>
            <a:r>
              <a:rPr lang="pt-BR" sz="3000" dirty="0">
                <a:latin typeface="Times New Roman" panose="02020603050405020304" pitchFamily="18" charset="0"/>
                <a:cs typeface="Times New Roman" panose="02020603050405020304" pitchFamily="18" charset="0"/>
              </a:rPr>
              <a:t> (ao passo que / enquanto que):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like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powerful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music</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like</a:t>
            </a:r>
            <a:r>
              <a:rPr lang="pt-BR" sz="3000" i="1" dirty="0">
                <a:latin typeface="Times New Roman" panose="02020603050405020304" pitchFamily="18" charset="0"/>
                <a:cs typeface="Times New Roman" panose="02020603050405020304" pitchFamily="18" charset="0"/>
              </a:rPr>
              <a:t> Iron </a:t>
            </a:r>
            <a:r>
              <a:rPr lang="pt-BR" sz="3000" i="1" dirty="0" err="1">
                <a:latin typeface="Times New Roman" panose="02020603050405020304" pitchFamily="18" charset="0"/>
                <a:cs typeface="Times New Roman" panose="02020603050405020304" pitchFamily="18" charset="0"/>
              </a:rPr>
              <a:t>Maiden</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whereas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like</a:t>
            </a:r>
            <a:r>
              <a:rPr lang="pt-BR" sz="3000" i="1" dirty="0">
                <a:latin typeface="Times New Roman" panose="02020603050405020304" pitchFamily="18" charset="0"/>
                <a:cs typeface="Times New Roman" panose="02020603050405020304" pitchFamily="18" charset="0"/>
              </a:rPr>
              <a:t> Los Hermanos.</a:t>
            </a:r>
            <a:endParaRPr lang="pt-BR"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21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309095" y="221084"/>
            <a:ext cx="11539468" cy="1200329"/>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3.4 </a:t>
            </a:r>
            <a:r>
              <a:rPr lang="pt-BR" sz="3600" b="1" u="sng" dirty="0">
                <a:latin typeface="Times New Roman" panose="02020603050405020304" pitchFamily="18" charset="0"/>
                <a:cs typeface="Times New Roman" panose="02020603050405020304" pitchFamily="18" charset="0"/>
              </a:rPr>
              <a:t>Concessivas:</a:t>
            </a:r>
            <a:r>
              <a:rPr lang="pt-BR" sz="3600" dirty="0">
                <a:latin typeface="Times New Roman" panose="02020603050405020304" pitchFamily="18" charset="0"/>
                <a:cs typeface="Times New Roman" panose="02020603050405020304" pitchFamily="18" charset="0"/>
              </a:rPr>
              <a:t> também estabelecem ideia de </a:t>
            </a:r>
            <a:r>
              <a:rPr lang="pt-BR" sz="3600" b="1" dirty="0">
                <a:latin typeface="Times New Roman" panose="02020603050405020304" pitchFamily="18" charset="0"/>
                <a:cs typeface="Times New Roman" panose="02020603050405020304" pitchFamily="18" charset="0"/>
              </a:rPr>
              <a:t>oposição</a:t>
            </a:r>
            <a:r>
              <a:rPr lang="pt-BR" sz="3600" dirty="0">
                <a:latin typeface="Times New Roman" panose="02020603050405020304" pitchFamily="18" charset="0"/>
                <a:cs typeface="Times New Roman" panose="02020603050405020304" pitchFamily="18" charset="0"/>
              </a:rPr>
              <a:t>, </a:t>
            </a:r>
            <a:r>
              <a:rPr lang="pt-BR" sz="3600" b="1" dirty="0">
                <a:latin typeface="Times New Roman" panose="02020603050405020304" pitchFamily="18" charset="0"/>
                <a:cs typeface="Times New Roman" panose="02020603050405020304" pitchFamily="18" charset="0"/>
              </a:rPr>
              <a:t>contraste</a:t>
            </a:r>
            <a:r>
              <a:rPr lang="pt-BR" sz="3600" dirty="0">
                <a:latin typeface="Times New Roman" panose="02020603050405020304" pitchFamily="18" charset="0"/>
                <a:cs typeface="Times New Roman" panose="02020603050405020304" pitchFamily="18" charset="0"/>
              </a:rPr>
              <a:t>. Expressam superação de expectativas.</a:t>
            </a:r>
            <a:endParaRPr lang="pt-BR"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18943" y="1631674"/>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NOTWITHSTANDING</a:t>
            </a:r>
            <a:r>
              <a:rPr lang="pt-BR" sz="3000" dirty="0">
                <a:latin typeface="Times New Roman" panose="02020603050405020304" pitchFamily="18" charset="0"/>
                <a:cs typeface="Times New Roman" panose="02020603050405020304" pitchFamily="18" charset="0"/>
              </a:rPr>
              <a:t> (contudo / todavia):</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Notwithstanding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their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exhaustion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sadness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their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will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go </a:t>
            </a:r>
            <a:r>
              <a:rPr lang="pt-BR" sz="3000" i="1" dirty="0" err="1">
                <a:latin typeface="Times New Roman" panose="02020603050405020304" pitchFamily="18" charset="0"/>
                <a:cs typeface="Times New Roman" panose="02020603050405020304" pitchFamily="18" charset="0"/>
              </a:rPr>
              <a:t>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kept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strong</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18943" y="2962819"/>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ALBEIT</a:t>
            </a:r>
            <a:r>
              <a:rPr lang="pt-BR" sz="3000" dirty="0">
                <a:latin typeface="Times New Roman" panose="02020603050405020304" pitchFamily="18" charset="0"/>
                <a:cs typeface="Times New Roman" panose="02020603050405020304" pitchFamily="18" charset="0"/>
              </a:rPr>
              <a:t> (embora): </a:t>
            </a:r>
            <a:r>
              <a:rPr lang="pt-BR" sz="3000" b="1" i="1" u="sng" dirty="0" err="1">
                <a:latin typeface="Times New Roman" panose="02020603050405020304" pitchFamily="18" charset="0"/>
                <a:cs typeface="Times New Roman" panose="02020603050405020304" pitchFamily="18" charset="0"/>
              </a:rPr>
              <a:t>Albeit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was</a:t>
            </a:r>
            <a:r>
              <a:rPr lang="pt-BR" sz="3000" i="1" dirty="0">
                <a:latin typeface="Times New Roman" panose="02020603050405020304" pitchFamily="18" charset="0"/>
                <a:cs typeface="Times New Roman" panose="02020603050405020304" pitchFamily="18" charset="0"/>
              </a:rPr>
              <a:t> feeling </a:t>
            </a:r>
            <a:r>
              <a:rPr lang="pt-BR" sz="3000" i="1" dirty="0" err="1">
                <a:latin typeface="Times New Roman" panose="02020603050405020304" pitchFamily="18" charset="0"/>
                <a:cs typeface="Times New Roman" panose="02020603050405020304" pitchFamily="18" charset="0"/>
              </a:rPr>
              <a:t>down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agreed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go out </a:t>
            </a:r>
            <a:r>
              <a:rPr lang="pt-BR" sz="3000" i="1" dirty="0" err="1">
                <a:latin typeface="Times New Roman" panose="02020603050405020304" pitchFamily="18" charset="0"/>
                <a:cs typeface="Times New Roman" panose="02020603050405020304" pitchFamily="18" charset="0"/>
              </a:rPr>
              <a:t>that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night</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
        <p:nvSpPr>
          <p:cNvPr id="9" name="TextBox 5">
            <a:extLst>
              <a:ext uri="{FF2B5EF4-FFF2-40B4-BE49-F238E27FC236}">
                <a16:creationId xmlns:a16="http://schemas.microsoft.com/office/drawing/2014/main" id="{D9EF5F4D-A7CF-4553-BE6C-20FDFB5AF2FF}"/>
              </a:ext>
            </a:extLst>
          </p:cNvPr>
          <p:cNvSpPr txBox="1"/>
          <p:nvPr/>
        </p:nvSpPr>
        <p:spPr>
          <a:xfrm>
            <a:off x="264019" y="4322219"/>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ALTHOUGH</a:t>
            </a:r>
            <a:r>
              <a:rPr lang="pt-BR" sz="3000" dirty="0">
                <a:latin typeface="Times New Roman" panose="02020603050405020304" pitchFamily="18" charset="0"/>
                <a:cs typeface="Times New Roman" panose="02020603050405020304" pitchFamily="18" charset="0"/>
              </a:rPr>
              <a:t> (embora / apesar de):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think</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likes</a:t>
            </a:r>
            <a:r>
              <a:rPr lang="pt-BR" sz="3000" i="1" dirty="0">
                <a:latin typeface="Times New Roman" panose="02020603050405020304" pitchFamily="18" charset="0"/>
                <a:cs typeface="Times New Roman" panose="02020603050405020304" pitchFamily="18" charset="0"/>
              </a:rPr>
              <a:t> me, </a:t>
            </a:r>
            <a:r>
              <a:rPr lang="pt-BR" sz="3000" b="1" i="1" u="sng" dirty="0" err="1">
                <a:latin typeface="Times New Roman" panose="02020603050405020304" pitchFamily="18" charset="0"/>
                <a:cs typeface="Times New Roman" panose="02020603050405020304" pitchFamily="18" charset="0"/>
              </a:rPr>
              <a:t>although</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am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not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sure</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
        <p:nvSpPr>
          <p:cNvPr id="11" name="TextBox 6">
            <a:extLst>
              <a:ext uri="{FF2B5EF4-FFF2-40B4-BE49-F238E27FC236}">
                <a16:creationId xmlns:a16="http://schemas.microsoft.com/office/drawing/2014/main" id="{6D22ACA2-A485-46BF-856A-7C603F2938F6}"/>
              </a:ext>
            </a:extLst>
          </p:cNvPr>
          <p:cNvSpPr txBox="1"/>
          <p:nvPr/>
        </p:nvSpPr>
        <p:spPr>
          <a:xfrm>
            <a:off x="218943" y="5532147"/>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(EVEN) THOUGH</a:t>
            </a:r>
            <a:r>
              <a:rPr lang="pt-BR" sz="3000" dirty="0">
                <a:latin typeface="Times New Roman" panose="02020603050405020304" pitchFamily="18" charset="0"/>
                <a:cs typeface="Times New Roman" panose="02020603050405020304" pitchFamily="18" charset="0"/>
              </a:rPr>
              <a:t> (embora / apesar de): </a:t>
            </a:r>
            <a:r>
              <a:rPr lang="pt-BR" sz="3000" b="1" i="1" u="sng" dirty="0" err="1">
                <a:latin typeface="Times New Roman" panose="02020603050405020304" pitchFamily="18" charset="0"/>
                <a:cs typeface="Times New Roman" panose="02020603050405020304" pitchFamily="18" charset="0"/>
              </a:rPr>
              <a:t>Though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likes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cannot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find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courage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go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talk</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her.</a:t>
            </a:r>
            <a:endParaRPr lang="pt-BR"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290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309095" y="221084"/>
            <a:ext cx="11539468" cy="64633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3.5 </a:t>
            </a:r>
            <a:r>
              <a:rPr lang="pt-BR" sz="3600" b="1" u="sng" dirty="0">
                <a:latin typeface="Times New Roman" panose="02020603050405020304" pitchFamily="18" charset="0"/>
                <a:cs typeface="Times New Roman" panose="02020603050405020304" pitchFamily="18" charset="0"/>
              </a:rPr>
              <a:t>Causais:</a:t>
            </a:r>
            <a:r>
              <a:rPr lang="pt-BR" sz="3600" dirty="0">
                <a:latin typeface="Times New Roman" panose="02020603050405020304" pitchFamily="18" charset="0"/>
                <a:cs typeface="Times New Roman" panose="02020603050405020304" pitchFamily="18" charset="0"/>
              </a:rPr>
              <a:t> estabelecem relação de </a:t>
            </a:r>
            <a:r>
              <a:rPr lang="pt-BR" sz="3600" b="1" dirty="0">
                <a:latin typeface="Times New Roman" panose="02020603050405020304" pitchFamily="18" charset="0"/>
                <a:cs typeface="Times New Roman" panose="02020603050405020304" pitchFamily="18" charset="0"/>
              </a:rPr>
              <a:t>causa</a:t>
            </a:r>
            <a:r>
              <a:rPr lang="pt-BR" sz="3600" dirty="0">
                <a:latin typeface="Times New Roman" panose="02020603050405020304" pitchFamily="18" charset="0"/>
                <a:cs typeface="Times New Roman" panose="02020603050405020304" pitchFamily="18" charset="0"/>
              </a:rPr>
              <a:t>.</a:t>
            </a:r>
            <a:endParaRPr lang="pt-BR"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18943" y="1556644"/>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BECAUSE</a:t>
            </a:r>
            <a:r>
              <a:rPr lang="pt-BR" sz="3000" dirty="0">
                <a:latin typeface="Times New Roman" panose="02020603050405020304" pitchFamily="18" charset="0"/>
                <a:cs typeface="Times New Roman" panose="02020603050405020304" pitchFamily="18" charset="0"/>
              </a:rPr>
              <a:t> (porque): </a:t>
            </a:r>
            <a:r>
              <a:rPr lang="pt-BR" sz="3000" i="1" dirty="0">
                <a:latin typeface="Times New Roman" panose="02020603050405020304" pitchFamily="18" charset="0"/>
                <a:cs typeface="Times New Roman" panose="02020603050405020304" pitchFamily="18" charset="0"/>
              </a:rPr>
              <a:t>Michael </a:t>
            </a:r>
            <a:r>
              <a:rPr lang="pt-BR" sz="3000" i="1" dirty="0" err="1">
                <a:latin typeface="Times New Roman" panose="02020603050405020304" pitchFamily="18" charset="0"/>
                <a:cs typeface="Times New Roman" panose="02020603050405020304" pitchFamily="18" charset="0"/>
              </a:rPr>
              <a:t>Phelps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couldn’t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participate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olympic</a:t>
            </a:r>
            <a:r>
              <a:rPr lang="pt-BR" sz="3000" i="1" dirty="0">
                <a:latin typeface="Times New Roman" panose="02020603050405020304" pitchFamily="18" charset="0"/>
                <a:cs typeface="Times New Roman" panose="02020603050405020304" pitchFamily="18" charset="0"/>
              </a:rPr>
              <a:t> games </a:t>
            </a:r>
            <a:r>
              <a:rPr lang="pt-BR" sz="3000" b="1" i="1" u="sng" dirty="0" err="1">
                <a:latin typeface="Times New Roman" panose="02020603050405020304" pitchFamily="18" charset="0"/>
                <a:cs typeface="Times New Roman" panose="02020603050405020304" pitchFamily="18" charset="0"/>
              </a:rPr>
              <a:t>because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aligator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eaten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his</a:t>
            </a:r>
            <a:r>
              <a:rPr lang="pt-BR" sz="3000" i="1" dirty="0">
                <a:latin typeface="Times New Roman" panose="02020603050405020304" pitchFamily="18" charset="0"/>
                <a:cs typeface="Times New Roman" panose="02020603050405020304" pitchFamily="18" charset="0"/>
              </a:rPr>
              <a:t> leg.</a:t>
            </a:r>
            <a:endParaRPr lang="pt-BR" sz="30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18943" y="3248286"/>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DUE TO</a:t>
            </a:r>
            <a:r>
              <a:rPr lang="pt-BR" sz="3000"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OWING TO</a:t>
            </a:r>
            <a:r>
              <a:rPr lang="pt-BR" sz="3000" dirty="0">
                <a:latin typeface="Times New Roman" panose="02020603050405020304" pitchFamily="18" charset="0"/>
                <a:cs typeface="Times New Roman" panose="02020603050405020304" pitchFamily="18" charset="0"/>
              </a:rPr>
              <a:t> (devido a): </a:t>
            </a:r>
            <a:r>
              <a:rPr lang="pt-BR" sz="3000" i="1" dirty="0" err="1">
                <a:latin typeface="Times New Roman" panose="02020603050405020304" pitchFamily="18" charset="0"/>
                <a:cs typeface="Times New Roman" panose="02020603050405020304" pitchFamily="18" charset="0"/>
              </a:rPr>
              <a:t>They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couldn’t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travel</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due</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 </a:t>
            </a:r>
            <a:r>
              <a:rPr lang="pt-BR" sz="3000" b="1" i="1" u="sng" dirty="0" err="1">
                <a:latin typeface="Times New Roman" panose="02020603050405020304" pitchFamily="18" charset="0"/>
                <a:cs typeface="Times New Roman" panose="02020603050405020304" pitchFamily="18" charset="0"/>
              </a:rPr>
              <a:t>owing</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problem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with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car’s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engine</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218943" y="5144112"/>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THANKS TO</a:t>
            </a:r>
            <a:r>
              <a:rPr lang="pt-BR" sz="3000" dirty="0">
                <a:latin typeface="Times New Roman" panose="02020603050405020304" pitchFamily="18" charset="0"/>
                <a:cs typeface="Times New Roman" panose="02020603050405020304" pitchFamily="18" charset="0"/>
              </a:rPr>
              <a:t> (graças à/ao):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managed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win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game </a:t>
            </a:r>
            <a:r>
              <a:rPr lang="pt-BR" sz="3000" b="1" i="1" u="sng" dirty="0" err="1">
                <a:latin typeface="Times New Roman" panose="02020603050405020304" pitchFamily="18" charset="0"/>
                <a:cs typeface="Times New Roman" panose="02020603050405020304" pitchFamily="18" charset="0"/>
              </a:rPr>
              <a:t>thanks</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advice</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839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309095" y="221084"/>
            <a:ext cx="11539468" cy="64633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3.5 </a:t>
            </a:r>
            <a:r>
              <a:rPr lang="pt-BR" sz="3600" b="1" u="sng" dirty="0">
                <a:latin typeface="Times New Roman" panose="02020603050405020304" pitchFamily="18" charset="0"/>
                <a:cs typeface="Times New Roman" panose="02020603050405020304" pitchFamily="18" charset="0"/>
              </a:rPr>
              <a:t>Causais:</a:t>
            </a:r>
            <a:r>
              <a:rPr lang="pt-BR" sz="3600" dirty="0">
                <a:latin typeface="Times New Roman" panose="02020603050405020304" pitchFamily="18" charset="0"/>
                <a:cs typeface="Times New Roman" panose="02020603050405020304" pitchFamily="18" charset="0"/>
              </a:rPr>
              <a:t> estabelecem relação de </a:t>
            </a:r>
            <a:r>
              <a:rPr lang="pt-BR" sz="3600" b="1" dirty="0">
                <a:latin typeface="Times New Roman" panose="02020603050405020304" pitchFamily="18" charset="0"/>
                <a:cs typeface="Times New Roman" panose="02020603050405020304" pitchFamily="18" charset="0"/>
              </a:rPr>
              <a:t>causa</a:t>
            </a:r>
            <a:r>
              <a:rPr lang="pt-BR" sz="3600" dirty="0">
                <a:latin typeface="Times New Roman" panose="02020603050405020304" pitchFamily="18" charset="0"/>
                <a:cs typeface="Times New Roman" panose="02020603050405020304" pitchFamily="18" charset="0"/>
              </a:rPr>
              <a:t>.</a:t>
            </a:r>
            <a:endParaRPr lang="pt-BR" sz="36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18943" y="1553532"/>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SINCE</a:t>
            </a:r>
            <a:r>
              <a:rPr lang="pt-BR" sz="3000" dirty="0">
                <a:latin typeface="Times New Roman" panose="02020603050405020304" pitchFamily="18" charset="0"/>
                <a:cs typeface="Times New Roman" panose="02020603050405020304" pitchFamily="18" charset="0"/>
              </a:rPr>
              <a:t> (uma vez que / já que): </a:t>
            </a:r>
            <a:r>
              <a:rPr lang="pt-BR" sz="3000" i="1" dirty="0" err="1">
                <a:latin typeface="Times New Roman" panose="02020603050405020304" pitchFamily="18" charset="0"/>
                <a:cs typeface="Times New Roman" panose="02020603050405020304" pitchFamily="18" charset="0"/>
              </a:rPr>
              <a:t>We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decided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stop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rest</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since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were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tired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could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not</a:t>
            </a:r>
            <a:r>
              <a:rPr lang="pt-BR" sz="3000" i="1" dirty="0">
                <a:latin typeface="Times New Roman" panose="02020603050405020304" pitchFamily="18" charset="0"/>
                <a:cs typeface="Times New Roman" panose="02020603050405020304" pitchFamily="18" charset="0"/>
              </a:rPr>
              <a:t> move </a:t>
            </a:r>
            <a:r>
              <a:rPr lang="pt-BR" sz="3000" i="1" dirty="0" err="1">
                <a:latin typeface="Times New Roman" panose="02020603050405020304" pitchFamily="18" charset="0"/>
                <a:cs typeface="Times New Roman" panose="02020603050405020304" pitchFamily="18" charset="0"/>
              </a:rPr>
              <a:t>on</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218943" y="3289560"/>
            <a:ext cx="11629620" cy="55399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FOR</a:t>
            </a:r>
            <a:r>
              <a:rPr lang="pt-BR" sz="3000" dirty="0">
                <a:latin typeface="Times New Roman" panose="02020603050405020304" pitchFamily="18" charset="0"/>
                <a:cs typeface="Times New Roman" panose="02020603050405020304" pitchFamily="18" charset="0"/>
              </a:rPr>
              <a:t> (pois / porque):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am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happy</a:t>
            </a:r>
            <a:r>
              <a:rPr lang="pt-BR" sz="3000" i="1" dirty="0">
                <a:latin typeface="Times New Roman" panose="02020603050405020304" pitchFamily="18" charset="0"/>
                <a:cs typeface="Times New Roman" panose="02020603050405020304" pitchFamily="18" charset="0"/>
              </a:rPr>
              <a:t>, </a:t>
            </a:r>
            <a:r>
              <a:rPr lang="pt-BR" sz="3000" b="1" i="1" u="sng" dirty="0">
                <a:latin typeface="Times New Roman" panose="02020603050405020304" pitchFamily="18" charset="0"/>
                <a:cs typeface="Times New Roman" panose="02020603050405020304" pitchFamily="18" charset="0"/>
              </a:rPr>
              <a:t>for</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am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with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218943" y="5851186"/>
            <a:ext cx="11629620" cy="55399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OVER</a:t>
            </a:r>
            <a:r>
              <a:rPr lang="pt-BR" sz="3000" dirty="0">
                <a:latin typeface="Times New Roman" panose="02020603050405020304" pitchFamily="18" charset="0"/>
                <a:cs typeface="Times New Roman" panose="02020603050405020304" pitchFamily="18" charset="0"/>
              </a:rPr>
              <a:t> (por causa):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am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happy</a:t>
            </a:r>
            <a:r>
              <a:rPr lang="pt-BR" sz="3000" i="1" dirty="0">
                <a:latin typeface="Times New Roman" panose="02020603050405020304" pitchFamily="18" charset="0"/>
                <a:cs typeface="Times New Roman" panose="02020603050405020304" pitchFamily="18" charset="0"/>
              </a:rPr>
              <a:t> </a:t>
            </a:r>
            <a:r>
              <a:rPr lang="pt-BR" sz="3000" b="1" i="1" u="sng" dirty="0">
                <a:latin typeface="Times New Roman" panose="02020603050405020304" pitchFamily="18" charset="0"/>
                <a:cs typeface="Times New Roman" panose="02020603050405020304" pitchFamily="18" charset="0"/>
              </a:rPr>
              <a:t>over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president’s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arrest</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6A6DF9C-E5A7-4EA4-B2D2-84DE532216C9}"/>
              </a:ext>
            </a:extLst>
          </p:cNvPr>
          <p:cNvSpPr txBox="1"/>
          <p:nvPr/>
        </p:nvSpPr>
        <p:spPr>
          <a:xfrm>
            <a:off x="218943" y="4471770"/>
            <a:ext cx="11629620" cy="55399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AS</a:t>
            </a:r>
            <a:r>
              <a:rPr lang="pt-BR" sz="3000" dirty="0">
                <a:latin typeface="Times New Roman" panose="02020603050405020304" pitchFamily="18" charset="0"/>
                <a:cs typeface="Times New Roman" panose="02020603050405020304" pitchFamily="18" charset="0"/>
              </a:rPr>
              <a:t> (porque): </a:t>
            </a:r>
            <a:r>
              <a:rPr lang="pt-BR" sz="3000" b="1" i="1" u="sng" dirty="0">
                <a:latin typeface="Times New Roman" panose="02020603050405020304" pitchFamily="18" charset="0"/>
                <a:cs typeface="Times New Roman" panose="02020603050405020304" pitchFamily="18" charset="0"/>
              </a:rPr>
              <a:t>As</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am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not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afraid</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will</a:t>
            </a:r>
            <a:r>
              <a:rPr lang="pt-BR" sz="3000" i="1" dirty="0">
                <a:latin typeface="Times New Roman" panose="02020603050405020304" pitchFamily="18" charset="0"/>
                <a:cs typeface="Times New Roman" panose="02020603050405020304" pitchFamily="18" charset="0"/>
              </a:rPr>
              <a:t> lead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way</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2881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309095" y="221084"/>
            <a:ext cx="11539468" cy="64633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3.6 </a:t>
            </a:r>
            <a:r>
              <a:rPr lang="pt-BR" sz="3600" b="1" u="sng" dirty="0">
                <a:latin typeface="Times New Roman" panose="02020603050405020304" pitchFamily="18" charset="0"/>
                <a:cs typeface="Times New Roman" panose="02020603050405020304" pitchFamily="18" charset="0"/>
              </a:rPr>
              <a:t>Temporais:</a:t>
            </a:r>
            <a:r>
              <a:rPr lang="pt-BR" sz="3600" dirty="0">
                <a:latin typeface="Times New Roman" panose="02020603050405020304" pitchFamily="18" charset="0"/>
                <a:cs typeface="Times New Roman" panose="02020603050405020304" pitchFamily="18" charset="0"/>
              </a:rPr>
              <a:t> associam os elementos em relação ao </a:t>
            </a:r>
            <a:r>
              <a:rPr lang="pt-BR" sz="3600" b="1" dirty="0">
                <a:latin typeface="Times New Roman" panose="02020603050405020304" pitchFamily="18" charset="0"/>
                <a:cs typeface="Times New Roman" panose="02020603050405020304" pitchFamily="18" charset="0"/>
              </a:rPr>
              <a:t>tempo</a:t>
            </a:r>
            <a:r>
              <a:rPr lang="pt-BR" sz="3600" dirty="0">
                <a:latin typeface="Times New Roman" panose="02020603050405020304" pitchFamily="18" charset="0"/>
                <a:cs typeface="Times New Roman" panose="02020603050405020304" pitchFamily="18" charset="0"/>
              </a:rPr>
              <a:t>.</a:t>
            </a:r>
            <a:endParaRPr lang="pt-BR"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64019" y="1226382"/>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WHEN</a:t>
            </a:r>
            <a:r>
              <a:rPr lang="pt-BR" sz="3000"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BY THE TIME</a:t>
            </a:r>
            <a:r>
              <a:rPr lang="pt-BR" sz="3000" dirty="0">
                <a:latin typeface="Times New Roman" panose="02020603050405020304" pitchFamily="18" charset="0"/>
                <a:cs typeface="Times New Roman" panose="02020603050405020304" pitchFamily="18" charset="0"/>
              </a:rPr>
              <a:t> (quando / no momento em que):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was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singing</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shower</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when</a:t>
            </a:r>
            <a:r>
              <a:rPr lang="pt-BR" sz="3000" i="1" dirty="0">
                <a:latin typeface="Times New Roman" panose="02020603050405020304" pitchFamily="18" charset="0"/>
                <a:cs typeface="Times New Roman" panose="02020603050405020304" pitchFamily="18" charset="0"/>
              </a:rPr>
              <a:t> / </a:t>
            </a:r>
            <a:r>
              <a:rPr lang="pt-BR" sz="3000" b="1" i="1" u="sng" dirty="0" err="1">
                <a:latin typeface="Times New Roman" panose="02020603050405020304" pitchFamily="18" charset="0"/>
                <a:cs typeface="Times New Roman" panose="02020603050405020304" pitchFamily="18" charset="0"/>
              </a:rPr>
              <a:t>by</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the</a:t>
            </a:r>
            <a:r>
              <a:rPr lang="pt-BR" sz="3000" b="1" i="1" u="sng" dirty="0">
                <a:latin typeface="Times New Roman" panose="02020603050405020304" pitchFamily="18" charset="0"/>
                <a:cs typeface="Times New Roman" panose="02020603050405020304" pitchFamily="18" charset="0"/>
              </a:rPr>
              <a:t> time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gremlins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attacked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house</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18943" y="2475266"/>
            <a:ext cx="11629620" cy="55399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WHILE</a:t>
            </a:r>
            <a:r>
              <a:rPr lang="pt-BR" sz="3000" dirty="0">
                <a:latin typeface="Times New Roman" panose="02020603050405020304" pitchFamily="18" charset="0"/>
                <a:cs typeface="Times New Roman" panose="02020603050405020304" pitchFamily="18" charset="0"/>
              </a:rPr>
              <a:t> (enquanto): </a:t>
            </a:r>
            <a:r>
              <a:rPr lang="pt-BR" sz="3000" i="1" dirty="0" err="1">
                <a:latin typeface="Times New Roman" panose="02020603050405020304" pitchFamily="18" charset="0"/>
                <a:cs typeface="Times New Roman" panose="02020603050405020304" pitchFamily="18" charset="0"/>
              </a:rPr>
              <a:t>Why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don’t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set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table</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while</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finish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cooking</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218943" y="3262485"/>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AS SOON AS</a:t>
            </a:r>
            <a:r>
              <a:rPr lang="pt-BR" sz="3000" dirty="0">
                <a:latin typeface="Times New Roman" panose="02020603050405020304" pitchFamily="18" charset="0"/>
                <a:cs typeface="Times New Roman" panose="02020603050405020304" pitchFamily="18" charset="0"/>
              </a:rPr>
              <a:t> (logo que / assim que): </a:t>
            </a:r>
            <a:r>
              <a:rPr lang="pt-BR" sz="3000" i="1" dirty="0">
                <a:latin typeface="Times New Roman" panose="02020603050405020304" pitchFamily="18" charset="0"/>
                <a:cs typeface="Times New Roman" panose="02020603050405020304" pitchFamily="18" charset="0"/>
              </a:rPr>
              <a:t>I came </a:t>
            </a:r>
            <a:r>
              <a:rPr lang="pt-BR" sz="3000" i="1" dirty="0" err="1">
                <a:latin typeface="Times New Roman" panose="02020603050405020304" pitchFamily="18" charset="0"/>
                <a:cs typeface="Times New Roman" panose="02020603050405020304" pitchFamily="18" charset="0"/>
              </a:rPr>
              <a:t>running</a:t>
            </a:r>
            <a:r>
              <a:rPr lang="pt-BR" sz="3000" i="1" dirty="0">
                <a:latin typeface="Times New Roman" panose="02020603050405020304" pitchFamily="18" charset="0"/>
                <a:cs typeface="Times New Roman" panose="02020603050405020304" pitchFamily="18" charset="0"/>
              </a:rPr>
              <a:t> </a:t>
            </a:r>
            <a:r>
              <a:rPr lang="pt-BR" sz="3000" b="1" i="1" u="sng" dirty="0">
                <a:latin typeface="Times New Roman" panose="02020603050405020304" pitchFamily="18" charset="0"/>
                <a:cs typeface="Times New Roman" panose="02020603050405020304" pitchFamily="18" charset="0"/>
              </a:rPr>
              <a:t>as </a:t>
            </a:r>
            <a:r>
              <a:rPr lang="pt-BR" sz="3000" b="1" i="1" u="sng" dirty="0" err="1">
                <a:latin typeface="Times New Roman" panose="02020603050405020304" pitchFamily="18" charset="0"/>
                <a:cs typeface="Times New Roman" panose="02020603050405020304" pitchFamily="18" charset="0"/>
              </a:rPr>
              <a:t>soon</a:t>
            </a:r>
            <a:r>
              <a:rPr lang="pt-BR" sz="3000" b="1" i="1" u="sng" dirty="0">
                <a:latin typeface="Times New Roman" panose="02020603050405020304" pitchFamily="18" charset="0"/>
                <a:cs typeface="Times New Roman" panose="02020603050405020304" pitchFamily="18" charset="0"/>
              </a:rPr>
              <a:t> as</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heard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there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would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icecream</a:t>
            </a:r>
            <a:r>
              <a:rPr lang="pt-BR" sz="3000" i="1" dirty="0">
                <a:latin typeface="Times New Roman" panose="02020603050405020304" pitchFamily="18" charset="0"/>
                <a:cs typeface="Times New Roman" panose="02020603050405020304" pitchFamily="18" charset="0"/>
              </a:rPr>
              <a:t> for </a:t>
            </a:r>
            <a:r>
              <a:rPr lang="pt-BR" sz="3000" i="1" dirty="0" err="1">
                <a:latin typeface="Times New Roman" panose="02020603050405020304" pitchFamily="18" charset="0"/>
                <a:cs typeface="Times New Roman" panose="02020603050405020304" pitchFamily="18" charset="0"/>
              </a:rPr>
              <a:t>dessert</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64019" y="4511369"/>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SINCE</a:t>
            </a:r>
            <a:r>
              <a:rPr lang="pt-BR" sz="3000" dirty="0">
                <a:latin typeface="Times New Roman" panose="02020603050405020304" pitchFamily="18" charset="0"/>
                <a:cs typeface="Times New Roman" panose="02020603050405020304" pitchFamily="18" charset="0"/>
              </a:rPr>
              <a:t> (desde (que)):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have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hated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since</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saw</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ugly</a:t>
            </a:r>
            <a:r>
              <a:rPr lang="pt-BR" sz="3000" i="1" dirty="0">
                <a:latin typeface="Times New Roman" panose="02020603050405020304" pitchFamily="18" charset="0"/>
                <a:cs typeface="Times New Roman" panose="02020603050405020304" pitchFamily="18" charset="0"/>
              </a:rPr>
              <a:t> face for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first</a:t>
            </a:r>
            <a:r>
              <a:rPr lang="pt-BR" sz="3000" i="1" dirty="0">
                <a:latin typeface="Times New Roman" panose="02020603050405020304" pitchFamily="18" charset="0"/>
                <a:cs typeface="Times New Roman" panose="02020603050405020304" pitchFamily="18" charset="0"/>
              </a:rPr>
              <a:t> time.</a:t>
            </a:r>
            <a:endParaRPr lang="pt-BR" sz="3000" b="1" i="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218943" y="5760253"/>
            <a:ext cx="11629620" cy="55399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UNTIL</a:t>
            </a:r>
            <a:r>
              <a:rPr lang="pt-BR" sz="3000" dirty="0">
                <a:latin typeface="Times New Roman" panose="02020603050405020304" pitchFamily="18" charset="0"/>
                <a:cs typeface="Times New Roman" panose="02020603050405020304" pitchFamily="18" charset="0"/>
              </a:rPr>
              <a:t> (até (que)):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laughed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laughed</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until</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couldn’t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breathe</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1039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218943" y="217155"/>
            <a:ext cx="11539468" cy="1200329"/>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3.7 </a:t>
            </a:r>
            <a:r>
              <a:rPr lang="pt-BR" sz="3600" b="1" u="sng" dirty="0">
                <a:latin typeface="Times New Roman" panose="02020603050405020304" pitchFamily="18" charset="0"/>
                <a:cs typeface="Times New Roman" panose="02020603050405020304" pitchFamily="18" charset="0"/>
              </a:rPr>
              <a:t>Substitutivas:</a:t>
            </a:r>
            <a:r>
              <a:rPr lang="pt-BR" sz="3600" dirty="0">
                <a:latin typeface="Times New Roman" panose="02020603050405020304" pitchFamily="18" charset="0"/>
                <a:cs typeface="Times New Roman" panose="02020603050405020304" pitchFamily="18" charset="0"/>
              </a:rPr>
              <a:t> estabelecem uma relação de </a:t>
            </a:r>
            <a:r>
              <a:rPr lang="pt-BR" sz="3600" b="1" dirty="0">
                <a:latin typeface="Times New Roman" panose="02020603050405020304" pitchFamily="18" charset="0"/>
                <a:cs typeface="Times New Roman" panose="02020603050405020304" pitchFamily="18" charset="0"/>
              </a:rPr>
              <a:t>substituição</a:t>
            </a:r>
            <a:r>
              <a:rPr lang="pt-BR" sz="3600" dirty="0">
                <a:latin typeface="Times New Roman" panose="02020603050405020304" pitchFamily="18" charset="0"/>
                <a:cs typeface="Times New Roman" panose="02020603050405020304" pitchFamily="18" charset="0"/>
              </a:rPr>
              <a:t>, dão ideia de </a:t>
            </a:r>
            <a:r>
              <a:rPr lang="pt-BR" sz="3600" b="1" dirty="0">
                <a:latin typeface="Times New Roman" panose="02020603050405020304" pitchFamily="18" charset="0"/>
                <a:cs typeface="Times New Roman" panose="02020603050405020304" pitchFamily="18" charset="0"/>
              </a:rPr>
              <a:t>alternativa</a:t>
            </a:r>
            <a:r>
              <a:rPr lang="pt-BR" sz="3600" dirty="0">
                <a:latin typeface="Times New Roman" panose="02020603050405020304" pitchFamily="18" charset="0"/>
                <a:cs typeface="Times New Roman" panose="02020603050405020304" pitchFamily="18" charset="0"/>
              </a:rPr>
              <a:t>.</a:t>
            </a:r>
            <a:endParaRPr lang="pt-BR" sz="36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18943" y="1855113"/>
            <a:ext cx="11629620" cy="147732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INSTEAD</a:t>
            </a:r>
            <a:r>
              <a:rPr lang="pt-BR" sz="3000"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RATHER</a:t>
            </a:r>
            <a:r>
              <a:rPr lang="pt-BR" sz="3000" dirty="0">
                <a:latin typeface="Times New Roman" panose="02020603050405020304" pitchFamily="18" charset="0"/>
                <a:cs typeface="Times New Roman" panose="02020603050405020304" pitchFamily="18" charset="0"/>
              </a:rPr>
              <a:t> (em vez disso / preferivelmente):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am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not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going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sit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here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let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insult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my</a:t>
            </a:r>
            <a:r>
              <a:rPr lang="pt-BR" sz="3000" i="1" dirty="0">
                <a:latin typeface="Times New Roman" panose="02020603050405020304" pitchFamily="18" charset="0"/>
                <a:cs typeface="Times New Roman" panose="02020603050405020304" pitchFamily="18" charset="0"/>
              </a:rPr>
              <a:t> friends. </a:t>
            </a:r>
            <a:r>
              <a:rPr lang="pt-BR" sz="3000" b="1" i="1" u="sng" dirty="0" err="1">
                <a:latin typeface="Times New Roman" panose="02020603050405020304" pitchFamily="18" charset="0"/>
                <a:cs typeface="Times New Roman" panose="02020603050405020304" pitchFamily="18" charset="0"/>
              </a:rPr>
              <a:t>Instead</a:t>
            </a:r>
            <a:r>
              <a:rPr lang="pt-BR" sz="3000" i="1" dirty="0">
                <a:latin typeface="Times New Roman" panose="02020603050405020304" pitchFamily="18" charset="0"/>
                <a:cs typeface="Times New Roman" panose="02020603050405020304" pitchFamily="18" charset="0"/>
              </a:rPr>
              <a:t> / </a:t>
            </a:r>
            <a:r>
              <a:rPr lang="pt-BR" sz="3000" b="1" i="1" u="sng" dirty="0" err="1">
                <a:latin typeface="Times New Roman" panose="02020603050405020304" pitchFamily="18" charset="0"/>
                <a:cs typeface="Times New Roman" panose="02020603050405020304" pitchFamily="18" charset="0"/>
              </a:rPr>
              <a:t>Rather</a:t>
            </a:r>
            <a:r>
              <a:rPr lang="pt-BR" sz="3000" i="1" dirty="0">
                <a:latin typeface="Times New Roman" panose="02020603050405020304" pitchFamily="18" charset="0"/>
                <a:cs typeface="Times New Roman" panose="02020603050405020304" pitchFamily="18" charset="0"/>
              </a:rPr>
              <a:t>, I </a:t>
            </a:r>
            <a:r>
              <a:rPr lang="pt-BR" sz="3000" i="1" dirty="0" err="1">
                <a:latin typeface="Times New Roman" panose="02020603050405020304" pitchFamily="18" charset="0"/>
                <a:cs typeface="Times New Roman" panose="02020603050405020304" pitchFamily="18" charset="0"/>
              </a:rPr>
              <a:t>am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going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have</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word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with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them</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218943" y="4119874"/>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RATHER THAN</a:t>
            </a:r>
            <a:r>
              <a:rPr lang="pt-BR" sz="3000"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INSTEAD OF</a:t>
            </a:r>
            <a:r>
              <a:rPr lang="pt-BR" sz="3000" dirty="0">
                <a:latin typeface="Times New Roman" panose="02020603050405020304" pitchFamily="18" charset="0"/>
                <a:cs typeface="Times New Roman" panose="02020603050405020304" pitchFamily="18" charset="0"/>
              </a:rPr>
              <a:t> (em vez de):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should</a:t>
            </a:r>
            <a:r>
              <a:rPr lang="pt-BR" sz="3000" i="1" dirty="0">
                <a:latin typeface="Times New Roman" panose="02020603050405020304" pitchFamily="18" charset="0"/>
                <a:cs typeface="Times New Roman" panose="02020603050405020304" pitchFamily="18" charset="0"/>
              </a:rPr>
              <a:t> go out </a:t>
            </a:r>
            <a:r>
              <a:rPr lang="pt-BR" sz="3000" i="1" dirty="0" err="1">
                <a:latin typeface="Times New Roman" panose="02020603050405020304" pitchFamily="18" charset="0"/>
                <a:cs typeface="Times New Roman" panose="02020603050405020304" pitchFamily="18" charset="0"/>
              </a:rPr>
              <a:t>there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face </a:t>
            </a:r>
            <a:r>
              <a:rPr lang="pt-BR" sz="3000" i="1" dirty="0" err="1">
                <a:latin typeface="Times New Roman" panose="02020603050405020304" pitchFamily="18" charset="0"/>
                <a:cs typeface="Times New Roman" panose="02020603050405020304" pitchFamily="18" charset="0"/>
              </a:rPr>
              <a:t>your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problems</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instead</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 </a:t>
            </a:r>
            <a:r>
              <a:rPr lang="pt-BR" sz="3000" b="1" i="1" u="sng" dirty="0" err="1">
                <a:latin typeface="Times New Roman" panose="02020603050405020304" pitchFamily="18" charset="0"/>
                <a:cs typeface="Times New Roman" panose="02020603050405020304" pitchFamily="18" charset="0"/>
              </a:rPr>
              <a:t>rather</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than</a:t>
            </a:r>
            <a:r>
              <a:rPr lang="pt-BR" sz="3000" i="1" dirty="0">
                <a:latin typeface="Times New Roman" panose="02020603050405020304" pitchFamily="18" charset="0"/>
                <a:cs typeface="Times New Roman" panose="02020603050405020304" pitchFamily="18" charset="0"/>
              </a:rPr>
              <a:t> living </a:t>
            </a:r>
            <a:r>
              <a:rPr lang="pt-BR" sz="3000" i="1" dirty="0" err="1">
                <a:latin typeface="Times New Roman" panose="02020603050405020304" pitchFamily="18" charset="0"/>
                <a:cs typeface="Times New Roman" panose="02020603050405020304" pitchFamily="18" charset="0"/>
              </a:rPr>
              <a:t>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fearing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failure</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966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218943" y="217155"/>
            <a:ext cx="11539468" cy="64633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3.8 </a:t>
            </a:r>
            <a:r>
              <a:rPr lang="pt-BR" sz="3600" b="1" u="sng" dirty="0">
                <a:latin typeface="Times New Roman" panose="02020603050405020304" pitchFamily="18" charset="0"/>
                <a:cs typeface="Times New Roman" panose="02020603050405020304" pitchFamily="18" charset="0"/>
              </a:rPr>
              <a:t>Condicionais:</a:t>
            </a:r>
            <a:r>
              <a:rPr lang="pt-BR" sz="3600" dirty="0">
                <a:latin typeface="Times New Roman" panose="02020603050405020304" pitchFamily="18" charset="0"/>
                <a:cs typeface="Times New Roman" panose="02020603050405020304" pitchFamily="18" charset="0"/>
              </a:rPr>
              <a:t> estabelecem uma </a:t>
            </a:r>
            <a:r>
              <a:rPr lang="pt-BR" sz="3600" b="1" dirty="0">
                <a:latin typeface="Times New Roman" panose="02020603050405020304" pitchFamily="18" charset="0"/>
                <a:cs typeface="Times New Roman" panose="02020603050405020304" pitchFamily="18" charset="0"/>
              </a:rPr>
              <a:t>condição</a:t>
            </a:r>
            <a:r>
              <a:rPr lang="pt-BR" sz="3600" dirty="0">
                <a:latin typeface="Times New Roman" panose="02020603050405020304" pitchFamily="18" charset="0"/>
                <a:cs typeface="Times New Roman" panose="02020603050405020304" pitchFamily="18" charset="0"/>
              </a:rPr>
              <a:t>, </a:t>
            </a:r>
            <a:r>
              <a:rPr lang="pt-BR" sz="3600" b="1" dirty="0">
                <a:latin typeface="Times New Roman" panose="02020603050405020304" pitchFamily="18" charset="0"/>
                <a:cs typeface="Times New Roman" panose="02020603050405020304" pitchFamily="18" charset="0"/>
              </a:rPr>
              <a:t>pré-requisito</a:t>
            </a:r>
            <a:r>
              <a:rPr lang="pt-BR" sz="3600" dirty="0">
                <a:latin typeface="Times New Roman" panose="02020603050405020304" pitchFamily="18" charset="0"/>
                <a:cs typeface="Times New Roman" panose="02020603050405020304" pitchFamily="18" charset="0"/>
              </a:rPr>
              <a:t>.</a:t>
            </a:r>
            <a:endParaRPr lang="pt-BR" sz="36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18943" y="1452931"/>
            <a:ext cx="11629620" cy="55399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IF</a:t>
            </a:r>
            <a:r>
              <a:rPr lang="pt-BR" sz="3000" dirty="0">
                <a:latin typeface="Times New Roman" panose="02020603050405020304" pitchFamily="18" charset="0"/>
                <a:cs typeface="Times New Roman" panose="02020603050405020304" pitchFamily="18" charset="0"/>
              </a:rPr>
              <a:t> (se): </a:t>
            </a:r>
            <a:r>
              <a:rPr lang="pt-BR" sz="3000" b="1" i="1" u="sng" dirty="0" err="1">
                <a:latin typeface="Times New Roman" panose="02020603050405020304" pitchFamily="18" charset="0"/>
                <a:cs typeface="Times New Roman" panose="02020603050405020304" pitchFamily="18" charset="0"/>
              </a:rPr>
              <a:t>If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help me, I </a:t>
            </a:r>
            <a:r>
              <a:rPr lang="pt-BR" sz="3000" i="1" dirty="0" err="1">
                <a:latin typeface="Times New Roman" panose="02020603050405020304" pitchFamily="18" charset="0"/>
                <a:cs typeface="Times New Roman" panose="02020603050405020304" pitchFamily="18" charset="0"/>
              </a:rPr>
              <a:t>will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send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some </a:t>
            </a:r>
            <a:r>
              <a:rPr lang="pt-BR" sz="3000" i="1" dirty="0" err="1">
                <a:latin typeface="Times New Roman" panose="02020603050405020304" pitchFamily="18" charset="0"/>
                <a:cs typeface="Times New Roman" panose="02020603050405020304" pitchFamily="18" charset="0"/>
              </a:rPr>
              <a:t>gifts</a:t>
            </a:r>
            <a:r>
              <a:rPr lang="pt-BR" sz="3000" i="1" dirty="0">
                <a:latin typeface="Times New Roman" panose="02020603050405020304" pitchFamily="18" charset="0"/>
                <a:cs typeface="Times New Roman" panose="02020603050405020304" pitchFamily="18" charset="0"/>
              </a:rPr>
              <a:t>.</a:t>
            </a:r>
            <a:endParaRPr lang="pt-BR" sz="3000" b="1" i="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218943" y="2596374"/>
            <a:ext cx="11629620" cy="55399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UNLESS</a:t>
            </a:r>
            <a:r>
              <a:rPr lang="pt-BR" sz="3000" dirty="0">
                <a:latin typeface="Times New Roman" panose="02020603050405020304" pitchFamily="18" charset="0"/>
                <a:cs typeface="Times New Roman" panose="02020603050405020304" pitchFamily="18" charset="0"/>
              </a:rPr>
              <a:t> (a menos que):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won’t</a:t>
            </a:r>
            <a:r>
              <a:rPr lang="pt-BR" sz="3000" i="1" dirty="0">
                <a:latin typeface="Times New Roman" panose="02020603050405020304" pitchFamily="18" charset="0"/>
                <a:cs typeface="Times New Roman" panose="02020603050405020304" pitchFamily="18" charset="0"/>
              </a:rPr>
              <a:t> go out </a:t>
            </a:r>
            <a:r>
              <a:rPr lang="pt-BR" sz="3000" i="1" dirty="0" err="1">
                <a:latin typeface="Times New Roman" panose="02020603050405020304" pitchFamily="18" charset="0"/>
                <a:cs typeface="Times New Roman" panose="02020603050405020304" pitchFamily="18" charset="0"/>
              </a:rPr>
              <a:t>tonight</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unless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go </a:t>
            </a:r>
            <a:r>
              <a:rPr lang="pt-BR" sz="3000" i="1" dirty="0" err="1">
                <a:latin typeface="Times New Roman" panose="02020603050405020304" pitchFamily="18" charset="0"/>
                <a:cs typeface="Times New Roman" panose="02020603050405020304" pitchFamily="18" charset="0"/>
              </a:rPr>
              <a:t>with</a:t>
            </a:r>
            <a:r>
              <a:rPr lang="pt-BR" sz="3000" i="1" dirty="0">
                <a:latin typeface="Times New Roman" panose="02020603050405020304" pitchFamily="18" charset="0"/>
                <a:cs typeface="Times New Roman" panose="02020603050405020304" pitchFamily="18" charset="0"/>
              </a:rPr>
              <a:t> me.</a:t>
            </a:r>
            <a:endParaRPr lang="pt-BR" sz="3000" b="1" i="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18943" y="3739817"/>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AS LONG AS</a:t>
            </a:r>
            <a:r>
              <a:rPr lang="pt-BR" sz="3000" dirty="0">
                <a:latin typeface="Times New Roman" panose="02020603050405020304" pitchFamily="18" charset="0"/>
                <a:cs typeface="Times New Roman" panose="02020603050405020304" pitchFamily="18" charset="0"/>
              </a:rPr>
              <a:t> (contanto que / se): </a:t>
            </a:r>
            <a:r>
              <a:rPr lang="pt-BR" sz="3000" i="1" dirty="0" err="1">
                <a:latin typeface="Times New Roman" panose="02020603050405020304" pitchFamily="18" charset="0"/>
                <a:cs typeface="Times New Roman" panose="02020603050405020304" pitchFamily="18" charset="0"/>
              </a:rPr>
              <a:t>I’ll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give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a ride </a:t>
            </a:r>
            <a:r>
              <a:rPr lang="pt-BR" sz="3000" b="1" i="1" u="sng" dirty="0">
                <a:latin typeface="Times New Roman" panose="02020603050405020304" pitchFamily="18" charset="0"/>
                <a:cs typeface="Times New Roman" panose="02020603050405020304" pitchFamily="18" charset="0"/>
              </a:rPr>
              <a:t>as </a:t>
            </a:r>
            <a:r>
              <a:rPr lang="pt-BR" sz="3000" b="1" i="1" u="sng" dirty="0" err="1">
                <a:latin typeface="Times New Roman" panose="02020603050405020304" pitchFamily="18" charset="0"/>
                <a:cs typeface="Times New Roman" panose="02020603050405020304" pitchFamily="18" charset="0"/>
              </a:rPr>
              <a:t>long</a:t>
            </a:r>
            <a:r>
              <a:rPr lang="pt-BR" sz="3000" b="1" i="1" u="sng" dirty="0">
                <a:latin typeface="Times New Roman" panose="02020603050405020304" pitchFamily="18" charset="0"/>
                <a:cs typeface="Times New Roman" panose="02020603050405020304" pitchFamily="18" charset="0"/>
              </a:rPr>
              <a:t> as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you</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promise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not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touch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radio.</a:t>
            </a:r>
            <a:endParaRPr lang="pt-BR" sz="30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18943" y="5357217"/>
            <a:ext cx="11629620" cy="1015663"/>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PROVIDED (THAT)</a:t>
            </a:r>
            <a:r>
              <a:rPr lang="pt-BR" sz="3000" dirty="0">
                <a:latin typeface="Times New Roman" panose="02020603050405020304" pitchFamily="18" charset="0"/>
                <a:cs typeface="Times New Roman" panose="02020603050405020304" pitchFamily="18" charset="0"/>
              </a:rPr>
              <a:t> (desde que): </a:t>
            </a:r>
            <a:r>
              <a:rPr lang="pt-BR" sz="3000" i="1" dirty="0">
                <a:latin typeface="Times New Roman" panose="02020603050405020304" pitchFamily="18" charset="0"/>
                <a:cs typeface="Times New Roman" panose="02020603050405020304" pitchFamily="18" charset="0"/>
              </a:rPr>
              <a:t>I </a:t>
            </a:r>
            <a:r>
              <a:rPr lang="pt-BR" sz="3000" i="1" dirty="0" err="1">
                <a:latin typeface="Times New Roman" panose="02020603050405020304" pitchFamily="18" charset="0"/>
                <a:cs typeface="Times New Roman" panose="02020603050405020304" pitchFamily="18" charset="0"/>
              </a:rPr>
              <a:t>will</a:t>
            </a:r>
            <a:r>
              <a:rPr lang="pt-BR" sz="3000" i="1" dirty="0">
                <a:latin typeface="Times New Roman" panose="02020603050405020304" pitchFamily="18" charset="0"/>
                <a:cs typeface="Times New Roman" panose="02020603050405020304" pitchFamily="18" charset="0"/>
              </a:rPr>
              <a:t> go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party</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provided</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that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there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will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food</a:t>
            </a:r>
            <a:r>
              <a:rPr lang="pt-BR" sz="3000"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171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5"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a:extLst>
            <a:ext uri="{FF2B5EF4-FFF2-40B4-BE49-F238E27FC236}">
              <a16:creationId xmlns:a16="http://schemas.microsoft.com/office/drawing/2014/main" id="{30282B7F-A663-727F-B01F-BC9D301C2E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AB877D7-D048-50ED-C189-87C4899DE006}"/>
              </a:ext>
            </a:extLst>
          </p:cNvPr>
          <p:cNvSpPr txBox="1"/>
          <p:nvPr/>
        </p:nvSpPr>
        <p:spPr>
          <a:xfrm>
            <a:off x="218943" y="217155"/>
            <a:ext cx="11806280" cy="1200329"/>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3.9 </a:t>
            </a:r>
            <a:r>
              <a:rPr lang="pt-BR" sz="3600" b="1" u="sng" dirty="0">
                <a:latin typeface="Times New Roman" panose="02020603050405020304" pitchFamily="18" charset="0"/>
                <a:cs typeface="Times New Roman" panose="02020603050405020304" pitchFamily="18" charset="0"/>
              </a:rPr>
              <a:t>Finais:</a:t>
            </a:r>
            <a:r>
              <a:rPr lang="pt-BR" sz="3600" dirty="0">
                <a:latin typeface="Times New Roman" panose="02020603050405020304" pitchFamily="18" charset="0"/>
                <a:cs typeface="Times New Roman" panose="02020603050405020304" pitchFamily="18" charset="0"/>
              </a:rPr>
              <a:t> estabelecem uma </a:t>
            </a:r>
            <a:r>
              <a:rPr lang="pt-BR" sz="3600" b="1" dirty="0">
                <a:latin typeface="Times New Roman" panose="02020603050405020304" pitchFamily="18" charset="0"/>
                <a:cs typeface="Times New Roman" panose="02020603050405020304" pitchFamily="18" charset="0"/>
              </a:rPr>
              <a:t>finalidade</a:t>
            </a:r>
            <a:r>
              <a:rPr lang="pt-BR" sz="3600" dirty="0">
                <a:latin typeface="Times New Roman" panose="02020603050405020304" pitchFamily="18" charset="0"/>
                <a:cs typeface="Times New Roman" panose="02020603050405020304" pitchFamily="18" charset="0"/>
              </a:rPr>
              <a:t>, um </a:t>
            </a:r>
            <a:r>
              <a:rPr lang="pt-BR" sz="3600" b="1" dirty="0">
                <a:latin typeface="Times New Roman" panose="02020603050405020304" pitchFamily="18" charset="0"/>
                <a:cs typeface="Times New Roman" panose="02020603050405020304" pitchFamily="18" charset="0"/>
              </a:rPr>
              <a:t>objetivo</a:t>
            </a:r>
            <a:r>
              <a:rPr lang="pt-BR" sz="3600" dirty="0">
                <a:latin typeface="Times New Roman" panose="02020603050405020304" pitchFamily="18" charset="0"/>
                <a:cs typeface="Times New Roman" panose="02020603050405020304" pitchFamily="18" charset="0"/>
              </a:rPr>
              <a:t>, </a:t>
            </a:r>
            <a:r>
              <a:rPr lang="pt-BR" sz="3600" b="1" dirty="0">
                <a:latin typeface="Times New Roman" panose="02020603050405020304" pitchFamily="18" charset="0"/>
                <a:cs typeface="Times New Roman" panose="02020603050405020304" pitchFamily="18" charset="0"/>
              </a:rPr>
              <a:t>propósito</a:t>
            </a:r>
            <a:r>
              <a:rPr lang="pt-BR" sz="3600" dirty="0">
                <a:latin typeface="Times New Roman" panose="02020603050405020304" pitchFamily="18" charset="0"/>
                <a:cs typeface="Times New Roman" panose="02020603050405020304" pitchFamily="18" charset="0"/>
              </a:rPr>
              <a:t>.</a:t>
            </a:r>
            <a:endParaRPr lang="pt-BR"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0C23926-4EBD-3BCF-1BA5-75C917DEC3C3}"/>
              </a:ext>
            </a:extLst>
          </p:cNvPr>
          <p:cNvSpPr txBox="1"/>
          <p:nvPr/>
        </p:nvSpPr>
        <p:spPr>
          <a:xfrm>
            <a:off x="218942" y="1452931"/>
            <a:ext cx="11806279" cy="107721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In </a:t>
            </a:r>
            <a:r>
              <a:rPr lang="pt-BR" sz="3000" b="1" u="sng" dirty="0" err="1">
                <a:latin typeface="Times New Roman" panose="02020603050405020304" pitchFamily="18" charset="0"/>
                <a:cs typeface="Times New Roman" panose="02020603050405020304" pitchFamily="18" charset="0"/>
              </a:rPr>
              <a:t>order</a:t>
            </a:r>
            <a:r>
              <a:rPr lang="pt-BR" sz="3000" b="1" u="sng" dirty="0">
                <a:latin typeface="Times New Roman" panose="02020603050405020304" pitchFamily="18" charset="0"/>
                <a:cs typeface="Times New Roman" panose="02020603050405020304" pitchFamily="18" charset="0"/>
              </a:rPr>
              <a:t> </a:t>
            </a:r>
            <a:r>
              <a:rPr lang="pt-BR" sz="3000" b="1" u="sng" dirty="0" err="1">
                <a:latin typeface="Times New Roman" panose="02020603050405020304" pitchFamily="18" charset="0"/>
                <a:cs typeface="Times New Roman" panose="02020603050405020304" pitchFamily="18" charset="0"/>
              </a:rPr>
              <a:t>to</a:t>
            </a:r>
            <a:r>
              <a:rPr lang="pt-BR" sz="3000" dirty="0">
                <a:latin typeface="Times New Roman" panose="02020603050405020304" pitchFamily="18" charset="0"/>
                <a:cs typeface="Times New Roman" panose="02020603050405020304" pitchFamily="18" charset="0"/>
              </a:rPr>
              <a:t> (a fim de): </a:t>
            </a:r>
            <a:r>
              <a:rPr lang="en-US" sz="3200" i="1" dirty="0">
                <a:latin typeface="Times New Roman" panose="02020603050405020304" pitchFamily="18" charset="0"/>
                <a:cs typeface="Times New Roman" panose="02020603050405020304" pitchFamily="18" charset="0"/>
              </a:rPr>
              <a:t>He studies every night </a:t>
            </a:r>
            <a:r>
              <a:rPr lang="en-US" sz="3200" b="1" i="1" u="sng" dirty="0">
                <a:latin typeface="Times New Roman" panose="02020603050405020304" pitchFamily="18" charset="0"/>
                <a:cs typeface="Times New Roman" panose="02020603050405020304" pitchFamily="18" charset="0"/>
              </a:rPr>
              <a:t>in order to</a:t>
            </a:r>
            <a:r>
              <a:rPr lang="en-US" sz="3200" i="1" dirty="0">
                <a:latin typeface="Times New Roman" panose="02020603050405020304" pitchFamily="18" charset="0"/>
                <a:cs typeface="Times New Roman" panose="02020603050405020304" pitchFamily="18" charset="0"/>
              </a:rPr>
              <a:t> pass the final exam.</a:t>
            </a:r>
            <a:endParaRPr lang="pt-BR" sz="3000" b="1"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B590C2E-5858-68D4-2BE0-BA221837CE28}"/>
              </a:ext>
            </a:extLst>
          </p:cNvPr>
          <p:cNvSpPr txBox="1"/>
          <p:nvPr/>
        </p:nvSpPr>
        <p:spPr>
          <a:xfrm>
            <a:off x="218942" y="2887739"/>
            <a:ext cx="11629620" cy="107721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err="1">
                <a:latin typeface="Times New Roman" panose="02020603050405020304" pitchFamily="18" charset="0"/>
                <a:cs typeface="Times New Roman" panose="02020603050405020304" pitchFamily="18" charset="0"/>
              </a:rPr>
              <a:t>So</a:t>
            </a:r>
            <a:r>
              <a:rPr lang="pt-BR" sz="3000" b="1" u="sng" dirty="0">
                <a:latin typeface="Times New Roman" panose="02020603050405020304" pitchFamily="18" charset="0"/>
                <a:cs typeface="Times New Roman" panose="02020603050405020304" pitchFamily="18" charset="0"/>
              </a:rPr>
              <a:t> </a:t>
            </a:r>
            <a:r>
              <a:rPr lang="pt-BR" sz="3000" b="1" u="sng" dirty="0" err="1">
                <a:latin typeface="Times New Roman" panose="02020603050405020304" pitchFamily="18" charset="0"/>
                <a:cs typeface="Times New Roman" panose="02020603050405020304" pitchFamily="18" charset="0"/>
              </a:rPr>
              <a:t>that</a:t>
            </a:r>
            <a:r>
              <a:rPr lang="pt-BR" sz="3000" dirty="0">
                <a:latin typeface="Times New Roman" panose="02020603050405020304" pitchFamily="18" charset="0"/>
                <a:cs typeface="Times New Roman" panose="02020603050405020304" pitchFamily="18" charset="0"/>
              </a:rPr>
              <a:t> (para que): </a:t>
            </a:r>
            <a:r>
              <a:rPr lang="en-US" sz="3200" i="1" dirty="0">
                <a:latin typeface="Times New Roman" panose="02020603050405020304" pitchFamily="18" charset="0"/>
                <a:cs typeface="Times New Roman" panose="02020603050405020304" pitchFamily="18" charset="0"/>
              </a:rPr>
              <a:t>She whispered </a:t>
            </a:r>
            <a:r>
              <a:rPr lang="en-US" sz="3200" b="1" i="1" u="sng" dirty="0">
                <a:latin typeface="Times New Roman" panose="02020603050405020304" pitchFamily="18" charset="0"/>
                <a:cs typeface="Times New Roman" panose="02020603050405020304" pitchFamily="18" charset="0"/>
              </a:rPr>
              <a:t>so that</a:t>
            </a:r>
            <a:r>
              <a:rPr lang="en-US" sz="3200" i="1" dirty="0">
                <a:latin typeface="Times New Roman" panose="02020603050405020304" pitchFamily="18" charset="0"/>
                <a:cs typeface="Times New Roman" panose="02020603050405020304" pitchFamily="18" charset="0"/>
              </a:rPr>
              <a:t> nobody else could hear the secret.</a:t>
            </a:r>
            <a:endParaRPr lang="pt-BR" sz="3000" b="1" i="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1C35370-74F6-7892-0C4E-F1042FE80EEE}"/>
              </a:ext>
            </a:extLst>
          </p:cNvPr>
          <p:cNvSpPr txBox="1"/>
          <p:nvPr/>
        </p:nvSpPr>
        <p:spPr>
          <a:xfrm>
            <a:off x="218942" y="4327851"/>
            <a:ext cx="11629620" cy="107721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err="1">
                <a:latin typeface="Times New Roman" panose="02020603050405020304" pitchFamily="18" charset="0"/>
                <a:cs typeface="Times New Roman" panose="02020603050405020304" pitchFamily="18" charset="0"/>
              </a:rPr>
              <a:t>So</a:t>
            </a:r>
            <a:r>
              <a:rPr lang="pt-BR" sz="3000" b="1" u="sng" dirty="0">
                <a:latin typeface="Times New Roman" panose="02020603050405020304" pitchFamily="18" charset="0"/>
                <a:cs typeface="Times New Roman" panose="02020603050405020304" pitchFamily="18" charset="0"/>
              </a:rPr>
              <a:t> as </a:t>
            </a:r>
            <a:r>
              <a:rPr lang="pt-BR" sz="3000" b="1" u="sng" dirty="0" err="1">
                <a:latin typeface="Times New Roman" panose="02020603050405020304" pitchFamily="18" charset="0"/>
                <a:cs typeface="Times New Roman" panose="02020603050405020304" pitchFamily="18" charset="0"/>
              </a:rPr>
              <a:t>to</a:t>
            </a:r>
            <a:r>
              <a:rPr lang="pt-BR" sz="3000" dirty="0">
                <a:latin typeface="Times New Roman" panose="02020603050405020304" pitchFamily="18" charset="0"/>
                <a:cs typeface="Times New Roman" panose="02020603050405020304" pitchFamily="18" charset="0"/>
              </a:rPr>
              <a:t> (para que): </a:t>
            </a:r>
            <a:r>
              <a:rPr lang="en-US" sz="3200" i="1" dirty="0">
                <a:latin typeface="Times New Roman" panose="02020603050405020304" pitchFamily="18" charset="0"/>
                <a:cs typeface="Times New Roman" panose="02020603050405020304" pitchFamily="18" charset="0"/>
              </a:rPr>
              <a:t>The company reduced prices </a:t>
            </a:r>
            <a:r>
              <a:rPr lang="en-US" sz="3200" b="1" i="1" u="sng" dirty="0">
                <a:latin typeface="Times New Roman" panose="02020603050405020304" pitchFamily="18" charset="0"/>
                <a:cs typeface="Times New Roman" panose="02020603050405020304" pitchFamily="18" charset="0"/>
              </a:rPr>
              <a:t>so as to</a:t>
            </a:r>
            <a:r>
              <a:rPr lang="en-US" sz="3200" i="1" dirty="0">
                <a:latin typeface="Times New Roman" panose="02020603050405020304" pitchFamily="18" charset="0"/>
                <a:cs typeface="Times New Roman" panose="02020603050405020304" pitchFamily="18" charset="0"/>
              </a:rPr>
              <a:t> attract more customers.</a:t>
            </a:r>
            <a:endParaRPr lang="pt-BR" sz="3000" b="1" i="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13C8DC8-E620-8B96-9F7C-CB0F0790BBF1}"/>
              </a:ext>
            </a:extLst>
          </p:cNvPr>
          <p:cNvSpPr txBox="1"/>
          <p:nvPr/>
        </p:nvSpPr>
        <p:spPr>
          <a:xfrm>
            <a:off x="218942" y="5762659"/>
            <a:ext cx="8286702" cy="584775"/>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err="1">
                <a:latin typeface="Times New Roman" panose="02020603050405020304" pitchFamily="18" charset="0"/>
                <a:cs typeface="Times New Roman" panose="02020603050405020304" pitchFamily="18" charset="0"/>
              </a:rPr>
              <a:t>To</a:t>
            </a:r>
            <a:r>
              <a:rPr lang="pt-BR" sz="3000" dirty="0">
                <a:latin typeface="Times New Roman" panose="02020603050405020304" pitchFamily="18" charset="0"/>
                <a:cs typeface="Times New Roman" panose="02020603050405020304" pitchFamily="18" charset="0"/>
              </a:rPr>
              <a:t> (para): </a:t>
            </a:r>
            <a:r>
              <a:rPr lang="en-US" sz="3200" i="1" dirty="0">
                <a:latin typeface="Times New Roman" panose="02020603050405020304" pitchFamily="18" charset="0"/>
                <a:cs typeface="Times New Roman" panose="02020603050405020304" pitchFamily="18" charset="0"/>
              </a:rPr>
              <a:t>I woke up early </a:t>
            </a:r>
            <a:r>
              <a:rPr lang="en-US" sz="3200" b="1" i="1" u="sng" dirty="0">
                <a:latin typeface="Times New Roman" panose="02020603050405020304" pitchFamily="18" charset="0"/>
                <a:cs typeface="Times New Roman" panose="02020603050405020304" pitchFamily="18" charset="0"/>
              </a:rPr>
              <a:t>to</a:t>
            </a:r>
            <a:r>
              <a:rPr lang="en-US" sz="3200" i="1" dirty="0">
                <a:latin typeface="Times New Roman" panose="02020603050405020304" pitchFamily="18" charset="0"/>
                <a:cs typeface="Times New Roman" panose="02020603050405020304" pitchFamily="18" charset="0"/>
              </a:rPr>
              <a:t> catch the first bus.</a:t>
            </a:r>
            <a:endParaRPr lang="pt-BR" sz="3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109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5"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a:extLst>
            <a:ext uri="{FF2B5EF4-FFF2-40B4-BE49-F238E27FC236}">
              <a16:creationId xmlns:a16="http://schemas.microsoft.com/office/drawing/2014/main" id="{0CDAC4FA-4E31-4B05-4652-4EB0F51646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500EF1-2902-F65E-6310-1F4FE46C60EE}"/>
              </a:ext>
            </a:extLst>
          </p:cNvPr>
          <p:cNvSpPr txBox="1"/>
          <p:nvPr/>
        </p:nvSpPr>
        <p:spPr>
          <a:xfrm>
            <a:off x="218942" y="217155"/>
            <a:ext cx="11603537" cy="64633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3.10 </a:t>
            </a:r>
            <a:r>
              <a:rPr lang="pt-BR" sz="3600" b="1" u="sng" dirty="0">
                <a:latin typeface="Times New Roman" panose="02020603050405020304" pitchFamily="18" charset="0"/>
                <a:cs typeface="Times New Roman" panose="02020603050405020304" pitchFamily="18" charset="0"/>
              </a:rPr>
              <a:t>Exemplificação:</a:t>
            </a:r>
            <a:r>
              <a:rPr lang="pt-BR" sz="3600" dirty="0">
                <a:latin typeface="Times New Roman" panose="02020603050405020304" pitchFamily="18" charset="0"/>
                <a:cs typeface="Times New Roman" panose="02020603050405020304" pitchFamily="18" charset="0"/>
              </a:rPr>
              <a:t> introduzem </a:t>
            </a:r>
            <a:r>
              <a:rPr lang="pt-BR" sz="3600" b="1" dirty="0">
                <a:latin typeface="Times New Roman" panose="02020603050405020304" pitchFamily="18" charset="0"/>
                <a:cs typeface="Times New Roman" panose="02020603050405020304" pitchFamily="18" charset="0"/>
              </a:rPr>
              <a:t>exemplos </a:t>
            </a:r>
            <a:r>
              <a:rPr lang="pt-BR" sz="3600" dirty="0">
                <a:latin typeface="Times New Roman" panose="02020603050405020304" pitchFamily="18" charset="0"/>
                <a:cs typeface="Times New Roman" panose="02020603050405020304" pitchFamily="18" charset="0"/>
              </a:rPr>
              <a:t>ou</a:t>
            </a:r>
            <a:r>
              <a:rPr lang="pt-BR" sz="3600" b="1" dirty="0">
                <a:latin typeface="Times New Roman" panose="02020603050405020304" pitchFamily="18" charset="0"/>
                <a:cs typeface="Times New Roman" panose="02020603050405020304" pitchFamily="18" charset="0"/>
              </a:rPr>
              <a:t> elucidações.</a:t>
            </a:r>
          </a:p>
        </p:txBody>
      </p:sp>
      <p:sp>
        <p:nvSpPr>
          <p:cNvPr id="6" name="TextBox 5">
            <a:extLst>
              <a:ext uri="{FF2B5EF4-FFF2-40B4-BE49-F238E27FC236}">
                <a16:creationId xmlns:a16="http://schemas.microsoft.com/office/drawing/2014/main" id="{3B30CC8B-CEA0-B8AF-9791-7D2215F72905}"/>
              </a:ext>
            </a:extLst>
          </p:cNvPr>
          <p:cNvSpPr txBox="1"/>
          <p:nvPr/>
        </p:nvSpPr>
        <p:spPr>
          <a:xfrm>
            <a:off x="192860" y="939067"/>
            <a:ext cx="11806279" cy="107721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For </a:t>
            </a:r>
            <a:r>
              <a:rPr lang="pt-BR" sz="3000" b="1" u="sng" dirty="0" err="1">
                <a:latin typeface="Times New Roman" panose="02020603050405020304" pitchFamily="18" charset="0"/>
                <a:cs typeface="Times New Roman" panose="02020603050405020304" pitchFamily="18" charset="0"/>
              </a:rPr>
              <a:t>example</a:t>
            </a:r>
            <a:r>
              <a:rPr lang="pt-BR" sz="3000" dirty="0">
                <a:latin typeface="Times New Roman" panose="02020603050405020304" pitchFamily="18" charset="0"/>
                <a:cs typeface="Times New Roman" panose="02020603050405020304" pitchFamily="18" charset="0"/>
              </a:rPr>
              <a:t> (por exemplo): </a:t>
            </a:r>
            <a:r>
              <a:rPr lang="en-US" sz="3200" i="1" dirty="0">
                <a:latin typeface="Times New Roman" panose="02020603050405020304" pitchFamily="18" charset="0"/>
                <a:cs typeface="Times New Roman" panose="02020603050405020304" pitchFamily="18" charset="0"/>
              </a:rPr>
              <a:t>Many countries invest in renewable energy; </a:t>
            </a:r>
            <a:r>
              <a:rPr lang="en-US" sz="3200" b="1" i="1" u="sng" dirty="0">
                <a:latin typeface="Times New Roman" panose="02020603050405020304" pitchFamily="18" charset="0"/>
                <a:cs typeface="Times New Roman" panose="02020603050405020304" pitchFamily="18" charset="0"/>
              </a:rPr>
              <a:t>for example</a:t>
            </a:r>
            <a:r>
              <a:rPr lang="en-US" sz="3200" i="1" dirty="0">
                <a:latin typeface="Times New Roman" panose="02020603050405020304" pitchFamily="18" charset="0"/>
                <a:cs typeface="Times New Roman" panose="02020603050405020304" pitchFamily="18" charset="0"/>
              </a:rPr>
              <a:t>, Germany has expanded its use of wind power.</a:t>
            </a:r>
            <a:endParaRPr lang="pt-BR" sz="3000" b="1"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8550D7E-D280-1BF3-CF41-D584463F68FB}"/>
              </a:ext>
            </a:extLst>
          </p:cNvPr>
          <p:cNvSpPr txBox="1"/>
          <p:nvPr/>
        </p:nvSpPr>
        <p:spPr>
          <a:xfrm>
            <a:off x="192860" y="2243264"/>
            <a:ext cx="11629620" cy="107721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a:latin typeface="Times New Roman" panose="02020603050405020304" pitchFamily="18" charset="0"/>
                <a:cs typeface="Times New Roman" panose="02020603050405020304" pitchFamily="18" charset="0"/>
              </a:rPr>
              <a:t>For </a:t>
            </a:r>
            <a:r>
              <a:rPr lang="pt-BR" sz="3000" b="1" u="sng" dirty="0" err="1">
                <a:latin typeface="Times New Roman" panose="02020603050405020304" pitchFamily="18" charset="0"/>
                <a:cs typeface="Times New Roman" panose="02020603050405020304" pitchFamily="18" charset="0"/>
              </a:rPr>
              <a:t>instance</a:t>
            </a:r>
            <a:r>
              <a:rPr lang="pt-BR" sz="3000" dirty="0">
                <a:latin typeface="Times New Roman" panose="02020603050405020304" pitchFamily="18" charset="0"/>
                <a:cs typeface="Times New Roman" panose="02020603050405020304" pitchFamily="18" charset="0"/>
              </a:rPr>
              <a:t> (por exemplo): </a:t>
            </a:r>
            <a:r>
              <a:rPr lang="en-US" sz="3200" i="1" dirty="0">
                <a:latin typeface="Times New Roman" panose="02020603050405020304" pitchFamily="18" charset="0"/>
                <a:cs typeface="Times New Roman" panose="02020603050405020304" pitchFamily="18" charset="0"/>
              </a:rPr>
              <a:t>Some animals can survive in extreme conditions; </a:t>
            </a:r>
            <a:r>
              <a:rPr lang="en-US" sz="3200" b="1" i="1" u="sng" dirty="0">
                <a:latin typeface="Times New Roman" panose="02020603050405020304" pitchFamily="18" charset="0"/>
                <a:cs typeface="Times New Roman" panose="02020603050405020304" pitchFamily="18" charset="0"/>
              </a:rPr>
              <a:t>for instance</a:t>
            </a:r>
            <a:r>
              <a:rPr lang="en-US" sz="3200" i="1" dirty="0">
                <a:latin typeface="Times New Roman" panose="02020603050405020304" pitchFamily="18" charset="0"/>
                <a:cs typeface="Times New Roman" panose="02020603050405020304" pitchFamily="18" charset="0"/>
              </a:rPr>
              <a:t>, camels can go days without water.</a:t>
            </a:r>
            <a:endParaRPr lang="pt-BR" sz="3000" b="1" i="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9F0D15A-145F-0F52-2CEA-51709653DCBB}"/>
              </a:ext>
            </a:extLst>
          </p:cNvPr>
          <p:cNvSpPr txBox="1"/>
          <p:nvPr/>
        </p:nvSpPr>
        <p:spPr>
          <a:xfrm>
            <a:off x="218943" y="3547461"/>
            <a:ext cx="11629620" cy="107721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u="sng" dirty="0" err="1">
                <a:latin typeface="Times New Roman" panose="02020603050405020304" pitchFamily="18" charset="0"/>
                <a:cs typeface="Times New Roman" panose="02020603050405020304" pitchFamily="18" charset="0"/>
              </a:rPr>
              <a:t>Such</a:t>
            </a:r>
            <a:r>
              <a:rPr lang="pt-BR" sz="3000" b="1" u="sng" dirty="0">
                <a:latin typeface="Times New Roman" panose="02020603050405020304" pitchFamily="18" charset="0"/>
                <a:cs typeface="Times New Roman" panose="02020603050405020304" pitchFamily="18" charset="0"/>
              </a:rPr>
              <a:t> as</a:t>
            </a:r>
            <a:r>
              <a:rPr lang="pt-BR" sz="3000" dirty="0">
                <a:latin typeface="Times New Roman" panose="02020603050405020304" pitchFamily="18" charset="0"/>
                <a:cs typeface="Times New Roman" panose="02020603050405020304" pitchFamily="18" charset="0"/>
              </a:rPr>
              <a:t> (tal/tais como): </a:t>
            </a:r>
            <a:r>
              <a:rPr lang="en-US" sz="3200" i="1" dirty="0">
                <a:latin typeface="Times New Roman" panose="02020603050405020304" pitchFamily="18" charset="0"/>
                <a:cs typeface="Times New Roman" panose="02020603050405020304" pitchFamily="18" charset="0"/>
              </a:rPr>
              <a:t>She enjoys outdoor activities </a:t>
            </a:r>
            <a:r>
              <a:rPr lang="en-US" sz="3200" b="1" i="1" u="sng" dirty="0">
                <a:latin typeface="Times New Roman" panose="02020603050405020304" pitchFamily="18" charset="0"/>
                <a:cs typeface="Times New Roman" panose="02020603050405020304" pitchFamily="18" charset="0"/>
              </a:rPr>
              <a:t>such as</a:t>
            </a:r>
            <a:r>
              <a:rPr lang="en-US" sz="3200" i="1" u="sng" dirty="0">
                <a:latin typeface="Times New Roman" panose="02020603050405020304" pitchFamily="18" charset="0"/>
                <a:cs typeface="Times New Roman" panose="02020603050405020304" pitchFamily="18" charset="0"/>
              </a:rPr>
              <a:t> </a:t>
            </a:r>
            <a:r>
              <a:rPr lang="en-US" sz="3200" i="1" dirty="0">
                <a:latin typeface="Times New Roman" panose="02020603050405020304" pitchFamily="18" charset="0"/>
                <a:cs typeface="Times New Roman" panose="02020603050405020304" pitchFamily="18" charset="0"/>
              </a:rPr>
              <a:t>hiking, cycling, and kayaking.</a:t>
            </a:r>
            <a:endParaRPr lang="pt-BR" sz="3000" b="1" i="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A37D894-E69C-CFCD-CE09-3967D521C6D0}"/>
              </a:ext>
            </a:extLst>
          </p:cNvPr>
          <p:cNvSpPr txBox="1"/>
          <p:nvPr/>
        </p:nvSpPr>
        <p:spPr>
          <a:xfrm>
            <a:off x="192860" y="4851658"/>
            <a:ext cx="11832363" cy="107721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a:t>
            </a:r>
            <a:r>
              <a:rPr lang="pt-BR" sz="3000" b="1" dirty="0" err="1">
                <a:latin typeface="Times New Roman" panose="02020603050405020304" pitchFamily="18" charset="0"/>
                <a:cs typeface="Times New Roman" panose="02020603050405020304" pitchFamily="18" charset="0"/>
              </a:rPr>
              <a:t>Namely</a:t>
            </a:r>
            <a:r>
              <a:rPr lang="pt-BR" sz="3000" dirty="0">
                <a:latin typeface="Times New Roman" panose="02020603050405020304" pitchFamily="18" charset="0"/>
                <a:cs typeface="Times New Roman" panose="02020603050405020304" pitchFamily="18" charset="0"/>
              </a:rPr>
              <a:t> (a saber): </a:t>
            </a:r>
            <a:r>
              <a:rPr lang="en-US" sz="3200" i="1" dirty="0">
                <a:latin typeface="Times New Roman" panose="02020603050405020304" pitchFamily="18" charset="0"/>
                <a:cs typeface="Times New Roman" panose="02020603050405020304" pitchFamily="18" charset="0"/>
              </a:rPr>
              <a:t>The committee approved three proposals, </a:t>
            </a:r>
            <a:r>
              <a:rPr lang="en-US" sz="3200" b="1" i="1" u="sng" dirty="0">
                <a:latin typeface="Times New Roman" panose="02020603050405020304" pitchFamily="18" charset="0"/>
                <a:cs typeface="Times New Roman" panose="02020603050405020304" pitchFamily="18" charset="0"/>
              </a:rPr>
              <a:t>namely</a:t>
            </a:r>
            <a:r>
              <a:rPr lang="en-US" sz="3200" i="1" dirty="0">
                <a:latin typeface="Times New Roman" panose="02020603050405020304" pitchFamily="18" charset="0"/>
                <a:cs typeface="Times New Roman" panose="02020603050405020304" pitchFamily="18" charset="0"/>
              </a:rPr>
              <a:t>, education reform, healthcare funding, and tax reduction.</a:t>
            </a:r>
            <a:endParaRPr lang="pt-BR" sz="3000" b="1" i="1" dirty="0">
              <a:latin typeface="Times New Roman" panose="02020603050405020304" pitchFamily="18" charset="0"/>
              <a:cs typeface="Times New Roman" panose="02020603050405020304" pitchFamily="18" charset="0"/>
            </a:endParaRPr>
          </a:p>
        </p:txBody>
      </p:sp>
      <p:sp>
        <p:nvSpPr>
          <p:cNvPr id="2" name="TextBox 7">
            <a:extLst>
              <a:ext uri="{FF2B5EF4-FFF2-40B4-BE49-F238E27FC236}">
                <a16:creationId xmlns:a16="http://schemas.microsoft.com/office/drawing/2014/main" id="{5EDB75A1-E58B-E207-7AED-32417C1C4604}"/>
              </a:ext>
            </a:extLst>
          </p:cNvPr>
          <p:cNvSpPr txBox="1"/>
          <p:nvPr/>
        </p:nvSpPr>
        <p:spPr>
          <a:xfrm>
            <a:off x="218943" y="6155855"/>
            <a:ext cx="10546824" cy="553998"/>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 - e.g.</a:t>
            </a:r>
            <a:r>
              <a:rPr lang="pt-BR" sz="3000" dirty="0">
                <a:latin typeface="Times New Roman" panose="02020603050405020304" pitchFamily="18" charset="0"/>
                <a:cs typeface="Times New Roman" panose="02020603050405020304" pitchFamily="18" charset="0"/>
              </a:rPr>
              <a:t> (</a:t>
            </a:r>
            <a:r>
              <a:rPr lang="pt-BR" sz="3000" i="1" dirty="0">
                <a:latin typeface="Times New Roman" panose="02020603050405020304" pitchFamily="18" charset="0"/>
                <a:cs typeface="Times New Roman" panose="02020603050405020304" pitchFamily="18" charset="0"/>
              </a:rPr>
              <a:t>exempli gratia</a:t>
            </a:r>
            <a:r>
              <a:rPr lang="pt-BR" sz="3000" dirty="0">
                <a:latin typeface="Times New Roman" panose="02020603050405020304" pitchFamily="18" charset="0"/>
                <a:cs typeface="Times New Roman" panose="02020603050405020304" pitchFamily="18" charset="0"/>
              </a:rPr>
              <a:t> = por exemplo) / </a:t>
            </a:r>
            <a:r>
              <a:rPr lang="pt-BR" sz="3000" b="1" dirty="0">
                <a:latin typeface="Times New Roman" panose="02020603050405020304" pitchFamily="18" charset="0"/>
                <a:cs typeface="Times New Roman" panose="02020603050405020304" pitchFamily="18" charset="0"/>
              </a:rPr>
              <a:t>i.e.</a:t>
            </a:r>
            <a:r>
              <a:rPr lang="pt-BR" sz="3000" dirty="0">
                <a:latin typeface="Times New Roman" panose="02020603050405020304" pitchFamily="18" charset="0"/>
                <a:cs typeface="Times New Roman" panose="02020603050405020304" pitchFamily="18" charset="0"/>
              </a:rPr>
              <a:t> (</a:t>
            </a:r>
            <a:r>
              <a:rPr lang="pt-BR" sz="3000" i="1" dirty="0">
                <a:latin typeface="Times New Roman" panose="02020603050405020304" pitchFamily="18" charset="0"/>
                <a:cs typeface="Times New Roman" panose="02020603050405020304" pitchFamily="18" charset="0"/>
              </a:rPr>
              <a:t>id est</a:t>
            </a:r>
            <a:r>
              <a:rPr lang="pt-BR" sz="3000" dirty="0">
                <a:latin typeface="Times New Roman" panose="02020603050405020304" pitchFamily="18" charset="0"/>
                <a:cs typeface="Times New Roman" panose="02020603050405020304" pitchFamily="18" charset="0"/>
              </a:rPr>
              <a:t> = isto é; ou seja).</a:t>
            </a:r>
            <a:endParaRPr lang="pt-BR" sz="3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978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5" grpId="0"/>
      <p:bldP spid="8"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3"/>
          <p:cNvSpPr txBox="1"/>
          <p:nvPr/>
        </p:nvSpPr>
        <p:spPr>
          <a:xfrm>
            <a:off x="125637" y="30540"/>
            <a:ext cx="3213574" cy="646331"/>
          </a:xfrm>
          <a:prstGeom prst="rect">
            <a:avLst/>
          </a:prstGeom>
          <a:noFill/>
        </p:spPr>
        <p:txBody>
          <a:bodyPr wrap="square" rtlCol="0">
            <a:spAutoFit/>
          </a:bodyPr>
          <a:lstStyle/>
          <a:p>
            <a:pPr algn="just"/>
            <a:r>
              <a:rPr lang="pt-BR" sz="3600" b="1" dirty="0">
                <a:latin typeface="Times New Roman" panose="02020603050405020304" pitchFamily="18" charset="0"/>
                <a:cs typeface="Times New Roman" panose="02020603050405020304" pitchFamily="18" charset="0"/>
              </a:rPr>
              <a:t>4. </a:t>
            </a:r>
            <a:r>
              <a:rPr lang="pt-BR" sz="3600" b="1" u="sng" dirty="0">
                <a:latin typeface="Times New Roman" panose="02020603050405020304" pitchFamily="18" charset="0"/>
                <a:cs typeface="Times New Roman" panose="02020603050405020304" pitchFamily="18" charset="0"/>
              </a:rPr>
              <a:t>Exercícios:</a:t>
            </a:r>
            <a:endParaRPr lang="pt-BR"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404326" y="676866"/>
            <a:ext cx="11383347" cy="6124754"/>
          </a:xfrm>
          <a:prstGeom prst="rect">
            <a:avLst/>
          </a:prstGeom>
          <a:noFill/>
        </p:spPr>
        <p:txBody>
          <a:bodyPr wrap="square" rtlCol="0">
            <a:spAutoFit/>
          </a:bodyPr>
          <a:lstStyle/>
          <a:p>
            <a:pPr algn="just"/>
            <a:r>
              <a:rPr lang="pt-BR" sz="2600" b="1" dirty="0">
                <a:latin typeface="Times New Roman" panose="02020603050405020304" pitchFamily="18" charset="0"/>
                <a:cs typeface="Times New Roman" panose="02020603050405020304" pitchFamily="18" charset="0"/>
              </a:rPr>
              <a:t>4.1</a:t>
            </a:r>
            <a:r>
              <a:rPr lang="pt-BR" sz="2600" dirty="0">
                <a:latin typeface="Times New Roman" panose="02020603050405020304" pitchFamily="18" charset="0"/>
                <a:cs typeface="Times New Roman" panose="02020603050405020304" pitchFamily="18" charset="0"/>
              </a:rPr>
              <a:t> (Santa Casa 2023) </a:t>
            </a:r>
            <a:r>
              <a:rPr lang="en-US" sz="2600" b="0" i="1" u="none" strike="noStrike" baseline="0" dirty="0">
                <a:latin typeface="Times New Roman" panose="02020603050405020304" pitchFamily="18" charset="0"/>
                <a:cs typeface="Times New Roman" panose="02020603050405020304" pitchFamily="18" charset="0"/>
              </a:rPr>
              <a:t>The study, of over 6,200 adults, turned up correlations between certain taste-related genes and people’s preferences for particular food groups. Those whose genes made them sensitive to bitter flavors, for example, tended to eat fewer whole grains. Meanwhile, people with a particularly acute ability to sense savory flavors were less likely to eat their veggies. </a:t>
            </a:r>
            <a:r>
              <a:rPr lang="en-US" sz="2600" b="1" i="1" u="sng" strike="noStrike" baseline="0" dirty="0">
                <a:latin typeface="Times New Roman" panose="02020603050405020304" pitchFamily="18" charset="0"/>
                <a:cs typeface="Times New Roman" panose="02020603050405020304" pitchFamily="18" charset="0"/>
              </a:rPr>
              <a:t>Still</a:t>
            </a:r>
            <a:r>
              <a:rPr lang="en-US" sz="2600" b="0" i="1" u="none" strike="noStrike" baseline="0" dirty="0">
                <a:latin typeface="Times New Roman" panose="02020603050405020304" pitchFamily="18" charset="0"/>
                <a:cs typeface="Times New Roman" panose="02020603050405020304" pitchFamily="18" charset="0"/>
              </a:rPr>
              <a:t>, none of that means genes determine your food preferences, experts said.</a:t>
            </a:r>
            <a:endParaRPr lang="pt-BR" sz="2600" i="1" dirty="0">
              <a:latin typeface="Times New Roman" panose="02020603050405020304" pitchFamily="18" charset="0"/>
              <a:cs typeface="Times New Roman" panose="02020603050405020304" pitchFamily="18" charset="0"/>
            </a:endParaRPr>
          </a:p>
          <a:p>
            <a:pPr algn="just"/>
            <a:endParaRPr lang="pt-BR" sz="2600" b="0" i="0" u="none" strike="noStrike" baseline="0" dirty="0">
              <a:latin typeface="Times New Roman" panose="02020603050405020304" pitchFamily="18" charset="0"/>
              <a:cs typeface="Times New Roman" panose="02020603050405020304" pitchFamily="18" charset="0"/>
            </a:endParaRPr>
          </a:p>
          <a:p>
            <a:pPr algn="just"/>
            <a:r>
              <a:rPr lang="pt-BR" sz="2600" b="0" i="0" u="none" strike="noStrike" baseline="0" dirty="0">
                <a:latin typeface="Times New Roman" panose="02020603050405020304" pitchFamily="18" charset="0"/>
                <a:cs typeface="Times New Roman" panose="02020603050405020304" pitchFamily="18" charset="0"/>
              </a:rPr>
              <a:t>O termo “still”, no trecho do primeiro parágrafo “</a:t>
            </a:r>
            <a:r>
              <a:rPr lang="pt-BR" sz="2600" b="1" i="1" u="sng" strike="noStrike" baseline="0" dirty="0">
                <a:latin typeface="Times New Roman" panose="02020603050405020304" pitchFamily="18" charset="0"/>
                <a:cs typeface="Times New Roman" panose="02020603050405020304" pitchFamily="18" charset="0"/>
              </a:rPr>
              <a:t>Still</a:t>
            </a:r>
            <a:r>
              <a:rPr lang="pt-BR" sz="2600" b="0" i="1" u="none" strike="noStrike" baseline="0" dirty="0">
                <a:latin typeface="Times New Roman" panose="02020603050405020304" pitchFamily="18" charset="0"/>
                <a:cs typeface="Times New Roman" panose="02020603050405020304" pitchFamily="18" charset="0"/>
              </a:rPr>
              <a:t>, </a:t>
            </a:r>
            <a:r>
              <a:rPr lang="pt-BR" sz="2600" b="0" i="1" u="none" strike="noStrike" baseline="0" dirty="0" err="1">
                <a:latin typeface="Times New Roman" panose="02020603050405020304" pitchFamily="18" charset="0"/>
                <a:cs typeface="Times New Roman" panose="02020603050405020304" pitchFamily="18" charset="0"/>
              </a:rPr>
              <a:t>none</a:t>
            </a:r>
            <a:r>
              <a:rPr lang="pt-BR" sz="2600" i="1" dirty="0">
                <a:latin typeface="Times New Roman" panose="02020603050405020304" pitchFamily="18" charset="0"/>
                <a:cs typeface="Times New Roman" panose="02020603050405020304" pitchFamily="18" charset="0"/>
              </a:rPr>
              <a:t> </a:t>
            </a:r>
            <a:r>
              <a:rPr lang="en-US" sz="2600" b="0" i="1" u="none" strike="noStrike" baseline="0" dirty="0">
                <a:latin typeface="Times New Roman" panose="02020603050405020304" pitchFamily="18" charset="0"/>
                <a:cs typeface="Times New Roman" panose="02020603050405020304" pitchFamily="18" charset="0"/>
              </a:rPr>
              <a:t>of that means genes determine your food preferences</a:t>
            </a:r>
            <a:r>
              <a:rPr lang="en-US" sz="2600" b="0" i="0" u="none" strike="noStrike" baseline="0" dirty="0">
                <a:latin typeface="Times New Roman" panose="02020603050405020304" pitchFamily="18" charset="0"/>
                <a:cs typeface="Times New Roman" panose="02020603050405020304" pitchFamily="18" charset="0"/>
              </a:rPr>
              <a:t>”, é  </a:t>
            </a:r>
            <a:r>
              <a:rPr lang="pt-BR" sz="2600" b="0" i="0" u="none" strike="noStrike" baseline="0" dirty="0">
                <a:latin typeface="Times New Roman" panose="02020603050405020304" pitchFamily="18" charset="0"/>
                <a:cs typeface="Times New Roman" panose="02020603050405020304" pitchFamily="18" charset="0"/>
              </a:rPr>
              <a:t>empregado com o mesmo sentido em:</a:t>
            </a:r>
          </a:p>
          <a:p>
            <a:pPr algn="just"/>
            <a:endParaRPr lang="en-US" sz="2800" b="0" i="0" u="none" strike="noStrike" baseline="0" dirty="0">
              <a:latin typeface="Times New Roman" panose="02020603050405020304" pitchFamily="18" charset="0"/>
              <a:cs typeface="Times New Roman" panose="02020603050405020304" pitchFamily="18" charset="0"/>
            </a:endParaRPr>
          </a:p>
          <a:p>
            <a:pPr algn="just"/>
            <a:r>
              <a:rPr lang="en-US" sz="2600" b="0" i="0" u="none" strike="noStrike" baseline="0" dirty="0">
                <a:latin typeface="Times New Roman" panose="02020603050405020304" pitchFamily="18" charset="0"/>
                <a:cs typeface="Times New Roman" panose="02020603050405020304" pitchFamily="18" charset="0"/>
              </a:rPr>
              <a:t>(A) I don’t really like weddings. Still, I’ll have to go or they’ll be offended.</a:t>
            </a:r>
          </a:p>
          <a:p>
            <a:pPr algn="just"/>
            <a:r>
              <a:rPr lang="en-US" sz="2600" b="0" i="0" u="none" strike="noStrike" baseline="0" dirty="0">
                <a:latin typeface="Times New Roman" panose="02020603050405020304" pitchFamily="18" charset="0"/>
                <a:cs typeface="Times New Roman" panose="02020603050405020304" pitchFamily="18" charset="0"/>
              </a:rPr>
              <a:t>(B) She bought a car two months ago and she still hasn’t taken any driving lessons.</a:t>
            </a:r>
          </a:p>
          <a:p>
            <a:pPr algn="just"/>
            <a:r>
              <a:rPr lang="en-US" sz="2600" b="0" i="0" u="none" strike="noStrike" baseline="0" dirty="0">
                <a:latin typeface="Times New Roman" panose="02020603050405020304" pitchFamily="18" charset="0"/>
                <a:cs typeface="Times New Roman" panose="02020603050405020304" pitchFamily="18" charset="0"/>
              </a:rPr>
              <a:t>(C) Keep your head still.</a:t>
            </a:r>
          </a:p>
          <a:p>
            <a:pPr algn="just"/>
            <a:r>
              <a:rPr lang="en-US" sz="2600" b="0" i="0" u="none" strike="noStrike" baseline="0" dirty="0">
                <a:latin typeface="Times New Roman" panose="02020603050405020304" pitchFamily="18" charset="0"/>
                <a:cs typeface="Times New Roman" panose="02020603050405020304" pitchFamily="18" charset="0"/>
              </a:rPr>
              <a:t>(D) Still waters run deep.</a:t>
            </a:r>
          </a:p>
          <a:p>
            <a:pPr algn="just"/>
            <a:r>
              <a:rPr lang="en-US" sz="2600" b="0" i="0" u="none" strike="noStrike" baseline="0" dirty="0">
                <a:latin typeface="Times New Roman" panose="02020603050405020304" pitchFamily="18" charset="0"/>
                <a:cs typeface="Times New Roman" panose="02020603050405020304" pitchFamily="18" charset="0"/>
              </a:rPr>
              <a:t>(E) It was a still, calm evening.</a:t>
            </a:r>
            <a:endParaRPr lang="pt-BR" sz="2600" dirty="0">
              <a:latin typeface="Times New Roman" panose="02020603050405020304" pitchFamily="18" charset="0"/>
              <a:cs typeface="Times New Roman" panose="02020603050405020304" pitchFamily="18" charset="0"/>
            </a:endParaRPr>
          </a:p>
        </p:txBody>
      </p:sp>
      <p:sp>
        <p:nvSpPr>
          <p:cNvPr id="2" name="Double Bracket 1"/>
          <p:cNvSpPr/>
          <p:nvPr/>
        </p:nvSpPr>
        <p:spPr>
          <a:xfrm>
            <a:off x="505036" y="4678320"/>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428294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233302" y="1056067"/>
            <a:ext cx="9597831" cy="5632311"/>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4.2</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Vunesp</a:t>
            </a:r>
            <a:r>
              <a:rPr lang="pt-BR" sz="3000" dirty="0">
                <a:latin typeface="Times New Roman" panose="02020603050405020304" pitchFamily="18" charset="0"/>
                <a:cs typeface="Times New Roman" panose="02020603050405020304" pitchFamily="18" charset="0"/>
              </a:rPr>
              <a:t>) No trecho “</a:t>
            </a:r>
            <a:r>
              <a:rPr lang="pt-BR" sz="3000" i="1" dirty="0" err="1">
                <a:latin typeface="Times New Roman" panose="02020603050405020304" pitchFamily="18" charset="0"/>
                <a:cs typeface="Times New Roman" panose="02020603050405020304" pitchFamily="18" charset="0"/>
              </a:rPr>
              <a:t>Currently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someone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with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tuberculosis</a:t>
            </a:r>
            <a:r>
              <a:rPr lang="pt-BR" sz="3000" i="1" dirty="0">
                <a:latin typeface="Times New Roman" panose="02020603050405020304" pitchFamily="18" charset="0"/>
                <a:cs typeface="Times New Roman" panose="02020603050405020304" pitchFamily="18" charset="0"/>
              </a:rPr>
              <a:t> must take a </a:t>
            </a:r>
            <a:r>
              <a:rPr lang="pt-BR" sz="3000" i="1" dirty="0" err="1">
                <a:latin typeface="Times New Roman" panose="02020603050405020304" pitchFamily="18" charset="0"/>
                <a:cs typeface="Times New Roman" panose="02020603050405020304" pitchFamily="18" charset="0"/>
              </a:rPr>
              <a:t>course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drugs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daily</a:t>
            </a:r>
            <a:r>
              <a:rPr lang="pt-BR" sz="3000" i="1" dirty="0">
                <a:latin typeface="Times New Roman" panose="02020603050405020304" pitchFamily="18" charset="0"/>
                <a:cs typeface="Times New Roman" panose="02020603050405020304" pitchFamily="18" charset="0"/>
              </a:rPr>
              <a:t> for </a:t>
            </a:r>
            <a:r>
              <a:rPr lang="pt-BR" sz="3000" i="1" dirty="0" err="1">
                <a:latin typeface="Times New Roman" panose="02020603050405020304" pitchFamily="18" charset="0"/>
                <a:cs typeface="Times New Roman" panose="02020603050405020304" pitchFamily="18" charset="0"/>
              </a:rPr>
              <a:t>six</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months</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while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multidrug-resistant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tuberculosis</a:t>
            </a:r>
            <a:r>
              <a:rPr lang="pt-BR" sz="3000" i="1" dirty="0">
                <a:latin typeface="Times New Roman" panose="02020603050405020304" pitchFamily="18" charset="0"/>
                <a:cs typeface="Times New Roman" panose="02020603050405020304" pitchFamily="18" charset="0"/>
              </a:rPr>
              <a:t> must take a </a:t>
            </a:r>
            <a:r>
              <a:rPr lang="pt-BR" sz="3000" i="1" dirty="0" err="1">
                <a:latin typeface="Times New Roman" panose="02020603050405020304" pitchFamily="18" charset="0"/>
                <a:cs typeface="Times New Roman" panose="02020603050405020304" pitchFamily="18" charset="0"/>
              </a:rPr>
              <a:t>daily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injection</a:t>
            </a:r>
            <a:r>
              <a:rPr lang="pt-BR" sz="3000" i="1" dirty="0">
                <a:latin typeface="Times New Roman" panose="02020603050405020304" pitchFamily="18" charset="0"/>
                <a:cs typeface="Times New Roman" panose="02020603050405020304" pitchFamily="18" charset="0"/>
              </a:rPr>
              <a:t> for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first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six</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months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dozen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or</a:t>
            </a:r>
            <a:r>
              <a:rPr lang="pt-BR" sz="3000" i="1" dirty="0">
                <a:latin typeface="Times New Roman" panose="02020603050405020304" pitchFamily="18" charset="0"/>
                <a:cs typeface="Times New Roman" panose="02020603050405020304" pitchFamily="18" charset="0"/>
              </a:rPr>
              <a:t> more </a:t>
            </a:r>
            <a:r>
              <a:rPr lang="pt-BR" sz="3000" i="1" dirty="0" err="1">
                <a:latin typeface="Times New Roman" panose="02020603050405020304" pitchFamily="18" charset="0"/>
                <a:cs typeface="Times New Roman" panose="02020603050405020304" pitchFamily="18" charset="0"/>
              </a:rPr>
              <a:t>pills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each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day</a:t>
            </a:r>
            <a:r>
              <a:rPr lang="pt-BR" sz="3000" i="1" dirty="0">
                <a:latin typeface="Times New Roman" panose="02020603050405020304" pitchFamily="18" charset="0"/>
                <a:cs typeface="Times New Roman" panose="02020603050405020304" pitchFamily="18" charset="0"/>
              </a:rPr>
              <a:t> for 18 </a:t>
            </a:r>
            <a:r>
              <a:rPr lang="pt-BR" sz="3000" i="1" dirty="0" err="1">
                <a:latin typeface="Times New Roman" panose="02020603050405020304" pitchFamily="18" charset="0"/>
                <a:cs typeface="Times New Roman" panose="02020603050405020304" pitchFamily="18" charset="0"/>
              </a:rPr>
              <a:t>months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or</a:t>
            </a:r>
            <a:r>
              <a:rPr lang="pt-BR" sz="3000" i="1" dirty="0">
                <a:latin typeface="Times New Roman" panose="02020603050405020304" pitchFamily="18" charset="0"/>
                <a:cs typeface="Times New Roman" panose="02020603050405020304" pitchFamily="18" charset="0"/>
              </a:rPr>
              <a:t> more</a:t>
            </a:r>
            <a:r>
              <a:rPr lang="pt-BR" sz="3000" dirty="0">
                <a:latin typeface="Times New Roman" panose="02020603050405020304" pitchFamily="18" charset="0"/>
                <a:cs typeface="Times New Roman" panose="02020603050405020304" pitchFamily="18" charset="0"/>
              </a:rPr>
              <a:t>” a palavra </a:t>
            </a:r>
            <a:r>
              <a:rPr lang="pt-BR" sz="3000" b="1" i="1" u="sng" dirty="0" err="1">
                <a:latin typeface="Times New Roman" panose="02020603050405020304" pitchFamily="18" charset="0"/>
                <a:cs typeface="Times New Roman" panose="02020603050405020304" pitchFamily="18" charset="0"/>
              </a:rPr>
              <a:t>while</a:t>
            </a:r>
            <a:r>
              <a:rPr lang="pt-BR" sz="3000" dirty="0">
                <a:latin typeface="Times New Roman" panose="02020603050405020304" pitchFamily="18" charset="0"/>
                <a:cs typeface="Times New Roman" panose="02020603050405020304" pitchFamily="18" charset="0"/>
              </a:rPr>
              <a:t> da uma ideia de:</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Contraste</a:t>
            </a:r>
          </a:p>
          <a:p>
            <a:r>
              <a:rPr lang="pt-BR" sz="3000" dirty="0">
                <a:latin typeface="Times New Roman" panose="02020603050405020304" pitchFamily="18" charset="0"/>
                <a:cs typeface="Times New Roman" panose="02020603050405020304" pitchFamily="18" charset="0"/>
              </a:rPr>
              <a:t>b) Advertência</a:t>
            </a:r>
          </a:p>
          <a:p>
            <a:r>
              <a:rPr lang="pt-BR" sz="3000" dirty="0">
                <a:latin typeface="Times New Roman" panose="02020603050405020304" pitchFamily="18" charset="0"/>
                <a:cs typeface="Times New Roman" panose="02020603050405020304" pitchFamily="18" charset="0"/>
              </a:rPr>
              <a:t>c) Continuidade</a:t>
            </a:r>
          </a:p>
          <a:p>
            <a:r>
              <a:rPr lang="pt-BR" sz="3000" dirty="0">
                <a:latin typeface="Times New Roman" panose="02020603050405020304" pitchFamily="18" charset="0"/>
                <a:cs typeface="Times New Roman" panose="02020603050405020304" pitchFamily="18" charset="0"/>
              </a:rPr>
              <a:t>d) Finalidade</a:t>
            </a:r>
          </a:p>
          <a:p>
            <a:r>
              <a:rPr lang="pt-BR" sz="3000" dirty="0">
                <a:latin typeface="Times New Roman" panose="02020603050405020304" pitchFamily="18" charset="0"/>
                <a:cs typeface="Times New Roman" panose="02020603050405020304" pitchFamily="18" charset="0"/>
              </a:rPr>
              <a:t>e) Sequência</a:t>
            </a:r>
          </a:p>
        </p:txBody>
      </p:sp>
      <p:sp>
        <p:nvSpPr>
          <p:cNvPr id="2" name="Double Bracket 1"/>
          <p:cNvSpPr/>
          <p:nvPr/>
        </p:nvSpPr>
        <p:spPr>
          <a:xfrm>
            <a:off x="1223493" y="4314423"/>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100853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802181" y="674400"/>
            <a:ext cx="10587637" cy="5509200"/>
          </a:xfrm>
          <a:prstGeom prst="rect">
            <a:avLst/>
          </a:prstGeom>
          <a:noFill/>
        </p:spPr>
        <p:txBody>
          <a:bodyPr wrap="square" rtlCol="0">
            <a:spAutoFit/>
          </a:bodyPr>
          <a:lstStyle/>
          <a:p>
            <a:pPr algn="just"/>
            <a:r>
              <a:rPr lang="pt-BR" sz="3200" b="1" dirty="0">
                <a:latin typeface="Times New Roman" panose="02020603050405020304" pitchFamily="18" charset="0"/>
                <a:cs typeface="Times New Roman" panose="02020603050405020304" pitchFamily="18" charset="0"/>
              </a:rPr>
              <a:t>4.3</a:t>
            </a:r>
            <a:r>
              <a:rPr lang="pt-BR" sz="3200" dirty="0">
                <a:latin typeface="Times New Roman" panose="02020603050405020304" pitchFamily="18" charset="0"/>
                <a:cs typeface="Times New Roman" panose="02020603050405020304" pitchFamily="18" charset="0"/>
              </a:rPr>
              <a:t> (FMABC 2021) </a:t>
            </a:r>
            <a:r>
              <a:rPr lang="en-US" sz="3200" i="1" dirty="0">
                <a:latin typeface="Times New Roman" panose="02020603050405020304" pitchFamily="18" charset="0"/>
                <a:cs typeface="Times New Roman" panose="02020603050405020304" pitchFamily="18" charset="0"/>
              </a:rPr>
              <a:t>Silence is another challenge, he adds. “Silence creates a natural rhythm in a real-life conversation. </a:t>
            </a:r>
            <a:r>
              <a:rPr lang="en-US" sz="3200" b="1" i="1" u="sng" dirty="0">
                <a:latin typeface="Times New Roman" panose="02020603050405020304" pitchFamily="18" charset="0"/>
                <a:cs typeface="Times New Roman" panose="02020603050405020304" pitchFamily="18" charset="0"/>
              </a:rPr>
              <a:t>However</a:t>
            </a:r>
            <a:r>
              <a:rPr lang="en-US" sz="3200" i="1" dirty="0">
                <a:latin typeface="Times New Roman" panose="02020603050405020304" pitchFamily="18" charset="0"/>
                <a:cs typeface="Times New Roman" panose="02020603050405020304" pitchFamily="18" charset="0"/>
              </a:rPr>
              <a:t>, when it happens in a video call, you become anxious about the technology.”</a:t>
            </a:r>
            <a:endParaRPr lang="pt-BR" sz="3200" i="1"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a:t>
            </a:r>
            <a:r>
              <a:rPr lang="pt-BR" sz="3200" dirty="0">
                <a:latin typeface="Times New Roman" panose="02020603050405020304" pitchFamily="18" charset="0"/>
                <a:cs typeface="Times New Roman" panose="02020603050405020304" pitchFamily="18" charset="0"/>
              </a:rPr>
              <a:t> palavra sublinhada pode ser substituída, sem </a:t>
            </a:r>
            <a:r>
              <a:rPr lang="en-US" sz="3200" dirty="0" err="1">
                <a:latin typeface="Times New Roman" panose="02020603050405020304" pitchFamily="18" charset="0"/>
                <a:cs typeface="Times New Roman" panose="02020603050405020304" pitchFamily="18" charset="0"/>
              </a:rPr>
              <a:t>alteração</a:t>
            </a:r>
            <a:r>
              <a:rPr lang="en-US" sz="3200" dirty="0">
                <a:latin typeface="Times New Roman" panose="02020603050405020304" pitchFamily="18" charset="0"/>
                <a:cs typeface="Times New Roman" panose="02020603050405020304" pitchFamily="18" charset="0"/>
              </a:rPr>
              <a:t> de </a:t>
            </a:r>
            <a:r>
              <a:rPr lang="en-US" sz="3200" dirty="0" err="1">
                <a:latin typeface="Times New Roman" panose="02020603050405020304" pitchFamily="18" charset="0"/>
                <a:cs typeface="Times New Roman" panose="02020603050405020304" pitchFamily="18" charset="0"/>
              </a:rPr>
              <a:t>sentido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por</a:t>
            </a: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 Unless.</a:t>
            </a:r>
          </a:p>
          <a:p>
            <a:pPr algn="just"/>
            <a:r>
              <a:rPr lang="en-US" sz="3200" dirty="0">
                <a:latin typeface="Times New Roman" panose="02020603050405020304" pitchFamily="18" charset="0"/>
                <a:cs typeface="Times New Roman" panose="02020603050405020304" pitchFamily="18" charset="0"/>
              </a:rPr>
              <a:t>(B) Then.</a:t>
            </a:r>
          </a:p>
          <a:p>
            <a:pPr algn="just"/>
            <a:r>
              <a:rPr lang="en-US" sz="3200" dirty="0">
                <a:latin typeface="Times New Roman" panose="02020603050405020304" pitchFamily="18" charset="0"/>
                <a:cs typeface="Times New Roman" panose="02020603050405020304" pitchFamily="18" charset="0"/>
              </a:rPr>
              <a:t>(C) Because.</a:t>
            </a:r>
          </a:p>
          <a:p>
            <a:pPr algn="just"/>
            <a:r>
              <a:rPr lang="en-US" sz="3200" dirty="0">
                <a:latin typeface="Times New Roman" panose="02020603050405020304" pitchFamily="18" charset="0"/>
                <a:cs typeface="Times New Roman" panose="02020603050405020304" pitchFamily="18" charset="0"/>
              </a:rPr>
              <a:t>(D) Besides.</a:t>
            </a:r>
          </a:p>
          <a:p>
            <a:pPr algn="just"/>
            <a:r>
              <a:rPr lang="en-US" sz="3200" dirty="0">
                <a:latin typeface="Times New Roman" panose="02020603050405020304" pitchFamily="18" charset="0"/>
                <a:cs typeface="Times New Roman" panose="02020603050405020304" pitchFamily="18" charset="0"/>
              </a:rPr>
              <a:t>(E) Yet.</a:t>
            </a:r>
            <a:endParaRPr lang="pt-BR" sz="3000" dirty="0">
              <a:latin typeface="Times New Roman" panose="02020603050405020304" pitchFamily="18" charset="0"/>
              <a:cs typeface="Times New Roman" panose="02020603050405020304" pitchFamily="18" charset="0"/>
            </a:endParaRPr>
          </a:p>
        </p:txBody>
      </p:sp>
      <p:sp>
        <p:nvSpPr>
          <p:cNvPr id="2" name="Double Bracket 1"/>
          <p:cNvSpPr/>
          <p:nvPr/>
        </p:nvSpPr>
        <p:spPr>
          <a:xfrm>
            <a:off x="947448" y="5642444"/>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504715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a:extLst>
            <a:ext uri="{FF2B5EF4-FFF2-40B4-BE49-F238E27FC236}">
              <a16:creationId xmlns:a16="http://schemas.microsoft.com/office/drawing/2014/main" id="{D0B99BE9-2157-F212-6B96-C0D0144E885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2CA0C0-AC62-CA27-1781-4533DD94BB70}"/>
              </a:ext>
            </a:extLst>
          </p:cNvPr>
          <p:cNvSpPr txBox="1"/>
          <p:nvPr/>
        </p:nvSpPr>
        <p:spPr>
          <a:xfrm>
            <a:off x="1233302" y="181424"/>
            <a:ext cx="10587637" cy="6093976"/>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4.4</a:t>
            </a:r>
            <a:r>
              <a:rPr lang="pt-BR" sz="3000" dirty="0">
                <a:latin typeface="Times New Roman" panose="02020603050405020304" pitchFamily="18" charset="0"/>
                <a:cs typeface="Times New Roman" panose="02020603050405020304" pitchFamily="18" charset="0"/>
              </a:rPr>
              <a:t> (Santa Casa 2020) </a:t>
            </a:r>
            <a:r>
              <a:rPr lang="en-US" sz="3000" dirty="0">
                <a:latin typeface="Times New Roman" panose="02020603050405020304" pitchFamily="18" charset="0"/>
                <a:cs typeface="Times New Roman" panose="02020603050405020304" pitchFamily="18" charset="0"/>
              </a:rPr>
              <a:t>“’</a:t>
            </a:r>
            <a:r>
              <a:rPr lang="en-US" sz="3000" i="1" dirty="0">
                <a:latin typeface="Times New Roman" panose="02020603050405020304" pitchFamily="18" charset="0"/>
                <a:cs typeface="Times New Roman" panose="02020603050405020304" pitchFamily="18" charset="0"/>
              </a:rPr>
              <a:t>Universities just need to get better at promoting the support that’s already there,’ says Gemma Long. ‘Making specialist software and training generally available, </a:t>
            </a:r>
            <a:r>
              <a:rPr lang="en-US" sz="3000" b="1" i="1" u="sng" dirty="0">
                <a:latin typeface="Times New Roman" panose="02020603050405020304" pitchFamily="18" charset="0"/>
                <a:cs typeface="Times New Roman" panose="02020603050405020304" pitchFamily="18" charset="0"/>
              </a:rPr>
              <a:t>rather than</a:t>
            </a:r>
            <a:r>
              <a:rPr lang="en-US" sz="3000" i="1" dirty="0">
                <a:latin typeface="Times New Roman" panose="02020603050405020304" pitchFamily="18" charset="0"/>
                <a:cs typeface="Times New Roman" panose="02020603050405020304" pitchFamily="18" charset="0"/>
              </a:rPr>
              <a:t> confining it to disabled students, makes it more widely known, as well as removes stigma.’</a:t>
            </a:r>
            <a:r>
              <a:rPr lang="en-US" sz="3000" dirty="0">
                <a:latin typeface="Times New Roman" panose="02020603050405020304" pitchFamily="18" charset="0"/>
                <a:cs typeface="Times New Roman" panose="02020603050405020304" pitchFamily="18" charset="0"/>
              </a:rPr>
              <a:t>”</a:t>
            </a:r>
          </a:p>
          <a:p>
            <a:r>
              <a:rPr lang="pt-BR" sz="3000" dirty="0">
                <a:latin typeface="Times New Roman" panose="02020603050405020304" pitchFamily="18" charset="0"/>
                <a:cs typeface="Times New Roman" panose="02020603050405020304" pitchFamily="18" charset="0"/>
              </a:rPr>
              <a:t>The </a:t>
            </a:r>
            <a:r>
              <a:rPr lang="pt-BR" sz="3000" dirty="0" err="1">
                <a:latin typeface="Times New Roman" panose="02020603050405020304" pitchFamily="18" charset="0"/>
                <a:cs typeface="Times New Roman" panose="02020603050405020304" pitchFamily="18" charset="0"/>
              </a:rPr>
              <a:t>underlined</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expression</a:t>
            </a:r>
            <a:r>
              <a:rPr lang="pt-BR" sz="3000"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can be replaced, without any change in the meaning of the </a:t>
            </a:r>
            <a:r>
              <a:rPr lang="pt-BR" sz="3000" dirty="0" err="1">
                <a:latin typeface="Times New Roman" panose="02020603050405020304" pitchFamily="18" charset="0"/>
                <a:cs typeface="Times New Roman" panose="02020603050405020304" pitchFamily="18" charset="0"/>
              </a:rPr>
              <a:t>sentence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by</a:t>
            </a:r>
            <a:r>
              <a:rPr lang="pt-BR" sz="3000" dirty="0">
                <a:latin typeface="Times New Roman" panose="02020603050405020304" pitchFamily="18" charset="0"/>
                <a:cs typeface="Times New Roman" panose="02020603050405020304" pitchFamily="18" charset="0"/>
              </a:rPr>
              <a:t>:</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As </a:t>
            </a:r>
            <a:r>
              <a:rPr lang="pt-BR" sz="3000" dirty="0" err="1">
                <a:latin typeface="Times New Roman" panose="02020603050405020304" pitchFamily="18" charset="0"/>
                <a:cs typeface="Times New Roman" panose="02020603050405020304" pitchFamily="18" charset="0"/>
              </a:rPr>
              <a:t>opposed</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to</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More </a:t>
            </a:r>
            <a:r>
              <a:rPr lang="pt-BR" sz="3000" dirty="0" err="1">
                <a:latin typeface="Times New Roman" panose="02020603050405020304" pitchFamily="18" charset="0"/>
                <a:cs typeface="Times New Roman" panose="02020603050405020304" pitchFamily="18" charset="0"/>
              </a:rPr>
              <a:t>than</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In </a:t>
            </a:r>
            <a:r>
              <a:rPr lang="pt-BR" sz="3000" dirty="0" err="1">
                <a:latin typeface="Times New Roman" panose="02020603050405020304" pitchFamily="18" charset="0"/>
                <a:cs typeface="Times New Roman" panose="02020603050405020304" pitchFamily="18" charset="0"/>
              </a:rPr>
              <a:t>spite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of</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a:t>
            </a:r>
            <a:r>
              <a:rPr lang="pt-BR" sz="3000" dirty="0" err="1">
                <a:latin typeface="Times New Roman" panose="02020603050405020304" pitchFamily="18" charset="0"/>
                <a:cs typeface="Times New Roman" panose="02020603050405020304" pitchFamily="18" charset="0"/>
              </a:rPr>
              <a:t>Together</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with</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Apart </a:t>
            </a:r>
            <a:r>
              <a:rPr lang="pt-BR" sz="3000" dirty="0" err="1">
                <a:latin typeface="Times New Roman" panose="02020603050405020304" pitchFamily="18" charset="0"/>
                <a:cs typeface="Times New Roman" panose="02020603050405020304" pitchFamily="18" charset="0"/>
              </a:rPr>
              <a:t>from</a:t>
            </a:r>
            <a:endParaRPr lang="pt-BR" sz="3000" dirty="0">
              <a:latin typeface="Times New Roman" panose="02020603050405020304" pitchFamily="18" charset="0"/>
              <a:cs typeface="Times New Roman" panose="02020603050405020304" pitchFamily="18" charset="0"/>
            </a:endParaRPr>
          </a:p>
        </p:txBody>
      </p:sp>
      <p:sp>
        <p:nvSpPr>
          <p:cNvPr id="2" name="Double Bracket 1">
            <a:extLst>
              <a:ext uri="{FF2B5EF4-FFF2-40B4-BE49-F238E27FC236}">
                <a16:creationId xmlns:a16="http://schemas.microsoft.com/office/drawing/2014/main" id="{21E98079-A360-B694-1D0D-63B00D403E95}"/>
              </a:ext>
            </a:extLst>
          </p:cNvPr>
          <p:cNvSpPr/>
          <p:nvPr/>
        </p:nvSpPr>
        <p:spPr>
          <a:xfrm>
            <a:off x="1223493" y="3890353"/>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163830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233302" y="154920"/>
            <a:ext cx="10587637" cy="6555641"/>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4.5</a:t>
            </a:r>
            <a:r>
              <a:rPr lang="pt-BR" sz="3000" dirty="0">
                <a:latin typeface="Times New Roman" panose="02020603050405020304" pitchFamily="18" charset="0"/>
                <a:cs typeface="Times New Roman" panose="02020603050405020304" pitchFamily="18" charset="0"/>
              </a:rPr>
              <a:t> (Santa Casa 2019) </a:t>
            </a:r>
            <a:r>
              <a:rPr lang="en-US" sz="3000" dirty="0">
                <a:latin typeface="Times New Roman" panose="02020603050405020304" pitchFamily="18" charset="0"/>
                <a:cs typeface="Times New Roman" panose="02020603050405020304" pitchFamily="18" charset="0"/>
              </a:rPr>
              <a:t>“</a:t>
            </a:r>
            <a:r>
              <a:rPr lang="en-US" sz="3000" i="1" dirty="0">
                <a:latin typeface="Times New Roman" panose="02020603050405020304" pitchFamily="18" charset="0"/>
                <a:cs typeface="Times New Roman" panose="02020603050405020304" pitchFamily="18" charset="0"/>
              </a:rPr>
              <a:t>When he moved from his native Bangladesh to Sweden for graduate studies, he learnt that he did not need to address faculty members as ‘sir’ or ‘professor’ or remain standing in their offices. This informality made it easier for him to approach professors to clarify a topic or to propose a new research angle. Sometimes, </a:t>
            </a:r>
            <a:r>
              <a:rPr lang="en-US" sz="3000" b="1" i="1" u="sng" dirty="0">
                <a:latin typeface="Times New Roman" panose="02020603050405020304" pitchFamily="18" charset="0"/>
                <a:cs typeface="Times New Roman" panose="02020603050405020304" pitchFamily="18" charset="0"/>
              </a:rPr>
              <a:t>though</a:t>
            </a:r>
            <a:r>
              <a:rPr lang="en-US" sz="3000" i="1" dirty="0">
                <a:latin typeface="Times New Roman" panose="02020603050405020304" pitchFamily="18" charset="0"/>
                <a:cs typeface="Times New Roman" panose="02020603050405020304" pitchFamily="18" charset="0"/>
              </a:rPr>
              <a:t>, misunderstandings can stem from </a:t>
            </a:r>
            <a:r>
              <a:rPr lang="pt-BR" sz="3000" i="1" dirty="0" err="1">
                <a:latin typeface="Times New Roman" panose="02020603050405020304" pitchFamily="18" charset="0"/>
                <a:cs typeface="Times New Roman" panose="02020603050405020304" pitchFamily="18" charset="0"/>
              </a:rPr>
              <a:t>differences</a:t>
            </a:r>
            <a:r>
              <a:rPr lang="pt-BR" sz="3000" i="1" dirty="0">
                <a:latin typeface="Times New Roman" panose="02020603050405020304" pitchFamily="18" charset="0"/>
                <a:cs typeface="Times New Roman" panose="02020603050405020304" pitchFamily="18" charset="0"/>
              </a:rPr>
              <a:t> in communication </a:t>
            </a:r>
            <a:r>
              <a:rPr lang="pt-BR" sz="3000" i="1" dirty="0" err="1">
                <a:latin typeface="Times New Roman" panose="02020603050405020304" pitchFamily="18" charset="0"/>
                <a:cs typeface="Times New Roman" panose="02020603050405020304" pitchFamily="18" charset="0"/>
              </a:rPr>
              <a:t>style</a:t>
            </a:r>
            <a:r>
              <a:rPr lang="pt-BR" sz="3000" i="1" dirty="0">
                <a:latin typeface="Times New Roman" panose="02020603050405020304" pitchFamily="18" charset="0"/>
                <a:cs typeface="Times New Roman" panose="02020603050405020304" pitchFamily="18" charset="0"/>
              </a:rPr>
              <a:t>.</a:t>
            </a:r>
            <a:r>
              <a:rPr lang="en-US" sz="3000" dirty="0">
                <a:latin typeface="Times New Roman" panose="02020603050405020304" pitchFamily="18" charset="0"/>
                <a:cs typeface="Times New Roman" panose="02020603050405020304" pitchFamily="18" charset="0"/>
              </a:rPr>
              <a:t>”</a:t>
            </a:r>
          </a:p>
          <a:p>
            <a:r>
              <a:rPr lang="pt-BR" sz="3000" dirty="0">
                <a:latin typeface="Times New Roman" panose="02020603050405020304" pitchFamily="18" charset="0"/>
                <a:cs typeface="Times New Roman" panose="02020603050405020304" pitchFamily="18" charset="0"/>
              </a:rPr>
              <a:t>The </a:t>
            </a:r>
            <a:r>
              <a:rPr lang="pt-BR" sz="3000" dirty="0" err="1">
                <a:latin typeface="Times New Roman" panose="02020603050405020304" pitchFamily="18" charset="0"/>
                <a:cs typeface="Times New Roman" panose="02020603050405020304" pitchFamily="18" charset="0"/>
              </a:rPr>
              <a:t>underlined</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word</a:t>
            </a:r>
            <a:r>
              <a:rPr lang="pt-BR" sz="3000" dirty="0">
                <a:latin typeface="Times New Roman" panose="02020603050405020304" pitchFamily="18" charset="0"/>
                <a:cs typeface="Times New Roman" panose="02020603050405020304" pitchFamily="18" charset="0"/>
              </a:rPr>
              <a:t> expresses </a:t>
            </a:r>
            <a:r>
              <a:rPr lang="pt-BR" sz="3000" dirty="0" err="1">
                <a:latin typeface="Times New Roman" panose="02020603050405020304" pitchFamily="18" charset="0"/>
                <a:cs typeface="Times New Roman" panose="02020603050405020304" pitchFamily="18" charset="0"/>
              </a:rPr>
              <a:t>the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idea</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of</a:t>
            </a:r>
            <a:r>
              <a:rPr lang="pt-BR" sz="3000" dirty="0">
                <a:latin typeface="Times New Roman" panose="02020603050405020304" pitchFamily="18" charset="0"/>
                <a:cs typeface="Times New Roman" panose="02020603050405020304" pitchFamily="18" charset="0"/>
              </a:rPr>
              <a:t>:</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a:t>
            </a:r>
            <a:r>
              <a:rPr lang="pt-BR" sz="3000" dirty="0" err="1">
                <a:latin typeface="Times New Roman" panose="02020603050405020304" pitchFamily="18" charset="0"/>
                <a:cs typeface="Times New Roman" panose="02020603050405020304" pitchFamily="18" charset="0"/>
              </a:rPr>
              <a:t>Alternative</a:t>
            </a:r>
            <a:r>
              <a:rPr lang="pt-BR" sz="3000" dirty="0">
                <a:latin typeface="Times New Roman" panose="02020603050405020304" pitchFamily="18" charset="0"/>
                <a:cs typeface="Times New Roman" panose="02020603050405020304" pitchFamily="18" charset="0"/>
              </a:rPr>
              <a:t> </a:t>
            </a:r>
          </a:p>
          <a:p>
            <a:r>
              <a:rPr lang="pt-BR" sz="3000" dirty="0">
                <a:latin typeface="Times New Roman" panose="02020603050405020304" pitchFamily="18" charset="0"/>
                <a:cs typeface="Times New Roman" panose="02020603050405020304" pitchFamily="18" charset="0"/>
              </a:rPr>
              <a:t>b) </a:t>
            </a:r>
            <a:r>
              <a:rPr lang="pt-BR" sz="3000" dirty="0" err="1">
                <a:latin typeface="Times New Roman" panose="02020603050405020304" pitchFamily="18" charset="0"/>
                <a:cs typeface="Times New Roman" panose="02020603050405020304" pitchFamily="18" charset="0"/>
              </a:rPr>
              <a:t>Explanation</a:t>
            </a:r>
            <a:r>
              <a:rPr lang="pt-BR" sz="3000" dirty="0">
                <a:latin typeface="Times New Roman" panose="02020603050405020304" pitchFamily="18" charset="0"/>
                <a:cs typeface="Times New Roman" panose="02020603050405020304" pitchFamily="18" charset="0"/>
              </a:rPr>
              <a:t> </a:t>
            </a:r>
          </a:p>
          <a:p>
            <a:r>
              <a:rPr lang="pt-BR" sz="3000" dirty="0">
                <a:latin typeface="Times New Roman" panose="02020603050405020304" pitchFamily="18" charset="0"/>
                <a:cs typeface="Times New Roman" panose="02020603050405020304" pitchFamily="18" charset="0"/>
              </a:rPr>
              <a:t>c) </a:t>
            </a:r>
            <a:r>
              <a:rPr lang="pt-BR" sz="3000" dirty="0" err="1">
                <a:latin typeface="Times New Roman" panose="02020603050405020304" pitchFamily="18" charset="0"/>
                <a:cs typeface="Times New Roman" panose="02020603050405020304" pitchFamily="18" charset="0"/>
              </a:rPr>
              <a:t>Conclusion</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a:t>
            </a:r>
            <a:r>
              <a:rPr lang="pt-BR" sz="3000" dirty="0" err="1">
                <a:latin typeface="Times New Roman" panose="02020603050405020304" pitchFamily="18" charset="0"/>
                <a:cs typeface="Times New Roman" panose="02020603050405020304" pitchFamily="18" charset="0"/>
              </a:rPr>
              <a:t>Complementation</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a:t>
            </a:r>
            <a:r>
              <a:rPr lang="pt-BR" sz="3000" dirty="0" err="1">
                <a:latin typeface="Times New Roman" panose="02020603050405020304" pitchFamily="18" charset="0"/>
                <a:cs typeface="Times New Roman" panose="02020603050405020304" pitchFamily="18" charset="0"/>
              </a:rPr>
              <a:t>Contrast</a:t>
            </a:r>
            <a:endParaRPr lang="pt-BR" sz="3000" dirty="0">
              <a:latin typeface="Times New Roman" panose="02020603050405020304" pitchFamily="18" charset="0"/>
              <a:cs typeface="Times New Roman" panose="02020603050405020304" pitchFamily="18" charset="0"/>
            </a:endParaRPr>
          </a:p>
        </p:txBody>
      </p:sp>
      <p:sp>
        <p:nvSpPr>
          <p:cNvPr id="2" name="Double Bracket 1"/>
          <p:cNvSpPr/>
          <p:nvPr/>
        </p:nvSpPr>
        <p:spPr>
          <a:xfrm>
            <a:off x="1223493" y="6169725"/>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1224231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233302" y="592241"/>
            <a:ext cx="10587637" cy="5632311"/>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4.6</a:t>
            </a:r>
            <a:r>
              <a:rPr lang="pt-BR" sz="3000" dirty="0">
                <a:latin typeface="Times New Roman" panose="02020603050405020304" pitchFamily="18" charset="0"/>
                <a:cs typeface="Times New Roman" panose="02020603050405020304" pitchFamily="18" charset="0"/>
              </a:rPr>
              <a:t> (Unesp 2020) No trecho “</a:t>
            </a:r>
            <a:r>
              <a:rPr lang="pt-BR" sz="3000" i="1" dirty="0" err="1">
                <a:latin typeface="Times New Roman" panose="02020603050405020304" pitchFamily="18" charset="0"/>
                <a:cs typeface="Times New Roman" panose="02020603050405020304" pitchFamily="18" charset="0"/>
              </a:rPr>
              <a:t>Unsustainable</a:t>
            </a:r>
            <a:r>
              <a:rPr lang="pt-BR" sz="3000" i="1" dirty="0">
                <a:latin typeface="Times New Roman" panose="02020603050405020304" pitchFamily="18" charset="0"/>
                <a:cs typeface="Times New Roman" panose="02020603050405020304" pitchFamily="18" charset="0"/>
              </a:rPr>
              <a:t> </a:t>
            </a:r>
            <a:r>
              <a:rPr lang="en-US" sz="3000" i="1" dirty="0">
                <a:latin typeface="Times New Roman" panose="02020603050405020304" pitchFamily="18" charset="0"/>
                <a:cs typeface="Times New Roman" panose="02020603050405020304" pitchFamily="18" charset="0"/>
              </a:rPr>
              <a:t>agricultural activities, particularly soy production and cattle ranching, as well as burning of vegetation for charcoal, continue to pose a major threat to the </a:t>
            </a:r>
            <a:r>
              <a:rPr lang="en-US" sz="3000" i="1" dirty="0" err="1">
                <a:latin typeface="Times New Roman" panose="02020603050405020304" pitchFamily="18" charset="0"/>
                <a:cs typeface="Times New Roman" panose="02020603050405020304" pitchFamily="18" charset="0"/>
              </a:rPr>
              <a:t>Cerrado’s</a:t>
            </a:r>
            <a:r>
              <a:rPr lang="en-US" sz="3000" i="1" dirty="0">
                <a:latin typeface="Times New Roman" panose="02020603050405020304" pitchFamily="18" charset="0"/>
                <a:cs typeface="Times New Roman" panose="02020603050405020304" pitchFamily="18" charset="0"/>
              </a:rPr>
              <a:t> biodiversity. </a:t>
            </a:r>
            <a:r>
              <a:rPr lang="en-US" sz="3000" b="1" i="1" u="sng" dirty="0">
                <a:latin typeface="Times New Roman" panose="02020603050405020304" pitchFamily="18" charset="0"/>
                <a:cs typeface="Times New Roman" panose="02020603050405020304" pitchFamily="18" charset="0"/>
              </a:rPr>
              <a:t>Despite</a:t>
            </a:r>
            <a:r>
              <a:rPr lang="en-US" sz="3000" i="1" dirty="0">
                <a:latin typeface="Times New Roman" panose="02020603050405020304" pitchFamily="18" charset="0"/>
                <a:cs typeface="Times New Roman" panose="02020603050405020304" pitchFamily="18" charset="0"/>
              </a:rPr>
              <a:t> its environmental importance, it is one of the least </a:t>
            </a:r>
            <a:r>
              <a:rPr lang="pt-BR" sz="3000" i="1" dirty="0" err="1">
                <a:latin typeface="Times New Roman" panose="02020603050405020304" pitchFamily="18" charset="0"/>
                <a:cs typeface="Times New Roman" panose="02020603050405020304" pitchFamily="18" charset="0"/>
              </a:rPr>
              <a:t>protected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regions</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Brazil</a:t>
            </a:r>
            <a:r>
              <a:rPr lang="pt-BR" sz="3000" i="1" dirty="0">
                <a:latin typeface="Times New Roman" panose="02020603050405020304" pitchFamily="18" charset="0"/>
                <a:cs typeface="Times New Roman" panose="02020603050405020304" pitchFamily="18" charset="0"/>
              </a:rPr>
              <a:t>.</a:t>
            </a:r>
            <a:r>
              <a:rPr lang="pt-BR" sz="3000" dirty="0">
                <a:latin typeface="Times New Roman" panose="02020603050405020304" pitchFamily="18" charset="0"/>
                <a:cs typeface="Times New Roman" panose="02020603050405020304" pitchFamily="18" charset="0"/>
              </a:rPr>
              <a:t>” o termo em destaque equivale, em português, a:</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Desde que</a:t>
            </a:r>
          </a:p>
          <a:p>
            <a:r>
              <a:rPr lang="pt-BR" sz="3000" dirty="0">
                <a:latin typeface="Times New Roman" panose="02020603050405020304" pitchFamily="18" charset="0"/>
                <a:cs typeface="Times New Roman" panose="02020603050405020304" pitchFamily="18" charset="0"/>
              </a:rPr>
              <a:t>b) De acordo com</a:t>
            </a:r>
          </a:p>
          <a:p>
            <a:r>
              <a:rPr lang="pt-BR" sz="3000" dirty="0">
                <a:latin typeface="Times New Roman" panose="02020603050405020304" pitchFamily="18" charset="0"/>
                <a:cs typeface="Times New Roman" panose="02020603050405020304" pitchFamily="18" charset="0"/>
              </a:rPr>
              <a:t>c) Devido a</a:t>
            </a:r>
          </a:p>
          <a:p>
            <a:r>
              <a:rPr lang="pt-BR" sz="3000" dirty="0">
                <a:latin typeface="Times New Roman" panose="02020603050405020304" pitchFamily="18" charset="0"/>
                <a:cs typeface="Times New Roman" panose="02020603050405020304" pitchFamily="18" charset="0"/>
              </a:rPr>
              <a:t>d) Apesar de</a:t>
            </a:r>
          </a:p>
          <a:p>
            <a:r>
              <a:rPr lang="pt-BR" sz="3000" dirty="0">
                <a:latin typeface="Times New Roman" panose="02020603050405020304" pitchFamily="18" charset="0"/>
                <a:cs typeface="Times New Roman" panose="02020603050405020304" pitchFamily="18" charset="0"/>
              </a:rPr>
              <a:t>e) Além de</a:t>
            </a:r>
          </a:p>
        </p:txBody>
      </p:sp>
      <p:sp>
        <p:nvSpPr>
          <p:cNvPr id="2" name="Double Bracket 1"/>
          <p:cNvSpPr/>
          <p:nvPr/>
        </p:nvSpPr>
        <p:spPr>
          <a:xfrm>
            <a:off x="1223493" y="5242075"/>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243509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233302" y="340448"/>
            <a:ext cx="10587637" cy="6093976"/>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4.7</a:t>
            </a:r>
            <a:r>
              <a:rPr lang="pt-BR" sz="3000" dirty="0">
                <a:latin typeface="Times New Roman" panose="02020603050405020304" pitchFamily="18" charset="0"/>
                <a:cs typeface="Times New Roman" panose="02020603050405020304" pitchFamily="18" charset="0"/>
              </a:rPr>
              <a:t> (Unesp 2020) No trecho “</a:t>
            </a:r>
            <a:r>
              <a:rPr lang="en-US" sz="3000" i="1" dirty="0">
                <a:latin typeface="Times New Roman" panose="02020603050405020304" pitchFamily="18" charset="0"/>
                <a:cs typeface="Times New Roman" panose="02020603050405020304" pitchFamily="18" charset="0"/>
              </a:rPr>
              <a:t>Many of the artists, writers and musicians associated with Tropicália came of age during the 1950s in a time of intense optimism when the cultural world had been encouraged to play a central role in the creation of a democratic, socially just and modern Brazil. </a:t>
            </a:r>
            <a:r>
              <a:rPr lang="en-US" sz="3000" b="1" i="1" u="sng" dirty="0">
                <a:latin typeface="Times New Roman" panose="02020603050405020304" pitchFamily="18" charset="0"/>
                <a:cs typeface="Times New Roman" panose="02020603050405020304" pitchFamily="18" charset="0"/>
              </a:rPr>
              <a:t>Nevertheless</a:t>
            </a:r>
            <a:r>
              <a:rPr lang="en-US" sz="3000" i="1" dirty="0">
                <a:latin typeface="Times New Roman" panose="02020603050405020304" pitchFamily="18" charset="0"/>
                <a:cs typeface="Times New Roman" panose="02020603050405020304" pitchFamily="18" charset="0"/>
              </a:rPr>
              <a:t>, a military coup in 1964 had brought to power a right-wing regime at odds with the </a:t>
            </a:r>
            <a:r>
              <a:rPr lang="pt-BR" sz="3000" i="1" dirty="0" err="1">
                <a:latin typeface="Times New Roman" panose="02020603050405020304" pitchFamily="18" charset="0"/>
                <a:cs typeface="Times New Roman" panose="02020603050405020304" pitchFamily="18" charset="0"/>
              </a:rPr>
              <a:t>concerns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left-wing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artists</a:t>
            </a:r>
            <a:r>
              <a:rPr lang="pt-BR" i="1" dirty="0"/>
              <a:t>.</a:t>
            </a:r>
            <a:r>
              <a:rPr lang="pt-BR" sz="3000" dirty="0">
                <a:latin typeface="Times New Roman" panose="02020603050405020304" pitchFamily="18" charset="0"/>
                <a:cs typeface="Times New Roman" panose="02020603050405020304" pitchFamily="18" charset="0"/>
              </a:rPr>
              <a:t>” o termo em destaque indica:</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contraste</a:t>
            </a:r>
          </a:p>
          <a:p>
            <a:r>
              <a:rPr lang="pt-BR" sz="3000" dirty="0">
                <a:latin typeface="Times New Roman" panose="02020603050405020304" pitchFamily="18" charset="0"/>
                <a:cs typeface="Times New Roman" panose="02020603050405020304" pitchFamily="18" charset="0"/>
              </a:rPr>
              <a:t>b) consequência</a:t>
            </a:r>
          </a:p>
          <a:p>
            <a:r>
              <a:rPr lang="pt-BR" sz="3000" dirty="0">
                <a:latin typeface="Times New Roman" panose="02020603050405020304" pitchFamily="18" charset="0"/>
                <a:cs typeface="Times New Roman" panose="02020603050405020304" pitchFamily="18" charset="0"/>
              </a:rPr>
              <a:t>c) opinião</a:t>
            </a:r>
          </a:p>
          <a:p>
            <a:r>
              <a:rPr lang="pt-BR" sz="3000" dirty="0">
                <a:latin typeface="Times New Roman" panose="02020603050405020304" pitchFamily="18" charset="0"/>
                <a:cs typeface="Times New Roman" panose="02020603050405020304" pitchFamily="18" charset="0"/>
              </a:rPr>
              <a:t>d) aprovação</a:t>
            </a:r>
          </a:p>
          <a:p>
            <a:r>
              <a:rPr lang="pt-BR" sz="3000" dirty="0">
                <a:latin typeface="Times New Roman" panose="02020603050405020304" pitchFamily="18" charset="0"/>
                <a:cs typeface="Times New Roman" panose="02020603050405020304" pitchFamily="18" charset="0"/>
              </a:rPr>
              <a:t>e) alternativa</a:t>
            </a:r>
          </a:p>
        </p:txBody>
      </p:sp>
      <p:sp>
        <p:nvSpPr>
          <p:cNvPr id="2" name="Double Bracket 1"/>
          <p:cNvSpPr/>
          <p:nvPr/>
        </p:nvSpPr>
        <p:spPr>
          <a:xfrm>
            <a:off x="1233302" y="4049378"/>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3273098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140537" y="1259175"/>
            <a:ext cx="10587637" cy="4247317"/>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4.8</a:t>
            </a:r>
            <a:r>
              <a:rPr lang="pt-BR" sz="3000" dirty="0">
                <a:latin typeface="Times New Roman" panose="02020603050405020304" pitchFamily="18" charset="0"/>
                <a:cs typeface="Times New Roman" panose="02020603050405020304" pitchFamily="18" charset="0"/>
              </a:rPr>
              <a:t> (Unesp 2019) No trecho “</a:t>
            </a:r>
            <a:r>
              <a:rPr lang="en-US" sz="3000" i="1" dirty="0">
                <a:latin typeface="Times New Roman" panose="02020603050405020304" pitchFamily="18" charset="0"/>
                <a:cs typeface="Times New Roman" panose="02020603050405020304" pitchFamily="18" charset="0"/>
              </a:rPr>
              <a:t>Epidemics have plagued humanity since the dawn of settled life. </a:t>
            </a:r>
            <a:r>
              <a:rPr lang="en-US" sz="3000" b="1" i="1" u="sng" dirty="0">
                <a:latin typeface="Times New Roman" panose="02020603050405020304" pitchFamily="18" charset="0"/>
                <a:cs typeface="Times New Roman" panose="02020603050405020304" pitchFamily="18" charset="0"/>
              </a:rPr>
              <a:t>Yet</a:t>
            </a:r>
            <a:r>
              <a:rPr lang="en-US" sz="3000" i="1" dirty="0">
                <a:latin typeface="Times New Roman" panose="02020603050405020304" pitchFamily="18" charset="0"/>
                <a:cs typeface="Times New Roman" panose="02020603050405020304" pitchFamily="18" charset="0"/>
              </a:rPr>
              <a:t>, success in conquering them remains patchy.</a:t>
            </a:r>
            <a:r>
              <a:rPr lang="pt-BR" sz="3000" dirty="0">
                <a:latin typeface="Times New Roman" panose="02020603050405020304" pitchFamily="18" charset="0"/>
                <a:cs typeface="Times New Roman" panose="02020603050405020304" pitchFamily="18" charset="0"/>
              </a:rPr>
              <a:t>” o termo em destaque equivale, em português, a:</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Assim mesmo</a:t>
            </a:r>
          </a:p>
          <a:p>
            <a:r>
              <a:rPr lang="pt-BR" sz="3000" dirty="0">
                <a:latin typeface="Times New Roman" panose="02020603050405020304" pitchFamily="18" charset="0"/>
                <a:cs typeface="Times New Roman" panose="02020603050405020304" pitchFamily="18" charset="0"/>
              </a:rPr>
              <a:t>b) Portanto</a:t>
            </a:r>
          </a:p>
          <a:p>
            <a:r>
              <a:rPr lang="pt-BR" sz="3000" dirty="0">
                <a:latin typeface="Times New Roman" panose="02020603050405020304" pitchFamily="18" charset="0"/>
                <a:cs typeface="Times New Roman" panose="02020603050405020304" pitchFamily="18" charset="0"/>
              </a:rPr>
              <a:t>c) Além disso</a:t>
            </a:r>
          </a:p>
          <a:p>
            <a:r>
              <a:rPr lang="pt-BR" sz="3000" dirty="0">
                <a:latin typeface="Times New Roman" panose="02020603050405020304" pitchFamily="18" charset="0"/>
                <a:cs typeface="Times New Roman" panose="02020603050405020304" pitchFamily="18" charset="0"/>
              </a:rPr>
              <a:t>d) Ao invés disso</a:t>
            </a:r>
          </a:p>
          <a:p>
            <a:r>
              <a:rPr lang="pt-BR" sz="3000" dirty="0">
                <a:latin typeface="Times New Roman" panose="02020603050405020304" pitchFamily="18" charset="0"/>
                <a:cs typeface="Times New Roman" panose="02020603050405020304" pitchFamily="18" charset="0"/>
              </a:rPr>
              <a:t>e) No entanto</a:t>
            </a:r>
          </a:p>
        </p:txBody>
      </p:sp>
      <p:sp>
        <p:nvSpPr>
          <p:cNvPr id="2" name="Double Bracket 1"/>
          <p:cNvSpPr/>
          <p:nvPr/>
        </p:nvSpPr>
        <p:spPr>
          <a:xfrm>
            <a:off x="1140537" y="5017095"/>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4240708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140537" y="397781"/>
            <a:ext cx="10587637" cy="6093976"/>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4.9</a:t>
            </a:r>
            <a:r>
              <a:rPr lang="pt-BR" sz="3000" dirty="0">
                <a:latin typeface="Times New Roman" panose="02020603050405020304" pitchFamily="18" charset="0"/>
                <a:cs typeface="Times New Roman" panose="02020603050405020304" pitchFamily="18" charset="0"/>
              </a:rPr>
              <a:t> (Unesp 2019) No trecho “</a:t>
            </a:r>
            <a:r>
              <a:rPr lang="en-US" sz="3000" i="1" dirty="0">
                <a:latin typeface="Times New Roman" panose="02020603050405020304" pitchFamily="18" charset="0"/>
                <a:cs typeface="Times New Roman" panose="02020603050405020304" pitchFamily="18" charset="0"/>
              </a:rPr>
              <a:t>The scariest [viruses] are both highly lethal and spread easily among humans. Thankfully, bugs that excel at the first tend to be weak at the other. But mutations – ordinary business for germs – can change that in a blink. </a:t>
            </a:r>
            <a:r>
              <a:rPr lang="en-US" sz="3000" b="1" i="1" u="sng" dirty="0">
                <a:latin typeface="Times New Roman" panose="02020603050405020304" pitchFamily="18" charset="0"/>
                <a:cs typeface="Times New Roman" panose="02020603050405020304" pitchFamily="18" charset="0"/>
              </a:rPr>
              <a:t>Moreover</a:t>
            </a:r>
            <a:r>
              <a:rPr lang="en-US" sz="3000" i="1" dirty="0">
                <a:latin typeface="Times New Roman" panose="02020603050405020304" pitchFamily="18" charset="0"/>
                <a:cs typeface="Times New Roman" panose="02020603050405020304" pitchFamily="18" charset="0"/>
              </a:rPr>
              <a:t>, when humans get too close to beasts, either wild or packed in farms, an animal disease can become a </a:t>
            </a:r>
            <a:r>
              <a:rPr lang="pt-BR" sz="3000" i="1" dirty="0" err="1">
                <a:latin typeface="Times New Roman" panose="02020603050405020304" pitchFamily="18" charset="0"/>
                <a:cs typeface="Times New Roman" panose="02020603050405020304" pitchFamily="18" charset="0"/>
              </a:rPr>
              <a:t>human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one</a:t>
            </a:r>
            <a:r>
              <a:rPr lang="pt-BR" sz="3000" i="1" dirty="0">
                <a:latin typeface="Times New Roman" panose="02020603050405020304" pitchFamily="18" charset="0"/>
                <a:cs typeface="Times New Roman" panose="02020603050405020304" pitchFamily="18" charset="0"/>
              </a:rPr>
              <a:t>.</a:t>
            </a:r>
            <a:r>
              <a:rPr lang="pt-BR" sz="3000" dirty="0">
                <a:latin typeface="Times New Roman" panose="02020603050405020304" pitchFamily="18" charset="0"/>
                <a:cs typeface="Times New Roman" panose="02020603050405020304" pitchFamily="18" charset="0"/>
              </a:rPr>
              <a:t>” o termo em destaque indica:</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Decorrência</a:t>
            </a:r>
          </a:p>
          <a:p>
            <a:r>
              <a:rPr lang="pt-BR" sz="3000" dirty="0">
                <a:latin typeface="Times New Roman" panose="02020603050405020304" pitchFamily="18" charset="0"/>
                <a:cs typeface="Times New Roman" panose="02020603050405020304" pitchFamily="18" charset="0"/>
              </a:rPr>
              <a:t>b) Comparação</a:t>
            </a:r>
          </a:p>
          <a:p>
            <a:r>
              <a:rPr lang="pt-BR" sz="3000" dirty="0">
                <a:latin typeface="Times New Roman" panose="02020603050405020304" pitchFamily="18" charset="0"/>
                <a:cs typeface="Times New Roman" panose="02020603050405020304" pitchFamily="18" charset="0"/>
              </a:rPr>
              <a:t>c) Acréscimo</a:t>
            </a:r>
          </a:p>
          <a:p>
            <a:r>
              <a:rPr lang="pt-BR" sz="3000" dirty="0">
                <a:latin typeface="Times New Roman" panose="02020603050405020304" pitchFamily="18" charset="0"/>
                <a:cs typeface="Times New Roman" panose="02020603050405020304" pitchFamily="18" charset="0"/>
              </a:rPr>
              <a:t>d) Condição</a:t>
            </a:r>
          </a:p>
          <a:p>
            <a:r>
              <a:rPr lang="pt-BR" sz="3000" dirty="0">
                <a:latin typeface="Times New Roman" panose="02020603050405020304" pitchFamily="18" charset="0"/>
                <a:cs typeface="Times New Roman" panose="02020603050405020304" pitchFamily="18" charset="0"/>
              </a:rPr>
              <a:t>e) Finalidade</a:t>
            </a:r>
          </a:p>
        </p:txBody>
      </p:sp>
      <p:sp>
        <p:nvSpPr>
          <p:cNvPr id="2" name="Double Bracket 1"/>
          <p:cNvSpPr/>
          <p:nvPr/>
        </p:nvSpPr>
        <p:spPr>
          <a:xfrm>
            <a:off x="1140537" y="5030345"/>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36955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140537" y="397781"/>
            <a:ext cx="10587637" cy="5632311"/>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4.10</a:t>
            </a:r>
            <a:r>
              <a:rPr lang="pt-BR" sz="3000" dirty="0">
                <a:latin typeface="Times New Roman" panose="02020603050405020304" pitchFamily="18" charset="0"/>
                <a:cs typeface="Times New Roman" panose="02020603050405020304" pitchFamily="18" charset="0"/>
              </a:rPr>
              <a:t> (Unifesp 2020) No trecho “</a:t>
            </a:r>
            <a:r>
              <a:rPr lang="en-US" sz="3000" i="1" dirty="0">
                <a:latin typeface="Times New Roman" panose="02020603050405020304" pitchFamily="18" charset="0"/>
                <a:cs typeface="Times New Roman" panose="02020603050405020304" pitchFamily="18" charset="0"/>
              </a:rPr>
              <a:t>Another paper from 2014 identified a link between heavy social-media usage and depression, largely </a:t>
            </a:r>
            <a:r>
              <a:rPr lang="en-US" sz="3000" b="1" i="1" u="sng" dirty="0">
                <a:latin typeface="Times New Roman" panose="02020603050405020304" pitchFamily="18" charset="0"/>
                <a:cs typeface="Times New Roman" panose="02020603050405020304" pitchFamily="18" charset="0"/>
              </a:rPr>
              <a:t>due to</a:t>
            </a:r>
            <a:r>
              <a:rPr lang="en-US" sz="3000" i="1" dirty="0">
                <a:latin typeface="Times New Roman" panose="02020603050405020304" pitchFamily="18" charset="0"/>
                <a:cs typeface="Times New Roman" panose="02020603050405020304" pitchFamily="18" charset="0"/>
              </a:rPr>
              <a:t> a “social comparison” phenomenon, whereby users compare themselves to others and come away with lower </a:t>
            </a:r>
            <a:r>
              <a:rPr lang="pt-BR" sz="3000" i="1" dirty="0" err="1">
                <a:latin typeface="Times New Roman" panose="02020603050405020304" pitchFamily="18" charset="0"/>
                <a:cs typeface="Times New Roman" panose="02020603050405020304" pitchFamily="18" charset="0"/>
              </a:rPr>
              <a:t>evaluations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themselves</a:t>
            </a:r>
            <a:r>
              <a:rPr lang="pt-BR" sz="3000" i="1" dirty="0">
                <a:latin typeface="Times New Roman" panose="02020603050405020304" pitchFamily="18" charset="0"/>
                <a:cs typeface="Times New Roman" panose="02020603050405020304" pitchFamily="18" charset="0"/>
              </a:rPr>
              <a:t>.</a:t>
            </a:r>
            <a:r>
              <a:rPr lang="pt-BR" sz="3000" dirty="0">
                <a:latin typeface="Times New Roman" panose="02020603050405020304" pitchFamily="18" charset="0"/>
                <a:cs typeface="Times New Roman" panose="02020603050405020304" pitchFamily="18" charset="0"/>
              </a:rPr>
              <a:t>” a expressão em destaque pode ser substituída, sem alteração de sentido, por:</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In </a:t>
            </a:r>
            <a:r>
              <a:rPr lang="pt-BR" sz="3000" dirty="0" err="1">
                <a:latin typeface="Times New Roman" panose="02020603050405020304" pitchFamily="18" charset="0"/>
                <a:cs typeface="Times New Roman" panose="02020603050405020304" pitchFamily="18" charset="0"/>
              </a:rPr>
              <a:t>spite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of</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As a </a:t>
            </a:r>
            <a:r>
              <a:rPr lang="pt-BR" sz="3000" dirty="0" err="1">
                <a:latin typeface="Times New Roman" panose="02020603050405020304" pitchFamily="18" charset="0"/>
                <a:cs typeface="Times New Roman" panose="02020603050405020304" pitchFamily="18" charset="0"/>
              </a:rPr>
              <a:t>result</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of</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Apart </a:t>
            </a:r>
            <a:r>
              <a:rPr lang="pt-BR" sz="3000" dirty="0" err="1">
                <a:latin typeface="Times New Roman" panose="02020603050405020304" pitchFamily="18" charset="0"/>
                <a:cs typeface="Times New Roman" panose="02020603050405020304" pitchFamily="18" charset="0"/>
              </a:rPr>
              <a:t>from</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a:t>
            </a:r>
            <a:r>
              <a:rPr lang="pt-BR" sz="3000" dirty="0" err="1">
                <a:latin typeface="Times New Roman" panose="02020603050405020304" pitchFamily="18" charset="0"/>
                <a:cs typeface="Times New Roman" panose="02020603050405020304" pitchFamily="18" charset="0"/>
              </a:rPr>
              <a:t>Instead</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of</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In </a:t>
            </a:r>
            <a:r>
              <a:rPr lang="pt-BR" sz="3000" dirty="0" err="1">
                <a:latin typeface="Times New Roman" panose="02020603050405020304" pitchFamily="18" charset="0"/>
                <a:cs typeface="Times New Roman" panose="02020603050405020304" pitchFamily="18" charset="0"/>
              </a:rPr>
              <a:t>order</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to</a:t>
            </a:r>
            <a:endParaRPr lang="pt-BR" sz="3000" dirty="0">
              <a:latin typeface="Times New Roman" panose="02020603050405020304" pitchFamily="18" charset="0"/>
              <a:cs typeface="Times New Roman" panose="02020603050405020304" pitchFamily="18" charset="0"/>
            </a:endParaRPr>
          </a:p>
        </p:txBody>
      </p:sp>
      <p:sp>
        <p:nvSpPr>
          <p:cNvPr id="2" name="Double Bracket 1"/>
          <p:cNvSpPr/>
          <p:nvPr/>
        </p:nvSpPr>
        <p:spPr>
          <a:xfrm>
            <a:off x="1140537" y="4102700"/>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973445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140537" y="397781"/>
            <a:ext cx="10587637" cy="5170646"/>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4.11</a:t>
            </a:r>
            <a:r>
              <a:rPr lang="pt-BR" sz="3000" dirty="0">
                <a:latin typeface="Times New Roman" panose="02020603050405020304" pitchFamily="18" charset="0"/>
                <a:cs typeface="Times New Roman" panose="02020603050405020304" pitchFamily="18" charset="0"/>
              </a:rPr>
              <a:t> (Unifesp 2019) No trecho “</a:t>
            </a:r>
            <a:r>
              <a:rPr lang="pt-BR" sz="3000" i="1" dirty="0" err="1">
                <a:latin typeface="Times New Roman" panose="02020603050405020304" pitchFamily="18" charset="0"/>
                <a:cs typeface="Times New Roman" panose="02020603050405020304" pitchFamily="18" charset="0"/>
              </a:rPr>
              <a:t>Nursing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not</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career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many</a:t>
            </a:r>
            <a:r>
              <a:rPr lang="pt-BR" sz="3000" i="1" dirty="0">
                <a:latin typeface="Times New Roman" panose="02020603050405020304" pitchFamily="18" charset="0"/>
                <a:cs typeface="Times New Roman" panose="02020603050405020304" pitchFamily="18" charset="0"/>
              </a:rPr>
              <a:t> boys aspire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or</a:t>
            </a:r>
            <a:r>
              <a:rPr lang="pt-BR" sz="3000" i="1" dirty="0">
                <a:latin typeface="Times New Roman" panose="02020603050405020304" pitchFamily="18" charset="0"/>
                <a:cs typeface="Times New Roman" panose="02020603050405020304" pitchFamily="18" charset="0"/>
              </a:rPr>
              <a:t> are </a:t>
            </a:r>
            <a:r>
              <a:rPr lang="pt-BR" sz="3000" i="1" dirty="0" err="1">
                <a:latin typeface="Times New Roman" panose="02020603050405020304" pitchFamily="18" charset="0"/>
                <a:cs typeface="Times New Roman" panose="02020603050405020304" pitchFamily="18" charset="0"/>
              </a:rPr>
              <a:t>encouraged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consider</a:t>
            </a:r>
            <a:r>
              <a:rPr lang="pt-BR" sz="3000" i="1" dirty="0">
                <a:latin typeface="Times New Roman" panose="02020603050405020304" pitchFamily="18" charset="0"/>
                <a:cs typeface="Times New Roman" panose="02020603050405020304" pitchFamily="18" charset="0"/>
              </a:rPr>
              <a:t>. [...] </a:t>
            </a:r>
            <a:r>
              <a:rPr lang="pt-BR" sz="3000" b="1" i="1" u="sng" dirty="0" err="1">
                <a:latin typeface="Times New Roman" panose="02020603050405020304" pitchFamily="18" charset="0"/>
                <a:cs typeface="Times New Roman" panose="02020603050405020304" pitchFamily="18" charset="0"/>
              </a:rPr>
              <a:t>Although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many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gender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stereotypes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about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jobs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caring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have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crumbled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nursing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far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remained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unaffected</a:t>
            </a:r>
            <a:r>
              <a:rPr lang="pt-BR" sz="3000" i="1" dirty="0">
                <a:latin typeface="Times New Roman" panose="02020603050405020304" pitchFamily="18" charset="0"/>
                <a:cs typeface="Times New Roman" panose="02020603050405020304" pitchFamily="18" charset="0"/>
              </a:rPr>
              <a:t>.</a:t>
            </a:r>
            <a:r>
              <a:rPr lang="pt-BR" sz="3000" dirty="0">
                <a:latin typeface="Times New Roman" panose="02020603050405020304" pitchFamily="18" charset="0"/>
                <a:cs typeface="Times New Roman" panose="02020603050405020304" pitchFamily="18" charset="0"/>
              </a:rPr>
              <a:t>” o termo em destaque pode ser substituído, sem alteração de sentido, por:</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a:t>
            </a:r>
            <a:r>
              <a:rPr lang="pt-BR" sz="3000" dirty="0" err="1">
                <a:latin typeface="Times New Roman" panose="02020603050405020304" pitchFamily="18" charset="0"/>
                <a:cs typeface="Times New Roman" panose="02020603050405020304" pitchFamily="18" charset="0"/>
              </a:rPr>
              <a:t>Because</a:t>
            </a:r>
            <a:r>
              <a:rPr lang="pt-BR" sz="3000" dirty="0">
                <a:latin typeface="Times New Roman" panose="02020603050405020304" pitchFamily="18" charset="0"/>
                <a:cs typeface="Times New Roman" panose="02020603050405020304" pitchFamily="18" charset="0"/>
              </a:rPr>
              <a:t> </a:t>
            </a:r>
          </a:p>
          <a:p>
            <a:r>
              <a:rPr lang="pt-BR" sz="3000" dirty="0">
                <a:latin typeface="Times New Roman" panose="02020603050405020304" pitchFamily="18" charset="0"/>
                <a:cs typeface="Times New Roman" panose="02020603050405020304" pitchFamily="18" charset="0"/>
              </a:rPr>
              <a:t>b) </a:t>
            </a:r>
            <a:r>
              <a:rPr lang="pt-BR" sz="3000" dirty="0" err="1">
                <a:latin typeface="Times New Roman" panose="02020603050405020304" pitchFamily="18" charset="0"/>
                <a:cs typeface="Times New Roman" panose="02020603050405020304" pitchFamily="18" charset="0"/>
              </a:rPr>
              <a:t>Otherwise</a:t>
            </a:r>
            <a:r>
              <a:rPr lang="pt-BR" sz="3000" dirty="0">
                <a:latin typeface="Times New Roman" panose="02020603050405020304" pitchFamily="18" charset="0"/>
                <a:cs typeface="Times New Roman" panose="02020603050405020304" pitchFamily="18" charset="0"/>
              </a:rPr>
              <a:t> </a:t>
            </a:r>
          </a:p>
          <a:p>
            <a:r>
              <a:rPr lang="pt-BR" sz="3000" dirty="0">
                <a:latin typeface="Times New Roman" panose="02020603050405020304" pitchFamily="18" charset="0"/>
                <a:cs typeface="Times New Roman" panose="02020603050405020304" pitchFamily="18" charset="0"/>
              </a:rPr>
              <a:t>c) </a:t>
            </a:r>
            <a:r>
              <a:rPr lang="pt-BR" sz="3000" dirty="0" err="1">
                <a:latin typeface="Times New Roman" panose="02020603050405020304" pitchFamily="18" charset="0"/>
                <a:cs typeface="Times New Roman" panose="02020603050405020304" pitchFamily="18" charset="0"/>
              </a:rPr>
              <a:t>Unless</a:t>
            </a:r>
            <a:r>
              <a:rPr lang="pt-BR" sz="3000" dirty="0">
                <a:latin typeface="Times New Roman" panose="02020603050405020304" pitchFamily="18" charset="0"/>
                <a:cs typeface="Times New Roman" panose="02020603050405020304" pitchFamily="18" charset="0"/>
              </a:rPr>
              <a:t> </a:t>
            </a:r>
          </a:p>
          <a:p>
            <a:r>
              <a:rPr lang="pt-BR" sz="3000" dirty="0">
                <a:latin typeface="Times New Roman" panose="02020603050405020304" pitchFamily="18" charset="0"/>
                <a:cs typeface="Times New Roman" panose="02020603050405020304" pitchFamily="18" charset="0"/>
              </a:rPr>
              <a:t>d) </a:t>
            </a:r>
            <a:r>
              <a:rPr lang="pt-BR" sz="3000" dirty="0" err="1">
                <a:latin typeface="Times New Roman" panose="02020603050405020304" pitchFamily="18" charset="0"/>
                <a:cs typeface="Times New Roman" panose="02020603050405020304" pitchFamily="18" charset="0"/>
              </a:rPr>
              <a:t>Though</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a:t>
            </a:r>
            <a:r>
              <a:rPr lang="pt-BR" sz="3000" dirty="0" err="1">
                <a:latin typeface="Times New Roman" panose="02020603050405020304" pitchFamily="18" charset="0"/>
                <a:cs typeface="Times New Roman" panose="02020603050405020304" pitchFamily="18" charset="0"/>
              </a:rPr>
              <a:t>Therefore</a:t>
            </a:r>
            <a:endParaRPr lang="pt-BR" sz="3000" dirty="0">
              <a:latin typeface="Times New Roman" panose="02020603050405020304" pitchFamily="18" charset="0"/>
              <a:cs typeface="Times New Roman" panose="02020603050405020304" pitchFamily="18" charset="0"/>
            </a:endParaRPr>
          </a:p>
        </p:txBody>
      </p:sp>
      <p:sp>
        <p:nvSpPr>
          <p:cNvPr id="2" name="Double Bracket 1"/>
          <p:cNvSpPr/>
          <p:nvPr/>
        </p:nvSpPr>
        <p:spPr>
          <a:xfrm>
            <a:off x="1140537" y="4566522"/>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3448330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6" name="TextBox 4">
            <a:extLst>
              <a:ext uri="{FF2B5EF4-FFF2-40B4-BE49-F238E27FC236}">
                <a16:creationId xmlns:a16="http://schemas.microsoft.com/office/drawing/2014/main" id="{EBEBFB8E-1354-4B1F-B721-F66F5CD53A17}"/>
              </a:ext>
            </a:extLst>
          </p:cNvPr>
          <p:cNvSpPr txBox="1"/>
          <p:nvPr/>
        </p:nvSpPr>
        <p:spPr>
          <a:xfrm>
            <a:off x="321971" y="1068944"/>
            <a:ext cx="11410681" cy="4247317"/>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4.12</a:t>
            </a:r>
            <a:r>
              <a:rPr lang="pt-BR" sz="3000" dirty="0">
                <a:latin typeface="Times New Roman" panose="02020603050405020304" pitchFamily="18" charset="0"/>
                <a:cs typeface="Times New Roman" panose="02020603050405020304" pitchFamily="18" charset="0"/>
              </a:rPr>
              <a:t> No trecho “</a:t>
            </a:r>
            <a:r>
              <a:rPr lang="pt-BR" sz="3000" i="1" dirty="0" err="1">
                <a:latin typeface="Times New Roman" panose="02020603050405020304" pitchFamily="18" charset="0"/>
                <a:cs typeface="Times New Roman" panose="02020603050405020304" pitchFamily="18" charset="0"/>
              </a:rPr>
              <a:t>But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these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specimens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were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missing</a:t>
            </a:r>
            <a:r>
              <a:rPr lang="pt-BR" sz="3000" i="1" dirty="0">
                <a:latin typeface="Times New Roman" panose="02020603050405020304" pitchFamily="18" charset="0"/>
                <a:cs typeface="Times New Roman" panose="02020603050405020304" pitchFamily="18" charset="0"/>
              </a:rPr>
              <a:t> crucial </a:t>
            </a:r>
            <a:r>
              <a:rPr lang="pt-BR" sz="3000" i="1" dirty="0" err="1">
                <a:latin typeface="Times New Roman" panose="02020603050405020304" pitchFamily="18" charset="0"/>
                <a:cs typeface="Times New Roman" panose="02020603050405020304" pitchFamily="18" charset="0"/>
              </a:rPr>
              <a:t>bones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such</a:t>
            </a:r>
            <a:r>
              <a:rPr lang="pt-BR" sz="3000" i="1" dirty="0">
                <a:latin typeface="Times New Roman" panose="02020603050405020304" pitchFamily="18" charset="0"/>
                <a:cs typeface="Times New Roman" panose="02020603050405020304" pitchFamily="18" charset="0"/>
              </a:rPr>
              <a:t> as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ankle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Therefore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scientists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time </a:t>
            </a:r>
            <a:r>
              <a:rPr lang="pt-BR" sz="3000" i="1" dirty="0" err="1">
                <a:latin typeface="Times New Roman" panose="02020603050405020304" pitchFamily="18" charset="0"/>
                <a:cs typeface="Times New Roman" panose="02020603050405020304" pitchFamily="18" charset="0"/>
              </a:rPr>
              <a:t>could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not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tell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whether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were</a:t>
            </a:r>
            <a:r>
              <a:rPr lang="pt-BR" sz="3000" i="1" dirty="0">
                <a:latin typeface="Times New Roman" panose="02020603050405020304" pitchFamily="18" charset="0"/>
                <a:cs typeface="Times New Roman" panose="02020603050405020304" pitchFamily="18" charset="0"/>
              </a:rPr>
              <a:t> more </a:t>
            </a:r>
            <a:r>
              <a:rPr lang="pt-BR" sz="3000" i="1" dirty="0" err="1">
                <a:latin typeface="Times New Roman" panose="02020603050405020304" pitchFamily="18" charset="0"/>
                <a:cs typeface="Times New Roman" panose="02020603050405020304" pitchFamily="18" charset="0"/>
              </a:rPr>
              <a:t>closely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related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crocs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dinosaurs</a:t>
            </a:r>
            <a:r>
              <a:rPr lang="pt-BR" sz="3000" dirty="0">
                <a:latin typeface="Times New Roman" panose="02020603050405020304" pitchFamily="18" charset="0"/>
                <a:cs typeface="Times New Roman" panose="02020603050405020304" pitchFamily="18" charset="0"/>
              </a:rPr>
              <a:t>, a palavra </a:t>
            </a:r>
            <a:r>
              <a:rPr lang="pt-BR" sz="3000" b="1" i="1" u="sng" dirty="0" err="1">
                <a:latin typeface="Times New Roman" panose="02020603050405020304" pitchFamily="18" charset="0"/>
                <a:cs typeface="Times New Roman" panose="02020603050405020304" pitchFamily="18" charset="0"/>
              </a:rPr>
              <a:t>therefore</a:t>
            </a:r>
            <a:r>
              <a:rPr lang="pt-BR" sz="3000" b="1" i="1" u="sng" dirty="0">
                <a:latin typeface="Times New Roman" panose="02020603050405020304" pitchFamily="18" charset="0"/>
                <a:cs typeface="Times New Roman" panose="02020603050405020304" pitchFamily="18" charset="0"/>
              </a:rPr>
              <a:t>:</a:t>
            </a:r>
            <a:endParaRPr lang="pt-BR" sz="3000" dirty="0">
              <a:latin typeface="Times New Roman" panose="02020603050405020304" pitchFamily="18" charset="0"/>
              <a:cs typeface="Times New Roman" panose="02020603050405020304" pitchFamily="18" charset="0"/>
            </a:endParaRP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Equivale, em português, a </a:t>
            </a:r>
            <a:r>
              <a:rPr lang="pt-BR" sz="3000" b="1" u="sng" dirty="0">
                <a:latin typeface="Times New Roman" panose="02020603050405020304" pitchFamily="18" charset="0"/>
                <a:cs typeface="Times New Roman" panose="02020603050405020304" pitchFamily="18" charset="0"/>
              </a:rPr>
              <a:t>portanto</a:t>
            </a:r>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Equivale, em português, a </a:t>
            </a:r>
            <a:r>
              <a:rPr lang="pt-BR" sz="3000" b="1" u="sng" dirty="0">
                <a:latin typeface="Times New Roman" panose="02020603050405020304" pitchFamily="18" charset="0"/>
                <a:cs typeface="Times New Roman" panose="02020603050405020304" pitchFamily="18" charset="0"/>
              </a:rPr>
              <a:t>no entanto</a:t>
            </a:r>
            <a:endParaRPr lang="pt-BR" sz="3000" b="1"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Dá ideia de </a:t>
            </a:r>
            <a:r>
              <a:rPr lang="pt-BR" sz="3000" b="1" u="sng" dirty="0">
                <a:latin typeface="Times New Roman" panose="02020603050405020304" pitchFamily="18" charset="0"/>
                <a:cs typeface="Times New Roman" panose="02020603050405020304" pitchFamily="18" charset="0"/>
              </a:rPr>
              <a:t>probabilidade</a:t>
            </a:r>
          </a:p>
          <a:p>
            <a:r>
              <a:rPr lang="pt-BR" sz="3000" dirty="0">
                <a:latin typeface="Times New Roman" panose="02020603050405020304" pitchFamily="18" charset="0"/>
                <a:cs typeface="Times New Roman" panose="02020603050405020304" pitchFamily="18" charset="0"/>
              </a:rPr>
              <a:t>d) Indica </a:t>
            </a:r>
            <a:r>
              <a:rPr lang="pt-BR" sz="3000" b="1" u="sng" dirty="0">
                <a:latin typeface="Times New Roman" panose="02020603050405020304" pitchFamily="18" charset="0"/>
                <a:cs typeface="Times New Roman" panose="02020603050405020304" pitchFamily="18" charset="0"/>
              </a:rPr>
              <a:t>substituição</a:t>
            </a:r>
          </a:p>
          <a:p>
            <a:r>
              <a:rPr lang="pt-BR" sz="3000" dirty="0">
                <a:latin typeface="Times New Roman" panose="02020603050405020304" pitchFamily="18" charset="0"/>
                <a:cs typeface="Times New Roman" panose="02020603050405020304" pitchFamily="18" charset="0"/>
              </a:rPr>
              <a:t>e) Poderia ser substituída, sem mudança de sentido, por </a:t>
            </a:r>
            <a:r>
              <a:rPr lang="pt-BR" sz="3000" b="1" u="sng" dirty="0">
                <a:latin typeface="Times New Roman" panose="02020603050405020304" pitchFamily="18" charset="0"/>
                <a:cs typeface="Times New Roman" panose="02020603050405020304" pitchFamily="18" charset="0"/>
              </a:rPr>
              <a:t>in </a:t>
            </a:r>
            <a:r>
              <a:rPr lang="pt-BR" sz="3000" b="1" u="sng" dirty="0" err="1">
                <a:latin typeface="Times New Roman" panose="02020603050405020304" pitchFamily="18" charset="0"/>
                <a:cs typeface="Times New Roman" panose="02020603050405020304" pitchFamily="18" charset="0"/>
              </a:rPr>
              <a:t>spite</a:t>
            </a:r>
            <a:r>
              <a:rPr lang="pt-BR" sz="3000" b="1" u="sng" dirty="0">
                <a:latin typeface="Times New Roman" panose="02020603050405020304" pitchFamily="18" charset="0"/>
                <a:cs typeface="Times New Roman" panose="02020603050405020304" pitchFamily="18" charset="0"/>
              </a:rPr>
              <a:t> </a:t>
            </a:r>
            <a:r>
              <a:rPr lang="pt-BR" sz="3000" b="1" u="sng" dirty="0" err="1">
                <a:latin typeface="Times New Roman" panose="02020603050405020304" pitchFamily="18" charset="0"/>
                <a:cs typeface="Times New Roman" panose="02020603050405020304" pitchFamily="18" charset="0"/>
              </a:rPr>
              <a:t>of</a:t>
            </a:r>
            <a:r>
              <a:rPr lang="pt-BR" sz="3000" b="1" u="sng" dirty="0">
                <a:latin typeface="Times New Roman" panose="02020603050405020304" pitchFamily="18" charset="0"/>
                <a:cs typeface="Times New Roman" panose="02020603050405020304" pitchFamily="18" charset="0"/>
              </a:rPr>
              <a:t> </a:t>
            </a:r>
            <a:r>
              <a:rPr lang="pt-BR" sz="3000" b="1" u="sng" dirty="0" err="1">
                <a:latin typeface="Times New Roman" panose="02020603050405020304" pitchFamily="18" charset="0"/>
                <a:cs typeface="Times New Roman" panose="02020603050405020304" pitchFamily="18" charset="0"/>
              </a:rPr>
              <a:t>this</a:t>
            </a:r>
            <a:endParaRPr lang="pt-BR" sz="3000" b="1" dirty="0">
              <a:latin typeface="Times New Roman" panose="02020603050405020304" pitchFamily="18" charset="0"/>
              <a:cs typeface="Times New Roman" panose="02020603050405020304" pitchFamily="18" charset="0"/>
            </a:endParaRPr>
          </a:p>
        </p:txBody>
      </p:sp>
      <p:sp>
        <p:nvSpPr>
          <p:cNvPr id="7" name="Double Bracket 5">
            <a:extLst>
              <a:ext uri="{FF2B5EF4-FFF2-40B4-BE49-F238E27FC236}">
                <a16:creationId xmlns:a16="http://schemas.microsoft.com/office/drawing/2014/main" id="{BF5D0289-0DFE-4D17-988F-EDF46C768706}"/>
              </a:ext>
            </a:extLst>
          </p:cNvPr>
          <p:cNvSpPr/>
          <p:nvPr/>
        </p:nvSpPr>
        <p:spPr>
          <a:xfrm>
            <a:off x="321971" y="2971934"/>
            <a:ext cx="450760"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2172316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EDE7876C-7AEF-4EFF-8A2A-3C3C19A88F95}"/>
              </a:ext>
            </a:extLst>
          </p:cNvPr>
          <p:cNvSpPr txBox="1"/>
          <p:nvPr/>
        </p:nvSpPr>
        <p:spPr>
          <a:xfrm>
            <a:off x="321971" y="1068944"/>
            <a:ext cx="11410681" cy="4247317"/>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4.13</a:t>
            </a:r>
            <a:r>
              <a:rPr lang="pt-BR" sz="3000" dirty="0">
                <a:latin typeface="Times New Roman" panose="02020603050405020304" pitchFamily="18" charset="0"/>
                <a:cs typeface="Times New Roman" panose="02020603050405020304" pitchFamily="18" charset="0"/>
              </a:rPr>
              <a:t> In </a:t>
            </a:r>
            <a:r>
              <a:rPr lang="pt-BR" sz="3000" dirty="0" err="1">
                <a:latin typeface="Times New Roman" panose="02020603050405020304" pitchFamily="18" charset="0"/>
                <a:cs typeface="Times New Roman" panose="02020603050405020304" pitchFamily="18" charset="0"/>
              </a:rPr>
              <a:t>the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sentence</a:t>
            </a:r>
            <a:r>
              <a:rPr lang="pt-BR" sz="3000"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There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no microfone </a:t>
            </a:r>
            <a:r>
              <a:rPr lang="pt-BR" sz="3000" i="1" dirty="0" err="1">
                <a:latin typeface="Times New Roman" panose="02020603050405020304" pitchFamily="18" charset="0"/>
                <a:cs typeface="Times New Roman" panose="02020603050405020304" pitchFamily="18" charset="0"/>
              </a:rPr>
              <a:t>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toilet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itself</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however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there</a:t>
            </a:r>
            <a:r>
              <a:rPr lang="pt-BR" sz="3000" i="1" dirty="0">
                <a:latin typeface="Times New Roman" panose="02020603050405020304" pitchFamily="18" charset="0"/>
                <a:cs typeface="Times New Roman" panose="02020603050405020304" pitchFamily="18" charset="0"/>
              </a:rPr>
              <a:t> are speakers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play </a:t>
            </a:r>
            <a:r>
              <a:rPr lang="pt-BR" sz="3000" i="1" dirty="0" err="1">
                <a:latin typeface="Times New Roman" panose="02020603050405020304" pitchFamily="18" charset="0"/>
                <a:cs typeface="Times New Roman" panose="02020603050405020304" pitchFamily="18" charset="0"/>
              </a:rPr>
              <a:t>your</a:t>
            </a:r>
            <a:r>
              <a:rPr lang="pt-BR" sz="3000" i="1" dirty="0">
                <a:latin typeface="Times New Roman" panose="02020603050405020304" pitchFamily="18" charset="0"/>
                <a:cs typeface="Times New Roman" panose="02020603050405020304" pitchFamily="18" charset="0"/>
              </a:rPr>
              <a:t> favorite tunes”,</a:t>
            </a:r>
            <a:r>
              <a:rPr lang="pt-BR" sz="3000"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however</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can</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be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replaced</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with</a:t>
            </a:r>
            <a:r>
              <a:rPr lang="pt-BR" sz="3000" dirty="0">
                <a:latin typeface="Times New Roman" panose="02020603050405020304" pitchFamily="18" charset="0"/>
                <a:cs typeface="Times New Roman" panose="02020603050405020304" pitchFamily="18" charset="0"/>
              </a:rPr>
              <a:t> no </a:t>
            </a:r>
            <a:r>
              <a:rPr lang="pt-BR" sz="3000" dirty="0" err="1">
                <a:latin typeface="Times New Roman" panose="02020603050405020304" pitchFamily="18" charset="0"/>
                <a:cs typeface="Times New Roman" panose="02020603050405020304" pitchFamily="18" charset="0"/>
              </a:rPr>
              <a:t>change</a:t>
            </a:r>
            <a:r>
              <a:rPr lang="pt-BR" sz="3000" dirty="0">
                <a:latin typeface="Times New Roman" panose="02020603050405020304" pitchFamily="18" charset="0"/>
                <a:cs typeface="Times New Roman" panose="02020603050405020304" pitchFamily="18" charset="0"/>
              </a:rPr>
              <a:t> in </a:t>
            </a:r>
            <a:r>
              <a:rPr lang="pt-BR" sz="3000" dirty="0" err="1">
                <a:latin typeface="Times New Roman" panose="02020603050405020304" pitchFamily="18" charset="0"/>
                <a:cs typeface="Times New Roman" panose="02020603050405020304" pitchFamily="18" charset="0"/>
              </a:rPr>
              <a:t>the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meaning</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by</a:t>
            </a:r>
            <a:r>
              <a:rPr lang="pt-BR" sz="3000" dirty="0">
                <a:latin typeface="Times New Roman" panose="02020603050405020304" pitchFamily="18" charset="0"/>
                <a:cs typeface="Times New Roman" panose="02020603050405020304" pitchFamily="18" charset="0"/>
              </a:rPr>
              <a:t>:</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a:t>
            </a:r>
            <a:r>
              <a:rPr lang="pt-BR" sz="3000" dirty="0" err="1">
                <a:latin typeface="Times New Roman" panose="02020603050405020304" pitchFamily="18" charset="0"/>
                <a:cs typeface="Times New Roman" panose="02020603050405020304" pitchFamily="18" charset="0"/>
              </a:rPr>
              <a:t>therefore</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in </a:t>
            </a:r>
            <a:r>
              <a:rPr lang="pt-BR" sz="3000" dirty="0" err="1">
                <a:latin typeface="Times New Roman" panose="02020603050405020304" pitchFamily="18" charset="0"/>
                <a:cs typeface="Times New Roman" panose="02020603050405020304" pitchFamily="18" charset="0"/>
              </a:rPr>
              <a:t>addition</a:t>
            </a:r>
            <a:endParaRPr lang="pt-BR" sz="3000" b="1"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a:t>
            </a:r>
            <a:r>
              <a:rPr lang="pt-BR" sz="3000" dirty="0" err="1">
                <a:latin typeface="Times New Roman" panose="02020603050405020304" pitchFamily="18" charset="0"/>
                <a:cs typeface="Times New Roman" panose="02020603050405020304" pitchFamily="18" charset="0"/>
              </a:rPr>
              <a:t>thus</a:t>
            </a:r>
            <a:endParaRPr lang="pt-BR" sz="3000" b="1"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a:t>
            </a:r>
            <a:r>
              <a:rPr lang="pt-BR" sz="3000" dirty="0" err="1">
                <a:latin typeface="Times New Roman" panose="02020603050405020304" pitchFamily="18" charset="0"/>
                <a:cs typeface="Times New Roman" panose="02020603050405020304" pitchFamily="18" charset="0"/>
              </a:rPr>
              <a:t>since</a:t>
            </a:r>
            <a:endParaRPr lang="pt-BR" sz="3000" b="1"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a:t>
            </a:r>
            <a:r>
              <a:rPr lang="pt-BR" sz="3000" dirty="0" err="1">
                <a:latin typeface="Times New Roman" panose="02020603050405020304" pitchFamily="18" charset="0"/>
                <a:cs typeface="Times New Roman" panose="02020603050405020304" pitchFamily="18" charset="0"/>
              </a:rPr>
              <a:t>yet</a:t>
            </a:r>
            <a:endParaRPr lang="pt-BR" sz="3000" b="1" dirty="0">
              <a:latin typeface="Times New Roman" panose="02020603050405020304" pitchFamily="18" charset="0"/>
              <a:cs typeface="Times New Roman" panose="02020603050405020304" pitchFamily="18" charset="0"/>
            </a:endParaRPr>
          </a:p>
        </p:txBody>
      </p:sp>
      <p:sp>
        <p:nvSpPr>
          <p:cNvPr id="5" name="Double Bracket 5">
            <a:extLst>
              <a:ext uri="{FF2B5EF4-FFF2-40B4-BE49-F238E27FC236}">
                <a16:creationId xmlns:a16="http://schemas.microsoft.com/office/drawing/2014/main" id="{56153089-1BE4-48A0-BF55-30001BB88BCD}"/>
              </a:ext>
            </a:extLst>
          </p:cNvPr>
          <p:cNvSpPr/>
          <p:nvPr/>
        </p:nvSpPr>
        <p:spPr>
          <a:xfrm>
            <a:off x="321971" y="4813986"/>
            <a:ext cx="450760"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3090337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233302" y="1210612"/>
            <a:ext cx="9597831" cy="4247317"/>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4.14</a:t>
            </a:r>
            <a:r>
              <a:rPr lang="pt-BR" sz="3000" dirty="0">
                <a:latin typeface="Times New Roman" panose="02020603050405020304" pitchFamily="18" charset="0"/>
                <a:cs typeface="Times New Roman" panose="02020603050405020304" pitchFamily="18" charset="0"/>
              </a:rPr>
              <a:t> (Unifesp) No trecho “</a:t>
            </a:r>
            <a:r>
              <a:rPr lang="pt-BR" sz="3000" i="1" dirty="0" err="1">
                <a:latin typeface="Times New Roman" panose="02020603050405020304" pitchFamily="18" charset="0"/>
                <a:cs typeface="Times New Roman" panose="02020603050405020304" pitchFamily="18" charset="0"/>
              </a:rPr>
              <a:t>Bad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health</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not</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only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impacts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individual </a:t>
            </a:r>
            <a:r>
              <a:rPr lang="pt-BR" sz="3000" b="1" i="1" u="sng" dirty="0" err="1">
                <a:latin typeface="Times New Roman" panose="02020603050405020304" pitchFamily="18" charset="0"/>
                <a:cs typeface="Times New Roman" panose="02020603050405020304" pitchFamily="18" charset="0"/>
              </a:rPr>
              <a:t>but</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also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rest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community</a:t>
            </a:r>
            <a:r>
              <a:rPr lang="pt-BR" sz="3000" dirty="0">
                <a:latin typeface="Times New Roman" panose="02020603050405020304" pitchFamily="18" charset="0"/>
                <a:cs typeface="Times New Roman" panose="02020603050405020304" pitchFamily="18" charset="0"/>
              </a:rPr>
              <a:t>”, a expressão </a:t>
            </a:r>
            <a:r>
              <a:rPr lang="pt-BR" sz="3000" b="1" i="1" u="sng" dirty="0" err="1">
                <a:latin typeface="Times New Roman" panose="02020603050405020304" pitchFamily="18" charset="0"/>
                <a:cs typeface="Times New Roman" panose="02020603050405020304" pitchFamily="18" charset="0"/>
              </a:rPr>
              <a:t>not</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only</a:t>
            </a:r>
            <a:r>
              <a:rPr lang="pt-BR" sz="3000" b="1" i="1" u="sng" dirty="0">
                <a:latin typeface="Times New Roman" panose="02020603050405020304" pitchFamily="18" charset="0"/>
                <a:cs typeface="Times New Roman" panose="02020603050405020304" pitchFamily="18" charset="0"/>
              </a:rPr>
              <a:t> ... </a:t>
            </a:r>
            <a:r>
              <a:rPr lang="pt-BR" sz="3000" b="1" i="1" u="sng" dirty="0" err="1">
                <a:latin typeface="Times New Roman" panose="02020603050405020304" pitchFamily="18" charset="0"/>
                <a:cs typeface="Times New Roman" panose="02020603050405020304" pitchFamily="18" charset="0"/>
              </a:rPr>
              <a:t>but</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also</a:t>
            </a:r>
            <a:r>
              <a:rPr lang="pt-BR" sz="3000" dirty="0">
                <a:latin typeface="Times New Roman" panose="02020603050405020304" pitchFamily="18" charset="0"/>
                <a:cs typeface="Times New Roman" panose="02020603050405020304" pitchFamily="18" charset="0"/>
              </a:rPr>
              <a:t> dá uma ideia de:</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negação</a:t>
            </a:r>
          </a:p>
          <a:p>
            <a:r>
              <a:rPr lang="pt-BR" sz="3000" dirty="0">
                <a:latin typeface="Times New Roman" panose="02020603050405020304" pitchFamily="18" charset="0"/>
                <a:cs typeface="Times New Roman" panose="02020603050405020304" pitchFamily="18" charset="0"/>
              </a:rPr>
              <a:t>b) comparação</a:t>
            </a:r>
          </a:p>
          <a:p>
            <a:r>
              <a:rPr lang="pt-BR" sz="3000" dirty="0">
                <a:latin typeface="Times New Roman" panose="02020603050405020304" pitchFamily="18" charset="0"/>
                <a:cs typeface="Times New Roman" panose="02020603050405020304" pitchFamily="18" charset="0"/>
              </a:rPr>
              <a:t>c) alternativa</a:t>
            </a:r>
          </a:p>
          <a:p>
            <a:r>
              <a:rPr lang="pt-BR" sz="3000" dirty="0">
                <a:latin typeface="Times New Roman" panose="02020603050405020304" pitchFamily="18" charset="0"/>
                <a:cs typeface="Times New Roman" panose="02020603050405020304" pitchFamily="18" charset="0"/>
              </a:rPr>
              <a:t>d) inclusão</a:t>
            </a:r>
          </a:p>
          <a:p>
            <a:r>
              <a:rPr lang="pt-BR" sz="3000" dirty="0">
                <a:latin typeface="Times New Roman" panose="02020603050405020304" pitchFamily="18" charset="0"/>
                <a:cs typeface="Times New Roman" panose="02020603050405020304" pitchFamily="18" charset="0"/>
              </a:rPr>
              <a:t>e) contraste</a:t>
            </a:r>
          </a:p>
        </p:txBody>
      </p:sp>
      <p:sp>
        <p:nvSpPr>
          <p:cNvPr id="6" name="Double Bracket 5"/>
          <p:cNvSpPr/>
          <p:nvPr/>
        </p:nvSpPr>
        <p:spPr>
          <a:xfrm>
            <a:off x="1233302" y="4500942"/>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881072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230232" y="592425"/>
            <a:ext cx="9597831" cy="5632311"/>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4.15</a:t>
            </a:r>
            <a:r>
              <a:rPr lang="pt-BR" sz="3000" dirty="0">
                <a:latin typeface="Times New Roman" panose="02020603050405020304" pitchFamily="18" charset="0"/>
                <a:cs typeface="Times New Roman" panose="02020603050405020304" pitchFamily="18" charset="0"/>
              </a:rPr>
              <a:t> No trecho “</a:t>
            </a:r>
            <a:r>
              <a:rPr lang="pt-BR" sz="3000" i="1" dirty="0" err="1">
                <a:latin typeface="Times New Roman" panose="02020603050405020304" pitchFamily="18" charset="0"/>
                <a:cs typeface="Times New Roman" panose="02020603050405020304" pitchFamily="18" charset="0"/>
              </a:rPr>
              <a:t>Public</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attitudes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anywhere</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Europe</a:t>
            </a:r>
            <a:r>
              <a:rPr lang="pt-BR" sz="3000" i="1" dirty="0">
                <a:latin typeface="Times New Roman" panose="02020603050405020304" pitchFamily="18" charset="0"/>
                <a:cs typeface="Times New Roman" panose="02020603050405020304" pitchFamily="18" charset="0"/>
              </a:rPr>
              <a:t> show </a:t>
            </a:r>
            <a:r>
              <a:rPr lang="pt-BR" sz="3000" i="1" dirty="0" err="1">
                <a:latin typeface="Times New Roman" panose="02020603050405020304" pitchFamily="18" charset="0"/>
                <a:cs typeface="Times New Roman" panose="02020603050405020304" pitchFamily="18" charset="0"/>
              </a:rPr>
              <a:t>moderate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strong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support</a:t>
            </a:r>
            <a:r>
              <a:rPr lang="pt-BR" sz="3000" i="1" dirty="0">
                <a:latin typeface="Times New Roman" panose="02020603050405020304" pitchFamily="18" charset="0"/>
                <a:cs typeface="Times New Roman" panose="02020603050405020304" pitchFamily="18" charset="0"/>
              </a:rPr>
              <a:t> for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implementation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renewable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energy</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Nevertheless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planning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wind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power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developments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appears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complicated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matter</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most</a:t>
            </a:r>
            <a:r>
              <a:rPr lang="pt-BR" sz="3000" i="1" dirty="0">
                <a:latin typeface="Times New Roman" panose="02020603050405020304" pitchFamily="18" charset="0"/>
                <a:cs typeface="Times New Roman" panose="02020603050405020304" pitchFamily="18" charset="0"/>
              </a:rPr>
              <a:t> countries</a:t>
            </a:r>
            <a:r>
              <a:rPr lang="pt-BR" sz="3000" dirty="0">
                <a:latin typeface="Times New Roman" panose="02020603050405020304" pitchFamily="18" charset="0"/>
                <a:cs typeface="Times New Roman" panose="02020603050405020304" pitchFamily="18" charset="0"/>
              </a:rPr>
              <a:t>”, a palavra </a:t>
            </a:r>
            <a:r>
              <a:rPr lang="pt-BR" sz="3000" b="1" i="1" u="sng" dirty="0" err="1">
                <a:latin typeface="Times New Roman" panose="02020603050405020304" pitchFamily="18" charset="0"/>
                <a:cs typeface="Times New Roman" panose="02020603050405020304" pitchFamily="18" charset="0"/>
              </a:rPr>
              <a:t>nevertheless</a:t>
            </a:r>
            <a:r>
              <a:rPr lang="pt-BR" sz="3000" dirty="0">
                <a:latin typeface="Times New Roman" panose="02020603050405020304" pitchFamily="18" charset="0"/>
                <a:cs typeface="Times New Roman" panose="02020603050405020304" pitchFamily="18" charset="0"/>
              </a:rPr>
              <a:t> poderia ser substituída pelas seguintes alternativas, </a:t>
            </a:r>
            <a:r>
              <a:rPr lang="pt-BR" sz="3000" b="1" u="sng" dirty="0">
                <a:latin typeface="Times New Roman" panose="02020603050405020304" pitchFamily="18" charset="0"/>
                <a:cs typeface="Times New Roman" panose="02020603050405020304" pitchFamily="18" charset="0"/>
              </a:rPr>
              <a:t>exceto</a:t>
            </a:r>
            <a:r>
              <a:rPr lang="pt-BR" sz="3000" dirty="0">
                <a:latin typeface="Times New Roman" panose="02020603050405020304" pitchFamily="18" charset="0"/>
                <a:cs typeface="Times New Roman" panose="02020603050405020304" pitchFamily="18" charset="0"/>
              </a:rPr>
              <a:t>:</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a:t>
            </a:r>
            <a:r>
              <a:rPr lang="pt-BR" sz="3000" dirty="0" err="1">
                <a:latin typeface="Times New Roman" panose="02020603050405020304" pitchFamily="18" charset="0"/>
                <a:cs typeface="Times New Roman" panose="02020603050405020304" pitchFamily="18" charset="0"/>
              </a:rPr>
              <a:t>Yet</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a:t>
            </a:r>
            <a:r>
              <a:rPr lang="pt-BR" sz="3000" dirty="0" err="1">
                <a:latin typeface="Times New Roman" panose="02020603050405020304" pitchFamily="18" charset="0"/>
                <a:cs typeface="Times New Roman" panose="02020603050405020304" pitchFamily="18" charset="0"/>
              </a:rPr>
              <a:t>Nonetheless</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a:t>
            </a:r>
            <a:r>
              <a:rPr lang="pt-BR" sz="3000" dirty="0" err="1">
                <a:latin typeface="Times New Roman" panose="02020603050405020304" pitchFamily="18" charset="0"/>
                <a:cs typeface="Times New Roman" panose="02020603050405020304" pitchFamily="18" charset="0"/>
              </a:rPr>
              <a:t>However</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a:t>
            </a:r>
            <a:r>
              <a:rPr lang="pt-BR" sz="3000" dirty="0" err="1">
                <a:latin typeface="Times New Roman" panose="02020603050405020304" pitchFamily="18" charset="0"/>
                <a:cs typeface="Times New Roman" panose="02020603050405020304" pitchFamily="18" charset="0"/>
              </a:rPr>
              <a:t>Therefore</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a:t>
            </a:r>
            <a:r>
              <a:rPr lang="pt-BR" sz="3000" dirty="0" err="1">
                <a:latin typeface="Times New Roman" panose="02020603050405020304" pitchFamily="18" charset="0"/>
                <a:cs typeface="Times New Roman" panose="02020603050405020304" pitchFamily="18" charset="0"/>
              </a:rPr>
              <a:t>On</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the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other</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hand</a:t>
            </a:r>
            <a:endParaRPr lang="pt-BR" sz="3000" dirty="0">
              <a:latin typeface="Times New Roman" panose="02020603050405020304" pitchFamily="18" charset="0"/>
              <a:cs typeface="Times New Roman" panose="02020603050405020304" pitchFamily="18" charset="0"/>
            </a:endParaRPr>
          </a:p>
        </p:txBody>
      </p:sp>
      <p:sp>
        <p:nvSpPr>
          <p:cNvPr id="6" name="Double Bracket 5"/>
          <p:cNvSpPr/>
          <p:nvPr/>
        </p:nvSpPr>
        <p:spPr>
          <a:xfrm>
            <a:off x="1230232" y="5252234"/>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139833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579549" y="1249615"/>
            <a:ext cx="11153104" cy="4247317"/>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4.16</a:t>
            </a:r>
            <a:r>
              <a:rPr lang="pt-BR" sz="3000" dirty="0">
                <a:latin typeface="Times New Roman" panose="02020603050405020304" pitchFamily="18" charset="0"/>
                <a:cs typeface="Times New Roman" panose="02020603050405020304" pitchFamily="18" charset="0"/>
              </a:rPr>
              <a:t> No trecho </a:t>
            </a:r>
            <a:r>
              <a:rPr lang="pt-BR" sz="3000" i="1" dirty="0">
                <a:latin typeface="Times New Roman" panose="02020603050405020304" pitchFamily="18" charset="0"/>
                <a:cs typeface="Times New Roman" panose="02020603050405020304" pitchFamily="18" charset="0"/>
              </a:rPr>
              <a:t>“</a:t>
            </a:r>
            <a:r>
              <a:rPr lang="pt-BR" sz="3000" i="1" dirty="0" err="1">
                <a:latin typeface="Times New Roman" panose="02020603050405020304" pitchFamily="18" charset="0"/>
                <a:cs typeface="Times New Roman" panose="02020603050405020304" pitchFamily="18" charset="0"/>
              </a:rPr>
              <a:t>Moreover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feelings </a:t>
            </a:r>
            <a:r>
              <a:rPr lang="pt-BR" sz="3000" i="1" dirty="0" err="1">
                <a:latin typeface="Times New Roman" panose="02020603050405020304" pitchFamily="18" charset="0"/>
                <a:cs typeface="Times New Roman" panose="02020603050405020304" pitchFamily="18" charset="0"/>
              </a:rPr>
              <a:t>about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equity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fairness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appear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determinants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backyard</a:t>
            </a:r>
            <a:r>
              <a:rPr lang="pt-BR" sz="3000" i="1" dirty="0">
                <a:latin typeface="Times New Roman" panose="02020603050405020304" pitchFamily="18" charset="0"/>
                <a:cs typeface="Times New Roman" panose="02020603050405020304" pitchFamily="18" charset="0"/>
              </a:rPr>
              <a:t>’ motives, </a:t>
            </a:r>
            <a:r>
              <a:rPr lang="pt-BR" sz="3000" b="1" i="1" u="sng" dirty="0" err="1">
                <a:latin typeface="Times New Roman" panose="02020603050405020304" pitchFamily="18" charset="0"/>
                <a:cs typeface="Times New Roman" panose="02020603050405020304" pitchFamily="18" charset="0"/>
              </a:rPr>
              <a:t>instead</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selfishness</a:t>
            </a:r>
            <a:r>
              <a:rPr lang="pt-BR" sz="3000" i="1" dirty="0">
                <a:latin typeface="Times New Roman" panose="02020603050405020304" pitchFamily="18" charset="0"/>
                <a:cs typeface="Times New Roman" panose="02020603050405020304" pitchFamily="18" charset="0"/>
              </a:rPr>
              <a:t>”,</a:t>
            </a:r>
            <a:r>
              <a:rPr lang="pt-BR" sz="3000" dirty="0">
                <a:latin typeface="Times New Roman" panose="02020603050405020304" pitchFamily="18" charset="0"/>
                <a:cs typeface="Times New Roman" panose="02020603050405020304" pitchFamily="18" charset="0"/>
              </a:rPr>
              <a:t> a expressão </a:t>
            </a:r>
            <a:r>
              <a:rPr lang="pt-BR" sz="3000" b="1" i="1" u="sng" dirty="0" err="1">
                <a:latin typeface="Times New Roman" panose="02020603050405020304" pitchFamily="18" charset="0"/>
                <a:cs typeface="Times New Roman" panose="02020603050405020304" pitchFamily="18" charset="0"/>
              </a:rPr>
              <a:t>instead</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of</a:t>
            </a:r>
            <a:r>
              <a:rPr lang="pt-BR" sz="3000" dirty="0">
                <a:latin typeface="Times New Roman" panose="02020603050405020304" pitchFamily="18" charset="0"/>
                <a:cs typeface="Times New Roman" panose="02020603050405020304" pitchFamily="18" charset="0"/>
              </a:rPr>
              <a:t>:</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significa o mesmo que </a:t>
            </a:r>
            <a:r>
              <a:rPr lang="pt-BR" sz="3000" i="1" dirty="0" err="1">
                <a:latin typeface="Times New Roman" panose="02020603050405020304" pitchFamily="18" charset="0"/>
                <a:cs typeface="Times New Roman" panose="02020603050405020304" pitchFamily="18" charset="0"/>
              </a:rPr>
              <a:t>despite</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poderia ser substituída, sem alteração de significado, por </a:t>
            </a:r>
            <a:r>
              <a:rPr lang="pt-BR" sz="3000" i="1" dirty="0" err="1">
                <a:latin typeface="Times New Roman" panose="02020603050405020304" pitchFamily="18" charset="0"/>
                <a:cs typeface="Times New Roman" panose="02020603050405020304" pitchFamily="18" charset="0"/>
              </a:rPr>
              <a:t>rather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than</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indica condição</a:t>
            </a:r>
          </a:p>
          <a:p>
            <a:r>
              <a:rPr lang="pt-BR" sz="3000" dirty="0">
                <a:latin typeface="Times New Roman" panose="02020603050405020304" pitchFamily="18" charset="0"/>
                <a:cs typeface="Times New Roman" panose="02020603050405020304" pitchFamily="18" charset="0"/>
              </a:rPr>
              <a:t>d) indica adição</a:t>
            </a:r>
          </a:p>
          <a:p>
            <a:r>
              <a:rPr lang="pt-BR" sz="3000" dirty="0">
                <a:latin typeface="Times New Roman" panose="02020603050405020304" pitchFamily="18" charset="0"/>
                <a:cs typeface="Times New Roman" panose="02020603050405020304" pitchFamily="18" charset="0"/>
              </a:rPr>
              <a:t>e) introduz um exemplo</a:t>
            </a:r>
          </a:p>
        </p:txBody>
      </p:sp>
      <p:sp>
        <p:nvSpPr>
          <p:cNvPr id="6" name="Double Bracket 5"/>
          <p:cNvSpPr/>
          <p:nvPr/>
        </p:nvSpPr>
        <p:spPr>
          <a:xfrm>
            <a:off x="579549" y="3629496"/>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2595554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321971" y="1068944"/>
            <a:ext cx="11410681" cy="4708981"/>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4.17</a:t>
            </a:r>
            <a:r>
              <a:rPr lang="pt-BR" sz="3000" dirty="0">
                <a:latin typeface="Times New Roman" panose="02020603050405020304" pitchFamily="18" charset="0"/>
                <a:cs typeface="Times New Roman" panose="02020603050405020304" pitchFamily="18" charset="0"/>
              </a:rPr>
              <a:t> No trecho “</a:t>
            </a:r>
            <a:r>
              <a:rPr lang="pt-BR" sz="3000" b="1" i="1" u="sng" dirty="0" err="1">
                <a:latin typeface="Times New Roman" panose="02020603050405020304" pitchFamily="18" charset="0"/>
                <a:cs typeface="Times New Roman" panose="02020603050405020304" pitchFamily="18" charset="0"/>
              </a:rPr>
              <a:t>Whereas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people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other</a:t>
            </a:r>
            <a:r>
              <a:rPr lang="pt-BR" sz="3000" i="1" dirty="0">
                <a:latin typeface="Times New Roman" panose="02020603050405020304" pitchFamily="18" charset="0"/>
                <a:cs typeface="Times New Roman" panose="02020603050405020304" pitchFamily="18" charset="0"/>
              </a:rPr>
              <a:t> countries </a:t>
            </a:r>
            <a:r>
              <a:rPr lang="pt-BR" sz="3000" i="1" dirty="0" err="1">
                <a:latin typeface="Times New Roman" panose="02020603050405020304" pitchFamily="18" charset="0"/>
                <a:cs typeface="Times New Roman" panose="02020603050405020304" pitchFamily="18" charset="0"/>
              </a:rPr>
              <a:t>may</a:t>
            </a:r>
            <a:r>
              <a:rPr lang="pt-BR" sz="3000" i="1" dirty="0">
                <a:latin typeface="Times New Roman" panose="02020603050405020304" pitchFamily="18" charset="0"/>
                <a:cs typeface="Times New Roman" panose="02020603050405020304" pitchFamily="18" charset="0"/>
              </a:rPr>
              <a:t> drink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sociable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or</a:t>
            </a:r>
            <a:r>
              <a:rPr lang="pt-BR" sz="3000" i="1" dirty="0">
                <a:latin typeface="Times New Roman" panose="02020603050405020304" pitchFamily="18" charset="0"/>
                <a:cs typeface="Times New Roman" panose="02020603050405020304" pitchFamily="18" charset="0"/>
              </a:rPr>
              <a:t> as </a:t>
            </a:r>
            <a:r>
              <a:rPr lang="pt-BR" sz="3000" i="1" dirty="0" err="1">
                <a:latin typeface="Times New Roman" panose="02020603050405020304" pitchFamily="18" charset="0"/>
                <a:cs typeface="Times New Roman" panose="02020603050405020304" pitchFamily="18" charset="0"/>
              </a:rPr>
              <a:t>part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meal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large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numbers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Britons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tend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drink </a:t>
            </a:r>
            <a:r>
              <a:rPr lang="pt-BR" sz="3000" i="1" dirty="0" err="1">
                <a:latin typeface="Times New Roman" panose="02020603050405020304" pitchFamily="18" charset="0"/>
                <a:cs typeface="Times New Roman" panose="02020603050405020304" pitchFamily="18" charset="0"/>
              </a:rPr>
              <a:t>alcohol</a:t>
            </a:r>
            <a:r>
              <a:rPr lang="pt-BR" sz="3000" i="1" dirty="0">
                <a:latin typeface="Times New Roman" panose="02020603050405020304" pitchFamily="18" charset="0"/>
                <a:cs typeface="Times New Roman" panose="02020603050405020304" pitchFamily="18" charset="0"/>
              </a:rPr>
              <a:t> like </a:t>
            </a:r>
            <a:r>
              <a:rPr lang="pt-BR" sz="3000" i="1" dirty="0" err="1">
                <a:latin typeface="Times New Roman" panose="02020603050405020304" pitchFamily="18" charset="0"/>
                <a:cs typeface="Times New Roman" panose="02020603050405020304" pitchFamily="18" charset="0"/>
              </a:rPr>
              <a:t>someone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trying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take it </a:t>
            </a:r>
            <a:r>
              <a:rPr lang="pt-BR" sz="3000" i="1" dirty="0" err="1">
                <a:latin typeface="Times New Roman" panose="02020603050405020304" pitchFamily="18" charset="0"/>
                <a:cs typeface="Times New Roman" panose="02020603050405020304" pitchFamily="18" charset="0"/>
              </a:rPr>
              <a:t>away</a:t>
            </a:r>
            <a:r>
              <a:rPr lang="pt-BR" sz="3000" dirty="0">
                <a:latin typeface="Times New Roman" panose="02020603050405020304" pitchFamily="18" charset="0"/>
                <a:cs typeface="Times New Roman" panose="02020603050405020304" pitchFamily="18" charset="0"/>
              </a:rPr>
              <a:t>”, a palavra </a:t>
            </a:r>
            <a:r>
              <a:rPr lang="pt-BR" sz="3000" b="1" i="1" u="sng" dirty="0" err="1">
                <a:latin typeface="Times New Roman" panose="02020603050405020304" pitchFamily="18" charset="0"/>
                <a:cs typeface="Times New Roman" panose="02020603050405020304" pitchFamily="18" charset="0"/>
              </a:rPr>
              <a:t>whereas</a:t>
            </a:r>
            <a:r>
              <a:rPr lang="pt-BR" sz="3000" i="1" dirty="0">
                <a:latin typeface="Times New Roman" panose="02020603050405020304" pitchFamily="18" charset="0"/>
                <a:cs typeface="Times New Roman" panose="02020603050405020304" pitchFamily="18" charset="0"/>
              </a:rPr>
              <a:t> </a:t>
            </a:r>
            <a:r>
              <a:rPr lang="pt-BR" sz="3000" dirty="0">
                <a:latin typeface="Times New Roman" panose="02020603050405020304" pitchFamily="18" charset="0"/>
                <a:cs typeface="Times New Roman" panose="02020603050405020304" pitchFamily="18" charset="0"/>
              </a:rPr>
              <a:t>introduz uma ideia de:</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conclusão</a:t>
            </a:r>
          </a:p>
          <a:p>
            <a:r>
              <a:rPr lang="pt-BR" sz="3000" dirty="0">
                <a:latin typeface="Times New Roman" panose="02020603050405020304" pitchFamily="18" charset="0"/>
                <a:cs typeface="Times New Roman" panose="02020603050405020304" pitchFamily="18" charset="0"/>
              </a:rPr>
              <a:t>b) contraste</a:t>
            </a:r>
            <a:endParaRPr lang="pt-BR" sz="3000" b="1"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adição</a:t>
            </a:r>
          </a:p>
          <a:p>
            <a:r>
              <a:rPr lang="pt-BR" sz="3000" dirty="0">
                <a:latin typeface="Times New Roman" panose="02020603050405020304" pitchFamily="18" charset="0"/>
                <a:cs typeface="Times New Roman" panose="02020603050405020304" pitchFamily="18" charset="0"/>
              </a:rPr>
              <a:t>d) comparação</a:t>
            </a:r>
          </a:p>
          <a:p>
            <a:r>
              <a:rPr lang="pt-BR" sz="3000" dirty="0">
                <a:latin typeface="Times New Roman" panose="02020603050405020304" pitchFamily="18" charset="0"/>
                <a:cs typeface="Times New Roman" panose="02020603050405020304" pitchFamily="18" charset="0"/>
              </a:rPr>
              <a:t>e) tempo</a:t>
            </a:r>
            <a:endParaRPr lang="pt-BR" sz="3000" b="1" dirty="0">
              <a:latin typeface="Times New Roman" panose="02020603050405020304" pitchFamily="18" charset="0"/>
              <a:cs typeface="Times New Roman" panose="02020603050405020304" pitchFamily="18" charset="0"/>
            </a:endParaRPr>
          </a:p>
        </p:txBody>
      </p:sp>
      <p:sp>
        <p:nvSpPr>
          <p:cNvPr id="6" name="Double Bracket 5"/>
          <p:cNvSpPr/>
          <p:nvPr/>
        </p:nvSpPr>
        <p:spPr>
          <a:xfrm>
            <a:off x="309091" y="3899953"/>
            <a:ext cx="450760"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749195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321971" y="1068944"/>
            <a:ext cx="11410681" cy="5170646"/>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4.18</a:t>
            </a:r>
            <a:r>
              <a:rPr lang="pt-BR" sz="3000" dirty="0">
                <a:latin typeface="Times New Roman" panose="02020603050405020304" pitchFamily="18" charset="0"/>
                <a:cs typeface="Times New Roman" panose="02020603050405020304" pitchFamily="18" charset="0"/>
              </a:rPr>
              <a:t> No trecho “</a:t>
            </a:r>
            <a:r>
              <a:rPr lang="pt-BR" sz="3000" i="1" dirty="0">
                <a:latin typeface="Times New Roman" panose="02020603050405020304" pitchFamily="18" charset="0"/>
                <a:cs typeface="Times New Roman" panose="02020603050405020304" pitchFamily="18" charset="0"/>
              </a:rPr>
              <a:t>Lead </a:t>
            </a:r>
            <a:r>
              <a:rPr lang="pt-BR" sz="3000" i="1" dirty="0" err="1">
                <a:latin typeface="Times New Roman" panose="02020603050405020304" pitchFamily="18" charset="0"/>
                <a:cs typeface="Times New Roman" panose="02020603050405020304" pitchFamily="18" charset="0"/>
              </a:rPr>
              <a:t>researcher</a:t>
            </a:r>
            <a:r>
              <a:rPr lang="pt-BR" sz="3000" i="1" dirty="0">
                <a:latin typeface="Times New Roman" panose="02020603050405020304" pitchFamily="18" charset="0"/>
                <a:cs typeface="Times New Roman" panose="02020603050405020304" pitchFamily="18" charset="0"/>
              </a:rPr>
              <a:t> Jacinta Kelly, </a:t>
            </a:r>
            <a:r>
              <a:rPr lang="pt-BR" sz="3000" i="1" dirty="0" err="1">
                <a:latin typeface="Times New Roman" panose="02020603050405020304" pitchFamily="18" charset="0"/>
                <a:cs typeface="Times New Roman" panose="02020603050405020304" pitchFamily="18" charset="0"/>
              </a:rPr>
              <a:t>senior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lecturer</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nursing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at</a:t>
            </a:r>
            <a:r>
              <a:rPr lang="pt-BR" sz="3000" i="1" dirty="0">
                <a:latin typeface="Times New Roman" panose="02020603050405020304" pitchFamily="18" charset="0"/>
                <a:cs typeface="Times New Roman" panose="02020603050405020304" pitchFamily="18" charset="0"/>
              </a:rPr>
              <a:t> Anglia Ruskin </a:t>
            </a:r>
            <a:r>
              <a:rPr lang="pt-BR" sz="3000" i="1" dirty="0" err="1">
                <a:latin typeface="Times New Roman" panose="02020603050405020304" pitchFamily="18" charset="0"/>
                <a:cs typeface="Times New Roman" panose="02020603050405020304" pitchFamily="18" charset="0"/>
              </a:rPr>
              <a:t>University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whose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work</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published</a:t>
            </a:r>
            <a:r>
              <a:rPr lang="pt-BR" sz="3000" i="1" dirty="0">
                <a:latin typeface="Times New Roman" panose="02020603050405020304" pitchFamily="18" charset="0"/>
                <a:cs typeface="Times New Roman" panose="02020603050405020304" pitchFamily="18" charset="0"/>
              </a:rPr>
              <a:t> in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Journal</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of</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Advanced</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Nursing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says</a:t>
            </a:r>
            <a:r>
              <a:rPr lang="pt-BR" sz="3000" i="1" dirty="0">
                <a:latin typeface="Times New Roman" panose="02020603050405020304" pitchFamily="18" charset="0"/>
                <a:cs typeface="Times New Roman" panose="02020603050405020304" pitchFamily="18" charset="0"/>
              </a:rPr>
              <a:t> popular </a:t>
            </a:r>
            <a:r>
              <a:rPr lang="pt-BR" sz="3000" i="1" dirty="0" err="1">
                <a:latin typeface="Times New Roman" panose="02020603050405020304" pitchFamily="18" charset="0"/>
                <a:cs typeface="Times New Roman" panose="02020603050405020304" pitchFamily="18" charset="0"/>
              </a:rPr>
              <a:t>music</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powerful</a:t>
            </a:r>
            <a:r>
              <a:rPr lang="pt-BR" sz="3000" i="1" dirty="0">
                <a:latin typeface="Times New Roman" panose="02020603050405020304" pitchFamily="18" charset="0"/>
                <a:cs typeface="Times New Roman" panose="02020603050405020304" pitchFamily="18" charset="0"/>
              </a:rPr>
              <a:t> tool </a:t>
            </a:r>
            <a:r>
              <a:rPr lang="pt-BR" sz="3000" i="1" dirty="0" err="1">
                <a:latin typeface="Times New Roman" panose="02020603050405020304" pitchFamily="18" charset="0"/>
                <a:cs typeface="Times New Roman" panose="02020603050405020304" pitchFamily="18" charset="0"/>
              </a:rPr>
              <a:t>that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can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influence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behaviour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attitudes</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hence</a:t>
            </a:r>
            <a:r>
              <a:rPr lang="pt-BR" sz="3000" i="1" dirty="0">
                <a:latin typeface="Times New Roman" panose="02020603050405020304" pitchFamily="18" charset="0"/>
                <a:cs typeface="Times New Roman" panose="02020603050405020304" pitchFamily="18" charset="0"/>
              </a:rPr>
              <a:t> it </a:t>
            </a:r>
            <a:r>
              <a:rPr lang="pt-BR" sz="3000" i="1" dirty="0" err="1">
                <a:latin typeface="Times New Roman" panose="02020603050405020304" pitchFamily="18" charset="0"/>
                <a:cs typeface="Times New Roman" panose="02020603050405020304" pitchFamily="18" charset="0"/>
              </a:rPr>
              <a:t>should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used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responsibly</a:t>
            </a:r>
            <a:r>
              <a:rPr lang="pt-BR" sz="3000" dirty="0">
                <a:latin typeface="Times New Roman" panose="02020603050405020304" pitchFamily="18" charset="0"/>
                <a:cs typeface="Times New Roman" panose="02020603050405020304" pitchFamily="18" charset="0"/>
              </a:rPr>
              <a:t>”, a palavra </a:t>
            </a:r>
            <a:r>
              <a:rPr lang="pt-BR" sz="3000" b="1" i="1" u="sng" dirty="0" err="1">
                <a:latin typeface="Times New Roman" panose="02020603050405020304" pitchFamily="18" charset="0"/>
                <a:cs typeface="Times New Roman" panose="02020603050405020304" pitchFamily="18" charset="0"/>
              </a:rPr>
              <a:t>hence</a:t>
            </a:r>
            <a:r>
              <a:rPr lang="pt-BR" sz="3000" i="1" dirty="0">
                <a:latin typeface="Times New Roman" panose="02020603050405020304" pitchFamily="18" charset="0"/>
                <a:cs typeface="Times New Roman" panose="02020603050405020304" pitchFamily="18" charset="0"/>
              </a:rPr>
              <a:t> </a:t>
            </a:r>
            <a:r>
              <a:rPr lang="pt-BR" sz="3000" dirty="0">
                <a:latin typeface="Times New Roman" panose="02020603050405020304" pitchFamily="18" charset="0"/>
                <a:cs typeface="Times New Roman" panose="02020603050405020304" pitchFamily="18" charset="0"/>
              </a:rPr>
              <a:t>poderia ser substituída, sem mudança de sentido, por:</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a:t>
            </a:r>
            <a:r>
              <a:rPr lang="pt-BR" sz="3000" dirty="0" err="1">
                <a:latin typeface="Times New Roman" panose="02020603050405020304" pitchFamily="18" charset="0"/>
                <a:cs typeface="Times New Roman" panose="02020603050405020304" pitchFamily="18" charset="0"/>
              </a:rPr>
              <a:t>yet</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a:t>
            </a:r>
            <a:r>
              <a:rPr lang="pt-BR" sz="3000" dirty="0" err="1">
                <a:latin typeface="Times New Roman" panose="02020603050405020304" pitchFamily="18" charset="0"/>
                <a:cs typeface="Times New Roman" panose="02020603050405020304" pitchFamily="18" charset="0"/>
              </a:rPr>
              <a:t>nonetheless</a:t>
            </a:r>
            <a:endParaRPr lang="pt-BR" sz="3000" b="1"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a:t>
            </a:r>
            <a:r>
              <a:rPr lang="pt-BR" sz="3000" dirty="0" err="1">
                <a:latin typeface="Times New Roman" panose="02020603050405020304" pitchFamily="18" charset="0"/>
                <a:cs typeface="Times New Roman" panose="02020603050405020304" pitchFamily="18" charset="0"/>
              </a:rPr>
              <a:t>thus</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a:t>
            </a:r>
            <a:r>
              <a:rPr lang="pt-BR" sz="3000" dirty="0" err="1">
                <a:latin typeface="Times New Roman" panose="02020603050405020304" pitchFamily="18" charset="0"/>
                <a:cs typeface="Times New Roman" panose="02020603050405020304" pitchFamily="18" charset="0"/>
              </a:rPr>
              <a:t>although</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a:t>
            </a:r>
            <a:r>
              <a:rPr lang="pt-BR" sz="3000" dirty="0" err="1">
                <a:latin typeface="Times New Roman" panose="02020603050405020304" pitchFamily="18" charset="0"/>
                <a:cs typeface="Times New Roman" panose="02020603050405020304" pitchFamily="18" charset="0"/>
              </a:rPr>
              <a:t>provided</a:t>
            </a:r>
            <a:endParaRPr lang="pt-BR" sz="3000" b="1" dirty="0">
              <a:latin typeface="Times New Roman" panose="02020603050405020304" pitchFamily="18" charset="0"/>
              <a:cs typeface="Times New Roman" panose="02020603050405020304" pitchFamily="18" charset="0"/>
            </a:endParaRPr>
          </a:p>
        </p:txBody>
      </p:sp>
      <p:sp>
        <p:nvSpPr>
          <p:cNvPr id="6" name="Double Bracket 5"/>
          <p:cNvSpPr/>
          <p:nvPr/>
        </p:nvSpPr>
        <p:spPr>
          <a:xfrm>
            <a:off x="321971" y="4827232"/>
            <a:ext cx="450760"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2244162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321971" y="1068944"/>
            <a:ext cx="11410681" cy="4708981"/>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4.19</a:t>
            </a:r>
            <a:r>
              <a:rPr lang="pt-BR" sz="3000" dirty="0">
                <a:latin typeface="Times New Roman" panose="02020603050405020304" pitchFamily="18" charset="0"/>
                <a:cs typeface="Times New Roman" panose="02020603050405020304" pitchFamily="18" charset="0"/>
              </a:rPr>
              <a:t> (São Camilo-SP) No trecho “</a:t>
            </a:r>
            <a:r>
              <a:rPr lang="pt-BR" sz="3000" i="1" dirty="0">
                <a:latin typeface="Times New Roman" panose="02020603050405020304" pitchFamily="18" charset="0"/>
                <a:cs typeface="Times New Roman" panose="02020603050405020304" pitchFamily="18" charset="0"/>
              </a:rPr>
              <a:t>The World Health </a:t>
            </a:r>
            <a:r>
              <a:rPr lang="pt-BR" sz="3000" i="1" dirty="0" err="1">
                <a:latin typeface="Times New Roman" panose="02020603050405020304" pitchFamily="18" charset="0"/>
                <a:cs typeface="Times New Roman" panose="02020603050405020304" pitchFamily="18" charset="0"/>
              </a:rPr>
              <a:t>Organization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declared</a:t>
            </a:r>
            <a:r>
              <a:rPr lang="pt-BR" sz="3000" i="1" dirty="0">
                <a:latin typeface="Times New Roman" panose="02020603050405020304" pitchFamily="18" charset="0"/>
                <a:cs typeface="Times New Roman" panose="02020603050405020304" pitchFamily="18" charset="0"/>
              </a:rPr>
              <a:t> a global </a:t>
            </a:r>
            <a:r>
              <a:rPr lang="pt-BR" sz="3000" i="1" dirty="0" err="1">
                <a:latin typeface="Times New Roman" panose="02020603050405020304" pitchFamily="18" charset="0"/>
                <a:cs typeface="Times New Roman" panose="02020603050405020304" pitchFamily="18" charset="0"/>
              </a:rPr>
              <a:t>public</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health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emergency</a:t>
            </a:r>
            <a:r>
              <a:rPr lang="pt-BR" sz="3000" i="1" dirty="0">
                <a:latin typeface="Times New Roman" panose="02020603050405020304" pitchFamily="18" charset="0"/>
                <a:cs typeface="Times New Roman" panose="02020603050405020304" pitchFamily="18" charset="0"/>
              </a:rPr>
              <a:t> </a:t>
            </a:r>
            <a:r>
              <a:rPr lang="pt-BR" sz="3000" b="1" i="1" u="sng" dirty="0">
                <a:latin typeface="Times New Roman" panose="02020603050405020304" pitchFamily="18" charset="0"/>
                <a:cs typeface="Times New Roman" panose="02020603050405020304" pitchFamily="18" charset="0"/>
              </a:rPr>
              <a:t>over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possible</a:t>
            </a:r>
            <a:r>
              <a:rPr lang="pt-BR" sz="3000" i="1" dirty="0">
                <a:latin typeface="Times New Roman" panose="02020603050405020304" pitchFamily="18" charset="0"/>
                <a:cs typeface="Times New Roman" panose="02020603050405020304" pitchFamily="18" charset="0"/>
              </a:rPr>
              <a:t> connection </a:t>
            </a:r>
            <a:r>
              <a:rPr lang="pt-BR" sz="3000" i="1" dirty="0" err="1">
                <a:latin typeface="Times New Roman" panose="02020603050405020304" pitchFamily="18" charset="0"/>
                <a:cs typeface="Times New Roman" panose="02020603050405020304" pitchFamily="18" charset="0"/>
              </a:rPr>
              <a:t>between</a:t>
            </a:r>
            <a:r>
              <a:rPr lang="pt-BR" sz="3000" i="1" dirty="0">
                <a:latin typeface="Times New Roman" panose="02020603050405020304" pitchFamily="18" charset="0"/>
                <a:cs typeface="Times New Roman" panose="02020603050405020304" pitchFamily="18" charset="0"/>
              </a:rPr>
              <a:t> Zika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microcephaly</a:t>
            </a:r>
            <a:r>
              <a:rPr lang="pt-BR" sz="3000" i="1" dirty="0">
                <a:latin typeface="Times New Roman" panose="02020603050405020304" pitchFamily="18" charset="0"/>
                <a:cs typeface="Times New Roman" panose="02020603050405020304" pitchFamily="18" charset="0"/>
              </a:rPr>
              <a:t>.</a:t>
            </a:r>
            <a:r>
              <a:rPr lang="pt-BR" sz="3000" dirty="0">
                <a:latin typeface="Times New Roman" panose="02020603050405020304" pitchFamily="18" charset="0"/>
                <a:cs typeface="Times New Roman" panose="02020603050405020304" pitchFamily="18" charset="0"/>
              </a:rPr>
              <a:t>”, a palavra </a:t>
            </a:r>
            <a:r>
              <a:rPr lang="pt-BR" sz="3000" b="1" i="1" u="sng" dirty="0">
                <a:latin typeface="Times New Roman" panose="02020603050405020304" pitchFamily="18" charset="0"/>
                <a:cs typeface="Times New Roman" panose="02020603050405020304" pitchFamily="18" charset="0"/>
              </a:rPr>
              <a:t>over</a:t>
            </a:r>
            <a:r>
              <a:rPr lang="pt-BR" sz="3000" i="1" dirty="0">
                <a:latin typeface="Times New Roman" panose="02020603050405020304" pitchFamily="18" charset="0"/>
                <a:cs typeface="Times New Roman" panose="02020603050405020304" pitchFamily="18" charset="0"/>
              </a:rPr>
              <a:t> </a:t>
            </a:r>
            <a:r>
              <a:rPr lang="pt-BR" sz="3000" dirty="0">
                <a:latin typeface="Times New Roman" panose="02020603050405020304" pitchFamily="18" charset="0"/>
                <a:cs typeface="Times New Roman" panose="02020603050405020304" pitchFamily="18" charset="0"/>
              </a:rPr>
              <a:t>poderia ser substituída, sem mudança de sentido, por:</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a:t>
            </a:r>
            <a:r>
              <a:rPr lang="pt-BR" sz="3000" dirty="0" err="1">
                <a:latin typeface="Times New Roman" panose="02020603050405020304" pitchFamily="18" charset="0"/>
                <a:cs typeface="Times New Roman" panose="02020603050405020304" pitchFamily="18" charset="0"/>
              </a:rPr>
              <a:t>further</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than</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a:t>
            </a:r>
            <a:r>
              <a:rPr lang="pt-BR" sz="3000" dirty="0" err="1">
                <a:latin typeface="Times New Roman" panose="02020603050405020304" pitchFamily="18" charset="0"/>
                <a:cs typeface="Times New Roman" panose="02020603050405020304" pitchFamily="18" charset="0"/>
              </a:rPr>
              <a:t>above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and</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beyond</a:t>
            </a:r>
            <a:endParaRPr lang="pt-BR" sz="3000" b="1"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a:t>
            </a:r>
            <a:r>
              <a:rPr lang="pt-BR" sz="3000" dirty="0" err="1">
                <a:latin typeface="Times New Roman" panose="02020603050405020304" pitchFamily="18" charset="0"/>
                <a:cs typeface="Times New Roman" panose="02020603050405020304" pitchFamily="18" charset="0"/>
              </a:rPr>
              <a:t>away</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from</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a:t>
            </a:r>
            <a:r>
              <a:rPr lang="pt-BR" sz="3000" dirty="0" err="1">
                <a:latin typeface="Times New Roman" panose="02020603050405020304" pitchFamily="18" charset="0"/>
                <a:cs typeface="Times New Roman" panose="02020603050405020304" pitchFamily="18" charset="0"/>
              </a:rPr>
              <a:t>due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to</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a:t>
            </a:r>
            <a:r>
              <a:rPr lang="pt-BR" sz="3000" dirty="0" err="1">
                <a:latin typeface="Times New Roman" panose="02020603050405020304" pitchFamily="18" charset="0"/>
                <a:cs typeface="Times New Roman" panose="02020603050405020304" pitchFamily="18" charset="0"/>
              </a:rPr>
              <a:t>so</a:t>
            </a:r>
            <a:r>
              <a:rPr lang="pt-BR" sz="3000" dirty="0">
                <a:latin typeface="Times New Roman" panose="02020603050405020304" pitchFamily="18" charset="0"/>
                <a:cs typeface="Times New Roman" panose="02020603050405020304" pitchFamily="18" charset="0"/>
              </a:rPr>
              <a:t> as </a:t>
            </a:r>
            <a:r>
              <a:rPr lang="pt-BR" sz="3000" dirty="0" err="1">
                <a:latin typeface="Times New Roman" panose="02020603050405020304" pitchFamily="18" charset="0"/>
                <a:cs typeface="Times New Roman" panose="02020603050405020304" pitchFamily="18" charset="0"/>
              </a:rPr>
              <a:t>to</a:t>
            </a:r>
            <a:endParaRPr lang="pt-BR" sz="3000" b="1" dirty="0">
              <a:latin typeface="Times New Roman" panose="02020603050405020304" pitchFamily="18" charset="0"/>
              <a:cs typeface="Times New Roman" panose="02020603050405020304" pitchFamily="18" charset="0"/>
            </a:endParaRPr>
          </a:p>
        </p:txBody>
      </p:sp>
      <p:sp>
        <p:nvSpPr>
          <p:cNvPr id="6" name="Double Bracket 5"/>
          <p:cNvSpPr/>
          <p:nvPr/>
        </p:nvSpPr>
        <p:spPr>
          <a:xfrm>
            <a:off x="321971" y="4827232"/>
            <a:ext cx="450760"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272075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1450DFCC-B011-4333-A971-540524E803F5}"/>
              </a:ext>
            </a:extLst>
          </p:cNvPr>
          <p:cNvSpPr txBox="1"/>
          <p:nvPr/>
        </p:nvSpPr>
        <p:spPr>
          <a:xfrm>
            <a:off x="321971" y="1068944"/>
            <a:ext cx="11410681" cy="3785652"/>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4.20</a:t>
            </a:r>
            <a:r>
              <a:rPr lang="pt-BR" sz="3000" dirty="0">
                <a:latin typeface="Times New Roman" panose="02020603050405020304" pitchFamily="18" charset="0"/>
                <a:cs typeface="Times New Roman" panose="02020603050405020304" pitchFamily="18" charset="0"/>
              </a:rPr>
              <a:t> Na frase “</a:t>
            </a:r>
            <a:r>
              <a:rPr lang="pt-BR" sz="3000" i="1" dirty="0" err="1">
                <a:latin typeface="Times New Roman" panose="02020603050405020304" pitchFamily="18" charset="0"/>
                <a:cs typeface="Times New Roman" panose="02020603050405020304" pitchFamily="18" charset="0"/>
              </a:rPr>
              <a:t>Teleocrater</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along</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with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other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dinosaurs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relatives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lived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across</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wide</a:t>
            </a:r>
            <a:r>
              <a:rPr lang="pt-BR" sz="3000" i="1" dirty="0">
                <a:latin typeface="Times New Roman" panose="02020603050405020304" pitchFamily="18" charset="0"/>
                <a:cs typeface="Times New Roman" panose="02020603050405020304" pitchFamily="18" charset="0"/>
              </a:rPr>
              <a:t> range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different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regions</a:t>
            </a:r>
            <a:r>
              <a:rPr lang="pt-BR" sz="3000" i="1" dirty="0">
                <a:latin typeface="Times New Roman" panose="02020603050405020304" pitchFamily="18" charset="0"/>
                <a:cs typeface="Times New Roman" panose="02020603050405020304" pitchFamily="18" charset="0"/>
              </a:rPr>
              <a:t>” </a:t>
            </a:r>
            <a:r>
              <a:rPr lang="pt-BR" sz="3000" dirty="0">
                <a:latin typeface="Times New Roman" panose="02020603050405020304" pitchFamily="18" charset="0"/>
                <a:cs typeface="Times New Roman" panose="02020603050405020304" pitchFamily="18" charset="0"/>
              </a:rPr>
              <a:t>a expressão </a:t>
            </a:r>
            <a:r>
              <a:rPr lang="pt-BR" sz="3000" b="1" i="1" u="sng" dirty="0" err="1">
                <a:latin typeface="Times New Roman" panose="02020603050405020304" pitchFamily="18" charset="0"/>
                <a:cs typeface="Times New Roman" panose="02020603050405020304" pitchFamily="18" charset="0"/>
              </a:rPr>
              <a:t>along</a:t>
            </a:r>
            <a:r>
              <a:rPr lang="pt-BR" sz="3000" b="1" i="1" u="sng"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with</a:t>
            </a:r>
            <a:r>
              <a:rPr lang="pt-BR" sz="3000" i="1" dirty="0">
                <a:latin typeface="Times New Roman" panose="02020603050405020304" pitchFamily="18" charset="0"/>
                <a:cs typeface="Times New Roman" panose="02020603050405020304" pitchFamily="18" charset="0"/>
              </a:rPr>
              <a:t>:</a:t>
            </a:r>
            <a:endParaRPr lang="pt-BR" sz="3000" dirty="0">
              <a:latin typeface="Times New Roman" panose="02020603050405020304" pitchFamily="18" charset="0"/>
              <a:cs typeface="Times New Roman" panose="02020603050405020304" pitchFamily="18" charset="0"/>
            </a:endParaRP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Poderia ser substituída, sem mudança de sentido, por </a:t>
            </a:r>
            <a:r>
              <a:rPr lang="pt-BR" sz="3000" b="1" u="sng" dirty="0" err="1">
                <a:latin typeface="Times New Roman" panose="02020603050405020304" pitchFamily="18" charset="0"/>
                <a:cs typeface="Times New Roman" panose="02020603050405020304" pitchFamily="18" charset="0"/>
              </a:rPr>
              <a:t>despite</a:t>
            </a:r>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Da ideia de </a:t>
            </a:r>
            <a:r>
              <a:rPr lang="pt-BR" sz="3000" b="1" u="sng" dirty="0">
                <a:latin typeface="Times New Roman" panose="02020603050405020304" pitchFamily="18" charset="0"/>
                <a:cs typeface="Times New Roman" panose="02020603050405020304" pitchFamily="18" charset="0"/>
              </a:rPr>
              <a:t>adição</a:t>
            </a:r>
            <a:endParaRPr lang="pt-BR" sz="3000" b="1"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equivale, em português a </a:t>
            </a:r>
            <a:r>
              <a:rPr lang="pt-BR" sz="3000" b="1" u="sng" dirty="0">
                <a:latin typeface="Times New Roman" panose="02020603050405020304" pitchFamily="18" charset="0"/>
                <a:cs typeface="Times New Roman" panose="02020603050405020304" pitchFamily="18" charset="0"/>
              </a:rPr>
              <a:t>diferentemente de</a:t>
            </a:r>
          </a:p>
          <a:p>
            <a:r>
              <a:rPr lang="pt-BR" sz="3000" dirty="0">
                <a:latin typeface="Times New Roman" panose="02020603050405020304" pitchFamily="18" charset="0"/>
                <a:cs typeface="Times New Roman" panose="02020603050405020304" pitchFamily="18" charset="0"/>
              </a:rPr>
              <a:t>d) Indica </a:t>
            </a:r>
            <a:r>
              <a:rPr lang="pt-BR" sz="3000" b="1" u="sng" dirty="0">
                <a:latin typeface="Times New Roman" panose="02020603050405020304" pitchFamily="18" charset="0"/>
                <a:cs typeface="Times New Roman" panose="02020603050405020304" pitchFamily="18" charset="0"/>
              </a:rPr>
              <a:t>condição</a:t>
            </a:r>
          </a:p>
          <a:p>
            <a:r>
              <a:rPr lang="pt-BR" sz="3000" dirty="0">
                <a:latin typeface="Times New Roman" panose="02020603050405020304" pitchFamily="18" charset="0"/>
                <a:cs typeface="Times New Roman" panose="02020603050405020304" pitchFamily="18" charset="0"/>
              </a:rPr>
              <a:t>e) Poderia ser substituída, sem mudança de sentido, por </a:t>
            </a:r>
            <a:r>
              <a:rPr lang="pt-BR" sz="3000" b="1" u="sng" dirty="0" err="1">
                <a:latin typeface="Times New Roman" panose="02020603050405020304" pitchFamily="18" charset="0"/>
                <a:cs typeface="Times New Roman" panose="02020603050405020304" pitchFamily="18" charset="0"/>
              </a:rPr>
              <a:t>due</a:t>
            </a:r>
            <a:r>
              <a:rPr lang="pt-BR" sz="3000" b="1" u="sng" dirty="0">
                <a:latin typeface="Times New Roman" panose="02020603050405020304" pitchFamily="18" charset="0"/>
                <a:cs typeface="Times New Roman" panose="02020603050405020304" pitchFamily="18" charset="0"/>
              </a:rPr>
              <a:t> </a:t>
            </a:r>
            <a:r>
              <a:rPr lang="pt-BR" sz="3000" b="1" u="sng" dirty="0" err="1">
                <a:latin typeface="Times New Roman" panose="02020603050405020304" pitchFamily="18" charset="0"/>
                <a:cs typeface="Times New Roman" panose="02020603050405020304" pitchFamily="18" charset="0"/>
              </a:rPr>
              <a:t>to</a:t>
            </a:r>
            <a:endParaRPr lang="pt-BR" sz="3000" b="1" dirty="0">
              <a:latin typeface="Times New Roman" panose="02020603050405020304" pitchFamily="18" charset="0"/>
              <a:cs typeface="Times New Roman" panose="02020603050405020304" pitchFamily="18" charset="0"/>
            </a:endParaRPr>
          </a:p>
        </p:txBody>
      </p:sp>
      <p:sp>
        <p:nvSpPr>
          <p:cNvPr id="7" name="Double Bracket 5">
            <a:extLst>
              <a:ext uri="{FF2B5EF4-FFF2-40B4-BE49-F238E27FC236}">
                <a16:creationId xmlns:a16="http://schemas.microsoft.com/office/drawing/2014/main" id="{0D54EF50-9BA4-4E34-A88C-2B5DF8AA65FE}"/>
              </a:ext>
            </a:extLst>
          </p:cNvPr>
          <p:cNvSpPr/>
          <p:nvPr/>
        </p:nvSpPr>
        <p:spPr>
          <a:xfrm>
            <a:off x="321971" y="2971934"/>
            <a:ext cx="450760"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82504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233302" y="1210612"/>
            <a:ext cx="9597831" cy="4708981"/>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4.21</a:t>
            </a:r>
            <a:r>
              <a:rPr lang="pt-BR" sz="3000" dirty="0">
                <a:latin typeface="Times New Roman" panose="02020603050405020304" pitchFamily="18" charset="0"/>
                <a:cs typeface="Times New Roman" panose="02020603050405020304" pitchFamily="18" charset="0"/>
              </a:rPr>
              <a:t> Na frase “</a:t>
            </a:r>
            <a:r>
              <a:rPr lang="pt-BR" sz="3000" b="1" i="1" u="sng" dirty="0">
                <a:latin typeface="Times New Roman" panose="02020603050405020304" pitchFamily="18" charset="0"/>
                <a:cs typeface="Times New Roman" panose="02020603050405020304" pitchFamily="18" charset="0"/>
              </a:rPr>
              <a:t>Prior </a:t>
            </a:r>
            <a:r>
              <a:rPr lang="pt-BR" sz="3000" b="1" i="1" u="sng"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field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trial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lab</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tests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Rothamsted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found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that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pheromone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worked</a:t>
            </a:r>
            <a:r>
              <a:rPr lang="pt-BR" sz="3000" i="1" dirty="0">
                <a:latin typeface="Times New Roman" panose="02020603050405020304" pitchFamily="18" charset="0"/>
                <a:cs typeface="Times New Roman" panose="02020603050405020304" pitchFamily="18" charset="0"/>
              </a:rPr>
              <a:t> as a </a:t>
            </a:r>
            <a:r>
              <a:rPr lang="pt-BR" sz="3000" i="1" dirty="0" err="1">
                <a:latin typeface="Times New Roman" panose="02020603050405020304" pitchFamily="18" charset="0"/>
                <a:cs typeface="Times New Roman" panose="02020603050405020304" pitchFamily="18" charset="0"/>
              </a:rPr>
              <a:t>highly-effective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aphid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repellent</a:t>
            </a:r>
            <a:r>
              <a:rPr lang="pt-BR" sz="3000" dirty="0">
                <a:latin typeface="Times New Roman" panose="02020603050405020304" pitchFamily="18" charset="0"/>
                <a:cs typeface="Times New Roman" panose="02020603050405020304" pitchFamily="18" charset="0"/>
              </a:rPr>
              <a:t>”, a expressão </a:t>
            </a:r>
            <a:r>
              <a:rPr lang="pt-BR" sz="3000" b="1" i="1" u="sng" dirty="0">
                <a:latin typeface="Times New Roman" panose="02020603050405020304" pitchFamily="18" charset="0"/>
                <a:cs typeface="Times New Roman" panose="02020603050405020304" pitchFamily="18" charset="0"/>
              </a:rPr>
              <a:t>prior </a:t>
            </a:r>
            <a:r>
              <a:rPr lang="pt-BR" sz="3000" b="1" i="1" u="sng" dirty="0" err="1">
                <a:latin typeface="Times New Roman" panose="02020603050405020304" pitchFamily="18" charset="0"/>
                <a:cs typeface="Times New Roman" panose="02020603050405020304" pitchFamily="18" charset="0"/>
              </a:rPr>
              <a:t>to</a:t>
            </a:r>
            <a:r>
              <a:rPr lang="pt-BR" sz="3000" dirty="0">
                <a:latin typeface="Times New Roman" panose="02020603050405020304" pitchFamily="18" charset="0"/>
                <a:cs typeface="Times New Roman" panose="02020603050405020304" pitchFamily="18" charset="0"/>
              </a:rPr>
              <a:t> poderia ser substituída sem mudança de sentido por:</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a:t>
            </a:r>
            <a:r>
              <a:rPr lang="pt-BR" sz="3000" dirty="0" err="1">
                <a:latin typeface="Times New Roman" panose="02020603050405020304" pitchFamily="18" charset="0"/>
                <a:cs typeface="Times New Roman" panose="02020603050405020304" pitchFamily="18" charset="0"/>
              </a:rPr>
              <a:t>Before</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a:t>
            </a:r>
            <a:r>
              <a:rPr lang="pt-BR" sz="3000" dirty="0" err="1">
                <a:latin typeface="Times New Roman" panose="02020603050405020304" pitchFamily="18" charset="0"/>
                <a:cs typeface="Times New Roman" panose="02020603050405020304" pitchFamily="18" charset="0"/>
              </a:rPr>
              <a:t>On</a:t>
            </a:r>
            <a:r>
              <a:rPr lang="pt-BR" sz="3000" dirty="0">
                <a:latin typeface="Times New Roman" panose="02020603050405020304" pitchFamily="18" charset="0"/>
                <a:cs typeface="Times New Roman" panose="02020603050405020304" pitchFamily="18" charset="0"/>
              </a:rPr>
              <a:t> top </a:t>
            </a:r>
            <a:r>
              <a:rPr lang="pt-BR" sz="3000" dirty="0" err="1">
                <a:latin typeface="Times New Roman" panose="02020603050405020304" pitchFamily="18" charset="0"/>
                <a:cs typeface="Times New Roman" panose="02020603050405020304" pitchFamily="18" charset="0"/>
              </a:rPr>
              <a:t>of</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a:t>
            </a:r>
            <a:r>
              <a:rPr lang="pt-BR" sz="3000" dirty="0" err="1">
                <a:latin typeface="Times New Roman" panose="02020603050405020304" pitchFamily="18" charset="0"/>
                <a:cs typeface="Times New Roman" panose="02020603050405020304" pitchFamily="18" charset="0"/>
              </a:rPr>
              <a:t>Thanks</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to</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a:t>
            </a:r>
            <a:r>
              <a:rPr lang="pt-BR" sz="3000" dirty="0" err="1">
                <a:latin typeface="Times New Roman" panose="02020603050405020304" pitchFamily="18" charset="0"/>
                <a:cs typeface="Times New Roman" panose="02020603050405020304" pitchFamily="18" charset="0"/>
              </a:rPr>
              <a:t>Whether</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a:t>
            </a:r>
            <a:r>
              <a:rPr lang="pt-BR" sz="3000" dirty="0" err="1">
                <a:latin typeface="Times New Roman" panose="02020603050405020304" pitchFamily="18" charset="0"/>
                <a:cs typeface="Times New Roman" panose="02020603050405020304" pitchFamily="18" charset="0"/>
              </a:rPr>
              <a:t>Despite</a:t>
            </a:r>
            <a:endParaRPr lang="pt-BR" sz="3000" dirty="0">
              <a:latin typeface="Times New Roman" panose="02020603050405020304" pitchFamily="18" charset="0"/>
              <a:cs typeface="Times New Roman" panose="02020603050405020304" pitchFamily="18" charset="0"/>
            </a:endParaRPr>
          </a:p>
        </p:txBody>
      </p:sp>
      <p:sp>
        <p:nvSpPr>
          <p:cNvPr id="6" name="Double Bracket 5"/>
          <p:cNvSpPr/>
          <p:nvPr/>
        </p:nvSpPr>
        <p:spPr>
          <a:xfrm>
            <a:off x="1230232" y="3565102"/>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2767820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82B760BD-7BC0-43D8-BB11-7C4225BA7E57}"/>
              </a:ext>
            </a:extLst>
          </p:cNvPr>
          <p:cNvSpPr txBox="1"/>
          <p:nvPr/>
        </p:nvSpPr>
        <p:spPr>
          <a:xfrm>
            <a:off x="321971" y="141291"/>
            <a:ext cx="11410681" cy="6555641"/>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4.22</a:t>
            </a:r>
            <a:r>
              <a:rPr lang="pt-BR" sz="3000"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historic</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moment</a:t>
            </a:r>
            <a:r>
              <a:rPr lang="pt-BR" sz="3000" i="1" dirty="0">
                <a:latin typeface="Times New Roman" panose="02020603050405020304" pitchFamily="18" charset="0"/>
                <a:cs typeface="Times New Roman" panose="02020603050405020304" pitchFamily="18" charset="0"/>
              </a:rPr>
              <a:t> for </a:t>
            </a:r>
            <a:r>
              <a:rPr lang="pt-BR" sz="3000" i="1" dirty="0" err="1">
                <a:latin typeface="Times New Roman" panose="02020603050405020304" pitchFamily="18" charset="0"/>
                <a:cs typeface="Times New Roman" panose="02020603050405020304" pitchFamily="18" charset="0"/>
              </a:rPr>
              <a:t>SpaceX</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since</a:t>
            </a:r>
            <a:r>
              <a:rPr lang="pt-BR" sz="3000" i="1" dirty="0">
                <a:latin typeface="Times New Roman" panose="02020603050405020304" pitchFamily="18" charset="0"/>
                <a:cs typeface="Times New Roman" panose="02020603050405020304" pitchFamily="18" charset="0"/>
              </a:rPr>
              <a:t> it </a:t>
            </a:r>
            <a:r>
              <a:rPr lang="pt-BR" sz="3000" i="1" dirty="0" err="1">
                <a:latin typeface="Times New Roman" panose="02020603050405020304" pitchFamily="18" charset="0"/>
                <a:cs typeface="Times New Roman" panose="02020603050405020304" pitchFamily="18" charset="0"/>
              </a:rPr>
              <a:t>has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been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aiming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build </a:t>
            </a:r>
            <a:r>
              <a:rPr lang="pt-BR" sz="3000" i="1" dirty="0" err="1">
                <a:latin typeface="Times New Roman" panose="02020603050405020304" pitchFamily="18" charset="0"/>
                <a:cs typeface="Times New Roman" panose="02020603050405020304" pitchFamily="18" charset="0"/>
              </a:rPr>
              <a:t>and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launch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large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capacity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rocket</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since</a:t>
            </a:r>
            <a:r>
              <a:rPr lang="pt-BR" sz="3000" i="1" dirty="0">
                <a:latin typeface="Times New Roman" panose="02020603050405020304" pitchFamily="18" charset="0"/>
                <a:cs typeface="Times New Roman" panose="02020603050405020304" pitchFamily="18" charset="0"/>
              </a:rPr>
              <a:t> 2011”.</a:t>
            </a:r>
            <a:r>
              <a:rPr lang="pt-BR" sz="3000" dirty="0">
                <a:latin typeface="Times New Roman" panose="02020603050405020304" pitchFamily="18" charset="0"/>
                <a:cs typeface="Times New Roman" panose="02020603050405020304" pitchFamily="18" charset="0"/>
              </a:rPr>
              <a:t> A respeito dos dois empregos da palavra </a:t>
            </a:r>
            <a:r>
              <a:rPr lang="pt-BR" sz="3000" b="1" u="sng" dirty="0" err="1">
                <a:latin typeface="Times New Roman" panose="02020603050405020304" pitchFamily="18" charset="0"/>
                <a:cs typeface="Times New Roman" panose="02020603050405020304" pitchFamily="18" charset="0"/>
              </a:rPr>
              <a:t>since</a:t>
            </a:r>
            <a:r>
              <a:rPr lang="pt-BR" sz="3000" dirty="0">
                <a:latin typeface="Times New Roman" panose="02020603050405020304" pitchFamily="18" charset="0"/>
                <a:cs typeface="Times New Roman" panose="02020603050405020304" pitchFamily="18" charset="0"/>
              </a:rPr>
              <a:t> neste trecho, pode-se dizer que:</a:t>
            </a:r>
          </a:p>
          <a:p>
            <a:pPr algn="just"/>
            <a:endParaRPr lang="pt-BR" sz="3000" u="sng" dirty="0">
              <a:latin typeface="Times New Roman" panose="02020603050405020304" pitchFamily="18" charset="0"/>
              <a:cs typeface="Times New Roman" panose="02020603050405020304" pitchFamily="18" charset="0"/>
            </a:endParaRPr>
          </a:p>
          <a:p>
            <a:pPr algn="just"/>
            <a:r>
              <a:rPr lang="pt-BR" sz="3000" dirty="0">
                <a:latin typeface="Times New Roman" panose="02020603050405020304" pitchFamily="18" charset="0"/>
                <a:cs typeface="Times New Roman" panose="02020603050405020304" pitchFamily="18" charset="0"/>
              </a:rPr>
              <a:t>a) Em ambas ocorrências, </a:t>
            </a:r>
            <a:r>
              <a:rPr lang="pt-BR" sz="3000" b="1" u="sng" dirty="0" err="1">
                <a:latin typeface="Times New Roman" panose="02020603050405020304" pitchFamily="18" charset="0"/>
                <a:cs typeface="Times New Roman" panose="02020603050405020304" pitchFamily="18" charset="0"/>
              </a:rPr>
              <a:t>since</a:t>
            </a:r>
            <a:r>
              <a:rPr lang="pt-BR" sz="3000" dirty="0">
                <a:latin typeface="Times New Roman" panose="02020603050405020304" pitchFamily="18" charset="0"/>
                <a:cs typeface="Times New Roman" panose="02020603050405020304" pitchFamily="18" charset="0"/>
              </a:rPr>
              <a:t> equivale, em português, a </a:t>
            </a:r>
            <a:r>
              <a:rPr lang="pt-BR" sz="3000" b="1" u="sng" dirty="0">
                <a:latin typeface="Times New Roman" panose="02020603050405020304" pitchFamily="18" charset="0"/>
                <a:cs typeface="Times New Roman" panose="02020603050405020304" pitchFamily="18" charset="0"/>
              </a:rPr>
              <a:t>“desde”</a:t>
            </a:r>
            <a:r>
              <a:rPr lang="pt-BR" sz="3000" dirty="0">
                <a:latin typeface="Times New Roman" panose="02020603050405020304" pitchFamily="18" charset="0"/>
                <a:cs typeface="Times New Roman" panose="02020603050405020304" pitchFamily="18" charset="0"/>
              </a:rPr>
              <a:t>.</a:t>
            </a:r>
          </a:p>
          <a:p>
            <a:pPr algn="just"/>
            <a:r>
              <a:rPr lang="pt-BR" sz="3000" dirty="0">
                <a:latin typeface="Times New Roman" panose="02020603050405020304" pitchFamily="18" charset="0"/>
                <a:cs typeface="Times New Roman" panose="02020603050405020304" pitchFamily="18" charset="0"/>
              </a:rPr>
              <a:t>b) No primeiro caso, </a:t>
            </a:r>
            <a:r>
              <a:rPr lang="pt-BR" sz="3000" b="1" u="sng" dirty="0" err="1">
                <a:latin typeface="Times New Roman" panose="02020603050405020304" pitchFamily="18" charset="0"/>
                <a:cs typeface="Times New Roman" panose="02020603050405020304" pitchFamily="18" charset="0"/>
              </a:rPr>
              <a:t>since</a:t>
            </a:r>
            <a:r>
              <a:rPr lang="pt-BR" sz="3000" dirty="0">
                <a:latin typeface="Times New Roman" panose="02020603050405020304" pitchFamily="18" charset="0"/>
                <a:cs typeface="Times New Roman" panose="02020603050405020304" pitchFamily="18" charset="0"/>
              </a:rPr>
              <a:t> pode ser entendida como </a:t>
            </a:r>
            <a:r>
              <a:rPr lang="pt-BR" sz="3000" b="1" u="sng" dirty="0">
                <a:latin typeface="Times New Roman" panose="02020603050405020304" pitchFamily="18" charset="0"/>
                <a:cs typeface="Times New Roman" panose="02020603050405020304" pitchFamily="18" charset="0"/>
              </a:rPr>
              <a:t>“desde”</a:t>
            </a:r>
            <a:r>
              <a:rPr lang="pt-BR" sz="3000" dirty="0">
                <a:latin typeface="Times New Roman" panose="02020603050405020304" pitchFamily="18" charset="0"/>
                <a:cs typeface="Times New Roman" panose="02020603050405020304" pitchFamily="18" charset="0"/>
              </a:rPr>
              <a:t> e dá ideia de explicação; já no segundo caso, deve ser traduzido por </a:t>
            </a:r>
            <a:r>
              <a:rPr lang="pt-BR" sz="3000" b="1" u="sng" dirty="0">
                <a:latin typeface="Times New Roman" panose="02020603050405020304" pitchFamily="18" charset="0"/>
                <a:cs typeface="Times New Roman" panose="02020603050405020304" pitchFamily="18" charset="0"/>
              </a:rPr>
              <a:t>“uma vez que”</a:t>
            </a:r>
            <a:r>
              <a:rPr lang="pt-BR" sz="3000" dirty="0">
                <a:latin typeface="Times New Roman" panose="02020603050405020304" pitchFamily="18" charset="0"/>
                <a:cs typeface="Times New Roman" panose="02020603050405020304" pitchFamily="18" charset="0"/>
              </a:rPr>
              <a:t> e dá ideia de tempo decorrido até o momento.</a:t>
            </a:r>
            <a:endParaRPr lang="pt-BR" sz="3000" b="1" dirty="0">
              <a:latin typeface="Times New Roman" panose="02020603050405020304" pitchFamily="18" charset="0"/>
              <a:cs typeface="Times New Roman" panose="02020603050405020304" pitchFamily="18" charset="0"/>
            </a:endParaRPr>
          </a:p>
          <a:p>
            <a:pPr algn="just"/>
            <a:r>
              <a:rPr lang="pt-BR" sz="3000" dirty="0">
                <a:latin typeface="Times New Roman" panose="02020603050405020304" pitchFamily="18" charset="0"/>
                <a:cs typeface="Times New Roman" panose="02020603050405020304" pitchFamily="18" charset="0"/>
              </a:rPr>
              <a:t>c) No primeiro caso, </a:t>
            </a:r>
            <a:r>
              <a:rPr lang="pt-BR" sz="3000" b="1" u="sng" dirty="0" err="1">
                <a:latin typeface="Times New Roman" panose="02020603050405020304" pitchFamily="18" charset="0"/>
                <a:cs typeface="Times New Roman" panose="02020603050405020304" pitchFamily="18" charset="0"/>
              </a:rPr>
              <a:t>since</a:t>
            </a:r>
            <a:r>
              <a:rPr lang="pt-BR" sz="3000" dirty="0">
                <a:latin typeface="Times New Roman" panose="02020603050405020304" pitchFamily="18" charset="0"/>
                <a:cs typeface="Times New Roman" panose="02020603050405020304" pitchFamily="18" charset="0"/>
              </a:rPr>
              <a:t> poderia ser substituída, sem mudança de sentido, por </a:t>
            </a:r>
            <a:r>
              <a:rPr lang="pt-BR" sz="3000" b="1" u="sng" dirty="0" err="1">
                <a:latin typeface="Times New Roman" panose="02020603050405020304" pitchFamily="18" charset="0"/>
                <a:cs typeface="Times New Roman" panose="02020603050405020304" pitchFamily="18" charset="0"/>
              </a:rPr>
              <a:t>because</a:t>
            </a:r>
            <a:r>
              <a:rPr lang="pt-BR" sz="3000" dirty="0">
                <a:latin typeface="Times New Roman" panose="02020603050405020304" pitchFamily="18" charset="0"/>
                <a:cs typeface="Times New Roman" panose="02020603050405020304" pitchFamily="18" charset="0"/>
              </a:rPr>
              <a:t> e, no segundo caso, </a:t>
            </a:r>
            <a:r>
              <a:rPr lang="pt-BR" sz="3000" b="1" u="sng" dirty="0" err="1">
                <a:latin typeface="Times New Roman" panose="02020603050405020304" pitchFamily="18" charset="0"/>
                <a:cs typeface="Times New Roman" panose="02020603050405020304" pitchFamily="18" charset="0"/>
              </a:rPr>
              <a:t>since</a:t>
            </a:r>
            <a:r>
              <a:rPr lang="pt-BR" sz="3000" dirty="0">
                <a:latin typeface="Times New Roman" panose="02020603050405020304" pitchFamily="18" charset="0"/>
                <a:cs typeface="Times New Roman" panose="02020603050405020304" pitchFamily="18" charset="0"/>
              </a:rPr>
              <a:t> indica tempo decorrido até o momento.</a:t>
            </a:r>
          </a:p>
          <a:p>
            <a:pPr algn="just"/>
            <a:r>
              <a:rPr lang="pt-BR" sz="3000" dirty="0">
                <a:latin typeface="Times New Roman" panose="02020603050405020304" pitchFamily="18" charset="0"/>
                <a:cs typeface="Times New Roman" panose="02020603050405020304" pitchFamily="18" charset="0"/>
              </a:rPr>
              <a:t>d) Ambas ocorrências dão ideia de tempo decorrido até o momento.</a:t>
            </a:r>
            <a:endParaRPr lang="pt-BR" sz="3000" b="1" u="sng" dirty="0">
              <a:latin typeface="Times New Roman" panose="02020603050405020304" pitchFamily="18" charset="0"/>
              <a:cs typeface="Times New Roman" panose="02020603050405020304" pitchFamily="18" charset="0"/>
            </a:endParaRPr>
          </a:p>
          <a:p>
            <a:pPr algn="just"/>
            <a:r>
              <a:rPr lang="pt-BR" sz="3000" dirty="0">
                <a:latin typeface="Times New Roman" panose="02020603050405020304" pitchFamily="18" charset="0"/>
                <a:cs typeface="Times New Roman" panose="02020603050405020304" pitchFamily="18" charset="0"/>
              </a:rPr>
              <a:t>e) No primeiro caso, </a:t>
            </a:r>
            <a:r>
              <a:rPr lang="pt-BR" sz="3000" b="1" u="sng" dirty="0" err="1">
                <a:latin typeface="Times New Roman" panose="02020603050405020304" pitchFamily="18" charset="0"/>
                <a:cs typeface="Times New Roman" panose="02020603050405020304" pitchFamily="18" charset="0"/>
              </a:rPr>
              <a:t>since</a:t>
            </a:r>
            <a:r>
              <a:rPr lang="pt-BR" sz="3000" dirty="0">
                <a:latin typeface="Times New Roman" panose="02020603050405020304" pitchFamily="18" charset="0"/>
                <a:cs typeface="Times New Roman" panose="02020603050405020304" pitchFamily="18" charset="0"/>
              </a:rPr>
              <a:t> pode ser substituída por </a:t>
            </a:r>
            <a:r>
              <a:rPr lang="pt-BR" sz="3000" b="1" u="sng" dirty="0" err="1">
                <a:latin typeface="Times New Roman" panose="02020603050405020304" pitchFamily="18" charset="0"/>
                <a:cs typeface="Times New Roman" panose="02020603050405020304" pitchFamily="18" charset="0"/>
              </a:rPr>
              <a:t>therefore</a:t>
            </a:r>
            <a:r>
              <a:rPr lang="pt-BR" sz="3000" dirty="0">
                <a:latin typeface="Times New Roman" panose="02020603050405020304" pitchFamily="18" charset="0"/>
                <a:cs typeface="Times New Roman" panose="02020603050405020304" pitchFamily="18" charset="0"/>
              </a:rPr>
              <a:t> e, no segundo, por </a:t>
            </a:r>
            <a:r>
              <a:rPr lang="pt-BR" sz="3000" b="1" u="sng" dirty="0" err="1">
                <a:latin typeface="Times New Roman" panose="02020603050405020304" pitchFamily="18" charset="0"/>
                <a:cs typeface="Times New Roman" panose="02020603050405020304" pitchFamily="18" charset="0"/>
              </a:rPr>
              <a:t>until</a:t>
            </a:r>
            <a:r>
              <a:rPr lang="pt-BR" sz="3000" dirty="0">
                <a:latin typeface="Times New Roman" panose="02020603050405020304" pitchFamily="18" charset="0"/>
                <a:cs typeface="Times New Roman" panose="02020603050405020304" pitchFamily="18" charset="0"/>
              </a:rPr>
              <a:t>. </a:t>
            </a:r>
            <a:endParaRPr lang="pt-BR" sz="3000" b="1" dirty="0">
              <a:latin typeface="Times New Roman" panose="02020603050405020304" pitchFamily="18" charset="0"/>
              <a:cs typeface="Times New Roman" panose="02020603050405020304" pitchFamily="18" charset="0"/>
            </a:endParaRPr>
          </a:p>
        </p:txBody>
      </p:sp>
      <p:sp>
        <p:nvSpPr>
          <p:cNvPr id="7" name="Double Bracket 5">
            <a:extLst>
              <a:ext uri="{FF2B5EF4-FFF2-40B4-BE49-F238E27FC236}">
                <a16:creationId xmlns:a16="http://schemas.microsoft.com/office/drawing/2014/main" id="{5501844B-5A82-41AF-9C52-F6BEBF409474}"/>
              </a:ext>
            </a:extLst>
          </p:cNvPr>
          <p:cNvSpPr/>
          <p:nvPr/>
        </p:nvSpPr>
        <p:spPr>
          <a:xfrm>
            <a:off x="295467" y="3899590"/>
            <a:ext cx="450760"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245471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321971" y="1043186"/>
            <a:ext cx="11410681" cy="4708981"/>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4.23</a:t>
            </a:r>
            <a:r>
              <a:rPr lang="pt-BR" sz="3000" dirty="0">
                <a:latin typeface="Times New Roman" panose="02020603050405020304" pitchFamily="18" charset="0"/>
                <a:cs typeface="Times New Roman" panose="02020603050405020304" pitchFamily="18" charset="0"/>
              </a:rPr>
              <a:t> No trecho “</a:t>
            </a:r>
            <a:r>
              <a:rPr lang="pt-BR" sz="3000" b="1" i="1" u="sng" dirty="0" err="1">
                <a:latin typeface="Times New Roman" panose="02020603050405020304" pitchFamily="18" charset="0"/>
                <a:cs typeface="Times New Roman" panose="02020603050405020304" pitchFamily="18" charset="0"/>
              </a:rPr>
              <a:t>While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scientists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have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been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able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use </a:t>
            </a:r>
            <a:r>
              <a:rPr lang="pt-BR" sz="3000" i="1" dirty="0" err="1">
                <a:latin typeface="Times New Roman" panose="02020603050405020304" pitchFamily="18" charset="0"/>
                <a:cs typeface="Times New Roman" panose="02020603050405020304" pitchFamily="18" charset="0"/>
              </a:rPr>
              <a:t>iPS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induced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pluripotent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stem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cells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create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many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types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human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cells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using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create</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kidney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has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proved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difficult</a:t>
            </a:r>
            <a:r>
              <a:rPr lang="pt-BR" sz="3000" dirty="0">
                <a:latin typeface="Times New Roman" panose="02020603050405020304" pitchFamily="18" charset="0"/>
                <a:cs typeface="Times New Roman" panose="02020603050405020304" pitchFamily="18" charset="0"/>
              </a:rPr>
              <a:t>”, a palavra </a:t>
            </a:r>
            <a:r>
              <a:rPr lang="pt-BR" sz="3000" b="1" i="1" u="sng" dirty="0" err="1">
                <a:latin typeface="Times New Roman" panose="02020603050405020304" pitchFamily="18" charset="0"/>
                <a:cs typeface="Times New Roman" panose="02020603050405020304" pitchFamily="18" charset="0"/>
              </a:rPr>
              <a:t>while</a:t>
            </a:r>
            <a:r>
              <a:rPr lang="pt-BR" sz="3000" dirty="0">
                <a:latin typeface="Times New Roman" panose="02020603050405020304" pitchFamily="18" charset="0"/>
                <a:cs typeface="Times New Roman" panose="02020603050405020304" pitchFamily="18" charset="0"/>
              </a:rPr>
              <a:t>:</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indica duração de tempo.</a:t>
            </a:r>
          </a:p>
          <a:p>
            <a:r>
              <a:rPr lang="pt-BR" sz="3000" dirty="0">
                <a:latin typeface="Times New Roman" panose="02020603050405020304" pitchFamily="18" charset="0"/>
                <a:cs typeface="Times New Roman" panose="02020603050405020304" pitchFamily="18" charset="0"/>
              </a:rPr>
              <a:t>b) indica causa e poderia ser corretamente substituída por </a:t>
            </a:r>
            <a:r>
              <a:rPr lang="pt-BR" sz="3000" b="1" i="1" dirty="0" err="1">
                <a:latin typeface="Times New Roman" panose="02020603050405020304" pitchFamily="18" charset="0"/>
                <a:cs typeface="Times New Roman" panose="02020603050405020304" pitchFamily="18" charset="0"/>
              </a:rPr>
              <a:t>Because</a:t>
            </a:r>
            <a:r>
              <a:rPr lang="pt-BR" sz="3000" b="1"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indica finalidade e poderia ser corretamente substituída por </a:t>
            </a:r>
            <a:r>
              <a:rPr lang="pt-BR" sz="3000" b="1" i="1" dirty="0" err="1">
                <a:latin typeface="Times New Roman" panose="02020603050405020304" pitchFamily="18" charset="0"/>
                <a:cs typeface="Times New Roman" panose="02020603050405020304" pitchFamily="18" charset="0"/>
              </a:rPr>
              <a:t>So</a:t>
            </a:r>
            <a:r>
              <a:rPr lang="pt-BR" sz="3000" b="1" i="1" dirty="0">
                <a:latin typeface="Times New Roman" panose="02020603050405020304" pitchFamily="18" charset="0"/>
                <a:cs typeface="Times New Roman" panose="02020603050405020304" pitchFamily="18" charset="0"/>
              </a:rPr>
              <a:t> </a:t>
            </a:r>
            <a:r>
              <a:rPr lang="pt-BR" sz="3000" b="1" i="1" dirty="0" err="1">
                <a:latin typeface="Times New Roman" panose="02020603050405020304" pitchFamily="18" charset="0"/>
                <a:cs typeface="Times New Roman" panose="02020603050405020304" pitchFamily="18" charset="0"/>
              </a:rPr>
              <a:t>that</a:t>
            </a:r>
            <a:r>
              <a:rPr lang="pt-BR" sz="3000" b="1" i="1" dirty="0">
                <a:latin typeface="Times New Roman" panose="02020603050405020304" pitchFamily="18" charset="0"/>
                <a:cs typeface="Times New Roman" panose="02020603050405020304" pitchFamily="18" charset="0"/>
              </a:rPr>
              <a:t>.</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poderia ser substituída sem mudança de sentido por </a:t>
            </a:r>
            <a:r>
              <a:rPr lang="pt-BR" sz="3000" b="1" i="1" dirty="0" err="1">
                <a:latin typeface="Times New Roman" panose="02020603050405020304" pitchFamily="18" charset="0"/>
                <a:cs typeface="Times New Roman" panose="02020603050405020304" pitchFamily="18" charset="0"/>
              </a:rPr>
              <a:t>Although</a:t>
            </a:r>
            <a:r>
              <a:rPr lang="pt-BR" sz="3000" b="1" i="1" dirty="0">
                <a:latin typeface="Times New Roman" panose="02020603050405020304" pitchFamily="18" charset="0"/>
                <a:cs typeface="Times New Roman" panose="02020603050405020304" pitchFamily="18" charset="0"/>
              </a:rPr>
              <a:t>.</a:t>
            </a:r>
            <a:endParaRPr lang="pt-BR" sz="3000" b="1"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introduz exemplos e poderia ser substituída, sem alteração de significado, por </a:t>
            </a:r>
            <a:r>
              <a:rPr lang="pt-BR" sz="3000" b="1" i="1" dirty="0" err="1">
                <a:latin typeface="Times New Roman" panose="02020603050405020304" pitchFamily="18" charset="0"/>
                <a:cs typeface="Times New Roman" panose="02020603050405020304" pitchFamily="18" charset="0"/>
              </a:rPr>
              <a:t>Such</a:t>
            </a:r>
            <a:r>
              <a:rPr lang="pt-BR" sz="3000" b="1" i="1" dirty="0">
                <a:latin typeface="Times New Roman" panose="02020603050405020304" pitchFamily="18" charset="0"/>
                <a:cs typeface="Times New Roman" panose="02020603050405020304" pitchFamily="18" charset="0"/>
              </a:rPr>
              <a:t> as.</a:t>
            </a:r>
            <a:endParaRPr lang="pt-BR" sz="3000" b="1" dirty="0">
              <a:latin typeface="Times New Roman" panose="02020603050405020304" pitchFamily="18" charset="0"/>
              <a:cs typeface="Times New Roman" panose="02020603050405020304" pitchFamily="18" charset="0"/>
            </a:endParaRPr>
          </a:p>
        </p:txBody>
      </p:sp>
      <p:sp>
        <p:nvSpPr>
          <p:cNvPr id="6" name="Double Bracket 5"/>
          <p:cNvSpPr/>
          <p:nvPr/>
        </p:nvSpPr>
        <p:spPr>
          <a:xfrm>
            <a:off x="321971" y="4312077"/>
            <a:ext cx="450760"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181521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233302" y="798488"/>
            <a:ext cx="9597831" cy="5170646"/>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4.24</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Famerp</a:t>
            </a:r>
            <a:r>
              <a:rPr lang="pt-BR" sz="3000" dirty="0">
                <a:latin typeface="Times New Roman" panose="02020603050405020304" pitchFamily="18" charset="0"/>
                <a:cs typeface="Times New Roman" panose="02020603050405020304" pitchFamily="18" charset="0"/>
              </a:rPr>
              <a:t>-SP) No trecho “</a:t>
            </a:r>
            <a:r>
              <a:rPr lang="pt-BR" sz="3000" i="1" dirty="0">
                <a:latin typeface="Times New Roman" panose="02020603050405020304" pitchFamily="18" charset="0"/>
                <a:cs typeface="Times New Roman" panose="02020603050405020304" pitchFamily="18" charset="0"/>
              </a:rPr>
              <a:t>A high </a:t>
            </a:r>
            <a:r>
              <a:rPr lang="pt-BR" sz="3000" i="1" dirty="0" err="1">
                <a:latin typeface="Times New Roman" panose="02020603050405020304" pitchFamily="18" charset="0"/>
                <a:cs typeface="Times New Roman" panose="02020603050405020304" pitchFamily="18" charset="0"/>
              </a:rPr>
              <a:t>number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social </a:t>
            </a:r>
            <a:r>
              <a:rPr lang="pt-BR" sz="3000" i="1" dirty="0" err="1">
                <a:latin typeface="Times New Roman" panose="02020603050405020304" pitchFamily="18" charset="0"/>
                <a:cs typeface="Times New Roman" panose="02020603050405020304" pitchFamily="18" charset="0"/>
              </a:rPr>
              <a:t>interactions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at</a:t>
            </a:r>
            <a:r>
              <a:rPr lang="pt-BR" sz="3000" i="1" dirty="0">
                <a:latin typeface="Times New Roman" panose="02020603050405020304" pitchFamily="18" charset="0"/>
                <a:cs typeface="Times New Roman" panose="02020603050405020304" pitchFamily="18" charset="0"/>
              </a:rPr>
              <a:t> age 20 are beneficial later in </a:t>
            </a:r>
            <a:r>
              <a:rPr lang="pt-BR" sz="3000" i="1" dirty="0" err="1">
                <a:latin typeface="Times New Roman" panose="02020603050405020304" pitchFamily="18" charset="0"/>
                <a:cs typeface="Times New Roman" panose="02020603050405020304" pitchFamily="18" charset="0"/>
              </a:rPr>
              <a:t>life</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because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they</a:t>
            </a:r>
            <a:r>
              <a:rPr lang="pt-BR" sz="3000" i="1" dirty="0">
                <a:latin typeface="Times New Roman" panose="02020603050405020304" pitchFamily="18" charset="0"/>
                <a:cs typeface="Times New Roman" panose="02020603050405020304" pitchFamily="18" charset="0"/>
              </a:rPr>
              <a:t> help </a:t>
            </a:r>
            <a:r>
              <a:rPr lang="pt-BR" sz="3000" i="1" dirty="0" err="1">
                <a:latin typeface="Times New Roman" panose="02020603050405020304" pitchFamily="18" charset="0"/>
                <a:cs typeface="Times New Roman" panose="02020603050405020304" pitchFamily="18" charset="0"/>
              </a:rPr>
              <a:t>young</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adults</a:t>
            </a:r>
            <a:r>
              <a:rPr lang="pt-BR" sz="3000" i="1" dirty="0">
                <a:latin typeface="Times New Roman" panose="02020603050405020304" pitchFamily="18" charset="0"/>
                <a:cs typeface="Times New Roman" panose="02020603050405020304" pitchFamily="18" charset="0"/>
              </a:rPr>
              <a:t> determine </a:t>
            </a:r>
            <a:r>
              <a:rPr lang="pt-BR" sz="3000" i="1" dirty="0" err="1">
                <a:latin typeface="Times New Roman" panose="02020603050405020304" pitchFamily="18" charset="0"/>
                <a:cs typeface="Times New Roman" panose="02020603050405020304" pitchFamily="18" charset="0"/>
              </a:rPr>
              <a:t>who</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they</a:t>
            </a:r>
            <a:r>
              <a:rPr lang="pt-BR" sz="3000" i="1" dirty="0">
                <a:latin typeface="Times New Roman" panose="02020603050405020304" pitchFamily="18" charset="0"/>
                <a:cs typeface="Times New Roman" panose="02020603050405020304" pitchFamily="18" charset="0"/>
              </a:rPr>
              <a:t> are</a:t>
            </a:r>
            <a:r>
              <a:rPr lang="pt-BR" sz="3000" dirty="0">
                <a:latin typeface="Times New Roman" panose="02020603050405020304" pitchFamily="18" charset="0"/>
                <a:cs typeface="Times New Roman" panose="02020603050405020304" pitchFamily="18" charset="0"/>
              </a:rPr>
              <a:t>”, o termo em destaque poderia ser corretamente substituído, sem alteração de sentido, por:</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still</a:t>
            </a:r>
          </a:p>
          <a:p>
            <a:r>
              <a:rPr lang="pt-BR" sz="3000" dirty="0">
                <a:latin typeface="Times New Roman" panose="02020603050405020304" pitchFamily="18" charset="0"/>
                <a:cs typeface="Times New Roman" panose="02020603050405020304" pitchFamily="18" charset="0"/>
              </a:rPr>
              <a:t>b) </a:t>
            </a:r>
            <a:r>
              <a:rPr lang="pt-BR" sz="3000" dirty="0" err="1">
                <a:latin typeface="Times New Roman" panose="02020603050405020304" pitchFamily="18" charset="0"/>
                <a:cs typeface="Times New Roman" panose="02020603050405020304" pitchFamily="18" charset="0"/>
              </a:rPr>
              <a:t>though</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a:t>
            </a:r>
            <a:r>
              <a:rPr lang="pt-BR" sz="3000" dirty="0" err="1">
                <a:latin typeface="Times New Roman" panose="02020603050405020304" pitchFamily="18" charset="0"/>
                <a:cs typeface="Times New Roman" panose="02020603050405020304" pitchFamily="18" charset="0"/>
              </a:rPr>
              <a:t>due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to</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in </a:t>
            </a:r>
            <a:r>
              <a:rPr lang="pt-BR" sz="3000" dirty="0" err="1">
                <a:latin typeface="Times New Roman" panose="02020603050405020304" pitchFamily="18" charset="0"/>
                <a:cs typeface="Times New Roman" panose="02020603050405020304" pitchFamily="18" charset="0"/>
              </a:rPr>
              <a:t>order</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to</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a:t>
            </a:r>
            <a:r>
              <a:rPr lang="pt-BR" sz="3000" dirty="0" err="1">
                <a:latin typeface="Times New Roman" panose="02020603050405020304" pitchFamily="18" charset="0"/>
                <a:cs typeface="Times New Roman" panose="02020603050405020304" pitchFamily="18" charset="0"/>
              </a:rPr>
              <a:t>since</a:t>
            </a:r>
            <a:endParaRPr lang="pt-BR" sz="3000" dirty="0">
              <a:latin typeface="Times New Roman" panose="02020603050405020304" pitchFamily="18" charset="0"/>
              <a:cs typeface="Times New Roman" panose="02020603050405020304" pitchFamily="18" charset="0"/>
            </a:endParaRPr>
          </a:p>
        </p:txBody>
      </p:sp>
      <p:sp>
        <p:nvSpPr>
          <p:cNvPr id="6" name="Double Bracket 5"/>
          <p:cNvSpPr/>
          <p:nvPr/>
        </p:nvSpPr>
        <p:spPr>
          <a:xfrm>
            <a:off x="1230232" y="5479737"/>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379906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4"/>
          <p:cNvSpPr txBox="1"/>
          <p:nvPr/>
        </p:nvSpPr>
        <p:spPr>
          <a:xfrm>
            <a:off x="1230232" y="1030307"/>
            <a:ext cx="9597831" cy="4708981"/>
          </a:xfrm>
          <a:prstGeom prst="rect">
            <a:avLst/>
          </a:prstGeom>
          <a:noFill/>
        </p:spPr>
        <p:txBody>
          <a:bodyPr wrap="square" rtlCol="0">
            <a:spAutoFit/>
          </a:bodyPr>
          <a:lstStyle/>
          <a:p>
            <a:pPr algn="just"/>
            <a:r>
              <a:rPr lang="pt-BR" sz="3000" b="1" dirty="0">
                <a:latin typeface="Times New Roman" panose="02020603050405020304" pitchFamily="18" charset="0"/>
                <a:cs typeface="Times New Roman" panose="02020603050405020304" pitchFamily="18" charset="0"/>
              </a:rPr>
              <a:t>4.25</a:t>
            </a:r>
            <a:r>
              <a:rPr lang="pt-BR" sz="3000" dirty="0">
                <a:latin typeface="Times New Roman" panose="02020603050405020304" pitchFamily="18" charset="0"/>
                <a:cs typeface="Times New Roman" panose="02020603050405020304" pitchFamily="18" charset="0"/>
              </a:rPr>
              <a:t> No trecho “</a:t>
            </a:r>
            <a:r>
              <a:rPr lang="pt-BR" sz="3000" i="1" dirty="0" err="1">
                <a:latin typeface="Times New Roman" panose="02020603050405020304" pitchFamily="18" charset="0"/>
                <a:cs typeface="Times New Roman" panose="02020603050405020304" pitchFamily="18" charset="0"/>
              </a:rPr>
              <a:t>Chemotherapy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can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hold</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form</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of</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leukemia</a:t>
            </a:r>
            <a:r>
              <a:rPr lang="pt-BR" sz="3000" i="1" dirty="0">
                <a:latin typeface="Times New Roman" panose="02020603050405020304" pitchFamily="18" charset="0"/>
                <a:cs typeface="Times New Roman" panose="02020603050405020304" pitchFamily="18" charset="0"/>
              </a:rPr>
              <a:t> for </a:t>
            </a:r>
            <a:r>
              <a:rPr lang="pt-BR" sz="3000" i="1" dirty="0" err="1">
                <a:latin typeface="Times New Roman" panose="02020603050405020304" pitchFamily="18" charset="0"/>
                <a:cs typeface="Times New Roman" panose="02020603050405020304" pitchFamily="18" charset="0"/>
              </a:rPr>
              <a:t>years</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However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until</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now</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only</a:t>
            </a:r>
            <a:r>
              <a:rPr lang="pt-BR" sz="3000" i="1" dirty="0">
                <a:latin typeface="Times New Roman" panose="02020603050405020304" pitchFamily="18" charset="0"/>
                <a:cs typeface="Times New Roman" panose="02020603050405020304" pitchFamily="18" charset="0"/>
              </a:rPr>
              <a:t> cure </a:t>
            </a:r>
            <a:r>
              <a:rPr lang="pt-BR" sz="3000" i="1" dirty="0" err="1">
                <a:latin typeface="Times New Roman" panose="02020603050405020304" pitchFamily="18" charset="0"/>
                <a:cs typeface="Times New Roman" panose="02020603050405020304" pitchFamily="18" charset="0"/>
              </a:rPr>
              <a:t>has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been</a:t>
            </a:r>
            <a:r>
              <a:rPr lang="pt-BR" sz="3000" i="1" dirty="0">
                <a:latin typeface="Times New Roman" panose="02020603050405020304" pitchFamily="18" charset="0"/>
                <a:cs typeface="Times New Roman" panose="02020603050405020304" pitchFamily="18" charset="0"/>
              </a:rPr>
              <a:t> a </a:t>
            </a:r>
            <a:r>
              <a:rPr lang="pt-BR" sz="3000" i="1" dirty="0" err="1">
                <a:latin typeface="Times New Roman" panose="02020603050405020304" pitchFamily="18" charset="0"/>
                <a:cs typeface="Times New Roman" panose="02020603050405020304" pitchFamily="18" charset="0"/>
              </a:rPr>
              <a:t>bone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marrow</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transplant</a:t>
            </a:r>
            <a:r>
              <a:rPr lang="pt-BR" sz="3000" dirty="0">
                <a:latin typeface="Times New Roman" panose="02020603050405020304" pitchFamily="18" charset="0"/>
                <a:cs typeface="Times New Roman" panose="02020603050405020304" pitchFamily="18" charset="0"/>
              </a:rPr>
              <a:t>”, a palavra </a:t>
            </a:r>
            <a:r>
              <a:rPr lang="pt-BR" sz="3000" b="1" i="1" u="sng" dirty="0" err="1">
                <a:latin typeface="Times New Roman" panose="02020603050405020304" pitchFamily="18" charset="0"/>
                <a:cs typeface="Times New Roman" panose="02020603050405020304" pitchFamily="18" charset="0"/>
              </a:rPr>
              <a:t>however</a:t>
            </a:r>
            <a:r>
              <a:rPr lang="pt-BR" sz="3000" dirty="0">
                <a:latin typeface="Times New Roman" panose="02020603050405020304" pitchFamily="18" charset="0"/>
                <a:cs typeface="Times New Roman" panose="02020603050405020304" pitchFamily="18" charset="0"/>
              </a:rPr>
              <a:t> poderia ser substituída sem mudança de sentido por:</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a:t>
            </a:r>
            <a:r>
              <a:rPr lang="pt-BR" sz="3000" dirty="0" err="1">
                <a:latin typeface="Times New Roman" panose="02020603050405020304" pitchFamily="18" charset="0"/>
                <a:cs typeface="Times New Roman" panose="02020603050405020304" pitchFamily="18" charset="0"/>
              </a:rPr>
              <a:t>Meanwhile</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a:t>
            </a:r>
            <a:r>
              <a:rPr lang="pt-BR" sz="3000" dirty="0" err="1">
                <a:latin typeface="Times New Roman" panose="02020603050405020304" pitchFamily="18" charset="0"/>
                <a:cs typeface="Times New Roman" panose="02020603050405020304" pitchFamily="18" charset="0"/>
              </a:rPr>
              <a:t>Due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to</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a:t>
            </a:r>
            <a:r>
              <a:rPr lang="pt-BR" sz="3000" dirty="0" err="1">
                <a:latin typeface="Times New Roman" panose="02020603050405020304" pitchFamily="18" charset="0"/>
                <a:cs typeface="Times New Roman" panose="02020603050405020304" pitchFamily="18" charset="0"/>
              </a:rPr>
              <a:t>Although</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a:t>
            </a:r>
            <a:r>
              <a:rPr lang="pt-BR" sz="3000" dirty="0" err="1">
                <a:latin typeface="Times New Roman" panose="02020603050405020304" pitchFamily="18" charset="0"/>
                <a:cs typeface="Times New Roman" panose="02020603050405020304" pitchFamily="18" charset="0"/>
              </a:rPr>
              <a:t>Nevertheless</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a:t>
            </a:r>
            <a:r>
              <a:rPr lang="pt-BR" sz="3000" dirty="0" err="1">
                <a:latin typeface="Times New Roman" panose="02020603050405020304" pitchFamily="18" charset="0"/>
                <a:cs typeface="Times New Roman" panose="02020603050405020304" pitchFamily="18" charset="0"/>
              </a:rPr>
              <a:t>Therefore</a:t>
            </a:r>
            <a:endParaRPr lang="pt-BR" sz="3000" dirty="0">
              <a:latin typeface="Times New Roman" panose="02020603050405020304" pitchFamily="18" charset="0"/>
              <a:cs typeface="Times New Roman" panose="02020603050405020304" pitchFamily="18" charset="0"/>
            </a:endParaRPr>
          </a:p>
        </p:txBody>
      </p:sp>
      <p:sp>
        <p:nvSpPr>
          <p:cNvPr id="6" name="Double Bracket 5"/>
          <p:cNvSpPr/>
          <p:nvPr/>
        </p:nvSpPr>
        <p:spPr>
          <a:xfrm>
            <a:off x="1230232" y="4762837"/>
            <a:ext cx="425003"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3052304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C6B48510-A1AB-4424-98F2-06CA75448785}"/>
              </a:ext>
            </a:extLst>
          </p:cNvPr>
          <p:cNvSpPr txBox="1"/>
          <p:nvPr/>
        </p:nvSpPr>
        <p:spPr>
          <a:xfrm>
            <a:off x="321971" y="1068944"/>
            <a:ext cx="11410681" cy="4247317"/>
          </a:xfrm>
          <a:prstGeom prst="rect">
            <a:avLst/>
          </a:prstGeom>
          <a:noFill/>
        </p:spPr>
        <p:txBody>
          <a:bodyPr wrap="square" rtlCol="0">
            <a:spAutoFit/>
          </a:bodyPr>
          <a:lstStyle/>
          <a:p>
            <a:pPr algn="just"/>
            <a:r>
              <a:rPr lang="pt-BR" sz="3000" b="1">
                <a:latin typeface="Times New Roman" panose="02020603050405020304" pitchFamily="18" charset="0"/>
                <a:cs typeface="Times New Roman" panose="02020603050405020304" pitchFamily="18" charset="0"/>
              </a:rPr>
              <a:t>4.26</a:t>
            </a:r>
            <a:r>
              <a:rPr lang="pt-BR" sz="3000">
                <a:latin typeface="Times New Roman" panose="02020603050405020304" pitchFamily="18" charset="0"/>
                <a:cs typeface="Times New Roman" panose="02020603050405020304" pitchFamily="18" charset="0"/>
              </a:rPr>
              <a:t> </a:t>
            </a:r>
            <a:r>
              <a:rPr lang="pt-BR" sz="3000" dirty="0">
                <a:latin typeface="Times New Roman" panose="02020603050405020304" pitchFamily="18" charset="0"/>
                <a:cs typeface="Times New Roman" panose="02020603050405020304" pitchFamily="18" charset="0"/>
              </a:rPr>
              <a:t>Na frase “</a:t>
            </a:r>
            <a:r>
              <a:rPr lang="pt-BR" sz="3000" i="1" dirty="0">
                <a:latin typeface="Times New Roman" panose="02020603050405020304" pitchFamily="18" charset="0"/>
                <a:cs typeface="Times New Roman" panose="02020603050405020304" pitchFamily="18" charset="0"/>
              </a:rPr>
              <a:t>Pluto </a:t>
            </a:r>
            <a:r>
              <a:rPr lang="pt-BR" sz="3000" i="1" dirty="0" err="1">
                <a:latin typeface="Times New Roman" panose="02020603050405020304" pitchFamily="18" charset="0"/>
                <a:cs typeface="Times New Roman" panose="02020603050405020304" pitchFamily="18" charset="0"/>
              </a:rPr>
              <a:t>is</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one</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such</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chunk</a:t>
            </a:r>
            <a:r>
              <a:rPr lang="pt-BR" sz="3000" i="1" dirty="0">
                <a:latin typeface="Times New Roman" panose="02020603050405020304" pitchFamily="18" charset="0"/>
                <a:cs typeface="Times New Roman" panose="02020603050405020304" pitchFamily="18" charset="0"/>
              </a:rPr>
              <a:t>, </a:t>
            </a:r>
            <a:r>
              <a:rPr lang="pt-BR" sz="3000" b="1" i="1" u="sng" dirty="0" err="1">
                <a:latin typeface="Times New Roman" panose="02020603050405020304" pitchFamily="18" charset="0"/>
                <a:cs typeface="Times New Roman" panose="02020603050405020304" pitchFamily="18" charset="0"/>
              </a:rPr>
              <a:t>albeit</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considerably</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bigger</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than</a:t>
            </a:r>
            <a:r>
              <a:rPr lang="pt-BR" sz="3000" i="1" dirty="0">
                <a:latin typeface="Times New Roman" panose="02020603050405020304" pitchFamily="18" charset="0"/>
                <a:cs typeface="Times New Roman" panose="02020603050405020304" pitchFamily="18" charset="0"/>
              </a:rPr>
              <a:t> </a:t>
            </a:r>
            <a:r>
              <a:rPr lang="pt-BR" sz="3000" i="1" dirty="0" err="1">
                <a:latin typeface="Times New Roman" panose="02020603050405020304" pitchFamily="18" charset="0"/>
                <a:cs typeface="Times New Roman" panose="02020603050405020304" pitchFamily="18" charset="0"/>
              </a:rPr>
              <a:t>average</a:t>
            </a:r>
            <a:r>
              <a:rPr lang="pt-BR" sz="3000" i="1" dirty="0">
                <a:latin typeface="Times New Roman" panose="02020603050405020304" pitchFamily="18" charset="0"/>
                <a:cs typeface="Times New Roman" panose="02020603050405020304" pitchFamily="18" charset="0"/>
              </a:rPr>
              <a:t>”, </a:t>
            </a:r>
            <a:r>
              <a:rPr lang="pt-BR" sz="3000" dirty="0">
                <a:latin typeface="Times New Roman" panose="02020603050405020304" pitchFamily="18" charset="0"/>
                <a:cs typeface="Times New Roman" panose="02020603050405020304" pitchFamily="18" charset="0"/>
              </a:rPr>
              <a:t>o termo </a:t>
            </a:r>
            <a:r>
              <a:rPr lang="pt-BR" sz="3000" b="1" i="1" u="sng" dirty="0" err="1">
                <a:latin typeface="Times New Roman" panose="02020603050405020304" pitchFamily="18" charset="0"/>
                <a:cs typeface="Times New Roman" panose="02020603050405020304" pitchFamily="18" charset="0"/>
              </a:rPr>
              <a:t>albeit</a:t>
            </a:r>
            <a:r>
              <a:rPr lang="pt-BR" sz="3000" dirty="0">
                <a:latin typeface="Times New Roman" panose="02020603050405020304" pitchFamily="18" charset="0"/>
                <a:cs typeface="Times New Roman" panose="02020603050405020304" pitchFamily="18" charset="0"/>
              </a:rPr>
              <a:t> poderia ser substituído, sem prejuízo de sentido, por:</a:t>
            </a:r>
          </a:p>
          <a:p>
            <a:endParaRPr lang="pt-BR" sz="3000"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a) </a:t>
            </a:r>
            <a:r>
              <a:rPr lang="pt-BR" sz="3000" dirty="0" err="1">
                <a:latin typeface="Times New Roman" panose="02020603050405020304" pitchFamily="18" charset="0"/>
                <a:cs typeface="Times New Roman" panose="02020603050405020304" pitchFamily="18" charset="0"/>
              </a:rPr>
              <a:t>rather</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than</a:t>
            </a:r>
            <a:endParaRPr lang="pt-BR" sz="3000"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b) </a:t>
            </a:r>
            <a:r>
              <a:rPr lang="pt-BR" sz="3000" dirty="0" err="1">
                <a:latin typeface="Times New Roman" panose="02020603050405020304" pitchFamily="18" charset="0"/>
                <a:cs typeface="Times New Roman" panose="02020603050405020304" pitchFamily="18" charset="0"/>
              </a:rPr>
              <a:t>because</a:t>
            </a:r>
            <a:endParaRPr lang="pt-BR" sz="3000" b="1"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c) </a:t>
            </a:r>
            <a:r>
              <a:rPr lang="pt-BR" sz="3000" dirty="0" err="1">
                <a:latin typeface="Times New Roman" panose="02020603050405020304" pitchFamily="18" charset="0"/>
                <a:cs typeface="Times New Roman" panose="02020603050405020304" pitchFamily="18" charset="0"/>
              </a:rPr>
              <a:t>despite</a:t>
            </a:r>
            <a:endParaRPr lang="pt-BR" sz="3000" b="1"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d) </a:t>
            </a:r>
            <a:r>
              <a:rPr lang="pt-BR" sz="3000" dirty="0" err="1">
                <a:latin typeface="Times New Roman" panose="02020603050405020304" pitchFamily="18" charset="0"/>
                <a:cs typeface="Times New Roman" panose="02020603050405020304" pitchFamily="18" charset="0"/>
              </a:rPr>
              <a:t>though</a:t>
            </a:r>
            <a:endParaRPr lang="pt-BR" sz="3000" b="1" u="sng" dirty="0">
              <a:latin typeface="Times New Roman" panose="02020603050405020304" pitchFamily="18" charset="0"/>
              <a:cs typeface="Times New Roman" panose="02020603050405020304" pitchFamily="18" charset="0"/>
            </a:endParaRPr>
          </a:p>
          <a:p>
            <a:r>
              <a:rPr lang="pt-BR" sz="3000" dirty="0">
                <a:latin typeface="Times New Roman" panose="02020603050405020304" pitchFamily="18" charset="0"/>
                <a:cs typeface="Times New Roman" panose="02020603050405020304" pitchFamily="18" charset="0"/>
              </a:rPr>
              <a:t>e) in </a:t>
            </a:r>
            <a:r>
              <a:rPr lang="pt-BR" sz="3000" dirty="0" err="1">
                <a:latin typeface="Times New Roman" panose="02020603050405020304" pitchFamily="18" charset="0"/>
                <a:cs typeface="Times New Roman" panose="02020603050405020304" pitchFamily="18" charset="0"/>
              </a:rPr>
              <a:t>spite</a:t>
            </a:r>
            <a:r>
              <a:rPr lang="pt-BR" sz="3000" dirty="0">
                <a:latin typeface="Times New Roman" panose="02020603050405020304" pitchFamily="18" charset="0"/>
                <a:cs typeface="Times New Roman" panose="02020603050405020304" pitchFamily="18" charset="0"/>
              </a:rPr>
              <a:t> </a:t>
            </a:r>
            <a:r>
              <a:rPr lang="pt-BR" sz="3000" dirty="0" err="1">
                <a:latin typeface="Times New Roman" panose="02020603050405020304" pitchFamily="18" charset="0"/>
                <a:cs typeface="Times New Roman" panose="02020603050405020304" pitchFamily="18" charset="0"/>
              </a:rPr>
              <a:t>of</a:t>
            </a:r>
            <a:endParaRPr lang="pt-BR" sz="3000" b="1" dirty="0">
              <a:latin typeface="Times New Roman" panose="02020603050405020304" pitchFamily="18" charset="0"/>
              <a:cs typeface="Times New Roman" panose="02020603050405020304" pitchFamily="18" charset="0"/>
            </a:endParaRPr>
          </a:p>
        </p:txBody>
      </p:sp>
      <p:sp>
        <p:nvSpPr>
          <p:cNvPr id="7" name="Double Bracket 5">
            <a:extLst>
              <a:ext uri="{FF2B5EF4-FFF2-40B4-BE49-F238E27FC236}">
                <a16:creationId xmlns:a16="http://schemas.microsoft.com/office/drawing/2014/main" id="{1C7A38AA-3B2D-43D2-BA99-869D894E7EF6}"/>
              </a:ext>
            </a:extLst>
          </p:cNvPr>
          <p:cNvSpPr/>
          <p:nvPr/>
        </p:nvSpPr>
        <p:spPr>
          <a:xfrm>
            <a:off x="321971" y="4336907"/>
            <a:ext cx="450760" cy="489397"/>
          </a:xfrm>
          <a:prstGeom prst="bracketPair">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2968895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9C48429F-A3DD-4C80-A541-5D3DA66BC8B9}"/>
              </a:ext>
            </a:extLst>
          </p:cNvPr>
          <p:cNvSpPr txBox="1"/>
          <p:nvPr/>
        </p:nvSpPr>
        <p:spPr>
          <a:xfrm>
            <a:off x="3361947" y="4707321"/>
            <a:ext cx="5838458" cy="369332"/>
          </a:xfrm>
          <a:prstGeom prst="rect">
            <a:avLst/>
          </a:prstGeom>
          <a:noFill/>
        </p:spPr>
        <p:txBody>
          <a:bodyPr wrap="none" rtlCol="0">
            <a:spAutoFit/>
          </a:bodyPr>
          <a:lstStyle/>
          <a:p>
            <a:r>
              <a:rPr lang="pt-BR" dirty="0"/>
              <a:t>https://www.youtube.com/watch?v=mhkLEtvhRfw</a:t>
            </a:r>
          </a:p>
        </p:txBody>
      </p:sp>
      <p:sp>
        <p:nvSpPr>
          <p:cNvPr id="6" name="TextBox 4">
            <a:extLst>
              <a:ext uri="{FF2B5EF4-FFF2-40B4-BE49-F238E27FC236}">
                <a16:creationId xmlns:a16="http://schemas.microsoft.com/office/drawing/2014/main" id="{C554DF27-D68B-45B9-A943-75E29E654A26}"/>
              </a:ext>
            </a:extLst>
          </p:cNvPr>
          <p:cNvSpPr txBox="1"/>
          <p:nvPr/>
        </p:nvSpPr>
        <p:spPr>
          <a:xfrm>
            <a:off x="3564310" y="5820131"/>
            <a:ext cx="5808372" cy="369332"/>
          </a:xfrm>
          <a:prstGeom prst="rect">
            <a:avLst/>
          </a:prstGeom>
          <a:noFill/>
        </p:spPr>
        <p:txBody>
          <a:bodyPr wrap="square" rtlCol="0">
            <a:spAutoFit/>
          </a:bodyPr>
          <a:lstStyle/>
          <a:p>
            <a:r>
              <a:rPr lang="pt-BR" dirty="0"/>
              <a:t>https://www.youtube.com/watch?v=oIgjujAI6eE</a:t>
            </a:r>
          </a:p>
        </p:txBody>
      </p:sp>
      <p:sp>
        <p:nvSpPr>
          <p:cNvPr id="8" name="CaixaDeTexto 7">
            <a:extLst>
              <a:ext uri="{FF2B5EF4-FFF2-40B4-BE49-F238E27FC236}">
                <a16:creationId xmlns:a16="http://schemas.microsoft.com/office/drawing/2014/main" id="{575D7BD6-10E9-45E1-AFCE-D5AF018B8634}"/>
              </a:ext>
            </a:extLst>
          </p:cNvPr>
          <p:cNvSpPr txBox="1"/>
          <p:nvPr/>
        </p:nvSpPr>
        <p:spPr>
          <a:xfrm>
            <a:off x="3155715" y="1682653"/>
            <a:ext cx="6135756" cy="369332"/>
          </a:xfrm>
          <a:prstGeom prst="rect">
            <a:avLst/>
          </a:prstGeom>
          <a:noFill/>
        </p:spPr>
        <p:txBody>
          <a:bodyPr wrap="square" rtlCol="0">
            <a:spAutoFit/>
          </a:bodyPr>
          <a:lstStyle/>
          <a:p>
            <a:r>
              <a:rPr lang="pt-BR" dirty="0"/>
              <a:t>https://www.youtube.com/watch?v=KEBRy03w2yg</a:t>
            </a:r>
          </a:p>
        </p:txBody>
      </p:sp>
      <p:sp>
        <p:nvSpPr>
          <p:cNvPr id="9" name="CaixaDeTexto 8">
            <a:extLst>
              <a:ext uri="{FF2B5EF4-FFF2-40B4-BE49-F238E27FC236}">
                <a16:creationId xmlns:a16="http://schemas.microsoft.com/office/drawing/2014/main" id="{183BFBF6-5498-44D3-B5A9-80BB06F2FFD3}"/>
              </a:ext>
            </a:extLst>
          </p:cNvPr>
          <p:cNvSpPr txBox="1"/>
          <p:nvPr/>
        </p:nvSpPr>
        <p:spPr>
          <a:xfrm>
            <a:off x="3074504" y="569843"/>
            <a:ext cx="6298178" cy="369332"/>
          </a:xfrm>
          <a:prstGeom prst="rect">
            <a:avLst/>
          </a:prstGeom>
          <a:noFill/>
        </p:spPr>
        <p:txBody>
          <a:bodyPr wrap="square" rtlCol="0">
            <a:spAutoFit/>
          </a:bodyPr>
          <a:lstStyle/>
          <a:p>
            <a:r>
              <a:rPr lang="pt-BR" dirty="0"/>
              <a:t>https://www.youtube.com/watch?v=PlMWW4R1ZBM</a:t>
            </a:r>
          </a:p>
        </p:txBody>
      </p:sp>
    </p:spTree>
    <p:extLst>
      <p:ext uri="{BB962C8B-B14F-4D97-AF65-F5344CB8AC3E}">
        <p14:creationId xmlns:p14="http://schemas.microsoft.com/office/powerpoint/2010/main" val="1511719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C613749D-1696-4E2F-878F-ED5A766198D9}"/>
              </a:ext>
            </a:extLst>
          </p:cNvPr>
          <p:cNvSpPr txBox="1"/>
          <p:nvPr/>
        </p:nvSpPr>
        <p:spPr>
          <a:xfrm>
            <a:off x="927653" y="185531"/>
            <a:ext cx="4585252" cy="6894195"/>
          </a:xfrm>
          <a:prstGeom prst="rect">
            <a:avLst/>
          </a:prstGeom>
          <a:noFill/>
        </p:spPr>
        <p:txBody>
          <a:bodyPr wrap="square" rtlCol="0">
            <a:spAutoFit/>
          </a:bodyPr>
          <a:lstStyle/>
          <a:p>
            <a:r>
              <a:rPr lang="en-US" sz="1700" dirty="0"/>
              <a:t>It's too darn hot. It’s too darn hot.</a:t>
            </a:r>
            <a:br>
              <a:rPr lang="en-US" sz="1700" dirty="0"/>
            </a:br>
            <a:r>
              <a:rPr lang="en-US" sz="1700" dirty="0"/>
              <a:t>I'd like to sup with my baby tonight</a:t>
            </a:r>
            <a:br>
              <a:rPr lang="en-US" sz="1700" dirty="0"/>
            </a:br>
            <a:r>
              <a:rPr lang="en-US" sz="1700" dirty="0"/>
              <a:t>Refill the cup with my baby tonight</a:t>
            </a:r>
            <a:br>
              <a:rPr lang="en-US" sz="1700" dirty="0"/>
            </a:br>
            <a:r>
              <a:rPr lang="en-US" sz="1700" dirty="0"/>
              <a:t>I'd like to sup with my baby tonight</a:t>
            </a:r>
            <a:br>
              <a:rPr lang="en-US" sz="1700" dirty="0"/>
            </a:br>
            <a:r>
              <a:rPr lang="en-US" sz="1700" dirty="0"/>
              <a:t>Refill the cup with my baby tonight</a:t>
            </a:r>
            <a:br>
              <a:rPr lang="en-US" sz="1700" dirty="0"/>
            </a:br>
            <a:r>
              <a:rPr lang="en-US" sz="1700" b="1" dirty="0">
                <a:solidFill>
                  <a:srgbClr val="FFFF00"/>
                </a:solidFill>
              </a:rPr>
              <a:t>But</a:t>
            </a:r>
            <a:r>
              <a:rPr lang="en-US" sz="1700" dirty="0"/>
              <a:t> I </a:t>
            </a:r>
            <a:r>
              <a:rPr lang="en-US" sz="1700" dirty="0" err="1"/>
              <a:t>ain't</a:t>
            </a:r>
            <a:r>
              <a:rPr lang="en-US" sz="1700" dirty="0"/>
              <a:t> up to my baby tonight</a:t>
            </a:r>
            <a:br>
              <a:rPr lang="en-US" sz="1700" dirty="0"/>
            </a:br>
            <a:r>
              <a:rPr lang="en-US" sz="1700" b="1" dirty="0" err="1">
                <a:solidFill>
                  <a:srgbClr val="FFFF00"/>
                </a:solidFill>
              </a:rPr>
              <a:t>'Cause</a:t>
            </a:r>
            <a:r>
              <a:rPr lang="en-US" sz="1700" dirty="0"/>
              <a:t> it's too darn hot</a:t>
            </a:r>
            <a:br>
              <a:rPr lang="en-US" sz="1700" dirty="0"/>
            </a:br>
            <a:br>
              <a:rPr lang="en-US" sz="1700" dirty="0"/>
            </a:br>
            <a:r>
              <a:rPr lang="en-US" sz="1700" dirty="0"/>
              <a:t>It's too darn hot. It's too darn hot.</a:t>
            </a:r>
            <a:br>
              <a:rPr lang="en-US" sz="1700" dirty="0"/>
            </a:br>
            <a:r>
              <a:rPr lang="en-US" sz="1700" dirty="0"/>
              <a:t>I'd like to cool with my baby tonight</a:t>
            </a:r>
            <a:br>
              <a:rPr lang="en-US" sz="1700" dirty="0"/>
            </a:br>
            <a:r>
              <a:rPr lang="en-US" sz="1700" dirty="0"/>
              <a:t>And pitch the woo with my baby tonight</a:t>
            </a:r>
            <a:br>
              <a:rPr lang="en-US" sz="1700" dirty="0"/>
            </a:br>
            <a:r>
              <a:rPr lang="en-US" sz="1700" dirty="0"/>
              <a:t>I'd like to cool with my baby tonight</a:t>
            </a:r>
            <a:br>
              <a:rPr lang="en-US" sz="1700" dirty="0"/>
            </a:br>
            <a:r>
              <a:rPr lang="en-US" sz="1700" dirty="0"/>
              <a:t>And pitch the woo with my baby tonight</a:t>
            </a:r>
            <a:br>
              <a:rPr lang="en-US" sz="1700" dirty="0"/>
            </a:br>
            <a:r>
              <a:rPr lang="en-US" sz="1700" b="1" dirty="0">
                <a:solidFill>
                  <a:srgbClr val="FFFF00"/>
                </a:solidFill>
              </a:rPr>
              <a:t>But,</a:t>
            </a:r>
            <a:r>
              <a:rPr lang="en-US" sz="1700" dirty="0"/>
              <a:t> brother, you'll fight my baby tonight</a:t>
            </a:r>
            <a:br>
              <a:rPr lang="en-US" sz="1700" dirty="0"/>
            </a:br>
            <a:r>
              <a:rPr lang="en-US" sz="1700" b="1" dirty="0" err="1">
                <a:solidFill>
                  <a:srgbClr val="FFFF00"/>
                </a:solidFill>
              </a:rPr>
              <a:t>'Cause</a:t>
            </a:r>
            <a:r>
              <a:rPr lang="en-US" sz="1700" dirty="0"/>
              <a:t> it's too darn hot</a:t>
            </a:r>
            <a:br>
              <a:rPr lang="en-US" sz="1700" dirty="0"/>
            </a:br>
            <a:endParaRPr lang="en-US" sz="1700" dirty="0"/>
          </a:p>
          <a:p>
            <a:r>
              <a:rPr lang="en-US" sz="1700" dirty="0"/>
              <a:t>According to the latest report</a:t>
            </a:r>
            <a:br>
              <a:rPr lang="en-US" sz="1700" dirty="0"/>
            </a:br>
            <a:r>
              <a:rPr lang="en-US" sz="1700" dirty="0" err="1"/>
              <a:t>Ev'ry</a:t>
            </a:r>
            <a:r>
              <a:rPr lang="en-US" sz="1700" dirty="0"/>
              <a:t> average man you know</a:t>
            </a:r>
            <a:br>
              <a:rPr lang="en-US" sz="1700" dirty="0"/>
            </a:br>
            <a:r>
              <a:rPr lang="en-US" sz="1700" dirty="0"/>
              <a:t>Much prefers his lovey </a:t>
            </a:r>
            <a:r>
              <a:rPr lang="en-US" sz="1700" dirty="0" err="1"/>
              <a:t>dovey</a:t>
            </a:r>
            <a:r>
              <a:rPr lang="en-US" sz="1700" dirty="0"/>
              <a:t> to court</a:t>
            </a:r>
            <a:br>
              <a:rPr lang="en-US" sz="1700" dirty="0"/>
            </a:br>
            <a:r>
              <a:rPr lang="en-US" sz="1700" b="1" dirty="0">
                <a:solidFill>
                  <a:srgbClr val="FFFF00"/>
                </a:solidFill>
              </a:rPr>
              <a:t>When</a:t>
            </a:r>
            <a:r>
              <a:rPr lang="en-US" sz="1700" dirty="0"/>
              <a:t> the temperature is low</a:t>
            </a:r>
            <a:br>
              <a:rPr lang="en-US" sz="1700" dirty="0"/>
            </a:br>
            <a:r>
              <a:rPr lang="en-US" sz="1700" b="1" dirty="0">
                <a:solidFill>
                  <a:srgbClr val="FFFF00"/>
                </a:solidFill>
              </a:rPr>
              <a:t>But when</a:t>
            </a:r>
            <a:r>
              <a:rPr lang="en-US" sz="1700" dirty="0"/>
              <a:t> the thermometer goes 'way up</a:t>
            </a:r>
            <a:br>
              <a:rPr lang="en-US" sz="1700" dirty="0"/>
            </a:br>
            <a:r>
              <a:rPr lang="en-US" sz="1700" b="1" dirty="0">
                <a:solidFill>
                  <a:srgbClr val="FFFF00"/>
                </a:solidFill>
              </a:rPr>
              <a:t>And</a:t>
            </a:r>
            <a:r>
              <a:rPr lang="en-US" sz="1700" dirty="0"/>
              <a:t> the weather is sizzling hot</a:t>
            </a:r>
            <a:br>
              <a:rPr lang="en-US" sz="1700" dirty="0"/>
            </a:br>
            <a:r>
              <a:rPr lang="en-US" sz="1700" dirty="0"/>
              <a:t>Mister pants</a:t>
            </a:r>
            <a:br>
              <a:rPr lang="en-US" sz="1700" dirty="0"/>
            </a:br>
            <a:r>
              <a:rPr lang="en-US" sz="1700" dirty="0"/>
              <a:t>for romance</a:t>
            </a:r>
            <a:br>
              <a:rPr lang="en-US" sz="1700" dirty="0"/>
            </a:br>
            <a:r>
              <a:rPr lang="en-US" sz="1700" dirty="0"/>
              <a:t>Is not</a:t>
            </a:r>
            <a:br>
              <a:rPr lang="en-US" sz="1700" dirty="0"/>
            </a:br>
            <a:endParaRPr lang="pt-BR" sz="1700" dirty="0"/>
          </a:p>
        </p:txBody>
      </p:sp>
      <p:sp>
        <p:nvSpPr>
          <p:cNvPr id="10" name="CaixaDeTexto 9">
            <a:extLst>
              <a:ext uri="{FF2B5EF4-FFF2-40B4-BE49-F238E27FC236}">
                <a16:creationId xmlns:a16="http://schemas.microsoft.com/office/drawing/2014/main" id="{F5CB52C6-26FF-4CA2-85C6-F01AE58E4C18}"/>
              </a:ext>
            </a:extLst>
          </p:cNvPr>
          <p:cNvSpPr txBox="1"/>
          <p:nvPr/>
        </p:nvSpPr>
        <p:spPr>
          <a:xfrm>
            <a:off x="6559827" y="630941"/>
            <a:ext cx="4876800" cy="5909310"/>
          </a:xfrm>
          <a:prstGeom prst="rect">
            <a:avLst/>
          </a:prstGeom>
          <a:noFill/>
        </p:spPr>
        <p:txBody>
          <a:bodyPr wrap="square" rtlCol="0">
            <a:spAutoFit/>
          </a:bodyPr>
          <a:lstStyle/>
          <a:p>
            <a:r>
              <a:rPr lang="en-US" b="1" dirty="0" err="1">
                <a:solidFill>
                  <a:srgbClr val="FFFF00"/>
                </a:solidFill>
              </a:rPr>
              <a:t>'Cause</a:t>
            </a:r>
            <a:r>
              <a:rPr lang="en-US" dirty="0"/>
              <a:t> it's too, too</a:t>
            </a:r>
            <a:br>
              <a:rPr lang="en-US" dirty="0"/>
            </a:br>
            <a:r>
              <a:rPr lang="en-US" dirty="0" err="1"/>
              <a:t>Too</a:t>
            </a:r>
            <a:r>
              <a:rPr lang="en-US" dirty="0"/>
              <a:t> darn hot. It's too darn hot</a:t>
            </a:r>
            <a:br>
              <a:rPr lang="en-US" dirty="0"/>
            </a:br>
            <a:r>
              <a:rPr lang="en-US" dirty="0"/>
              <a:t>It's too darn hot. It's too, too darn hot</a:t>
            </a:r>
            <a:br>
              <a:rPr lang="en-US" dirty="0"/>
            </a:br>
            <a:br>
              <a:rPr lang="en-US" dirty="0"/>
            </a:br>
            <a:r>
              <a:rPr lang="en-US" dirty="0"/>
              <a:t>[…]</a:t>
            </a:r>
          </a:p>
          <a:p>
            <a:br>
              <a:rPr lang="en-US" dirty="0"/>
            </a:br>
            <a:r>
              <a:rPr lang="en-US" dirty="0"/>
              <a:t>[…]</a:t>
            </a:r>
            <a:br>
              <a:rPr lang="en-US" dirty="0"/>
            </a:br>
            <a:r>
              <a:rPr lang="en-US" dirty="0"/>
              <a:t>Mister gob, for his squab</a:t>
            </a:r>
            <a:br>
              <a:rPr lang="en-US" dirty="0"/>
            </a:br>
            <a:r>
              <a:rPr lang="en-US" dirty="0"/>
              <a:t>A marine, for his queen</a:t>
            </a:r>
            <a:br>
              <a:rPr lang="en-US" dirty="0"/>
            </a:br>
            <a:r>
              <a:rPr lang="en-US" dirty="0"/>
              <a:t>A G.I, for his </a:t>
            </a:r>
            <a:r>
              <a:rPr lang="en-US" dirty="0" err="1"/>
              <a:t>cutypie</a:t>
            </a:r>
            <a:br>
              <a:rPr lang="en-US" dirty="0"/>
            </a:br>
            <a:r>
              <a:rPr lang="en-US" dirty="0"/>
              <a:t>Is not</a:t>
            </a:r>
            <a:br>
              <a:rPr lang="en-US" dirty="0"/>
            </a:br>
            <a:r>
              <a:rPr lang="en-US" b="1" dirty="0" err="1">
                <a:solidFill>
                  <a:srgbClr val="FFFF00"/>
                </a:solidFill>
              </a:rPr>
              <a:t>'Cause</a:t>
            </a:r>
            <a:r>
              <a:rPr lang="en-US" dirty="0"/>
              <a:t> it's too, too </a:t>
            </a:r>
            <a:r>
              <a:rPr lang="en-US" dirty="0" err="1"/>
              <a:t>too</a:t>
            </a:r>
            <a:r>
              <a:rPr lang="en-US" dirty="0"/>
              <a:t> darn hot</a:t>
            </a:r>
            <a:br>
              <a:rPr lang="en-US" dirty="0"/>
            </a:br>
            <a:r>
              <a:rPr lang="en-US" dirty="0"/>
              <a:t>It's too darn hot</a:t>
            </a:r>
            <a:br>
              <a:rPr lang="en-US" dirty="0"/>
            </a:br>
            <a:r>
              <a:rPr lang="en-US" dirty="0"/>
              <a:t>It's too darn hot</a:t>
            </a:r>
            <a:br>
              <a:rPr lang="en-US" dirty="0"/>
            </a:br>
            <a:r>
              <a:rPr lang="en-US" dirty="0"/>
              <a:t>It's too darn hot</a:t>
            </a:r>
            <a:br>
              <a:rPr lang="en-US" dirty="0"/>
            </a:br>
            <a:br>
              <a:rPr lang="en-US" dirty="0"/>
            </a:br>
            <a:r>
              <a:rPr lang="en-US" dirty="0"/>
              <a:t>It's too</a:t>
            </a:r>
            <a:br>
              <a:rPr lang="en-US" dirty="0"/>
            </a:br>
            <a:r>
              <a:rPr lang="en-US" dirty="0"/>
              <a:t>Darn </a:t>
            </a:r>
            <a:br>
              <a:rPr lang="en-US" dirty="0"/>
            </a:br>
            <a:r>
              <a:rPr lang="en-US" dirty="0"/>
              <a:t>Hot</a:t>
            </a:r>
          </a:p>
          <a:p>
            <a:endParaRPr lang="en-US" dirty="0"/>
          </a:p>
          <a:p>
            <a:r>
              <a:rPr lang="pt-BR" b="1" dirty="0"/>
              <a:t>“Too </a:t>
            </a:r>
            <a:r>
              <a:rPr lang="pt-BR" b="1" dirty="0" err="1"/>
              <a:t>Darn</a:t>
            </a:r>
            <a:r>
              <a:rPr lang="pt-BR" b="1" dirty="0"/>
              <a:t> Hot” (Ella Fitzgerald)</a:t>
            </a:r>
          </a:p>
        </p:txBody>
      </p:sp>
    </p:spTree>
    <p:extLst>
      <p:ext uri="{BB962C8B-B14F-4D97-AF65-F5344CB8AC3E}">
        <p14:creationId xmlns:p14="http://schemas.microsoft.com/office/powerpoint/2010/main" val="5335977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8EE875B-98A5-4677-ABA7-65CEC02CFDD8}"/>
              </a:ext>
            </a:extLst>
          </p:cNvPr>
          <p:cNvSpPr txBox="1"/>
          <p:nvPr/>
        </p:nvSpPr>
        <p:spPr>
          <a:xfrm>
            <a:off x="198783" y="302359"/>
            <a:ext cx="5698434" cy="6555641"/>
          </a:xfrm>
          <a:prstGeom prst="rect">
            <a:avLst/>
          </a:prstGeom>
          <a:noFill/>
        </p:spPr>
        <p:txBody>
          <a:bodyPr wrap="square" rtlCol="0">
            <a:spAutoFit/>
          </a:bodyPr>
          <a:lstStyle/>
          <a:p>
            <a:r>
              <a:rPr lang="en-US" sz="2000" b="1" dirty="0"/>
              <a:t>"I Am In Love“ (Ella Fitzgerald)</a:t>
            </a:r>
            <a:br>
              <a:rPr lang="en-US" sz="2000" dirty="0"/>
            </a:br>
            <a:br>
              <a:rPr lang="en-US" sz="2000" dirty="0"/>
            </a:br>
            <a:r>
              <a:rPr lang="en-US" sz="2000" dirty="0"/>
              <a:t>I am dejected. I am depressed.</a:t>
            </a:r>
            <a:br>
              <a:rPr lang="en-US" sz="2000" dirty="0"/>
            </a:br>
            <a:r>
              <a:rPr lang="en-US" sz="2000" b="1" dirty="0">
                <a:solidFill>
                  <a:srgbClr val="FFFF00"/>
                </a:solidFill>
              </a:rPr>
              <a:t>Yet</a:t>
            </a:r>
            <a:r>
              <a:rPr lang="en-US" sz="2000" dirty="0"/>
              <a:t> resurrected </a:t>
            </a:r>
            <a:r>
              <a:rPr lang="en-US" sz="2000" b="1" dirty="0">
                <a:solidFill>
                  <a:srgbClr val="FFFF00"/>
                </a:solidFill>
              </a:rPr>
              <a:t>and</a:t>
            </a:r>
            <a:r>
              <a:rPr lang="en-US" sz="2000" dirty="0"/>
              <a:t> sailing the crest.</a:t>
            </a:r>
            <a:br>
              <a:rPr lang="en-US" sz="2000" dirty="0"/>
            </a:br>
            <a:r>
              <a:rPr lang="en-US" sz="2000" dirty="0"/>
              <a:t>Why this elation, mixed with deflation?</a:t>
            </a:r>
            <a:br>
              <a:rPr lang="en-US" sz="2000" dirty="0"/>
            </a:br>
            <a:r>
              <a:rPr lang="en-US" sz="2000" dirty="0"/>
              <a:t>What explanation? I am in love.</a:t>
            </a:r>
            <a:br>
              <a:rPr lang="en-US" sz="2000" dirty="0"/>
            </a:br>
            <a:br>
              <a:rPr lang="en-US" sz="2000" dirty="0"/>
            </a:br>
            <a:r>
              <a:rPr lang="en-US" sz="2000" dirty="0"/>
              <a:t>Such conflicting questions rise</a:t>
            </a:r>
            <a:br>
              <a:rPr lang="en-US" sz="2000" dirty="0"/>
            </a:br>
            <a:r>
              <a:rPr lang="en-US" sz="2000" dirty="0"/>
              <a:t>around in my brain: Should I order cyanide</a:t>
            </a:r>
            <a:br>
              <a:rPr lang="en-US" sz="2000" dirty="0"/>
            </a:br>
            <a:r>
              <a:rPr lang="en-US" sz="2000" b="1" dirty="0">
                <a:solidFill>
                  <a:srgbClr val="FFFF00"/>
                </a:solidFill>
              </a:rPr>
              <a:t>or</a:t>
            </a:r>
            <a:r>
              <a:rPr lang="en-US" sz="2000" dirty="0"/>
              <a:t> order champagne?</a:t>
            </a:r>
            <a:br>
              <a:rPr lang="en-US" sz="2000" dirty="0"/>
            </a:br>
            <a:br>
              <a:rPr lang="en-US" sz="2000" dirty="0"/>
            </a:br>
            <a:r>
              <a:rPr lang="en-US" sz="2000" dirty="0"/>
              <a:t>Oh, what is this sudden jolt?</a:t>
            </a:r>
            <a:br>
              <a:rPr lang="en-US" sz="2000" dirty="0"/>
            </a:br>
            <a:r>
              <a:rPr lang="en-US" sz="2000" dirty="0"/>
              <a:t>I feel like a frightened colt,</a:t>
            </a:r>
            <a:br>
              <a:rPr lang="en-US" sz="2000" dirty="0"/>
            </a:br>
            <a:r>
              <a:rPr lang="en-US" sz="2000" dirty="0"/>
              <a:t>just hit by a thunderbolt. I am in love.</a:t>
            </a:r>
            <a:br>
              <a:rPr lang="en-US" sz="2000" dirty="0"/>
            </a:br>
            <a:br>
              <a:rPr lang="en-US" sz="2000" dirty="0"/>
            </a:br>
            <a:r>
              <a:rPr lang="en-US" sz="2000" dirty="0"/>
              <a:t>I knew the odds were against me before,</a:t>
            </a:r>
            <a:br>
              <a:rPr lang="en-US" sz="2000" dirty="0"/>
            </a:br>
            <a:r>
              <a:rPr lang="en-US" sz="2000" dirty="0"/>
              <a:t>I had no flair for flaming desire,</a:t>
            </a:r>
            <a:br>
              <a:rPr lang="en-US" sz="2000" dirty="0"/>
            </a:br>
            <a:r>
              <a:rPr lang="en-US" sz="2000" b="1" dirty="0">
                <a:solidFill>
                  <a:srgbClr val="FFFF00"/>
                </a:solidFill>
              </a:rPr>
              <a:t>But</a:t>
            </a:r>
            <a:r>
              <a:rPr lang="en-US" sz="2000" dirty="0"/>
              <a:t> </a:t>
            </a:r>
            <a:r>
              <a:rPr lang="en-US" sz="2000" b="1" dirty="0">
                <a:solidFill>
                  <a:srgbClr val="FFFF00"/>
                </a:solidFill>
              </a:rPr>
              <a:t>since</a:t>
            </a:r>
            <a:r>
              <a:rPr lang="en-US" sz="2000" dirty="0"/>
              <a:t> the gods gave me you to adore,</a:t>
            </a:r>
            <a:br>
              <a:rPr lang="en-US" sz="2000" dirty="0"/>
            </a:br>
            <a:r>
              <a:rPr lang="en-US" sz="2000" dirty="0"/>
              <a:t>I may lose </a:t>
            </a:r>
            <a:r>
              <a:rPr lang="en-US" sz="2000" b="1" dirty="0">
                <a:solidFill>
                  <a:srgbClr val="FFFF00"/>
                </a:solidFill>
              </a:rPr>
              <a:t>but</a:t>
            </a:r>
            <a:r>
              <a:rPr lang="en-US" sz="2000" dirty="0"/>
              <a:t> I refuse to fight the fire,</a:t>
            </a:r>
            <a:br>
              <a:rPr lang="en-US" sz="2000" dirty="0"/>
            </a:br>
            <a:br>
              <a:rPr lang="en-US" sz="2000" dirty="0"/>
            </a:br>
            <a:endParaRPr lang="en-US" sz="2000" dirty="0"/>
          </a:p>
        </p:txBody>
      </p:sp>
      <p:sp>
        <p:nvSpPr>
          <p:cNvPr id="3" name="CaixaDeTexto 2">
            <a:extLst>
              <a:ext uri="{FF2B5EF4-FFF2-40B4-BE49-F238E27FC236}">
                <a16:creationId xmlns:a16="http://schemas.microsoft.com/office/drawing/2014/main" id="{B8D5B953-F3DA-4B9D-848A-4514DAE4525F}"/>
              </a:ext>
            </a:extLst>
          </p:cNvPr>
          <p:cNvSpPr txBox="1"/>
          <p:nvPr/>
        </p:nvSpPr>
        <p:spPr>
          <a:xfrm>
            <a:off x="5804452" y="302359"/>
            <a:ext cx="6387548" cy="5940088"/>
          </a:xfrm>
          <a:prstGeom prst="rect">
            <a:avLst/>
          </a:prstGeom>
          <a:noFill/>
        </p:spPr>
        <p:txBody>
          <a:bodyPr wrap="square" rtlCol="0">
            <a:spAutoFit/>
          </a:bodyPr>
          <a:lstStyle/>
          <a:p>
            <a:r>
              <a:rPr lang="en-US" sz="2000" b="1" dirty="0">
                <a:solidFill>
                  <a:srgbClr val="FFFF00"/>
                </a:solidFill>
              </a:rPr>
              <a:t>So</a:t>
            </a:r>
            <a:r>
              <a:rPr lang="en-US" sz="2000" dirty="0"/>
              <a:t> come </a:t>
            </a:r>
            <a:r>
              <a:rPr lang="en-US" sz="2000" b="1" dirty="0">
                <a:solidFill>
                  <a:srgbClr val="FFFF00"/>
                </a:solidFill>
              </a:rPr>
              <a:t>and</a:t>
            </a:r>
            <a:r>
              <a:rPr lang="en-US" sz="2000" dirty="0"/>
              <a:t> enlighten my days </a:t>
            </a:r>
            <a:r>
              <a:rPr lang="en-US" sz="2000" b="1" dirty="0">
                <a:solidFill>
                  <a:srgbClr val="FFFF00"/>
                </a:solidFill>
              </a:rPr>
              <a:t>and</a:t>
            </a:r>
            <a:r>
              <a:rPr lang="en-US" sz="2000" dirty="0"/>
              <a:t> never depart.</a:t>
            </a:r>
            <a:br>
              <a:rPr lang="en-US" sz="2000" dirty="0"/>
            </a:br>
            <a:r>
              <a:rPr lang="en-US" sz="2000" dirty="0"/>
              <a:t>You only can brighten the blaze that burns in my heart,</a:t>
            </a:r>
            <a:br>
              <a:rPr lang="en-US" sz="2000" dirty="0"/>
            </a:br>
            <a:r>
              <a:rPr lang="en-US" sz="2000" b="1" dirty="0">
                <a:solidFill>
                  <a:srgbClr val="FFFF00"/>
                </a:solidFill>
              </a:rPr>
              <a:t>For</a:t>
            </a:r>
            <a:r>
              <a:rPr lang="en-US" sz="2000" dirty="0"/>
              <a:t> I am wildly in love with you,</a:t>
            </a:r>
            <a:br>
              <a:rPr lang="en-US" sz="2000" dirty="0"/>
            </a:br>
            <a:r>
              <a:rPr lang="en-US" sz="2000" b="1" dirty="0">
                <a:solidFill>
                  <a:srgbClr val="FFFF00"/>
                </a:solidFill>
              </a:rPr>
              <a:t>and</a:t>
            </a:r>
            <a:r>
              <a:rPr lang="en-US" sz="2000" dirty="0"/>
              <a:t> so in need of a stampede of love.</a:t>
            </a:r>
            <a:br>
              <a:rPr lang="en-US" sz="2000" dirty="0"/>
            </a:br>
            <a:br>
              <a:rPr lang="en-US" sz="2000" dirty="0"/>
            </a:br>
            <a:r>
              <a:rPr lang="en-US" sz="2000" dirty="0"/>
              <a:t>I knew the odds were against me before,</a:t>
            </a:r>
            <a:br>
              <a:rPr lang="en-US" sz="2000" dirty="0"/>
            </a:br>
            <a:r>
              <a:rPr lang="en-US" sz="2000" dirty="0"/>
              <a:t>I had no flair for flaming desire,</a:t>
            </a:r>
            <a:br>
              <a:rPr lang="en-US" sz="2000" dirty="0"/>
            </a:br>
            <a:r>
              <a:rPr lang="en-US" sz="2000" b="1" dirty="0">
                <a:solidFill>
                  <a:srgbClr val="FFFF00"/>
                </a:solidFill>
              </a:rPr>
              <a:t>But since</a:t>
            </a:r>
            <a:r>
              <a:rPr lang="en-US" sz="2000" dirty="0"/>
              <a:t> the gods gave me you to adore,</a:t>
            </a:r>
            <a:br>
              <a:rPr lang="en-US" sz="2000" dirty="0"/>
            </a:br>
            <a:r>
              <a:rPr lang="en-US" sz="2000" dirty="0"/>
              <a:t>I may lose </a:t>
            </a:r>
            <a:r>
              <a:rPr lang="en-US" sz="2000" b="1" dirty="0">
                <a:solidFill>
                  <a:srgbClr val="FFFF00"/>
                </a:solidFill>
              </a:rPr>
              <a:t>but</a:t>
            </a:r>
            <a:r>
              <a:rPr lang="en-US" sz="2000" dirty="0"/>
              <a:t> I refuse to fight the fire,</a:t>
            </a:r>
            <a:br>
              <a:rPr lang="en-US" sz="2000" dirty="0"/>
            </a:br>
            <a:br>
              <a:rPr lang="en-US" sz="2000" dirty="0"/>
            </a:br>
            <a:r>
              <a:rPr lang="en-US" sz="2000" b="1" dirty="0">
                <a:solidFill>
                  <a:srgbClr val="FFFF00"/>
                </a:solidFill>
              </a:rPr>
              <a:t>So</a:t>
            </a:r>
            <a:r>
              <a:rPr lang="en-US" sz="2000" dirty="0"/>
              <a:t> come </a:t>
            </a:r>
            <a:r>
              <a:rPr lang="en-US" sz="2000" b="1" dirty="0">
                <a:solidFill>
                  <a:srgbClr val="FFFF00"/>
                </a:solidFill>
              </a:rPr>
              <a:t>and</a:t>
            </a:r>
            <a:r>
              <a:rPr lang="en-US" sz="2000" dirty="0"/>
              <a:t> enlighten my days </a:t>
            </a:r>
            <a:r>
              <a:rPr lang="en-US" sz="2000" b="1" dirty="0">
                <a:solidFill>
                  <a:srgbClr val="FFFF00"/>
                </a:solidFill>
              </a:rPr>
              <a:t>and</a:t>
            </a:r>
            <a:r>
              <a:rPr lang="en-US" sz="2000" dirty="0"/>
              <a:t> never depart.</a:t>
            </a:r>
            <a:br>
              <a:rPr lang="en-US" sz="2000" dirty="0"/>
            </a:br>
            <a:r>
              <a:rPr lang="en-US" sz="2000" dirty="0"/>
              <a:t>You only can brighten the blaze that burns in my heart,</a:t>
            </a:r>
            <a:br>
              <a:rPr lang="en-US" sz="2000" dirty="0"/>
            </a:br>
            <a:r>
              <a:rPr lang="en-US" sz="2000" b="1" dirty="0">
                <a:solidFill>
                  <a:srgbClr val="FFFF00"/>
                </a:solidFill>
              </a:rPr>
              <a:t>For</a:t>
            </a:r>
            <a:r>
              <a:rPr lang="en-US" sz="2000" dirty="0"/>
              <a:t> I am wildly in love with you,</a:t>
            </a:r>
            <a:br>
              <a:rPr lang="en-US" sz="2000" dirty="0"/>
            </a:br>
            <a:r>
              <a:rPr lang="en-US" sz="2000" b="1" dirty="0">
                <a:solidFill>
                  <a:srgbClr val="FFFF00"/>
                </a:solidFill>
              </a:rPr>
              <a:t>and</a:t>
            </a:r>
            <a:r>
              <a:rPr lang="en-US" sz="2000" dirty="0"/>
              <a:t> so in need of a stampede of love,</a:t>
            </a:r>
            <a:br>
              <a:rPr lang="en-US" sz="2000" dirty="0"/>
            </a:br>
            <a:r>
              <a:rPr lang="en-US" sz="2000" b="1" dirty="0">
                <a:solidFill>
                  <a:srgbClr val="FFFF00"/>
                </a:solidFill>
              </a:rPr>
              <a:t>and</a:t>
            </a:r>
            <a:r>
              <a:rPr lang="en-US" sz="2000" dirty="0"/>
              <a:t> so in need of a stampede of love.</a:t>
            </a:r>
            <a:endParaRPr lang="pt-BR" sz="2000" dirty="0"/>
          </a:p>
        </p:txBody>
      </p:sp>
    </p:spTree>
    <p:extLst>
      <p:ext uri="{BB962C8B-B14F-4D97-AF65-F5344CB8AC3E}">
        <p14:creationId xmlns:p14="http://schemas.microsoft.com/office/powerpoint/2010/main" val="29932092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5AD0B8"/>
      </a:accent1>
      <a:accent2>
        <a:srgbClr val="47BB7E"/>
      </a:accent2>
      <a:accent3>
        <a:srgbClr val="96CD4B"/>
      </a:accent3>
      <a:accent4>
        <a:srgbClr val="61C7DD"/>
      </a:accent4>
      <a:accent5>
        <a:srgbClr val="2495CF"/>
      </a:accent5>
      <a:accent6>
        <a:srgbClr val="5A74D1"/>
      </a:accent6>
      <a:hlink>
        <a:srgbClr val="72CEBB"/>
      </a:hlink>
      <a:folHlink>
        <a:srgbClr val="98E6D6"/>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0F262FD6-3409-4039-A531-64BD4D2F99E4}"/>
    </a:ext>
  </a:extLst>
</a:theme>
</file>

<file path=docProps/app.xml><?xml version="1.0" encoding="utf-8"?>
<Properties xmlns="http://schemas.openxmlformats.org/officeDocument/2006/extended-properties" xmlns:vt="http://schemas.openxmlformats.org/officeDocument/2006/docPropsVTypes">
  <Template>TM03457485[[fn=Mesh]]</Template>
  <TotalTime>3672</TotalTime>
  <Words>4409</Words>
  <Application>Microsoft Office PowerPoint</Application>
  <PresentationFormat>Widescreen</PresentationFormat>
  <Paragraphs>273</Paragraphs>
  <Slides>45</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45</vt:i4>
      </vt:variant>
    </vt:vector>
  </HeadingPairs>
  <TitlesOfParts>
    <vt:vector size="49" baseType="lpstr">
      <vt:lpstr>Arial</vt:lpstr>
      <vt:lpstr>Century Gothic</vt:lpstr>
      <vt:lpstr>Times New Roman</vt:lpstr>
      <vt:lpstr>Mesh</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Rodrigo Manz de Paula Ramos</dc:creator>
  <cp:lastModifiedBy>Rodrigo Manz de Paula Ramos</cp:lastModifiedBy>
  <cp:revision>261</cp:revision>
  <dcterms:created xsi:type="dcterms:W3CDTF">2016-09-20T14:09:52Z</dcterms:created>
  <dcterms:modified xsi:type="dcterms:W3CDTF">2026-01-27T23:07:46Z</dcterms:modified>
</cp:coreProperties>
</file>