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07C19A-DC02-1C70-0568-06B2EFB1316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ítulo 2">
            <a:extLst>
              <a:ext uri="{FF2B5EF4-FFF2-40B4-BE49-F238E27FC236}">
                <a16:creationId xmlns:a16="http://schemas.microsoft.com/office/drawing/2014/main" id="{62463942-9A6D-41D7-18F6-0E85850FA3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Espaço Reservado para Data 3">
            <a:extLst>
              <a:ext uri="{FF2B5EF4-FFF2-40B4-BE49-F238E27FC236}">
                <a16:creationId xmlns:a16="http://schemas.microsoft.com/office/drawing/2014/main" id="{8190E49C-D3E9-6F35-2B8B-C10795E8A2F3}"/>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1EEC2707-F8EF-3346-7135-1F99D2FC9F61}"/>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069128A1-A01C-9ACC-01D1-FDD4CDD31B37}"/>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2973036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5936FB-49C4-9ACF-17FD-24FB07156A9C}"/>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3B6A6E56-FD87-278A-3235-B0160A190A03}"/>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B4621249-515A-35E1-05A0-BA3F7E5949B9}"/>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B4AB9A13-6348-56DC-88C1-A2BF242E7E63}"/>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F11562D3-EACC-5DB4-2268-6D17B8F987A6}"/>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3533926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1A16B-49AF-606A-F7A0-C159F1063C9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84E682B7-C17B-B7ED-BE3F-F00C8F8AFF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2BE71F62-E737-2C31-D0F8-B51DA71E9708}"/>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D29EF483-B6E8-4A5C-93D4-A0799B2A9A7A}"/>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EC5F4F25-2E69-EDF4-60E8-A4EA144E5961}"/>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2841896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1AA0E-8D9A-6F18-253F-143EAB0A966D}"/>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FA4DD1AE-A1EF-1356-1A74-B0763DAFA31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a:extLst>
              <a:ext uri="{FF2B5EF4-FFF2-40B4-BE49-F238E27FC236}">
                <a16:creationId xmlns:a16="http://schemas.microsoft.com/office/drawing/2014/main" id="{E8654079-A414-4BBA-5C9F-14439B89A942}"/>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a:extLst>
              <a:ext uri="{FF2B5EF4-FFF2-40B4-BE49-F238E27FC236}">
                <a16:creationId xmlns:a16="http://schemas.microsoft.com/office/drawing/2014/main" id="{AABE8E86-69E6-9C40-0703-A55780D6437C}"/>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6" name="Espaço Reservado para Rodapé 5">
            <a:extLst>
              <a:ext uri="{FF2B5EF4-FFF2-40B4-BE49-F238E27FC236}">
                <a16:creationId xmlns:a16="http://schemas.microsoft.com/office/drawing/2014/main" id="{62873555-97C1-504B-1F28-15229621530B}"/>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A330F37D-0C82-C86A-72A1-BD6D25AB29F2}"/>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4279092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8F508-39D0-0EF3-079A-F5F55D24DA1C}"/>
              </a:ext>
            </a:extLst>
          </p:cNvPr>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37E649BF-06BF-D0F0-D132-88B2C12193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ADADDB4B-D689-8B59-2A93-49FF57BD094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a:extLst>
              <a:ext uri="{FF2B5EF4-FFF2-40B4-BE49-F238E27FC236}">
                <a16:creationId xmlns:a16="http://schemas.microsoft.com/office/drawing/2014/main" id="{3979B010-809A-7883-52A5-623BBF739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2B241A96-BE83-4FC4-496F-DE563615003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a:extLst>
              <a:ext uri="{FF2B5EF4-FFF2-40B4-BE49-F238E27FC236}">
                <a16:creationId xmlns:a16="http://schemas.microsoft.com/office/drawing/2014/main" id="{573F1387-BC2B-61A9-568A-686AC1722469}"/>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8" name="Espaço Reservado para Rodapé 7">
            <a:extLst>
              <a:ext uri="{FF2B5EF4-FFF2-40B4-BE49-F238E27FC236}">
                <a16:creationId xmlns:a16="http://schemas.microsoft.com/office/drawing/2014/main" id="{DDB1FA22-A770-2196-0768-8CA1292E5A94}"/>
              </a:ext>
            </a:extLst>
          </p:cNvPr>
          <p:cNvSpPr>
            <a:spLocks noGrp="1"/>
          </p:cNvSpPr>
          <p:nvPr>
            <p:ph type="ftr" sz="quarter" idx="11"/>
          </p:nvPr>
        </p:nvSpPr>
        <p:spPr/>
        <p:txBody>
          <a:bodyPr/>
          <a:lstStyle/>
          <a:p>
            <a:endParaRPr lang="en-US"/>
          </a:p>
        </p:txBody>
      </p:sp>
      <p:sp>
        <p:nvSpPr>
          <p:cNvPr id="9" name="Espaço Reservado para Número de Slide 8">
            <a:extLst>
              <a:ext uri="{FF2B5EF4-FFF2-40B4-BE49-F238E27FC236}">
                <a16:creationId xmlns:a16="http://schemas.microsoft.com/office/drawing/2014/main" id="{1323D4D6-66D3-9FD8-74E4-5DB79F382A73}"/>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3013844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49952-12F5-EBA1-02A5-E73C9D86FD34}"/>
              </a:ext>
            </a:extLst>
          </p:cNvPr>
          <p:cNvSpPr>
            <a:spLocks noGrp="1"/>
          </p:cNvSpPr>
          <p:nvPr>
            <p:ph type="title"/>
          </p:nvPr>
        </p:nvSpPr>
        <p:spPr/>
        <p:txBody>
          <a:bodyPr/>
          <a:lstStyle/>
          <a:p>
            <a:r>
              <a:rPr lang="pt-BR"/>
              <a:t>Clique para editar o título Mestre</a:t>
            </a:r>
            <a:endParaRPr lang="en-US"/>
          </a:p>
        </p:txBody>
      </p:sp>
      <p:sp>
        <p:nvSpPr>
          <p:cNvPr id="3" name="Espaço Reservado para Data 2">
            <a:extLst>
              <a:ext uri="{FF2B5EF4-FFF2-40B4-BE49-F238E27FC236}">
                <a16:creationId xmlns:a16="http://schemas.microsoft.com/office/drawing/2014/main" id="{33451A8B-0F9E-30FE-2BC4-9A1ED6DB5247}"/>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4" name="Espaço Reservado para Rodapé 3">
            <a:extLst>
              <a:ext uri="{FF2B5EF4-FFF2-40B4-BE49-F238E27FC236}">
                <a16:creationId xmlns:a16="http://schemas.microsoft.com/office/drawing/2014/main" id="{619F34CB-F533-0CB5-CACE-FFA9962D23A6}"/>
              </a:ext>
            </a:extLst>
          </p:cNvPr>
          <p:cNvSpPr>
            <a:spLocks noGrp="1"/>
          </p:cNvSpPr>
          <p:nvPr>
            <p:ph type="ftr" sz="quarter" idx="11"/>
          </p:nvPr>
        </p:nvSpPr>
        <p:spPr/>
        <p:txBody>
          <a:bodyPr/>
          <a:lstStyle/>
          <a:p>
            <a:endParaRPr lang="en-US"/>
          </a:p>
        </p:txBody>
      </p:sp>
      <p:sp>
        <p:nvSpPr>
          <p:cNvPr id="5" name="Espaço Reservado para Número de Slide 4">
            <a:extLst>
              <a:ext uri="{FF2B5EF4-FFF2-40B4-BE49-F238E27FC236}">
                <a16:creationId xmlns:a16="http://schemas.microsoft.com/office/drawing/2014/main" id="{4AEEB502-FD89-3AF7-96B1-F5D829D9575F}"/>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4010054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017A37A-E07F-D5A0-60EA-DB96E2CEEB34}"/>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3" name="Espaço Reservado para Rodapé 2">
            <a:extLst>
              <a:ext uri="{FF2B5EF4-FFF2-40B4-BE49-F238E27FC236}">
                <a16:creationId xmlns:a16="http://schemas.microsoft.com/office/drawing/2014/main" id="{A2E84680-CC76-0F8B-25C2-DAB245DB7B5A}"/>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6437B28C-9F13-6960-19E8-FFE739829C7C}"/>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3805028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0E6777-EE43-5B62-29B0-69F99E3D978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9E9FBA8F-65BA-1C86-3F60-1BA322004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a:extLst>
              <a:ext uri="{FF2B5EF4-FFF2-40B4-BE49-F238E27FC236}">
                <a16:creationId xmlns:a16="http://schemas.microsoft.com/office/drawing/2014/main" id="{58471FC1-698B-6D8F-CDE7-84B8F2352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48BA396-E0D8-0082-18F6-8D1F8237677B}"/>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6" name="Espaço Reservado para Rodapé 5">
            <a:extLst>
              <a:ext uri="{FF2B5EF4-FFF2-40B4-BE49-F238E27FC236}">
                <a16:creationId xmlns:a16="http://schemas.microsoft.com/office/drawing/2014/main" id="{E78A4A02-ECAC-7194-A221-BCCB13A67F0E}"/>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2F87F2DE-520E-7A07-A79C-15384945AA93}"/>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868586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6F4706-5BB7-1122-5413-1520235C94B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Imagem 2">
            <a:extLst>
              <a:ext uri="{FF2B5EF4-FFF2-40B4-BE49-F238E27FC236}">
                <a16:creationId xmlns:a16="http://schemas.microsoft.com/office/drawing/2014/main" id="{BFCB6D3A-E827-E7AE-FD42-17D24FE53A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a:extLst>
              <a:ext uri="{FF2B5EF4-FFF2-40B4-BE49-F238E27FC236}">
                <a16:creationId xmlns:a16="http://schemas.microsoft.com/office/drawing/2014/main" id="{82824FBB-0C3F-C439-2449-7F9664FA3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72AAEE3-D177-86B5-7130-917A99B7CB72}"/>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6" name="Espaço Reservado para Rodapé 5">
            <a:extLst>
              <a:ext uri="{FF2B5EF4-FFF2-40B4-BE49-F238E27FC236}">
                <a16:creationId xmlns:a16="http://schemas.microsoft.com/office/drawing/2014/main" id="{3655A763-2E35-60B7-0718-F03D821A172F}"/>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2A98F52F-3249-C040-DADC-2E348ABF841B}"/>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301339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47DF8-D779-EF3E-4E42-0450C6DD1465}"/>
              </a:ext>
            </a:extLst>
          </p:cNvPr>
          <p:cNvSpPr>
            <a:spLocks noGrp="1"/>
          </p:cNvSpPr>
          <p:nvPr>
            <p:ph type="title"/>
          </p:nvPr>
        </p:nvSpPr>
        <p:spPr/>
        <p:txBody>
          <a:bodyPr/>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471A14AF-CF87-D505-4AAB-223D2CA9A44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986045E4-4B65-52E7-0309-4945945BC968}"/>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1E4F6AF7-CDEE-61DB-2649-7415663EE871}"/>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4EE2B887-889A-0157-CD18-BD1E27690934}"/>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158256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94BE10-21B5-5CC2-643F-448C62388437}"/>
              </a:ext>
            </a:extLst>
          </p:cNvPr>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46DAF9E0-C39E-F480-81BA-7410FEBC7F3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2A9E2E17-E0CA-5045-7DB0-582DD92A3BA8}"/>
              </a:ext>
            </a:extLst>
          </p:cNvPr>
          <p:cNvSpPr>
            <a:spLocks noGrp="1"/>
          </p:cNvSpPr>
          <p:nvPr>
            <p:ph type="dt" sz="half" idx="10"/>
          </p:nvPr>
        </p:nvSpPr>
        <p:spPr/>
        <p:txBody>
          <a:body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939B3E93-A1C3-B86B-D35A-86A2735607F3}"/>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DA15737E-B3C2-BF53-C837-6F45FD88B933}"/>
              </a:ext>
            </a:extLst>
          </p:cNvPr>
          <p:cNvSpPr>
            <a:spLocks noGrp="1"/>
          </p:cNvSpPr>
          <p:nvPr>
            <p:ph type="sldNum" sz="quarter" idx="12"/>
          </p:nvPr>
        </p:nvSpPr>
        <p:spPr/>
        <p:txBody>
          <a:bodyPr/>
          <a:lstStyle/>
          <a:p>
            <a:fld id="{4E33636E-68A9-487E-A9D2-1CC4A8B440B9}" type="slidenum">
              <a:rPr lang="en-US" smtClean="0"/>
              <a:t>‹nº›</a:t>
            </a:fld>
            <a:endParaRPr lang="en-US"/>
          </a:p>
        </p:txBody>
      </p:sp>
    </p:spTree>
    <p:extLst>
      <p:ext uri="{BB962C8B-B14F-4D97-AF65-F5344CB8AC3E}">
        <p14:creationId xmlns:p14="http://schemas.microsoft.com/office/powerpoint/2010/main" val="1875618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53BEB1F-83AA-734A-5E3C-63726C474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C4B1BF08-E57C-A9BA-8EB3-E849C17DD0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0B1D0181-4E2C-C9CC-759C-B77E7FF9B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BC1E6A-D86C-48CB-B514-FC279BE53B28}" type="datetimeFigureOut">
              <a:rPr lang="en-US" smtClean="0"/>
              <a:t>8/14/2026</a:t>
            </a:fld>
            <a:endParaRPr lang="en-US"/>
          </a:p>
        </p:txBody>
      </p:sp>
      <p:sp>
        <p:nvSpPr>
          <p:cNvPr id="5" name="Espaço Reservado para Rodapé 4">
            <a:extLst>
              <a:ext uri="{FF2B5EF4-FFF2-40B4-BE49-F238E27FC236}">
                <a16:creationId xmlns:a16="http://schemas.microsoft.com/office/drawing/2014/main" id="{CC3CE607-FE2F-FB71-C0DF-48238C1B22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a:extLst>
              <a:ext uri="{FF2B5EF4-FFF2-40B4-BE49-F238E27FC236}">
                <a16:creationId xmlns:a16="http://schemas.microsoft.com/office/drawing/2014/main" id="{7463D197-F228-CDC0-1BC1-1DB20AE39A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33636E-68A9-487E-A9D2-1CC4A8B440B9}" type="slidenum">
              <a:rPr lang="en-US" smtClean="0"/>
              <a:t>‹nº›</a:t>
            </a:fld>
            <a:endParaRPr lang="en-US"/>
          </a:p>
        </p:txBody>
      </p:sp>
    </p:spTree>
    <p:extLst>
      <p:ext uri="{BB962C8B-B14F-4D97-AF65-F5344CB8AC3E}">
        <p14:creationId xmlns:p14="http://schemas.microsoft.com/office/powerpoint/2010/main" val="4284636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theguardian.com/environment/2026/jan/20/era-of-global-water-bankruptcy-is-here-un-report-say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C2D60FE3-7263-86AC-2231-08B0C12D437A}"/>
              </a:ext>
            </a:extLst>
          </p:cNvPr>
          <p:cNvSpPr txBox="1"/>
          <p:nvPr/>
        </p:nvSpPr>
        <p:spPr>
          <a:xfrm>
            <a:off x="602697" y="6211669"/>
            <a:ext cx="10983558" cy="646331"/>
          </a:xfrm>
          <a:prstGeom prst="rect">
            <a:avLst/>
          </a:prstGeom>
          <a:noFill/>
        </p:spPr>
        <p:txBody>
          <a:bodyPr wrap="square">
            <a:spAutoFit/>
          </a:bodyPr>
          <a:lstStyle/>
          <a:p>
            <a:r>
              <a:rPr lang="en-US" dirty="0">
                <a:hlinkClick r:id="rId2"/>
              </a:rPr>
              <a:t>https://www.theguardian.com/environment/2026/jan/20/era-of-global-water-bankruptcy-is-here-un-report-says</a:t>
            </a:r>
            <a:endParaRPr lang="en-US" dirty="0"/>
          </a:p>
          <a:p>
            <a:endParaRPr lang="en-US" dirty="0"/>
          </a:p>
        </p:txBody>
      </p:sp>
      <p:sp>
        <p:nvSpPr>
          <p:cNvPr id="3" name="CaixaDeTexto 2">
            <a:extLst>
              <a:ext uri="{FF2B5EF4-FFF2-40B4-BE49-F238E27FC236}">
                <a16:creationId xmlns:a16="http://schemas.microsoft.com/office/drawing/2014/main" id="{AFB62DCC-C3CD-B50D-BF90-C20D744B8500}"/>
              </a:ext>
            </a:extLst>
          </p:cNvPr>
          <p:cNvSpPr txBox="1"/>
          <p:nvPr/>
        </p:nvSpPr>
        <p:spPr>
          <a:xfrm>
            <a:off x="258453" y="75792"/>
            <a:ext cx="11672046" cy="2092881"/>
          </a:xfrm>
          <a:prstGeom prst="rect">
            <a:avLst/>
          </a:prstGeom>
          <a:noFill/>
        </p:spPr>
        <p:txBody>
          <a:bodyPr wrap="square">
            <a:spAutoFit/>
          </a:bodyPr>
          <a:lstStyle/>
          <a:p>
            <a:pPr marL="0" marR="0" indent="0" algn="ctr" fontAlgn="base">
              <a:buNone/>
            </a:pPr>
            <a:r>
              <a:rPr lang="en-US" sz="2800" b="1" i="0" dirty="0">
                <a:solidFill>
                  <a:srgbClr val="121212"/>
                </a:solidFill>
                <a:effectLst/>
              </a:rPr>
              <a:t>Era of ‘global water </a:t>
            </a:r>
            <a:r>
              <a:rPr lang="en-US" sz="2800" b="1" i="0" dirty="0">
                <a:solidFill>
                  <a:srgbClr val="0070C0"/>
                </a:solidFill>
                <a:effectLst/>
              </a:rPr>
              <a:t>bankruptcy</a:t>
            </a:r>
            <a:r>
              <a:rPr lang="en-US" sz="2800" b="1" i="0" dirty="0">
                <a:solidFill>
                  <a:srgbClr val="121212"/>
                </a:solidFill>
                <a:effectLst/>
              </a:rPr>
              <a:t>’ is here, UN report says</a:t>
            </a:r>
          </a:p>
          <a:p>
            <a:pPr marL="0" marR="0" indent="0" algn="ctr" fontAlgn="base">
              <a:buNone/>
            </a:pPr>
            <a:endParaRPr lang="en-US" sz="2800" b="1" i="0" dirty="0">
              <a:solidFill>
                <a:srgbClr val="121212"/>
              </a:solidFill>
              <a:effectLst/>
            </a:endParaRPr>
          </a:p>
          <a:p>
            <a:pPr marL="0" marR="0" indent="0" algn="ctr" fontAlgn="base">
              <a:buNone/>
            </a:pPr>
            <a:r>
              <a:rPr lang="en-US" sz="2800" b="1" i="0" dirty="0">
                <a:solidFill>
                  <a:srgbClr val="000000"/>
                </a:solidFill>
                <a:effectLst/>
              </a:rPr>
              <a:t>Overuse and pollution must end urgently as no one knows when whole system might collapse, says expert</a:t>
            </a:r>
          </a:p>
          <a:p>
            <a:pPr algn="ctr" fontAlgn="base"/>
            <a:r>
              <a:rPr lang="en-US" dirty="0"/>
              <a:t>Tue 20 Jan 2026</a:t>
            </a:r>
            <a:endParaRPr lang="en-US" sz="2800" b="1" i="0" dirty="0">
              <a:solidFill>
                <a:srgbClr val="000000"/>
              </a:solidFill>
              <a:effectLst/>
            </a:endParaRPr>
          </a:p>
        </p:txBody>
      </p:sp>
      <p:pic>
        <p:nvPicPr>
          <p:cNvPr id="9" name="Imagem 8">
            <a:extLst>
              <a:ext uri="{FF2B5EF4-FFF2-40B4-BE49-F238E27FC236}">
                <a16:creationId xmlns:a16="http://schemas.microsoft.com/office/drawing/2014/main" id="{C60452D6-F70E-A8D3-E5C8-30A5B2D42277}"/>
              </a:ext>
            </a:extLst>
          </p:cNvPr>
          <p:cNvPicPr>
            <a:picLocks noChangeAspect="1"/>
          </p:cNvPicPr>
          <p:nvPr/>
        </p:nvPicPr>
        <p:blipFill>
          <a:blip r:embed="rId3"/>
          <a:stretch>
            <a:fillRect/>
          </a:stretch>
        </p:blipFill>
        <p:spPr>
          <a:xfrm>
            <a:off x="3757872" y="2168673"/>
            <a:ext cx="4673208" cy="4091888"/>
          </a:xfrm>
          <a:prstGeom prst="rect">
            <a:avLst/>
          </a:prstGeom>
        </p:spPr>
      </p:pic>
      <p:sp>
        <p:nvSpPr>
          <p:cNvPr id="2" name="CaixaDeTexto 1">
            <a:extLst>
              <a:ext uri="{FF2B5EF4-FFF2-40B4-BE49-F238E27FC236}">
                <a16:creationId xmlns:a16="http://schemas.microsoft.com/office/drawing/2014/main" id="{38014396-D352-7D69-895B-1BBC539025FA}"/>
              </a:ext>
            </a:extLst>
          </p:cNvPr>
          <p:cNvSpPr txBox="1"/>
          <p:nvPr/>
        </p:nvSpPr>
        <p:spPr>
          <a:xfrm>
            <a:off x="4325112" y="597439"/>
            <a:ext cx="3063240" cy="369332"/>
          </a:xfrm>
          <a:prstGeom prst="rect">
            <a:avLst/>
          </a:prstGeom>
          <a:noFill/>
        </p:spPr>
        <p:txBody>
          <a:bodyPr wrap="square" rtlCol="0">
            <a:spAutoFit/>
          </a:bodyPr>
          <a:lstStyle/>
          <a:p>
            <a:r>
              <a:rPr lang="en-US" b="1" dirty="0">
                <a:solidFill>
                  <a:srgbClr val="FF0000"/>
                </a:solidFill>
              </a:rPr>
              <a:t>Quebra, </a:t>
            </a:r>
            <a:r>
              <a:rPr lang="en-US" b="1" dirty="0" err="1">
                <a:solidFill>
                  <a:srgbClr val="FF0000"/>
                </a:solidFill>
              </a:rPr>
              <a:t>falência</a:t>
            </a:r>
            <a:r>
              <a:rPr lang="en-US" b="1" dirty="0">
                <a:solidFill>
                  <a:srgbClr val="FF0000"/>
                </a:solidFill>
              </a:rPr>
              <a:t>, </a:t>
            </a:r>
            <a:r>
              <a:rPr lang="en-US" b="1" dirty="0" err="1">
                <a:solidFill>
                  <a:srgbClr val="FF0000"/>
                </a:solidFill>
              </a:rPr>
              <a:t>bancarrota</a:t>
            </a:r>
            <a:endParaRPr lang="en-US" b="1" dirty="0">
              <a:solidFill>
                <a:srgbClr val="FF0000"/>
              </a:solidFill>
            </a:endParaRPr>
          </a:p>
        </p:txBody>
      </p:sp>
    </p:spTree>
    <p:extLst>
      <p:ext uri="{BB962C8B-B14F-4D97-AF65-F5344CB8AC3E}">
        <p14:creationId xmlns:p14="http://schemas.microsoft.com/office/powerpoint/2010/main" val="19557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DBA06694-E69B-5A8A-7B80-07108B766E6C}"/>
              </a:ext>
            </a:extLst>
          </p:cNvPr>
          <p:cNvSpPr txBox="1"/>
          <p:nvPr/>
        </p:nvSpPr>
        <p:spPr>
          <a:xfrm>
            <a:off x="216946" y="612844"/>
            <a:ext cx="11758108" cy="5632311"/>
          </a:xfrm>
          <a:prstGeom prst="rect">
            <a:avLst/>
          </a:prstGeom>
          <a:noFill/>
        </p:spPr>
        <p:txBody>
          <a:bodyPr wrap="square">
            <a:spAutoFit/>
          </a:bodyPr>
          <a:lstStyle/>
          <a:p>
            <a:pPr indent="0" algn="just" fontAlgn="base">
              <a:buNone/>
            </a:pPr>
            <a:r>
              <a:rPr lang="en-US" sz="2400" b="0" i="0" dirty="0">
                <a:solidFill>
                  <a:srgbClr val="121212"/>
                </a:solidFill>
                <a:effectLst/>
              </a:rPr>
              <a:t>The world has entered an era of “global water bankruptcy” that is harming billions of people, a UN report has declared.</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overuse and pollution of water must be </a:t>
            </a:r>
            <a:r>
              <a:rPr lang="en-US" sz="2400" b="1" i="0" dirty="0">
                <a:solidFill>
                  <a:srgbClr val="0070C0"/>
                </a:solidFill>
                <a:effectLst/>
              </a:rPr>
              <a:t>tackled</a:t>
            </a:r>
            <a:r>
              <a:rPr lang="en-US" sz="2400" b="0" i="0" dirty="0">
                <a:solidFill>
                  <a:srgbClr val="121212"/>
                </a:solidFill>
                <a:effectLst/>
              </a:rPr>
              <a:t> urgently, the report’s lead author said, because no one knew when the whole system could collapse, with implications for peace and social cohesion.</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All life depends on water but the report found many societies had long been using water faster than it could be </a:t>
            </a:r>
            <a:r>
              <a:rPr lang="en-US" sz="2400" b="1" i="0" dirty="0">
                <a:solidFill>
                  <a:srgbClr val="0070C0"/>
                </a:solidFill>
                <a:effectLst/>
              </a:rPr>
              <a:t>replenished</a:t>
            </a:r>
            <a:r>
              <a:rPr lang="en-US" sz="2400" b="0" i="0" dirty="0">
                <a:solidFill>
                  <a:srgbClr val="121212"/>
                </a:solidFill>
                <a:effectLst/>
              </a:rPr>
              <a:t> annually in rivers and soils, as well as over-exploiting or destroying long-term stores of water in aquifers and wetlands.</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This had led to water bankruptcy, the report said, with many human water systems past the point at which they could be restored to former levels. The climate crisis was exacerbating the problem by melting glaciers, which store water, and causing </a:t>
            </a:r>
            <a:r>
              <a:rPr lang="en-US" sz="2400" b="1" dirty="0">
                <a:solidFill>
                  <a:srgbClr val="0070C0"/>
                </a:solidFill>
              </a:rPr>
              <a:t>whiplashes</a:t>
            </a:r>
            <a:r>
              <a:rPr lang="en-US" sz="2400" dirty="0"/>
              <a:t> between extremely dry and wet weather</a:t>
            </a:r>
            <a:r>
              <a:rPr lang="en-US" sz="2400" b="0" i="0" dirty="0">
                <a:solidFill>
                  <a:srgbClr val="121212"/>
                </a:solidFill>
                <a:effectLst/>
              </a:rPr>
              <a:t>.</a:t>
            </a:r>
          </a:p>
        </p:txBody>
      </p:sp>
      <p:sp>
        <p:nvSpPr>
          <p:cNvPr id="3" name="CaixaDeTexto 2">
            <a:extLst>
              <a:ext uri="{FF2B5EF4-FFF2-40B4-BE49-F238E27FC236}">
                <a16:creationId xmlns:a16="http://schemas.microsoft.com/office/drawing/2014/main" id="{A88F1987-516E-203F-BB48-5505A1BAF51B}"/>
              </a:ext>
            </a:extLst>
          </p:cNvPr>
          <p:cNvSpPr txBox="1"/>
          <p:nvPr/>
        </p:nvSpPr>
        <p:spPr>
          <a:xfrm>
            <a:off x="5815584" y="1283239"/>
            <a:ext cx="1316736" cy="369332"/>
          </a:xfrm>
          <a:prstGeom prst="rect">
            <a:avLst/>
          </a:prstGeom>
          <a:noFill/>
        </p:spPr>
        <p:txBody>
          <a:bodyPr wrap="square" rtlCol="0">
            <a:spAutoFit/>
          </a:bodyPr>
          <a:lstStyle/>
          <a:p>
            <a:r>
              <a:rPr lang="en-US" b="1" dirty="0" err="1">
                <a:solidFill>
                  <a:srgbClr val="FF0000"/>
                </a:solidFill>
              </a:rPr>
              <a:t>enfrentado</a:t>
            </a:r>
            <a:endParaRPr lang="en-US" b="1" dirty="0">
              <a:solidFill>
                <a:srgbClr val="FF0000"/>
              </a:solidFill>
            </a:endParaRPr>
          </a:p>
        </p:txBody>
      </p:sp>
      <p:sp>
        <p:nvSpPr>
          <p:cNvPr id="6" name="CaixaDeTexto 5">
            <a:extLst>
              <a:ext uri="{FF2B5EF4-FFF2-40B4-BE49-F238E27FC236}">
                <a16:creationId xmlns:a16="http://schemas.microsoft.com/office/drawing/2014/main" id="{5EBA3864-D8CD-9BA3-E667-3B4A0EC91337}"/>
              </a:ext>
            </a:extLst>
          </p:cNvPr>
          <p:cNvSpPr txBox="1"/>
          <p:nvPr/>
        </p:nvSpPr>
        <p:spPr>
          <a:xfrm>
            <a:off x="3252216" y="2825527"/>
            <a:ext cx="1475232" cy="369332"/>
          </a:xfrm>
          <a:prstGeom prst="rect">
            <a:avLst/>
          </a:prstGeom>
          <a:noFill/>
        </p:spPr>
        <p:txBody>
          <a:bodyPr wrap="square" rtlCol="0">
            <a:spAutoFit/>
          </a:bodyPr>
          <a:lstStyle/>
          <a:p>
            <a:r>
              <a:rPr lang="en-US" b="1" dirty="0" err="1">
                <a:solidFill>
                  <a:srgbClr val="FF0000"/>
                </a:solidFill>
              </a:rPr>
              <a:t>reabastecido</a:t>
            </a:r>
            <a:endParaRPr lang="en-US" b="1" dirty="0">
              <a:solidFill>
                <a:srgbClr val="FF0000"/>
              </a:solidFill>
            </a:endParaRPr>
          </a:p>
        </p:txBody>
      </p:sp>
      <p:sp>
        <p:nvSpPr>
          <p:cNvPr id="8" name="CaixaDeTexto 7">
            <a:extLst>
              <a:ext uri="{FF2B5EF4-FFF2-40B4-BE49-F238E27FC236}">
                <a16:creationId xmlns:a16="http://schemas.microsoft.com/office/drawing/2014/main" id="{DBCE4585-EC60-9A02-C71D-3B9270E49DC8}"/>
              </a:ext>
            </a:extLst>
          </p:cNvPr>
          <p:cNvSpPr txBox="1"/>
          <p:nvPr/>
        </p:nvSpPr>
        <p:spPr>
          <a:xfrm>
            <a:off x="8936736" y="5921989"/>
            <a:ext cx="2849880" cy="646331"/>
          </a:xfrm>
          <a:prstGeom prst="rect">
            <a:avLst/>
          </a:prstGeom>
          <a:noFill/>
        </p:spPr>
        <p:txBody>
          <a:bodyPr wrap="square" rtlCol="0">
            <a:spAutoFit/>
          </a:bodyPr>
          <a:lstStyle/>
          <a:p>
            <a:r>
              <a:rPr lang="en-US" b="1" dirty="0" err="1">
                <a:solidFill>
                  <a:srgbClr val="FF0000"/>
                </a:solidFill>
              </a:rPr>
              <a:t>Mudanças</a:t>
            </a:r>
            <a:r>
              <a:rPr lang="en-US" b="1" dirty="0">
                <a:solidFill>
                  <a:srgbClr val="FF0000"/>
                </a:solidFill>
              </a:rPr>
              <a:t> Bruscas</a:t>
            </a:r>
          </a:p>
          <a:p>
            <a:r>
              <a:rPr lang="en-US" b="1" dirty="0">
                <a:solidFill>
                  <a:srgbClr val="FF0000"/>
                </a:solidFill>
              </a:rPr>
              <a:t>(</a:t>
            </a:r>
            <a:r>
              <a:rPr lang="en-US" b="1" dirty="0" err="1">
                <a:solidFill>
                  <a:srgbClr val="FF0000"/>
                </a:solidFill>
              </a:rPr>
              <a:t>literalmente</a:t>
            </a:r>
            <a:r>
              <a:rPr lang="en-US" b="1" dirty="0">
                <a:solidFill>
                  <a:srgbClr val="FF0000"/>
                </a:solidFill>
              </a:rPr>
              <a:t>: </a:t>
            </a:r>
            <a:r>
              <a:rPr lang="en-US" b="1" dirty="0" err="1">
                <a:solidFill>
                  <a:srgbClr val="FF0000"/>
                </a:solidFill>
              </a:rPr>
              <a:t>chicotadas</a:t>
            </a:r>
            <a:r>
              <a:rPr lang="en-US" b="1" dirty="0">
                <a:solidFill>
                  <a:srgbClr val="FF0000"/>
                </a:solidFill>
              </a:rPr>
              <a:t>)</a:t>
            </a:r>
          </a:p>
        </p:txBody>
      </p:sp>
    </p:spTree>
    <p:extLst>
      <p:ext uri="{BB962C8B-B14F-4D97-AF65-F5344CB8AC3E}">
        <p14:creationId xmlns:p14="http://schemas.microsoft.com/office/powerpoint/2010/main" val="3060920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6671D8B7-13EB-F228-5E7C-C4AC4FC3E28B}"/>
              </a:ext>
            </a:extLst>
          </p:cNvPr>
          <p:cNvSpPr txBox="1"/>
          <p:nvPr/>
        </p:nvSpPr>
        <p:spPr>
          <a:xfrm>
            <a:off x="265355" y="797510"/>
            <a:ext cx="11661290" cy="5262979"/>
          </a:xfrm>
          <a:prstGeom prst="rect">
            <a:avLst/>
          </a:prstGeom>
          <a:noFill/>
        </p:spPr>
        <p:txBody>
          <a:bodyPr wrap="square">
            <a:spAutoFit/>
          </a:bodyPr>
          <a:lstStyle/>
          <a:p>
            <a:pPr indent="0" algn="just" fontAlgn="base">
              <a:buNone/>
            </a:pPr>
            <a:r>
              <a:rPr lang="en-US" sz="2400" b="0" i="0" dirty="0">
                <a:solidFill>
                  <a:srgbClr val="121212"/>
                </a:solidFill>
                <a:effectLst/>
              </a:rPr>
              <a:t>Prof Kaveh Madani, who led the report, said while not every </a:t>
            </a:r>
            <a:r>
              <a:rPr lang="en-US" sz="2400" b="1" i="0" dirty="0">
                <a:solidFill>
                  <a:srgbClr val="0070C0"/>
                </a:solidFill>
                <a:effectLst/>
              </a:rPr>
              <a:t>basin</a:t>
            </a:r>
            <a:r>
              <a:rPr lang="en-US" sz="2400" b="0" i="0" dirty="0">
                <a:solidFill>
                  <a:srgbClr val="121212"/>
                </a:solidFill>
                <a:effectLst/>
              </a:rPr>
              <a:t> and country was water bankrupt, the world was interconnected by trade and migration, and enough critical systems had crossed this </a:t>
            </a:r>
            <a:r>
              <a:rPr lang="en-US" sz="2400" b="1" i="0" dirty="0">
                <a:solidFill>
                  <a:srgbClr val="0070C0"/>
                </a:solidFill>
                <a:effectLst/>
              </a:rPr>
              <a:t>threshold</a:t>
            </a:r>
            <a:r>
              <a:rPr lang="en-US" sz="2400" b="0" i="0" dirty="0">
                <a:solidFill>
                  <a:srgbClr val="121212"/>
                </a:solidFill>
                <a:effectLst/>
              </a:rPr>
              <a:t> to fundamentally alter global water risk.</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result was a world in which 75% of people lived in countries classified as water-insecure or critically water-insecure and 2 billion people lived on ground that is sinking as groundwater aquifers collapse.</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Conflicts over water had risen sharply since 2010, the report said, while major rivers, such as the Colorado, in the US, and the Murray-Darling system, in Australia, were failing to reach the sea, and “day zero” emergencies – when cities run out of water, such as in Chennai, India – were escalating. Half of the world’s large lakes had shrunk since the early 1990s, the report noted. Even damp nations, such as the UK, were at risk because of </a:t>
            </a:r>
            <a:r>
              <a:rPr lang="en-US" sz="2400" b="1" i="0" dirty="0">
                <a:solidFill>
                  <a:srgbClr val="0070C0"/>
                </a:solidFill>
                <a:effectLst/>
              </a:rPr>
              <a:t>reliance</a:t>
            </a:r>
            <a:r>
              <a:rPr lang="en-US" sz="2400" b="0" i="0" dirty="0">
                <a:solidFill>
                  <a:srgbClr val="121212"/>
                </a:solidFill>
                <a:effectLst/>
              </a:rPr>
              <a:t> on imports of water-dependent food and other products.</a:t>
            </a:r>
          </a:p>
        </p:txBody>
      </p:sp>
      <p:sp>
        <p:nvSpPr>
          <p:cNvPr id="3" name="CaixaDeTexto 2">
            <a:extLst>
              <a:ext uri="{FF2B5EF4-FFF2-40B4-BE49-F238E27FC236}">
                <a16:creationId xmlns:a16="http://schemas.microsoft.com/office/drawing/2014/main" id="{CC35492B-95F3-76EC-4D12-582445A3396C}"/>
              </a:ext>
            </a:extLst>
          </p:cNvPr>
          <p:cNvSpPr txBox="1"/>
          <p:nvPr/>
        </p:nvSpPr>
        <p:spPr>
          <a:xfrm>
            <a:off x="8153400" y="428178"/>
            <a:ext cx="716280" cy="369332"/>
          </a:xfrm>
          <a:prstGeom prst="rect">
            <a:avLst/>
          </a:prstGeom>
          <a:noFill/>
        </p:spPr>
        <p:txBody>
          <a:bodyPr wrap="square" rtlCol="0">
            <a:spAutoFit/>
          </a:bodyPr>
          <a:lstStyle/>
          <a:p>
            <a:r>
              <a:rPr lang="en-US" b="1" dirty="0" err="1">
                <a:solidFill>
                  <a:srgbClr val="FF0000"/>
                </a:solidFill>
              </a:rPr>
              <a:t>bacia</a:t>
            </a:r>
            <a:endParaRPr lang="en-US" b="1" dirty="0">
              <a:solidFill>
                <a:srgbClr val="FF0000"/>
              </a:solidFill>
            </a:endParaRPr>
          </a:p>
        </p:txBody>
      </p:sp>
      <p:sp>
        <p:nvSpPr>
          <p:cNvPr id="6" name="CaixaDeTexto 5">
            <a:extLst>
              <a:ext uri="{FF2B5EF4-FFF2-40B4-BE49-F238E27FC236}">
                <a16:creationId xmlns:a16="http://schemas.microsoft.com/office/drawing/2014/main" id="{DB604B33-6ADC-18B1-9793-D24DC49AC10B}"/>
              </a:ext>
            </a:extLst>
          </p:cNvPr>
          <p:cNvSpPr txBox="1"/>
          <p:nvPr/>
        </p:nvSpPr>
        <p:spPr>
          <a:xfrm>
            <a:off x="2292096" y="1911127"/>
            <a:ext cx="1941576" cy="369332"/>
          </a:xfrm>
          <a:prstGeom prst="rect">
            <a:avLst/>
          </a:prstGeom>
          <a:noFill/>
        </p:spPr>
        <p:txBody>
          <a:bodyPr wrap="square" rtlCol="0">
            <a:spAutoFit/>
          </a:bodyPr>
          <a:lstStyle/>
          <a:p>
            <a:r>
              <a:rPr lang="en-US" b="1" dirty="0" err="1">
                <a:solidFill>
                  <a:srgbClr val="FF0000"/>
                </a:solidFill>
              </a:rPr>
              <a:t>Limite</a:t>
            </a:r>
            <a:r>
              <a:rPr lang="en-US" b="1" dirty="0">
                <a:solidFill>
                  <a:srgbClr val="FF0000"/>
                </a:solidFill>
              </a:rPr>
              <a:t>, </a:t>
            </a:r>
            <a:r>
              <a:rPr lang="en-US" b="1" dirty="0" err="1">
                <a:solidFill>
                  <a:srgbClr val="FF0000"/>
                </a:solidFill>
              </a:rPr>
              <a:t>tolerância</a:t>
            </a:r>
            <a:endParaRPr lang="en-US" b="1" dirty="0">
              <a:solidFill>
                <a:srgbClr val="FF0000"/>
              </a:solidFill>
            </a:endParaRPr>
          </a:p>
        </p:txBody>
      </p:sp>
      <p:sp>
        <p:nvSpPr>
          <p:cNvPr id="8" name="CaixaDeTexto 7">
            <a:extLst>
              <a:ext uri="{FF2B5EF4-FFF2-40B4-BE49-F238E27FC236}">
                <a16:creationId xmlns:a16="http://schemas.microsoft.com/office/drawing/2014/main" id="{D456396C-40A2-8C5D-3D64-055B171D42C8}"/>
              </a:ext>
            </a:extLst>
          </p:cNvPr>
          <p:cNvSpPr txBox="1"/>
          <p:nvPr/>
        </p:nvSpPr>
        <p:spPr>
          <a:xfrm>
            <a:off x="8869680" y="5691157"/>
            <a:ext cx="1475232" cy="369332"/>
          </a:xfrm>
          <a:prstGeom prst="rect">
            <a:avLst/>
          </a:prstGeom>
          <a:noFill/>
        </p:spPr>
        <p:txBody>
          <a:bodyPr wrap="square" rtlCol="0">
            <a:spAutoFit/>
          </a:bodyPr>
          <a:lstStyle/>
          <a:p>
            <a:r>
              <a:rPr lang="en-US" b="1" dirty="0" err="1">
                <a:solidFill>
                  <a:srgbClr val="FF0000"/>
                </a:solidFill>
              </a:rPr>
              <a:t>Dependência</a:t>
            </a:r>
            <a:r>
              <a:rPr lang="en-US" b="1" dirty="0">
                <a:solidFill>
                  <a:srgbClr val="FF0000"/>
                </a:solidFill>
              </a:rPr>
              <a:t> </a:t>
            </a:r>
          </a:p>
        </p:txBody>
      </p:sp>
    </p:spTree>
    <p:extLst>
      <p:ext uri="{BB962C8B-B14F-4D97-AF65-F5344CB8AC3E}">
        <p14:creationId xmlns:p14="http://schemas.microsoft.com/office/powerpoint/2010/main" val="1296980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03EB9532-02BB-85BD-33DD-37849B6E8F79}"/>
              </a:ext>
            </a:extLst>
          </p:cNvPr>
          <p:cNvSpPr txBox="1"/>
          <p:nvPr/>
        </p:nvSpPr>
        <p:spPr>
          <a:xfrm>
            <a:off x="233082" y="1720840"/>
            <a:ext cx="11725835" cy="3416320"/>
          </a:xfrm>
          <a:prstGeom prst="rect">
            <a:avLst/>
          </a:prstGeom>
          <a:noFill/>
        </p:spPr>
        <p:txBody>
          <a:bodyPr wrap="square">
            <a:spAutoFit/>
          </a:bodyPr>
          <a:lstStyle/>
          <a:p>
            <a:pPr indent="0" algn="just" fontAlgn="base">
              <a:buNone/>
            </a:pPr>
            <a:r>
              <a:rPr lang="en-US" sz="2400" b="0" i="0" dirty="0">
                <a:solidFill>
                  <a:srgbClr val="121212"/>
                </a:solidFill>
                <a:effectLst/>
              </a:rPr>
              <a:t>“This report tells an uncomfortable truth: many critical water systems are already bankrupt,” said Madani, of the UN University’s Institute for </a:t>
            </a:r>
            <a:r>
              <a:rPr lang="en-US" sz="2400" dirty="0"/>
              <a:t>Water</a:t>
            </a:r>
            <a:r>
              <a:rPr lang="en-US" sz="2400" b="0" i="0" dirty="0">
                <a:solidFill>
                  <a:srgbClr val="121212"/>
                </a:solidFill>
                <a:effectLst/>
              </a:rPr>
              <a:t>, Environment and Health. “It’s extremely urgent [because] no one knows exactly when the whole system would collapse.”</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About 70% of fresh water taken by human </a:t>
            </a:r>
            <a:r>
              <a:rPr lang="en-US" sz="2400" b="1" i="0" dirty="0">
                <a:solidFill>
                  <a:srgbClr val="0070C0"/>
                </a:solidFill>
                <a:effectLst/>
              </a:rPr>
              <a:t>withdrawals</a:t>
            </a:r>
            <a:r>
              <a:rPr lang="en-US" sz="2400" b="0" i="0" dirty="0">
                <a:solidFill>
                  <a:srgbClr val="121212"/>
                </a:solidFill>
                <a:effectLst/>
              </a:rPr>
              <a:t> was used for agriculture, but Madani said: “Millions of farmers are trying to grow more food from shrinking, polluted or disappearing water sources. Water bankruptcy in India or Pakistan, for example, also means an impact on rice exports to a lot of places around the world.” More than half of global food was grown in areas where water storage was declining or unstable, the report said.</a:t>
            </a:r>
          </a:p>
        </p:txBody>
      </p:sp>
      <p:sp>
        <p:nvSpPr>
          <p:cNvPr id="3" name="CaixaDeTexto 2">
            <a:extLst>
              <a:ext uri="{FF2B5EF4-FFF2-40B4-BE49-F238E27FC236}">
                <a16:creationId xmlns:a16="http://schemas.microsoft.com/office/drawing/2014/main" id="{55AEC60F-F561-26DF-5353-65B40BE0921F}"/>
              </a:ext>
            </a:extLst>
          </p:cNvPr>
          <p:cNvSpPr txBox="1"/>
          <p:nvPr/>
        </p:nvSpPr>
        <p:spPr>
          <a:xfrm>
            <a:off x="5940552" y="2880391"/>
            <a:ext cx="1063752" cy="369332"/>
          </a:xfrm>
          <a:prstGeom prst="rect">
            <a:avLst/>
          </a:prstGeom>
          <a:noFill/>
        </p:spPr>
        <p:txBody>
          <a:bodyPr wrap="square" rtlCol="0">
            <a:spAutoFit/>
          </a:bodyPr>
          <a:lstStyle/>
          <a:p>
            <a:r>
              <a:rPr lang="en-US" b="1" dirty="0" err="1">
                <a:solidFill>
                  <a:srgbClr val="FF0000"/>
                </a:solidFill>
              </a:rPr>
              <a:t>retiradas</a:t>
            </a:r>
            <a:endParaRPr lang="en-US" b="1" dirty="0">
              <a:solidFill>
                <a:srgbClr val="FF0000"/>
              </a:solidFill>
            </a:endParaRPr>
          </a:p>
        </p:txBody>
      </p:sp>
    </p:spTree>
    <p:extLst>
      <p:ext uri="{BB962C8B-B14F-4D97-AF65-F5344CB8AC3E}">
        <p14:creationId xmlns:p14="http://schemas.microsoft.com/office/powerpoint/2010/main" val="62730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3842CE85-B1D2-D480-CCE8-6373637110DE}"/>
              </a:ext>
            </a:extLst>
          </p:cNvPr>
          <p:cNvPicPr>
            <a:picLocks noChangeAspect="1"/>
          </p:cNvPicPr>
          <p:nvPr/>
        </p:nvPicPr>
        <p:blipFill>
          <a:blip r:embed="rId2"/>
          <a:stretch>
            <a:fillRect/>
          </a:stretch>
        </p:blipFill>
        <p:spPr>
          <a:xfrm>
            <a:off x="1534757" y="419595"/>
            <a:ext cx="9122485" cy="6018810"/>
          </a:xfrm>
          <a:prstGeom prst="rect">
            <a:avLst/>
          </a:prstGeom>
        </p:spPr>
      </p:pic>
    </p:spTree>
    <p:extLst>
      <p:ext uri="{BB962C8B-B14F-4D97-AF65-F5344CB8AC3E}">
        <p14:creationId xmlns:p14="http://schemas.microsoft.com/office/powerpoint/2010/main" val="478308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0647597D-1959-414C-ABF5-5806E246EE60}"/>
              </a:ext>
            </a:extLst>
          </p:cNvPr>
          <p:cNvSpPr txBox="1"/>
          <p:nvPr/>
        </p:nvSpPr>
        <p:spPr>
          <a:xfrm>
            <a:off x="265355" y="1720840"/>
            <a:ext cx="11661289" cy="3416320"/>
          </a:xfrm>
          <a:prstGeom prst="rect">
            <a:avLst/>
          </a:prstGeom>
          <a:noFill/>
        </p:spPr>
        <p:txBody>
          <a:bodyPr wrap="square">
            <a:spAutoFit/>
          </a:bodyPr>
          <a:lstStyle/>
          <a:p>
            <a:pPr indent="0" algn="just" fontAlgn="base">
              <a:buNone/>
            </a:pPr>
            <a:r>
              <a:rPr lang="en-US" sz="2400" b="0" i="0" dirty="0">
                <a:solidFill>
                  <a:srgbClr val="121212"/>
                </a:solidFill>
                <a:effectLst/>
              </a:rPr>
              <a:t>Madani said action to deal with water bankruptcy offered a chance to bring countries together in an </a:t>
            </a:r>
            <a:r>
              <a:rPr lang="en-US" sz="2400" b="1" i="0" dirty="0">
                <a:solidFill>
                  <a:srgbClr val="0070C0"/>
                </a:solidFill>
                <a:effectLst/>
              </a:rPr>
              <a:t>increasingly</a:t>
            </a:r>
            <a:r>
              <a:rPr lang="en-US" sz="2400" b="0" i="0" dirty="0">
                <a:solidFill>
                  <a:srgbClr val="121212"/>
                </a:solidFill>
                <a:effectLst/>
              </a:rPr>
              <a:t> fragmented world. “Water is a strategic, </a:t>
            </a:r>
            <a:r>
              <a:rPr lang="en-US" sz="2400" b="1" i="0" dirty="0">
                <a:solidFill>
                  <a:srgbClr val="0070C0"/>
                </a:solidFill>
                <a:effectLst/>
              </a:rPr>
              <a:t>untapped</a:t>
            </a:r>
            <a:r>
              <a:rPr lang="en-US" sz="2400" b="0" i="0" dirty="0">
                <a:solidFill>
                  <a:srgbClr val="121212"/>
                </a:solidFill>
                <a:effectLst/>
              </a:rPr>
              <a:t> opportunity to the world to create unity within and between nations. It is one of the very rare topics that left and right and north and south all agree on its importance.”</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a:t>
            </a:r>
            <a:r>
              <a:rPr lang="en-US" sz="2400" dirty="0"/>
              <a:t>UN report</a:t>
            </a:r>
            <a:r>
              <a:rPr lang="en-US" sz="2400" b="0" i="0" dirty="0">
                <a:solidFill>
                  <a:srgbClr val="121212"/>
                </a:solidFill>
                <a:effectLst/>
              </a:rPr>
              <a:t>, which is based on a </a:t>
            </a:r>
            <a:r>
              <a:rPr lang="en-US" sz="2400" b="1" i="0" dirty="0">
                <a:solidFill>
                  <a:srgbClr val="0070C0"/>
                </a:solidFill>
                <a:effectLst/>
              </a:rPr>
              <a:t>forthcoming</a:t>
            </a:r>
            <a:r>
              <a:rPr lang="en-US" sz="2400" b="0" i="0" dirty="0">
                <a:solidFill>
                  <a:srgbClr val="121212"/>
                </a:solidFill>
                <a:effectLst/>
              </a:rPr>
              <a:t> paper in the peer-reviewed journal Water Resources Management, sets out how population growth, </a:t>
            </a:r>
            <a:r>
              <a:rPr lang="en-US" sz="2400" b="0" i="0" dirty="0" err="1">
                <a:solidFill>
                  <a:srgbClr val="121212"/>
                </a:solidFill>
                <a:effectLst/>
              </a:rPr>
              <a:t>urbanisation</a:t>
            </a:r>
            <a:r>
              <a:rPr lang="en-US" sz="2400" b="0" i="0" dirty="0">
                <a:solidFill>
                  <a:srgbClr val="121212"/>
                </a:solidFill>
                <a:effectLst/>
              </a:rPr>
              <a:t> and economic growth have increased water demand for agriculture, industry, energy and cities. “These pressures have produced a global pattern that is now unmistakable,” it said.</a:t>
            </a:r>
          </a:p>
        </p:txBody>
      </p:sp>
      <p:sp>
        <p:nvSpPr>
          <p:cNvPr id="3" name="CaixaDeTexto 2">
            <a:extLst>
              <a:ext uri="{FF2B5EF4-FFF2-40B4-BE49-F238E27FC236}">
                <a16:creationId xmlns:a16="http://schemas.microsoft.com/office/drawing/2014/main" id="{2C166B4D-C55C-DBFD-384C-DAA7EC958839}"/>
              </a:ext>
            </a:extLst>
          </p:cNvPr>
          <p:cNvSpPr txBox="1"/>
          <p:nvPr/>
        </p:nvSpPr>
        <p:spPr>
          <a:xfrm>
            <a:off x="2173224" y="1351508"/>
            <a:ext cx="1630680" cy="369332"/>
          </a:xfrm>
          <a:prstGeom prst="rect">
            <a:avLst/>
          </a:prstGeom>
          <a:noFill/>
        </p:spPr>
        <p:txBody>
          <a:bodyPr wrap="square" rtlCol="0">
            <a:spAutoFit/>
          </a:bodyPr>
          <a:lstStyle/>
          <a:p>
            <a:r>
              <a:rPr lang="en-US" b="1" dirty="0">
                <a:solidFill>
                  <a:srgbClr val="FF0000"/>
                </a:solidFill>
              </a:rPr>
              <a:t>Cada </a:t>
            </a:r>
            <a:r>
              <a:rPr lang="en-US" b="1" dirty="0" err="1">
                <a:solidFill>
                  <a:srgbClr val="FF0000"/>
                </a:solidFill>
              </a:rPr>
              <a:t>vez</a:t>
            </a:r>
            <a:r>
              <a:rPr lang="en-US" b="1" dirty="0">
                <a:solidFill>
                  <a:srgbClr val="FF0000"/>
                </a:solidFill>
              </a:rPr>
              <a:t> </a:t>
            </a:r>
            <a:r>
              <a:rPr lang="en-US" b="1" dirty="0" err="1">
                <a:solidFill>
                  <a:srgbClr val="FF0000"/>
                </a:solidFill>
              </a:rPr>
              <a:t>mais</a:t>
            </a:r>
            <a:endParaRPr lang="en-US" b="1" dirty="0">
              <a:solidFill>
                <a:srgbClr val="FF0000"/>
              </a:solidFill>
            </a:endParaRPr>
          </a:p>
        </p:txBody>
      </p:sp>
      <p:sp>
        <p:nvSpPr>
          <p:cNvPr id="6" name="CaixaDeTexto 5">
            <a:extLst>
              <a:ext uri="{FF2B5EF4-FFF2-40B4-BE49-F238E27FC236}">
                <a16:creationId xmlns:a16="http://schemas.microsoft.com/office/drawing/2014/main" id="{9B95B175-AF43-CA80-F89E-34B40981C271}"/>
              </a:ext>
            </a:extLst>
          </p:cNvPr>
          <p:cNvSpPr txBox="1"/>
          <p:nvPr/>
        </p:nvSpPr>
        <p:spPr>
          <a:xfrm>
            <a:off x="8628888" y="1358848"/>
            <a:ext cx="1389888" cy="369332"/>
          </a:xfrm>
          <a:prstGeom prst="rect">
            <a:avLst/>
          </a:prstGeom>
          <a:noFill/>
        </p:spPr>
        <p:txBody>
          <a:bodyPr wrap="square" rtlCol="0">
            <a:spAutoFit/>
          </a:bodyPr>
          <a:lstStyle/>
          <a:p>
            <a:r>
              <a:rPr lang="en-US" b="1" dirty="0" err="1">
                <a:solidFill>
                  <a:srgbClr val="FF0000"/>
                </a:solidFill>
              </a:rPr>
              <a:t>inexplorado</a:t>
            </a:r>
            <a:endParaRPr lang="en-US" b="1" dirty="0">
              <a:solidFill>
                <a:srgbClr val="FF0000"/>
              </a:solidFill>
            </a:endParaRPr>
          </a:p>
        </p:txBody>
      </p:sp>
      <p:sp>
        <p:nvSpPr>
          <p:cNvPr id="8" name="CaixaDeTexto 7">
            <a:extLst>
              <a:ext uri="{FF2B5EF4-FFF2-40B4-BE49-F238E27FC236}">
                <a16:creationId xmlns:a16="http://schemas.microsoft.com/office/drawing/2014/main" id="{3303429F-E49C-B5F5-CBAB-20B0B66F89DE}"/>
              </a:ext>
            </a:extLst>
          </p:cNvPr>
          <p:cNvSpPr txBox="1"/>
          <p:nvPr/>
        </p:nvSpPr>
        <p:spPr>
          <a:xfrm>
            <a:off x="3803904" y="3244334"/>
            <a:ext cx="3828289" cy="369332"/>
          </a:xfrm>
          <a:prstGeom prst="rect">
            <a:avLst/>
          </a:prstGeom>
          <a:noFill/>
        </p:spPr>
        <p:txBody>
          <a:bodyPr wrap="square" rtlCol="0">
            <a:spAutoFit/>
          </a:bodyPr>
          <a:lstStyle/>
          <a:p>
            <a:r>
              <a:rPr lang="en-US" b="1" dirty="0" err="1">
                <a:solidFill>
                  <a:srgbClr val="FF0000"/>
                </a:solidFill>
              </a:rPr>
              <a:t>Comunicativo</a:t>
            </a:r>
            <a:r>
              <a:rPr lang="en-US" b="1" dirty="0">
                <a:solidFill>
                  <a:srgbClr val="FF0000"/>
                </a:solidFill>
              </a:rPr>
              <a:t>, </a:t>
            </a:r>
            <a:r>
              <a:rPr lang="en-US" b="1" dirty="0" err="1">
                <a:solidFill>
                  <a:srgbClr val="FF0000"/>
                </a:solidFill>
              </a:rPr>
              <a:t>disponível</a:t>
            </a:r>
            <a:r>
              <a:rPr lang="en-US" b="1" dirty="0">
                <a:solidFill>
                  <a:srgbClr val="FF0000"/>
                </a:solidFill>
              </a:rPr>
              <a:t>, </a:t>
            </a:r>
            <a:r>
              <a:rPr lang="en-US" b="1" dirty="0" err="1">
                <a:solidFill>
                  <a:srgbClr val="FF0000"/>
                </a:solidFill>
              </a:rPr>
              <a:t>acessível</a:t>
            </a:r>
            <a:endParaRPr lang="en-US" b="1" dirty="0">
              <a:solidFill>
                <a:srgbClr val="FF0000"/>
              </a:solidFill>
            </a:endParaRPr>
          </a:p>
        </p:txBody>
      </p:sp>
    </p:spTree>
    <p:extLst>
      <p:ext uri="{BB962C8B-B14F-4D97-AF65-F5344CB8AC3E}">
        <p14:creationId xmlns:p14="http://schemas.microsoft.com/office/powerpoint/2010/main" val="208696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32670B7B-FB4A-A042-4516-4A29AA34379F}"/>
              </a:ext>
            </a:extLst>
          </p:cNvPr>
          <p:cNvPicPr>
            <a:picLocks noChangeAspect="1"/>
          </p:cNvPicPr>
          <p:nvPr/>
        </p:nvPicPr>
        <p:blipFill>
          <a:blip r:embed="rId2"/>
          <a:stretch>
            <a:fillRect/>
          </a:stretch>
        </p:blipFill>
        <p:spPr>
          <a:xfrm>
            <a:off x="400776" y="68580"/>
            <a:ext cx="5392302" cy="6720840"/>
          </a:xfrm>
          <a:prstGeom prst="rect">
            <a:avLst/>
          </a:prstGeom>
        </p:spPr>
      </p:pic>
      <p:pic>
        <p:nvPicPr>
          <p:cNvPr id="7" name="Imagem 6">
            <a:extLst>
              <a:ext uri="{FF2B5EF4-FFF2-40B4-BE49-F238E27FC236}">
                <a16:creationId xmlns:a16="http://schemas.microsoft.com/office/drawing/2014/main" id="{98D7B689-7C99-5EB1-2DE1-9FE5D0075978}"/>
              </a:ext>
            </a:extLst>
          </p:cNvPr>
          <p:cNvPicPr>
            <a:picLocks noChangeAspect="1"/>
          </p:cNvPicPr>
          <p:nvPr/>
        </p:nvPicPr>
        <p:blipFill>
          <a:blip r:embed="rId3"/>
          <a:stretch>
            <a:fillRect/>
          </a:stretch>
        </p:blipFill>
        <p:spPr>
          <a:xfrm>
            <a:off x="6391947" y="68580"/>
            <a:ext cx="5399277" cy="6720840"/>
          </a:xfrm>
          <a:prstGeom prst="rect">
            <a:avLst/>
          </a:prstGeom>
        </p:spPr>
      </p:pic>
    </p:spTree>
    <p:extLst>
      <p:ext uri="{BB962C8B-B14F-4D97-AF65-F5344CB8AC3E}">
        <p14:creationId xmlns:p14="http://schemas.microsoft.com/office/powerpoint/2010/main" val="568712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C3B82070-FC6A-82BF-2522-4073229CE8EB}"/>
              </a:ext>
            </a:extLst>
          </p:cNvPr>
          <p:cNvSpPr txBox="1"/>
          <p:nvPr/>
        </p:nvSpPr>
        <p:spPr>
          <a:xfrm>
            <a:off x="276113" y="1166842"/>
            <a:ext cx="11639774" cy="4524315"/>
          </a:xfrm>
          <a:prstGeom prst="rect">
            <a:avLst/>
          </a:prstGeom>
          <a:noFill/>
        </p:spPr>
        <p:txBody>
          <a:bodyPr wrap="square">
            <a:spAutoFit/>
          </a:bodyPr>
          <a:lstStyle/>
          <a:p>
            <a:pPr indent="0" algn="just" fontAlgn="base">
              <a:buNone/>
            </a:pPr>
            <a:r>
              <a:rPr lang="en-US" sz="2400" b="0" i="0" dirty="0">
                <a:solidFill>
                  <a:srgbClr val="121212"/>
                </a:solidFill>
                <a:effectLst/>
              </a:rPr>
              <a:t>In some of the world’s most densely populated river basins, including the Indus, Yellow, and Tigris-Euphrates, the rivers were periodically drying up before reaching the ocean. “In many basins, the ‘normal’ to which crisis managers once hoped to return has effectively vanished,” the report said. Lakes were also shrinking, from Lake Urmia, in Iran, to the Salton Sea, in the US, and Lake Chad. Wildlife suffered as well as people, as humans “steal” water from nature, Madani said.</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over-exploitation of groundwater was causing cities to </a:t>
            </a:r>
            <a:r>
              <a:rPr lang="en-US" sz="2400" b="1" i="0" dirty="0">
                <a:solidFill>
                  <a:srgbClr val="0070C0"/>
                </a:solidFill>
                <a:effectLst/>
              </a:rPr>
              <a:t>subside</a:t>
            </a:r>
            <a:r>
              <a:rPr lang="en-US" sz="2400" b="0" i="0" dirty="0">
                <a:solidFill>
                  <a:srgbClr val="121212"/>
                </a:solidFill>
                <a:effectLst/>
              </a:rPr>
              <a:t> around the world, with </a:t>
            </a:r>
            <a:r>
              <a:rPr lang="en-US" sz="2400" b="0" i="0" dirty="0" err="1">
                <a:solidFill>
                  <a:srgbClr val="121212"/>
                </a:solidFill>
                <a:effectLst/>
              </a:rPr>
              <a:t>Rafsanjan</a:t>
            </a:r>
            <a:r>
              <a:rPr lang="en-US" sz="2400" b="0" i="0" dirty="0">
                <a:solidFill>
                  <a:srgbClr val="121212"/>
                </a:solidFill>
                <a:effectLst/>
              </a:rPr>
              <a:t>, in Iran, sinking by 30cm a year; Tulare, in the US, by about 28cm a year, and Mexico City by about 21cm a year. Jakarta, Manila, Lagos and Kabul were other major cities affected. Among the most visible signs of this water bankruptcy, the report said, were the 700 </a:t>
            </a:r>
            <a:r>
              <a:rPr lang="en-US" sz="2400" b="1" i="0" dirty="0">
                <a:solidFill>
                  <a:srgbClr val="0070C0"/>
                </a:solidFill>
                <a:effectLst/>
              </a:rPr>
              <a:t>sinkholes</a:t>
            </a:r>
            <a:r>
              <a:rPr lang="en-US" sz="2400" b="0" i="0" dirty="0">
                <a:solidFill>
                  <a:srgbClr val="121212"/>
                </a:solidFill>
                <a:effectLst/>
              </a:rPr>
              <a:t> </a:t>
            </a:r>
            <a:r>
              <a:rPr lang="en-US" sz="2400" b="1" i="0" dirty="0">
                <a:solidFill>
                  <a:srgbClr val="0070C0"/>
                </a:solidFill>
                <a:effectLst/>
              </a:rPr>
              <a:t>peppering</a:t>
            </a:r>
            <a:r>
              <a:rPr lang="en-US" sz="2400" b="0" i="0" dirty="0">
                <a:solidFill>
                  <a:srgbClr val="121212"/>
                </a:solidFill>
                <a:effectLst/>
              </a:rPr>
              <a:t> the heavily farmed Konya plain in Turkey.</a:t>
            </a:r>
          </a:p>
        </p:txBody>
      </p:sp>
      <p:sp>
        <p:nvSpPr>
          <p:cNvPr id="3" name="CaixaDeTexto 2">
            <a:extLst>
              <a:ext uri="{FF2B5EF4-FFF2-40B4-BE49-F238E27FC236}">
                <a16:creationId xmlns:a16="http://schemas.microsoft.com/office/drawing/2014/main" id="{418DB00F-5291-4A12-9438-7E5A8F66A3BF}"/>
              </a:ext>
            </a:extLst>
          </p:cNvPr>
          <p:cNvSpPr txBox="1"/>
          <p:nvPr/>
        </p:nvSpPr>
        <p:spPr>
          <a:xfrm>
            <a:off x="7440168" y="3428999"/>
            <a:ext cx="1850136" cy="369332"/>
          </a:xfrm>
          <a:prstGeom prst="rect">
            <a:avLst/>
          </a:prstGeom>
          <a:noFill/>
        </p:spPr>
        <p:txBody>
          <a:bodyPr wrap="square" rtlCol="0">
            <a:spAutoFit/>
          </a:bodyPr>
          <a:lstStyle/>
          <a:p>
            <a:r>
              <a:rPr lang="en-US" b="1" dirty="0" err="1">
                <a:solidFill>
                  <a:srgbClr val="FF0000"/>
                </a:solidFill>
              </a:rPr>
              <a:t>Afundar</a:t>
            </a:r>
            <a:r>
              <a:rPr lang="en-US" b="1" dirty="0">
                <a:solidFill>
                  <a:srgbClr val="FF0000"/>
                </a:solidFill>
              </a:rPr>
              <a:t>, </a:t>
            </a:r>
            <a:r>
              <a:rPr lang="en-US" b="1" dirty="0" err="1">
                <a:solidFill>
                  <a:srgbClr val="FF0000"/>
                </a:solidFill>
              </a:rPr>
              <a:t>abaixar</a:t>
            </a:r>
            <a:endParaRPr lang="en-US" b="1" dirty="0">
              <a:solidFill>
                <a:srgbClr val="FF0000"/>
              </a:solidFill>
            </a:endParaRPr>
          </a:p>
        </p:txBody>
      </p:sp>
      <p:sp>
        <p:nvSpPr>
          <p:cNvPr id="6" name="CaixaDeTexto 5">
            <a:extLst>
              <a:ext uri="{FF2B5EF4-FFF2-40B4-BE49-F238E27FC236}">
                <a16:creationId xmlns:a16="http://schemas.microsoft.com/office/drawing/2014/main" id="{3D43D715-0A5F-CA13-4A66-DC53058EB17E}"/>
              </a:ext>
            </a:extLst>
          </p:cNvPr>
          <p:cNvSpPr txBox="1"/>
          <p:nvPr/>
        </p:nvSpPr>
        <p:spPr>
          <a:xfrm>
            <a:off x="356617" y="5691157"/>
            <a:ext cx="1316736" cy="923330"/>
          </a:xfrm>
          <a:prstGeom prst="rect">
            <a:avLst/>
          </a:prstGeom>
          <a:noFill/>
        </p:spPr>
        <p:txBody>
          <a:bodyPr wrap="square" rtlCol="0">
            <a:spAutoFit/>
          </a:bodyPr>
          <a:lstStyle/>
          <a:p>
            <a:r>
              <a:rPr lang="en-US" b="1" dirty="0" err="1">
                <a:solidFill>
                  <a:srgbClr val="FF0000"/>
                </a:solidFill>
              </a:rPr>
              <a:t>Buracões</a:t>
            </a:r>
            <a:r>
              <a:rPr lang="en-US" b="1" dirty="0">
                <a:solidFill>
                  <a:srgbClr val="FF0000"/>
                </a:solidFill>
              </a:rPr>
              <a:t>, </a:t>
            </a:r>
            <a:r>
              <a:rPr lang="en-US" b="1" dirty="0" err="1">
                <a:solidFill>
                  <a:srgbClr val="FF0000"/>
                </a:solidFill>
              </a:rPr>
              <a:t>poços</a:t>
            </a:r>
            <a:r>
              <a:rPr lang="en-US" b="1" dirty="0">
                <a:solidFill>
                  <a:srgbClr val="FF0000"/>
                </a:solidFill>
              </a:rPr>
              <a:t>, </a:t>
            </a:r>
            <a:r>
              <a:rPr lang="en-US" b="1" dirty="0" err="1">
                <a:solidFill>
                  <a:srgbClr val="FF0000"/>
                </a:solidFill>
              </a:rPr>
              <a:t>sumidouros</a:t>
            </a:r>
            <a:endParaRPr lang="en-US" b="1" dirty="0">
              <a:solidFill>
                <a:srgbClr val="FF0000"/>
              </a:solidFill>
            </a:endParaRPr>
          </a:p>
        </p:txBody>
      </p:sp>
      <p:sp>
        <p:nvSpPr>
          <p:cNvPr id="10" name="CaixaDeTexto 9">
            <a:extLst>
              <a:ext uri="{FF2B5EF4-FFF2-40B4-BE49-F238E27FC236}">
                <a16:creationId xmlns:a16="http://schemas.microsoft.com/office/drawing/2014/main" id="{66A7F8BD-ECE4-9BF5-61D6-41E917BD4881}"/>
              </a:ext>
            </a:extLst>
          </p:cNvPr>
          <p:cNvSpPr txBox="1"/>
          <p:nvPr/>
        </p:nvSpPr>
        <p:spPr>
          <a:xfrm>
            <a:off x="2621280" y="5691157"/>
            <a:ext cx="3093720" cy="369332"/>
          </a:xfrm>
          <a:prstGeom prst="rect">
            <a:avLst/>
          </a:prstGeom>
          <a:noFill/>
        </p:spPr>
        <p:txBody>
          <a:bodyPr wrap="square" rtlCol="0">
            <a:spAutoFit/>
          </a:bodyPr>
          <a:lstStyle/>
          <a:p>
            <a:r>
              <a:rPr lang="en-US" b="1" dirty="0" err="1">
                <a:solidFill>
                  <a:srgbClr val="FF0000"/>
                </a:solidFill>
              </a:rPr>
              <a:t>Salpicando</a:t>
            </a:r>
            <a:r>
              <a:rPr lang="en-US" b="1" dirty="0">
                <a:solidFill>
                  <a:srgbClr val="FF0000"/>
                </a:solidFill>
              </a:rPr>
              <a:t>, </a:t>
            </a:r>
            <a:r>
              <a:rPr lang="en-US" b="1" dirty="0" err="1">
                <a:solidFill>
                  <a:srgbClr val="FF0000"/>
                </a:solidFill>
              </a:rPr>
              <a:t>espalhando</a:t>
            </a:r>
            <a:r>
              <a:rPr lang="en-US" b="1" dirty="0">
                <a:solidFill>
                  <a:srgbClr val="FF0000"/>
                </a:solidFill>
              </a:rPr>
              <a:t>-se</a:t>
            </a:r>
          </a:p>
        </p:txBody>
      </p:sp>
    </p:spTree>
    <p:extLst>
      <p:ext uri="{BB962C8B-B14F-4D97-AF65-F5344CB8AC3E}">
        <p14:creationId xmlns:p14="http://schemas.microsoft.com/office/powerpoint/2010/main" val="4232325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527AEBEA-7E87-057E-47BD-F0145785397D}"/>
              </a:ext>
            </a:extLst>
          </p:cNvPr>
          <p:cNvPicPr>
            <a:picLocks noChangeAspect="1"/>
          </p:cNvPicPr>
          <p:nvPr/>
        </p:nvPicPr>
        <p:blipFill>
          <a:blip r:embed="rId2"/>
          <a:stretch>
            <a:fillRect/>
          </a:stretch>
        </p:blipFill>
        <p:spPr>
          <a:xfrm>
            <a:off x="614379" y="927846"/>
            <a:ext cx="10963242" cy="5002307"/>
          </a:xfrm>
          <a:prstGeom prst="rect">
            <a:avLst/>
          </a:prstGeom>
        </p:spPr>
      </p:pic>
      <p:sp>
        <p:nvSpPr>
          <p:cNvPr id="2" name="CaixaDeTexto 1">
            <a:extLst>
              <a:ext uri="{FF2B5EF4-FFF2-40B4-BE49-F238E27FC236}">
                <a16:creationId xmlns:a16="http://schemas.microsoft.com/office/drawing/2014/main" id="{CD05B822-2656-72CF-9C07-DDD7EAD3D398}"/>
              </a:ext>
            </a:extLst>
          </p:cNvPr>
          <p:cNvSpPr txBox="1"/>
          <p:nvPr/>
        </p:nvSpPr>
        <p:spPr>
          <a:xfrm>
            <a:off x="786384" y="558514"/>
            <a:ext cx="1527048" cy="369332"/>
          </a:xfrm>
          <a:prstGeom prst="rect">
            <a:avLst/>
          </a:prstGeom>
          <a:noFill/>
        </p:spPr>
        <p:txBody>
          <a:bodyPr wrap="square" rtlCol="0">
            <a:spAutoFit/>
          </a:bodyPr>
          <a:lstStyle/>
          <a:p>
            <a:r>
              <a:rPr lang="en-US" b="1" dirty="0" err="1">
                <a:solidFill>
                  <a:srgbClr val="FF0000"/>
                </a:solidFill>
              </a:rPr>
              <a:t>esgotamento</a:t>
            </a:r>
            <a:endParaRPr lang="en-US" b="1" dirty="0">
              <a:solidFill>
                <a:srgbClr val="FF0000"/>
              </a:solidFill>
            </a:endParaRPr>
          </a:p>
        </p:txBody>
      </p:sp>
      <p:sp>
        <p:nvSpPr>
          <p:cNvPr id="4" name="CaixaDeTexto 3">
            <a:extLst>
              <a:ext uri="{FF2B5EF4-FFF2-40B4-BE49-F238E27FC236}">
                <a16:creationId xmlns:a16="http://schemas.microsoft.com/office/drawing/2014/main" id="{1DFB0A33-5618-32FF-E685-C2CEBB6D66A6}"/>
              </a:ext>
            </a:extLst>
          </p:cNvPr>
          <p:cNvSpPr txBox="1"/>
          <p:nvPr/>
        </p:nvSpPr>
        <p:spPr>
          <a:xfrm>
            <a:off x="7498080" y="304598"/>
            <a:ext cx="4562856" cy="646331"/>
          </a:xfrm>
          <a:prstGeom prst="rect">
            <a:avLst/>
          </a:prstGeom>
          <a:noFill/>
        </p:spPr>
        <p:txBody>
          <a:bodyPr wrap="square">
            <a:spAutoFit/>
          </a:bodyPr>
          <a:lstStyle/>
          <a:p>
            <a:r>
              <a:rPr lang="en-US" b="1" i="0" dirty="0">
                <a:solidFill>
                  <a:srgbClr val="FF0000"/>
                </a:solidFill>
                <a:effectLst/>
              </a:rPr>
              <a:t>the </a:t>
            </a:r>
            <a:r>
              <a:rPr lang="en-US" b="1" dirty="0">
                <a:solidFill>
                  <a:srgbClr val="FF0000"/>
                </a:solidFill>
              </a:rPr>
              <a:t>process</a:t>
            </a:r>
            <a:r>
              <a:rPr lang="en-US" b="1" i="0" dirty="0">
                <a:solidFill>
                  <a:srgbClr val="FF0000"/>
                </a:solidFill>
                <a:effectLst/>
              </a:rPr>
              <a:t> by which </a:t>
            </a:r>
            <a:r>
              <a:rPr lang="en-US" b="1" dirty="0">
                <a:solidFill>
                  <a:srgbClr val="FF0000"/>
                </a:solidFill>
              </a:rPr>
              <a:t>land</a:t>
            </a:r>
            <a:r>
              <a:rPr lang="en-US" b="1" i="0" dirty="0">
                <a:solidFill>
                  <a:srgbClr val="FF0000"/>
                </a:solidFill>
                <a:effectLst/>
              </a:rPr>
              <a:t> or </a:t>
            </a:r>
            <a:r>
              <a:rPr lang="en-US" b="1" dirty="0">
                <a:solidFill>
                  <a:srgbClr val="FF0000"/>
                </a:solidFill>
              </a:rPr>
              <a:t>buildings</a:t>
            </a:r>
            <a:r>
              <a:rPr lang="en-US" b="1" i="0" dirty="0">
                <a:solidFill>
                  <a:srgbClr val="FF0000"/>
                </a:solidFill>
                <a:effectLst/>
              </a:rPr>
              <a:t> </a:t>
            </a:r>
            <a:r>
              <a:rPr lang="en-US" b="1" dirty="0">
                <a:solidFill>
                  <a:srgbClr val="FF0000"/>
                </a:solidFill>
              </a:rPr>
              <a:t>sink</a:t>
            </a:r>
            <a:r>
              <a:rPr lang="en-US" b="1" i="0" dirty="0">
                <a:solidFill>
                  <a:srgbClr val="FF0000"/>
                </a:solidFill>
                <a:effectLst/>
              </a:rPr>
              <a:t> to a </a:t>
            </a:r>
            <a:r>
              <a:rPr lang="en-US" b="1" dirty="0">
                <a:solidFill>
                  <a:srgbClr val="FF0000"/>
                </a:solidFill>
              </a:rPr>
              <a:t>lower</a:t>
            </a:r>
            <a:r>
              <a:rPr lang="en-US" b="1" i="0" dirty="0">
                <a:solidFill>
                  <a:srgbClr val="FF0000"/>
                </a:solidFill>
                <a:effectLst/>
              </a:rPr>
              <a:t> </a:t>
            </a:r>
            <a:r>
              <a:rPr lang="en-US" b="1" dirty="0">
                <a:solidFill>
                  <a:srgbClr val="FF0000"/>
                </a:solidFill>
              </a:rPr>
              <a:t>level (</a:t>
            </a:r>
            <a:r>
              <a:rPr lang="en-US" b="1" dirty="0" err="1">
                <a:solidFill>
                  <a:srgbClr val="FF0000"/>
                </a:solidFill>
              </a:rPr>
              <a:t>subsidência</a:t>
            </a:r>
            <a:r>
              <a:rPr lang="en-US" b="1" dirty="0">
                <a:solidFill>
                  <a:srgbClr val="FF0000"/>
                </a:solidFill>
              </a:rPr>
              <a:t>)</a:t>
            </a:r>
          </a:p>
        </p:txBody>
      </p:sp>
    </p:spTree>
    <p:extLst>
      <p:ext uri="{BB962C8B-B14F-4D97-AF65-F5344CB8AC3E}">
        <p14:creationId xmlns:p14="http://schemas.microsoft.com/office/powerpoint/2010/main" val="823970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C0827FE8-FF78-04A4-0B09-22639BEC30B9}"/>
              </a:ext>
            </a:extLst>
          </p:cNvPr>
          <p:cNvSpPr txBox="1"/>
          <p:nvPr/>
        </p:nvSpPr>
        <p:spPr>
          <a:xfrm>
            <a:off x="313764" y="982176"/>
            <a:ext cx="11564471" cy="4893647"/>
          </a:xfrm>
          <a:prstGeom prst="rect">
            <a:avLst/>
          </a:prstGeom>
          <a:noFill/>
        </p:spPr>
        <p:txBody>
          <a:bodyPr wrap="square">
            <a:spAutoFit/>
          </a:bodyPr>
          <a:lstStyle/>
          <a:p>
            <a:pPr indent="0" algn="just" fontAlgn="base">
              <a:buNone/>
            </a:pPr>
            <a:r>
              <a:rPr lang="en-US" sz="2400" b="0" i="0" dirty="0">
                <a:solidFill>
                  <a:srgbClr val="121212"/>
                </a:solidFill>
                <a:effectLst/>
              </a:rPr>
              <a:t>Cities, such as Tehran, Cape Town, São Paulo and Chennai, had all faced day zero water crises, the report noted, while the number of water-related conflicts around the world had risen from 20 in 2010 to more than 400 in 2024.</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Humanity was also slashing the amount of water available by destroying natural stores, such as wetlands, and polluting waterways. Wetlands equal in size to the entire European Union had been erased in the past five decades, the report said.</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report calls for a fundamental reset of how water is protected and used around the world. This would include cutting the rights and claims to withdraw water to match today’s degraded supply, and transforming water-intensive sectors, such as agriculture and industry, via changes in crops, more efficient irrigation and less wasteful urban systems. The report </a:t>
            </a:r>
            <a:r>
              <a:rPr lang="en-US" sz="2400" b="0" i="0" dirty="0" err="1">
                <a:solidFill>
                  <a:srgbClr val="121212"/>
                </a:solidFill>
                <a:effectLst/>
              </a:rPr>
              <a:t>emphasises</a:t>
            </a:r>
            <a:r>
              <a:rPr lang="en-US" sz="2400" b="0" i="0" dirty="0">
                <a:solidFill>
                  <a:srgbClr val="121212"/>
                </a:solidFill>
                <a:effectLst/>
              </a:rPr>
              <a:t> support for communities whose </a:t>
            </a:r>
            <a:r>
              <a:rPr lang="en-US" sz="2400" b="1" i="0" dirty="0">
                <a:solidFill>
                  <a:srgbClr val="0070C0"/>
                </a:solidFill>
                <a:effectLst/>
              </a:rPr>
              <a:t>livelihoods</a:t>
            </a:r>
            <a:r>
              <a:rPr lang="en-US" sz="2400" b="0" i="0" dirty="0">
                <a:solidFill>
                  <a:srgbClr val="121212"/>
                </a:solidFill>
                <a:effectLst/>
              </a:rPr>
              <a:t> must change.</a:t>
            </a:r>
          </a:p>
        </p:txBody>
      </p:sp>
      <p:sp>
        <p:nvSpPr>
          <p:cNvPr id="3" name="CaixaDeTexto 2">
            <a:extLst>
              <a:ext uri="{FF2B5EF4-FFF2-40B4-BE49-F238E27FC236}">
                <a16:creationId xmlns:a16="http://schemas.microsoft.com/office/drawing/2014/main" id="{1E889ECC-B5E7-060E-F786-4A622FF74183}"/>
              </a:ext>
            </a:extLst>
          </p:cNvPr>
          <p:cNvSpPr txBox="1"/>
          <p:nvPr/>
        </p:nvSpPr>
        <p:spPr>
          <a:xfrm>
            <a:off x="6095999" y="5875823"/>
            <a:ext cx="1127760" cy="369332"/>
          </a:xfrm>
          <a:prstGeom prst="rect">
            <a:avLst/>
          </a:prstGeom>
          <a:noFill/>
        </p:spPr>
        <p:txBody>
          <a:bodyPr wrap="square" rtlCol="0">
            <a:spAutoFit/>
          </a:bodyPr>
          <a:lstStyle/>
          <a:p>
            <a:r>
              <a:rPr lang="en-US" b="1" dirty="0" err="1">
                <a:solidFill>
                  <a:srgbClr val="FF0000"/>
                </a:solidFill>
              </a:rPr>
              <a:t>sustentos</a:t>
            </a:r>
            <a:endParaRPr lang="en-US" b="1" dirty="0">
              <a:solidFill>
                <a:srgbClr val="FF0000"/>
              </a:solidFill>
            </a:endParaRPr>
          </a:p>
        </p:txBody>
      </p:sp>
    </p:spTree>
    <p:extLst>
      <p:ext uri="{BB962C8B-B14F-4D97-AF65-F5344CB8AC3E}">
        <p14:creationId xmlns:p14="http://schemas.microsoft.com/office/powerpoint/2010/main" val="132910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286681B6-B2DF-EFB1-BB4D-83C8F61250F4}"/>
              </a:ext>
            </a:extLst>
          </p:cNvPr>
          <p:cNvSpPr txBox="1"/>
          <p:nvPr/>
        </p:nvSpPr>
        <p:spPr>
          <a:xfrm>
            <a:off x="249218" y="1166842"/>
            <a:ext cx="11693563" cy="4524315"/>
          </a:xfrm>
          <a:prstGeom prst="rect">
            <a:avLst/>
          </a:prstGeom>
          <a:noFill/>
        </p:spPr>
        <p:txBody>
          <a:bodyPr wrap="square">
            <a:spAutoFit/>
          </a:bodyPr>
          <a:lstStyle/>
          <a:p>
            <a:pPr indent="0" algn="just" fontAlgn="base">
              <a:buNone/>
            </a:pPr>
            <a:r>
              <a:rPr lang="en-US" sz="2400" b="0" i="0" dirty="0">
                <a:solidFill>
                  <a:srgbClr val="121212"/>
                </a:solidFill>
                <a:effectLst/>
              </a:rPr>
              <a:t>“Water bankruptcy management requires honesty, courage and political will,” said Madani. “We cannot rebuild vanished glaciers or reinflate acutely compacted aquifers. But we can prevent further losses, and redesign institutions to live within new hydrological limits.”</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Tshilidzi </a:t>
            </a:r>
            <a:r>
              <a:rPr lang="en-US" sz="2400" b="0" i="0" dirty="0" err="1">
                <a:solidFill>
                  <a:srgbClr val="121212"/>
                </a:solidFill>
                <a:effectLst/>
              </a:rPr>
              <a:t>Marwala</a:t>
            </a:r>
            <a:r>
              <a:rPr lang="en-US" sz="2400" b="0" i="0" dirty="0">
                <a:solidFill>
                  <a:srgbClr val="121212"/>
                </a:solidFill>
                <a:effectLst/>
              </a:rPr>
              <a:t>, UN undersecretary general, said: “Water bankruptcy is becoming a </a:t>
            </a:r>
            <a:r>
              <a:rPr lang="en-US" sz="2400" b="1" i="0" dirty="0">
                <a:solidFill>
                  <a:srgbClr val="0070C0"/>
                </a:solidFill>
                <a:effectLst/>
              </a:rPr>
              <a:t>driver</a:t>
            </a:r>
            <a:r>
              <a:rPr lang="en-US" sz="2400" b="0" i="0" dirty="0">
                <a:solidFill>
                  <a:srgbClr val="121212"/>
                </a:solidFill>
                <a:effectLst/>
              </a:rPr>
              <a:t> of fragility, displacement and conflict. Managing it fairly is now central to maintaining peace, stability and social cohesion.”</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challenge of sustainable water management around the world was very real, said Prof Albert Van Dijk, at the Australian National University who was not part of the UN report, although, he added, he preferred the description of collapse, or systemic failure, over bankruptcy.</a:t>
            </a:r>
          </a:p>
        </p:txBody>
      </p:sp>
      <p:sp>
        <p:nvSpPr>
          <p:cNvPr id="3" name="CaixaDeTexto 2">
            <a:extLst>
              <a:ext uri="{FF2B5EF4-FFF2-40B4-BE49-F238E27FC236}">
                <a16:creationId xmlns:a16="http://schemas.microsoft.com/office/drawing/2014/main" id="{7E2C08F3-4EDA-F0CD-0D34-72D1AD0ACCDF}"/>
              </a:ext>
            </a:extLst>
          </p:cNvPr>
          <p:cNvSpPr txBox="1"/>
          <p:nvPr/>
        </p:nvSpPr>
        <p:spPr>
          <a:xfrm>
            <a:off x="9656064" y="2309824"/>
            <a:ext cx="2460453" cy="369332"/>
          </a:xfrm>
          <a:prstGeom prst="rect">
            <a:avLst/>
          </a:prstGeom>
          <a:noFill/>
        </p:spPr>
        <p:txBody>
          <a:bodyPr wrap="square" rtlCol="0">
            <a:spAutoFit/>
          </a:bodyPr>
          <a:lstStyle/>
          <a:p>
            <a:r>
              <a:rPr lang="en-US" b="1" dirty="0" err="1">
                <a:solidFill>
                  <a:srgbClr val="FF0000"/>
                </a:solidFill>
              </a:rPr>
              <a:t>Motivador</a:t>
            </a:r>
            <a:r>
              <a:rPr lang="en-US" b="1" dirty="0">
                <a:solidFill>
                  <a:srgbClr val="FF0000"/>
                </a:solidFill>
              </a:rPr>
              <a:t>, </a:t>
            </a:r>
            <a:r>
              <a:rPr lang="en-US" b="1" dirty="0" err="1">
                <a:solidFill>
                  <a:srgbClr val="FF0000"/>
                </a:solidFill>
              </a:rPr>
              <a:t>estimulador</a:t>
            </a:r>
            <a:endParaRPr lang="en-US" b="1" dirty="0">
              <a:solidFill>
                <a:srgbClr val="FF0000"/>
              </a:solidFill>
            </a:endParaRPr>
          </a:p>
        </p:txBody>
      </p:sp>
    </p:spTree>
    <p:extLst>
      <p:ext uri="{BB962C8B-B14F-4D97-AF65-F5344CB8AC3E}">
        <p14:creationId xmlns:p14="http://schemas.microsoft.com/office/powerpoint/2010/main" val="3790329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84E914A7-2D50-F453-F50E-3258B5732375}"/>
              </a:ext>
            </a:extLst>
          </p:cNvPr>
          <p:cNvSpPr txBox="1"/>
          <p:nvPr/>
        </p:nvSpPr>
        <p:spPr>
          <a:xfrm>
            <a:off x="286870" y="797510"/>
            <a:ext cx="11618259" cy="5262979"/>
          </a:xfrm>
          <a:prstGeom prst="rect">
            <a:avLst/>
          </a:prstGeom>
          <a:noFill/>
        </p:spPr>
        <p:txBody>
          <a:bodyPr wrap="square">
            <a:spAutoFit/>
          </a:bodyPr>
          <a:lstStyle/>
          <a:p>
            <a:pPr indent="0" algn="just" fontAlgn="base">
              <a:buNone/>
            </a:pPr>
            <a:r>
              <a:rPr lang="en-US" sz="2400" b="0" i="0" dirty="0">
                <a:solidFill>
                  <a:srgbClr val="121212"/>
                </a:solidFill>
                <a:effectLst/>
              </a:rPr>
              <a:t>A </a:t>
            </a:r>
            <a:r>
              <a:rPr lang="en-US" sz="2400" dirty="0"/>
              <a:t>recent water report</a:t>
            </a:r>
            <a:r>
              <a:rPr lang="en-US" sz="2400" b="0" i="0" dirty="0">
                <a:solidFill>
                  <a:srgbClr val="121212"/>
                </a:solidFill>
                <a:effectLst/>
              </a:rPr>
              <a:t> led by Van Dijk highlighted the increasingly erratic climate. “Increased variability is as much a problem as scarcity,” he said. “Sometimes there’s more water available overall, but it increasingly arrives in </a:t>
            </a:r>
            <a:r>
              <a:rPr lang="en-US" sz="2400" b="1" i="0" dirty="0">
                <a:solidFill>
                  <a:srgbClr val="0070C0"/>
                </a:solidFill>
                <a:effectLst/>
              </a:rPr>
              <a:t>bursts</a:t>
            </a:r>
            <a:r>
              <a:rPr lang="en-US" sz="2400" b="0" i="0" dirty="0">
                <a:solidFill>
                  <a:srgbClr val="121212"/>
                </a:solidFill>
                <a:effectLst/>
              </a:rPr>
              <a:t>, at the wrong place and at the wrong time. ‎This makes management genuinely harder. For example, dam reservoir levels need to be kept low to mitigate floods but high to ensure supply during droughts.”</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Dr Jonathan Paul, at Royal Holloway, University of London, said: “The report </a:t>
            </a:r>
            <a:r>
              <a:rPr lang="en-US" sz="2400" b="1" i="0" dirty="0">
                <a:solidFill>
                  <a:srgbClr val="0070C0"/>
                </a:solidFill>
                <a:effectLst/>
              </a:rPr>
              <a:t>lays bare</a:t>
            </a:r>
            <a:r>
              <a:rPr lang="en-US" sz="2400" b="0" i="0" dirty="0">
                <a:solidFill>
                  <a:srgbClr val="121212"/>
                </a:solidFill>
                <a:effectLst/>
              </a:rPr>
              <a:t> humankind’s mistreatment of water [which] threatens the viability of ‘the water cycle’ as a concept.</a:t>
            </a:r>
          </a:p>
          <a:p>
            <a:pPr indent="0" algn="just" fontAlgn="base">
              <a:buNone/>
            </a:pPr>
            <a:endParaRPr lang="en-US" sz="2400" b="0" i="0" dirty="0">
              <a:solidFill>
                <a:srgbClr val="121212"/>
              </a:solidFill>
              <a:effectLst/>
            </a:endParaRPr>
          </a:p>
          <a:p>
            <a:pPr indent="0" algn="just" fontAlgn="base">
              <a:buNone/>
            </a:pPr>
            <a:r>
              <a:rPr lang="en-US" sz="2400" b="0" i="0" dirty="0">
                <a:solidFill>
                  <a:srgbClr val="121212"/>
                </a:solidFill>
                <a:effectLst/>
              </a:rPr>
              <a:t>“The elephant in the room, which is mentioned explicitly only once, is the role of massive and unequal population growth in driving so many of the manifestations of water bankruptcy,” he said. “Addressing this growth would be more useful than </a:t>
            </a:r>
            <a:r>
              <a:rPr lang="en-US" sz="2400" b="1" i="0" dirty="0">
                <a:solidFill>
                  <a:srgbClr val="0070C0"/>
                </a:solidFill>
                <a:effectLst/>
              </a:rPr>
              <a:t>tinkering</a:t>
            </a:r>
            <a:r>
              <a:rPr lang="en-US" sz="2400" b="0" i="0" dirty="0">
                <a:solidFill>
                  <a:srgbClr val="121212"/>
                </a:solidFill>
                <a:effectLst/>
              </a:rPr>
              <a:t> with outdated, non-inclusive, and top-down water resource management frameworks.”</a:t>
            </a:r>
          </a:p>
        </p:txBody>
      </p:sp>
      <p:sp>
        <p:nvSpPr>
          <p:cNvPr id="6" name="CaixaDeTexto 5">
            <a:extLst>
              <a:ext uri="{FF2B5EF4-FFF2-40B4-BE49-F238E27FC236}">
                <a16:creationId xmlns:a16="http://schemas.microsoft.com/office/drawing/2014/main" id="{5BE8BED8-1014-48A7-4875-0170B0C7AF50}"/>
              </a:ext>
            </a:extLst>
          </p:cNvPr>
          <p:cNvSpPr txBox="1"/>
          <p:nvPr/>
        </p:nvSpPr>
        <p:spPr>
          <a:xfrm>
            <a:off x="4718304" y="428178"/>
            <a:ext cx="4709160" cy="369332"/>
          </a:xfrm>
          <a:prstGeom prst="rect">
            <a:avLst/>
          </a:prstGeom>
          <a:noFill/>
        </p:spPr>
        <p:txBody>
          <a:bodyPr wrap="square" rtlCol="0">
            <a:spAutoFit/>
          </a:bodyPr>
          <a:lstStyle/>
          <a:p>
            <a:r>
              <a:rPr lang="en-US" b="1" dirty="0" err="1">
                <a:solidFill>
                  <a:srgbClr val="FF0000"/>
                </a:solidFill>
              </a:rPr>
              <a:t>Aumento</a:t>
            </a:r>
            <a:r>
              <a:rPr lang="en-US" b="1" dirty="0">
                <a:solidFill>
                  <a:srgbClr val="FF0000"/>
                </a:solidFill>
              </a:rPr>
              <a:t> grande e </a:t>
            </a:r>
            <a:r>
              <a:rPr lang="en-US" b="1" dirty="0" err="1">
                <a:solidFill>
                  <a:srgbClr val="FF0000"/>
                </a:solidFill>
              </a:rPr>
              <a:t>repentino</a:t>
            </a:r>
            <a:r>
              <a:rPr lang="en-US" b="1" dirty="0">
                <a:solidFill>
                  <a:srgbClr val="FF0000"/>
                </a:solidFill>
              </a:rPr>
              <a:t>. (</a:t>
            </a:r>
            <a:r>
              <a:rPr lang="en-US" b="1" dirty="0" err="1">
                <a:solidFill>
                  <a:srgbClr val="FF0000"/>
                </a:solidFill>
              </a:rPr>
              <a:t>rajadas</a:t>
            </a:r>
            <a:r>
              <a:rPr lang="en-US" b="1" dirty="0">
                <a:solidFill>
                  <a:srgbClr val="FF0000"/>
                </a:solidFill>
              </a:rPr>
              <a:t>, </a:t>
            </a:r>
            <a:r>
              <a:rPr lang="en-US" b="1" dirty="0" err="1">
                <a:solidFill>
                  <a:srgbClr val="FF0000"/>
                </a:solidFill>
              </a:rPr>
              <a:t>surtos</a:t>
            </a:r>
            <a:r>
              <a:rPr lang="en-US" b="1" dirty="0">
                <a:solidFill>
                  <a:srgbClr val="FF0000"/>
                </a:solidFill>
              </a:rPr>
              <a:t>)</a:t>
            </a:r>
          </a:p>
        </p:txBody>
      </p:sp>
      <p:sp>
        <p:nvSpPr>
          <p:cNvPr id="8" name="CaixaDeTexto 7">
            <a:extLst>
              <a:ext uri="{FF2B5EF4-FFF2-40B4-BE49-F238E27FC236}">
                <a16:creationId xmlns:a16="http://schemas.microsoft.com/office/drawing/2014/main" id="{D1110997-AB79-3260-CDE1-C6CE0652F99B}"/>
              </a:ext>
            </a:extLst>
          </p:cNvPr>
          <p:cNvSpPr txBox="1"/>
          <p:nvPr/>
        </p:nvSpPr>
        <p:spPr>
          <a:xfrm>
            <a:off x="10786871" y="2583983"/>
            <a:ext cx="807721" cy="369332"/>
          </a:xfrm>
          <a:prstGeom prst="rect">
            <a:avLst/>
          </a:prstGeom>
          <a:noFill/>
        </p:spPr>
        <p:txBody>
          <a:bodyPr wrap="square" rtlCol="0">
            <a:spAutoFit/>
          </a:bodyPr>
          <a:lstStyle/>
          <a:p>
            <a:r>
              <a:rPr lang="en-US" b="1" dirty="0" err="1">
                <a:solidFill>
                  <a:srgbClr val="FF0000"/>
                </a:solidFill>
              </a:rPr>
              <a:t>expõe</a:t>
            </a:r>
            <a:endParaRPr lang="en-US" b="1" dirty="0">
              <a:solidFill>
                <a:srgbClr val="FF0000"/>
              </a:solidFill>
            </a:endParaRPr>
          </a:p>
        </p:txBody>
      </p:sp>
      <p:sp>
        <p:nvSpPr>
          <p:cNvPr id="10" name="CaixaDeTexto 9">
            <a:extLst>
              <a:ext uri="{FF2B5EF4-FFF2-40B4-BE49-F238E27FC236}">
                <a16:creationId xmlns:a16="http://schemas.microsoft.com/office/drawing/2014/main" id="{C19038D7-C410-5683-3DB4-B7B4399D7881}"/>
              </a:ext>
            </a:extLst>
          </p:cNvPr>
          <p:cNvSpPr txBox="1"/>
          <p:nvPr/>
        </p:nvSpPr>
        <p:spPr>
          <a:xfrm>
            <a:off x="10905743" y="5619791"/>
            <a:ext cx="798577" cy="369332"/>
          </a:xfrm>
          <a:prstGeom prst="rect">
            <a:avLst/>
          </a:prstGeom>
          <a:noFill/>
        </p:spPr>
        <p:txBody>
          <a:bodyPr wrap="square" rtlCol="0">
            <a:spAutoFit/>
          </a:bodyPr>
          <a:lstStyle/>
          <a:p>
            <a:r>
              <a:rPr lang="en-US" b="1" dirty="0" err="1">
                <a:solidFill>
                  <a:srgbClr val="FF0000"/>
                </a:solidFill>
              </a:rPr>
              <a:t>mexer</a:t>
            </a:r>
            <a:endParaRPr lang="en-US" b="1" dirty="0">
              <a:solidFill>
                <a:srgbClr val="FF0000"/>
              </a:solidFill>
            </a:endParaRPr>
          </a:p>
        </p:txBody>
      </p:sp>
    </p:spTree>
    <p:extLst>
      <p:ext uri="{BB962C8B-B14F-4D97-AF65-F5344CB8AC3E}">
        <p14:creationId xmlns:p14="http://schemas.microsoft.com/office/powerpoint/2010/main" val="301374921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1385</Words>
  <Application>Microsoft Office PowerPoint</Application>
  <PresentationFormat>Widescreen</PresentationFormat>
  <Paragraphs>63</Paragraphs>
  <Slides>12</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12</vt:i4>
      </vt:variant>
    </vt:vector>
  </HeadingPairs>
  <TitlesOfParts>
    <vt:vector size="16"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Rodrigo Manz de Paula Ramos</dc:creator>
  <cp:lastModifiedBy>Rodrigo Manz de Paula Ramos</cp:lastModifiedBy>
  <cp:revision>14</cp:revision>
  <dcterms:created xsi:type="dcterms:W3CDTF">2026-07-07T14:47:32Z</dcterms:created>
  <dcterms:modified xsi:type="dcterms:W3CDTF">2026-08-14T20:53:56Z</dcterms:modified>
</cp:coreProperties>
</file>