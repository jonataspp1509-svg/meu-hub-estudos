
<file path=[Content_Types].xml><?xml version="1.0" encoding="utf-8"?>
<Types xmlns="http://schemas.openxmlformats.org/package/2006/content-types">
  <Default Extension="jpeg" ContentType="image/jpeg"/>
  <Default Extension="rels" ContentType="application/vnd.openxmlformats-package.relationships+xml"/>
  <Default Extension="web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E3C1C6-C786-4ED9-9483-5F5482F90429}"/>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ACDF4C52-EA76-4B30-8FFA-81154D22F0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6EA78F89-C383-420B-9D93-3E200C8BC660}"/>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5" name="Espaço Reservado para Rodapé 4">
            <a:extLst>
              <a:ext uri="{FF2B5EF4-FFF2-40B4-BE49-F238E27FC236}">
                <a16:creationId xmlns:a16="http://schemas.microsoft.com/office/drawing/2014/main" id="{5C138F65-188F-46FC-8ED4-5DD66E41A63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FAC746D-ADF4-4EDA-A633-9DA0641548FF}"/>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632094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A4AFBA-1CC1-47D4-ABAF-30EBD5D24E0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6DAFE5F1-3C50-468A-BD55-88928E26F926}"/>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3FC7436-FC37-44F3-A282-404F12B0D4E7}"/>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5" name="Espaço Reservado para Rodapé 4">
            <a:extLst>
              <a:ext uri="{FF2B5EF4-FFF2-40B4-BE49-F238E27FC236}">
                <a16:creationId xmlns:a16="http://schemas.microsoft.com/office/drawing/2014/main" id="{90DD65C5-8228-454C-AD6D-D0252FDA6BF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DF3CFF1-C9E0-4A3E-879F-8830DBBD648C}"/>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66412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FD18A7-CD56-4EF5-ADD9-A99A6F97721C}"/>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537D85B0-A146-4A45-A4D7-A2DA8F6E5A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0AD360EA-89BA-4C47-A0C5-1B2CC99F5D43}"/>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5" name="Espaço Reservado para Rodapé 4">
            <a:extLst>
              <a:ext uri="{FF2B5EF4-FFF2-40B4-BE49-F238E27FC236}">
                <a16:creationId xmlns:a16="http://schemas.microsoft.com/office/drawing/2014/main" id="{64B5B034-ECB7-401D-B790-BA33CF5FA91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1C2F1C5-F61B-403F-B879-A996DDE64168}"/>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3838903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DC0F1F-359B-43E2-8E0C-69A2347AD9A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E3A8784-8E72-4B9C-8155-9643E6193536}"/>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6FF97858-20FF-4D42-A243-AB6F689468CD}"/>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2146E899-41F3-4BA8-95BA-8B6B02CE7F29}"/>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6" name="Espaço Reservado para Rodapé 5">
            <a:extLst>
              <a:ext uri="{FF2B5EF4-FFF2-40B4-BE49-F238E27FC236}">
                <a16:creationId xmlns:a16="http://schemas.microsoft.com/office/drawing/2014/main" id="{49F0A5A6-5B35-4C92-A9CB-DA4AE9B7790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6B05780-3279-4F4D-9E85-EE0E118E5C91}"/>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233898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793D22-D6C3-4C30-8294-5DD12C55B5C1}"/>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9FEE04CD-4152-43FB-A8AC-3C37DBE629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41BCB072-597E-497B-B1BE-7502C1A77DB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48620CB-D8B1-47AD-9ADB-DEDB3C7395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E76D3BEE-F6A8-4AE0-AB36-B68D15C518A2}"/>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B13F937-7A09-4E2D-B5E4-70FAC013E443}"/>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8" name="Espaço Reservado para Rodapé 7">
            <a:extLst>
              <a:ext uri="{FF2B5EF4-FFF2-40B4-BE49-F238E27FC236}">
                <a16:creationId xmlns:a16="http://schemas.microsoft.com/office/drawing/2014/main" id="{7F21C5D3-9E99-4BF9-949C-B45AE0AC740F}"/>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124867BC-0840-46C4-83FE-F2966C44650F}"/>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2773590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D3A930-3740-4F67-846C-2D8EE7D89E61}"/>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6A43244-BEDF-485A-9E83-21C142CA51D5}"/>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4" name="Espaço Reservado para Rodapé 3">
            <a:extLst>
              <a:ext uri="{FF2B5EF4-FFF2-40B4-BE49-F238E27FC236}">
                <a16:creationId xmlns:a16="http://schemas.microsoft.com/office/drawing/2014/main" id="{08B752EE-218B-4DFE-8115-9A82C5A67E91}"/>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1D4E01D2-DA92-4A3D-AE38-B59316592540}"/>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1719376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3C55F99-B531-4B53-9A94-90E09A365DA1}"/>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3" name="Espaço Reservado para Rodapé 2">
            <a:extLst>
              <a:ext uri="{FF2B5EF4-FFF2-40B4-BE49-F238E27FC236}">
                <a16:creationId xmlns:a16="http://schemas.microsoft.com/office/drawing/2014/main" id="{772EED17-A895-4237-8DDE-59189D42A420}"/>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AEAC234-C8ED-4AD6-B346-F50686EF9FF3}"/>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154643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33B3CB-EFF6-4A2C-BE7A-B56AAEBFB6E3}"/>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8078CEF8-CA7D-4065-BA59-B9AD2DA53D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8187B33-6F2B-47F7-834B-3075572795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BD27EAF-85AA-46D2-8B52-40DEE287583B}"/>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6" name="Espaço Reservado para Rodapé 5">
            <a:extLst>
              <a:ext uri="{FF2B5EF4-FFF2-40B4-BE49-F238E27FC236}">
                <a16:creationId xmlns:a16="http://schemas.microsoft.com/office/drawing/2014/main" id="{91C00123-1683-4502-9F3C-A210024E0CF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391B61F0-E54A-4993-81F6-88A6FF2E1DDF}"/>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338732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07961F-2A7D-41A5-99B1-0420434DCAA7}"/>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D9DA571-04EF-45FA-A510-DD6512F104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9A771420-00DD-4F13-A32D-8B44CF3A8B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16AF1AB-4DFA-4293-B771-A6CC5045B25B}"/>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6" name="Espaço Reservado para Rodapé 5">
            <a:extLst>
              <a:ext uri="{FF2B5EF4-FFF2-40B4-BE49-F238E27FC236}">
                <a16:creationId xmlns:a16="http://schemas.microsoft.com/office/drawing/2014/main" id="{1C355E0F-D1A0-4E8A-B49E-F415BC59CDA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83D6353-1075-42A4-A736-E8D6ED198F59}"/>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95381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C8212-4660-4641-8C8C-EC7D2CB3689C}"/>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CD72D86A-CBC4-4DCE-AE14-45ED950A7AE5}"/>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4C69B6F-15B7-49DE-82C8-D74D60FADA4C}"/>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5" name="Espaço Reservado para Rodapé 4">
            <a:extLst>
              <a:ext uri="{FF2B5EF4-FFF2-40B4-BE49-F238E27FC236}">
                <a16:creationId xmlns:a16="http://schemas.microsoft.com/office/drawing/2014/main" id="{072467DF-E63A-4F40-BF40-D5BBA2FFEB3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E531B95-B62C-469C-A224-5DE88D63A64D}"/>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4260615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5D58A5-D5D0-4A21-B2FA-90DC8A7383E8}"/>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CC963855-EDE5-43B4-8DD4-B8166CA48137}"/>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9AAD89E-0167-48F2-BDFB-ABE3D64838DE}"/>
              </a:ext>
            </a:extLst>
          </p:cNvPr>
          <p:cNvSpPr>
            <a:spLocks noGrp="1"/>
          </p:cNvSpPr>
          <p:nvPr>
            <p:ph type="dt" sz="half" idx="10"/>
          </p:nvPr>
        </p:nvSpPr>
        <p:spPr/>
        <p:txBody>
          <a:bodyPr/>
          <a:lstStyle/>
          <a:p>
            <a:fld id="{629EC857-16A5-48BF-96CE-CD97A9395670}" type="datetimeFigureOut">
              <a:rPr lang="pt-BR" smtClean="0"/>
              <a:t>20/09/2019</a:t>
            </a:fld>
            <a:endParaRPr lang="pt-BR"/>
          </a:p>
        </p:txBody>
      </p:sp>
      <p:sp>
        <p:nvSpPr>
          <p:cNvPr id="5" name="Espaço Reservado para Rodapé 4">
            <a:extLst>
              <a:ext uri="{FF2B5EF4-FFF2-40B4-BE49-F238E27FC236}">
                <a16:creationId xmlns:a16="http://schemas.microsoft.com/office/drawing/2014/main" id="{041700CC-A8A3-4466-A9C3-6B54AA0E9A4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D81B77E-4B19-49CD-A67D-025DCB8BF5BF}"/>
              </a:ext>
            </a:extLst>
          </p:cNvPr>
          <p:cNvSpPr>
            <a:spLocks noGrp="1"/>
          </p:cNvSpPr>
          <p:nvPr>
            <p:ph type="sldNum" sz="quarter" idx="12"/>
          </p:nvPr>
        </p:nvSpPr>
        <p:spPr/>
        <p:txBody>
          <a:bodyPr/>
          <a:lstStyle/>
          <a:p>
            <a:fld id="{79C66085-07C3-4B47-A01C-D0DD18615ECA}" type="slidenum">
              <a:rPr lang="pt-BR" smtClean="0"/>
              <a:t>‹nº›</a:t>
            </a:fld>
            <a:endParaRPr lang="pt-BR"/>
          </a:p>
        </p:txBody>
      </p:sp>
    </p:spTree>
    <p:extLst>
      <p:ext uri="{BB962C8B-B14F-4D97-AF65-F5344CB8AC3E}">
        <p14:creationId xmlns:p14="http://schemas.microsoft.com/office/powerpoint/2010/main" val="964105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6CC480FA-A4A5-477E-9B5F-A4ACB6667F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4F608AC9-1D8B-495D-8AC6-CD551B8D7E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9476CB8-E010-4BA7-970A-9689301A9C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9EC857-16A5-48BF-96CE-CD97A9395670}" type="datetimeFigureOut">
              <a:rPr lang="pt-BR" smtClean="0"/>
              <a:t>20/09/2019</a:t>
            </a:fld>
            <a:endParaRPr lang="pt-BR"/>
          </a:p>
        </p:txBody>
      </p:sp>
      <p:sp>
        <p:nvSpPr>
          <p:cNvPr id="5" name="Espaço Reservado para Rodapé 4">
            <a:extLst>
              <a:ext uri="{FF2B5EF4-FFF2-40B4-BE49-F238E27FC236}">
                <a16:creationId xmlns:a16="http://schemas.microsoft.com/office/drawing/2014/main" id="{A3A72222-72AD-4FA2-B017-E50E9F95B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16134263-39F1-4650-B19D-48DC1E1BEC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C66085-07C3-4B47-A01C-D0DD18615ECA}" type="slidenum">
              <a:rPr lang="pt-BR" smtClean="0"/>
              <a:t>‹nº›</a:t>
            </a:fld>
            <a:endParaRPr lang="pt-BR"/>
          </a:p>
        </p:txBody>
      </p:sp>
    </p:spTree>
    <p:extLst>
      <p:ext uri="{BB962C8B-B14F-4D97-AF65-F5344CB8AC3E}">
        <p14:creationId xmlns:p14="http://schemas.microsoft.com/office/powerpoint/2010/main" val="236646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ebp"/><Relationship Id="rId2" Type="http://schemas.openxmlformats.org/officeDocument/2006/relationships/hyperlink" Target="https://www.scientificamerican.com/author/andrea-thomps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DFB4D6A2-B670-4938-913C-9C9A811E2378}"/>
              </a:ext>
            </a:extLst>
          </p:cNvPr>
          <p:cNvSpPr/>
          <p:nvPr/>
        </p:nvSpPr>
        <p:spPr>
          <a:xfrm>
            <a:off x="265043" y="185675"/>
            <a:ext cx="11622157" cy="1815882"/>
          </a:xfrm>
          <a:prstGeom prst="rect">
            <a:avLst/>
          </a:prstGeom>
        </p:spPr>
        <p:txBody>
          <a:bodyPr wrap="square">
            <a:spAutoFit/>
          </a:bodyPr>
          <a:lstStyle/>
          <a:p>
            <a:pPr algn="ctr"/>
            <a:r>
              <a:rPr lang="en-US" sz="2800" b="1" dirty="0"/>
              <a:t>Earth Has a Hidden Plastic Problem—Scientists Are Hunting It Down</a:t>
            </a:r>
          </a:p>
          <a:p>
            <a:pPr algn="ctr"/>
            <a:r>
              <a:rPr lang="en-US" sz="2800" dirty="0"/>
              <a:t>Trillions of tiny particles generated by our </a:t>
            </a:r>
            <a:r>
              <a:rPr lang="en-US" sz="2800" b="1" dirty="0">
                <a:solidFill>
                  <a:srgbClr val="00B0F0"/>
                </a:solidFill>
              </a:rPr>
              <a:t>plastic-reliant</a:t>
            </a:r>
            <a:r>
              <a:rPr lang="en-US" sz="2800" dirty="0"/>
              <a:t> society are polluting environments worldwide</a:t>
            </a:r>
          </a:p>
          <a:p>
            <a:pPr algn="ctr">
              <a:buFont typeface="Arial" panose="020B0604020202020204" pitchFamily="34" charset="0"/>
              <a:buChar char="•"/>
            </a:pPr>
            <a:r>
              <a:rPr lang="en-US" sz="2800" dirty="0"/>
              <a:t>By </a:t>
            </a:r>
            <a:r>
              <a:rPr lang="en-US" sz="2800" dirty="0">
                <a:hlinkClick r:id="rId2"/>
              </a:rPr>
              <a:t>Andrea Thompson</a:t>
            </a:r>
            <a:r>
              <a:rPr lang="en-US" sz="2800" dirty="0"/>
              <a:t> on August 13, 2018</a:t>
            </a:r>
          </a:p>
        </p:txBody>
      </p:sp>
      <p:pic>
        <p:nvPicPr>
          <p:cNvPr id="6" name="Imagem 5" descr="Uma imagem contendo chão, pessoa, mantendo&#10;&#10;Descrição gerada automaticamente">
            <a:extLst>
              <a:ext uri="{FF2B5EF4-FFF2-40B4-BE49-F238E27FC236}">
                <a16:creationId xmlns:a16="http://schemas.microsoft.com/office/drawing/2014/main" id="{FD874B2C-208E-4B04-AD51-5D94251248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8146" y="2001557"/>
            <a:ext cx="6015708" cy="4516879"/>
          </a:xfrm>
          <a:prstGeom prst="rect">
            <a:avLst/>
          </a:prstGeom>
        </p:spPr>
      </p:pic>
      <p:sp>
        <p:nvSpPr>
          <p:cNvPr id="7" name="Retângulo 6">
            <a:extLst>
              <a:ext uri="{FF2B5EF4-FFF2-40B4-BE49-F238E27FC236}">
                <a16:creationId xmlns:a16="http://schemas.microsoft.com/office/drawing/2014/main" id="{CD0D6B94-37C0-410F-911D-7CCA5819D1EB}"/>
              </a:ext>
            </a:extLst>
          </p:cNvPr>
          <p:cNvSpPr/>
          <p:nvPr/>
        </p:nvSpPr>
        <p:spPr>
          <a:xfrm>
            <a:off x="874644" y="6518436"/>
            <a:ext cx="10760766" cy="307777"/>
          </a:xfrm>
          <a:prstGeom prst="rect">
            <a:avLst/>
          </a:prstGeom>
        </p:spPr>
        <p:txBody>
          <a:bodyPr wrap="square">
            <a:spAutoFit/>
          </a:bodyPr>
          <a:lstStyle/>
          <a:p>
            <a:r>
              <a:rPr lang="pt-BR" sz="1400" dirty="0"/>
              <a:t>https://www.scientificamerican.com/article/microplastics-earth-has-a-hidden-plastic-problem-mdash-scientists-are-hunting-it-down/?redirect=1</a:t>
            </a:r>
          </a:p>
        </p:txBody>
      </p:sp>
      <p:sp>
        <p:nvSpPr>
          <p:cNvPr id="2" name="CaixaDeTexto 1">
            <a:extLst>
              <a:ext uri="{FF2B5EF4-FFF2-40B4-BE49-F238E27FC236}">
                <a16:creationId xmlns:a16="http://schemas.microsoft.com/office/drawing/2014/main" id="{20C4F94B-8DDA-4DD5-8C35-406CB20163E9}"/>
              </a:ext>
            </a:extLst>
          </p:cNvPr>
          <p:cNvSpPr txBox="1"/>
          <p:nvPr/>
        </p:nvSpPr>
        <p:spPr>
          <a:xfrm>
            <a:off x="9103854" y="1192696"/>
            <a:ext cx="2531165" cy="369332"/>
          </a:xfrm>
          <a:prstGeom prst="rect">
            <a:avLst/>
          </a:prstGeom>
          <a:noFill/>
        </p:spPr>
        <p:txBody>
          <a:bodyPr wrap="square" rtlCol="0">
            <a:spAutoFit/>
          </a:bodyPr>
          <a:lstStyle/>
          <a:p>
            <a:r>
              <a:rPr lang="pt-BR" b="1" dirty="0">
                <a:solidFill>
                  <a:srgbClr val="FF0000"/>
                </a:solidFill>
              </a:rPr>
              <a:t>Dependente de plástico </a:t>
            </a:r>
          </a:p>
        </p:txBody>
      </p:sp>
    </p:spTree>
    <p:extLst>
      <p:ext uri="{BB962C8B-B14F-4D97-AF65-F5344CB8AC3E}">
        <p14:creationId xmlns:p14="http://schemas.microsoft.com/office/powerpoint/2010/main" val="264411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1F75BB4D-1980-4265-A321-379B4B5FB6B4}"/>
              </a:ext>
            </a:extLst>
          </p:cNvPr>
          <p:cNvSpPr/>
          <p:nvPr/>
        </p:nvSpPr>
        <p:spPr>
          <a:xfrm>
            <a:off x="384313" y="137064"/>
            <a:ext cx="11423374" cy="6740307"/>
          </a:xfrm>
          <a:prstGeom prst="rect">
            <a:avLst/>
          </a:prstGeom>
        </p:spPr>
        <p:txBody>
          <a:bodyPr wrap="square">
            <a:spAutoFit/>
          </a:bodyPr>
          <a:lstStyle/>
          <a:p>
            <a:pPr algn="just"/>
            <a:r>
              <a:rPr lang="en-US" sz="2400" dirty="0"/>
              <a:t>	During a research cruise to the Sargasso Sea in fall 1971 marine biologist Ed Carpenter first noticed peculiar, white </a:t>
            </a:r>
            <a:r>
              <a:rPr lang="en-US" sz="2400" b="1" dirty="0">
                <a:solidFill>
                  <a:srgbClr val="00B0F0"/>
                </a:solidFill>
              </a:rPr>
              <a:t>specks</a:t>
            </a:r>
            <a:r>
              <a:rPr lang="en-US" sz="2400" dirty="0"/>
              <a:t> floating </a:t>
            </a:r>
            <a:r>
              <a:rPr lang="en-US" sz="2400" b="1" dirty="0">
                <a:solidFill>
                  <a:srgbClr val="00B0F0"/>
                </a:solidFill>
              </a:rPr>
              <a:t>amidst</a:t>
            </a:r>
            <a:r>
              <a:rPr lang="en-US" sz="2400" dirty="0"/>
              <a:t> the </a:t>
            </a:r>
            <a:r>
              <a:rPr lang="en-US" sz="2400" b="1" dirty="0">
                <a:solidFill>
                  <a:srgbClr val="00B0F0"/>
                </a:solidFill>
              </a:rPr>
              <a:t>mats</a:t>
            </a:r>
            <a:r>
              <a:rPr lang="en-US" sz="2400" dirty="0"/>
              <a:t> of brown sargassum seaweed. After some investigating he discovered they were tiny bits of plastic. He was </a:t>
            </a:r>
            <a:r>
              <a:rPr lang="en-US" sz="2400" b="1" dirty="0">
                <a:solidFill>
                  <a:srgbClr val="00B0F0"/>
                </a:solidFill>
              </a:rPr>
              <a:t>stunned</a:t>
            </a:r>
            <a:r>
              <a:rPr lang="en-US" sz="2400" dirty="0"/>
              <a:t>. If thousands of the </a:t>
            </a:r>
            <a:r>
              <a:rPr lang="en-US" sz="2400" b="1" dirty="0">
                <a:solidFill>
                  <a:srgbClr val="00B0F0"/>
                </a:solidFill>
              </a:rPr>
              <a:t>broken down</a:t>
            </a:r>
            <a:r>
              <a:rPr lang="en-US" sz="2400" dirty="0"/>
              <a:t> particles were showing up in in the middle of the Atlantic Ocean, 550 miles from any mainland, he says, “I </a:t>
            </a:r>
            <a:r>
              <a:rPr lang="en-US" sz="2400" b="1" dirty="0">
                <a:solidFill>
                  <a:srgbClr val="00B0F0"/>
                </a:solidFill>
              </a:rPr>
              <a:t>figured</a:t>
            </a:r>
            <a:r>
              <a:rPr lang="en-US" sz="2400" dirty="0"/>
              <a:t> it’s all over the place.”</a:t>
            </a:r>
          </a:p>
          <a:p>
            <a:pPr algn="just"/>
            <a:endParaRPr lang="en-US" sz="2400" dirty="0"/>
          </a:p>
          <a:p>
            <a:pPr algn="just"/>
            <a:r>
              <a:rPr lang="en-US" sz="2400" dirty="0"/>
              <a:t>	Carpenter, now at San Francisco State University, published his observations March 17, 1972, in </a:t>
            </a:r>
            <a:r>
              <a:rPr lang="en-US" sz="2400" i="1" dirty="0"/>
              <a:t>Science</a:t>
            </a:r>
            <a:r>
              <a:rPr lang="en-US" sz="2400" dirty="0"/>
              <a:t>. They were the first </a:t>
            </a:r>
            <a:r>
              <a:rPr lang="en-US" sz="2400" b="1" dirty="0">
                <a:solidFill>
                  <a:srgbClr val="00B0F0"/>
                </a:solidFill>
              </a:rPr>
              <a:t>inkling</a:t>
            </a:r>
            <a:r>
              <a:rPr lang="en-US" sz="2400" dirty="0"/>
              <a:t> plastic pollution is not limited to the plastic bags, soft drink bottles and other visible trash </a:t>
            </a:r>
            <a:r>
              <a:rPr lang="en-US" sz="2400" b="1" dirty="0">
                <a:solidFill>
                  <a:srgbClr val="00B0F0"/>
                </a:solidFill>
              </a:rPr>
              <a:t>strewn</a:t>
            </a:r>
            <a:r>
              <a:rPr lang="en-US" sz="2400" dirty="0"/>
              <a:t> along coastlines and gathering in the infamous Great Pacific Garbage Patch, a vortex of currents that concentrates </a:t>
            </a:r>
            <a:r>
              <a:rPr lang="en-US" sz="2400" b="1" dirty="0">
                <a:solidFill>
                  <a:srgbClr val="00B0F0"/>
                </a:solidFill>
              </a:rPr>
              <a:t>debris</a:t>
            </a:r>
            <a:r>
              <a:rPr lang="en-US" sz="2400" dirty="0"/>
              <a:t> in the Pacific Ocean. Weakened by sunlight and pulverized by winds and waves, those plastic products fracture into ever-smaller pieces.</a:t>
            </a:r>
          </a:p>
          <a:p>
            <a:pPr algn="just"/>
            <a:endParaRPr lang="en-US" sz="2400" dirty="0"/>
          </a:p>
          <a:p>
            <a:pPr algn="just"/>
            <a:r>
              <a:rPr lang="en-US" sz="2400" dirty="0"/>
              <a:t>	</a:t>
            </a:r>
            <a:r>
              <a:rPr lang="en-US" sz="2400" b="1" dirty="0"/>
              <a:t>Along with</a:t>
            </a:r>
            <a:r>
              <a:rPr lang="en-US" sz="2400" dirty="0"/>
              <a:t> the tiny, so-called microfibers </a:t>
            </a:r>
            <a:r>
              <a:rPr lang="en-US" sz="2400" b="1" dirty="0">
                <a:solidFill>
                  <a:srgbClr val="00B0F0"/>
                </a:solidFill>
              </a:rPr>
              <a:t>shed</a:t>
            </a:r>
            <a:r>
              <a:rPr lang="en-US" sz="2400" dirty="0"/>
              <a:t> by synthetic fabrics and the beads put in products like toothpaste, these fragments are called microplastics. With 300 million metric tons of plastic produced each year—about the weight of the entire human population—trillions of degraded plastic bits may be </a:t>
            </a:r>
            <a:r>
              <a:rPr lang="en-US" sz="2400" b="1" dirty="0">
                <a:solidFill>
                  <a:srgbClr val="00B0F0"/>
                </a:solidFill>
              </a:rPr>
              <a:t>lurking</a:t>
            </a:r>
            <a:r>
              <a:rPr lang="en-US" sz="2400" dirty="0"/>
              <a:t> largely unseen in the environment, researchers say.</a:t>
            </a:r>
          </a:p>
        </p:txBody>
      </p:sp>
      <p:sp>
        <p:nvSpPr>
          <p:cNvPr id="3" name="CaixaDeTexto 2">
            <a:extLst>
              <a:ext uri="{FF2B5EF4-FFF2-40B4-BE49-F238E27FC236}">
                <a16:creationId xmlns:a16="http://schemas.microsoft.com/office/drawing/2014/main" id="{799B24D5-68EC-44BB-9B5D-83E93448067A}"/>
              </a:ext>
            </a:extLst>
          </p:cNvPr>
          <p:cNvSpPr txBox="1"/>
          <p:nvPr/>
        </p:nvSpPr>
        <p:spPr>
          <a:xfrm>
            <a:off x="4107785" y="-47602"/>
            <a:ext cx="1206337" cy="369332"/>
          </a:xfrm>
          <a:prstGeom prst="rect">
            <a:avLst/>
          </a:prstGeom>
          <a:noFill/>
        </p:spPr>
        <p:txBody>
          <a:bodyPr wrap="square" rtlCol="0">
            <a:spAutoFit/>
          </a:bodyPr>
          <a:lstStyle/>
          <a:p>
            <a:r>
              <a:rPr lang="pt-BR" b="1" dirty="0">
                <a:solidFill>
                  <a:srgbClr val="FF0000"/>
                </a:solidFill>
              </a:rPr>
              <a:t>partículas </a:t>
            </a:r>
          </a:p>
        </p:txBody>
      </p:sp>
      <p:sp>
        <p:nvSpPr>
          <p:cNvPr id="5" name="CaixaDeTexto 4">
            <a:extLst>
              <a:ext uri="{FF2B5EF4-FFF2-40B4-BE49-F238E27FC236}">
                <a16:creationId xmlns:a16="http://schemas.microsoft.com/office/drawing/2014/main" id="{936C0E26-D293-4722-95CA-AB98D56A4EDF}"/>
              </a:ext>
            </a:extLst>
          </p:cNvPr>
          <p:cNvSpPr txBox="1"/>
          <p:nvPr/>
        </p:nvSpPr>
        <p:spPr>
          <a:xfrm>
            <a:off x="6665454" y="0"/>
            <a:ext cx="1365363" cy="369332"/>
          </a:xfrm>
          <a:prstGeom prst="rect">
            <a:avLst/>
          </a:prstGeom>
          <a:noFill/>
        </p:spPr>
        <p:txBody>
          <a:bodyPr wrap="square" rtlCol="0">
            <a:spAutoFit/>
          </a:bodyPr>
          <a:lstStyle/>
          <a:p>
            <a:r>
              <a:rPr lang="pt-BR" b="1" dirty="0">
                <a:solidFill>
                  <a:srgbClr val="FF0000"/>
                </a:solidFill>
              </a:rPr>
              <a:t>em maio a </a:t>
            </a:r>
          </a:p>
        </p:txBody>
      </p:sp>
      <p:sp>
        <p:nvSpPr>
          <p:cNvPr id="6" name="CaixaDeTexto 5">
            <a:extLst>
              <a:ext uri="{FF2B5EF4-FFF2-40B4-BE49-F238E27FC236}">
                <a16:creationId xmlns:a16="http://schemas.microsoft.com/office/drawing/2014/main" id="{A45C74E8-3A0E-4E57-AACD-C931F09E7B76}"/>
              </a:ext>
            </a:extLst>
          </p:cNvPr>
          <p:cNvSpPr txBox="1"/>
          <p:nvPr/>
        </p:nvSpPr>
        <p:spPr>
          <a:xfrm>
            <a:off x="8878567" y="0"/>
            <a:ext cx="2531165" cy="369332"/>
          </a:xfrm>
          <a:prstGeom prst="rect">
            <a:avLst/>
          </a:prstGeom>
          <a:noFill/>
        </p:spPr>
        <p:txBody>
          <a:bodyPr wrap="square" rtlCol="0">
            <a:spAutoFit/>
          </a:bodyPr>
          <a:lstStyle/>
          <a:p>
            <a:r>
              <a:rPr lang="pt-BR" b="1" dirty="0">
                <a:solidFill>
                  <a:srgbClr val="FF0000"/>
                </a:solidFill>
              </a:rPr>
              <a:t>emaranhado / tapete </a:t>
            </a:r>
          </a:p>
        </p:txBody>
      </p:sp>
      <p:sp>
        <p:nvSpPr>
          <p:cNvPr id="7" name="CaixaDeTexto 6">
            <a:extLst>
              <a:ext uri="{FF2B5EF4-FFF2-40B4-BE49-F238E27FC236}">
                <a16:creationId xmlns:a16="http://schemas.microsoft.com/office/drawing/2014/main" id="{E15FCE0D-59CB-47D3-9852-E9D49FBA8D3E}"/>
              </a:ext>
            </a:extLst>
          </p:cNvPr>
          <p:cNvSpPr txBox="1"/>
          <p:nvPr/>
        </p:nvSpPr>
        <p:spPr>
          <a:xfrm>
            <a:off x="0" y="2001078"/>
            <a:ext cx="3736724" cy="369332"/>
          </a:xfrm>
          <a:prstGeom prst="rect">
            <a:avLst/>
          </a:prstGeom>
          <a:noFill/>
        </p:spPr>
        <p:txBody>
          <a:bodyPr wrap="square" rtlCol="0">
            <a:spAutoFit/>
          </a:bodyPr>
          <a:lstStyle/>
          <a:p>
            <a:r>
              <a:rPr lang="pt-BR" b="1" dirty="0">
                <a:solidFill>
                  <a:srgbClr val="FF0000"/>
                </a:solidFill>
              </a:rPr>
              <a:t>aturdido / estupefato / assombrado </a:t>
            </a:r>
          </a:p>
        </p:txBody>
      </p:sp>
      <p:sp>
        <p:nvSpPr>
          <p:cNvPr id="8" name="CaixaDeTexto 7">
            <a:extLst>
              <a:ext uri="{FF2B5EF4-FFF2-40B4-BE49-F238E27FC236}">
                <a16:creationId xmlns:a16="http://schemas.microsoft.com/office/drawing/2014/main" id="{0B34A800-C443-4158-BF55-01E66D1B60EF}"/>
              </a:ext>
            </a:extLst>
          </p:cNvPr>
          <p:cNvSpPr txBox="1"/>
          <p:nvPr/>
        </p:nvSpPr>
        <p:spPr>
          <a:xfrm>
            <a:off x="8275787" y="2001078"/>
            <a:ext cx="3736723" cy="369332"/>
          </a:xfrm>
          <a:prstGeom prst="rect">
            <a:avLst/>
          </a:prstGeom>
          <a:noFill/>
        </p:spPr>
        <p:txBody>
          <a:bodyPr wrap="square" rtlCol="0">
            <a:spAutoFit/>
          </a:bodyPr>
          <a:lstStyle/>
          <a:p>
            <a:r>
              <a:rPr lang="pt-BR" b="1" dirty="0">
                <a:solidFill>
                  <a:srgbClr val="FF0000"/>
                </a:solidFill>
              </a:rPr>
              <a:t>pensar / esperar / acreditar / calcular</a:t>
            </a:r>
          </a:p>
        </p:txBody>
      </p:sp>
      <p:sp>
        <p:nvSpPr>
          <p:cNvPr id="9" name="CaixaDeTexto 8">
            <a:extLst>
              <a:ext uri="{FF2B5EF4-FFF2-40B4-BE49-F238E27FC236}">
                <a16:creationId xmlns:a16="http://schemas.microsoft.com/office/drawing/2014/main" id="{3E96F16B-8A15-48A5-9515-05CC6D7ACBAB}"/>
              </a:ext>
            </a:extLst>
          </p:cNvPr>
          <p:cNvSpPr txBox="1"/>
          <p:nvPr/>
        </p:nvSpPr>
        <p:spPr>
          <a:xfrm>
            <a:off x="4174046" y="2001078"/>
            <a:ext cx="2871241" cy="369332"/>
          </a:xfrm>
          <a:prstGeom prst="rect">
            <a:avLst/>
          </a:prstGeom>
          <a:noFill/>
        </p:spPr>
        <p:txBody>
          <a:bodyPr wrap="square" rtlCol="0">
            <a:spAutoFit/>
          </a:bodyPr>
          <a:lstStyle/>
          <a:p>
            <a:r>
              <a:rPr lang="pt-BR" b="1" dirty="0">
                <a:solidFill>
                  <a:srgbClr val="FF0000"/>
                </a:solidFill>
              </a:rPr>
              <a:t>separadas / desmanteladas </a:t>
            </a:r>
          </a:p>
        </p:txBody>
      </p:sp>
      <p:sp>
        <p:nvSpPr>
          <p:cNvPr id="10" name="CaixaDeTexto 9">
            <a:extLst>
              <a:ext uri="{FF2B5EF4-FFF2-40B4-BE49-F238E27FC236}">
                <a16:creationId xmlns:a16="http://schemas.microsoft.com/office/drawing/2014/main" id="{D5AA2E8E-B658-4413-AFB2-41E63DC00F5B}"/>
              </a:ext>
            </a:extLst>
          </p:cNvPr>
          <p:cNvSpPr txBox="1"/>
          <p:nvPr/>
        </p:nvSpPr>
        <p:spPr>
          <a:xfrm>
            <a:off x="3584130" y="4475813"/>
            <a:ext cx="1047310" cy="369332"/>
          </a:xfrm>
          <a:prstGeom prst="rect">
            <a:avLst/>
          </a:prstGeom>
          <a:noFill/>
        </p:spPr>
        <p:txBody>
          <a:bodyPr wrap="square" rtlCol="0">
            <a:spAutoFit/>
          </a:bodyPr>
          <a:lstStyle/>
          <a:p>
            <a:r>
              <a:rPr lang="pt-BR" b="1" dirty="0">
                <a:solidFill>
                  <a:srgbClr val="FF0000"/>
                </a:solidFill>
              </a:rPr>
              <a:t>suspeita </a:t>
            </a:r>
          </a:p>
        </p:txBody>
      </p:sp>
      <p:sp>
        <p:nvSpPr>
          <p:cNvPr id="11" name="CaixaDeTexto 10">
            <a:extLst>
              <a:ext uri="{FF2B5EF4-FFF2-40B4-BE49-F238E27FC236}">
                <a16:creationId xmlns:a16="http://schemas.microsoft.com/office/drawing/2014/main" id="{C0E755BE-C599-46D6-85BE-98EFABFAAC65}"/>
              </a:ext>
            </a:extLst>
          </p:cNvPr>
          <p:cNvSpPr txBox="1"/>
          <p:nvPr/>
        </p:nvSpPr>
        <p:spPr>
          <a:xfrm>
            <a:off x="6910423" y="4106481"/>
            <a:ext cx="1365364" cy="369332"/>
          </a:xfrm>
          <a:prstGeom prst="rect">
            <a:avLst/>
          </a:prstGeom>
          <a:noFill/>
        </p:spPr>
        <p:txBody>
          <a:bodyPr wrap="square" rtlCol="0">
            <a:spAutoFit/>
          </a:bodyPr>
          <a:lstStyle/>
          <a:p>
            <a:r>
              <a:rPr lang="pt-BR" b="1" dirty="0">
                <a:solidFill>
                  <a:srgbClr val="FF0000"/>
                </a:solidFill>
              </a:rPr>
              <a:t>espalhados </a:t>
            </a:r>
          </a:p>
        </p:txBody>
      </p:sp>
      <p:sp>
        <p:nvSpPr>
          <p:cNvPr id="12" name="CaixaDeTexto 11">
            <a:extLst>
              <a:ext uri="{FF2B5EF4-FFF2-40B4-BE49-F238E27FC236}">
                <a16:creationId xmlns:a16="http://schemas.microsoft.com/office/drawing/2014/main" id="{4F266A82-486A-4D96-9A66-BAC5F3E56920}"/>
              </a:ext>
            </a:extLst>
          </p:cNvPr>
          <p:cNvSpPr txBox="1"/>
          <p:nvPr/>
        </p:nvSpPr>
        <p:spPr>
          <a:xfrm>
            <a:off x="10234234" y="4211024"/>
            <a:ext cx="931843" cy="369332"/>
          </a:xfrm>
          <a:prstGeom prst="rect">
            <a:avLst/>
          </a:prstGeom>
          <a:noFill/>
        </p:spPr>
        <p:txBody>
          <a:bodyPr wrap="square" rtlCol="0">
            <a:spAutoFit/>
          </a:bodyPr>
          <a:lstStyle/>
          <a:p>
            <a:r>
              <a:rPr lang="pt-BR" b="1" dirty="0">
                <a:solidFill>
                  <a:srgbClr val="FF0000"/>
                </a:solidFill>
              </a:rPr>
              <a:t>detritos </a:t>
            </a:r>
          </a:p>
        </p:txBody>
      </p:sp>
      <p:sp>
        <p:nvSpPr>
          <p:cNvPr id="13" name="CaixaDeTexto 12">
            <a:extLst>
              <a:ext uri="{FF2B5EF4-FFF2-40B4-BE49-F238E27FC236}">
                <a16:creationId xmlns:a16="http://schemas.microsoft.com/office/drawing/2014/main" id="{B67FF848-CB29-455B-86E4-E09694BDD89A}"/>
              </a:ext>
            </a:extLst>
          </p:cNvPr>
          <p:cNvSpPr txBox="1"/>
          <p:nvPr/>
        </p:nvSpPr>
        <p:spPr>
          <a:xfrm>
            <a:off x="6486550" y="4660479"/>
            <a:ext cx="1074012" cy="369332"/>
          </a:xfrm>
          <a:prstGeom prst="rect">
            <a:avLst/>
          </a:prstGeom>
          <a:noFill/>
        </p:spPr>
        <p:txBody>
          <a:bodyPr wrap="square" rtlCol="0">
            <a:spAutoFit/>
          </a:bodyPr>
          <a:lstStyle/>
          <a:p>
            <a:r>
              <a:rPr lang="pt-BR" b="1" dirty="0">
                <a:solidFill>
                  <a:srgbClr val="FF0000"/>
                </a:solidFill>
              </a:rPr>
              <a:t>liberados</a:t>
            </a:r>
          </a:p>
        </p:txBody>
      </p:sp>
      <p:sp>
        <p:nvSpPr>
          <p:cNvPr id="14" name="CaixaDeTexto 13">
            <a:extLst>
              <a:ext uri="{FF2B5EF4-FFF2-40B4-BE49-F238E27FC236}">
                <a16:creationId xmlns:a16="http://schemas.microsoft.com/office/drawing/2014/main" id="{619CDE73-8CA6-4EA9-A667-E3E8F0EEEA0B}"/>
              </a:ext>
            </a:extLst>
          </p:cNvPr>
          <p:cNvSpPr txBox="1"/>
          <p:nvPr/>
        </p:nvSpPr>
        <p:spPr>
          <a:xfrm>
            <a:off x="6970158" y="6351604"/>
            <a:ext cx="2824516" cy="369332"/>
          </a:xfrm>
          <a:prstGeom prst="rect">
            <a:avLst/>
          </a:prstGeom>
          <a:noFill/>
        </p:spPr>
        <p:txBody>
          <a:bodyPr wrap="square" rtlCol="0">
            <a:spAutoFit/>
          </a:bodyPr>
          <a:lstStyle/>
          <a:p>
            <a:r>
              <a:rPr lang="pt-BR" b="1" dirty="0">
                <a:solidFill>
                  <a:srgbClr val="FF0000"/>
                </a:solidFill>
              </a:rPr>
              <a:t>espreitando / escondendo</a:t>
            </a:r>
          </a:p>
        </p:txBody>
      </p:sp>
    </p:spTree>
    <p:extLst>
      <p:ext uri="{BB962C8B-B14F-4D97-AF65-F5344CB8AC3E}">
        <p14:creationId xmlns:p14="http://schemas.microsoft.com/office/powerpoint/2010/main" val="1755746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7"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anim calcmode="lin" valueType="num">
                                      <p:cBhvr>
                                        <p:cTn id="71" dur="1000" fill="hold"/>
                                        <p:tgtEl>
                                          <p:spTgt spid="13"/>
                                        </p:tgtEl>
                                        <p:attrNameLst>
                                          <p:attrName>ppt_x</p:attrName>
                                        </p:attrNameLst>
                                      </p:cBhvr>
                                      <p:tavLst>
                                        <p:tav tm="0">
                                          <p:val>
                                            <p:strVal val="#ppt_x"/>
                                          </p:val>
                                        </p:tav>
                                        <p:tav tm="100000">
                                          <p:val>
                                            <p:strVal val="#ppt_x"/>
                                          </p:val>
                                        </p:tav>
                                      </p:tavLst>
                                    </p:anim>
                                    <p:anim calcmode="lin" valueType="num">
                                      <p:cBhvr>
                                        <p:cTn id="7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7" presetClass="entr" presetSubtype="0"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1000"/>
                                        <p:tgtEl>
                                          <p:spTgt spid="14"/>
                                        </p:tgtEl>
                                      </p:cBhvr>
                                    </p:animEffect>
                                    <p:anim calcmode="lin" valueType="num">
                                      <p:cBhvr>
                                        <p:cTn id="78" dur="1000" fill="hold"/>
                                        <p:tgtEl>
                                          <p:spTgt spid="14"/>
                                        </p:tgtEl>
                                        <p:attrNameLst>
                                          <p:attrName>ppt_x</p:attrName>
                                        </p:attrNameLst>
                                      </p:cBhvr>
                                      <p:tavLst>
                                        <p:tav tm="0">
                                          <p:val>
                                            <p:strVal val="#ppt_x"/>
                                          </p:val>
                                        </p:tav>
                                        <p:tav tm="100000">
                                          <p:val>
                                            <p:strVal val="#ppt_x"/>
                                          </p:val>
                                        </p:tav>
                                      </p:tavLst>
                                    </p:anim>
                                    <p:anim calcmode="lin" valueType="num">
                                      <p:cBhvr>
                                        <p:cTn id="7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C909E0A-630F-4CFB-9E7F-5824213685A1}"/>
              </a:ext>
            </a:extLst>
          </p:cNvPr>
          <p:cNvSpPr/>
          <p:nvPr/>
        </p:nvSpPr>
        <p:spPr>
          <a:xfrm>
            <a:off x="198783" y="243512"/>
            <a:ext cx="11794433" cy="6370975"/>
          </a:xfrm>
          <a:prstGeom prst="rect">
            <a:avLst/>
          </a:prstGeom>
        </p:spPr>
        <p:txBody>
          <a:bodyPr wrap="square">
            <a:spAutoFit/>
          </a:bodyPr>
          <a:lstStyle/>
          <a:p>
            <a:pPr algn="just"/>
            <a:r>
              <a:rPr lang="en-US" sz="2400" dirty="0"/>
              <a:t>	The miniscule dimensions of microplastic—under five millimeters in diameter (</a:t>
            </a:r>
            <a:r>
              <a:rPr lang="en-US" sz="2400" b="1" dirty="0"/>
              <a:t>about</a:t>
            </a:r>
            <a:r>
              <a:rPr lang="en-US" sz="2400" dirty="0"/>
              <a:t> that of a grain of rice)—mean it can be ingested by a broader </a:t>
            </a:r>
            <a:r>
              <a:rPr lang="en-US" sz="2400" b="1" dirty="0">
                <a:solidFill>
                  <a:srgbClr val="00B0F0"/>
                </a:solidFill>
              </a:rPr>
              <a:t>range</a:t>
            </a:r>
            <a:r>
              <a:rPr lang="en-US" sz="2400" dirty="0"/>
              <a:t> of species than larger pieces, from tiny ocean plankton to humans. In animals’ bodies the waste can cause physical damage to organs and also, like a miniscule Trojan horse, </a:t>
            </a:r>
            <a:r>
              <a:rPr lang="en-US" sz="2400" b="1" dirty="0">
                <a:solidFill>
                  <a:srgbClr val="00B0F0"/>
                </a:solidFill>
              </a:rPr>
              <a:t>ferry in</a:t>
            </a:r>
            <a:r>
              <a:rPr lang="en-US" sz="2400" dirty="0"/>
              <a:t> hazardous chemicals and help them accumulate up the food chain.</a:t>
            </a:r>
          </a:p>
          <a:p>
            <a:pPr algn="just"/>
            <a:r>
              <a:rPr lang="en-US" sz="2400" dirty="0"/>
              <a:t>	An explosion of research to track microplastics is revealing a mountain of plastic hidden not only in the oceans but in the world’s rivers, lakes, farm and soil as well as organisms big and small. The stuff is even floating around in the air—from dense urban areas to the remote Arctic Ocean. “It’s everywhere,” says Chelsea </a:t>
            </a:r>
            <a:r>
              <a:rPr lang="en-US" sz="2400" dirty="0" err="1"/>
              <a:t>Rochman</a:t>
            </a:r>
            <a:r>
              <a:rPr lang="en-US" sz="2400" dirty="0"/>
              <a:t>, a microplastics researcher at the University of Toronto.</a:t>
            </a:r>
          </a:p>
          <a:p>
            <a:pPr algn="just"/>
            <a:r>
              <a:rPr lang="en-US" sz="2400" dirty="0"/>
              <a:t>	To understand the impacts—and how to </a:t>
            </a:r>
            <a:r>
              <a:rPr lang="en-US" sz="2400" b="1" dirty="0">
                <a:solidFill>
                  <a:srgbClr val="00B0F0"/>
                </a:solidFill>
              </a:rPr>
              <a:t>curb</a:t>
            </a:r>
            <a:r>
              <a:rPr lang="en-US" sz="2400" dirty="0"/>
              <a:t> the pollution—scientists need to know how much is concentrated in which places, where it is coming from and how it is moving around. Detecting microplastics, </a:t>
            </a:r>
            <a:r>
              <a:rPr lang="en-US" sz="2400" b="1" dirty="0"/>
              <a:t>though</a:t>
            </a:r>
            <a:r>
              <a:rPr lang="en-US" sz="2400" dirty="0"/>
              <a:t>, is complicated by the dizzying </a:t>
            </a:r>
            <a:r>
              <a:rPr lang="en-US" sz="2400" b="1" dirty="0">
                <a:solidFill>
                  <a:srgbClr val="00B0F0"/>
                </a:solidFill>
              </a:rPr>
              <a:t>array</a:t>
            </a:r>
            <a:r>
              <a:rPr lang="en-US" sz="2400" dirty="0"/>
              <a:t> of tens of thousands of polymers they contain, </a:t>
            </a:r>
            <a:r>
              <a:rPr lang="en-US" sz="2400" b="1" dirty="0"/>
              <a:t>as well as</a:t>
            </a:r>
            <a:r>
              <a:rPr lang="en-US" sz="2400" dirty="0"/>
              <a:t> their wide size range—from the scale of that grain of rice down to a virus. “It’s not like you’re trying to </a:t>
            </a:r>
            <a:r>
              <a:rPr lang="en-US" sz="2400" b="1" dirty="0">
                <a:solidFill>
                  <a:srgbClr val="00B0F0"/>
                </a:solidFill>
              </a:rPr>
              <a:t>sample</a:t>
            </a:r>
            <a:r>
              <a:rPr lang="en-US" sz="2400" dirty="0"/>
              <a:t> a contaminant like mercury or lead,” says Richard Thompson, a marine biologist at the University of Plymouth who helped coin the term microplastic. “It’s not a single thing, it’s many different things.”</a:t>
            </a:r>
          </a:p>
        </p:txBody>
      </p:sp>
      <p:sp>
        <p:nvSpPr>
          <p:cNvPr id="3" name="CaixaDeTexto 2">
            <a:extLst>
              <a:ext uri="{FF2B5EF4-FFF2-40B4-BE49-F238E27FC236}">
                <a16:creationId xmlns:a16="http://schemas.microsoft.com/office/drawing/2014/main" id="{D5FE3E6D-ADC8-4868-ADBD-8D115AF4B0C5}"/>
              </a:ext>
            </a:extLst>
          </p:cNvPr>
          <p:cNvSpPr txBox="1"/>
          <p:nvPr/>
        </p:nvSpPr>
        <p:spPr>
          <a:xfrm>
            <a:off x="8061318" y="58846"/>
            <a:ext cx="1268212" cy="369332"/>
          </a:xfrm>
          <a:prstGeom prst="rect">
            <a:avLst/>
          </a:prstGeom>
          <a:noFill/>
        </p:spPr>
        <p:txBody>
          <a:bodyPr wrap="square" rtlCol="0">
            <a:spAutoFit/>
          </a:bodyPr>
          <a:lstStyle/>
          <a:p>
            <a:r>
              <a:rPr lang="pt-BR" b="1" dirty="0">
                <a:solidFill>
                  <a:srgbClr val="FF0000"/>
                </a:solidFill>
              </a:rPr>
              <a:t>variedade</a:t>
            </a:r>
          </a:p>
        </p:txBody>
      </p:sp>
      <p:sp>
        <p:nvSpPr>
          <p:cNvPr id="5" name="CaixaDeTexto 4">
            <a:extLst>
              <a:ext uri="{FF2B5EF4-FFF2-40B4-BE49-F238E27FC236}">
                <a16:creationId xmlns:a16="http://schemas.microsoft.com/office/drawing/2014/main" id="{D8978540-2D69-4BAC-9BA3-7AC1524B9595}"/>
              </a:ext>
            </a:extLst>
          </p:cNvPr>
          <p:cNvSpPr txBox="1"/>
          <p:nvPr/>
        </p:nvSpPr>
        <p:spPr>
          <a:xfrm>
            <a:off x="7091324" y="1705379"/>
            <a:ext cx="2543005" cy="369332"/>
          </a:xfrm>
          <a:prstGeom prst="rect">
            <a:avLst/>
          </a:prstGeom>
          <a:noFill/>
        </p:spPr>
        <p:txBody>
          <a:bodyPr wrap="square" rtlCol="0">
            <a:spAutoFit/>
          </a:bodyPr>
          <a:lstStyle/>
          <a:p>
            <a:r>
              <a:rPr lang="pt-BR" b="1" dirty="0">
                <a:solidFill>
                  <a:srgbClr val="FF0000"/>
                </a:solidFill>
              </a:rPr>
              <a:t>transportar para dentro</a:t>
            </a:r>
          </a:p>
        </p:txBody>
      </p:sp>
      <p:sp>
        <p:nvSpPr>
          <p:cNvPr id="6" name="CaixaDeTexto 5">
            <a:extLst>
              <a:ext uri="{FF2B5EF4-FFF2-40B4-BE49-F238E27FC236}">
                <a16:creationId xmlns:a16="http://schemas.microsoft.com/office/drawing/2014/main" id="{E54B5928-F6BD-4BA9-92D0-81A99158E776}"/>
              </a:ext>
            </a:extLst>
          </p:cNvPr>
          <p:cNvSpPr txBox="1"/>
          <p:nvPr/>
        </p:nvSpPr>
        <p:spPr>
          <a:xfrm>
            <a:off x="5658677" y="3666702"/>
            <a:ext cx="1965319" cy="369332"/>
          </a:xfrm>
          <a:prstGeom prst="rect">
            <a:avLst/>
          </a:prstGeom>
          <a:noFill/>
        </p:spPr>
        <p:txBody>
          <a:bodyPr wrap="square" rtlCol="0">
            <a:spAutoFit/>
          </a:bodyPr>
          <a:lstStyle/>
          <a:p>
            <a:r>
              <a:rPr lang="pt-BR" b="1" dirty="0">
                <a:solidFill>
                  <a:srgbClr val="FF0000"/>
                </a:solidFill>
              </a:rPr>
              <a:t>limitar / controlar</a:t>
            </a:r>
          </a:p>
        </p:txBody>
      </p:sp>
      <p:sp>
        <p:nvSpPr>
          <p:cNvPr id="7" name="CaixaDeTexto 6">
            <a:extLst>
              <a:ext uri="{FF2B5EF4-FFF2-40B4-BE49-F238E27FC236}">
                <a16:creationId xmlns:a16="http://schemas.microsoft.com/office/drawing/2014/main" id="{6C5B2C72-6868-4AF5-80B1-9FED6F56673A}"/>
              </a:ext>
            </a:extLst>
          </p:cNvPr>
          <p:cNvSpPr txBox="1"/>
          <p:nvPr/>
        </p:nvSpPr>
        <p:spPr>
          <a:xfrm>
            <a:off x="8413128" y="3666702"/>
            <a:ext cx="3843132" cy="369332"/>
          </a:xfrm>
          <a:prstGeom prst="rect">
            <a:avLst/>
          </a:prstGeom>
          <a:noFill/>
        </p:spPr>
        <p:txBody>
          <a:bodyPr wrap="square" rtlCol="0">
            <a:spAutoFit/>
          </a:bodyPr>
          <a:lstStyle/>
          <a:p>
            <a:r>
              <a:rPr lang="pt-BR" b="1" dirty="0">
                <a:solidFill>
                  <a:srgbClr val="FF0000"/>
                </a:solidFill>
              </a:rPr>
              <a:t>conjunto / grupo / grande número de</a:t>
            </a:r>
          </a:p>
        </p:txBody>
      </p:sp>
      <p:sp>
        <p:nvSpPr>
          <p:cNvPr id="8" name="CaixaDeTexto 7">
            <a:extLst>
              <a:ext uri="{FF2B5EF4-FFF2-40B4-BE49-F238E27FC236}">
                <a16:creationId xmlns:a16="http://schemas.microsoft.com/office/drawing/2014/main" id="{1C68A86B-7361-40EF-ACEC-02C3013A7B2B}"/>
              </a:ext>
            </a:extLst>
          </p:cNvPr>
          <p:cNvSpPr txBox="1"/>
          <p:nvPr/>
        </p:nvSpPr>
        <p:spPr>
          <a:xfrm>
            <a:off x="7339116" y="6429821"/>
            <a:ext cx="1074012" cy="369332"/>
          </a:xfrm>
          <a:prstGeom prst="rect">
            <a:avLst/>
          </a:prstGeom>
          <a:noFill/>
        </p:spPr>
        <p:txBody>
          <a:bodyPr wrap="square" rtlCol="0">
            <a:spAutoFit/>
          </a:bodyPr>
          <a:lstStyle/>
          <a:p>
            <a:r>
              <a:rPr lang="pt-BR" b="1" dirty="0">
                <a:solidFill>
                  <a:srgbClr val="FF0000"/>
                </a:solidFill>
              </a:rPr>
              <a:t>amostrar </a:t>
            </a:r>
          </a:p>
        </p:txBody>
      </p:sp>
    </p:spTree>
    <p:extLst>
      <p:ext uri="{BB962C8B-B14F-4D97-AF65-F5344CB8AC3E}">
        <p14:creationId xmlns:p14="http://schemas.microsoft.com/office/powerpoint/2010/main" val="17640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6980F877-4D1F-4733-AE5A-4A02A9C4F437}"/>
              </a:ext>
            </a:extLst>
          </p:cNvPr>
          <p:cNvSpPr/>
          <p:nvPr/>
        </p:nvSpPr>
        <p:spPr>
          <a:xfrm>
            <a:off x="172278" y="929317"/>
            <a:ext cx="11847444" cy="4524315"/>
          </a:xfrm>
          <a:prstGeom prst="rect">
            <a:avLst/>
          </a:prstGeom>
        </p:spPr>
        <p:txBody>
          <a:bodyPr wrap="square">
            <a:spAutoFit/>
          </a:bodyPr>
          <a:lstStyle/>
          <a:p>
            <a:pPr algn="just"/>
            <a:r>
              <a:rPr lang="en-US" sz="2400" dirty="0"/>
              <a:t>	As scientists </a:t>
            </a:r>
            <a:r>
              <a:rPr lang="en-US" sz="2400" b="1" dirty="0">
                <a:solidFill>
                  <a:srgbClr val="00B0F0"/>
                </a:solidFill>
              </a:rPr>
              <a:t>comb</a:t>
            </a:r>
            <a:r>
              <a:rPr lang="en-US" sz="2400" dirty="0"/>
              <a:t> for microplastics and move away from visual identification to machine sensors, they are finding the stuff at ever-smaller sizes. Most researchers think microplastics are degrading even further into what they call </a:t>
            </a:r>
            <a:r>
              <a:rPr lang="en-US" sz="2400" dirty="0" err="1"/>
              <a:t>nanoplastics</a:t>
            </a:r>
            <a:r>
              <a:rPr lang="en-US" sz="2400" dirty="0"/>
              <a:t>. These infinitesimal specks would be of even greater concern because if ingested, they are likelier to penetrate the gut lining to reach the bloodstream or if inhaled, </a:t>
            </a:r>
            <a:r>
              <a:rPr lang="en-US" sz="2400" b="1" dirty="0">
                <a:solidFill>
                  <a:srgbClr val="00B0F0"/>
                </a:solidFill>
              </a:rPr>
              <a:t>lodge</a:t>
            </a:r>
            <a:r>
              <a:rPr lang="en-US" sz="2400" dirty="0"/>
              <a:t> deep in the lungs. Such </a:t>
            </a:r>
            <a:r>
              <a:rPr lang="en-US" sz="2400" dirty="0" err="1"/>
              <a:t>nanosize</a:t>
            </a:r>
            <a:r>
              <a:rPr lang="en-US" sz="2400" dirty="0"/>
              <a:t> fragments have been shown to form in lab experiments, </a:t>
            </a:r>
            <a:r>
              <a:rPr lang="en-US" sz="2400" b="1" dirty="0"/>
              <a:t>so</a:t>
            </a:r>
            <a:r>
              <a:rPr lang="en-US" sz="2400" dirty="0"/>
              <a:t> most researchers are confident they are out in the environment. But currently, “we don’t have any methods that will isolate </a:t>
            </a:r>
            <a:r>
              <a:rPr lang="en-US" sz="2400" dirty="0" err="1"/>
              <a:t>nanoplastics</a:t>
            </a:r>
            <a:r>
              <a:rPr lang="en-US" sz="2400" dirty="0"/>
              <a:t>” </a:t>
            </a:r>
            <a:r>
              <a:rPr lang="en-US" sz="2400" b="1" dirty="0"/>
              <a:t>there</a:t>
            </a:r>
            <a:r>
              <a:rPr lang="en-US" sz="2400" dirty="0"/>
              <a:t>, Thompson says. Several groups are working on developing ways to illuminate this hidden threat, including researchers at the AWI that have so far shown a way to identify known </a:t>
            </a:r>
            <a:r>
              <a:rPr lang="en-US" sz="2400" dirty="0" err="1"/>
              <a:t>nanoplastics</a:t>
            </a:r>
            <a:r>
              <a:rPr lang="en-US" sz="2400" dirty="0"/>
              <a:t> in samples. When such methods reach fruition, Bergmann expects “we will find that the ocean is much more polluted than we think now.” The same goes for other environments.</a:t>
            </a:r>
          </a:p>
        </p:txBody>
      </p:sp>
      <p:sp>
        <p:nvSpPr>
          <p:cNvPr id="3" name="CaixaDeTexto 2">
            <a:extLst>
              <a:ext uri="{FF2B5EF4-FFF2-40B4-BE49-F238E27FC236}">
                <a16:creationId xmlns:a16="http://schemas.microsoft.com/office/drawing/2014/main" id="{40C697B2-BC31-4A06-B0FB-3E2CFA34C45D}"/>
              </a:ext>
            </a:extLst>
          </p:cNvPr>
          <p:cNvSpPr txBox="1"/>
          <p:nvPr/>
        </p:nvSpPr>
        <p:spPr>
          <a:xfrm>
            <a:off x="1143682" y="559985"/>
            <a:ext cx="4541499" cy="369332"/>
          </a:xfrm>
          <a:prstGeom prst="rect">
            <a:avLst/>
          </a:prstGeom>
          <a:noFill/>
        </p:spPr>
        <p:txBody>
          <a:bodyPr wrap="square" rtlCol="0">
            <a:spAutoFit/>
          </a:bodyPr>
          <a:lstStyle/>
          <a:p>
            <a:r>
              <a:rPr lang="pt-BR" b="1" dirty="0">
                <a:solidFill>
                  <a:srgbClr val="FF0000"/>
                </a:solidFill>
              </a:rPr>
              <a:t>Procurar cuidadosamente, minuciosamente</a:t>
            </a:r>
          </a:p>
        </p:txBody>
      </p:sp>
      <p:sp>
        <p:nvSpPr>
          <p:cNvPr id="5" name="CaixaDeTexto 4">
            <a:extLst>
              <a:ext uri="{FF2B5EF4-FFF2-40B4-BE49-F238E27FC236}">
                <a16:creationId xmlns:a16="http://schemas.microsoft.com/office/drawing/2014/main" id="{091A8F0C-0B10-43A4-B3B3-A76E3592A033}"/>
              </a:ext>
            </a:extLst>
          </p:cNvPr>
          <p:cNvSpPr txBox="1"/>
          <p:nvPr/>
        </p:nvSpPr>
        <p:spPr>
          <a:xfrm>
            <a:off x="6219266" y="5021272"/>
            <a:ext cx="2010334" cy="369332"/>
          </a:xfrm>
          <a:prstGeom prst="rect">
            <a:avLst/>
          </a:prstGeom>
          <a:noFill/>
        </p:spPr>
        <p:txBody>
          <a:bodyPr wrap="square" rtlCol="0">
            <a:spAutoFit/>
          </a:bodyPr>
          <a:lstStyle/>
          <a:p>
            <a:r>
              <a:rPr lang="pt-BR" b="1" dirty="0">
                <a:solidFill>
                  <a:srgbClr val="FF0000"/>
                </a:solidFill>
              </a:rPr>
              <a:t>alojar / depositar</a:t>
            </a:r>
          </a:p>
        </p:txBody>
      </p:sp>
    </p:spTree>
    <p:extLst>
      <p:ext uri="{BB962C8B-B14F-4D97-AF65-F5344CB8AC3E}">
        <p14:creationId xmlns:p14="http://schemas.microsoft.com/office/powerpoint/2010/main" val="165869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6B3B88D2-6793-40D7-8A18-E4144ED69B41}"/>
              </a:ext>
            </a:extLst>
          </p:cNvPr>
          <p:cNvSpPr/>
          <p:nvPr/>
        </p:nvSpPr>
        <p:spPr>
          <a:xfrm>
            <a:off x="324678" y="318053"/>
            <a:ext cx="11542644" cy="6001643"/>
          </a:xfrm>
          <a:prstGeom prst="rect">
            <a:avLst/>
          </a:prstGeom>
        </p:spPr>
        <p:txBody>
          <a:bodyPr wrap="square">
            <a:spAutoFit/>
          </a:bodyPr>
          <a:lstStyle/>
          <a:p>
            <a:pPr algn="just"/>
            <a:r>
              <a:rPr lang="en-US" sz="2400" dirty="0"/>
              <a:t>	The research community is also working to </a:t>
            </a:r>
            <a:r>
              <a:rPr lang="en-US" sz="2400" b="1" dirty="0">
                <a:solidFill>
                  <a:srgbClr val="00B0F0"/>
                </a:solidFill>
              </a:rPr>
              <a:t>weed out</a:t>
            </a:r>
            <a:r>
              <a:rPr lang="en-US" sz="2400" dirty="0"/>
              <a:t> methods that can under- or overestimate microplastic numbers and to </a:t>
            </a:r>
            <a:r>
              <a:rPr lang="en-US" sz="2400" b="1" dirty="0">
                <a:solidFill>
                  <a:srgbClr val="00B0F0"/>
                </a:solidFill>
              </a:rPr>
              <a:t>standardize</a:t>
            </a:r>
            <a:r>
              <a:rPr lang="en-US" sz="2400" dirty="0"/>
              <a:t> methods so they can compare the results of different studies. </a:t>
            </a:r>
            <a:r>
              <a:rPr lang="en-US" sz="2400" b="1" dirty="0"/>
              <a:t>Although</a:t>
            </a:r>
            <a:r>
              <a:rPr lang="en-US" sz="2400" dirty="0"/>
              <a:t> “there’s still so much to be done, just in understanding the sources and the pathways and the abundance on all of these different systems,” as Mason says, it is becoming clear microplastics, particularly microfibers, are </a:t>
            </a:r>
            <a:r>
              <a:rPr lang="en-US" sz="2400" b="1" dirty="0">
                <a:solidFill>
                  <a:srgbClr val="00B0F0"/>
                </a:solidFill>
              </a:rPr>
              <a:t>pervasive</a:t>
            </a:r>
            <a:r>
              <a:rPr lang="en-US" sz="2400" dirty="0"/>
              <a:t>, with some hotspots </a:t>
            </a:r>
            <a:r>
              <a:rPr lang="en-US" sz="2400" b="1" dirty="0">
                <a:solidFill>
                  <a:srgbClr val="00B0F0"/>
                </a:solidFill>
              </a:rPr>
              <a:t>hewing</a:t>
            </a:r>
            <a:r>
              <a:rPr lang="en-US" sz="2400" dirty="0"/>
              <a:t> close to populated areas. Experts are excited. “The movement of the science is so rapid, I think we’re going to know a ton more in five or 10 years,” Sutton says. They will </a:t>
            </a:r>
            <a:r>
              <a:rPr lang="en-US" sz="2400" b="1" dirty="0"/>
              <a:t>then</a:t>
            </a:r>
            <a:r>
              <a:rPr lang="en-US" sz="2400" dirty="0"/>
              <a:t> have a better idea of which organisms and ecosystems are most threatened, and may be able to advise policy makers on where to intervene to keep plastic out of the environment in the first place.</a:t>
            </a:r>
          </a:p>
          <a:p>
            <a:pPr algn="just"/>
            <a:r>
              <a:rPr lang="en-US" sz="2400" dirty="0"/>
              <a:t>	</a:t>
            </a:r>
          </a:p>
          <a:p>
            <a:pPr algn="just"/>
            <a:r>
              <a:rPr lang="en-US" sz="2400" b="1" dirty="0"/>
              <a:t>While</a:t>
            </a:r>
            <a:r>
              <a:rPr lang="en-US" sz="2400" dirty="0"/>
              <a:t> the work to locate microplastic continues, scientists are not losing any time </a:t>
            </a:r>
            <a:r>
              <a:rPr lang="en-US" sz="2400" b="1" dirty="0">
                <a:solidFill>
                  <a:srgbClr val="00B0F0"/>
                </a:solidFill>
              </a:rPr>
              <a:t>tracing</a:t>
            </a:r>
            <a:r>
              <a:rPr lang="en-US" sz="2400" dirty="0"/>
              <a:t> the harm it might be doing to organisms and ecosystems. That includes humans, through the health of the soils in which we grow our food, the quality of our drinking water and even more directly as we ingest it and breath it in. As Mason put it: “That’s the question that everyone wants to answer.”</a:t>
            </a:r>
          </a:p>
        </p:txBody>
      </p:sp>
      <p:sp>
        <p:nvSpPr>
          <p:cNvPr id="3" name="CaixaDeTexto 2">
            <a:extLst>
              <a:ext uri="{FF2B5EF4-FFF2-40B4-BE49-F238E27FC236}">
                <a16:creationId xmlns:a16="http://schemas.microsoft.com/office/drawing/2014/main" id="{BACB5991-BD5E-4F98-BD88-64EBE250FB74}"/>
              </a:ext>
            </a:extLst>
          </p:cNvPr>
          <p:cNvSpPr txBox="1"/>
          <p:nvPr/>
        </p:nvSpPr>
        <p:spPr>
          <a:xfrm>
            <a:off x="7239684" y="133387"/>
            <a:ext cx="2248872" cy="369332"/>
          </a:xfrm>
          <a:prstGeom prst="rect">
            <a:avLst/>
          </a:prstGeom>
          <a:noFill/>
        </p:spPr>
        <p:txBody>
          <a:bodyPr wrap="square" rtlCol="0">
            <a:spAutoFit/>
          </a:bodyPr>
          <a:lstStyle/>
          <a:p>
            <a:r>
              <a:rPr lang="pt-BR" b="1" dirty="0">
                <a:solidFill>
                  <a:srgbClr val="FF0000"/>
                </a:solidFill>
              </a:rPr>
              <a:t>eliminar / descartar</a:t>
            </a:r>
          </a:p>
        </p:txBody>
      </p:sp>
      <p:sp>
        <p:nvSpPr>
          <p:cNvPr id="5" name="CaixaDeTexto 4">
            <a:extLst>
              <a:ext uri="{FF2B5EF4-FFF2-40B4-BE49-F238E27FC236}">
                <a16:creationId xmlns:a16="http://schemas.microsoft.com/office/drawing/2014/main" id="{30EE70B5-A4DB-4D01-92AB-2FD8443B09F9}"/>
              </a:ext>
            </a:extLst>
          </p:cNvPr>
          <p:cNvSpPr txBox="1"/>
          <p:nvPr/>
        </p:nvSpPr>
        <p:spPr>
          <a:xfrm>
            <a:off x="5021988" y="133387"/>
            <a:ext cx="1405316" cy="369332"/>
          </a:xfrm>
          <a:prstGeom prst="rect">
            <a:avLst/>
          </a:prstGeom>
          <a:noFill/>
        </p:spPr>
        <p:txBody>
          <a:bodyPr wrap="square" rtlCol="0">
            <a:spAutoFit/>
          </a:bodyPr>
          <a:lstStyle/>
          <a:p>
            <a:r>
              <a:rPr lang="pt-BR" b="1" dirty="0">
                <a:solidFill>
                  <a:srgbClr val="FF0000"/>
                </a:solidFill>
              </a:rPr>
              <a:t>padronizar</a:t>
            </a:r>
          </a:p>
        </p:txBody>
      </p:sp>
      <p:sp>
        <p:nvSpPr>
          <p:cNvPr id="6" name="CaixaDeTexto 5">
            <a:extLst>
              <a:ext uri="{FF2B5EF4-FFF2-40B4-BE49-F238E27FC236}">
                <a16:creationId xmlns:a16="http://schemas.microsoft.com/office/drawing/2014/main" id="{257FB0D1-EA39-4464-BFF6-9BC1D51A1376}"/>
              </a:ext>
            </a:extLst>
          </p:cNvPr>
          <p:cNvSpPr txBox="1"/>
          <p:nvPr/>
        </p:nvSpPr>
        <p:spPr>
          <a:xfrm>
            <a:off x="6908379" y="3573936"/>
            <a:ext cx="5283621" cy="369332"/>
          </a:xfrm>
          <a:prstGeom prst="rect">
            <a:avLst/>
          </a:prstGeom>
          <a:noFill/>
        </p:spPr>
        <p:txBody>
          <a:bodyPr wrap="square" rtlCol="0">
            <a:spAutoFit/>
          </a:bodyPr>
          <a:lstStyle/>
          <a:p>
            <a:r>
              <a:rPr lang="pt-BR" b="1" dirty="0">
                <a:solidFill>
                  <a:srgbClr val="FF0000"/>
                </a:solidFill>
              </a:rPr>
              <a:t>penetrante / </a:t>
            </a:r>
            <a:r>
              <a:rPr lang="pt-BR" b="1" dirty="0" err="1">
                <a:solidFill>
                  <a:srgbClr val="FF0000"/>
                </a:solidFill>
              </a:rPr>
              <a:t>infiltrante</a:t>
            </a:r>
            <a:r>
              <a:rPr lang="pt-BR" b="1" dirty="0">
                <a:solidFill>
                  <a:srgbClr val="FF0000"/>
                </a:solidFill>
              </a:rPr>
              <a:t> / presente em grande escala</a:t>
            </a:r>
          </a:p>
        </p:txBody>
      </p:sp>
      <p:sp>
        <p:nvSpPr>
          <p:cNvPr id="7" name="CaixaDeTexto 6">
            <a:extLst>
              <a:ext uri="{FF2B5EF4-FFF2-40B4-BE49-F238E27FC236}">
                <a16:creationId xmlns:a16="http://schemas.microsoft.com/office/drawing/2014/main" id="{8A1CC46E-F422-4EFB-9235-4CC2CAF72C4C}"/>
              </a:ext>
            </a:extLst>
          </p:cNvPr>
          <p:cNvSpPr txBox="1"/>
          <p:nvPr/>
        </p:nvSpPr>
        <p:spPr>
          <a:xfrm>
            <a:off x="1501491" y="3943268"/>
            <a:ext cx="2619935" cy="369332"/>
          </a:xfrm>
          <a:prstGeom prst="rect">
            <a:avLst/>
          </a:prstGeom>
          <a:noFill/>
        </p:spPr>
        <p:txBody>
          <a:bodyPr wrap="square" rtlCol="0">
            <a:spAutoFit/>
          </a:bodyPr>
          <a:lstStyle/>
          <a:p>
            <a:r>
              <a:rPr lang="pt-BR" b="1" dirty="0">
                <a:solidFill>
                  <a:srgbClr val="FF0000"/>
                </a:solidFill>
              </a:rPr>
              <a:t>cortando / passando por</a:t>
            </a:r>
          </a:p>
        </p:txBody>
      </p:sp>
      <p:sp>
        <p:nvSpPr>
          <p:cNvPr id="8" name="CaixaDeTexto 7">
            <a:extLst>
              <a:ext uri="{FF2B5EF4-FFF2-40B4-BE49-F238E27FC236}">
                <a16:creationId xmlns:a16="http://schemas.microsoft.com/office/drawing/2014/main" id="{916432A9-1420-41B2-B77C-FE396AC60D59}"/>
              </a:ext>
            </a:extLst>
          </p:cNvPr>
          <p:cNvSpPr txBox="1"/>
          <p:nvPr/>
        </p:nvSpPr>
        <p:spPr>
          <a:xfrm>
            <a:off x="10690509" y="4127934"/>
            <a:ext cx="1298713" cy="369332"/>
          </a:xfrm>
          <a:prstGeom prst="rect">
            <a:avLst/>
          </a:prstGeom>
          <a:noFill/>
        </p:spPr>
        <p:txBody>
          <a:bodyPr wrap="square" rtlCol="0">
            <a:spAutoFit/>
          </a:bodyPr>
          <a:lstStyle/>
          <a:p>
            <a:r>
              <a:rPr lang="pt-BR" b="1" dirty="0">
                <a:solidFill>
                  <a:srgbClr val="FF0000"/>
                </a:solidFill>
              </a:rPr>
              <a:t>rastreando</a:t>
            </a:r>
          </a:p>
        </p:txBody>
      </p:sp>
    </p:spTree>
    <p:extLst>
      <p:ext uri="{BB962C8B-B14F-4D97-AF65-F5344CB8AC3E}">
        <p14:creationId xmlns:p14="http://schemas.microsoft.com/office/powerpoint/2010/main" val="281518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0BF3254-A797-4885-8A7B-E95AA711D48B}"/>
              </a:ext>
            </a:extLst>
          </p:cNvPr>
          <p:cNvSpPr txBox="1"/>
          <p:nvPr/>
        </p:nvSpPr>
        <p:spPr>
          <a:xfrm>
            <a:off x="781878" y="-79511"/>
            <a:ext cx="11078818" cy="6986528"/>
          </a:xfrm>
          <a:prstGeom prst="rect">
            <a:avLst/>
          </a:prstGeom>
          <a:noFill/>
        </p:spPr>
        <p:txBody>
          <a:bodyPr wrap="square" rtlCol="0">
            <a:spAutoFit/>
          </a:bodyPr>
          <a:lstStyle/>
          <a:p>
            <a:pPr algn="just"/>
            <a:r>
              <a:rPr lang="pt-BR" sz="2800" dirty="0"/>
              <a:t>1. </a:t>
            </a:r>
            <a:r>
              <a:rPr lang="pt-BR" sz="2800" dirty="0" err="1"/>
              <a:t>According</a:t>
            </a:r>
            <a:r>
              <a:rPr lang="pt-BR" sz="2800" dirty="0"/>
              <a:t> </a:t>
            </a:r>
            <a:r>
              <a:rPr lang="pt-BR" sz="2800" dirty="0" err="1"/>
              <a:t>to</a:t>
            </a:r>
            <a:r>
              <a:rPr lang="pt-BR" sz="2800" dirty="0"/>
              <a:t> </a:t>
            </a:r>
            <a:r>
              <a:rPr lang="pt-BR" sz="2800" dirty="0" err="1"/>
              <a:t>the</a:t>
            </a:r>
            <a:r>
              <a:rPr lang="pt-BR" sz="2800" dirty="0"/>
              <a:t> </a:t>
            </a:r>
            <a:r>
              <a:rPr lang="pt-BR" sz="2800" dirty="0" err="1"/>
              <a:t>text</a:t>
            </a:r>
            <a:r>
              <a:rPr lang="pt-BR" sz="2800" dirty="0"/>
              <a:t>:</a:t>
            </a:r>
          </a:p>
          <a:p>
            <a:pPr algn="just"/>
            <a:endParaRPr lang="pt-BR" sz="2800" dirty="0"/>
          </a:p>
          <a:p>
            <a:pPr algn="just"/>
            <a:r>
              <a:rPr lang="pt-BR" sz="2800" dirty="0"/>
              <a:t>A) </a:t>
            </a:r>
            <a:r>
              <a:rPr lang="pt-BR" sz="2800" dirty="0" err="1"/>
              <a:t>Microplastic</a:t>
            </a:r>
            <a:r>
              <a:rPr lang="pt-BR" sz="2800" dirty="0"/>
              <a:t> </a:t>
            </a:r>
            <a:r>
              <a:rPr lang="pt-BR" sz="2800" dirty="0" err="1"/>
              <a:t>pollution</a:t>
            </a:r>
            <a:r>
              <a:rPr lang="pt-BR" sz="2800" dirty="0"/>
              <a:t> </a:t>
            </a:r>
            <a:r>
              <a:rPr lang="pt-BR" sz="2800" dirty="0" err="1"/>
              <a:t>is</a:t>
            </a:r>
            <a:r>
              <a:rPr lang="pt-BR" sz="2800" dirty="0"/>
              <a:t> a </a:t>
            </a:r>
            <a:r>
              <a:rPr lang="pt-BR" sz="2800" dirty="0" err="1"/>
              <a:t>recent</a:t>
            </a:r>
            <a:r>
              <a:rPr lang="pt-BR" sz="2800" dirty="0"/>
              <a:t> </a:t>
            </a:r>
            <a:r>
              <a:rPr lang="pt-BR" sz="2800" dirty="0" err="1"/>
              <a:t>problem</a:t>
            </a:r>
            <a:r>
              <a:rPr lang="pt-BR" sz="2800" dirty="0"/>
              <a:t> </a:t>
            </a:r>
            <a:r>
              <a:rPr lang="pt-BR" sz="2800" dirty="0" err="1"/>
              <a:t>and</a:t>
            </a:r>
            <a:r>
              <a:rPr lang="pt-BR" sz="2800" dirty="0"/>
              <a:t> its </a:t>
            </a:r>
            <a:r>
              <a:rPr lang="pt-BR" sz="2800" dirty="0" err="1"/>
              <a:t>first</a:t>
            </a:r>
            <a:r>
              <a:rPr lang="pt-BR" sz="2800" dirty="0"/>
              <a:t> </a:t>
            </a:r>
            <a:r>
              <a:rPr lang="pt-BR" sz="2800" dirty="0" err="1"/>
              <a:t>evidences</a:t>
            </a:r>
            <a:r>
              <a:rPr lang="pt-BR" sz="2800" dirty="0"/>
              <a:t> </a:t>
            </a:r>
            <a:r>
              <a:rPr lang="pt-BR" sz="2800" dirty="0" err="1"/>
              <a:t>were</a:t>
            </a:r>
            <a:r>
              <a:rPr lang="pt-BR" sz="2800" dirty="0"/>
              <a:t> </a:t>
            </a:r>
            <a:r>
              <a:rPr lang="pt-BR" sz="2800" dirty="0" err="1"/>
              <a:t>found</a:t>
            </a:r>
            <a:r>
              <a:rPr lang="pt-BR" sz="2800" dirty="0"/>
              <a:t> in </a:t>
            </a:r>
            <a:r>
              <a:rPr lang="pt-BR" sz="2800" dirty="0" err="1"/>
              <a:t>the</a:t>
            </a:r>
            <a:r>
              <a:rPr lang="pt-BR" sz="2800" dirty="0"/>
              <a:t> 21st </a:t>
            </a:r>
            <a:r>
              <a:rPr lang="pt-BR" sz="2800" dirty="0" err="1"/>
              <a:t>Century</a:t>
            </a:r>
            <a:r>
              <a:rPr lang="pt-BR" sz="2800" dirty="0"/>
              <a:t>.</a:t>
            </a:r>
          </a:p>
          <a:p>
            <a:pPr algn="just"/>
            <a:endParaRPr lang="pt-BR" sz="2800" dirty="0"/>
          </a:p>
          <a:p>
            <a:pPr algn="just"/>
            <a:r>
              <a:rPr lang="pt-BR" sz="2800" dirty="0"/>
              <a:t>B) </a:t>
            </a:r>
            <a:r>
              <a:rPr lang="pt-BR" sz="2800" dirty="0" err="1"/>
              <a:t>Microplastic</a:t>
            </a:r>
            <a:r>
              <a:rPr lang="pt-BR" sz="2800" dirty="0"/>
              <a:t> </a:t>
            </a:r>
            <a:r>
              <a:rPr lang="pt-BR" sz="2800" dirty="0" err="1"/>
              <a:t>can</a:t>
            </a:r>
            <a:r>
              <a:rPr lang="pt-BR" sz="2800" dirty="0"/>
              <a:t> </a:t>
            </a:r>
            <a:r>
              <a:rPr lang="pt-BR" sz="2800" dirty="0" err="1"/>
              <a:t>only</a:t>
            </a:r>
            <a:r>
              <a:rPr lang="pt-BR" sz="2800" dirty="0"/>
              <a:t> </a:t>
            </a:r>
            <a:r>
              <a:rPr lang="pt-BR" sz="2800" dirty="0" err="1"/>
              <a:t>be</a:t>
            </a:r>
            <a:r>
              <a:rPr lang="pt-BR" sz="2800" dirty="0"/>
              <a:t> </a:t>
            </a:r>
            <a:r>
              <a:rPr lang="pt-BR" sz="2800" dirty="0" err="1"/>
              <a:t>found</a:t>
            </a:r>
            <a:r>
              <a:rPr lang="pt-BR" sz="2800" dirty="0"/>
              <a:t> </a:t>
            </a:r>
            <a:r>
              <a:rPr lang="pt-BR" sz="2800" dirty="0" err="1"/>
              <a:t>at</a:t>
            </a:r>
            <a:r>
              <a:rPr lang="pt-BR" sz="2800" dirty="0"/>
              <a:t> </a:t>
            </a:r>
            <a:r>
              <a:rPr lang="pt-BR" sz="2800" dirty="0" err="1"/>
              <a:t>the</a:t>
            </a:r>
            <a:r>
              <a:rPr lang="pt-BR" sz="2800" dirty="0"/>
              <a:t> </a:t>
            </a:r>
            <a:r>
              <a:rPr lang="pt-BR" sz="2800" dirty="0" err="1"/>
              <a:t>Sargassum</a:t>
            </a:r>
            <a:r>
              <a:rPr lang="pt-BR" sz="2800" dirty="0"/>
              <a:t> </a:t>
            </a:r>
            <a:r>
              <a:rPr lang="pt-BR" sz="2800" dirty="0" err="1"/>
              <a:t>Sea</a:t>
            </a:r>
            <a:r>
              <a:rPr lang="pt-BR" sz="2800" dirty="0"/>
              <a:t>, </a:t>
            </a:r>
            <a:r>
              <a:rPr lang="pt-BR" sz="2800" dirty="0" err="1"/>
              <a:t>the</a:t>
            </a:r>
            <a:r>
              <a:rPr lang="pt-BR" sz="2800" dirty="0"/>
              <a:t> Pacific </a:t>
            </a:r>
            <a:r>
              <a:rPr lang="pt-BR" sz="2800" dirty="0" err="1"/>
              <a:t>Ocean</a:t>
            </a:r>
            <a:r>
              <a:rPr lang="pt-BR" sz="2800" dirty="0"/>
              <a:t> </a:t>
            </a:r>
            <a:r>
              <a:rPr lang="pt-BR" sz="2800" dirty="0" err="1"/>
              <a:t>and</a:t>
            </a:r>
            <a:r>
              <a:rPr lang="pt-BR" sz="2800" dirty="0"/>
              <a:t> </a:t>
            </a:r>
            <a:r>
              <a:rPr lang="pt-BR" sz="2800" dirty="0" err="1"/>
              <a:t>the</a:t>
            </a:r>
            <a:r>
              <a:rPr lang="pt-BR" sz="2800" dirty="0"/>
              <a:t> </a:t>
            </a:r>
            <a:r>
              <a:rPr lang="pt-BR" sz="2800" dirty="0" err="1"/>
              <a:t>Artic</a:t>
            </a:r>
            <a:r>
              <a:rPr lang="pt-BR" sz="2800" dirty="0"/>
              <a:t> Ocean.</a:t>
            </a:r>
          </a:p>
          <a:p>
            <a:pPr algn="just"/>
            <a:endParaRPr lang="pt-BR" sz="2800" dirty="0"/>
          </a:p>
          <a:p>
            <a:pPr algn="just"/>
            <a:r>
              <a:rPr lang="pt-BR" sz="2800" dirty="0"/>
              <a:t>C) The </a:t>
            </a:r>
            <a:r>
              <a:rPr lang="pt-BR" sz="2800" dirty="0" err="1"/>
              <a:t>influence</a:t>
            </a:r>
            <a:r>
              <a:rPr lang="pt-BR" sz="2800" dirty="0"/>
              <a:t> </a:t>
            </a:r>
            <a:r>
              <a:rPr lang="pt-BR" sz="2800" dirty="0" err="1"/>
              <a:t>of</a:t>
            </a:r>
            <a:r>
              <a:rPr lang="pt-BR" sz="2800" dirty="0"/>
              <a:t> </a:t>
            </a:r>
            <a:r>
              <a:rPr lang="pt-BR" sz="2800" dirty="0" err="1"/>
              <a:t>elements</a:t>
            </a:r>
            <a:r>
              <a:rPr lang="pt-BR" sz="2800" dirty="0"/>
              <a:t> </a:t>
            </a:r>
            <a:r>
              <a:rPr lang="pt-BR" sz="2800" dirty="0" err="1"/>
              <a:t>of</a:t>
            </a:r>
            <a:r>
              <a:rPr lang="pt-BR" sz="2800" dirty="0"/>
              <a:t> </a:t>
            </a:r>
            <a:r>
              <a:rPr lang="pt-BR" sz="2800" dirty="0" err="1"/>
              <a:t>nature</a:t>
            </a:r>
            <a:r>
              <a:rPr lang="pt-BR" sz="2800" dirty="0"/>
              <a:t> </a:t>
            </a:r>
            <a:r>
              <a:rPr lang="pt-BR" sz="2800" dirty="0" err="1"/>
              <a:t>is</a:t>
            </a:r>
            <a:r>
              <a:rPr lang="pt-BR" sz="2800" dirty="0"/>
              <a:t> </a:t>
            </a:r>
            <a:r>
              <a:rPr lang="pt-BR" sz="2800" dirty="0" err="1"/>
              <a:t>not</a:t>
            </a:r>
            <a:r>
              <a:rPr lang="pt-BR" sz="2800" dirty="0"/>
              <a:t> </a:t>
            </a:r>
            <a:r>
              <a:rPr lang="pt-BR" sz="2800" dirty="0" err="1"/>
              <a:t>the</a:t>
            </a:r>
            <a:r>
              <a:rPr lang="pt-BR" sz="2800" dirty="0"/>
              <a:t> </a:t>
            </a:r>
            <a:r>
              <a:rPr lang="pt-BR" sz="2800" dirty="0" err="1"/>
              <a:t>only</a:t>
            </a:r>
            <a:r>
              <a:rPr lang="pt-BR" sz="2800" dirty="0"/>
              <a:t> </a:t>
            </a:r>
            <a:r>
              <a:rPr lang="pt-BR" sz="2800" dirty="0" err="1"/>
              <a:t>source</a:t>
            </a:r>
            <a:r>
              <a:rPr lang="pt-BR" sz="2800" dirty="0"/>
              <a:t> </a:t>
            </a:r>
            <a:r>
              <a:rPr lang="pt-BR" sz="2800" dirty="0" err="1"/>
              <a:t>of</a:t>
            </a:r>
            <a:r>
              <a:rPr lang="pt-BR" sz="2800" dirty="0"/>
              <a:t> </a:t>
            </a:r>
            <a:r>
              <a:rPr lang="pt-BR" sz="2800" dirty="0" err="1"/>
              <a:t>microplastic</a:t>
            </a:r>
            <a:r>
              <a:rPr lang="pt-BR" sz="2800" dirty="0"/>
              <a:t>.</a:t>
            </a:r>
          </a:p>
          <a:p>
            <a:pPr algn="just"/>
            <a:endParaRPr lang="pt-BR" sz="2800" dirty="0"/>
          </a:p>
          <a:p>
            <a:pPr algn="just"/>
            <a:r>
              <a:rPr lang="pt-BR" sz="2800" dirty="0"/>
              <a:t>D) </a:t>
            </a:r>
            <a:r>
              <a:rPr lang="pt-BR" sz="2800" dirty="0" err="1"/>
              <a:t>Microplastic</a:t>
            </a:r>
            <a:r>
              <a:rPr lang="pt-BR" sz="2800" dirty="0"/>
              <a:t> </a:t>
            </a:r>
            <a:r>
              <a:rPr lang="pt-BR" sz="2800" dirty="0" err="1"/>
              <a:t>is</a:t>
            </a:r>
            <a:r>
              <a:rPr lang="pt-BR" sz="2800" dirty="0"/>
              <a:t> </a:t>
            </a:r>
            <a:r>
              <a:rPr lang="pt-BR" sz="2800" dirty="0" err="1"/>
              <a:t>easy</a:t>
            </a:r>
            <a:r>
              <a:rPr lang="pt-BR" sz="2800" dirty="0"/>
              <a:t> </a:t>
            </a:r>
            <a:r>
              <a:rPr lang="pt-BR" sz="2800" dirty="0" err="1"/>
              <a:t>to</a:t>
            </a:r>
            <a:r>
              <a:rPr lang="pt-BR" sz="2800" dirty="0"/>
              <a:t> </a:t>
            </a:r>
            <a:r>
              <a:rPr lang="pt-BR" sz="2800" dirty="0" err="1"/>
              <a:t>detect</a:t>
            </a:r>
            <a:r>
              <a:rPr lang="pt-BR" sz="2800" dirty="0"/>
              <a:t> </a:t>
            </a:r>
            <a:r>
              <a:rPr lang="pt-BR" sz="2800" dirty="0" err="1"/>
              <a:t>due</a:t>
            </a:r>
            <a:r>
              <a:rPr lang="pt-BR" sz="2800" dirty="0"/>
              <a:t> </a:t>
            </a:r>
            <a:r>
              <a:rPr lang="pt-BR" sz="2800" dirty="0" err="1"/>
              <a:t>to</a:t>
            </a:r>
            <a:r>
              <a:rPr lang="pt-BR" sz="2800" dirty="0"/>
              <a:t> its </a:t>
            </a:r>
            <a:r>
              <a:rPr lang="pt-BR" sz="2800" dirty="0" err="1"/>
              <a:t>vast</a:t>
            </a:r>
            <a:r>
              <a:rPr lang="pt-BR" sz="2800" dirty="0"/>
              <a:t> </a:t>
            </a:r>
            <a:r>
              <a:rPr lang="pt-BR" sz="2800" dirty="0" err="1"/>
              <a:t>quantity</a:t>
            </a:r>
            <a:r>
              <a:rPr lang="pt-BR" sz="2800" dirty="0"/>
              <a:t> in </a:t>
            </a:r>
            <a:r>
              <a:rPr lang="pt-BR" sz="2800" dirty="0" err="1"/>
              <a:t>the</a:t>
            </a:r>
            <a:r>
              <a:rPr lang="pt-BR" sz="2800" dirty="0"/>
              <a:t> </a:t>
            </a:r>
            <a:r>
              <a:rPr lang="pt-BR" sz="2800" dirty="0" err="1"/>
              <a:t>environment</a:t>
            </a:r>
            <a:r>
              <a:rPr lang="pt-BR" sz="2800" dirty="0"/>
              <a:t>.</a:t>
            </a:r>
          </a:p>
          <a:p>
            <a:pPr algn="just"/>
            <a:endParaRPr lang="pt-BR" sz="2800" dirty="0"/>
          </a:p>
          <a:p>
            <a:pPr algn="just"/>
            <a:r>
              <a:rPr lang="pt-BR" sz="2800" dirty="0"/>
              <a:t>E) </a:t>
            </a:r>
            <a:r>
              <a:rPr lang="pt-BR" sz="2800" dirty="0" err="1"/>
              <a:t>Microplastic</a:t>
            </a:r>
            <a:r>
              <a:rPr lang="pt-BR" sz="2800" dirty="0"/>
              <a:t> </a:t>
            </a:r>
            <a:r>
              <a:rPr lang="pt-BR" sz="2800" dirty="0" err="1"/>
              <a:t>is</a:t>
            </a:r>
            <a:r>
              <a:rPr lang="pt-BR" sz="2800" dirty="0"/>
              <a:t> </a:t>
            </a:r>
            <a:r>
              <a:rPr lang="pt-BR" sz="2800" dirty="0" err="1"/>
              <a:t>hazardous</a:t>
            </a:r>
            <a:r>
              <a:rPr lang="pt-BR" sz="2800" dirty="0"/>
              <a:t> </a:t>
            </a:r>
            <a:r>
              <a:rPr lang="pt-BR" sz="2800" dirty="0" err="1"/>
              <a:t>only</a:t>
            </a:r>
            <a:r>
              <a:rPr lang="pt-BR" sz="2800" dirty="0"/>
              <a:t> </a:t>
            </a:r>
            <a:r>
              <a:rPr lang="pt-BR" sz="2800" dirty="0" err="1"/>
              <a:t>to</a:t>
            </a:r>
            <a:r>
              <a:rPr lang="pt-BR" sz="2800" dirty="0"/>
              <a:t> </a:t>
            </a:r>
            <a:r>
              <a:rPr lang="pt-BR" sz="2800" dirty="0" err="1"/>
              <a:t>smaller</a:t>
            </a:r>
            <a:r>
              <a:rPr lang="pt-BR" sz="2800" dirty="0"/>
              <a:t> </a:t>
            </a:r>
            <a:r>
              <a:rPr lang="pt-BR" sz="2800" dirty="0" err="1"/>
              <a:t>species</a:t>
            </a:r>
            <a:r>
              <a:rPr lang="pt-BR" sz="2800" dirty="0"/>
              <a:t>, </a:t>
            </a:r>
            <a:r>
              <a:rPr lang="pt-BR" sz="2800" dirty="0" err="1"/>
              <a:t>but</a:t>
            </a:r>
            <a:r>
              <a:rPr lang="pt-BR" sz="2800" dirty="0"/>
              <a:t> it </a:t>
            </a:r>
            <a:r>
              <a:rPr lang="pt-BR" sz="2800" dirty="0" err="1"/>
              <a:t>accumulates</a:t>
            </a:r>
            <a:r>
              <a:rPr lang="pt-BR" sz="2800" dirty="0"/>
              <a:t> </a:t>
            </a:r>
            <a:r>
              <a:rPr lang="pt-BR" sz="2800" dirty="0" err="1"/>
              <a:t>up</a:t>
            </a:r>
            <a:r>
              <a:rPr lang="pt-BR" sz="2800" dirty="0"/>
              <a:t> </a:t>
            </a:r>
            <a:r>
              <a:rPr lang="pt-BR" sz="2800" dirty="0" err="1"/>
              <a:t>the</a:t>
            </a:r>
            <a:r>
              <a:rPr lang="pt-BR" sz="2800" dirty="0"/>
              <a:t> food </a:t>
            </a:r>
            <a:r>
              <a:rPr lang="pt-BR" sz="2800" dirty="0" err="1"/>
              <a:t>chain</a:t>
            </a:r>
            <a:r>
              <a:rPr lang="pt-BR" sz="2800" dirty="0"/>
              <a:t>.</a:t>
            </a:r>
          </a:p>
        </p:txBody>
      </p:sp>
      <p:sp>
        <p:nvSpPr>
          <p:cNvPr id="5" name="Estrela: 5 Pontas 4">
            <a:extLst>
              <a:ext uri="{FF2B5EF4-FFF2-40B4-BE49-F238E27FC236}">
                <a16:creationId xmlns:a16="http://schemas.microsoft.com/office/drawing/2014/main" id="{FD5B17AA-2974-4057-B4EA-CDBA28BDCB42}"/>
              </a:ext>
            </a:extLst>
          </p:cNvPr>
          <p:cNvSpPr/>
          <p:nvPr/>
        </p:nvSpPr>
        <p:spPr>
          <a:xfrm>
            <a:off x="331304" y="3366055"/>
            <a:ext cx="463826" cy="42407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850387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41DEA52-E934-4369-870A-991FF85029A4}"/>
              </a:ext>
            </a:extLst>
          </p:cNvPr>
          <p:cNvSpPr txBox="1"/>
          <p:nvPr/>
        </p:nvSpPr>
        <p:spPr>
          <a:xfrm>
            <a:off x="795130" y="459485"/>
            <a:ext cx="11078818" cy="5693866"/>
          </a:xfrm>
          <a:prstGeom prst="rect">
            <a:avLst/>
          </a:prstGeom>
          <a:noFill/>
        </p:spPr>
        <p:txBody>
          <a:bodyPr wrap="square" rtlCol="0">
            <a:spAutoFit/>
          </a:bodyPr>
          <a:lstStyle/>
          <a:p>
            <a:pPr algn="just"/>
            <a:r>
              <a:rPr lang="en-US" sz="2800" dirty="0"/>
              <a:t>2. No </a:t>
            </a:r>
            <a:r>
              <a:rPr lang="en-US" sz="2800" dirty="0" err="1"/>
              <a:t>trecho</a:t>
            </a:r>
            <a:r>
              <a:rPr lang="en-US" sz="2800" b="1" dirty="0"/>
              <a:t> “Along with</a:t>
            </a:r>
            <a:r>
              <a:rPr lang="en-US" sz="2800" dirty="0"/>
              <a:t> the tiny, so-called microfibers </a:t>
            </a:r>
            <a:r>
              <a:rPr lang="en-US" sz="2800" dirty="0">
                <a:solidFill>
                  <a:srgbClr val="002060"/>
                </a:solidFill>
              </a:rPr>
              <a:t>shed</a:t>
            </a:r>
            <a:r>
              <a:rPr lang="en-US" sz="2800" dirty="0"/>
              <a:t> by synthetic fabrics and the beads put in products like toothpaste, these fragments are called microplastics.” a </a:t>
            </a:r>
            <a:r>
              <a:rPr lang="en-US" sz="2800" dirty="0" err="1"/>
              <a:t>expressão</a:t>
            </a:r>
            <a:r>
              <a:rPr lang="en-US" sz="2800" dirty="0"/>
              <a:t> </a:t>
            </a:r>
            <a:r>
              <a:rPr lang="en-US" sz="2800" dirty="0" err="1"/>
              <a:t>em</a:t>
            </a:r>
            <a:r>
              <a:rPr lang="en-US" sz="2800" dirty="0"/>
              <a:t> </a:t>
            </a:r>
            <a:r>
              <a:rPr lang="en-US" sz="2800" dirty="0" err="1"/>
              <a:t>destaque</a:t>
            </a:r>
            <a:r>
              <a:rPr lang="en-US" sz="2800" dirty="0"/>
              <a:t> </a:t>
            </a:r>
            <a:r>
              <a:rPr lang="en-US" sz="2800" dirty="0" err="1"/>
              <a:t>estabelece</a:t>
            </a:r>
            <a:r>
              <a:rPr lang="en-US" sz="2800" dirty="0"/>
              <a:t> </a:t>
            </a:r>
            <a:r>
              <a:rPr lang="en-US" sz="2800" dirty="0" err="1"/>
              <a:t>ideia</a:t>
            </a:r>
            <a:r>
              <a:rPr lang="en-US" sz="2800" dirty="0"/>
              <a:t> de:</a:t>
            </a:r>
          </a:p>
          <a:p>
            <a:pPr algn="just"/>
            <a:endParaRPr lang="pt-BR" sz="2800" dirty="0"/>
          </a:p>
          <a:p>
            <a:pPr algn="just"/>
            <a:r>
              <a:rPr lang="pt-BR" sz="2800" dirty="0"/>
              <a:t>A) causa</a:t>
            </a:r>
          </a:p>
          <a:p>
            <a:pPr algn="just"/>
            <a:endParaRPr lang="pt-BR" sz="2800" dirty="0"/>
          </a:p>
          <a:p>
            <a:pPr algn="just"/>
            <a:r>
              <a:rPr lang="pt-BR" sz="2800" dirty="0"/>
              <a:t>B) simultaneidade</a:t>
            </a:r>
          </a:p>
          <a:p>
            <a:pPr algn="just"/>
            <a:endParaRPr lang="pt-BR" sz="2800" dirty="0"/>
          </a:p>
          <a:p>
            <a:pPr algn="just"/>
            <a:r>
              <a:rPr lang="pt-BR" sz="2800" dirty="0"/>
              <a:t>C) consequência</a:t>
            </a:r>
          </a:p>
          <a:p>
            <a:pPr algn="just"/>
            <a:endParaRPr lang="pt-BR" sz="2800" dirty="0"/>
          </a:p>
          <a:p>
            <a:pPr algn="just"/>
            <a:r>
              <a:rPr lang="pt-BR" sz="2800" dirty="0"/>
              <a:t>D) contraste</a:t>
            </a:r>
          </a:p>
          <a:p>
            <a:pPr algn="just"/>
            <a:endParaRPr lang="pt-BR" sz="2800" dirty="0"/>
          </a:p>
          <a:p>
            <a:pPr algn="just"/>
            <a:r>
              <a:rPr lang="pt-BR" sz="2800" dirty="0"/>
              <a:t>E) inclusão</a:t>
            </a:r>
          </a:p>
        </p:txBody>
      </p:sp>
      <p:sp>
        <p:nvSpPr>
          <p:cNvPr id="5" name="Estrela: 5 Pontas 4">
            <a:extLst>
              <a:ext uri="{FF2B5EF4-FFF2-40B4-BE49-F238E27FC236}">
                <a16:creationId xmlns:a16="http://schemas.microsoft.com/office/drawing/2014/main" id="{8D2C2E12-12CF-4AAE-8AF4-6FEDF9CCB745}"/>
              </a:ext>
            </a:extLst>
          </p:cNvPr>
          <p:cNvSpPr/>
          <p:nvPr/>
        </p:nvSpPr>
        <p:spPr>
          <a:xfrm>
            <a:off x="271669" y="5579165"/>
            <a:ext cx="463826" cy="42407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6038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41DEA52-E934-4369-870A-991FF85029A4}"/>
              </a:ext>
            </a:extLst>
          </p:cNvPr>
          <p:cNvSpPr txBox="1"/>
          <p:nvPr/>
        </p:nvSpPr>
        <p:spPr>
          <a:xfrm>
            <a:off x="556591" y="151179"/>
            <a:ext cx="11078818" cy="6524863"/>
          </a:xfrm>
          <a:prstGeom prst="rect">
            <a:avLst/>
          </a:prstGeom>
          <a:noFill/>
        </p:spPr>
        <p:txBody>
          <a:bodyPr wrap="square" rtlCol="0">
            <a:spAutoFit/>
          </a:bodyPr>
          <a:lstStyle/>
          <a:p>
            <a:pPr algn="just"/>
            <a:r>
              <a:rPr lang="en-US" sz="2200" dirty="0"/>
              <a:t>	3. “To understand the impacts—and how to </a:t>
            </a:r>
            <a:r>
              <a:rPr lang="en-US" sz="2200" dirty="0">
                <a:solidFill>
                  <a:srgbClr val="002060"/>
                </a:solidFill>
              </a:rPr>
              <a:t>curb</a:t>
            </a:r>
            <a:r>
              <a:rPr lang="en-US" sz="2200" dirty="0"/>
              <a:t> the pollution—scientists need to know how much is concentrated in which places, where it is coming from and how it is moving around. Detecting microplastics, </a:t>
            </a:r>
            <a:r>
              <a:rPr lang="en-US" sz="2200" b="1" dirty="0"/>
              <a:t>though</a:t>
            </a:r>
            <a:r>
              <a:rPr lang="en-US" sz="2200" dirty="0"/>
              <a:t>, is complicated by the dizzying </a:t>
            </a:r>
            <a:r>
              <a:rPr lang="en-US" sz="2200" dirty="0">
                <a:solidFill>
                  <a:srgbClr val="002060"/>
                </a:solidFill>
              </a:rPr>
              <a:t>array</a:t>
            </a:r>
            <a:r>
              <a:rPr lang="en-US" sz="2200" dirty="0"/>
              <a:t> of tens of thousands of polymers they contain, </a:t>
            </a:r>
            <a:r>
              <a:rPr lang="en-US" sz="2200" b="1" dirty="0"/>
              <a:t>as well as</a:t>
            </a:r>
            <a:r>
              <a:rPr lang="en-US" sz="2200" dirty="0"/>
              <a:t> their wide size range—from the scale of that grain of rice down to a virus.”</a:t>
            </a:r>
          </a:p>
          <a:p>
            <a:pPr algn="just"/>
            <a:r>
              <a:rPr lang="en-US" sz="2200" dirty="0"/>
              <a:t>	A </a:t>
            </a:r>
            <a:r>
              <a:rPr lang="en-US" sz="2200" dirty="0" err="1"/>
              <a:t>respeito</a:t>
            </a:r>
            <a:r>
              <a:rPr lang="en-US" sz="2200" dirty="0"/>
              <a:t> das </a:t>
            </a:r>
            <a:r>
              <a:rPr lang="en-US" sz="2200" dirty="0" err="1"/>
              <a:t>expressões</a:t>
            </a:r>
            <a:r>
              <a:rPr lang="en-US" sz="2200" dirty="0"/>
              <a:t> </a:t>
            </a:r>
            <a:r>
              <a:rPr lang="en-US" sz="2200" dirty="0" err="1"/>
              <a:t>em</a:t>
            </a:r>
            <a:r>
              <a:rPr lang="en-US" sz="2200" dirty="0"/>
              <a:t> </a:t>
            </a:r>
            <a:r>
              <a:rPr lang="en-US" sz="2200" dirty="0" err="1"/>
              <a:t>destaque</a:t>
            </a:r>
            <a:r>
              <a:rPr lang="en-US" sz="2200" dirty="0"/>
              <a:t>, é </a:t>
            </a:r>
            <a:r>
              <a:rPr lang="en-US" sz="2200" dirty="0" err="1"/>
              <a:t>possível</a:t>
            </a:r>
            <a:r>
              <a:rPr lang="en-US" sz="2200" dirty="0"/>
              <a:t> </a:t>
            </a:r>
            <a:r>
              <a:rPr lang="en-US" sz="2200" dirty="0" err="1"/>
              <a:t>afirmar</a:t>
            </a:r>
            <a:r>
              <a:rPr lang="en-US" sz="2200" dirty="0"/>
              <a:t> que:</a:t>
            </a:r>
            <a:endParaRPr lang="pt-BR" sz="2200" dirty="0"/>
          </a:p>
          <a:p>
            <a:pPr algn="just"/>
            <a:r>
              <a:rPr lang="pt-BR" sz="2200" dirty="0"/>
              <a:t>A) </a:t>
            </a:r>
            <a:r>
              <a:rPr lang="pt-BR" sz="2200" b="1" dirty="0" err="1"/>
              <a:t>Though</a:t>
            </a:r>
            <a:r>
              <a:rPr lang="pt-BR" sz="2200" dirty="0"/>
              <a:t> estabelece ideia de contraste; </a:t>
            </a:r>
            <a:r>
              <a:rPr lang="pt-BR" sz="2200" b="1" dirty="0"/>
              <a:t>as </a:t>
            </a:r>
            <a:r>
              <a:rPr lang="pt-BR" sz="2200" b="1" dirty="0" err="1"/>
              <a:t>well</a:t>
            </a:r>
            <a:r>
              <a:rPr lang="pt-BR" sz="2200" b="1" dirty="0"/>
              <a:t> as</a:t>
            </a:r>
            <a:r>
              <a:rPr lang="pt-BR" sz="2200" dirty="0"/>
              <a:t> expressa comparação.</a:t>
            </a:r>
          </a:p>
          <a:p>
            <a:pPr algn="just"/>
            <a:endParaRPr lang="pt-BR" sz="2200" dirty="0"/>
          </a:p>
          <a:p>
            <a:pPr algn="just"/>
            <a:r>
              <a:rPr lang="pt-BR" sz="2200" dirty="0"/>
              <a:t>B) </a:t>
            </a:r>
            <a:r>
              <a:rPr lang="pt-BR" sz="2200" b="1" dirty="0" err="1"/>
              <a:t>Though</a:t>
            </a:r>
            <a:r>
              <a:rPr lang="pt-BR" sz="2200" dirty="0"/>
              <a:t> estabelece ideia de conclusão; </a:t>
            </a:r>
            <a:r>
              <a:rPr lang="pt-BR" sz="2200" b="1" dirty="0"/>
              <a:t>as </a:t>
            </a:r>
            <a:r>
              <a:rPr lang="pt-BR" sz="2200" b="1" dirty="0" err="1"/>
              <a:t>well</a:t>
            </a:r>
            <a:r>
              <a:rPr lang="pt-BR" sz="2200" b="1" dirty="0"/>
              <a:t> as</a:t>
            </a:r>
            <a:r>
              <a:rPr lang="pt-BR" sz="2200" dirty="0"/>
              <a:t> expressa inclusão.</a:t>
            </a:r>
          </a:p>
          <a:p>
            <a:pPr algn="just"/>
            <a:endParaRPr lang="pt-BR" sz="2200" dirty="0"/>
          </a:p>
          <a:p>
            <a:pPr algn="just"/>
            <a:r>
              <a:rPr lang="pt-BR" sz="2200" dirty="0"/>
              <a:t>C) </a:t>
            </a:r>
            <a:r>
              <a:rPr lang="pt-BR" sz="2200" b="1" dirty="0" err="1"/>
              <a:t>Though</a:t>
            </a:r>
            <a:r>
              <a:rPr lang="pt-BR" sz="2200" dirty="0"/>
              <a:t> estabelece relação de oposição com a necessidade de se identificar onde estão os </a:t>
            </a:r>
            <a:r>
              <a:rPr lang="pt-BR" sz="2200" dirty="0" err="1"/>
              <a:t>microplásticos</a:t>
            </a:r>
            <a:r>
              <a:rPr lang="pt-BR" sz="2200" dirty="0"/>
              <a:t>, sua concentração, sua fonte e sua movimentação; </a:t>
            </a:r>
            <a:r>
              <a:rPr lang="pt-BR" sz="2200" b="1" dirty="0"/>
              <a:t>as </a:t>
            </a:r>
            <a:r>
              <a:rPr lang="pt-BR" sz="2200" b="1" dirty="0" err="1"/>
              <a:t>well</a:t>
            </a:r>
            <a:r>
              <a:rPr lang="pt-BR" sz="2200" b="1" dirty="0"/>
              <a:t> as</a:t>
            </a:r>
            <a:r>
              <a:rPr lang="pt-BR" sz="2200" dirty="0"/>
              <a:t> compara os tamanhos dos </a:t>
            </a:r>
            <a:r>
              <a:rPr lang="pt-BR" sz="2200" dirty="0" err="1"/>
              <a:t>microplásticos</a:t>
            </a:r>
            <a:r>
              <a:rPr lang="pt-BR" sz="2200" dirty="0"/>
              <a:t> aos de grãos de arroz e ao de um vírus.</a:t>
            </a:r>
          </a:p>
          <a:p>
            <a:pPr algn="just"/>
            <a:endParaRPr lang="pt-BR" sz="2200" dirty="0"/>
          </a:p>
          <a:p>
            <a:pPr algn="just"/>
            <a:r>
              <a:rPr lang="pt-BR" sz="2200" dirty="0"/>
              <a:t>D) </a:t>
            </a:r>
            <a:r>
              <a:rPr lang="pt-BR" sz="2200" b="1" dirty="0" err="1"/>
              <a:t>Though</a:t>
            </a:r>
            <a:r>
              <a:rPr lang="pt-BR" sz="2200" dirty="0"/>
              <a:t> estabelece relação de oposição com a necessidade de se identificar onde estão os </a:t>
            </a:r>
            <a:r>
              <a:rPr lang="pt-BR" sz="2200" dirty="0" err="1"/>
              <a:t>microplásticos</a:t>
            </a:r>
            <a:r>
              <a:rPr lang="pt-BR" sz="2200" dirty="0"/>
              <a:t>, sua concentração, sua fonte e sua movimentação; </a:t>
            </a:r>
            <a:r>
              <a:rPr lang="pt-BR" sz="2200" b="1" dirty="0"/>
              <a:t>as </a:t>
            </a:r>
            <a:r>
              <a:rPr lang="pt-BR" sz="2200" b="1" dirty="0" err="1"/>
              <a:t>well</a:t>
            </a:r>
            <a:r>
              <a:rPr lang="pt-BR" sz="2200" b="1" dirty="0"/>
              <a:t> as</a:t>
            </a:r>
            <a:r>
              <a:rPr lang="pt-BR" sz="2200" dirty="0"/>
              <a:t> inclui a variação de tamanhos do </a:t>
            </a:r>
            <a:r>
              <a:rPr lang="pt-BR" sz="2200" dirty="0" err="1"/>
              <a:t>microplástico</a:t>
            </a:r>
            <a:r>
              <a:rPr lang="pt-BR" sz="2200" dirty="0"/>
              <a:t> como um dos fatores que o torna difícil de ser detectado.</a:t>
            </a:r>
          </a:p>
          <a:p>
            <a:pPr algn="just"/>
            <a:endParaRPr lang="pt-BR" sz="2200" dirty="0"/>
          </a:p>
          <a:p>
            <a:pPr algn="just"/>
            <a:r>
              <a:rPr lang="pt-BR" sz="2200" dirty="0"/>
              <a:t>E) </a:t>
            </a:r>
            <a:r>
              <a:rPr lang="pt-BR" sz="2200" b="1" dirty="0" err="1"/>
              <a:t>Though</a:t>
            </a:r>
            <a:r>
              <a:rPr lang="pt-BR" sz="2200" dirty="0"/>
              <a:t> pode ser traduzido por “portanto”; </a:t>
            </a:r>
            <a:r>
              <a:rPr lang="pt-BR" sz="2200" b="1" dirty="0"/>
              <a:t>as </a:t>
            </a:r>
            <a:r>
              <a:rPr lang="pt-BR" sz="2200" b="1" dirty="0" err="1"/>
              <a:t>well</a:t>
            </a:r>
            <a:r>
              <a:rPr lang="pt-BR" sz="2200" b="1" dirty="0"/>
              <a:t> as</a:t>
            </a:r>
            <a:r>
              <a:rPr lang="pt-BR" sz="2200" dirty="0"/>
              <a:t> pode ser traduzido por “bem como”.</a:t>
            </a:r>
          </a:p>
        </p:txBody>
      </p:sp>
      <p:sp>
        <p:nvSpPr>
          <p:cNvPr id="5" name="Estrela: 5 Pontas 4">
            <a:extLst>
              <a:ext uri="{FF2B5EF4-FFF2-40B4-BE49-F238E27FC236}">
                <a16:creationId xmlns:a16="http://schemas.microsoft.com/office/drawing/2014/main" id="{8D2C2E12-12CF-4AAE-8AF4-6FEDF9CCB745}"/>
              </a:ext>
            </a:extLst>
          </p:cNvPr>
          <p:cNvSpPr/>
          <p:nvPr/>
        </p:nvSpPr>
        <p:spPr>
          <a:xfrm>
            <a:off x="92765" y="4850295"/>
            <a:ext cx="463826" cy="42407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134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F35B990-79DA-4F1E-BEFF-3AC9F0E12FC7}"/>
              </a:ext>
            </a:extLst>
          </p:cNvPr>
          <p:cNvSpPr txBox="1"/>
          <p:nvPr/>
        </p:nvSpPr>
        <p:spPr>
          <a:xfrm>
            <a:off x="795130" y="459485"/>
            <a:ext cx="11078818" cy="6124754"/>
          </a:xfrm>
          <a:prstGeom prst="rect">
            <a:avLst/>
          </a:prstGeom>
          <a:noFill/>
        </p:spPr>
        <p:txBody>
          <a:bodyPr wrap="square" rtlCol="0">
            <a:spAutoFit/>
          </a:bodyPr>
          <a:lstStyle/>
          <a:p>
            <a:pPr algn="just"/>
            <a:r>
              <a:rPr lang="en-US" sz="2800" dirty="0"/>
              <a:t>4. “Such </a:t>
            </a:r>
            <a:r>
              <a:rPr lang="en-US" sz="2800" dirty="0" err="1"/>
              <a:t>nanosize</a:t>
            </a:r>
            <a:r>
              <a:rPr lang="en-US" sz="2800" dirty="0"/>
              <a:t> fragments have been shown to form in lab experiments, so most researchers are confident they are out in the environment. But currently, ‘we don’t have any methods that will isolate </a:t>
            </a:r>
            <a:r>
              <a:rPr lang="en-US" sz="2800" dirty="0" err="1"/>
              <a:t>nanoplastics</a:t>
            </a:r>
            <a:r>
              <a:rPr lang="en-US" sz="2800" dirty="0"/>
              <a:t>’” </a:t>
            </a:r>
            <a:r>
              <a:rPr lang="en-US" sz="2800" b="1" dirty="0"/>
              <a:t>there</a:t>
            </a:r>
            <a:r>
              <a:rPr lang="en-US" sz="2800" dirty="0"/>
              <a:t>, Thompson says.” No </a:t>
            </a:r>
            <a:r>
              <a:rPr lang="en-US" sz="2800" dirty="0" err="1"/>
              <a:t>trecho</a:t>
            </a:r>
            <a:r>
              <a:rPr lang="en-US" sz="2800" dirty="0"/>
              <a:t> </a:t>
            </a:r>
            <a:r>
              <a:rPr lang="en-US" sz="2800" dirty="0" err="1"/>
              <a:t>acima</a:t>
            </a:r>
            <a:r>
              <a:rPr lang="en-US" sz="2800" dirty="0"/>
              <a:t>, o </a:t>
            </a:r>
            <a:r>
              <a:rPr lang="en-US" sz="2800" dirty="0" err="1"/>
              <a:t>termo</a:t>
            </a:r>
            <a:r>
              <a:rPr lang="en-US" sz="2800" dirty="0"/>
              <a:t> </a:t>
            </a:r>
            <a:r>
              <a:rPr lang="en-US" sz="2800" dirty="0" err="1"/>
              <a:t>em</a:t>
            </a:r>
            <a:r>
              <a:rPr lang="en-US" sz="2800" dirty="0"/>
              <a:t> </a:t>
            </a:r>
            <a:r>
              <a:rPr lang="en-US" sz="2800" dirty="0" err="1"/>
              <a:t>destaque</a:t>
            </a:r>
            <a:r>
              <a:rPr lang="en-US" sz="2800" dirty="0"/>
              <a:t> se </a:t>
            </a:r>
            <a:r>
              <a:rPr lang="en-US" sz="2800" dirty="0" err="1"/>
              <a:t>refere</a:t>
            </a:r>
            <a:r>
              <a:rPr lang="en-US" sz="2800" dirty="0"/>
              <a:t> a:</a:t>
            </a:r>
            <a:endParaRPr lang="pt-BR" sz="2800" dirty="0"/>
          </a:p>
          <a:p>
            <a:pPr algn="just"/>
            <a:endParaRPr lang="pt-BR" sz="2800" dirty="0"/>
          </a:p>
          <a:p>
            <a:pPr algn="just"/>
            <a:r>
              <a:rPr lang="pt-BR" sz="2800" dirty="0"/>
              <a:t>A) </a:t>
            </a:r>
            <a:r>
              <a:rPr lang="pt-BR" sz="2800" dirty="0" err="1"/>
              <a:t>Environment</a:t>
            </a:r>
            <a:endParaRPr lang="pt-BR" sz="2800" dirty="0"/>
          </a:p>
          <a:p>
            <a:pPr algn="just"/>
            <a:endParaRPr lang="pt-BR" sz="2800" dirty="0"/>
          </a:p>
          <a:p>
            <a:pPr algn="just"/>
            <a:r>
              <a:rPr lang="pt-BR" sz="2800" dirty="0"/>
              <a:t>B) </a:t>
            </a:r>
            <a:r>
              <a:rPr lang="pt-BR" sz="2800" dirty="0" err="1"/>
              <a:t>Lab</a:t>
            </a:r>
            <a:r>
              <a:rPr lang="pt-BR" sz="2800" dirty="0"/>
              <a:t> </a:t>
            </a:r>
            <a:r>
              <a:rPr lang="pt-BR" sz="2800" dirty="0" err="1"/>
              <a:t>experiments</a:t>
            </a:r>
            <a:endParaRPr lang="pt-BR" sz="2800" dirty="0"/>
          </a:p>
          <a:p>
            <a:pPr algn="just"/>
            <a:endParaRPr lang="pt-BR" sz="2800" dirty="0"/>
          </a:p>
          <a:p>
            <a:pPr algn="just"/>
            <a:r>
              <a:rPr lang="pt-BR" sz="2800" dirty="0"/>
              <a:t>C) </a:t>
            </a:r>
            <a:r>
              <a:rPr lang="pt-BR" sz="2800" dirty="0" err="1"/>
              <a:t>Methods</a:t>
            </a:r>
            <a:endParaRPr lang="pt-BR" sz="2800" dirty="0"/>
          </a:p>
          <a:p>
            <a:pPr algn="just"/>
            <a:endParaRPr lang="pt-BR" sz="2800" dirty="0"/>
          </a:p>
          <a:p>
            <a:pPr algn="just"/>
            <a:r>
              <a:rPr lang="pt-BR" sz="2800" dirty="0"/>
              <a:t>D) </a:t>
            </a:r>
            <a:r>
              <a:rPr lang="pt-BR" sz="2800" dirty="0" err="1"/>
              <a:t>Nanosize</a:t>
            </a:r>
            <a:r>
              <a:rPr lang="pt-BR" sz="2800" dirty="0"/>
              <a:t> </a:t>
            </a:r>
            <a:r>
              <a:rPr lang="pt-BR" sz="2800" dirty="0" err="1"/>
              <a:t>fragments</a:t>
            </a:r>
            <a:endParaRPr lang="pt-BR" sz="2800" dirty="0"/>
          </a:p>
          <a:p>
            <a:pPr algn="just"/>
            <a:endParaRPr lang="pt-BR" sz="2800" dirty="0"/>
          </a:p>
          <a:p>
            <a:pPr algn="just"/>
            <a:r>
              <a:rPr lang="pt-BR" sz="2800" dirty="0"/>
              <a:t>E) </a:t>
            </a:r>
            <a:r>
              <a:rPr lang="pt-BR" sz="2800" dirty="0" err="1"/>
              <a:t>Most</a:t>
            </a:r>
            <a:r>
              <a:rPr lang="pt-BR" sz="2800" dirty="0"/>
              <a:t> </a:t>
            </a:r>
            <a:r>
              <a:rPr lang="pt-BR" sz="2800" dirty="0" err="1"/>
              <a:t>researchers</a:t>
            </a:r>
            <a:endParaRPr lang="pt-BR" sz="2800" dirty="0"/>
          </a:p>
        </p:txBody>
      </p:sp>
      <p:sp>
        <p:nvSpPr>
          <p:cNvPr id="5" name="Estrela: 5 Pontas 4">
            <a:extLst>
              <a:ext uri="{FF2B5EF4-FFF2-40B4-BE49-F238E27FC236}">
                <a16:creationId xmlns:a16="http://schemas.microsoft.com/office/drawing/2014/main" id="{93F65F50-A192-4183-8553-BE30A0FA1EE1}"/>
              </a:ext>
            </a:extLst>
          </p:cNvPr>
          <p:cNvSpPr/>
          <p:nvPr/>
        </p:nvSpPr>
        <p:spPr>
          <a:xfrm>
            <a:off x="318052" y="2607366"/>
            <a:ext cx="463826" cy="48039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6783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F35B990-79DA-4F1E-BEFF-3AC9F0E12FC7}"/>
              </a:ext>
            </a:extLst>
          </p:cNvPr>
          <p:cNvSpPr txBox="1"/>
          <p:nvPr/>
        </p:nvSpPr>
        <p:spPr>
          <a:xfrm>
            <a:off x="781878" y="137926"/>
            <a:ext cx="11078818" cy="6555641"/>
          </a:xfrm>
          <a:prstGeom prst="rect">
            <a:avLst/>
          </a:prstGeom>
          <a:noFill/>
        </p:spPr>
        <p:txBody>
          <a:bodyPr wrap="square" rtlCol="0">
            <a:spAutoFit/>
          </a:bodyPr>
          <a:lstStyle/>
          <a:p>
            <a:pPr algn="just"/>
            <a:r>
              <a:rPr lang="en-US" sz="2800"/>
              <a:t>5. According </a:t>
            </a:r>
            <a:r>
              <a:rPr lang="en-US" sz="2800" dirty="0"/>
              <a:t>to the text:</a:t>
            </a:r>
            <a:endParaRPr lang="pt-BR" sz="2800" dirty="0"/>
          </a:p>
          <a:p>
            <a:pPr algn="just"/>
            <a:endParaRPr lang="pt-BR" sz="2800" dirty="0"/>
          </a:p>
          <a:p>
            <a:pPr algn="just"/>
            <a:r>
              <a:rPr lang="pt-BR" sz="2800" dirty="0"/>
              <a:t>A) </a:t>
            </a:r>
            <a:r>
              <a:rPr lang="pt-BR" sz="2800" dirty="0" err="1"/>
              <a:t>Despite</a:t>
            </a:r>
            <a:r>
              <a:rPr lang="pt-BR" sz="2800" dirty="0"/>
              <a:t> </a:t>
            </a:r>
            <a:r>
              <a:rPr lang="pt-BR" sz="2800" dirty="0" err="1"/>
              <a:t>the</a:t>
            </a:r>
            <a:r>
              <a:rPr lang="pt-BR" sz="2800" dirty="0"/>
              <a:t> </a:t>
            </a:r>
            <a:r>
              <a:rPr lang="pt-BR" sz="2800" dirty="0" err="1"/>
              <a:t>efforts</a:t>
            </a:r>
            <a:r>
              <a:rPr lang="pt-BR" sz="2800" dirty="0"/>
              <a:t> in </a:t>
            </a:r>
            <a:r>
              <a:rPr lang="pt-BR" sz="2800" dirty="0" err="1"/>
              <a:t>researching</a:t>
            </a:r>
            <a:r>
              <a:rPr lang="pt-BR" sz="2800" dirty="0"/>
              <a:t> </a:t>
            </a:r>
            <a:r>
              <a:rPr lang="pt-BR" sz="2800" dirty="0" err="1"/>
              <a:t>microplastic</a:t>
            </a:r>
            <a:r>
              <a:rPr lang="pt-BR" sz="2800" dirty="0"/>
              <a:t>, </a:t>
            </a:r>
            <a:r>
              <a:rPr lang="pt-BR" sz="2800" dirty="0" err="1"/>
              <a:t>there</a:t>
            </a:r>
            <a:r>
              <a:rPr lang="pt-BR" sz="2800" dirty="0"/>
              <a:t> are no </a:t>
            </a:r>
            <a:r>
              <a:rPr lang="pt-BR" sz="2800" dirty="0" err="1"/>
              <a:t>improvements</a:t>
            </a:r>
            <a:r>
              <a:rPr lang="pt-BR" sz="2800" dirty="0"/>
              <a:t> </a:t>
            </a:r>
            <a:r>
              <a:rPr lang="pt-BR" sz="2800" dirty="0" err="1"/>
              <a:t>on</a:t>
            </a:r>
            <a:r>
              <a:rPr lang="pt-BR" sz="2800" dirty="0"/>
              <a:t> </a:t>
            </a:r>
            <a:r>
              <a:rPr lang="pt-BR" sz="2800" dirty="0" err="1"/>
              <a:t>the</a:t>
            </a:r>
            <a:r>
              <a:rPr lang="pt-BR" sz="2800" dirty="0"/>
              <a:t> </a:t>
            </a:r>
            <a:r>
              <a:rPr lang="pt-BR" sz="2800" dirty="0" err="1"/>
              <a:t>research</a:t>
            </a:r>
            <a:r>
              <a:rPr lang="pt-BR" sz="2800" dirty="0"/>
              <a:t> </a:t>
            </a:r>
            <a:r>
              <a:rPr lang="pt-BR" sz="2800" dirty="0" err="1"/>
              <a:t>methods</a:t>
            </a:r>
            <a:r>
              <a:rPr lang="pt-BR" sz="2800" dirty="0"/>
              <a:t>.</a:t>
            </a:r>
          </a:p>
          <a:p>
            <a:pPr algn="just"/>
            <a:endParaRPr lang="pt-BR" sz="2800" dirty="0"/>
          </a:p>
          <a:p>
            <a:pPr algn="just"/>
            <a:r>
              <a:rPr lang="pt-BR" sz="2800" dirty="0"/>
              <a:t>B) </a:t>
            </a:r>
            <a:r>
              <a:rPr lang="pt-BR" sz="2800" dirty="0" err="1"/>
              <a:t>Microplastics</a:t>
            </a:r>
            <a:r>
              <a:rPr lang="pt-BR" sz="2800" dirty="0"/>
              <a:t> </a:t>
            </a:r>
            <a:r>
              <a:rPr lang="pt-BR" sz="2800" dirty="0" err="1"/>
              <a:t>can</a:t>
            </a:r>
            <a:r>
              <a:rPr lang="pt-BR" sz="2800" dirty="0"/>
              <a:t> </a:t>
            </a:r>
            <a:r>
              <a:rPr lang="pt-BR" sz="2800" dirty="0" err="1"/>
              <a:t>be</a:t>
            </a:r>
            <a:r>
              <a:rPr lang="pt-BR" sz="2800" dirty="0"/>
              <a:t> </a:t>
            </a:r>
            <a:r>
              <a:rPr lang="pt-BR" sz="2800" dirty="0" err="1"/>
              <a:t>so</a:t>
            </a:r>
            <a:r>
              <a:rPr lang="pt-BR" sz="2800" dirty="0"/>
              <a:t> </a:t>
            </a:r>
            <a:r>
              <a:rPr lang="pt-BR" sz="2800" dirty="0" err="1"/>
              <a:t>small</a:t>
            </a:r>
            <a:r>
              <a:rPr lang="pt-BR" sz="2800" dirty="0"/>
              <a:t> </a:t>
            </a:r>
            <a:r>
              <a:rPr lang="pt-BR" sz="2800" dirty="0" err="1"/>
              <a:t>that</a:t>
            </a:r>
            <a:r>
              <a:rPr lang="pt-BR" sz="2800" dirty="0"/>
              <a:t> </a:t>
            </a:r>
            <a:r>
              <a:rPr lang="pt-BR" sz="2800" dirty="0" err="1"/>
              <a:t>they</a:t>
            </a:r>
            <a:r>
              <a:rPr lang="pt-BR" sz="2800" dirty="0"/>
              <a:t> </a:t>
            </a:r>
            <a:r>
              <a:rPr lang="pt-BR" sz="2800" dirty="0" err="1"/>
              <a:t>cannot</a:t>
            </a:r>
            <a:r>
              <a:rPr lang="pt-BR" sz="2800" dirty="0"/>
              <a:t> </a:t>
            </a:r>
            <a:r>
              <a:rPr lang="pt-BR" sz="2800" dirty="0" err="1"/>
              <a:t>become</a:t>
            </a:r>
            <a:r>
              <a:rPr lang="pt-BR" sz="2800" dirty="0"/>
              <a:t> </a:t>
            </a:r>
            <a:r>
              <a:rPr lang="pt-BR" sz="2800" dirty="0" err="1"/>
              <a:t>smaller</a:t>
            </a:r>
            <a:r>
              <a:rPr lang="pt-BR" sz="2800" dirty="0"/>
              <a:t>.</a:t>
            </a:r>
          </a:p>
          <a:p>
            <a:pPr algn="just"/>
            <a:endParaRPr lang="pt-BR" sz="2800" dirty="0"/>
          </a:p>
          <a:p>
            <a:pPr algn="just"/>
            <a:r>
              <a:rPr lang="pt-BR" sz="2800" dirty="0"/>
              <a:t>C) </a:t>
            </a:r>
            <a:r>
              <a:rPr lang="pt-BR" sz="2800" dirty="0" err="1"/>
              <a:t>Bergmann</a:t>
            </a:r>
            <a:r>
              <a:rPr lang="pt-BR" sz="2800" dirty="0"/>
              <a:t> </a:t>
            </a:r>
            <a:r>
              <a:rPr lang="pt-BR" sz="2800" dirty="0" err="1"/>
              <a:t>believes</a:t>
            </a:r>
            <a:r>
              <a:rPr lang="pt-BR" sz="2800" dirty="0"/>
              <a:t> </a:t>
            </a:r>
            <a:r>
              <a:rPr lang="pt-BR" sz="2800" dirty="0" err="1"/>
              <a:t>that</a:t>
            </a:r>
            <a:r>
              <a:rPr lang="pt-BR" sz="2800" dirty="0"/>
              <a:t> </a:t>
            </a:r>
            <a:r>
              <a:rPr lang="pt-BR" sz="2800" dirty="0" err="1"/>
              <a:t>our</a:t>
            </a:r>
            <a:r>
              <a:rPr lang="pt-BR" sz="2800" dirty="0"/>
              <a:t> </a:t>
            </a:r>
            <a:r>
              <a:rPr lang="pt-BR" sz="2800" dirty="0" err="1"/>
              <a:t>oceans</a:t>
            </a:r>
            <a:r>
              <a:rPr lang="pt-BR" sz="2800" dirty="0"/>
              <a:t> </a:t>
            </a:r>
            <a:r>
              <a:rPr lang="pt-BR" sz="2800" dirty="0" err="1"/>
              <a:t>will</a:t>
            </a:r>
            <a:r>
              <a:rPr lang="pt-BR" sz="2800" dirty="0"/>
              <a:t> </a:t>
            </a:r>
            <a:r>
              <a:rPr lang="pt-BR" sz="2800" dirty="0" err="1"/>
              <a:t>be</a:t>
            </a:r>
            <a:r>
              <a:rPr lang="pt-BR" sz="2800" dirty="0"/>
              <a:t> </a:t>
            </a:r>
            <a:r>
              <a:rPr lang="pt-BR" sz="2800" dirty="0" err="1"/>
              <a:t>much</a:t>
            </a:r>
            <a:r>
              <a:rPr lang="pt-BR" sz="2800" dirty="0"/>
              <a:t> more </a:t>
            </a:r>
            <a:r>
              <a:rPr lang="pt-BR" sz="2800" dirty="0" err="1"/>
              <a:t>polluted</a:t>
            </a:r>
            <a:r>
              <a:rPr lang="pt-BR" sz="2800" dirty="0"/>
              <a:t> in </a:t>
            </a:r>
            <a:r>
              <a:rPr lang="pt-BR" sz="2800" dirty="0" err="1"/>
              <a:t>the</a:t>
            </a:r>
            <a:r>
              <a:rPr lang="pt-BR" sz="2800" dirty="0"/>
              <a:t> future.</a:t>
            </a:r>
          </a:p>
          <a:p>
            <a:pPr algn="just"/>
            <a:endParaRPr lang="pt-BR" sz="2800" dirty="0"/>
          </a:p>
          <a:p>
            <a:pPr algn="just"/>
            <a:r>
              <a:rPr lang="pt-BR" sz="2800" dirty="0"/>
              <a:t>D) </a:t>
            </a:r>
            <a:r>
              <a:rPr lang="pt-BR" sz="2800" dirty="0" err="1"/>
              <a:t>Produce</a:t>
            </a:r>
            <a:r>
              <a:rPr lang="pt-BR" sz="2800" dirty="0"/>
              <a:t> </a:t>
            </a:r>
            <a:r>
              <a:rPr lang="pt-BR" sz="2800" dirty="0" err="1"/>
              <a:t>from</a:t>
            </a:r>
            <a:r>
              <a:rPr lang="pt-BR" sz="2800" dirty="0"/>
              <a:t> </a:t>
            </a:r>
            <a:r>
              <a:rPr lang="pt-BR" sz="2800" dirty="0" err="1"/>
              <a:t>organic</a:t>
            </a:r>
            <a:r>
              <a:rPr lang="pt-BR" sz="2800" dirty="0"/>
              <a:t> </a:t>
            </a:r>
            <a:r>
              <a:rPr lang="pt-BR" sz="2800" dirty="0" err="1"/>
              <a:t>farms</a:t>
            </a:r>
            <a:r>
              <a:rPr lang="pt-BR" sz="2800" dirty="0"/>
              <a:t> are </a:t>
            </a:r>
            <a:r>
              <a:rPr lang="pt-BR" sz="2800" dirty="0" err="1"/>
              <a:t>less</a:t>
            </a:r>
            <a:r>
              <a:rPr lang="pt-BR" sz="2800" dirty="0"/>
              <a:t> </a:t>
            </a:r>
            <a:r>
              <a:rPr lang="pt-BR" sz="2800" dirty="0" err="1"/>
              <a:t>likely</a:t>
            </a:r>
            <a:r>
              <a:rPr lang="pt-BR" sz="2800" dirty="0"/>
              <a:t> </a:t>
            </a:r>
            <a:r>
              <a:rPr lang="pt-BR" sz="2800" dirty="0" err="1"/>
              <a:t>to</a:t>
            </a:r>
            <a:r>
              <a:rPr lang="pt-BR" sz="2800" dirty="0"/>
              <a:t> </a:t>
            </a:r>
            <a:r>
              <a:rPr lang="pt-BR" sz="2800" dirty="0" err="1"/>
              <a:t>be</a:t>
            </a:r>
            <a:r>
              <a:rPr lang="pt-BR" sz="2800" dirty="0"/>
              <a:t> </a:t>
            </a:r>
            <a:r>
              <a:rPr lang="pt-BR" sz="2800" dirty="0" err="1"/>
              <a:t>contaminated</a:t>
            </a:r>
            <a:r>
              <a:rPr lang="pt-BR" sz="2800" dirty="0"/>
              <a:t> </a:t>
            </a:r>
            <a:r>
              <a:rPr lang="pt-BR" sz="2800" dirty="0" err="1"/>
              <a:t>by</a:t>
            </a:r>
            <a:r>
              <a:rPr lang="pt-BR" sz="2800" dirty="0"/>
              <a:t> </a:t>
            </a:r>
            <a:r>
              <a:rPr lang="pt-BR" sz="2800" dirty="0" err="1"/>
              <a:t>microplastic</a:t>
            </a:r>
            <a:r>
              <a:rPr lang="pt-BR" sz="2800" dirty="0"/>
              <a:t>.</a:t>
            </a:r>
          </a:p>
          <a:p>
            <a:pPr algn="just"/>
            <a:endParaRPr lang="pt-BR" sz="2800" dirty="0"/>
          </a:p>
          <a:p>
            <a:pPr algn="just"/>
            <a:r>
              <a:rPr lang="pt-BR" sz="2800" dirty="0"/>
              <a:t>E) </a:t>
            </a:r>
            <a:r>
              <a:rPr lang="pt-BR" sz="2800" dirty="0" err="1"/>
              <a:t>Micropastic</a:t>
            </a:r>
            <a:r>
              <a:rPr lang="pt-BR" sz="2800" dirty="0"/>
              <a:t> </a:t>
            </a:r>
            <a:r>
              <a:rPr lang="pt-BR" sz="2800" dirty="0" err="1"/>
              <a:t>can</a:t>
            </a:r>
            <a:r>
              <a:rPr lang="pt-BR" sz="2800" dirty="0"/>
              <a:t> </a:t>
            </a:r>
            <a:r>
              <a:rPr lang="pt-BR" sz="2800" dirty="0" err="1"/>
              <a:t>work</a:t>
            </a:r>
            <a:r>
              <a:rPr lang="pt-BR" sz="2800" dirty="0"/>
              <a:t> as a </a:t>
            </a:r>
            <a:r>
              <a:rPr lang="pt-BR" sz="2800" dirty="0" err="1"/>
              <a:t>transport</a:t>
            </a:r>
            <a:r>
              <a:rPr lang="pt-BR" sz="2800" dirty="0"/>
              <a:t> for </a:t>
            </a:r>
            <a:r>
              <a:rPr lang="pt-BR" sz="2800" dirty="0" err="1"/>
              <a:t>other</a:t>
            </a:r>
            <a:r>
              <a:rPr lang="pt-BR" sz="2800" dirty="0"/>
              <a:t> </a:t>
            </a:r>
            <a:r>
              <a:rPr lang="pt-BR" sz="2800" dirty="0" err="1"/>
              <a:t>harmful</a:t>
            </a:r>
            <a:r>
              <a:rPr lang="pt-BR" sz="2800" dirty="0"/>
              <a:t> </a:t>
            </a:r>
            <a:r>
              <a:rPr lang="pt-BR" sz="2800" dirty="0" err="1"/>
              <a:t>substances</a:t>
            </a:r>
            <a:r>
              <a:rPr lang="pt-BR" sz="2800" dirty="0"/>
              <a:t> </a:t>
            </a:r>
            <a:r>
              <a:rPr lang="pt-BR" sz="2800" dirty="0" err="1"/>
              <a:t>into</a:t>
            </a:r>
            <a:r>
              <a:rPr lang="pt-BR" sz="2800" dirty="0"/>
              <a:t> living </a:t>
            </a:r>
            <a:r>
              <a:rPr lang="pt-BR" sz="2800" dirty="0" err="1"/>
              <a:t>organisms</a:t>
            </a:r>
            <a:r>
              <a:rPr lang="pt-BR" sz="2800" dirty="0"/>
              <a:t>.</a:t>
            </a:r>
          </a:p>
        </p:txBody>
      </p:sp>
      <p:sp>
        <p:nvSpPr>
          <p:cNvPr id="5" name="Estrela: 5 Pontas 4">
            <a:extLst>
              <a:ext uri="{FF2B5EF4-FFF2-40B4-BE49-F238E27FC236}">
                <a16:creationId xmlns:a16="http://schemas.microsoft.com/office/drawing/2014/main" id="{93F65F50-A192-4183-8553-BE30A0FA1EE1}"/>
              </a:ext>
            </a:extLst>
          </p:cNvPr>
          <p:cNvSpPr/>
          <p:nvPr/>
        </p:nvSpPr>
        <p:spPr>
          <a:xfrm>
            <a:off x="318052" y="5787888"/>
            <a:ext cx="463826" cy="42407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2940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430</Words>
  <Application>Microsoft Office PowerPoint</Application>
  <PresentationFormat>Widescreen</PresentationFormat>
  <Paragraphs>95</Paragraphs>
  <Slides>10</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10</vt:i4>
      </vt:variant>
    </vt:vector>
  </HeadingPairs>
  <TitlesOfParts>
    <vt:vector size="14" baseType="lpstr">
      <vt:lpstr>Arial</vt:lpstr>
      <vt:lpstr>Calibri</vt:lpstr>
      <vt:lpstr>Calibri Light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Rodrigo Manz de Paula Ramos</dc:creator>
  <cp:lastModifiedBy>Rodrigo Manz de Paula Ramos</cp:lastModifiedBy>
  <cp:revision>44</cp:revision>
  <dcterms:created xsi:type="dcterms:W3CDTF">2019-06-06T02:27:43Z</dcterms:created>
  <dcterms:modified xsi:type="dcterms:W3CDTF">2019-09-21T02:14:29Z</dcterms:modified>
</cp:coreProperties>
</file>