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14" r:id="rId1"/>
  </p:sldMasterIdLst>
  <p:sldIdLst>
    <p:sldId id="256" r:id="rId2"/>
    <p:sldId id="257" r:id="rId3"/>
    <p:sldId id="258" r:id="rId4"/>
    <p:sldId id="259" r:id="rId5"/>
    <p:sldId id="260" r:id="rId6"/>
    <p:sldId id="261" r:id="rId7"/>
    <p:sldId id="262" r:id="rId8"/>
    <p:sldId id="264" r:id="rId9"/>
    <p:sldId id="270" r:id="rId10"/>
    <p:sldId id="265" r:id="rId11"/>
    <p:sldId id="263"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CC00CC"/>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9" d="100"/>
          <a:sy n="89" d="100"/>
        </p:scale>
        <p:origin x="120"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8/10/2026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245529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149797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96027F-7875-4030-9381-8BD8C4F21935}" type="datetimeFigureOut">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06997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44009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8/10/2026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775384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8/10/2026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049587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8/10/2026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168613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645878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06638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87975627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07630272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5119713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73083942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AD347D-5ACD-4C99-B74B-A9C85AD731AF}" type="datetimeFigureOut">
              <a:rPr lang="en-US" smtClean="0"/>
              <a:t>8/10/2026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72241104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AD347D-5ACD-4C99-B74B-A9C85AD731AF}" type="datetimeFigureOut">
              <a:rPr lang="en-US" smtClean="0"/>
              <a:t>8/10/2026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99522193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66482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848450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AAD347D-5ACD-4C99-B74B-A9C85AD731AF}" type="datetimeFigureOut">
              <a:rPr lang="en-US" smtClean="0"/>
              <a:t>8/10/2026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810769410"/>
      </p:ext>
    </p:extLst>
  </p:cSld>
  <p:clrMap bg1="dk1" tx1="lt1" bg2="dk2" tx2="lt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 id="2147483831" r:id="rId17"/>
  </p:sldLayoutIdLst>
  <p:hf sldNum="0"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97749" y="2897747"/>
            <a:ext cx="6218882" cy="1015663"/>
          </a:xfrm>
          <a:prstGeom prst="rect">
            <a:avLst/>
          </a:prstGeom>
          <a:noFill/>
        </p:spPr>
        <p:txBody>
          <a:bodyPr wrap="none" rtlCol="0">
            <a:spAutoFit/>
          </a:bodyPr>
          <a:lstStyle/>
          <a:p>
            <a:r>
              <a:rPr lang="pt-BR" sz="6000" b="1" u="sng" dirty="0" err="1">
                <a:latin typeface="Times New Roman" panose="02020603050405020304" pitchFamily="18" charset="0"/>
                <a:cs typeface="Times New Roman" panose="02020603050405020304" pitchFamily="18" charset="0"/>
              </a:rPr>
              <a:t>Relative</a:t>
            </a:r>
            <a:r>
              <a:rPr lang="pt-BR" sz="6000" b="1" u="sng" dirty="0">
                <a:latin typeface="Times New Roman" panose="02020603050405020304" pitchFamily="18" charset="0"/>
                <a:cs typeface="Times New Roman" panose="02020603050405020304" pitchFamily="18" charset="0"/>
              </a:rPr>
              <a:t> </a:t>
            </a:r>
            <a:r>
              <a:rPr lang="pt-BR" sz="6000" b="1" u="sng" dirty="0" err="1">
                <a:latin typeface="Times New Roman" panose="02020603050405020304" pitchFamily="18" charset="0"/>
                <a:cs typeface="Times New Roman" panose="02020603050405020304" pitchFamily="18" charset="0"/>
              </a:rPr>
              <a:t>Pronouns</a:t>
            </a:r>
            <a:endParaRPr lang="pt-BR" sz="6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5422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1667" y="296214"/>
            <a:ext cx="11900079" cy="1200329"/>
          </a:xfrm>
          <a:prstGeom prst="rect">
            <a:avLst/>
          </a:prstGeom>
          <a:noFill/>
        </p:spPr>
        <p:txBody>
          <a:bodyPr wrap="square" rtlCol="0">
            <a:spAutoFit/>
          </a:bodyPr>
          <a:lstStyle/>
          <a:p>
            <a:r>
              <a:rPr lang="pt-BR" sz="3600" b="1" dirty="0">
                <a:latin typeface="Times New Roman" panose="02020603050405020304" pitchFamily="18" charset="0"/>
                <a:cs typeface="Times New Roman" panose="02020603050405020304" pitchFamily="18" charset="0"/>
              </a:rPr>
              <a:t>1. </a:t>
            </a:r>
            <a:r>
              <a:rPr lang="pt-BR" sz="3600" b="1" u="sng" dirty="0">
                <a:latin typeface="Times New Roman" panose="02020603050405020304" pitchFamily="18" charset="0"/>
                <a:cs typeface="Times New Roman" panose="02020603050405020304" pitchFamily="18" charset="0"/>
              </a:rPr>
              <a:t>Quando o antecedente do pronome for pessoa</a:t>
            </a:r>
            <a:r>
              <a:rPr lang="pt-BR" sz="3600" u="sng" dirty="0">
                <a:latin typeface="Times New Roman" panose="02020603050405020304" pitchFamily="18" charset="0"/>
                <a:cs typeface="Times New Roman" panose="02020603050405020304" pitchFamily="18" charset="0"/>
              </a:rPr>
              <a:t> (que, o qual, a qual, os quais, as quais):</a:t>
            </a:r>
            <a:r>
              <a:rPr lang="pt-BR" sz="2800" u="sng" dirty="0">
                <a:latin typeface="Times New Roman" panose="02020603050405020304" pitchFamily="18" charset="0"/>
                <a:cs typeface="Times New Roman" panose="02020603050405020304" pitchFamily="18" charset="0"/>
              </a:rPr>
              <a:t> </a:t>
            </a:r>
          </a:p>
        </p:txBody>
      </p:sp>
      <p:sp>
        <p:nvSpPr>
          <p:cNvPr id="5" name="TextBox 4"/>
          <p:cNvSpPr txBox="1"/>
          <p:nvPr/>
        </p:nvSpPr>
        <p:spPr>
          <a:xfrm>
            <a:off x="390371" y="1661377"/>
            <a:ext cx="11651375" cy="1077218"/>
          </a:xfrm>
          <a:prstGeom prst="rect">
            <a:avLst/>
          </a:prstGeom>
          <a:noFill/>
        </p:spPr>
        <p:txBody>
          <a:bodyPr wrap="square" rtlCol="0">
            <a:spAutoFit/>
          </a:bodyPr>
          <a:lstStyle/>
          <a:p>
            <a:r>
              <a:rPr lang="pt-BR" sz="3200" b="1" dirty="0">
                <a:latin typeface="Times New Roman" panose="02020603050405020304" pitchFamily="18" charset="0"/>
                <a:cs typeface="Times New Roman" panose="02020603050405020304" pitchFamily="18" charset="0"/>
              </a:rPr>
              <a:t>1.1 </a:t>
            </a:r>
            <a:r>
              <a:rPr lang="pt-BR" sz="3200" dirty="0">
                <a:latin typeface="Times New Roman" panose="02020603050405020304" pitchFamily="18" charset="0"/>
                <a:cs typeface="Times New Roman" panose="02020603050405020304" pitchFamily="18" charset="0"/>
              </a:rPr>
              <a:t>Usa-se</a:t>
            </a:r>
            <a:r>
              <a:rPr lang="pt-BR" sz="3200" b="1" dirty="0">
                <a:latin typeface="Times New Roman" panose="02020603050405020304" pitchFamily="18" charset="0"/>
                <a:cs typeface="Times New Roman" panose="02020603050405020304" pitchFamily="18" charset="0"/>
              </a:rPr>
              <a:t> </a:t>
            </a:r>
            <a:r>
              <a:rPr lang="pt-BR" sz="3200" b="1" u="sng" dirty="0">
                <a:solidFill>
                  <a:srgbClr val="FF0000"/>
                </a:solidFill>
                <a:latin typeface="Times New Roman" panose="02020603050405020304" pitchFamily="18" charset="0"/>
                <a:cs typeface="Times New Roman" panose="02020603050405020304" pitchFamily="18" charset="0"/>
              </a:rPr>
              <a:t>WHO</a:t>
            </a:r>
            <a:r>
              <a:rPr lang="pt-BR" sz="3200" dirty="0">
                <a:latin typeface="Times New Roman" panose="02020603050405020304" pitchFamily="18" charset="0"/>
                <a:cs typeface="Times New Roman" panose="02020603050405020304" pitchFamily="18" charset="0"/>
              </a:rPr>
              <a:t> ou </a:t>
            </a:r>
            <a:r>
              <a:rPr lang="pt-BR" sz="3200" b="1" u="sng" dirty="0">
                <a:solidFill>
                  <a:srgbClr val="FFFF00"/>
                </a:solidFill>
                <a:latin typeface="Times New Roman" panose="02020603050405020304" pitchFamily="18" charset="0"/>
                <a:cs typeface="Times New Roman" panose="02020603050405020304" pitchFamily="18" charset="0"/>
              </a:rPr>
              <a:t>THAT</a:t>
            </a:r>
            <a:r>
              <a:rPr lang="pt-BR" sz="3200" dirty="0">
                <a:latin typeface="Times New Roman" panose="02020603050405020304" pitchFamily="18" charset="0"/>
                <a:cs typeface="Times New Roman" panose="02020603050405020304" pitchFamily="18" charset="0"/>
              </a:rPr>
              <a:t> com função de sujeito ou objeto da oração não precedido de preposição.</a:t>
            </a:r>
          </a:p>
        </p:txBody>
      </p:sp>
      <p:sp>
        <p:nvSpPr>
          <p:cNvPr id="6" name="TextBox 5"/>
          <p:cNvSpPr txBox="1"/>
          <p:nvPr/>
        </p:nvSpPr>
        <p:spPr>
          <a:xfrm>
            <a:off x="689018" y="2833355"/>
            <a:ext cx="11185303" cy="553998"/>
          </a:xfrm>
          <a:prstGeom prst="rect">
            <a:avLst/>
          </a:prstGeom>
          <a:noFill/>
        </p:spPr>
        <p:txBody>
          <a:bodyPr wrap="square" rtlCol="0">
            <a:spAutoFit/>
          </a:bodyPr>
          <a:lstStyle/>
          <a:p>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What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happened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sailor</a:t>
            </a:r>
            <a:r>
              <a:rPr lang="pt-BR" sz="3000" i="1" dirty="0">
                <a:latin typeface="Times New Roman" panose="02020603050405020304" pitchFamily="18" charset="0"/>
                <a:cs typeface="Times New Roman" panose="02020603050405020304" pitchFamily="18" charset="0"/>
              </a:rPr>
              <a:t> </a:t>
            </a:r>
            <a:r>
              <a:rPr lang="pt-BR" sz="3000" b="1" i="1" u="sng" dirty="0">
                <a:solidFill>
                  <a:srgbClr val="FF0000"/>
                </a:solidFill>
                <a:latin typeface="Times New Roman" panose="02020603050405020304" pitchFamily="18" charset="0"/>
                <a:cs typeface="Times New Roman" panose="02020603050405020304" pitchFamily="18" charset="0"/>
              </a:rPr>
              <a:t>WHO</a:t>
            </a:r>
            <a:r>
              <a:rPr lang="pt-BR" sz="3000" b="1" i="1" u="sng" dirty="0">
                <a:latin typeface="Times New Roman" panose="02020603050405020304" pitchFamily="18" charset="0"/>
                <a:cs typeface="Times New Roman" panose="02020603050405020304" pitchFamily="18" charset="0"/>
              </a:rPr>
              <a:t>/</a:t>
            </a:r>
            <a:r>
              <a:rPr lang="pt-BR" sz="3000" b="1" i="1" u="sng" dirty="0">
                <a:solidFill>
                  <a:srgbClr val="FFFF00"/>
                </a:solidFill>
                <a:latin typeface="Times New Roman" panose="02020603050405020304" pitchFamily="18" charset="0"/>
                <a:cs typeface="Times New Roman" panose="02020603050405020304" pitchFamily="18" charset="0"/>
              </a:rPr>
              <a:t>THAT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departed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morning</a:t>
            </a:r>
            <a:r>
              <a:rPr lang="pt-BR" sz="3000" i="1" dirty="0">
                <a:latin typeface="Times New Roman" panose="02020603050405020304" pitchFamily="18" charset="0"/>
                <a:cs typeface="Times New Roman" panose="02020603050405020304" pitchFamily="18" charset="0"/>
              </a:rPr>
              <a:t>?</a:t>
            </a:r>
          </a:p>
        </p:txBody>
      </p:sp>
      <p:sp>
        <p:nvSpPr>
          <p:cNvPr id="7" name="TextBox 6"/>
          <p:cNvSpPr txBox="1"/>
          <p:nvPr/>
        </p:nvSpPr>
        <p:spPr>
          <a:xfrm>
            <a:off x="390371" y="3786391"/>
            <a:ext cx="11651375" cy="1077218"/>
          </a:xfrm>
          <a:prstGeom prst="rect">
            <a:avLst/>
          </a:prstGeom>
          <a:noFill/>
        </p:spPr>
        <p:txBody>
          <a:bodyPr wrap="square" rtlCol="0">
            <a:spAutoFit/>
          </a:bodyPr>
          <a:lstStyle/>
          <a:p>
            <a:r>
              <a:rPr lang="pt-BR" sz="3200" b="1" dirty="0">
                <a:latin typeface="Times New Roman" panose="02020603050405020304" pitchFamily="18" charset="0"/>
                <a:cs typeface="Times New Roman" panose="02020603050405020304" pitchFamily="18" charset="0"/>
              </a:rPr>
              <a:t>1.2</a:t>
            </a:r>
            <a:r>
              <a:rPr lang="pt-BR" sz="3200" dirty="0">
                <a:latin typeface="Times New Roman" panose="02020603050405020304" pitchFamily="18" charset="0"/>
                <a:cs typeface="Times New Roman" panose="02020603050405020304" pitchFamily="18" charset="0"/>
              </a:rPr>
              <a:t> Usa-se </a:t>
            </a:r>
            <a:r>
              <a:rPr lang="pt-BR" sz="3200" b="1" dirty="0">
                <a:solidFill>
                  <a:srgbClr val="00FF00"/>
                </a:solidFill>
                <a:latin typeface="Times New Roman" panose="02020603050405020304" pitchFamily="18" charset="0"/>
                <a:cs typeface="Times New Roman" panose="02020603050405020304" pitchFamily="18" charset="0"/>
              </a:rPr>
              <a:t>WHOM</a:t>
            </a:r>
            <a:r>
              <a:rPr lang="pt-BR" sz="3200" b="1" dirty="0">
                <a:latin typeface="Times New Roman" panose="02020603050405020304" pitchFamily="18" charset="0"/>
                <a:cs typeface="Times New Roman" panose="02020603050405020304" pitchFamily="18" charset="0"/>
              </a:rPr>
              <a:t> </a:t>
            </a:r>
            <a:r>
              <a:rPr lang="pt-BR" sz="3200" dirty="0">
                <a:latin typeface="Times New Roman" panose="02020603050405020304" pitchFamily="18" charset="0"/>
                <a:cs typeface="Times New Roman" panose="02020603050405020304" pitchFamily="18" charset="0"/>
              </a:rPr>
              <a:t>com função de objeto, o que é obrigatório quando o objeto é precedido de </a:t>
            </a:r>
            <a:r>
              <a:rPr lang="pt-BR" sz="3200" u="sng" dirty="0">
                <a:latin typeface="Times New Roman" panose="02020603050405020304" pitchFamily="18" charset="0"/>
                <a:cs typeface="Times New Roman" panose="02020603050405020304" pitchFamily="18" charset="0"/>
              </a:rPr>
              <a:t>preposição.</a:t>
            </a:r>
          </a:p>
        </p:txBody>
      </p:sp>
      <p:sp>
        <p:nvSpPr>
          <p:cNvPr id="8" name="TextBox 7"/>
          <p:cNvSpPr txBox="1"/>
          <p:nvPr/>
        </p:nvSpPr>
        <p:spPr>
          <a:xfrm>
            <a:off x="689019" y="4976598"/>
            <a:ext cx="11185302" cy="1015663"/>
          </a:xfrm>
          <a:prstGeom prst="rect">
            <a:avLst/>
          </a:prstGeom>
          <a:noFill/>
        </p:spPr>
        <p:txBody>
          <a:bodyPr wrap="square" rtlCol="0">
            <a:spAutoFit/>
          </a:bodyPr>
          <a:lstStyle/>
          <a:p>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want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interrogate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man</a:t>
            </a:r>
            <a:r>
              <a:rPr lang="pt-BR" sz="3000" i="1" dirty="0">
                <a:latin typeface="Times New Roman" panose="02020603050405020304" pitchFamily="18" charset="0"/>
                <a:cs typeface="Times New Roman" panose="02020603050405020304" pitchFamily="18" charset="0"/>
              </a:rPr>
              <a:t> </a:t>
            </a:r>
            <a:r>
              <a:rPr lang="pt-BR" sz="3000" b="1" i="1" dirty="0">
                <a:solidFill>
                  <a:srgbClr val="00FF00"/>
                </a:solidFill>
                <a:latin typeface="Times New Roman" panose="02020603050405020304" pitchFamily="18" charset="0"/>
                <a:cs typeface="Times New Roman" panose="02020603050405020304" pitchFamily="18" charset="0"/>
              </a:rPr>
              <a:t>WHOM</a:t>
            </a:r>
            <a:r>
              <a:rPr lang="pt-BR" sz="3000" b="1" i="1" dirty="0">
                <a:latin typeface="Times New Roman" panose="02020603050405020304" pitchFamily="18" charset="0"/>
                <a:cs typeface="Times New Roman" panose="02020603050405020304" pitchFamily="18" charset="0"/>
              </a:rPr>
              <a:t>/</a:t>
            </a:r>
            <a:r>
              <a:rPr lang="pt-BR" sz="3000" b="1" i="1" dirty="0">
                <a:solidFill>
                  <a:srgbClr val="FF0000"/>
                </a:solidFill>
                <a:latin typeface="Times New Roman" panose="02020603050405020304" pitchFamily="18" charset="0"/>
                <a:cs typeface="Times New Roman" panose="02020603050405020304" pitchFamily="18" charset="0"/>
              </a:rPr>
              <a:t>WHO</a:t>
            </a:r>
            <a:r>
              <a:rPr lang="pt-BR" sz="3000" b="1" i="1" dirty="0">
                <a:latin typeface="Times New Roman" panose="02020603050405020304" pitchFamily="18" charset="0"/>
                <a:cs typeface="Times New Roman" panose="02020603050405020304" pitchFamily="18" charset="0"/>
              </a:rPr>
              <a:t>/</a:t>
            </a:r>
            <a:r>
              <a:rPr lang="pt-BR" sz="3000" b="1" i="1" dirty="0">
                <a:solidFill>
                  <a:srgbClr val="FFFF00"/>
                </a:solidFill>
                <a:latin typeface="Times New Roman" panose="02020603050405020304" pitchFamily="18" charset="0"/>
                <a:cs typeface="Times New Roman" panose="02020603050405020304" pitchFamily="18" charset="0"/>
              </a:rPr>
              <a:t>THAT</a:t>
            </a:r>
            <a:r>
              <a:rPr lang="pt-BR" sz="3000" b="1" i="1" dirty="0">
                <a:latin typeface="Times New Roman" panose="02020603050405020304" pitchFamily="18" charset="0"/>
                <a:cs typeface="Times New Roman" panose="02020603050405020304" pitchFamily="18" charset="0"/>
              </a:rPr>
              <a:t>/</a:t>
            </a:r>
            <a:r>
              <a:rPr lang="pt-BR" sz="3000" b="1" i="1" dirty="0">
                <a:solidFill>
                  <a:schemeClr val="bg1"/>
                </a:solidFill>
                <a:latin typeface="Times New Roman" panose="02020603050405020304" pitchFamily="18" charset="0"/>
                <a:cs typeface="Times New Roman" panose="02020603050405020304" pitchFamily="18" charset="0"/>
              </a:rPr>
              <a:t>(OMISSÃO)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captured</a:t>
            </a:r>
            <a:r>
              <a:rPr lang="pt-BR" sz="3000" i="1" dirty="0">
                <a:latin typeface="Times New Roman" panose="02020603050405020304" pitchFamily="18" charset="0"/>
                <a:cs typeface="Times New Roman" panose="02020603050405020304" pitchFamily="18" charset="0"/>
              </a:rPr>
              <a:t>.</a:t>
            </a:r>
          </a:p>
        </p:txBody>
      </p:sp>
      <p:sp>
        <p:nvSpPr>
          <p:cNvPr id="9" name="TextBox 8"/>
          <p:cNvSpPr txBox="1"/>
          <p:nvPr/>
        </p:nvSpPr>
        <p:spPr>
          <a:xfrm flipH="1">
            <a:off x="689017" y="6031594"/>
            <a:ext cx="11185303" cy="553998"/>
          </a:xfrm>
          <a:prstGeom prst="rect">
            <a:avLst/>
          </a:prstGeom>
          <a:noFill/>
        </p:spPr>
        <p:txBody>
          <a:bodyPr wrap="square" rtlCol="0">
            <a:spAutoFit/>
          </a:bodyPr>
          <a:lstStyle/>
          <a:p>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want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meet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friend</a:t>
            </a:r>
            <a:r>
              <a:rPr lang="pt-BR" sz="3000" i="1" dirty="0">
                <a:latin typeface="Times New Roman" panose="02020603050405020304" pitchFamily="18" charset="0"/>
                <a:cs typeface="Times New Roman" panose="02020603050405020304" pitchFamily="18" charset="0"/>
              </a:rPr>
              <a:t> </a:t>
            </a:r>
            <a:r>
              <a:rPr lang="pt-BR" sz="3000" i="1" u="sng" dirty="0" err="1">
                <a:latin typeface="Times New Roman" panose="02020603050405020304" pitchFamily="18" charset="0"/>
                <a:cs typeface="Times New Roman" panose="02020603050405020304" pitchFamily="18" charset="0"/>
              </a:rPr>
              <a:t>about</a:t>
            </a:r>
            <a:r>
              <a:rPr lang="pt-BR" sz="3000" i="1" dirty="0">
                <a:latin typeface="Times New Roman" panose="02020603050405020304" pitchFamily="18" charset="0"/>
                <a:cs typeface="Times New Roman" panose="02020603050405020304" pitchFamily="18" charset="0"/>
              </a:rPr>
              <a:t> </a:t>
            </a:r>
            <a:r>
              <a:rPr lang="pt-BR" sz="3000" b="1" i="1" dirty="0">
                <a:solidFill>
                  <a:srgbClr val="00FF00"/>
                </a:solidFill>
                <a:latin typeface="Times New Roman" panose="02020603050405020304" pitchFamily="18" charset="0"/>
                <a:cs typeface="Times New Roman" panose="02020603050405020304" pitchFamily="18" charset="0"/>
              </a:rPr>
              <a:t>WHOM</a:t>
            </a:r>
            <a:r>
              <a:rPr lang="pt-BR" sz="3000" b="1"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were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talking</a:t>
            </a:r>
            <a:r>
              <a:rPr lang="pt-BR" sz="30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6373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1+#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1769" y="141669"/>
            <a:ext cx="11642501" cy="1754326"/>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2.</a:t>
            </a:r>
            <a:r>
              <a:rPr lang="pt-BR" sz="3600" dirty="0">
                <a:latin typeface="Times New Roman" panose="02020603050405020304" pitchFamily="18" charset="0"/>
                <a:cs typeface="Times New Roman" panose="02020603050405020304" pitchFamily="18" charset="0"/>
              </a:rPr>
              <a:t> </a:t>
            </a:r>
            <a:r>
              <a:rPr lang="pt-BR" sz="3600" b="1" u="sng" dirty="0">
                <a:latin typeface="Times New Roman" panose="02020603050405020304" pitchFamily="18" charset="0"/>
                <a:cs typeface="Times New Roman" panose="02020603050405020304" pitchFamily="18" charset="0"/>
              </a:rPr>
              <a:t>Quando o antecedente do pronome for coisa ou animal</a:t>
            </a:r>
            <a:r>
              <a:rPr lang="pt-BR" sz="3600" u="sng" dirty="0">
                <a:latin typeface="Times New Roman" panose="02020603050405020304" pitchFamily="18" charset="0"/>
                <a:cs typeface="Times New Roman" panose="02020603050405020304" pitchFamily="18" charset="0"/>
              </a:rPr>
              <a:t> (que, o que, o qual, a qual, os quais, as quais) Usa-se </a:t>
            </a:r>
            <a:r>
              <a:rPr lang="pt-BR" sz="3600" b="1" u="sng" dirty="0">
                <a:solidFill>
                  <a:srgbClr val="00FFFF"/>
                </a:solidFill>
                <a:latin typeface="Times New Roman" panose="02020603050405020304" pitchFamily="18" charset="0"/>
                <a:cs typeface="Times New Roman" panose="02020603050405020304" pitchFamily="18" charset="0"/>
              </a:rPr>
              <a:t>WHICH</a:t>
            </a:r>
            <a:r>
              <a:rPr lang="pt-BR" sz="3600" u="sng" dirty="0">
                <a:latin typeface="Times New Roman" panose="02020603050405020304" pitchFamily="18" charset="0"/>
                <a:cs typeface="Times New Roman" panose="02020603050405020304" pitchFamily="18" charset="0"/>
              </a:rPr>
              <a:t> ou </a:t>
            </a:r>
            <a:r>
              <a:rPr lang="pt-BR" sz="3600" b="1" u="sng" dirty="0">
                <a:solidFill>
                  <a:srgbClr val="FFFF00"/>
                </a:solidFill>
                <a:latin typeface="Times New Roman" panose="02020603050405020304" pitchFamily="18" charset="0"/>
                <a:cs typeface="Times New Roman" panose="02020603050405020304" pitchFamily="18" charset="0"/>
              </a:rPr>
              <a:t>THAT.</a:t>
            </a:r>
            <a:endParaRPr lang="pt-BR" sz="3600" u="sng" dirty="0">
              <a:solidFill>
                <a:srgbClr val="FFFF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1069053" y="1991762"/>
            <a:ext cx="10045791" cy="1015663"/>
          </a:xfrm>
          <a:prstGeom prst="rect">
            <a:avLst/>
          </a:prstGeom>
          <a:noFill/>
        </p:spPr>
        <p:txBody>
          <a:bodyPr wrap="square" rtlCol="0">
            <a:spAutoFit/>
          </a:bodyPr>
          <a:lstStyle/>
          <a:p>
            <a:pPr algn="ctr"/>
            <a:r>
              <a:rPr lang="pt-BR" sz="3000" i="1" dirty="0">
                <a:latin typeface="Times New Roman" panose="02020603050405020304" pitchFamily="18" charset="0"/>
                <a:cs typeface="Times New Roman" panose="02020603050405020304" pitchFamily="18" charset="0"/>
              </a:rPr>
              <a:t>- The </a:t>
            </a:r>
            <a:r>
              <a:rPr lang="pt-BR" sz="3000" i="1" dirty="0" err="1">
                <a:latin typeface="Times New Roman" panose="02020603050405020304" pitchFamily="18" charset="0"/>
                <a:cs typeface="Times New Roman" panose="02020603050405020304" pitchFamily="18" charset="0"/>
              </a:rPr>
              <a:t>dogs</a:t>
            </a:r>
            <a:r>
              <a:rPr lang="pt-BR" sz="3000" i="1" dirty="0">
                <a:latin typeface="Times New Roman" panose="02020603050405020304" pitchFamily="18" charset="0"/>
                <a:cs typeface="Times New Roman" panose="02020603050405020304" pitchFamily="18" charset="0"/>
              </a:rPr>
              <a:t> </a:t>
            </a:r>
            <a:r>
              <a:rPr lang="pt-BR" sz="3000" b="1" i="1" dirty="0">
                <a:solidFill>
                  <a:srgbClr val="FFFF00"/>
                </a:solidFill>
                <a:latin typeface="Times New Roman" panose="02020603050405020304" pitchFamily="18" charset="0"/>
                <a:cs typeface="Times New Roman" panose="02020603050405020304" pitchFamily="18" charset="0"/>
              </a:rPr>
              <a:t>THAT</a:t>
            </a:r>
            <a:r>
              <a:rPr lang="pt-BR" sz="3000" b="1" i="1" dirty="0">
                <a:latin typeface="Times New Roman" panose="02020603050405020304" pitchFamily="18" charset="0"/>
                <a:cs typeface="Times New Roman" panose="02020603050405020304" pitchFamily="18" charset="0"/>
              </a:rPr>
              <a:t>/</a:t>
            </a:r>
            <a:r>
              <a:rPr lang="pt-BR" sz="3000" b="1" i="1" dirty="0">
                <a:solidFill>
                  <a:srgbClr val="00FFFF"/>
                </a:solidFill>
                <a:latin typeface="Times New Roman" panose="02020603050405020304" pitchFamily="18" charset="0"/>
                <a:cs typeface="Times New Roman" panose="02020603050405020304" pitchFamily="18" charset="0"/>
              </a:rPr>
              <a:t>WHICH</a:t>
            </a:r>
            <a:r>
              <a:rPr lang="pt-BR" sz="3000" i="1" dirty="0">
                <a:latin typeface="Times New Roman" panose="02020603050405020304" pitchFamily="18" charset="0"/>
                <a:cs typeface="Times New Roman" panose="02020603050405020304" pitchFamily="18" charset="0"/>
              </a:rPr>
              <a:t> are </a:t>
            </a:r>
            <a:r>
              <a:rPr lang="pt-BR" sz="3000" i="1" dirty="0" err="1">
                <a:latin typeface="Times New Roman" panose="02020603050405020304" pitchFamily="18" charset="0"/>
                <a:cs typeface="Times New Roman" panose="02020603050405020304" pitchFamily="18" charset="0"/>
              </a:rPr>
              <a:t>sick</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need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special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attention</a:t>
            </a:r>
            <a:r>
              <a:rPr lang="pt-BR" sz="3000" i="1" dirty="0">
                <a:latin typeface="Times New Roman" panose="02020603050405020304" pitchFamily="18" charset="0"/>
                <a:cs typeface="Times New Roman" panose="02020603050405020304" pitchFamily="18" charset="0"/>
              </a:rPr>
              <a:t>.</a:t>
            </a:r>
          </a:p>
          <a:p>
            <a:pPr algn="ctr"/>
            <a:r>
              <a:rPr lang="pt-BR" sz="3000" dirty="0">
                <a:latin typeface="Times New Roman" panose="02020603050405020304" pitchFamily="18" charset="0"/>
                <a:cs typeface="Times New Roman" panose="02020603050405020304" pitchFamily="18" charset="0"/>
              </a:rPr>
              <a:t>(RESTRITIVA: identifica um grupo de cachorros dentre outros)</a:t>
            </a:r>
          </a:p>
        </p:txBody>
      </p:sp>
      <p:sp>
        <p:nvSpPr>
          <p:cNvPr id="8" name="TextBox 7"/>
          <p:cNvSpPr txBox="1"/>
          <p:nvPr/>
        </p:nvSpPr>
        <p:spPr>
          <a:xfrm>
            <a:off x="601008" y="3206947"/>
            <a:ext cx="10479118" cy="1015663"/>
          </a:xfrm>
          <a:prstGeom prst="rect">
            <a:avLst/>
          </a:prstGeom>
          <a:noFill/>
        </p:spPr>
        <p:txBody>
          <a:bodyPr wrap="square" rtlCol="0">
            <a:spAutoFit/>
          </a:bodyPr>
          <a:lstStyle/>
          <a:p>
            <a:pPr algn="ctr"/>
            <a:r>
              <a:rPr lang="pt-BR" sz="3000" i="1" dirty="0">
                <a:latin typeface="Times New Roman" panose="02020603050405020304" pitchFamily="18" charset="0"/>
                <a:cs typeface="Times New Roman" panose="02020603050405020304" pitchFamily="18" charset="0"/>
              </a:rPr>
              <a:t>- The </a:t>
            </a:r>
            <a:r>
              <a:rPr lang="pt-BR" sz="3000" i="1" dirty="0" err="1">
                <a:latin typeface="Times New Roman" panose="02020603050405020304" pitchFamily="18" charset="0"/>
                <a:cs typeface="Times New Roman" panose="02020603050405020304" pitchFamily="18" charset="0"/>
              </a:rPr>
              <a:t>dogs</a:t>
            </a:r>
            <a:r>
              <a:rPr lang="pt-BR" sz="3000" i="1" dirty="0">
                <a:solidFill>
                  <a:srgbClr val="00FFFF"/>
                </a:solidFill>
                <a:latin typeface="Times New Roman" panose="02020603050405020304" pitchFamily="18" charset="0"/>
                <a:cs typeface="Times New Roman" panose="02020603050405020304" pitchFamily="18" charset="0"/>
              </a:rPr>
              <a:t>,</a:t>
            </a:r>
            <a:r>
              <a:rPr lang="pt-BR" sz="3000" i="1" dirty="0">
                <a:latin typeface="Times New Roman" panose="02020603050405020304" pitchFamily="18" charset="0"/>
                <a:cs typeface="Times New Roman" panose="02020603050405020304" pitchFamily="18" charset="0"/>
              </a:rPr>
              <a:t> </a:t>
            </a:r>
            <a:r>
              <a:rPr lang="pt-BR" sz="3000" b="1" i="1" dirty="0">
                <a:solidFill>
                  <a:srgbClr val="00FFFF"/>
                </a:solidFill>
                <a:latin typeface="Times New Roman" panose="02020603050405020304" pitchFamily="18" charset="0"/>
                <a:cs typeface="Times New Roman" panose="02020603050405020304" pitchFamily="18" charset="0"/>
              </a:rPr>
              <a:t>WHICH</a:t>
            </a:r>
            <a:r>
              <a:rPr lang="pt-BR" sz="3000" i="1" dirty="0">
                <a:latin typeface="Times New Roman" panose="02020603050405020304" pitchFamily="18" charset="0"/>
                <a:cs typeface="Times New Roman" panose="02020603050405020304" pitchFamily="18" charset="0"/>
              </a:rPr>
              <a:t> are </a:t>
            </a:r>
            <a:r>
              <a:rPr lang="pt-BR" sz="3000" i="1" dirty="0" err="1">
                <a:latin typeface="Times New Roman" panose="02020603050405020304" pitchFamily="18" charset="0"/>
                <a:cs typeface="Times New Roman" panose="02020603050405020304" pitchFamily="18" charset="0"/>
              </a:rPr>
              <a:t>sick</a:t>
            </a:r>
            <a:r>
              <a:rPr lang="pt-BR" sz="3000" i="1" dirty="0">
                <a:solidFill>
                  <a:srgbClr val="00FFFF"/>
                </a:solidFill>
                <a:latin typeface="Times New Roman" panose="02020603050405020304" pitchFamily="18" charset="0"/>
                <a:cs typeface="Times New Roman" panose="02020603050405020304" pitchFamily="18" charset="0"/>
              </a:rPr>
              <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need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special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attention</a:t>
            </a:r>
            <a:r>
              <a:rPr lang="pt-BR" sz="3000" i="1" dirty="0">
                <a:latin typeface="Times New Roman" panose="02020603050405020304" pitchFamily="18" charset="0"/>
                <a:cs typeface="Times New Roman" panose="02020603050405020304" pitchFamily="18" charset="0"/>
              </a:rPr>
              <a:t>.</a:t>
            </a:r>
          </a:p>
          <a:p>
            <a:pPr algn="ctr"/>
            <a:r>
              <a:rPr lang="pt-BR" sz="3000" dirty="0">
                <a:latin typeface="Times New Roman" panose="02020603050405020304" pitchFamily="18" charset="0"/>
                <a:cs typeface="Times New Roman" panose="02020603050405020304" pitchFamily="18" charset="0"/>
              </a:rPr>
              <a:t>(EXPLICATIVA: apenas dá um detalhe sobre todos os cachorros)</a:t>
            </a:r>
          </a:p>
        </p:txBody>
      </p:sp>
      <p:sp>
        <p:nvSpPr>
          <p:cNvPr id="9" name="TextBox 8"/>
          <p:cNvSpPr txBox="1"/>
          <p:nvPr/>
        </p:nvSpPr>
        <p:spPr>
          <a:xfrm>
            <a:off x="865026" y="4557741"/>
            <a:ext cx="10315977" cy="553998"/>
          </a:xfrm>
          <a:prstGeom prst="rect">
            <a:avLst/>
          </a:prstGeom>
          <a:noFill/>
        </p:spPr>
        <p:txBody>
          <a:bodyPr wrap="square" rtlCol="0">
            <a:spAutoFit/>
          </a:bodyPr>
          <a:lstStyle/>
          <a:p>
            <a:pPr algn="ctr"/>
            <a:r>
              <a:rPr lang="pt-BR" sz="3000" i="1" dirty="0">
                <a:latin typeface="Times New Roman" panose="02020603050405020304" pitchFamily="18" charset="0"/>
                <a:cs typeface="Times New Roman" panose="02020603050405020304" pitchFamily="18" charset="0"/>
              </a:rPr>
              <a:t>- The path </a:t>
            </a:r>
            <a:r>
              <a:rPr lang="pt-BR" sz="3000" b="1" i="1" dirty="0">
                <a:solidFill>
                  <a:srgbClr val="00FFFF"/>
                </a:solidFill>
                <a:latin typeface="Times New Roman" panose="02020603050405020304" pitchFamily="18" charset="0"/>
                <a:cs typeface="Times New Roman" panose="02020603050405020304" pitchFamily="18" charset="0"/>
              </a:rPr>
              <a:t>WHICH</a:t>
            </a:r>
            <a:r>
              <a:rPr lang="pt-BR" sz="3000" b="1" i="1" dirty="0">
                <a:latin typeface="Times New Roman" panose="02020603050405020304" pitchFamily="18" charset="0"/>
                <a:cs typeface="Times New Roman" panose="02020603050405020304" pitchFamily="18" charset="0"/>
              </a:rPr>
              <a:t>/</a:t>
            </a:r>
            <a:r>
              <a:rPr lang="pt-BR" sz="3000" b="1" i="1" dirty="0">
                <a:solidFill>
                  <a:srgbClr val="FFFF00"/>
                </a:solidFill>
                <a:latin typeface="Times New Roman" panose="02020603050405020304" pitchFamily="18" charset="0"/>
                <a:cs typeface="Times New Roman" panose="02020603050405020304" pitchFamily="18" charset="0"/>
              </a:rPr>
              <a:t>THAT</a:t>
            </a:r>
            <a:r>
              <a:rPr lang="pt-BR" sz="3000" b="1" i="1" dirty="0">
                <a:latin typeface="Times New Roman" panose="02020603050405020304" pitchFamily="18" charset="0"/>
                <a:cs typeface="Times New Roman" panose="02020603050405020304" pitchFamily="18" charset="0"/>
              </a:rPr>
              <a:t>/</a:t>
            </a:r>
            <a:r>
              <a:rPr lang="pt-BR" sz="3000" b="1" i="1" dirty="0">
                <a:solidFill>
                  <a:schemeClr val="bg1"/>
                </a:solidFill>
                <a:latin typeface="Times New Roman" panose="02020603050405020304" pitchFamily="18" charset="0"/>
                <a:cs typeface="Times New Roman" panose="02020603050405020304" pitchFamily="18" charset="0"/>
              </a:rPr>
              <a:t>(OMISSÃO)</a:t>
            </a:r>
            <a:r>
              <a:rPr lang="pt-BR" sz="3000" b="1"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chose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wise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one</a:t>
            </a:r>
            <a:r>
              <a:rPr lang="pt-BR" sz="3000" i="1" dirty="0">
                <a:latin typeface="Times New Roman" panose="02020603050405020304" pitchFamily="18" charset="0"/>
                <a:cs typeface="Times New Roman" panose="02020603050405020304" pitchFamily="18" charset="0"/>
              </a:rPr>
              <a:t>.</a:t>
            </a:r>
          </a:p>
        </p:txBody>
      </p:sp>
      <p:sp>
        <p:nvSpPr>
          <p:cNvPr id="10" name="TextBox 9"/>
          <p:cNvSpPr txBox="1"/>
          <p:nvPr/>
        </p:nvSpPr>
        <p:spPr>
          <a:xfrm>
            <a:off x="601008" y="5533562"/>
            <a:ext cx="10844011" cy="1015663"/>
          </a:xfrm>
          <a:prstGeom prst="rect">
            <a:avLst/>
          </a:prstGeom>
          <a:noFill/>
        </p:spPr>
        <p:txBody>
          <a:bodyPr wrap="square" rtlCol="0">
            <a:spAutoFit/>
          </a:bodyPr>
          <a:lstStyle/>
          <a:p>
            <a:pPr algn="ct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find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all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stupid</a:t>
            </a:r>
            <a:r>
              <a:rPr lang="pt-BR" sz="3000" i="1" dirty="0">
                <a:solidFill>
                  <a:srgbClr val="00FFFF"/>
                </a:solidFill>
                <a:latin typeface="Times New Roman" panose="02020603050405020304" pitchFamily="18" charset="0"/>
                <a:cs typeface="Times New Roman" panose="02020603050405020304" pitchFamily="18" charset="0"/>
              </a:rPr>
              <a:t>,</a:t>
            </a:r>
            <a:r>
              <a:rPr lang="pt-BR" sz="3000" i="1" dirty="0">
                <a:latin typeface="Times New Roman" panose="02020603050405020304" pitchFamily="18" charset="0"/>
                <a:cs typeface="Times New Roman" panose="02020603050405020304" pitchFamily="18" charset="0"/>
              </a:rPr>
              <a:t> </a:t>
            </a:r>
            <a:r>
              <a:rPr lang="pt-BR" sz="3000" b="1" i="1" dirty="0">
                <a:solidFill>
                  <a:srgbClr val="00FFFF"/>
                </a:solidFill>
                <a:latin typeface="Times New Roman" panose="02020603050405020304" pitchFamily="18" charset="0"/>
                <a:cs typeface="Times New Roman" panose="02020603050405020304" pitchFamily="18" charset="0"/>
              </a:rPr>
              <a:t>WHICH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only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opinion</a:t>
            </a:r>
            <a:r>
              <a:rPr lang="pt-BR" sz="3000" i="1" dirty="0">
                <a:latin typeface="Times New Roman" panose="02020603050405020304" pitchFamily="18" charset="0"/>
                <a:cs typeface="Times New Roman" panose="02020603050405020304" pitchFamily="18" charset="0"/>
              </a:rPr>
              <a:t>.</a:t>
            </a:r>
          </a:p>
          <a:p>
            <a:pPr algn="ctr"/>
            <a:r>
              <a:rPr lang="pt-BR" sz="3000" dirty="0">
                <a:latin typeface="Times New Roman" panose="02020603050405020304" pitchFamily="18" charset="0"/>
                <a:cs typeface="Times New Roman" panose="02020603050405020304" pitchFamily="18" charset="0"/>
              </a:rPr>
              <a:t>(refere-se à oração anterior; deve ser precedido por vírgula)</a:t>
            </a:r>
          </a:p>
        </p:txBody>
      </p:sp>
    </p:spTree>
    <p:extLst>
      <p:ext uri="{BB962C8B-B14F-4D97-AF65-F5344CB8AC3E}">
        <p14:creationId xmlns:p14="http://schemas.microsoft.com/office/powerpoint/2010/main" val="189243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9042" y="233126"/>
            <a:ext cx="11912958" cy="1200329"/>
          </a:xfrm>
          <a:prstGeom prst="rect">
            <a:avLst/>
          </a:prstGeom>
          <a:noFill/>
        </p:spPr>
        <p:txBody>
          <a:bodyPr wrap="square" rtlCol="0">
            <a:spAutoFit/>
          </a:bodyPr>
          <a:lstStyle/>
          <a:p>
            <a:r>
              <a:rPr lang="pt-BR" sz="3600" b="1" dirty="0">
                <a:latin typeface="Times New Roman" panose="02020603050405020304" pitchFamily="18" charset="0"/>
                <a:cs typeface="Times New Roman" panose="02020603050405020304" pitchFamily="18" charset="0"/>
              </a:rPr>
              <a:t>3.</a:t>
            </a:r>
            <a:r>
              <a:rPr lang="pt-BR" sz="3600" dirty="0">
                <a:latin typeface="Times New Roman" panose="02020603050405020304" pitchFamily="18" charset="0"/>
                <a:cs typeface="Times New Roman" panose="02020603050405020304" pitchFamily="18" charset="0"/>
              </a:rPr>
              <a:t> </a:t>
            </a:r>
            <a:r>
              <a:rPr lang="pt-BR" sz="3600" b="1" u="sng" dirty="0">
                <a:solidFill>
                  <a:schemeClr val="accent3">
                    <a:lumMod val="75000"/>
                  </a:schemeClr>
                </a:solidFill>
                <a:latin typeface="Times New Roman" panose="02020603050405020304" pitchFamily="18" charset="0"/>
                <a:cs typeface="Times New Roman" panose="02020603050405020304" pitchFamily="18" charset="0"/>
              </a:rPr>
              <a:t>WHOSE</a:t>
            </a:r>
            <a:r>
              <a:rPr lang="pt-BR" sz="3600" b="1" u="sng" dirty="0">
                <a:latin typeface="Times New Roman" panose="02020603050405020304" pitchFamily="18" charset="0"/>
                <a:cs typeface="Times New Roman" panose="02020603050405020304" pitchFamily="18" charset="0"/>
              </a:rPr>
              <a:t>: </a:t>
            </a:r>
            <a:r>
              <a:rPr lang="pt-BR" sz="3600" u="sng" dirty="0">
                <a:latin typeface="Times New Roman" panose="02020603050405020304" pitchFamily="18" charset="0"/>
                <a:cs typeface="Times New Roman" panose="02020603050405020304" pitchFamily="18" charset="0"/>
              </a:rPr>
              <a:t>Indica posse sobre um substantivo que o segue (cujo(s), cuja(s)).</a:t>
            </a:r>
          </a:p>
        </p:txBody>
      </p:sp>
      <p:sp>
        <p:nvSpPr>
          <p:cNvPr id="5" name="TextBox 4"/>
          <p:cNvSpPr txBox="1"/>
          <p:nvPr/>
        </p:nvSpPr>
        <p:spPr>
          <a:xfrm>
            <a:off x="1740794" y="1529777"/>
            <a:ext cx="8989454" cy="553998"/>
          </a:xfrm>
          <a:prstGeom prst="rect">
            <a:avLst/>
          </a:prstGeom>
          <a:noFill/>
        </p:spPr>
        <p:txBody>
          <a:bodyPr wrap="square" rtlCol="0">
            <a:spAutoFit/>
          </a:bodyPr>
          <a:lstStyle/>
          <a:p>
            <a:r>
              <a:rPr lang="pt-BR" sz="3000" dirty="0">
                <a:latin typeface="Times New Roman" panose="02020603050405020304" pitchFamily="18" charset="0"/>
                <a:cs typeface="Times New Roman" panose="02020603050405020304" pitchFamily="18" charset="0"/>
              </a:rPr>
              <a:t>- </a:t>
            </a:r>
            <a:r>
              <a:rPr lang="pt-BR" sz="3000" i="1" dirty="0">
                <a:latin typeface="Times New Roman" panose="02020603050405020304" pitchFamily="18" charset="0"/>
                <a:cs typeface="Times New Roman" panose="02020603050405020304" pitchFamily="18" charset="0"/>
              </a:rPr>
              <a:t>The </a:t>
            </a:r>
            <a:r>
              <a:rPr lang="pt-BR" sz="3000" i="1" dirty="0" err="1">
                <a:latin typeface="Times New Roman" panose="02020603050405020304" pitchFamily="18" charset="0"/>
                <a:cs typeface="Times New Roman" panose="02020603050405020304" pitchFamily="18" charset="0"/>
              </a:rPr>
              <a:t>man</a:t>
            </a:r>
            <a:r>
              <a:rPr lang="pt-BR" sz="3000" i="1" dirty="0">
                <a:latin typeface="Times New Roman" panose="02020603050405020304" pitchFamily="18" charset="0"/>
                <a:cs typeface="Times New Roman" panose="02020603050405020304" pitchFamily="18" charset="0"/>
              </a:rPr>
              <a:t> </a:t>
            </a:r>
            <a:r>
              <a:rPr lang="pt-BR" sz="3000" b="1" i="1" dirty="0">
                <a:solidFill>
                  <a:schemeClr val="accent3">
                    <a:lumMod val="75000"/>
                  </a:schemeClr>
                </a:solidFill>
                <a:latin typeface="Times New Roman" panose="02020603050405020304" pitchFamily="18" charset="0"/>
                <a:cs typeface="Times New Roman" panose="02020603050405020304" pitchFamily="18" charset="0"/>
              </a:rPr>
              <a:t>WHOSE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actions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could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forgiven</a:t>
            </a:r>
            <a:r>
              <a:rPr lang="pt-BR" sz="3000" i="1" dirty="0">
                <a:latin typeface="Times New Roman" panose="02020603050405020304" pitchFamily="18" charset="0"/>
                <a:cs typeface="Times New Roman" panose="02020603050405020304" pitchFamily="18" charset="0"/>
              </a:rPr>
              <a:t>.</a:t>
            </a:r>
          </a:p>
        </p:txBody>
      </p:sp>
      <p:sp>
        <p:nvSpPr>
          <p:cNvPr id="6" name="TextBox 5"/>
          <p:cNvSpPr txBox="1"/>
          <p:nvPr/>
        </p:nvSpPr>
        <p:spPr>
          <a:xfrm>
            <a:off x="279042" y="3567449"/>
            <a:ext cx="9749307" cy="646331"/>
          </a:xfrm>
          <a:prstGeom prst="rect">
            <a:avLst/>
          </a:prstGeom>
          <a:noFill/>
        </p:spPr>
        <p:txBody>
          <a:bodyPr wrap="square" rtlCol="0">
            <a:spAutoFit/>
          </a:bodyPr>
          <a:lstStyle/>
          <a:p>
            <a:r>
              <a:rPr lang="pt-BR" sz="3600" b="1" dirty="0">
                <a:latin typeface="Times New Roman" panose="02020603050405020304" pitchFamily="18" charset="0"/>
                <a:cs typeface="Times New Roman" panose="02020603050405020304" pitchFamily="18" charset="0"/>
              </a:rPr>
              <a:t>4.</a:t>
            </a:r>
            <a:r>
              <a:rPr lang="pt-BR" sz="3600" dirty="0">
                <a:latin typeface="Times New Roman" panose="02020603050405020304" pitchFamily="18" charset="0"/>
                <a:cs typeface="Times New Roman" panose="02020603050405020304" pitchFamily="18" charset="0"/>
              </a:rPr>
              <a:t> </a:t>
            </a:r>
            <a:r>
              <a:rPr lang="pt-BR" sz="3600" b="1" u="sng" dirty="0">
                <a:solidFill>
                  <a:srgbClr val="CC00CC"/>
                </a:solidFill>
                <a:latin typeface="Times New Roman" panose="02020603050405020304" pitchFamily="18" charset="0"/>
                <a:cs typeface="Times New Roman" panose="02020603050405020304" pitchFamily="18" charset="0"/>
              </a:rPr>
              <a:t>WHAT</a:t>
            </a:r>
            <a:r>
              <a:rPr lang="pt-BR" sz="3600" b="1" u="sng" dirty="0">
                <a:latin typeface="Times New Roman" panose="02020603050405020304" pitchFamily="18" charset="0"/>
                <a:cs typeface="Times New Roman" panose="02020603050405020304" pitchFamily="18" charset="0"/>
              </a:rPr>
              <a:t>: </a:t>
            </a:r>
            <a:r>
              <a:rPr lang="pt-BR" sz="3600" u="sng" dirty="0">
                <a:latin typeface="Times New Roman" panose="02020603050405020304" pitchFamily="18" charset="0"/>
                <a:cs typeface="Times New Roman" panose="02020603050405020304" pitchFamily="18" charset="0"/>
              </a:rPr>
              <a:t>“as coisas que”, “aquilo que”, “o que”.</a:t>
            </a:r>
          </a:p>
        </p:txBody>
      </p:sp>
      <p:sp>
        <p:nvSpPr>
          <p:cNvPr id="7" name="TextBox 6"/>
          <p:cNvSpPr txBox="1"/>
          <p:nvPr/>
        </p:nvSpPr>
        <p:spPr>
          <a:xfrm>
            <a:off x="2030566" y="4526617"/>
            <a:ext cx="7598535" cy="1015663"/>
          </a:xfrm>
          <a:prstGeom prst="rect">
            <a:avLst/>
          </a:prstGeom>
          <a:noFill/>
        </p:spPr>
        <p:txBody>
          <a:bodyPr wrap="square" rtlCol="0">
            <a:spAutoFit/>
          </a:bodyPr>
          <a:lstStyle/>
          <a:p>
            <a:pPr algn="ctr"/>
            <a:r>
              <a:rPr lang="pt-BR" sz="3000" i="1" dirty="0">
                <a:latin typeface="Times New Roman" panose="02020603050405020304" pitchFamily="18" charset="0"/>
                <a:cs typeface="Times New Roman" panose="02020603050405020304" pitchFamily="18" charset="0"/>
              </a:rPr>
              <a:t>- </a:t>
            </a:r>
            <a:r>
              <a:rPr lang="pt-BR" sz="3000" b="1" i="1" dirty="0">
                <a:solidFill>
                  <a:srgbClr val="CC00CC"/>
                </a:solidFill>
                <a:latin typeface="Times New Roman" panose="02020603050405020304" pitchFamily="18" charset="0"/>
                <a:cs typeface="Times New Roman" panose="02020603050405020304" pitchFamily="18" charset="0"/>
              </a:rPr>
              <a:t>WHAT</a:t>
            </a:r>
            <a:r>
              <a:rPr lang="pt-BR" sz="3000" b="1"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left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behind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important</a:t>
            </a:r>
            <a:r>
              <a:rPr lang="pt-BR" sz="3000" i="1" dirty="0">
                <a:latin typeface="Times New Roman" panose="02020603050405020304" pitchFamily="18" charset="0"/>
                <a:cs typeface="Times New Roman" panose="02020603050405020304" pitchFamily="18" charset="0"/>
              </a:rPr>
              <a:t>.</a:t>
            </a:r>
            <a:endParaRPr lang="pt-BR" sz="3000" dirty="0">
              <a:latin typeface="Times New Roman" panose="02020603050405020304" pitchFamily="18" charset="0"/>
              <a:cs typeface="Times New Roman" panose="02020603050405020304" pitchFamily="18" charset="0"/>
            </a:endParaRPr>
          </a:p>
          <a:p>
            <a:pPr algn="ctr"/>
            <a:r>
              <a:rPr lang="pt-BR" sz="3000" dirty="0">
                <a:latin typeface="Times New Roman" panose="02020603050405020304" pitchFamily="18" charset="0"/>
                <a:cs typeface="Times New Roman" panose="02020603050405020304" pitchFamily="18" charset="0"/>
              </a:rPr>
              <a:t>(não se refere a nenhum antecedente)</a:t>
            </a:r>
          </a:p>
        </p:txBody>
      </p:sp>
      <p:sp>
        <p:nvSpPr>
          <p:cNvPr id="8" name="TextBox 7"/>
          <p:cNvSpPr txBox="1"/>
          <p:nvPr/>
        </p:nvSpPr>
        <p:spPr>
          <a:xfrm>
            <a:off x="1573367" y="5793562"/>
            <a:ext cx="8512935" cy="553998"/>
          </a:xfrm>
          <a:prstGeom prst="rect">
            <a:avLst/>
          </a:prstGeom>
          <a:noFill/>
        </p:spPr>
        <p:txBody>
          <a:bodyPr wrap="square" rtlCol="0">
            <a:spAutoFit/>
          </a:bodyPr>
          <a:lstStyle/>
          <a:p>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Why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don’t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listen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b="1" i="1" dirty="0">
                <a:solidFill>
                  <a:srgbClr val="CC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WHAT</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have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say</a:t>
            </a:r>
            <a:r>
              <a:rPr lang="pt-BR" sz="3000" i="1" dirty="0">
                <a:latin typeface="Times New Roman" panose="02020603050405020304" pitchFamily="18" charset="0"/>
                <a:cs typeface="Times New Roman" panose="02020603050405020304" pitchFamily="18" charset="0"/>
              </a:rPr>
              <a:t>?!</a:t>
            </a:r>
          </a:p>
        </p:txBody>
      </p:sp>
      <p:sp>
        <p:nvSpPr>
          <p:cNvPr id="9" name="TextBox 8"/>
          <p:cNvSpPr txBox="1"/>
          <p:nvPr/>
        </p:nvSpPr>
        <p:spPr>
          <a:xfrm>
            <a:off x="804929" y="2272430"/>
            <a:ext cx="10861183" cy="553998"/>
          </a:xfrm>
          <a:prstGeom prst="rect">
            <a:avLst/>
          </a:prstGeom>
          <a:noFill/>
        </p:spPr>
        <p:txBody>
          <a:bodyPr wrap="square" rtlCol="0">
            <a:spAutoFit/>
          </a:bodyPr>
          <a:lstStyle/>
          <a:p>
            <a:r>
              <a:rPr lang="pt-BR" sz="3000" i="1" dirty="0">
                <a:latin typeface="Times New Roman" panose="02020603050405020304" pitchFamily="18" charset="0"/>
                <a:cs typeface="Times New Roman" panose="02020603050405020304" pitchFamily="18" charset="0"/>
              </a:rPr>
              <a:t>- The </a:t>
            </a:r>
            <a:r>
              <a:rPr lang="pt-BR" sz="3000" i="1" dirty="0" err="1">
                <a:latin typeface="Times New Roman" panose="02020603050405020304" pitchFamily="18" charset="0"/>
                <a:cs typeface="Times New Roman" panose="02020603050405020304" pitchFamily="18" charset="0"/>
              </a:rPr>
              <a:t>team</a:t>
            </a:r>
            <a:r>
              <a:rPr lang="pt-BR" sz="3000" i="1" dirty="0">
                <a:latin typeface="Times New Roman" panose="02020603050405020304" pitchFamily="18" charset="0"/>
                <a:cs typeface="Times New Roman" panose="02020603050405020304" pitchFamily="18" charset="0"/>
              </a:rPr>
              <a:t>, </a:t>
            </a:r>
            <a:r>
              <a:rPr lang="pt-BR" sz="3000" b="1" i="1" dirty="0">
                <a:solidFill>
                  <a:schemeClr val="accent3">
                    <a:lumMod val="75000"/>
                  </a:schemeClr>
                </a:solidFill>
                <a:latin typeface="Times New Roman" panose="02020603050405020304" pitchFamily="18" charset="0"/>
                <a:cs typeface="Times New Roman" panose="02020603050405020304" pitchFamily="18" charset="0"/>
              </a:rPr>
              <a:t>WHOSE</a:t>
            </a:r>
            <a:r>
              <a:rPr lang="pt-BR" sz="3000" b="1"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coach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Brazilian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ended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up</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first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place</a:t>
            </a:r>
            <a:r>
              <a:rPr lang="pt-BR" sz="30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3640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1+#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1+#ppt_w/2"/>
                                          </p:val>
                                        </p:tav>
                                        <p:tav tm="100000">
                                          <p:val>
                                            <p:strVal val="#ppt_x"/>
                                          </p:val>
                                        </p:tav>
                                      </p:tavLst>
                                    </p:anim>
                                    <p:anim calcmode="lin" valueType="num">
                                      <p:cBhvr additive="base">
                                        <p:cTn id="3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4852" y="2588655"/>
            <a:ext cx="11500832" cy="1754326"/>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5.</a:t>
            </a:r>
            <a:r>
              <a:rPr lang="pt-BR" sz="3600" dirty="0">
                <a:latin typeface="Times New Roman" panose="02020603050405020304" pitchFamily="18" charset="0"/>
                <a:cs typeface="Times New Roman" panose="02020603050405020304" pitchFamily="18" charset="0"/>
              </a:rPr>
              <a:t> </a:t>
            </a:r>
            <a:r>
              <a:rPr lang="pt-BR" sz="3600" b="1" u="sng" dirty="0">
                <a:solidFill>
                  <a:schemeClr val="bg1"/>
                </a:solidFill>
                <a:latin typeface="Times New Roman" panose="02020603050405020304" pitchFamily="18" charset="0"/>
                <a:cs typeface="Times New Roman" panose="02020603050405020304" pitchFamily="18" charset="0"/>
              </a:rPr>
              <a:t>OMISSÃO</a:t>
            </a:r>
            <a:r>
              <a:rPr lang="pt-BR" sz="3600" b="1" dirty="0">
                <a:latin typeface="Times New Roman" panose="02020603050405020304" pitchFamily="18" charset="0"/>
                <a:cs typeface="Times New Roman" panose="02020603050405020304" pitchFamily="18" charset="0"/>
              </a:rPr>
              <a:t>: </a:t>
            </a:r>
            <a:r>
              <a:rPr lang="pt-BR" sz="3600" dirty="0">
                <a:latin typeface="Times New Roman" panose="02020603050405020304" pitchFamily="18" charset="0"/>
                <a:cs typeface="Times New Roman" panose="02020603050405020304" pitchFamily="18" charset="0"/>
              </a:rPr>
              <a:t>pode-se omitir o pronome relativo quando ele tiver a </a:t>
            </a:r>
            <a:r>
              <a:rPr lang="pt-BR" sz="3600" u="sng" dirty="0">
                <a:latin typeface="Times New Roman" panose="02020603050405020304" pitchFamily="18" charset="0"/>
                <a:cs typeface="Times New Roman" panose="02020603050405020304" pitchFamily="18" charset="0"/>
              </a:rPr>
              <a:t>função de objeto</a:t>
            </a:r>
            <a:r>
              <a:rPr lang="pt-BR" sz="3600" dirty="0">
                <a:latin typeface="Times New Roman" panose="02020603050405020304" pitchFamily="18" charset="0"/>
                <a:cs typeface="Times New Roman" panose="02020603050405020304" pitchFamily="18" charset="0"/>
              </a:rPr>
              <a:t> da oração, </a:t>
            </a:r>
            <a:r>
              <a:rPr lang="pt-BR" sz="3600" u="sng" dirty="0">
                <a:latin typeface="Times New Roman" panose="02020603050405020304" pitchFamily="18" charset="0"/>
                <a:cs typeface="Times New Roman" panose="02020603050405020304" pitchFamily="18" charset="0"/>
              </a:rPr>
              <a:t>exceto</a:t>
            </a:r>
            <a:r>
              <a:rPr lang="pt-BR" sz="3600" dirty="0">
                <a:latin typeface="Times New Roman" panose="02020603050405020304" pitchFamily="18" charset="0"/>
                <a:cs typeface="Times New Roman" panose="02020603050405020304" pitchFamily="18" charset="0"/>
              </a:rPr>
              <a:t> se a oração estiver </a:t>
            </a:r>
            <a:r>
              <a:rPr lang="pt-BR" sz="3600" u="sng" dirty="0">
                <a:latin typeface="Times New Roman" panose="02020603050405020304" pitchFamily="18" charset="0"/>
                <a:cs typeface="Times New Roman" panose="02020603050405020304" pitchFamily="18" charset="0"/>
              </a:rPr>
              <a:t>entre vírgulas</a:t>
            </a:r>
            <a:r>
              <a:rPr lang="pt-BR" sz="3600" dirty="0">
                <a:latin typeface="Times New Roman" panose="02020603050405020304" pitchFamily="18" charset="0"/>
                <a:cs typeface="Times New Roman" panose="02020603050405020304" pitchFamily="18" charset="0"/>
              </a:rPr>
              <a:t> ou se o pronome for </a:t>
            </a:r>
            <a:r>
              <a:rPr lang="pt-BR" sz="3600" u="sng" dirty="0">
                <a:latin typeface="Times New Roman" panose="02020603050405020304" pitchFamily="18" charset="0"/>
                <a:cs typeface="Times New Roman" panose="02020603050405020304" pitchFamily="18" charset="0"/>
              </a:rPr>
              <a:t>precedido por preposição</a:t>
            </a:r>
            <a:r>
              <a:rPr lang="pt-BR" sz="3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55347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969572" cy="6858000"/>
          </a:xfrm>
          <a:prstGeom prst="rect">
            <a:avLst/>
          </a:prstGeom>
        </p:spPr>
      </p:pic>
      <p:sp>
        <p:nvSpPr>
          <p:cNvPr id="6" name="TextBox 5"/>
          <p:cNvSpPr txBox="1"/>
          <p:nvPr/>
        </p:nvSpPr>
        <p:spPr>
          <a:xfrm>
            <a:off x="7969572" y="366623"/>
            <a:ext cx="4222428" cy="6124754"/>
          </a:xfrm>
          <a:prstGeom prst="rect">
            <a:avLst/>
          </a:prstGeom>
          <a:noFill/>
        </p:spPr>
        <p:txBody>
          <a:bodyPr wrap="square" rtlCol="0">
            <a:spAutoFit/>
          </a:bodyPr>
          <a:lstStyle/>
          <a:p>
            <a:pPr algn="just"/>
            <a:r>
              <a:rPr lang="pt-BR" sz="2800" dirty="0">
                <a:latin typeface="Times New Roman" panose="02020603050405020304" pitchFamily="18" charset="0"/>
                <a:cs typeface="Times New Roman" panose="02020603050405020304" pitchFamily="18" charset="0"/>
              </a:rPr>
              <a:t>a) </a:t>
            </a:r>
            <a:r>
              <a:rPr lang="pt-BR" sz="2800" dirty="0" err="1">
                <a:latin typeface="Times New Roman" panose="02020603050405020304" pitchFamily="18" charset="0"/>
                <a:cs typeface="Times New Roman" panose="02020603050405020304" pitchFamily="18" charset="0"/>
              </a:rPr>
              <a:t>that</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which</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of</a:t>
            </a:r>
            <a:r>
              <a:rPr lang="pt-BR" sz="2800" dirty="0">
                <a:latin typeface="Times New Roman" panose="02020603050405020304" pitchFamily="18" charset="0"/>
                <a:cs typeface="Times New Roman" panose="02020603050405020304" pitchFamily="18" charset="0"/>
              </a:rPr>
              <a:t> </a:t>
            </a:r>
            <a:r>
              <a:rPr lang="pt-BR" sz="2800" dirty="0" err="1">
                <a:latin typeface="Times New Roman" panose="02020603050405020304" pitchFamily="18" charset="0"/>
                <a:cs typeface="Times New Roman" panose="02020603050405020304" pitchFamily="18" charset="0"/>
              </a:rPr>
              <a:t>which</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with</a:t>
            </a:r>
            <a:r>
              <a:rPr lang="pt-BR" sz="2800" dirty="0">
                <a:latin typeface="Times New Roman" panose="02020603050405020304" pitchFamily="18" charset="0"/>
                <a:cs typeface="Times New Roman" panose="02020603050405020304" pitchFamily="18" charset="0"/>
              </a:rPr>
              <a:t> </a:t>
            </a:r>
            <a:r>
              <a:rPr lang="pt-BR" sz="2800" dirty="0" err="1">
                <a:latin typeface="Times New Roman" panose="02020603050405020304" pitchFamily="18" charset="0"/>
                <a:cs typeface="Times New Roman" panose="02020603050405020304" pitchFamily="18" charset="0"/>
              </a:rPr>
              <a:t>whom</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who</a:t>
            </a:r>
            <a:r>
              <a:rPr lang="pt-BR" sz="2800" dirty="0">
                <a:latin typeface="Times New Roman" panose="02020603050405020304" pitchFamily="18" charset="0"/>
                <a:cs typeface="Times New Roman" panose="02020603050405020304" pitchFamily="18" charset="0"/>
              </a:rPr>
              <a:t>.</a:t>
            </a:r>
          </a:p>
          <a:p>
            <a:pPr algn="just"/>
            <a:endParaRPr lang="pt-BR" sz="2800" dirty="0">
              <a:latin typeface="Times New Roman" panose="02020603050405020304" pitchFamily="18" charset="0"/>
              <a:cs typeface="Times New Roman" panose="02020603050405020304" pitchFamily="18" charset="0"/>
            </a:endParaRPr>
          </a:p>
          <a:p>
            <a:pPr algn="just"/>
            <a:r>
              <a:rPr lang="pt-BR" sz="2800" dirty="0">
                <a:latin typeface="Times New Roman" panose="02020603050405020304" pitchFamily="18" charset="0"/>
                <a:cs typeface="Times New Roman" panose="02020603050405020304" pitchFamily="18" charset="0"/>
              </a:rPr>
              <a:t>b) </a:t>
            </a:r>
            <a:r>
              <a:rPr lang="pt-BR" sz="2800" dirty="0" err="1">
                <a:latin typeface="Times New Roman" panose="02020603050405020304" pitchFamily="18" charset="0"/>
                <a:cs typeface="Times New Roman" panose="02020603050405020304" pitchFamily="18" charset="0"/>
              </a:rPr>
              <a:t>which</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which</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about</a:t>
            </a:r>
            <a:r>
              <a:rPr lang="pt-BR" sz="2800" dirty="0">
                <a:latin typeface="Times New Roman" panose="02020603050405020304" pitchFamily="18" charset="0"/>
                <a:cs typeface="Times New Roman" panose="02020603050405020304" pitchFamily="18" charset="0"/>
              </a:rPr>
              <a:t> </a:t>
            </a:r>
            <a:r>
              <a:rPr lang="pt-BR" sz="2800" dirty="0" err="1">
                <a:latin typeface="Times New Roman" panose="02020603050405020304" pitchFamily="18" charset="0"/>
                <a:cs typeface="Times New Roman" panose="02020603050405020304" pitchFamily="18" charset="0"/>
              </a:rPr>
              <a:t>whom</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with</a:t>
            </a:r>
            <a:r>
              <a:rPr lang="pt-BR" sz="2800" dirty="0">
                <a:latin typeface="Times New Roman" panose="02020603050405020304" pitchFamily="18" charset="0"/>
                <a:cs typeface="Times New Roman" panose="02020603050405020304" pitchFamily="18" charset="0"/>
              </a:rPr>
              <a:t> </a:t>
            </a:r>
            <a:r>
              <a:rPr lang="pt-BR" sz="2800" dirty="0" err="1">
                <a:latin typeface="Times New Roman" panose="02020603050405020304" pitchFamily="18" charset="0"/>
                <a:cs typeface="Times New Roman" panose="02020603050405020304" pitchFamily="18" charset="0"/>
              </a:rPr>
              <a:t>which</a:t>
            </a:r>
            <a:r>
              <a:rPr lang="pt-BR" sz="2800">
                <a:latin typeface="Times New Roman" panose="02020603050405020304" pitchFamily="18" charset="0"/>
                <a:cs typeface="Times New Roman" panose="02020603050405020304" pitchFamily="18" charset="0"/>
              </a:rPr>
              <a:t> / who</a:t>
            </a:r>
            <a:r>
              <a:rPr lang="pt-BR" sz="2800" dirty="0">
                <a:latin typeface="Times New Roman" panose="02020603050405020304" pitchFamily="18" charset="0"/>
                <a:cs typeface="Times New Roman" panose="02020603050405020304" pitchFamily="18" charset="0"/>
              </a:rPr>
              <a:t>.</a:t>
            </a:r>
          </a:p>
          <a:p>
            <a:pPr algn="just"/>
            <a:endParaRPr lang="pt-BR" sz="2800" dirty="0">
              <a:latin typeface="Times New Roman" panose="02020603050405020304" pitchFamily="18" charset="0"/>
              <a:cs typeface="Times New Roman" panose="02020603050405020304" pitchFamily="18" charset="0"/>
            </a:endParaRPr>
          </a:p>
          <a:p>
            <a:pPr algn="just"/>
            <a:r>
              <a:rPr lang="pt-BR" sz="2800" dirty="0">
                <a:latin typeface="Times New Roman" panose="02020603050405020304" pitchFamily="18" charset="0"/>
                <a:cs typeface="Times New Roman" panose="02020603050405020304" pitchFamily="18" charset="0"/>
              </a:rPr>
              <a:t>c) </a:t>
            </a:r>
            <a:r>
              <a:rPr lang="pt-BR" sz="2800" dirty="0" err="1">
                <a:latin typeface="Times New Roman" panose="02020603050405020304" pitchFamily="18" charset="0"/>
                <a:cs typeface="Times New Roman" panose="02020603050405020304" pitchFamily="18" charset="0"/>
              </a:rPr>
              <a:t>when</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who</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whom</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with</a:t>
            </a:r>
            <a:r>
              <a:rPr lang="pt-BR" sz="2800" dirty="0">
                <a:latin typeface="Times New Roman" panose="02020603050405020304" pitchFamily="18" charset="0"/>
                <a:cs typeface="Times New Roman" panose="02020603050405020304" pitchFamily="18" charset="0"/>
              </a:rPr>
              <a:t> </a:t>
            </a:r>
            <a:r>
              <a:rPr lang="pt-BR" sz="2800" dirty="0" err="1">
                <a:latin typeface="Times New Roman" panose="02020603050405020304" pitchFamily="18" charset="0"/>
                <a:cs typeface="Times New Roman" panose="02020603050405020304" pitchFamily="18" charset="0"/>
              </a:rPr>
              <a:t>which</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who</a:t>
            </a:r>
            <a:r>
              <a:rPr lang="pt-BR" sz="2800" dirty="0">
                <a:latin typeface="Times New Roman" panose="02020603050405020304" pitchFamily="18" charset="0"/>
                <a:cs typeface="Times New Roman" panose="02020603050405020304" pitchFamily="18" charset="0"/>
              </a:rPr>
              <a:t>.</a:t>
            </a:r>
          </a:p>
          <a:p>
            <a:pPr algn="just"/>
            <a:endParaRPr lang="pt-BR" sz="2800" dirty="0">
              <a:latin typeface="Times New Roman" panose="02020603050405020304" pitchFamily="18" charset="0"/>
              <a:cs typeface="Times New Roman" panose="02020603050405020304" pitchFamily="18" charset="0"/>
            </a:endParaRPr>
          </a:p>
          <a:p>
            <a:pPr algn="just"/>
            <a:r>
              <a:rPr lang="pt-BR" sz="2800" dirty="0">
                <a:latin typeface="Times New Roman" panose="02020603050405020304" pitchFamily="18" charset="0"/>
                <a:cs typeface="Times New Roman" panose="02020603050405020304" pitchFamily="18" charset="0"/>
              </a:rPr>
              <a:t>d) </a:t>
            </a:r>
            <a:r>
              <a:rPr lang="pt-BR" sz="2800" dirty="0" err="1">
                <a:latin typeface="Times New Roman" panose="02020603050405020304" pitchFamily="18" charset="0"/>
                <a:cs typeface="Times New Roman" panose="02020603050405020304" pitchFamily="18" charset="0"/>
              </a:rPr>
              <a:t>which</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which</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from</a:t>
            </a:r>
            <a:r>
              <a:rPr lang="pt-BR" sz="2800" dirty="0">
                <a:latin typeface="Times New Roman" panose="02020603050405020304" pitchFamily="18" charset="0"/>
                <a:cs typeface="Times New Roman" panose="02020603050405020304" pitchFamily="18" charset="0"/>
              </a:rPr>
              <a:t> </a:t>
            </a:r>
            <a:r>
              <a:rPr lang="pt-BR" sz="2800" dirty="0" err="1">
                <a:latin typeface="Times New Roman" panose="02020603050405020304" pitchFamily="18" charset="0"/>
                <a:cs typeface="Times New Roman" panose="02020603050405020304" pitchFamily="18" charset="0"/>
              </a:rPr>
              <a:t>which</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with</a:t>
            </a:r>
            <a:r>
              <a:rPr lang="pt-BR" sz="2800" dirty="0">
                <a:latin typeface="Times New Roman" panose="02020603050405020304" pitchFamily="18" charset="0"/>
                <a:cs typeface="Times New Roman" panose="02020603050405020304" pitchFamily="18" charset="0"/>
              </a:rPr>
              <a:t> </a:t>
            </a:r>
            <a:r>
              <a:rPr lang="pt-BR" sz="2800" dirty="0" err="1">
                <a:latin typeface="Times New Roman" panose="02020603050405020304" pitchFamily="18" charset="0"/>
                <a:cs typeface="Times New Roman" panose="02020603050405020304" pitchFamily="18" charset="0"/>
              </a:rPr>
              <a:t>whom</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that</a:t>
            </a:r>
            <a:r>
              <a:rPr lang="pt-BR" sz="2800" dirty="0">
                <a:latin typeface="Times New Roman" panose="02020603050405020304" pitchFamily="18" charset="0"/>
                <a:cs typeface="Times New Roman" panose="02020603050405020304" pitchFamily="18" charset="0"/>
              </a:rPr>
              <a:t>.</a:t>
            </a:r>
          </a:p>
          <a:p>
            <a:pPr algn="just"/>
            <a:endParaRPr lang="pt-BR" sz="2800" dirty="0">
              <a:latin typeface="Times New Roman" panose="02020603050405020304" pitchFamily="18" charset="0"/>
              <a:cs typeface="Times New Roman" panose="02020603050405020304" pitchFamily="18" charset="0"/>
            </a:endParaRPr>
          </a:p>
          <a:p>
            <a:pPr algn="just"/>
            <a:r>
              <a:rPr lang="pt-BR" sz="2800" dirty="0">
                <a:latin typeface="Times New Roman" panose="02020603050405020304" pitchFamily="18" charset="0"/>
                <a:cs typeface="Times New Roman" panose="02020603050405020304" pitchFamily="18" charset="0"/>
              </a:rPr>
              <a:t>e) </a:t>
            </a:r>
            <a:r>
              <a:rPr lang="pt-BR" sz="2800" dirty="0" err="1">
                <a:latin typeface="Times New Roman" panose="02020603050405020304" pitchFamily="18" charset="0"/>
                <a:cs typeface="Times New Roman" panose="02020603050405020304" pitchFamily="18" charset="0"/>
              </a:rPr>
              <a:t>that</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when</a:t>
            </a:r>
            <a:r>
              <a:rPr lang="pt-BR" sz="2800" dirty="0">
                <a:latin typeface="Times New Roman" panose="02020603050405020304" pitchFamily="18" charset="0"/>
                <a:cs typeface="Times New Roman" panose="02020603050405020304" pitchFamily="18" charset="0"/>
              </a:rPr>
              <a:t> / in </a:t>
            </a:r>
            <a:r>
              <a:rPr lang="pt-BR" sz="2800" dirty="0" err="1">
                <a:latin typeface="Times New Roman" panose="02020603050405020304" pitchFamily="18" charset="0"/>
                <a:cs typeface="Times New Roman" panose="02020603050405020304" pitchFamily="18" charset="0"/>
              </a:rPr>
              <a:t>which</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with</a:t>
            </a:r>
            <a:r>
              <a:rPr lang="pt-BR" sz="2800" dirty="0">
                <a:latin typeface="Times New Roman" panose="02020603050405020304" pitchFamily="18" charset="0"/>
                <a:cs typeface="Times New Roman" panose="02020603050405020304" pitchFamily="18" charset="0"/>
              </a:rPr>
              <a:t> </a:t>
            </a:r>
            <a:r>
              <a:rPr lang="pt-BR" sz="2800" dirty="0" err="1">
                <a:latin typeface="Times New Roman" panose="02020603050405020304" pitchFamily="18" charset="0"/>
                <a:cs typeface="Times New Roman" panose="02020603050405020304" pitchFamily="18" charset="0"/>
              </a:rPr>
              <a:t>who</a:t>
            </a:r>
            <a:r>
              <a:rPr lang="pt-BR" sz="2800" dirty="0">
                <a:latin typeface="Times New Roman" panose="02020603050405020304" pitchFamily="18" charset="0"/>
                <a:cs typeface="Times New Roman" panose="02020603050405020304" pitchFamily="18" charset="0"/>
              </a:rPr>
              <a:t> / </a:t>
            </a:r>
            <a:r>
              <a:rPr lang="pt-BR" sz="2800" dirty="0" err="1">
                <a:latin typeface="Times New Roman" panose="02020603050405020304" pitchFamily="18" charset="0"/>
                <a:cs typeface="Times New Roman" panose="02020603050405020304" pitchFamily="18" charset="0"/>
              </a:rPr>
              <a:t>who</a:t>
            </a:r>
            <a:r>
              <a:rPr lang="pt-BR" sz="2800" dirty="0">
                <a:latin typeface="Times New Roman" panose="02020603050405020304" pitchFamily="18" charset="0"/>
                <a:cs typeface="Times New Roman" panose="02020603050405020304" pitchFamily="18" charset="0"/>
              </a:rPr>
              <a:t>.</a:t>
            </a:r>
          </a:p>
        </p:txBody>
      </p:sp>
      <p:sp>
        <p:nvSpPr>
          <p:cNvPr id="9" name="Double Bracket 8"/>
          <p:cNvSpPr/>
          <p:nvPr/>
        </p:nvSpPr>
        <p:spPr>
          <a:xfrm>
            <a:off x="7969572" y="385517"/>
            <a:ext cx="440332" cy="477292"/>
          </a:xfrm>
          <a:prstGeom prst="bracketPair">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3688098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0DA25B1-EE95-4C66-975A-93ACBE87F5C9}"/>
              </a:ext>
            </a:extLst>
          </p:cNvPr>
          <p:cNvPicPr>
            <a:picLocks noChangeAspect="1"/>
          </p:cNvPicPr>
          <p:nvPr/>
        </p:nvPicPr>
        <p:blipFill>
          <a:blip r:embed="rId2"/>
          <a:stretch>
            <a:fillRect/>
          </a:stretch>
        </p:blipFill>
        <p:spPr>
          <a:xfrm>
            <a:off x="498958" y="83726"/>
            <a:ext cx="5410278" cy="3335749"/>
          </a:xfrm>
          <a:prstGeom prst="rect">
            <a:avLst/>
          </a:prstGeom>
        </p:spPr>
      </p:pic>
      <p:pic>
        <p:nvPicPr>
          <p:cNvPr id="9" name="Picture 8">
            <a:extLst>
              <a:ext uri="{FF2B5EF4-FFF2-40B4-BE49-F238E27FC236}">
                <a16:creationId xmlns:a16="http://schemas.microsoft.com/office/drawing/2014/main" id="{564D4601-CEC6-4D74-863A-A5C7DA1419BF}"/>
              </a:ext>
            </a:extLst>
          </p:cNvPr>
          <p:cNvPicPr>
            <a:picLocks noChangeAspect="1"/>
          </p:cNvPicPr>
          <p:nvPr/>
        </p:nvPicPr>
        <p:blipFill>
          <a:blip r:embed="rId3"/>
          <a:stretch>
            <a:fillRect/>
          </a:stretch>
        </p:blipFill>
        <p:spPr>
          <a:xfrm>
            <a:off x="5905094" y="74200"/>
            <a:ext cx="5892723" cy="3335749"/>
          </a:xfrm>
          <a:prstGeom prst="rect">
            <a:avLst/>
          </a:prstGeom>
        </p:spPr>
      </p:pic>
      <p:pic>
        <p:nvPicPr>
          <p:cNvPr id="11" name="Picture 10">
            <a:extLst>
              <a:ext uri="{FF2B5EF4-FFF2-40B4-BE49-F238E27FC236}">
                <a16:creationId xmlns:a16="http://schemas.microsoft.com/office/drawing/2014/main" id="{029F30C4-6FD7-4C2E-98D4-776087181866}"/>
              </a:ext>
            </a:extLst>
          </p:cNvPr>
          <p:cNvPicPr>
            <a:picLocks noChangeAspect="1"/>
          </p:cNvPicPr>
          <p:nvPr/>
        </p:nvPicPr>
        <p:blipFill>
          <a:blip r:embed="rId4"/>
          <a:stretch>
            <a:fillRect/>
          </a:stretch>
        </p:blipFill>
        <p:spPr>
          <a:xfrm>
            <a:off x="479907" y="3417789"/>
            <a:ext cx="5410277" cy="3356485"/>
          </a:xfrm>
          <a:prstGeom prst="rect">
            <a:avLst/>
          </a:prstGeom>
        </p:spPr>
      </p:pic>
      <p:pic>
        <p:nvPicPr>
          <p:cNvPr id="13" name="Picture 12">
            <a:extLst>
              <a:ext uri="{FF2B5EF4-FFF2-40B4-BE49-F238E27FC236}">
                <a16:creationId xmlns:a16="http://schemas.microsoft.com/office/drawing/2014/main" id="{D777E5E2-0B39-4EAA-8B92-132E0ECF5650}"/>
              </a:ext>
            </a:extLst>
          </p:cNvPr>
          <p:cNvPicPr>
            <a:picLocks noChangeAspect="1"/>
          </p:cNvPicPr>
          <p:nvPr/>
        </p:nvPicPr>
        <p:blipFill>
          <a:blip r:embed="rId5"/>
          <a:stretch>
            <a:fillRect/>
          </a:stretch>
        </p:blipFill>
        <p:spPr>
          <a:xfrm>
            <a:off x="5876519" y="3366121"/>
            <a:ext cx="5892723" cy="3408153"/>
          </a:xfrm>
          <a:prstGeom prst="rect">
            <a:avLst/>
          </a:prstGeom>
        </p:spPr>
      </p:pic>
    </p:spTree>
    <p:extLst>
      <p:ext uri="{BB962C8B-B14F-4D97-AF65-F5344CB8AC3E}">
        <p14:creationId xmlns:p14="http://schemas.microsoft.com/office/powerpoint/2010/main" val="1407627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2E141D-29A4-A467-F705-CA2F3B768A8E}"/>
              </a:ext>
            </a:extLst>
          </p:cNvPr>
          <p:cNvSpPr txBox="1"/>
          <p:nvPr/>
        </p:nvSpPr>
        <p:spPr>
          <a:xfrm>
            <a:off x="494522" y="579902"/>
            <a:ext cx="5743543" cy="3108543"/>
          </a:xfrm>
          <a:prstGeom prst="rect">
            <a:avLst/>
          </a:prstGeom>
          <a:noFill/>
        </p:spPr>
        <p:txBody>
          <a:bodyPr wrap="square" rtlCol="0">
            <a:spAutoFit/>
          </a:bodyPr>
          <a:lstStyle/>
          <a:p>
            <a:pPr algn="just"/>
            <a:r>
              <a:rPr lang="en-US" sz="2800" b="1" i="0" u="none" strike="noStrike" baseline="0" dirty="0">
                <a:latin typeface="Calibri" panose="020F0502020204030204" pitchFamily="34" charset="0"/>
                <a:ea typeface="Calibri" panose="020F0502020204030204" pitchFamily="34" charset="0"/>
                <a:cs typeface="Calibri" panose="020F0502020204030204" pitchFamily="34" charset="0"/>
              </a:rPr>
              <a:t>Utopia: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Cancer and all other life-threatening diseases are cured, leading to a new age of health and prosperity. Scientists are already using AI tools to make breakthroughs in longevity medicine, </a:t>
            </a:r>
            <a:r>
              <a:rPr lang="en-US" sz="2800" b="1" i="0" u="none" strike="noStrike" baseline="0" dirty="0">
                <a:latin typeface="Calibri" panose="020F0502020204030204" pitchFamily="34" charset="0"/>
                <a:ea typeface="Calibri" panose="020F0502020204030204" pitchFamily="34" charset="0"/>
                <a:cs typeface="Calibri" panose="020F0502020204030204" pitchFamily="34" charset="0"/>
              </a:rPr>
              <a:t>which</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aims to end or even reverse ageing.</a:t>
            </a:r>
            <a:endParaRPr lang="en-US" sz="2800" i="1"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757AA74-A44F-A435-FF77-617FA447DC7A}"/>
              </a:ext>
            </a:extLst>
          </p:cNvPr>
          <p:cNvSpPr txBox="1"/>
          <p:nvPr/>
        </p:nvSpPr>
        <p:spPr>
          <a:xfrm>
            <a:off x="6923626" y="2092118"/>
            <a:ext cx="4839213" cy="3416320"/>
          </a:xfrm>
          <a:prstGeom prst="rect">
            <a:avLst/>
          </a:prstGeom>
          <a:noFill/>
          <a:ln>
            <a:solidFill>
              <a:srgbClr val="0070C0"/>
            </a:solidFill>
          </a:ln>
        </p:spPr>
        <p:txBody>
          <a:bodyPr wrap="square">
            <a:spAutoFit/>
          </a:bodyPr>
          <a:lstStyle/>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In the excerpt from the seventh paragraph “</a:t>
            </a:r>
            <a:r>
              <a:rPr lang="en-US" sz="2400" b="0" i="0" u="sng" strike="noStrike" baseline="0" dirty="0">
                <a:latin typeface="Calibri" panose="020F0502020204030204" pitchFamily="34" charset="0"/>
                <a:ea typeface="Calibri" panose="020F0502020204030204" pitchFamily="34" charset="0"/>
                <a:cs typeface="Calibri" panose="020F0502020204030204" pitchFamily="34" charset="0"/>
              </a:rPr>
              <a:t>which</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 aims to end or even reverse ageing”, the underlined word refers to</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(A) “life-threatening diseases”.</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(B) “ageing”.</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(C) “longevity medicine”.</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(D) “prosperity”.</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(E) “new age”.</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6" name="CaixaDeTexto 6">
            <a:extLst>
              <a:ext uri="{FF2B5EF4-FFF2-40B4-BE49-F238E27FC236}">
                <a16:creationId xmlns:a16="http://schemas.microsoft.com/office/drawing/2014/main" id="{215EAE05-5402-4F30-52A5-9DE28176D6C3}"/>
              </a:ext>
            </a:extLst>
          </p:cNvPr>
          <p:cNvSpPr txBox="1"/>
          <p:nvPr/>
        </p:nvSpPr>
        <p:spPr>
          <a:xfrm>
            <a:off x="7759366" y="1124105"/>
            <a:ext cx="2529144" cy="523220"/>
          </a:xfrm>
          <a:prstGeom prst="rect">
            <a:avLst/>
          </a:prstGeom>
          <a:noFill/>
        </p:spPr>
        <p:txBody>
          <a:bodyPr wrap="square" rtlCol="0">
            <a:spAutoFit/>
          </a:bodyPr>
          <a:lstStyle/>
          <a:p>
            <a:pPr algn="ctr"/>
            <a:r>
              <a:rPr lang="pt-BR" sz="2800" b="1" dirty="0">
                <a:latin typeface="Calibri" panose="020F0502020204030204" pitchFamily="34" charset="0"/>
                <a:ea typeface="Calibri" panose="020F0502020204030204" pitchFamily="34" charset="0"/>
                <a:cs typeface="Calibri" panose="020F0502020204030204" pitchFamily="34" charset="0"/>
              </a:rPr>
              <a:t>Sta. Casa 2024</a:t>
            </a:r>
          </a:p>
        </p:txBody>
      </p:sp>
      <p:sp>
        <p:nvSpPr>
          <p:cNvPr id="7" name="Raio 7">
            <a:extLst>
              <a:ext uri="{FF2B5EF4-FFF2-40B4-BE49-F238E27FC236}">
                <a16:creationId xmlns:a16="http://schemas.microsoft.com/office/drawing/2014/main" id="{FDF67641-257C-6AA5-E800-20BF8BE0B98D}"/>
              </a:ext>
            </a:extLst>
          </p:cNvPr>
          <p:cNvSpPr/>
          <p:nvPr/>
        </p:nvSpPr>
        <p:spPr>
          <a:xfrm rot="19849427">
            <a:off x="6346496" y="4113022"/>
            <a:ext cx="692883" cy="625176"/>
          </a:xfrm>
          <a:prstGeom prst="lightningBolt">
            <a:avLst/>
          </a:prstGeom>
          <a:solidFill>
            <a:srgbClr val="FFFF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496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2E141D-29A4-A467-F705-CA2F3B768A8E}"/>
              </a:ext>
            </a:extLst>
          </p:cNvPr>
          <p:cNvSpPr txBox="1"/>
          <p:nvPr/>
        </p:nvSpPr>
        <p:spPr>
          <a:xfrm>
            <a:off x="680832" y="579902"/>
            <a:ext cx="5557233" cy="5847755"/>
          </a:xfrm>
          <a:prstGeom prst="rect">
            <a:avLst/>
          </a:prstGeom>
          <a:noFill/>
        </p:spPr>
        <p:txBody>
          <a:bodyPr wrap="square" rtlCol="0">
            <a:spAutoFit/>
          </a:bodyPr>
          <a:lstStyle/>
          <a:p>
            <a:pPr algn="just"/>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 developing countries there are high levels of what is known as “food loss”, which is unintentional wastage, often due to poor equipment, transportation and infrastructure. In wealthy countries, there are low levels of unintentional losses but high levels of “food waste”, </a:t>
            </a:r>
            <a:r>
              <a:rPr lang="en-US" sz="2800" b="1" i="0" u="sng" strike="noStrike" baseline="0" dirty="0">
                <a:latin typeface="Calibri" panose="020F0502020204030204" pitchFamily="34" charset="0"/>
                <a:ea typeface="Calibri" panose="020F0502020204030204" pitchFamily="34" charset="0"/>
                <a:cs typeface="Calibri" panose="020F0502020204030204" pitchFamily="34" charset="0"/>
              </a:rPr>
              <a:t>which</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involves food being thrown away by consumers because they have purchased too much, or by retailers who reject food because of exacting aesthetic standards.</a:t>
            </a:r>
          </a:p>
          <a:p>
            <a:pPr algn="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(www.theguardian.com)</a:t>
            </a:r>
            <a:endParaRPr lang="en-US" sz="1200" i="1"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757AA74-A44F-A435-FF77-617FA447DC7A}"/>
              </a:ext>
            </a:extLst>
          </p:cNvPr>
          <p:cNvSpPr txBox="1"/>
          <p:nvPr/>
        </p:nvSpPr>
        <p:spPr>
          <a:xfrm>
            <a:off x="6923627" y="2092118"/>
            <a:ext cx="4503174" cy="3046988"/>
          </a:xfrm>
          <a:prstGeom prst="rect">
            <a:avLst/>
          </a:prstGeom>
          <a:noFill/>
          <a:ln>
            <a:solidFill>
              <a:srgbClr val="0070C0"/>
            </a:solidFill>
          </a:ln>
        </p:spPr>
        <p:txBody>
          <a:bodyPr wrap="square">
            <a:spAutoFit/>
          </a:bodyPr>
          <a:lstStyle/>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No </a:t>
            </a:r>
            <a:r>
              <a:rPr lang="en-US" sz="2400" b="0" i="0" u="none" strike="noStrike" baseline="0" dirty="0" err="1">
                <a:latin typeface="Calibri" panose="020F0502020204030204" pitchFamily="34" charset="0"/>
                <a:ea typeface="Calibri" panose="020F0502020204030204" pitchFamily="34" charset="0"/>
                <a:cs typeface="Calibri" panose="020F0502020204030204" pitchFamily="34" charset="0"/>
              </a:rPr>
              <a:t>trecho</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400" b="1" i="0" u="none" strike="noStrike" baseline="0" dirty="0">
                <a:latin typeface="Calibri" panose="020F0502020204030204" pitchFamily="34" charset="0"/>
                <a:ea typeface="Calibri" panose="020F0502020204030204" pitchFamily="34" charset="0"/>
                <a:cs typeface="Calibri" panose="020F0502020204030204" pitchFamily="34" charset="0"/>
              </a:rPr>
              <a:t>which </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involves food being thrown away by </a:t>
            </a:r>
            <a:r>
              <a:rPr lang="pt-BR" sz="2400" b="0" i="0" u="none" strike="noStrike" baseline="0" dirty="0" err="1">
                <a:latin typeface="Calibri" panose="020F0502020204030204" pitchFamily="34" charset="0"/>
                <a:ea typeface="Calibri" panose="020F0502020204030204" pitchFamily="34" charset="0"/>
                <a:cs typeface="Calibri" panose="020F0502020204030204" pitchFamily="34" charset="0"/>
              </a:rPr>
              <a:t>consumers</a:t>
            </a:r>
            <a:r>
              <a:rPr lang="pt-BR" sz="2400" b="0" i="0" u="none" strike="noStrike" baseline="0" dirty="0">
                <a:latin typeface="Calibri" panose="020F0502020204030204" pitchFamily="34" charset="0"/>
                <a:ea typeface="Calibri" panose="020F0502020204030204" pitchFamily="34" charset="0"/>
                <a:cs typeface="Calibri" panose="020F0502020204030204" pitchFamily="34" charset="0"/>
              </a:rPr>
              <a:t>”, o termo em destaque se refere a</a:t>
            </a: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(A) food.</a:t>
            </a: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(B) wealthy countries.</a:t>
            </a: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(C) food loss.</a:t>
            </a: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(D) consumers.</a:t>
            </a: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(E) food waste.</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6" name="CaixaDeTexto 6">
            <a:extLst>
              <a:ext uri="{FF2B5EF4-FFF2-40B4-BE49-F238E27FC236}">
                <a16:creationId xmlns:a16="http://schemas.microsoft.com/office/drawing/2014/main" id="{215EAE05-5402-4F30-52A5-9DE28176D6C3}"/>
              </a:ext>
            </a:extLst>
          </p:cNvPr>
          <p:cNvSpPr txBox="1"/>
          <p:nvPr/>
        </p:nvSpPr>
        <p:spPr>
          <a:xfrm>
            <a:off x="7759366" y="1124105"/>
            <a:ext cx="2529144" cy="523220"/>
          </a:xfrm>
          <a:prstGeom prst="rect">
            <a:avLst/>
          </a:prstGeom>
          <a:noFill/>
        </p:spPr>
        <p:txBody>
          <a:bodyPr wrap="square" rtlCol="0">
            <a:spAutoFit/>
          </a:bodyPr>
          <a:lstStyle/>
          <a:p>
            <a:pPr algn="ctr"/>
            <a:r>
              <a:rPr lang="pt-BR" sz="2800" b="1" dirty="0">
                <a:latin typeface="Calibri" panose="020F0502020204030204" pitchFamily="34" charset="0"/>
                <a:ea typeface="Calibri" panose="020F0502020204030204" pitchFamily="34" charset="0"/>
                <a:cs typeface="Calibri" panose="020F0502020204030204" pitchFamily="34" charset="0"/>
              </a:rPr>
              <a:t>UNIFESP 2017</a:t>
            </a:r>
          </a:p>
        </p:txBody>
      </p:sp>
      <p:sp>
        <p:nvSpPr>
          <p:cNvPr id="7" name="Raio 7">
            <a:extLst>
              <a:ext uri="{FF2B5EF4-FFF2-40B4-BE49-F238E27FC236}">
                <a16:creationId xmlns:a16="http://schemas.microsoft.com/office/drawing/2014/main" id="{FDF67641-257C-6AA5-E800-20BF8BE0B98D}"/>
              </a:ext>
            </a:extLst>
          </p:cNvPr>
          <p:cNvSpPr/>
          <p:nvPr/>
        </p:nvSpPr>
        <p:spPr>
          <a:xfrm rot="19849427">
            <a:off x="6314038" y="4467584"/>
            <a:ext cx="692883" cy="625176"/>
          </a:xfrm>
          <a:prstGeom prst="lightningBolt">
            <a:avLst/>
          </a:prstGeom>
          <a:solidFill>
            <a:srgbClr val="FFFF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2765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09382E-52F2-2542-15E0-A0CDFB9FC026}"/>
              </a:ext>
            </a:extLst>
          </p:cNvPr>
          <p:cNvSpPr txBox="1"/>
          <p:nvPr/>
        </p:nvSpPr>
        <p:spPr>
          <a:xfrm>
            <a:off x="804500" y="374628"/>
            <a:ext cx="5291500" cy="6309420"/>
          </a:xfrm>
          <a:prstGeom prst="rect">
            <a:avLst/>
          </a:prstGeom>
          <a:noFill/>
        </p:spPr>
        <p:txBody>
          <a:bodyPr wrap="square" rtlCol="0">
            <a:spAutoFit/>
          </a:bodyPr>
          <a:lstStyle/>
          <a:p>
            <a:pPr algn="just"/>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 developing countries there are high levels of what is known as “food loss”, which is unintentional wastage, often due to poor equipment, transportation and infrastructure. In wealthy countries, there are low levels of unintentional losses but high levels of “food waste”, which involves food being thrown away by consumers because they have purchased too much, or by retailers who reject food because of exacting aesthetic standards.</a:t>
            </a:r>
          </a:p>
          <a:p>
            <a:pPr algn="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(www.theguardian.com)</a:t>
            </a:r>
            <a:endParaRPr lang="en-US" sz="1200" i="1"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BC8852A-0CD4-E4AC-8C85-F93E2F4A9555}"/>
              </a:ext>
            </a:extLst>
          </p:cNvPr>
          <p:cNvSpPr txBox="1"/>
          <p:nvPr/>
        </p:nvSpPr>
        <p:spPr>
          <a:xfrm>
            <a:off x="6902444" y="607674"/>
            <a:ext cx="4601760" cy="5847755"/>
          </a:xfrm>
          <a:prstGeom prst="rect">
            <a:avLst/>
          </a:prstGeom>
          <a:noFill/>
          <a:ln>
            <a:solidFill>
              <a:srgbClr val="0070C0"/>
            </a:solidFill>
          </a:ln>
        </p:spPr>
        <p:txBody>
          <a:bodyPr wrap="square">
            <a:spAutoFit/>
          </a:bodyPr>
          <a:lstStyle/>
          <a:p>
            <a:pPr algn="just"/>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Segundo o </a:t>
            </a:r>
            <a:r>
              <a:rPr lang="en-US" sz="2200" b="0" i="0" u="none" strike="noStrike" baseline="0" dirty="0" err="1">
                <a:latin typeface="Calibri" panose="020F0502020204030204" pitchFamily="34" charset="0"/>
                <a:ea typeface="Calibri" panose="020F0502020204030204" pitchFamily="34" charset="0"/>
                <a:cs typeface="Calibri" panose="020F0502020204030204" pitchFamily="34" charset="0"/>
              </a:rPr>
              <a:t>texto</a:t>
            </a:r>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algn="just"/>
            <a:r>
              <a:rPr lang="pt-BR" sz="2200" b="0" i="0" u="none" strike="noStrike" baseline="0" dirty="0">
                <a:latin typeface="Calibri" panose="020F0502020204030204" pitchFamily="34" charset="0"/>
                <a:ea typeface="Calibri" panose="020F0502020204030204" pitchFamily="34" charset="0"/>
                <a:cs typeface="Calibri" panose="020F0502020204030204" pitchFamily="34" charset="0"/>
              </a:rPr>
              <a:t>(A) a perda de alimentos acontece tanto em países ricos como pobres, devido à mudança climática.</a:t>
            </a:r>
          </a:p>
          <a:p>
            <a:pPr algn="just"/>
            <a:r>
              <a:rPr lang="pt-BR" sz="2200" b="0" i="0" u="none" strike="noStrike" baseline="0" dirty="0">
                <a:latin typeface="Calibri" panose="020F0502020204030204" pitchFamily="34" charset="0"/>
                <a:ea typeface="Calibri" panose="020F0502020204030204" pitchFamily="34" charset="0"/>
                <a:cs typeface="Calibri" panose="020F0502020204030204" pitchFamily="34" charset="0"/>
              </a:rPr>
              <a:t>(B) os alimentos são jogados fora pelos consumidores e pelos pontos de venda por falta de refrigeração.</a:t>
            </a:r>
          </a:p>
          <a:p>
            <a:pPr algn="just"/>
            <a:r>
              <a:rPr lang="pt-BR" sz="2200" b="0" i="0" u="none" strike="noStrike" baseline="0" dirty="0">
                <a:latin typeface="Calibri" panose="020F0502020204030204" pitchFamily="34" charset="0"/>
                <a:ea typeface="Calibri" panose="020F0502020204030204" pitchFamily="34" charset="0"/>
                <a:cs typeface="Calibri" panose="020F0502020204030204" pitchFamily="34" charset="0"/>
              </a:rPr>
              <a:t>(C) a perda não intencional de alimentos acontece em níveis </a:t>
            </a:r>
            <a:r>
              <a:rPr lang="en-US" sz="2200" b="0" i="0" u="none" strike="noStrike" baseline="0" dirty="0" err="1">
                <a:latin typeface="Calibri" panose="020F0502020204030204" pitchFamily="34" charset="0"/>
                <a:ea typeface="Calibri" panose="020F0502020204030204" pitchFamily="34" charset="0"/>
                <a:cs typeface="Calibri" panose="020F0502020204030204" pitchFamily="34" charset="0"/>
              </a:rPr>
              <a:t>alarmantes</a:t>
            </a:r>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200" b="0" i="0" u="none" strike="noStrike" baseline="0" dirty="0" err="1">
                <a:latin typeface="Calibri" panose="020F0502020204030204" pitchFamily="34" charset="0"/>
                <a:ea typeface="Calibri" panose="020F0502020204030204" pitchFamily="34" charset="0"/>
                <a:cs typeface="Calibri" panose="020F0502020204030204" pitchFamily="34" charset="0"/>
              </a:rPr>
              <a:t>em</a:t>
            </a:r>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200" b="0" i="0" u="none" strike="noStrike" baseline="0" dirty="0" err="1">
                <a:latin typeface="Calibri" panose="020F0502020204030204" pitchFamily="34" charset="0"/>
                <a:ea typeface="Calibri" panose="020F0502020204030204" pitchFamily="34" charset="0"/>
                <a:cs typeface="Calibri" panose="020F0502020204030204" pitchFamily="34" charset="0"/>
              </a:rPr>
              <a:t>países</a:t>
            </a:r>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200" b="0" i="0" u="none" strike="noStrike" baseline="0" dirty="0" err="1">
                <a:latin typeface="Calibri" panose="020F0502020204030204" pitchFamily="34" charset="0"/>
                <a:ea typeface="Calibri" panose="020F0502020204030204" pitchFamily="34" charset="0"/>
                <a:cs typeface="Calibri" panose="020F0502020204030204" pitchFamily="34" charset="0"/>
              </a:rPr>
              <a:t>ricos</a:t>
            </a:r>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algn="just"/>
            <a:r>
              <a:rPr lang="pt-BR" sz="2200" b="0" i="0" u="none" strike="noStrike" baseline="0" dirty="0">
                <a:latin typeface="Calibri" panose="020F0502020204030204" pitchFamily="34" charset="0"/>
                <a:ea typeface="Calibri" panose="020F0502020204030204" pitchFamily="34" charset="0"/>
                <a:cs typeface="Calibri" panose="020F0502020204030204" pitchFamily="34" charset="0"/>
              </a:rPr>
              <a:t>(D) o desperdício de alimentos durante seu transporte ocorre </a:t>
            </a:r>
            <a:r>
              <a:rPr lang="en-US" sz="2200" b="0" i="0" u="none" strike="noStrike" baseline="0" dirty="0" err="1">
                <a:latin typeface="Calibri" panose="020F0502020204030204" pitchFamily="34" charset="0"/>
                <a:ea typeface="Calibri" panose="020F0502020204030204" pitchFamily="34" charset="0"/>
                <a:cs typeface="Calibri" panose="020F0502020204030204" pitchFamily="34" charset="0"/>
              </a:rPr>
              <a:t>principalmente</a:t>
            </a:r>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200" b="0" i="0" u="none" strike="noStrike" baseline="0" dirty="0" err="1">
                <a:latin typeface="Calibri" panose="020F0502020204030204" pitchFamily="34" charset="0"/>
                <a:ea typeface="Calibri" panose="020F0502020204030204" pitchFamily="34" charset="0"/>
                <a:cs typeface="Calibri" panose="020F0502020204030204" pitchFamily="34" charset="0"/>
              </a:rPr>
              <a:t>em</a:t>
            </a:r>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200" b="0" i="0" u="none" strike="noStrike" baseline="0" dirty="0" err="1">
                <a:latin typeface="Calibri" panose="020F0502020204030204" pitchFamily="34" charset="0"/>
                <a:ea typeface="Calibri" panose="020F0502020204030204" pitchFamily="34" charset="0"/>
                <a:cs typeface="Calibri" panose="020F0502020204030204" pitchFamily="34" charset="0"/>
              </a:rPr>
              <a:t>países</a:t>
            </a:r>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200" b="0" i="0" u="none" strike="noStrike" baseline="0" dirty="0" err="1">
                <a:latin typeface="Calibri" panose="020F0502020204030204" pitchFamily="34" charset="0"/>
                <a:ea typeface="Calibri" panose="020F0502020204030204" pitchFamily="34" charset="0"/>
                <a:cs typeface="Calibri" panose="020F0502020204030204" pitchFamily="34" charset="0"/>
              </a:rPr>
              <a:t>ricos</a:t>
            </a:r>
            <a:r>
              <a:rPr lang="en-US" sz="22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algn="just"/>
            <a:r>
              <a:rPr lang="pt-BR" sz="2200" b="0" i="0" u="none" strike="noStrike" baseline="0" dirty="0">
                <a:latin typeface="Calibri" panose="020F0502020204030204" pitchFamily="34" charset="0"/>
                <a:ea typeface="Calibri" panose="020F0502020204030204" pitchFamily="34" charset="0"/>
                <a:cs typeface="Calibri" panose="020F0502020204030204" pitchFamily="34" charset="0"/>
              </a:rPr>
              <a:t>(E) os meios de transporte e a</a:t>
            </a:r>
            <a:r>
              <a:rPr lang="pt-BR" sz="2200" dirty="0">
                <a:latin typeface="Calibri" panose="020F0502020204030204" pitchFamily="34" charset="0"/>
                <a:ea typeface="Calibri" panose="020F0502020204030204" pitchFamily="34" charset="0"/>
                <a:cs typeface="Calibri" panose="020F0502020204030204" pitchFamily="34" charset="0"/>
              </a:rPr>
              <a:t> </a:t>
            </a:r>
            <a:r>
              <a:rPr lang="pt-BR" sz="2200" b="0" i="0" u="none" strike="noStrike" baseline="0" dirty="0">
                <a:latin typeface="Calibri" panose="020F0502020204030204" pitchFamily="34" charset="0"/>
                <a:ea typeface="Calibri" panose="020F0502020204030204" pitchFamily="34" charset="0"/>
                <a:cs typeface="Calibri" panose="020F0502020204030204" pitchFamily="34" charset="0"/>
              </a:rPr>
              <a:t>infraestrutura deficientes contribuem</a:t>
            </a:r>
            <a:r>
              <a:rPr lang="pt-BR" sz="2200" dirty="0">
                <a:latin typeface="Calibri" panose="020F0502020204030204" pitchFamily="34" charset="0"/>
                <a:ea typeface="Calibri" panose="020F0502020204030204" pitchFamily="34" charset="0"/>
                <a:cs typeface="Calibri" panose="020F0502020204030204" pitchFamily="34" charset="0"/>
              </a:rPr>
              <a:t> </a:t>
            </a:r>
            <a:r>
              <a:rPr lang="pt-BR" sz="2200" b="0" i="0" u="none" strike="noStrike" baseline="0" dirty="0">
                <a:latin typeface="Calibri" panose="020F0502020204030204" pitchFamily="34" charset="0"/>
                <a:ea typeface="Calibri" panose="020F0502020204030204" pitchFamily="34" charset="0"/>
                <a:cs typeface="Calibri" panose="020F0502020204030204" pitchFamily="34" charset="0"/>
              </a:rPr>
              <a:t>para a perda não intencional de alimentos.</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6" name="CaixaDeTexto 6">
            <a:extLst>
              <a:ext uri="{FF2B5EF4-FFF2-40B4-BE49-F238E27FC236}">
                <a16:creationId xmlns:a16="http://schemas.microsoft.com/office/drawing/2014/main" id="{9F2E126F-D977-C2B6-D552-5E9FC09729F1}"/>
              </a:ext>
            </a:extLst>
          </p:cNvPr>
          <p:cNvSpPr txBox="1"/>
          <p:nvPr/>
        </p:nvSpPr>
        <p:spPr>
          <a:xfrm>
            <a:off x="7938752" y="84454"/>
            <a:ext cx="2529144" cy="523220"/>
          </a:xfrm>
          <a:prstGeom prst="rect">
            <a:avLst/>
          </a:prstGeom>
          <a:noFill/>
        </p:spPr>
        <p:txBody>
          <a:bodyPr wrap="square" rtlCol="0">
            <a:spAutoFit/>
          </a:bodyPr>
          <a:lstStyle/>
          <a:p>
            <a:pPr algn="ctr"/>
            <a:r>
              <a:rPr lang="pt-BR" sz="2800" b="1" dirty="0">
                <a:latin typeface="Calibri" panose="020F0502020204030204" pitchFamily="34" charset="0"/>
                <a:ea typeface="Calibri" panose="020F0502020204030204" pitchFamily="34" charset="0"/>
                <a:cs typeface="Calibri" panose="020F0502020204030204" pitchFamily="34" charset="0"/>
              </a:rPr>
              <a:t>UNIFESP 2017</a:t>
            </a:r>
          </a:p>
        </p:txBody>
      </p:sp>
      <p:sp>
        <p:nvSpPr>
          <p:cNvPr id="7" name="Raio 7">
            <a:extLst>
              <a:ext uri="{FF2B5EF4-FFF2-40B4-BE49-F238E27FC236}">
                <a16:creationId xmlns:a16="http://schemas.microsoft.com/office/drawing/2014/main" id="{D5A8BBA3-ACC7-2F17-7589-43E67D6FB83A}"/>
              </a:ext>
            </a:extLst>
          </p:cNvPr>
          <p:cNvSpPr/>
          <p:nvPr/>
        </p:nvSpPr>
        <p:spPr>
          <a:xfrm rot="19849427">
            <a:off x="6322618" y="4784688"/>
            <a:ext cx="692883" cy="625176"/>
          </a:xfrm>
          <a:prstGeom prst="lightningBolt">
            <a:avLst/>
          </a:prstGeom>
          <a:solidFill>
            <a:srgbClr val="FFFF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03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3C4D0C-EEB3-D8C3-65E6-88FC676123B2}"/>
              </a:ext>
            </a:extLst>
          </p:cNvPr>
          <p:cNvSpPr txBox="1"/>
          <p:nvPr/>
        </p:nvSpPr>
        <p:spPr>
          <a:xfrm>
            <a:off x="593849" y="421282"/>
            <a:ext cx="5350757" cy="6309420"/>
          </a:xfrm>
          <a:prstGeom prst="rect">
            <a:avLst/>
          </a:prstGeom>
          <a:noFill/>
        </p:spPr>
        <p:txBody>
          <a:bodyPr wrap="square" rtlCol="0">
            <a:spAutoFit/>
          </a:bodyPr>
          <a:lstStyle/>
          <a:p>
            <a:pPr algn="just"/>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 developing countries there are high levels of what is known as “food loss”, which is unintentional wastage, often due to poor equipment, transportation and infrastructure. In wealthy countries, there are low levels of unintentional losses but high levels of “food waste”, which involves food being thrown away by consumers because they have purchased too much, or by retailers who reject food because of exacting aesthetic standards.</a:t>
            </a:r>
          </a:p>
          <a:p>
            <a:pPr algn="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(www.theguardian.com)</a:t>
            </a:r>
            <a:endParaRPr lang="en-US" sz="1200" i="1"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F91213B-DB41-F81D-720F-860718835E6F}"/>
              </a:ext>
            </a:extLst>
          </p:cNvPr>
          <p:cNvSpPr txBox="1"/>
          <p:nvPr/>
        </p:nvSpPr>
        <p:spPr>
          <a:xfrm>
            <a:off x="6592865" y="1154073"/>
            <a:ext cx="4782267" cy="4524315"/>
          </a:xfrm>
          <a:prstGeom prst="rect">
            <a:avLst/>
          </a:prstGeom>
          <a:noFill/>
          <a:ln>
            <a:solidFill>
              <a:srgbClr val="0070C0"/>
            </a:solidFill>
          </a:ln>
        </p:spPr>
        <p:txBody>
          <a:bodyPr wrap="square">
            <a:spAutoFit/>
          </a:bodyPr>
          <a:lstStyle/>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The text</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(A) presents some solutions to both “food loss” and “food waste”.</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(B) blames developing countries for most of “food waste”.</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(C) contrasts concepts of “food loss” and “food waste”.</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(D) infers that consumers should change their attitude towards “food loss”.</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(E) indicates that governments are responsible for consumer </a:t>
            </a:r>
            <a:r>
              <a:rPr lang="en-US" sz="2400" b="0" i="0" u="none" strike="noStrike" baseline="0" dirty="0" err="1">
                <a:latin typeface="Calibri" panose="020F0502020204030204" pitchFamily="34" charset="0"/>
                <a:ea typeface="Calibri" panose="020F0502020204030204" pitchFamily="34" charset="0"/>
                <a:cs typeface="Calibri" panose="020F0502020204030204" pitchFamily="34" charset="0"/>
              </a:rPr>
              <a:t>behaviour</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6" name="CaixaDeTexto 6">
            <a:extLst>
              <a:ext uri="{FF2B5EF4-FFF2-40B4-BE49-F238E27FC236}">
                <a16:creationId xmlns:a16="http://schemas.microsoft.com/office/drawing/2014/main" id="{6E7CC12D-A7CB-BBD4-1F2A-D30FF0BF682A}"/>
              </a:ext>
            </a:extLst>
          </p:cNvPr>
          <p:cNvSpPr txBox="1"/>
          <p:nvPr/>
        </p:nvSpPr>
        <p:spPr>
          <a:xfrm>
            <a:off x="7719426" y="519173"/>
            <a:ext cx="2529144" cy="523220"/>
          </a:xfrm>
          <a:prstGeom prst="rect">
            <a:avLst/>
          </a:prstGeom>
          <a:noFill/>
        </p:spPr>
        <p:txBody>
          <a:bodyPr wrap="square" rtlCol="0">
            <a:spAutoFit/>
          </a:bodyPr>
          <a:lstStyle/>
          <a:p>
            <a:pPr algn="ctr"/>
            <a:r>
              <a:rPr lang="pt-BR" sz="2800" b="1" dirty="0">
                <a:latin typeface="Calibri" panose="020F0502020204030204" pitchFamily="34" charset="0"/>
                <a:ea typeface="Calibri" panose="020F0502020204030204" pitchFamily="34" charset="0"/>
                <a:cs typeface="Calibri" panose="020F0502020204030204" pitchFamily="34" charset="0"/>
              </a:rPr>
              <a:t>UNIFESP 2017</a:t>
            </a:r>
          </a:p>
        </p:txBody>
      </p:sp>
      <p:sp>
        <p:nvSpPr>
          <p:cNvPr id="7" name="Raio 7">
            <a:extLst>
              <a:ext uri="{FF2B5EF4-FFF2-40B4-BE49-F238E27FC236}">
                <a16:creationId xmlns:a16="http://schemas.microsoft.com/office/drawing/2014/main" id="{02545D87-A661-B406-762F-434D056F2E9F}"/>
              </a:ext>
            </a:extLst>
          </p:cNvPr>
          <p:cNvSpPr/>
          <p:nvPr/>
        </p:nvSpPr>
        <p:spPr>
          <a:xfrm rot="19849427">
            <a:off x="6041147" y="2821587"/>
            <a:ext cx="692883" cy="625176"/>
          </a:xfrm>
          <a:prstGeom prst="lightningBolt">
            <a:avLst/>
          </a:prstGeom>
          <a:solidFill>
            <a:srgbClr val="FFFF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56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6">
            <a:extLst>
              <a:ext uri="{FF2B5EF4-FFF2-40B4-BE49-F238E27FC236}">
                <a16:creationId xmlns:a16="http://schemas.microsoft.com/office/drawing/2014/main" id="{B61A6AEB-BFF7-17D0-F289-ACCD058C6902}"/>
              </a:ext>
            </a:extLst>
          </p:cNvPr>
          <p:cNvSpPr txBox="1"/>
          <p:nvPr/>
        </p:nvSpPr>
        <p:spPr>
          <a:xfrm>
            <a:off x="7953897" y="937493"/>
            <a:ext cx="2082680" cy="523220"/>
          </a:xfrm>
          <a:prstGeom prst="rect">
            <a:avLst/>
          </a:prstGeom>
          <a:noFill/>
        </p:spPr>
        <p:txBody>
          <a:bodyPr wrap="square" rtlCol="0">
            <a:spAutoFit/>
          </a:bodyPr>
          <a:lstStyle/>
          <a:p>
            <a:pPr algn="ctr"/>
            <a:r>
              <a:rPr lang="pt-BR" sz="2800" b="1" dirty="0">
                <a:latin typeface="Calibri" panose="020F0502020204030204" pitchFamily="34" charset="0"/>
                <a:ea typeface="Calibri" panose="020F0502020204030204" pitchFamily="34" charset="0"/>
                <a:cs typeface="Calibri" panose="020F0502020204030204" pitchFamily="34" charset="0"/>
              </a:rPr>
              <a:t>UNESP 2017</a:t>
            </a:r>
          </a:p>
        </p:txBody>
      </p:sp>
      <p:pic>
        <p:nvPicPr>
          <p:cNvPr id="5" name="Picture 4">
            <a:extLst>
              <a:ext uri="{FF2B5EF4-FFF2-40B4-BE49-F238E27FC236}">
                <a16:creationId xmlns:a16="http://schemas.microsoft.com/office/drawing/2014/main" id="{B09523DC-1304-EC2D-A332-74757A1CA6D2}"/>
              </a:ext>
            </a:extLst>
          </p:cNvPr>
          <p:cNvPicPr>
            <a:picLocks noChangeAspect="1"/>
          </p:cNvPicPr>
          <p:nvPr/>
        </p:nvPicPr>
        <p:blipFill>
          <a:blip r:embed="rId2"/>
          <a:stretch>
            <a:fillRect/>
          </a:stretch>
        </p:blipFill>
        <p:spPr>
          <a:xfrm>
            <a:off x="74572" y="9528"/>
            <a:ext cx="5772150" cy="6838950"/>
          </a:xfrm>
          <a:prstGeom prst="rect">
            <a:avLst/>
          </a:prstGeom>
        </p:spPr>
      </p:pic>
      <p:sp>
        <p:nvSpPr>
          <p:cNvPr id="6" name="Retângulo 1">
            <a:extLst>
              <a:ext uri="{FF2B5EF4-FFF2-40B4-BE49-F238E27FC236}">
                <a16:creationId xmlns:a16="http://schemas.microsoft.com/office/drawing/2014/main" id="{69A602EA-D769-8ACF-D0E4-E550FD303694}"/>
              </a:ext>
            </a:extLst>
          </p:cNvPr>
          <p:cNvSpPr/>
          <p:nvPr/>
        </p:nvSpPr>
        <p:spPr>
          <a:xfrm>
            <a:off x="6543872" y="2090172"/>
            <a:ext cx="5169170" cy="2677656"/>
          </a:xfrm>
          <a:prstGeom prst="rect">
            <a:avLst/>
          </a:prstGeom>
          <a:ln>
            <a:solidFill>
              <a:schemeClr val="accent1"/>
            </a:solidFill>
          </a:ln>
        </p:spPr>
        <p:txBody>
          <a:bodyPr wrap="square">
            <a:spAutoFit/>
          </a:bodyPr>
          <a:lstStyle/>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According to the cartoon, Lola</a:t>
            </a:r>
          </a:p>
          <a:p>
            <a:pPr algn="l"/>
            <a:endParaRPr lang="en-US" sz="24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(A) has already slept for seven hours.</a:t>
            </a: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(B) will sleep until 7 am.</a:t>
            </a: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(C) is planning to go to bed at midnight.</a:t>
            </a: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(D) used to sleep for nine hours.</a:t>
            </a:r>
          </a:p>
          <a:p>
            <a:pPr algn="l"/>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(E) went to sleep at 10 pm.</a:t>
            </a:r>
            <a:endParaRPr lang="pt-BR"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Raio 7">
            <a:extLst>
              <a:ext uri="{FF2B5EF4-FFF2-40B4-BE49-F238E27FC236}">
                <a16:creationId xmlns:a16="http://schemas.microsoft.com/office/drawing/2014/main" id="{821375CB-D9C9-1BF0-FCCC-A3E5AE9FC208}"/>
              </a:ext>
            </a:extLst>
          </p:cNvPr>
          <p:cNvSpPr/>
          <p:nvPr/>
        </p:nvSpPr>
        <p:spPr>
          <a:xfrm rot="19849427">
            <a:off x="5975250" y="4113822"/>
            <a:ext cx="692883" cy="625176"/>
          </a:xfrm>
          <a:prstGeom prst="lightningBolt">
            <a:avLst/>
          </a:prstGeom>
          <a:solidFill>
            <a:srgbClr val="FFFF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406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6">
            <a:extLst>
              <a:ext uri="{FF2B5EF4-FFF2-40B4-BE49-F238E27FC236}">
                <a16:creationId xmlns:a16="http://schemas.microsoft.com/office/drawing/2014/main" id="{9053A721-3881-9D19-6917-F794234CE2DE}"/>
              </a:ext>
            </a:extLst>
          </p:cNvPr>
          <p:cNvSpPr txBox="1"/>
          <p:nvPr/>
        </p:nvSpPr>
        <p:spPr>
          <a:xfrm>
            <a:off x="7215568" y="288563"/>
            <a:ext cx="2082680" cy="523220"/>
          </a:xfrm>
          <a:prstGeom prst="rect">
            <a:avLst/>
          </a:prstGeom>
          <a:noFill/>
        </p:spPr>
        <p:txBody>
          <a:bodyPr wrap="square" rtlCol="0">
            <a:spAutoFit/>
          </a:bodyPr>
          <a:lstStyle/>
          <a:p>
            <a:pPr algn="ctr"/>
            <a:r>
              <a:rPr lang="pt-BR" sz="2800" b="1" dirty="0">
                <a:latin typeface="Calibri" panose="020F0502020204030204" pitchFamily="34" charset="0"/>
                <a:ea typeface="Calibri" panose="020F0502020204030204" pitchFamily="34" charset="0"/>
                <a:cs typeface="Calibri" panose="020F0502020204030204" pitchFamily="34" charset="0"/>
              </a:rPr>
              <a:t>UNESP 2017</a:t>
            </a:r>
          </a:p>
        </p:txBody>
      </p:sp>
      <p:pic>
        <p:nvPicPr>
          <p:cNvPr id="5" name="Picture 4">
            <a:extLst>
              <a:ext uri="{FF2B5EF4-FFF2-40B4-BE49-F238E27FC236}">
                <a16:creationId xmlns:a16="http://schemas.microsoft.com/office/drawing/2014/main" id="{3A253BEC-2DB3-0410-AC4B-2F24DC2660B9}"/>
              </a:ext>
            </a:extLst>
          </p:cNvPr>
          <p:cNvPicPr>
            <a:picLocks noChangeAspect="1"/>
          </p:cNvPicPr>
          <p:nvPr/>
        </p:nvPicPr>
        <p:blipFill>
          <a:blip r:embed="rId2"/>
          <a:stretch>
            <a:fillRect/>
          </a:stretch>
        </p:blipFill>
        <p:spPr>
          <a:xfrm>
            <a:off x="74572" y="9528"/>
            <a:ext cx="5772150" cy="6838950"/>
          </a:xfrm>
          <a:prstGeom prst="rect">
            <a:avLst/>
          </a:prstGeom>
        </p:spPr>
      </p:pic>
      <p:sp>
        <p:nvSpPr>
          <p:cNvPr id="6" name="Retângulo 1">
            <a:extLst>
              <a:ext uri="{FF2B5EF4-FFF2-40B4-BE49-F238E27FC236}">
                <a16:creationId xmlns:a16="http://schemas.microsoft.com/office/drawing/2014/main" id="{3B6BFFD1-9607-152C-A93E-78950FCC130E}"/>
              </a:ext>
            </a:extLst>
          </p:cNvPr>
          <p:cNvSpPr/>
          <p:nvPr/>
        </p:nvSpPr>
        <p:spPr>
          <a:xfrm>
            <a:off x="6713663" y="1438949"/>
            <a:ext cx="4892912" cy="4154984"/>
          </a:xfrm>
          <a:prstGeom prst="rect">
            <a:avLst/>
          </a:prstGeom>
          <a:ln>
            <a:solidFill>
              <a:schemeClr val="accent1"/>
            </a:solidFill>
          </a:ln>
        </p:spPr>
        <p:txBody>
          <a:bodyPr wrap="square">
            <a:spAutoFit/>
          </a:bodyPr>
          <a:lstStyle/>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Lola thinks that</a:t>
            </a:r>
          </a:p>
          <a:p>
            <a:pPr algn="just"/>
            <a:endParaRPr lang="en-US" sz="24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(A) she is a genius.</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(B) it is wise to go to bed no later than midnight.</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(C) the less she sleeps, the more intelligent she’ll become.</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(D) she’ll please her mother if she gets better grades.</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(E) her mom wants her to sleep for at least nine hours.</a:t>
            </a:r>
            <a:endParaRPr lang="pt-BR"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Raio 7">
            <a:extLst>
              <a:ext uri="{FF2B5EF4-FFF2-40B4-BE49-F238E27FC236}">
                <a16:creationId xmlns:a16="http://schemas.microsoft.com/office/drawing/2014/main" id="{9DBC8EE5-7877-7A36-1AFF-5E370C1F7F29}"/>
              </a:ext>
            </a:extLst>
          </p:cNvPr>
          <p:cNvSpPr/>
          <p:nvPr/>
        </p:nvSpPr>
        <p:spPr>
          <a:xfrm rot="19849427">
            <a:off x="6136166" y="3097068"/>
            <a:ext cx="692883" cy="625176"/>
          </a:xfrm>
          <a:prstGeom prst="lightningBolt">
            <a:avLst/>
          </a:prstGeom>
          <a:solidFill>
            <a:srgbClr val="FFFF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096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1">
            <a:extLst>
              <a:ext uri="{FF2B5EF4-FFF2-40B4-BE49-F238E27FC236}">
                <a16:creationId xmlns:a16="http://schemas.microsoft.com/office/drawing/2014/main" id="{6B0BCD31-D6B0-697C-976E-C20828512446}"/>
              </a:ext>
            </a:extLst>
          </p:cNvPr>
          <p:cNvSpPr/>
          <p:nvPr/>
        </p:nvSpPr>
        <p:spPr>
          <a:xfrm>
            <a:off x="6919332" y="2006025"/>
            <a:ext cx="4705605" cy="3416320"/>
          </a:xfrm>
          <a:prstGeom prst="rect">
            <a:avLst/>
          </a:prstGeom>
          <a:ln>
            <a:solidFill>
              <a:schemeClr val="accent1"/>
            </a:solidFill>
          </a:ln>
        </p:spPr>
        <p:txBody>
          <a:bodyPr wrap="square">
            <a:spAutoFit/>
          </a:bodyPr>
          <a:lstStyle/>
          <a:p>
            <a:pPr algn="just"/>
            <a:r>
              <a:rPr lang="en-US" sz="2400" b="0" i="0" u="none" strike="noStrike" baseline="0" dirty="0" err="1">
                <a:latin typeface="Calibri" panose="020F0502020204030204" pitchFamily="34" charset="0"/>
                <a:ea typeface="Calibri" panose="020F0502020204030204" pitchFamily="34" charset="0"/>
                <a:cs typeface="Calibri" panose="020F0502020204030204" pitchFamily="34" charset="0"/>
              </a:rPr>
              <a:t>Assinale</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 a </a:t>
            </a:r>
            <a:r>
              <a:rPr lang="en-US" sz="2400" b="0" i="0" u="none" strike="noStrike" baseline="0" dirty="0" err="1">
                <a:latin typeface="Calibri" panose="020F0502020204030204" pitchFamily="34" charset="0"/>
                <a:ea typeface="Calibri" panose="020F0502020204030204" pitchFamily="34" charset="0"/>
                <a:cs typeface="Calibri" panose="020F0502020204030204" pitchFamily="34" charset="0"/>
              </a:rPr>
              <a:t>alternativa</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 que </a:t>
            </a:r>
            <a:r>
              <a:rPr lang="en-US" sz="2400" b="0" i="0" u="none" strike="noStrike" baseline="0" dirty="0" err="1">
                <a:latin typeface="Calibri" panose="020F0502020204030204" pitchFamily="34" charset="0"/>
                <a:ea typeface="Calibri" panose="020F0502020204030204" pitchFamily="34" charset="0"/>
                <a:cs typeface="Calibri" panose="020F0502020204030204" pitchFamily="34" charset="0"/>
              </a:rPr>
              <a:t>completa</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400" b="0" i="0" u="none" strike="noStrike" baseline="0" dirty="0" err="1">
                <a:latin typeface="Calibri" panose="020F0502020204030204" pitchFamily="34" charset="0"/>
                <a:ea typeface="Calibri" panose="020F0502020204030204" pitchFamily="34" charset="0"/>
                <a:cs typeface="Calibri" panose="020F0502020204030204" pitchFamily="34" charset="0"/>
              </a:rPr>
              <a:t>corretamente</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 a lacuna </a:t>
            </a:r>
            <a:r>
              <a:rPr lang="en-US" sz="2400" b="0" i="0" u="none" strike="noStrike" baseline="0" dirty="0" err="1">
                <a:latin typeface="Calibri" panose="020F0502020204030204" pitchFamily="34" charset="0"/>
                <a:ea typeface="Calibri" panose="020F0502020204030204" pitchFamily="34" charset="0"/>
                <a:cs typeface="Calibri" panose="020F0502020204030204" pitchFamily="34" charset="0"/>
              </a:rPr>
              <a:t>numerada</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 no </a:t>
            </a:r>
            <a:r>
              <a:rPr lang="en-US" sz="2400" b="0" i="0" u="none" strike="noStrike" baseline="0" dirty="0" err="1">
                <a:latin typeface="Calibri" panose="020F0502020204030204" pitchFamily="34" charset="0"/>
                <a:ea typeface="Calibri" panose="020F0502020204030204" pitchFamily="34" charset="0"/>
                <a:cs typeface="Calibri" panose="020F0502020204030204" pitchFamily="34" charset="0"/>
              </a:rPr>
              <a:t>texto</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algn="just"/>
            <a:endParaRPr lang="en-US" sz="24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(A) which.</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(B) when.</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(C) while.</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(D) whoever.</a:t>
            </a:r>
          </a:p>
          <a:p>
            <a:pPr algn="just"/>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(E) who.</a:t>
            </a:r>
            <a:endParaRPr lang="pt-BR"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CaixaDeTexto 6">
            <a:extLst>
              <a:ext uri="{FF2B5EF4-FFF2-40B4-BE49-F238E27FC236}">
                <a16:creationId xmlns:a16="http://schemas.microsoft.com/office/drawing/2014/main" id="{2F545FB0-4755-9D2E-ADE8-E80D96E9AA03}"/>
              </a:ext>
            </a:extLst>
          </p:cNvPr>
          <p:cNvSpPr txBox="1"/>
          <p:nvPr/>
        </p:nvSpPr>
        <p:spPr>
          <a:xfrm>
            <a:off x="8230794" y="912435"/>
            <a:ext cx="2082680" cy="523220"/>
          </a:xfrm>
          <a:prstGeom prst="rect">
            <a:avLst/>
          </a:prstGeom>
          <a:noFill/>
        </p:spPr>
        <p:txBody>
          <a:bodyPr wrap="square" rtlCol="0">
            <a:spAutoFit/>
          </a:bodyPr>
          <a:lstStyle/>
          <a:p>
            <a:pPr algn="ctr"/>
            <a:r>
              <a:rPr lang="pt-BR" sz="2800" b="1" dirty="0">
                <a:latin typeface="Calibri" panose="020F0502020204030204" pitchFamily="34" charset="0"/>
                <a:ea typeface="Calibri" panose="020F0502020204030204" pitchFamily="34" charset="0"/>
                <a:cs typeface="Calibri" panose="020F0502020204030204" pitchFamily="34" charset="0"/>
              </a:rPr>
              <a:t>UNESP 2017</a:t>
            </a:r>
          </a:p>
        </p:txBody>
      </p:sp>
      <p:pic>
        <p:nvPicPr>
          <p:cNvPr id="6" name="Picture 5">
            <a:extLst>
              <a:ext uri="{FF2B5EF4-FFF2-40B4-BE49-F238E27FC236}">
                <a16:creationId xmlns:a16="http://schemas.microsoft.com/office/drawing/2014/main" id="{20DA46DF-4430-E9C7-382C-3AA662F242C2}"/>
              </a:ext>
            </a:extLst>
          </p:cNvPr>
          <p:cNvPicPr>
            <a:picLocks noChangeAspect="1"/>
          </p:cNvPicPr>
          <p:nvPr/>
        </p:nvPicPr>
        <p:blipFill>
          <a:blip r:embed="rId2"/>
          <a:stretch>
            <a:fillRect/>
          </a:stretch>
        </p:blipFill>
        <p:spPr>
          <a:xfrm>
            <a:off x="74572" y="9528"/>
            <a:ext cx="5772150" cy="6838950"/>
          </a:xfrm>
          <a:prstGeom prst="rect">
            <a:avLst/>
          </a:prstGeom>
        </p:spPr>
      </p:pic>
      <p:sp>
        <p:nvSpPr>
          <p:cNvPr id="7" name="Raio 7">
            <a:extLst>
              <a:ext uri="{FF2B5EF4-FFF2-40B4-BE49-F238E27FC236}">
                <a16:creationId xmlns:a16="http://schemas.microsoft.com/office/drawing/2014/main" id="{55786462-8C51-6791-8A24-55CB7EC73E2E}"/>
              </a:ext>
            </a:extLst>
          </p:cNvPr>
          <p:cNvSpPr/>
          <p:nvPr/>
        </p:nvSpPr>
        <p:spPr>
          <a:xfrm rot="19849427">
            <a:off x="6372487" y="4795758"/>
            <a:ext cx="692883" cy="625176"/>
          </a:xfrm>
          <a:prstGeom prst="lightningBolt">
            <a:avLst/>
          </a:prstGeom>
          <a:solidFill>
            <a:srgbClr val="FFFF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7788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365048-4F00-7799-B849-66A743A77115}"/>
              </a:ext>
            </a:extLst>
          </p:cNvPr>
          <p:cNvSpPr txBox="1"/>
          <p:nvPr/>
        </p:nvSpPr>
        <p:spPr>
          <a:xfrm>
            <a:off x="531845" y="2305615"/>
            <a:ext cx="11162673" cy="2246769"/>
          </a:xfrm>
          <a:prstGeom prst="rect">
            <a:avLst/>
          </a:prstGeom>
          <a:noFill/>
        </p:spPr>
        <p:txBody>
          <a:bodyPr wrap="square" rtlCol="0">
            <a:spAutoFit/>
          </a:bodyPr>
          <a:lstStyle/>
          <a:p>
            <a:r>
              <a:rPr lang="pt-BR" sz="2800" b="1" dirty="0">
                <a:latin typeface="Calibri" panose="020F0502020204030204" pitchFamily="34" charset="0"/>
                <a:ea typeface="Calibri" panose="020F0502020204030204" pitchFamily="34" charset="0"/>
                <a:cs typeface="Calibri" panose="020F0502020204030204" pitchFamily="34" charset="0"/>
              </a:rPr>
              <a:t>Há diferença no sentido das duas frases abaixo? Explique.</a:t>
            </a:r>
          </a:p>
          <a:p>
            <a:endParaRPr lang="pt-BR" sz="2800" dirty="0">
              <a:latin typeface="Calibri" panose="020F0502020204030204" pitchFamily="34" charset="0"/>
              <a:ea typeface="Calibri" panose="020F0502020204030204" pitchFamily="34" charset="0"/>
              <a:cs typeface="Calibri" panose="020F0502020204030204" pitchFamily="34" charset="0"/>
            </a:endParaRPr>
          </a:p>
          <a:p>
            <a:r>
              <a:rPr lang="en-US" sz="2800" i="1" dirty="0">
                <a:latin typeface="Calibri" panose="020F0502020204030204" pitchFamily="34" charset="0"/>
                <a:ea typeface="Calibri" panose="020F0502020204030204" pitchFamily="34" charset="0"/>
                <a:cs typeface="Calibri" panose="020F0502020204030204" pitchFamily="34" charset="0"/>
              </a:rPr>
              <a:t>- All politicians who are involved with corruption must pay for their crimes.</a:t>
            </a:r>
          </a:p>
          <a:p>
            <a:endParaRPr lang="en-US" sz="2800" i="1" dirty="0">
              <a:latin typeface="Calibri" panose="020F0502020204030204" pitchFamily="34" charset="0"/>
              <a:ea typeface="Calibri" panose="020F0502020204030204" pitchFamily="34" charset="0"/>
              <a:cs typeface="Calibri" panose="020F0502020204030204" pitchFamily="34" charset="0"/>
            </a:endParaRPr>
          </a:p>
          <a:p>
            <a:r>
              <a:rPr lang="en-US" sz="2800" i="1" dirty="0">
                <a:latin typeface="Calibri" panose="020F0502020204030204" pitchFamily="34" charset="0"/>
                <a:ea typeface="Calibri" panose="020F0502020204030204" pitchFamily="34" charset="0"/>
                <a:cs typeface="Calibri" panose="020F0502020204030204" pitchFamily="34" charset="0"/>
              </a:rPr>
              <a:t>- All politicians, who are involved with corruption, must pay for their crimes.</a:t>
            </a:r>
          </a:p>
        </p:txBody>
      </p:sp>
    </p:spTree>
    <p:extLst>
      <p:ext uri="{BB962C8B-B14F-4D97-AF65-F5344CB8AC3E}">
        <p14:creationId xmlns:p14="http://schemas.microsoft.com/office/powerpoint/2010/main" val="3259727534"/>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TM04033923[[fn=Depth]]</Template>
  <TotalTime>967</TotalTime>
  <Words>1213</Words>
  <Application>Microsoft Office PowerPoint</Application>
  <PresentationFormat>Widescreen</PresentationFormat>
  <Paragraphs>96</Paragraphs>
  <Slides>15</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15</vt:i4>
      </vt:variant>
    </vt:vector>
  </HeadingPairs>
  <TitlesOfParts>
    <vt:vector size="20" baseType="lpstr">
      <vt:lpstr>Arial</vt:lpstr>
      <vt:lpstr>Calibri</vt:lpstr>
      <vt:lpstr>Corbel</vt:lpstr>
      <vt:lpstr>Times New Roman</vt:lpstr>
      <vt:lpstr>Depth</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Rodrigo Manz de Paula Ramos</dc:creator>
  <cp:lastModifiedBy>Rodrigo Manz de Paula Ramos</cp:lastModifiedBy>
  <cp:revision>63</cp:revision>
  <dcterms:created xsi:type="dcterms:W3CDTF">2016-07-25T21:00:46Z</dcterms:created>
  <dcterms:modified xsi:type="dcterms:W3CDTF">2026-08-10T21:51:36Z</dcterms:modified>
</cp:coreProperties>
</file>