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562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ESTADO, GOVERNO,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DEMOCRACIA E CIDADANIA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74320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Formas e Sistemas de Governo, Regimes Políticos e Divisão dos Poderes
</a:t>
            </a: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Os tipos de Democracia e a Democracia Liberal
</a:t>
            </a: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Democracia e Cidadania: da ágora aos </a:t>
            </a:r>
            <a:r>
              <a:rPr lang="en-US" sz="1600" dirty="0" err="1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</a:t>
            </a:r>
            <a:endParaRPr lang="en-US" sz="16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 smtClean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</a:t>
            </a:r>
            <a:r>
              <a:rPr lang="en-US" sz="1400" b="1" dirty="0" err="1" smtClean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Lumen – 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 Cap 11 (</a:t>
            </a: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118 a 126)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F346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Governo,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Regimes Políticos 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Governo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 Governo  •  </a:t>
            </a:r>
            <a:r>
              <a:rPr lang="en-US" sz="115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</a:t>
            </a:r>
            <a:r>
              <a:rPr lang="en-US" sz="1150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</a:t>
            </a:r>
            <a:r>
              <a:rPr lang="en-US" sz="1150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5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Monarquia</a:t>
            </a:r>
            <a:r>
              <a:rPr lang="en-US" sz="1150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República  •  Regimes  •  Divisão dos Poderes  •  </a:t>
            </a:r>
            <a:r>
              <a:rPr lang="en-US" sz="115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150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 · CONCEITOS BÁSICOS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Estado, Governo e Regime: distinções fundamentais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ESTADO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formada por população, território e governo. Traço essencial: monopólio legítimo da violência física (Max Weber). É permanente e não se confunde com quem governa.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743200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3852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o poder dentro do Estado em determinado período. Pode mudar sem que o Estado se dissolva. Não se confunde com regime político.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71600"/>
            <a:ext cx="2743200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REGIME POLÍTICO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93852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normas, princípios, leis e instituições que regulam a luta pelo poder. Define como se dão as relações entre governantes e governados.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 · FORMAS DE GOVERNO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Monarquia e República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MONARQUIA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de uma só pessoa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Poder vitalício e, em geral, hereditário
• Soberania: pessoa do monarca + tradição
• Variante: Despotismo Esclarecido (séc. XVIII)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Rei liberal modernizador sem abrir mão do poder absoluto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Hoje pode ser Monarquia Constitucional: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Centralista ou Parlamentarista
  Ex.: Inglaterra, Espanha, Japão, Suécia, Marrocos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258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</a:rPr>
              <a:t>REPÚBLICA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92808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Publica — a coisa pública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ao poder por eleição (direta ou indireta)
• Mandatos com duração predeterminada
• Chefia: individual ou colegiada (ex.: Suíça)
• Princípio: bem comum (desde Roma Antiga)
• Totalitária: sem alternância de poder
• Democrática/Liberal: com alternância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Parlamentarista (ex.: Alemanha)
  → Presidencialista (ex.: Brasil)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 · REGIMES POLÍTICOS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Democracia e Autoritarismo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DEMOCRACIA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direto do povo ou controlado pelo povo (Bobbio)
</a:t>
            </a: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Premissas: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Divisão dos poderes
• Transparência pública
• Cidadania ativa
• Respeito à legislação
• Direito à manifestação e livre escolha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Formas: representativa, participativa/deliberativa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3D000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258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</a:rPr>
              <a:t>DITADURA / AUTORITARISMO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antidemocrático contemporâneo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Antecedentes: tirania grega, absolutismo europeu, despotismos orientais, autocracias.
</a:t>
            </a: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das ditaduras atuais: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Poder ilimitado e concentrado
• Regras de sucessão precárias
• Ausência de eleição livre
• Legitimação manipulada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 · DIVISÃO DOS PODERES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Tripartição dos Poderes e o Constitucionalismo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Locke, Montesquieu e Kant: forte relação entre Constituição Nacional e divisão dos poderes.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27432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LEGISLATIVO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"Fazer as leis"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Parlamento bicameral: inspirado na Câmara dos Lordes e Câmara dos Comuns britânicas. Representa nobreza e povo — governo misto.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28800"/>
            <a:ext cx="27432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EXECUTIVO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"Executar as decisões públicas"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9992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 administra políticas públicas. Na monarquia: o rei. Na república: presidente ou primeiro-ministro.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828800"/>
            <a:ext cx="2743200" cy="4572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JUDICIÁRIO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"Punir delitos e controlar a Constituição"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99923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 constitucionalidade das leis e resolve conflitos. A independência é garantia fundamental do Estado de Direito.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original: dividir o poder entre rei, nobreza e burguesia — o governo misto (bicamerismo).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 · SISTEMAS DE GOVERNO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Parlamentarismo e Presidencialismo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82880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SISTEMA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325880"/>
            <a:ext cx="237744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CHEFE DE ESTADO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246888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CHEFE DE GOVERNO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0" y="1325880"/>
            <a:ext cx="201168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EXEMPLOS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1828800" cy="76809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819656"/>
            <a:ext cx="17007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Mon. Const.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1783080"/>
            <a:ext cx="2377440" cy="76809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2258568" y="1819656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 (exerce o executivo nos limites constitucionais)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783080"/>
            <a:ext cx="2468880" cy="76809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1819656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Rei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783080"/>
            <a:ext cx="2011680" cy="76809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7196328" y="1819656"/>
            <a:ext cx="18836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87752"/>
            <a:ext cx="1828800" cy="76809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624328"/>
            <a:ext cx="17007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Mon. Const.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Parlamentarista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2587752"/>
            <a:ext cx="2377440" cy="76809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2258568" y="2624328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(só chefe de Estado)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587752"/>
            <a:ext cx="2468880" cy="76809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624328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Ministro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(partido majoritário)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2587752"/>
            <a:ext cx="2011680" cy="76809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Text 26"/>
          <p:cNvSpPr/>
          <p:nvPr/>
        </p:nvSpPr>
        <p:spPr>
          <a:xfrm>
            <a:off x="7196328" y="2624328"/>
            <a:ext cx="18836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Inglaterra, Espanha, Japão, Marrocos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92424"/>
            <a:ext cx="1828800" cy="76809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429000"/>
            <a:ext cx="17007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Parlamentarista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392424"/>
            <a:ext cx="2377440" cy="76809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2" name="Text 30"/>
          <p:cNvSpPr/>
          <p:nvPr/>
        </p:nvSpPr>
        <p:spPr>
          <a:xfrm>
            <a:off x="2258568" y="3429000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392424"/>
            <a:ext cx="2468880" cy="76809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4" name="Text 32"/>
          <p:cNvSpPr/>
          <p:nvPr/>
        </p:nvSpPr>
        <p:spPr>
          <a:xfrm>
            <a:off x="4681728" y="3429000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Ministro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(chefe de governo)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3392424"/>
            <a:ext cx="2011680" cy="76809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36" name="Text 34"/>
          <p:cNvSpPr/>
          <p:nvPr/>
        </p:nvSpPr>
        <p:spPr>
          <a:xfrm>
            <a:off x="7196328" y="3429000"/>
            <a:ext cx="18836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Alemanha, Itália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197096"/>
            <a:ext cx="1828800" cy="768096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4233672"/>
            <a:ext cx="17007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Presidencialista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94560" y="4197096"/>
            <a:ext cx="2377440" cy="768096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0" name="Text 38"/>
          <p:cNvSpPr/>
          <p:nvPr/>
        </p:nvSpPr>
        <p:spPr>
          <a:xfrm>
            <a:off x="2258568" y="423367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97096"/>
            <a:ext cx="2468880" cy="768096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2" name="Text 40"/>
          <p:cNvSpPr/>
          <p:nvPr/>
        </p:nvSpPr>
        <p:spPr>
          <a:xfrm>
            <a:off x="4681728" y="4233672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(acumula ambas)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4197096"/>
            <a:ext cx="2011680" cy="768096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4" name="Text 42"/>
          <p:cNvSpPr/>
          <p:nvPr/>
        </p:nvSpPr>
        <p:spPr>
          <a:xfrm>
            <a:off x="7196328" y="4233672"/>
            <a:ext cx="18836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Brasil, EUA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F346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Democracias e 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Democracia Liberal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286000" cy="0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Representativa · Participativa/Deliberativa · Liberal · Debate contemporâneo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2 · PONTO DE PARTIDA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Vivemos em uma democracia?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0D2137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1AB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romance Ensaio sobre a Lucidez, Saramago imagina um país onde os votos em branco venceram a eleição. A questão central é se vivemos, de fato, em uma democracia.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050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Saramago · Nobel de Literatura (1922–2010)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3017520" cy="3611880"/>
          </a:xfrm>
          <a:prstGeom prst="roundRect">
            <a:avLst>
              <a:gd name="adj" fmla="val 3636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refletir: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Nossas práticas políticas e instituições são verdadeiramente democráticas?
Podemos ter democracia efetiva em sociedades marcadas pela desigualdade e exclusão social?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2 · TIPOS DE DEMOCRACIA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democráticos em debate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DEMOCRACIA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DIRETA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 dos cidadãos nas decisões. Origem na ágora grega. Referendos e plebiscitos são seus instrumentos modernos.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2743200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DEMOCRACIA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REPRESENTATIVA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comum na atualidade. O voto escolhe representantes que legislam e governam. Pauta-se no sufrágio universal, periodicidade eleitoral e igualdade jurídica. Forma mais recorrente, mas com distância entre teoria e prática.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25880"/>
            <a:ext cx="2743200" cy="6858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DEMOCRACIA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PARTICIPATIVA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DELIBERATIVA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EAEA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</a:t>
            </a:r>
            <a:r>
              <a:rPr lang="en-US" sz="140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direta dos cidadãos: audiências públicas, referendos, fiscalização popular. Desafios: desinteresse, lentidão, burocratização.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1063270"/>
            <a:ext cx="859535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Bobbio: democracia = governo direto ou controlado pelo povo, garantindo livre desenvolvimento das capacidades humanas para todos.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2 · DEMOCRACIA LIBERAL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Democracia Liberal: bases e institucionalização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886200" cy="3657600"/>
          </a:xfrm>
          <a:prstGeom prst="roundRect">
            <a:avLst>
              <a:gd name="adj" fmla="val 3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VALORES FUNDAMENTAIS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11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Incorporação do ideal democrático pela tradição liberal:
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Liberdades individuais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Pensamento, expressão, religião, propriedade
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Poder político limitado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Estado de direito, constitucionalismo
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Respeito às minorias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Proteção mesmo contra a vontade da maioria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4389120" cy="3657600"/>
          </a:xfrm>
          <a:prstGeom prst="roundRect">
            <a:avLst>
              <a:gd name="adj" fmla="val 3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32588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</a:rPr>
              <a:t>INSTITUCIONALIZAÇÃO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4114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i="1" dirty="0" smtClean="0">
              <a:solidFill>
                <a:srgbClr val="A0A0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i="1" dirty="0" smtClean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3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 livre como concretude do 'povo igual juridicamente'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Liberdade e igualdade jurídicas
• Sufrágio Universal
• Princípio da Maioria com proteção às minorias
• Ampliação dos órgãos representativos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democrática liberal: pressupõe alternância de poder, ao contrário da república totalitária.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2 · DEMOCRACIA EM DEBATE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 desafios das democracias contemporâneas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econômico sobre o coletivo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Pressões do mercado e grandes corporações moldam decisões políticas acima do interesse popular.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de representação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562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Minorias, mulheres e grupos marginalizados enfrentam barreiras estruturais nos parlamentos.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91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dos espaços de participação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 partidos, sindicatos e movimentos sociais enfraquece a base democrática.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91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Criminalização de movimentos sociais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7307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Protestos e reivindicações legítimas são tratados como ameaças à ordem, não como exercício democrático.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10607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democrático está permanentemente em transformação." — Tendência: formas mais participativas e deliberativas.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F346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Democracia e Cidadania: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ágora aos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Humanos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2286000" cy="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 na Antiguidade  •  Modernidade  •  Direitos Civis, Políticos e Sociais  •  ONU e DUDH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3 · CIDADANIA NA ANTIGUIDADE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cidadania na Grécia e em Roma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GRÉCIA — POLIS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 IX a.C. · Cidade-Estado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 = status do cidadão livre, nascido na pólis:
• Privilégio e obrigação de participar da vida pública
• Tomada de decisões políticas (ágora)
</a:t>
            </a: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Excluídos: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estrangeiros, conquistados, escravos, mulheres e crianças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2588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</a:rPr>
              <a:t>ROMA — CIVITAS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828800"/>
            <a:ext cx="3977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Civis = cidadão livre · Civitas = Estado
</a:t>
            </a: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 = liberdade:
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submissão a outro senhor
• Privilégios legais e fiscais
</a:t>
            </a: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Estado romano significava cidadania.
</a:t>
            </a: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</a:t>
            </a: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confundir com DIREITO no sentido moderno. A cidadania era um status, não um direito universal.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3 · CIDADANIA MODERNA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retorno da cidadania na Modernidade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850392"/>
          </a:xfrm>
          <a:prstGeom prst="roundRect">
            <a:avLst>
              <a:gd name="adj" fmla="val 860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89888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Sécs. XVII–XVIII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Revoluções Inglesas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4416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civis: liberdade de pensamento, ir e vir, propriedade, justiça. Hobbes e Locke: direitos naturais inalienáveis.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850392"/>
          </a:xfrm>
          <a:prstGeom prst="roundRect">
            <a:avLst>
              <a:gd name="adj" fmla="val 860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322576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2258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 séc. XVIII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2624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Revoluções Francesa e Americana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27685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políticos: soberania popular, sufrágio, participação. Bill of Rights e Declaração dos Direitos do Homem e do Cidadão.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8503920" cy="850392"/>
          </a:xfrm>
          <a:prstGeom prst="roundRect">
            <a:avLst>
              <a:gd name="adj" fmla="val 860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255264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2552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1912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Séc. XIX – XX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5570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Social e movimento operário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209544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sociais: educação, saúde, moradia, trabalho, previdência. Resposta ao capitalismo industrial e às críticas socialistas.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8503920" cy="850392"/>
          </a:xfrm>
          <a:prstGeom prst="roundRect">
            <a:avLst>
              <a:gd name="adj" fmla="val 860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4187952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41239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1948 – Presente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44897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Universal dos Direitos Humanos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142232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Universalização: cidadão = ser humano. Dignidade humana como valor central. Influência direta nas constituições nacionais.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3 · T. H. MARSHALL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tipos de direitos de cidadania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DIREITOS CIVIS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Sécs. XVII–XVIII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2468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Liberdades individuais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Direito de ir e vir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Propriedade privada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Livre pensamento e religião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Igualdade jurídica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Origem: Revoluções Inglesas / Iluminismo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258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DIREITOS POLÍTICOS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Séc. XIX–XX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883664"/>
            <a:ext cx="2468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Participação política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Direito ao voto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Candidatura e partido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Organização sindical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Origem: </a:t>
            </a:r>
            <a:r>
              <a:rPr lang="en-US" sz="125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Revoluções</a:t>
            </a:r>
            <a:r>
              <a:rPr lang="en-US" sz="125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Francesa</a:t>
            </a:r>
            <a:r>
              <a:rPr lang="en-US" sz="1250" dirty="0" smtClean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Americana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Sufrágio feminino (séc. XX)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25880"/>
            <a:ext cx="2743200" cy="4754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3258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DIREITOS SOCIAIS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Séc. XX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883664"/>
            <a:ext cx="2468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Educação básica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Saúde e moradia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Trabalho e previdência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Alimentação e lazer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Segurança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Origem: Rev. Industrial e crítica socialista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10698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Marshall: interpretação histórica da Europa Ocidental — não universal, mas referencial importante.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3 · DIREITOS HUMANOS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2ª Guerra à Declaração Universal dos Direitos Humanos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CONTEXTO HISTÓRICO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Guerra: ~17 mi de mortos
2ª Guerra: 55–80 mi de mortos
</a:t>
            </a: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Tribunais de Nuremberg e Tóquio (1945–48):
</a:t>
            </a: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Responsabilização individual de governantes por crimes de guerra
• Pioneiros no direito penal internacional
</a:t>
            </a: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 ONU (1945):
</a:t>
            </a: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Carta das Nações Unidas: 50 países em São Francisco (EUA)
• 24 de outubro de 1945: nascimento oficial da ONU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251960" cy="3611880"/>
          </a:xfrm>
          <a:prstGeom prst="roundRect">
            <a:avLst>
              <a:gd name="adj" fmla="val 3038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2588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</a:rPr>
              <a:t>DUDH — 10/12/1948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828800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Universal dos Direitos Humanos
Paris — Assembleia Geral da ONU
</a:t>
            </a:r>
            <a:r>
              <a:rPr lang="en-US" sz="12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Caráter: abrangente, universal e inalienável
</a:t>
            </a: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no Brasil:
</a:t>
            </a: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Conv. sobre discriminação da mulher (1979) → Lei Maria da Penha (2006)
• Conv. sobre Dir. da Criança (1989) → ECA (1992)
</a:t>
            </a:r>
            <a:r>
              <a:rPr lang="en-US" sz="12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Impasses:
</a:t>
            </a: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Questionamento da universalidade (origem ocidental)
• Lacunas na efetividade e aplicação nos Estados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REFLEXÃO FINAL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Democracia e Cidadania: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projeto em construção permanente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28600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O Estado é a instituição; o Governo, quem exerce o poder; o Regime, como esse poder é organizado.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8072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Democracia exige divisão de poderes, alternância, cidadania ativa e respeito às minorias.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4198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A tradição liberal ampliou a democracia, mas seus limites (desigualdade, exclusão) são evidentes.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03250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Cidadania evoluiu do status restrito grego para direito universal — mas ainda enfrenta barreiras reais.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consolidação de uma sociedade em que todos exercem plenamente seus direitos é responsabilidade do Estado e de todos nós."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1240</Words>
  <Application>Microsoft Office PowerPoint</Application>
  <PresentationFormat>Apresentação na tela (16:9)</PresentationFormat>
  <Paragraphs>219</Paragraphs>
  <Slides>18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Governo, Democracia e Cidadania</dc:title>
  <dc:subject>PptxGenJS Presentation</dc:subject>
  <dc:creator>PptxGenJS</dc:creator>
  <cp:lastModifiedBy>Willian Vieira Mathias de oliveira</cp:lastModifiedBy>
  <cp:revision>2</cp:revision>
  <dcterms:created xsi:type="dcterms:W3CDTF">2026-06-14T20:53:52Z</dcterms:created>
  <dcterms:modified xsi:type="dcterms:W3CDTF">2026-06-14T21:26:39Z</dcterms:modified>
</cp:coreProperties>
</file>