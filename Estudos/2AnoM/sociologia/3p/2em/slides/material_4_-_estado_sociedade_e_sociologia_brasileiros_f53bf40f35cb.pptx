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A7BE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7E8D1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20588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Formação</a:t>
            </a:r>
            <a:r>
              <a:rPr lang="en-US" sz="4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 do Estado e </a:t>
            </a:r>
            <a:r>
              <a:rPr lang="en-US" sz="48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da</a:t>
            </a:r>
            <a:r>
              <a:rPr lang="en-US" sz="4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 </a:t>
            </a:r>
            <a:r>
              <a:rPr lang="en-US" sz="48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Sociologia</a:t>
            </a:r>
            <a:r>
              <a:rPr lang="en-US" sz="4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 </a:t>
            </a:r>
          </a:p>
          <a:p>
            <a:pPr marL="0" indent="0" algn="ctr">
              <a:buNone/>
            </a:pPr>
            <a:r>
              <a:rPr lang="en-US" sz="4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No </a:t>
            </a:r>
            <a:r>
              <a:rPr lang="en-US" sz="48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Brasil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438400" y="6060141"/>
            <a:ext cx="9482561" cy="46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Identididade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 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274320"/>
            <a:ext cx="11094415" cy="552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Aula 1: Estado e </a:t>
            </a:r>
            <a:r>
              <a:rPr lang="en-US" sz="36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Cidadania</a:t>
            </a:r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no </a:t>
            </a:r>
            <a:r>
              <a:rPr lang="en-US" sz="36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Brasil</a:t>
            </a:r>
            <a:endParaRPr lang="en-US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37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Apresentar</a:t>
            </a:r>
            <a:r>
              <a:rPr lang="en-US" sz="22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José Murilo de Carvalho sobre a cidadania no Brasil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por que a construção da cidadania brasileira foi “tortuosa” em comparação ao modelo europeu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contexto histórico que deu origem ao pensamento social brasileiro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Introduzir as duas questões centrais que mobilizaram os primeiros intérpretes do Brasil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aulas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5: da cidadania ao pensamento social brasileiro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79874" name="Picture 2" descr="https://blogger.googleusercontent.com/img/b/R29vZ2xl/AVvXsEja5-68CFItULUx3oKtyZLEl1ck4h7rnDJQFO0qkZ6M-VobYAKi-jxDupOWvTwCbEg87WbPoy9c5d5cndNISoymhISgeNDV9Gt5AYd_UNoy2ywjORKBM0dAznh2C5TGSPuRtoANd9s7P7Y/s1600/justicabrasi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6640" y="1824379"/>
            <a:ext cx="4576420" cy="45764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274320"/>
            <a:ext cx="11094415" cy="64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 modelo clássico: cidadania na Europa moderna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49469" y="1310053"/>
            <a:ext cx="8387862" cy="4958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José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Murilo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Carvalho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Obra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“A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Cidadania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: o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longo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Caminho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” 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parte do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de Marshall: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cidadania plena combina três dimensões de direitos — civis, políticos e </a:t>
            </a:r>
            <a:r>
              <a:rPr lang="en-US" sz="20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T.H. Marshall,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histórica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seguiu do direito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civil ao político e, só depois, </a:t>
            </a:r>
            <a:r>
              <a:rPr lang="en-US" sz="20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pt-BR" sz="2000" b="1" spc="-10" dirty="0" smtClean="0">
                <a:latin typeface="Corbel"/>
                <a:cs typeface="Corbel"/>
              </a:rPr>
              <a:t>Até 1920</a:t>
            </a:r>
            <a:r>
              <a:rPr lang="pt-BR" sz="2000" spc="-10" dirty="0" smtClean="0">
                <a:latin typeface="Corbel"/>
                <a:cs typeface="Corbel"/>
              </a:rPr>
              <a:t>, </a:t>
            </a:r>
            <a:r>
              <a:rPr lang="pt-BR" sz="2000" spc="-5" dirty="0" smtClean="0">
                <a:latin typeface="Corbel"/>
                <a:cs typeface="Corbel"/>
              </a:rPr>
              <a:t>os </a:t>
            </a:r>
            <a:r>
              <a:rPr lang="pt-BR" sz="2000" spc="-10" dirty="0" smtClean="0">
                <a:latin typeface="Corbel"/>
                <a:cs typeface="Corbel"/>
              </a:rPr>
              <a:t>valores </a:t>
            </a:r>
            <a:r>
              <a:rPr lang="pt-BR" sz="2000" spc="-5" dirty="0" smtClean="0">
                <a:latin typeface="Corbel"/>
                <a:cs typeface="Corbel"/>
              </a:rPr>
              <a:t>de </a:t>
            </a:r>
            <a:r>
              <a:rPr lang="pt-BR" sz="2000" b="1" spc="-10" dirty="0" smtClean="0">
                <a:latin typeface="Corbel"/>
                <a:cs typeface="Corbel"/>
              </a:rPr>
              <a:t>liberdade </a:t>
            </a:r>
            <a:r>
              <a:rPr lang="pt-BR" sz="2000" b="1" spc="-5" dirty="0" smtClean="0">
                <a:latin typeface="Corbel"/>
                <a:cs typeface="Corbel"/>
              </a:rPr>
              <a:t>individual</a:t>
            </a:r>
            <a:r>
              <a:rPr lang="pt-BR" sz="2000" spc="-5" dirty="0" smtClean="0">
                <a:latin typeface="Corbel"/>
                <a:cs typeface="Corbel"/>
              </a:rPr>
              <a:t> </a:t>
            </a:r>
            <a:r>
              <a:rPr lang="pt-BR" sz="2000" spc="-10" dirty="0" smtClean="0">
                <a:latin typeface="Corbel"/>
                <a:cs typeface="Corbel"/>
              </a:rPr>
              <a:t>praticamente </a:t>
            </a:r>
            <a:r>
              <a:rPr lang="pt-BR" sz="2000" b="1" spc="-5" dirty="0" smtClean="0">
                <a:latin typeface="Corbel"/>
                <a:cs typeface="Corbel"/>
              </a:rPr>
              <a:t>inexistiam</a:t>
            </a:r>
            <a:r>
              <a:rPr lang="pt-BR" sz="2000" spc="-5" dirty="0" smtClean="0">
                <a:latin typeface="Corbel"/>
                <a:cs typeface="Corbel"/>
              </a:rPr>
              <a:t> </a:t>
            </a:r>
            <a:r>
              <a:rPr lang="pt-BR" sz="2000" b="1" spc="-5" dirty="0" smtClean="0">
                <a:latin typeface="Corbel"/>
                <a:cs typeface="Corbel"/>
              </a:rPr>
              <a:t>no</a:t>
            </a:r>
            <a:r>
              <a:rPr lang="pt-BR" sz="2000" b="1" spc="-20" dirty="0" smtClean="0">
                <a:latin typeface="Corbel"/>
                <a:cs typeface="Corbel"/>
              </a:rPr>
              <a:t> </a:t>
            </a:r>
            <a:r>
              <a:rPr lang="pt-BR" sz="2000" b="1" spc="-10" dirty="0" smtClean="0">
                <a:latin typeface="Corbel"/>
                <a:cs typeface="Corbel"/>
              </a:rPr>
              <a:t>Brasil</a:t>
            </a:r>
            <a:r>
              <a:rPr lang="pt-BR" sz="2000" spc="-10" dirty="0" smtClean="0">
                <a:latin typeface="Corbel"/>
                <a:cs typeface="Corbel"/>
              </a:rPr>
              <a:t>.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pt-BR" sz="2000" spc="-5" dirty="0" smtClean="0">
                <a:latin typeface="Corbel"/>
                <a:cs typeface="Corbel"/>
              </a:rPr>
              <a:t>Para </a:t>
            </a:r>
            <a:r>
              <a:rPr lang="pt-BR" sz="2000" dirty="0" smtClean="0">
                <a:latin typeface="Corbel"/>
                <a:cs typeface="Corbel"/>
              </a:rPr>
              <a:t>a </a:t>
            </a:r>
            <a:r>
              <a:rPr lang="pt-BR" sz="2000" spc="-5" dirty="0" smtClean="0">
                <a:latin typeface="Corbel"/>
                <a:cs typeface="Corbel"/>
              </a:rPr>
              <a:t>maioria da população, </a:t>
            </a:r>
            <a:r>
              <a:rPr lang="pt-BR" sz="2000" spc="-10" dirty="0" smtClean="0">
                <a:latin typeface="Corbel"/>
                <a:cs typeface="Corbel"/>
              </a:rPr>
              <a:t>os direitos </a:t>
            </a:r>
            <a:r>
              <a:rPr lang="pt-BR" sz="2000" spc="-5" dirty="0" smtClean="0">
                <a:latin typeface="Corbel"/>
                <a:cs typeface="Corbel"/>
              </a:rPr>
              <a:t>de </a:t>
            </a:r>
            <a:r>
              <a:rPr lang="pt-BR" sz="2000" dirty="0" smtClean="0">
                <a:latin typeface="Corbel"/>
                <a:cs typeface="Corbel"/>
              </a:rPr>
              <a:t>ir e </a:t>
            </a:r>
            <a:r>
              <a:rPr lang="pt-BR" sz="2000" spc="-10" dirty="0" smtClean="0">
                <a:latin typeface="Corbel"/>
                <a:cs typeface="Corbel"/>
              </a:rPr>
              <a:t>vir  </a:t>
            </a:r>
            <a:r>
              <a:rPr lang="pt-BR" sz="2000" dirty="0" smtClean="0">
                <a:latin typeface="Corbel"/>
                <a:cs typeface="Corbel"/>
              </a:rPr>
              <a:t>e </a:t>
            </a:r>
            <a:r>
              <a:rPr lang="pt-BR" sz="2000" spc="-5" dirty="0" smtClean="0">
                <a:latin typeface="Corbel"/>
                <a:cs typeface="Corbel"/>
              </a:rPr>
              <a:t>de </a:t>
            </a:r>
            <a:r>
              <a:rPr lang="pt-BR" sz="2000" spc="-10" dirty="0" smtClean="0">
                <a:latin typeface="Corbel"/>
                <a:cs typeface="Corbel"/>
              </a:rPr>
              <a:t>propriedade, </a:t>
            </a:r>
            <a:r>
              <a:rPr lang="pt-BR" sz="2000" dirty="0" smtClean="0">
                <a:latin typeface="Corbel"/>
                <a:cs typeface="Corbel"/>
              </a:rPr>
              <a:t>a </a:t>
            </a:r>
            <a:r>
              <a:rPr lang="pt-BR" sz="2000" spc="-5" dirty="0" smtClean="0">
                <a:latin typeface="Corbel"/>
                <a:cs typeface="Corbel"/>
              </a:rPr>
              <a:t>inviolabilidade de domicílio </a:t>
            </a:r>
            <a:r>
              <a:rPr lang="pt-BR" sz="2000" dirty="0" smtClean="0">
                <a:latin typeface="Corbel"/>
                <a:cs typeface="Corbel"/>
              </a:rPr>
              <a:t>e  a </a:t>
            </a:r>
            <a:r>
              <a:rPr lang="pt-BR" sz="2000" spc="-10" dirty="0" smtClean="0">
                <a:latin typeface="Corbel"/>
                <a:cs typeface="Corbel"/>
              </a:rPr>
              <a:t>proteção </a:t>
            </a:r>
            <a:r>
              <a:rPr lang="pt-BR" sz="2000" spc="-5" dirty="0" smtClean="0">
                <a:latin typeface="Corbel"/>
                <a:cs typeface="Corbel"/>
              </a:rPr>
              <a:t>da </a:t>
            </a:r>
            <a:r>
              <a:rPr lang="pt-BR" sz="2000" spc="-10" dirty="0" smtClean="0">
                <a:latin typeface="Corbel"/>
                <a:cs typeface="Corbel"/>
              </a:rPr>
              <a:t>integridade </a:t>
            </a:r>
            <a:r>
              <a:rPr lang="pt-BR" sz="2000" spc="-5" dirty="0" smtClean="0">
                <a:latin typeface="Corbel"/>
                <a:cs typeface="Corbel"/>
              </a:rPr>
              <a:t>física </a:t>
            </a:r>
            <a:r>
              <a:rPr lang="pt-BR" sz="2000" b="1" spc="-10" dirty="0" smtClean="0">
                <a:latin typeface="Corbel"/>
                <a:cs typeface="Corbel"/>
              </a:rPr>
              <a:t>dependiam </a:t>
            </a:r>
            <a:r>
              <a:rPr lang="pt-BR" sz="2000" b="1" spc="-5" dirty="0" smtClean="0">
                <a:latin typeface="Corbel"/>
                <a:cs typeface="Corbel"/>
              </a:rPr>
              <a:t>do  </a:t>
            </a:r>
            <a:r>
              <a:rPr lang="pt-BR" sz="2000" b="1" spc="-10" dirty="0" smtClean="0">
                <a:latin typeface="Corbel"/>
                <a:cs typeface="Corbel"/>
              </a:rPr>
              <a:t>poder </a:t>
            </a:r>
            <a:r>
              <a:rPr lang="pt-BR" sz="2000" b="1" spc="-5" dirty="0" smtClean="0">
                <a:latin typeface="Corbel"/>
                <a:cs typeface="Corbel"/>
              </a:rPr>
              <a:t>dos</a:t>
            </a:r>
            <a:r>
              <a:rPr lang="pt-BR" sz="2000" b="1" spc="-15" dirty="0" smtClean="0">
                <a:latin typeface="Corbel"/>
                <a:cs typeface="Corbel"/>
              </a:rPr>
              <a:t> </a:t>
            </a:r>
            <a:r>
              <a:rPr lang="pt-BR" sz="2000" b="1" spc="-5" dirty="0" smtClean="0">
                <a:latin typeface="Corbel"/>
                <a:cs typeface="Corbel"/>
              </a:rPr>
              <a:t>coronéis.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pt-BR" sz="2000" spc="-5" dirty="0" smtClean="0">
                <a:latin typeface="Corbel"/>
                <a:cs typeface="Corbel"/>
              </a:rPr>
              <a:t>Os </a:t>
            </a:r>
            <a:r>
              <a:rPr lang="pt-BR" sz="2000" spc="-10" dirty="0" smtClean="0">
                <a:latin typeface="Corbel"/>
                <a:cs typeface="Corbel"/>
              </a:rPr>
              <a:t>direitos políticos eram igualmente</a:t>
            </a:r>
            <a:r>
              <a:rPr lang="pt-BR" sz="2000" spc="35" dirty="0" smtClean="0">
                <a:latin typeface="Corbel"/>
                <a:cs typeface="Corbel"/>
              </a:rPr>
              <a:t> </a:t>
            </a:r>
            <a:r>
              <a:rPr lang="pt-BR" sz="2000" spc="-10" dirty="0" smtClean="0">
                <a:latin typeface="Corbel"/>
                <a:cs typeface="Corbel"/>
              </a:rPr>
              <a:t>restritos.</a:t>
            </a:r>
            <a:r>
              <a:rPr lang="pt-BR" sz="2000" dirty="0" smtClean="0">
                <a:latin typeface="Corbel"/>
                <a:cs typeface="Corbel"/>
              </a:rPr>
              <a:t> </a:t>
            </a:r>
            <a:r>
              <a:rPr lang="pt-BR" sz="2000" b="1" spc="-5" dirty="0" smtClean="0">
                <a:latin typeface="Corbel"/>
                <a:cs typeface="Corbel"/>
              </a:rPr>
              <a:t>Os </a:t>
            </a:r>
            <a:r>
              <a:rPr lang="pt-BR" sz="2000" b="1" spc="-10" dirty="0" smtClean="0">
                <a:latin typeface="Corbel"/>
                <a:cs typeface="Corbel"/>
              </a:rPr>
              <a:t>governantes eram </a:t>
            </a:r>
            <a:r>
              <a:rPr lang="pt-BR" sz="2000" b="1" spc="-5" dirty="0" smtClean="0">
                <a:latin typeface="Corbel"/>
                <a:cs typeface="Corbel"/>
              </a:rPr>
              <a:t>escolhidos por </a:t>
            </a:r>
            <a:r>
              <a:rPr lang="pt-BR" sz="2000" b="1" spc="-10" dirty="0" smtClean="0">
                <a:latin typeface="Corbel"/>
                <a:cs typeface="Corbel"/>
              </a:rPr>
              <a:t>pouquíssimas  </a:t>
            </a:r>
            <a:r>
              <a:rPr lang="pt-BR" sz="2000" b="1" spc="-5" dirty="0" smtClean="0">
                <a:latin typeface="Corbel"/>
                <a:cs typeface="Corbel"/>
              </a:rPr>
              <a:t>pessoas, </a:t>
            </a:r>
            <a:r>
              <a:rPr lang="pt-BR" sz="2000" b="1" dirty="0" smtClean="0">
                <a:latin typeface="Corbel"/>
                <a:cs typeface="Corbel"/>
              </a:rPr>
              <a:t>uma </a:t>
            </a:r>
            <a:r>
              <a:rPr lang="pt-BR" sz="2000" b="1" spc="-5" dirty="0" smtClean="0">
                <a:latin typeface="Corbel"/>
                <a:cs typeface="Corbel"/>
              </a:rPr>
              <a:t>minoria </a:t>
            </a:r>
            <a:r>
              <a:rPr lang="pt-BR" sz="2000" b="1" spc="-10" dirty="0" smtClean="0">
                <a:latin typeface="Corbel"/>
                <a:cs typeface="Corbel"/>
              </a:rPr>
              <a:t>que exercia </a:t>
            </a:r>
            <a:r>
              <a:rPr lang="pt-BR" sz="2000" b="1" dirty="0" smtClean="0">
                <a:latin typeface="Corbel"/>
                <a:cs typeface="Corbel"/>
              </a:rPr>
              <a:t>o </a:t>
            </a:r>
            <a:r>
              <a:rPr lang="pt-BR" sz="2000" b="1" spc="-10" dirty="0" smtClean="0">
                <a:latin typeface="Corbel"/>
                <a:cs typeface="Corbel"/>
              </a:rPr>
              <a:t>direito </a:t>
            </a:r>
            <a:r>
              <a:rPr lang="pt-BR" sz="2000" b="1" spc="-5" dirty="0" smtClean="0">
                <a:latin typeface="Corbel"/>
                <a:cs typeface="Corbel"/>
              </a:rPr>
              <a:t>de</a:t>
            </a:r>
            <a:r>
              <a:rPr lang="pt-BR" sz="2000" b="1" spc="-35" dirty="0" smtClean="0">
                <a:latin typeface="Corbel"/>
                <a:cs typeface="Corbel"/>
              </a:rPr>
              <a:t> </a:t>
            </a:r>
            <a:r>
              <a:rPr lang="pt-BR" sz="2000" b="1" spc="-10" dirty="0" smtClean="0">
                <a:latin typeface="Corbel"/>
                <a:cs typeface="Corbel"/>
              </a:rPr>
              <a:t>voto.</a:t>
            </a:r>
            <a:endParaRPr lang="pt-BR" sz="2000" b="1" dirty="0">
              <a:latin typeface="Corbel"/>
              <a:cs typeface="Corbe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97999" y="1438422"/>
            <a:ext cx="2736447" cy="2618349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97999" y="2286000"/>
            <a:ext cx="27364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</a:t>
            </a:r>
            <a:r>
              <a:rPr lang="en-US" sz="1600" b="1" dirty="0" err="1" smtClean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Civis</a:t>
            </a:r>
            <a:r>
              <a:rPr lang="en-US" sz="1600" b="1" dirty="0" smtClean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Políticos → Sociais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E254126B-6F90-47F9-B9B3-59D85C58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608" y="4331952"/>
            <a:ext cx="2927838" cy="2149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1" y="102404"/>
            <a:ext cx="7619413" cy="61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sequência invertida</a:t>
            </a:r>
            <a:endParaRPr lang="en-US" sz="3400" dirty="0">
              <a:solidFill>
                <a:srgbClr val="C00000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237392" y="580290"/>
            <a:ext cx="8176846" cy="609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O Brasil não repete o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modelo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de Marshall: </a:t>
            </a:r>
            <a:r>
              <a:rPr lang="en-US" b="1" dirty="0">
                <a:ea typeface="Calibri" pitchFamily="34" charset="-122"/>
                <a:cs typeface="Calibri" pitchFamily="34" charset="-120"/>
              </a:rPr>
              <a:t>as três dimensões de direitos nunca existiram plenamente ao </a:t>
            </a:r>
            <a:r>
              <a:rPr lang="en-US" b="1" dirty="0" err="1">
                <a:ea typeface="Calibri" pitchFamily="34" charset="-122"/>
                <a:cs typeface="Calibri" pitchFamily="34" charset="-120"/>
              </a:rPr>
              <a:t>mesmo</a:t>
            </a:r>
            <a:r>
              <a:rPr lang="en-US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smtClean="0">
                <a:ea typeface="Calibri" pitchFamily="34" charset="-122"/>
                <a:cs typeface="Calibri" pitchFamily="34" charset="-120"/>
              </a:rPr>
              <a:t>tempo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–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apenas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após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1988;</a:t>
            </a:r>
            <a:endParaRPr lang="en-US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 err="1" smtClean="0">
                <a:ea typeface="Calibri" pitchFamily="34" charset="-122"/>
                <a:cs typeface="Calibri" pitchFamily="34" charset="-120"/>
              </a:rPr>
              <a:t>Não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seria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possível haver direitos civis sem os políticos e sociais — mas não é possível o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inverso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;</a:t>
            </a:r>
            <a:endParaRPr lang="en-US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No caso brasileiro, os direitos sociais precederam os demais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: uma inversão em relação à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sequência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europeia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;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pt-BR" b="1" spc="-5" dirty="0" smtClean="0">
                <a:cs typeface="Corbel"/>
              </a:rPr>
              <a:t>Os </a:t>
            </a:r>
            <a:r>
              <a:rPr lang="pt-BR" b="1" spc="-10" dirty="0" smtClean="0">
                <a:cs typeface="Corbel"/>
              </a:rPr>
              <a:t>direitos </a:t>
            </a:r>
            <a:r>
              <a:rPr lang="pt-BR" b="1" spc="-5" dirty="0" smtClean="0">
                <a:cs typeface="Corbel"/>
              </a:rPr>
              <a:t>sociais </a:t>
            </a:r>
            <a:r>
              <a:rPr lang="pt-BR" b="1" spc="-10" dirty="0" smtClean="0">
                <a:cs typeface="Corbel"/>
              </a:rPr>
              <a:t>eram </a:t>
            </a:r>
            <a:r>
              <a:rPr lang="pt-BR" b="1" spc="-5" dirty="0" smtClean="0">
                <a:cs typeface="Corbel"/>
              </a:rPr>
              <a:t>quase </a:t>
            </a:r>
            <a:r>
              <a:rPr lang="pt-BR" b="1" spc="-10" dirty="0" smtClean="0">
                <a:cs typeface="Corbel"/>
              </a:rPr>
              <a:t>inexistentes durante </a:t>
            </a:r>
            <a:r>
              <a:rPr lang="pt-BR" b="1" dirty="0" smtClean="0">
                <a:cs typeface="Corbel"/>
              </a:rPr>
              <a:t>o </a:t>
            </a:r>
            <a:r>
              <a:rPr lang="pt-BR" b="1" spc="-10" dirty="0" smtClean="0">
                <a:cs typeface="Corbel"/>
              </a:rPr>
              <a:t>período Imperial</a:t>
            </a:r>
            <a:r>
              <a:rPr lang="pt-BR" spc="-10" dirty="0" smtClean="0">
                <a:cs typeface="Corbel"/>
              </a:rPr>
              <a:t> </a:t>
            </a:r>
            <a:r>
              <a:rPr lang="pt-BR" dirty="0" smtClean="0">
                <a:cs typeface="Corbel"/>
              </a:rPr>
              <a:t>e a </a:t>
            </a:r>
            <a:r>
              <a:rPr lang="pt-BR" spc="-5" dirty="0" smtClean="0">
                <a:cs typeface="Corbel"/>
              </a:rPr>
              <a:t>República Velha. </a:t>
            </a:r>
            <a:r>
              <a:rPr lang="pt-BR" dirty="0" smtClean="0">
                <a:cs typeface="Corbel"/>
              </a:rPr>
              <a:t>A </a:t>
            </a:r>
            <a:r>
              <a:rPr lang="pt-BR" spc="-5" dirty="0" smtClean="0">
                <a:cs typeface="Corbel"/>
              </a:rPr>
              <a:t>assistência  social </a:t>
            </a:r>
            <a:r>
              <a:rPr lang="pt-BR" spc="-10" dirty="0" smtClean="0">
                <a:cs typeface="Corbel"/>
              </a:rPr>
              <a:t>estava </a:t>
            </a:r>
            <a:r>
              <a:rPr lang="pt-BR" spc="-5" dirty="0" smtClean="0">
                <a:cs typeface="Corbel"/>
              </a:rPr>
              <a:t>nas mãos das </a:t>
            </a:r>
            <a:r>
              <a:rPr lang="pt-BR" spc="-10" dirty="0" smtClean="0">
                <a:cs typeface="Corbel"/>
              </a:rPr>
              <a:t>irmandades</a:t>
            </a:r>
            <a:r>
              <a:rPr lang="pt-BR" spc="5" dirty="0" smtClean="0">
                <a:cs typeface="Corbel"/>
              </a:rPr>
              <a:t> </a:t>
            </a:r>
            <a:r>
              <a:rPr lang="pt-BR" spc="-10" dirty="0" smtClean="0">
                <a:cs typeface="Corbel"/>
              </a:rPr>
              <a:t>religiosas</a:t>
            </a:r>
            <a:r>
              <a:rPr lang="pt-BR" dirty="0" smtClean="0">
                <a:cs typeface="Corbel"/>
              </a:rPr>
              <a:t> </a:t>
            </a:r>
            <a:r>
              <a:rPr lang="pt-BR" spc="-10" dirty="0" smtClean="0">
                <a:cs typeface="Corbel"/>
              </a:rPr>
              <a:t>ou </a:t>
            </a:r>
            <a:r>
              <a:rPr lang="pt-BR" spc="-5" dirty="0" smtClean="0">
                <a:cs typeface="Corbel"/>
              </a:rPr>
              <a:t>de </a:t>
            </a:r>
            <a:r>
              <a:rPr lang="pt-BR" spc="-10" dirty="0" smtClean="0">
                <a:cs typeface="Corbel"/>
              </a:rPr>
              <a:t>sociedades </a:t>
            </a:r>
            <a:r>
              <a:rPr lang="pt-BR" dirty="0" smtClean="0">
                <a:cs typeface="Corbel"/>
              </a:rPr>
              <a:t>de </a:t>
            </a:r>
            <a:r>
              <a:rPr lang="pt-BR" spc="-5" dirty="0" smtClean="0">
                <a:cs typeface="Corbel"/>
              </a:rPr>
              <a:t>auxílio mútuo </a:t>
            </a:r>
            <a:r>
              <a:rPr lang="pt-BR" spc="-10" dirty="0" smtClean="0">
                <a:cs typeface="Corbel"/>
              </a:rPr>
              <a:t>organizadas  por leigos. </a:t>
            </a:r>
            <a:r>
              <a:rPr lang="pt-BR" b="1" dirty="0" smtClean="0">
                <a:cs typeface="Corbel"/>
              </a:rPr>
              <a:t>O </a:t>
            </a:r>
            <a:r>
              <a:rPr lang="pt-BR" b="1" spc="-5" dirty="0" smtClean="0">
                <a:cs typeface="Corbel"/>
              </a:rPr>
              <a:t>Estado não se </a:t>
            </a:r>
            <a:r>
              <a:rPr lang="pt-BR" b="1" spc="-10" dirty="0" smtClean="0">
                <a:cs typeface="Corbel"/>
              </a:rPr>
              <a:t>envolvia</a:t>
            </a:r>
            <a:r>
              <a:rPr lang="pt-BR" b="1" spc="-45" dirty="0" smtClean="0">
                <a:cs typeface="Corbel"/>
              </a:rPr>
              <a:t> </a:t>
            </a:r>
            <a:r>
              <a:rPr lang="pt-BR" b="1" spc="-5" dirty="0" smtClean="0">
                <a:cs typeface="Corbel"/>
              </a:rPr>
              <a:t>nessa</a:t>
            </a:r>
            <a:r>
              <a:rPr lang="pt-BR" b="1" dirty="0" smtClean="0">
                <a:cs typeface="Corbel"/>
              </a:rPr>
              <a:t> </a:t>
            </a:r>
            <a:r>
              <a:rPr lang="pt-BR" b="1" spc="-10" dirty="0" smtClean="0">
                <a:cs typeface="Corbel"/>
              </a:rPr>
              <a:t>questão;</a:t>
            </a:r>
            <a:endParaRPr lang="en-US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 smtClean="0"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Abolição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(1888)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concedeu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o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mínimo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direitos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civis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sem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direitos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políticos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ou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sociais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à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população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negra</a:t>
            </a:r>
            <a:endParaRPr lang="en-US" dirty="0" smtClean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 smtClean="0"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Proclamação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da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República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(1889)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sem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Revoluçãonão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rompeu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práticas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oligárquicas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do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período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Imperial – </a:t>
            </a:r>
            <a:r>
              <a:rPr lang="en-US" b="1" dirty="0" err="1" smtClean="0">
                <a:ea typeface="Calibri" pitchFamily="34" charset="-122"/>
                <a:cs typeface="Calibri" pitchFamily="34" charset="-120"/>
              </a:rPr>
              <a:t>Cidadania</a:t>
            </a:r>
            <a:r>
              <a:rPr lang="en-US" b="1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 smtClean="0">
                <a:ea typeface="Calibri" pitchFamily="34" charset="-122"/>
                <a:cs typeface="Calibri" pitchFamily="34" charset="-120"/>
              </a:rPr>
              <a:t>Passiva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;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●"/>
            </a:pPr>
            <a:r>
              <a:rPr lang="en-US" dirty="0" err="1" smtClean="0">
                <a:ea typeface="Calibri" pitchFamily="34" charset="-122"/>
                <a:cs typeface="Calibri" pitchFamily="34" charset="-120"/>
              </a:rPr>
              <a:t>Essa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“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prioridade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” dos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direitos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sociais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veio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sobretudo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pelo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Estado (Era Vargas) —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não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por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conquista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da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ea typeface="Calibri" pitchFamily="34" charset="-122"/>
                <a:cs typeface="Calibri" pitchFamily="34" charset="-120"/>
              </a:rPr>
              <a:t>sociedade</a:t>
            </a:r>
            <a:r>
              <a:rPr lang="en-US" dirty="0" smtClean="0">
                <a:ea typeface="Calibri" pitchFamily="34" charset="-122"/>
                <a:cs typeface="Calibri" pitchFamily="34" charset="-120"/>
              </a:rPr>
              <a:t> civil – </a:t>
            </a:r>
            <a:r>
              <a:rPr lang="en-US" b="1" dirty="0" err="1" smtClean="0">
                <a:ea typeface="Calibri" pitchFamily="34" charset="-122"/>
                <a:cs typeface="Calibri" pitchFamily="34" charset="-120"/>
              </a:rPr>
              <a:t>Cidadania</a:t>
            </a:r>
            <a:r>
              <a:rPr lang="en-US" b="1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 smtClean="0">
                <a:ea typeface="Calibri" pitchFamily="34" charset="-122"/>
                <a:cs typeface="Calibri" pitchFamily="34" charset="-120"/>
              </a:rPr>
              <a:t>Regulada</a:t>
            </a:r>
            <a:r>
              <a:rPr lang="en-US" b="1" dirty="0" smtClean="0">
                <a:ea typeface="Calibri" pitchFamily="34" charset="-122"/>
                <a:cs typeface="Calibri" pitchFamily="34" charset="-120"/>
              </a:rPr>
              <a:t>. (</a:t>
            </a:r>
            <a:r>
              <a:rPr lang="en-US" b="1" dirty="0" err="1" smtClean="0">
                <a:ea typeface="Calibri" pitchFamily="34" charset="-122"/>
                <a:cs typeface="Calibri" pitchFamily="34" charset="-120"/>
              </a:rPr>
              <a:t>WanderLey</a:t>
            </a:r>
            <a:r>
              <a:rPr lang="en-US" b="1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 smtClean="0">
                <a:ea typeface="Calibri" pitchFamily="34" charset="-122"/>
                <a:cs typeface="Calibri" pitchFamily="34" charset="-120"/>
              </a:rPr>
              <a:t>Guilherme</a:t>
            </a:r>
            <a:r>
              <a:rPr lang="en-US" b="1" dirty="0" smtClean="0">
                <a:ea typeface="Calibri" pitchFamily="34" charset="-122"/>
                <a:cs typeface="Calibri" pitchFamily="34" charset="-120"/>
              </a:rPr>
              <a:t> dos Santos)</a:t>
            </a:r>
            <a:endParaRPr lang="en-US" b="1" dirty="0" smtClean="0"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dirty="0" smtClean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72500" y="3446584"/>
            <a:ext cx="3070555" cy="2771335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2500" y="3771900"/>
            <a:ext cx="3070555" cy="624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Sociais → Civis/Políticos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730762" y="4800600"/>
            <a:ext cx="26836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inversão brasileira, segundo Carvalho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B0B2F1D1-60A9-41CE-9D2A-5E296C887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762" y="716107"/>
            <a:ext cx="2772916" cy="2304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3238"/>
            <a:ext cx="11094415" cy="58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Da cidadania interrompida à pergunta pela nação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A tardia abolição da escravidão trouxe o desafio de integrar o negro à nova sociedade capitalista como </a:t>
            </a:r>
            <a:r>
              <a:rPr lang="en-US" sz="2200" dirty="0" err="1">
                <a:latin typeface="Calibri "/>
                <a:ea typeface="Calibri" pitchFamily="34" charset="-122"/>
                <a:cs typeface="Calibri" pitchFamily="34" charset="-120"/>
              </a:rPr>
              <a:t>trabalhador</a:t>
            </a: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 smtClean="0">
                <a:latin typeface="Calibri "/>
                <a:ea typeface="Calibri" pitchFamily="34" charset="-122"/>
                <a:cs typeface="Calibri" pitchFamily="34" charset="-120"/>
              </a:rPr>
              <a:t>assalariado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 – O </a:t>
            </a:r>
            <a:r>
              <a:rPr lang="en-US" sz="2200" dirty="0" err="1" smtClean="0">
                <a:latin typeface="Calibri "/>
                <a:ea typeface="Calibri" pitchFamily="34" charset="-122"/>
                <a:cs typeface="Calibri" pitchFamily="34" charset="-120"/>
              </a:rPr>
              <a:t>primado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2200" b="1" dirty="0" smtClean="0">
                <a:solidFill>
                  <a:srgbClr val="C00000"/>
                </a:solidFill>
                <a:latin typeface="Calibri "/>
                <a:ea typeface="Calibri" pitchFamily="34" charset="-122"/>
                <a:cs typeface="Calibri" pitchFamily="34" charset="-120"/>
              </a:rPr>
              <a:t>DIREITOS SOCIAIS</a:t>
            </a:r>
            <a:endParaRPr lang="en-US" sz="2200" b="1" dirty="0">
              <a:solidFill>
                <a:srgbClr val="C00000"/>
              </a:solidFill>
              <a:latin typeface="Calibri 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O fim do regime monárquico, sem participação popular, colocou à prova o próprio ideal de </a:t>
            </a:r>
            <a:r>
              <a:rPr lang="en-US" sz="2200" dirty="0" err="1" smtClean="0">
                <a:latin typeface="Calibri "/>
                <a:ea typeface="Calibri" pitchFamily="34" charset="-122"/>
                <a:cs typeface="Calibri" pitchFamily="34" charset="-120"/>
              </a:rPr>
              <a:t>República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b="1" dirty="0" smtClean="0">
                <a:solidFill>
                  <a:srgbClr val="C00000"/>
                </a:solidFill>
                <a:latin typeface="Calibri "/>
                <a:ea typeface="Calibri" pitchFamily="34" charset="-122"/>
                <a:cs typeface="Calibri" pitchFamily="34" charset="-120"/>
              </a:rPr>
              <a:t>CIDADANIA PASSIVA</a:t>
            </a:r>
            <a:endParaRPr lang="en-US" sz="2200" b="1" dirty="0">
              <a:solidFill>
                <a:srgbClr val="C00000"/>
              </a:solidFill>
              <a:latin typeface="Calibri 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Diante desses desafios, uma elite intelectual passou a se perguntar: quem somos como </a:t>
            </a:r>
            <a:r>
              <a:rPr lang="en-US" sz="2200" dirty="0" err="1">
                <a:latin typeface="Calibri "/>
                <a:ea typeface="Calibri" pitchFamily="34" charset="-122"/>
                <a:cs typeface="Calibri" pitchFamily="34" charset="-120"/>
              </a:rPr>
              <a:t>nação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? – O </a:t>
            </a:r>
            <a:r>
              <a:rPr lang="en-US" sz="2200" dirty="0" err="1" smtClean="0">
                <a:latin typeface="Calibri "/>
                <a:ea typeface="Calibri" pitchFamily="34" charset="-122"/>
                <a:cs typeface="Calibri" pitchFamily="34" charset="-120"/>
              </a:rPr>
              <a:t>tema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2200" b="1" dirty="0" smtClean="0">
                <a:solidFill>
                  <a:srgbClr val="C00000"/>
                </a:solidFill>
                <a:latin typeface="Calibri "/>
                <a:ea typeface="Calibri" pitchFamily="34" charset="-122"/>
                <a:cs typeface="Calibri" pitchFamily="34" charset="-120"/>
              </a:rPr>
              <a:t>DIREITOS SOCIAIS</a:t>
            </a:r>
            <a:endParaRPr lang="en-US" sz="2200" b="1" dirty="0">
              <a:solidFill>
                <a:srgbClr val="C00000"/>
              </a:solidFill>
              <a:latin typeface="Calibri 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É nesse solo histórico — de </a:t>
            </a:r>
            <a:r>
              <a:rPr lang="en-US" sz="2200" dirty="0" err="1">
                <a:latin typeface="Calibri 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 smtClean="0">
                <a:latin typeface="Calibri "/>
                <a:ea typeface="Calibri" pitchFamily="34" charset="-122"/>
                <a:cs typeface="Calibri" pitchFamily="34" charset="-120"/>
              </a:rPr>
              <a:t>Cidadania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 smtClean="0">
                <a:latin typeface="Calibri "/>
                <a:ea typeface="Calibri" pitchFamily="34" charset="-122"/>
                <a:cs typeface="Calibri" pitchFamily="34" charset="-120"/>
              </a:rPr>
              <a:t>Incompleta</a:t>
            </a:r>
            <a:r>
              <a:rPr lang="en-US" sz="2200" dirty="0" smtClean="0">
                <a:latin typeface="Calibri 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2200" dirty="0">
                <a:latin typeface="Calibri "/>
                <a:ea typeface="Calibri" pitchFamily="34" charset="-122"/>
                <a:cs typeface="Calibri" pitchFamily="34" charset="-120"/>
              </a:rPr>
              <a:t>que nasce a preocupação em interpretar o Brasil: </a:t>
            </a:r>
            <a:r>
              <a:rPr lang="en-US" sz="2200" b="1" dirty="0" smtClean="0">
                <a:solidFill>
                  <a:srgbClr val="C00000"/>
                </a:solidFill>
                <a:latin typeface="Calibri "/>
                <a:ea typeface="Calibri" pitchFamily="34" charset="-122"/>
                <a:cs typeface="Calibri" pitchFamily="34" charset="-120"/>
              </a:rPr>
              <a:t>O PENSAMENTO SOCIAL BRASILEIRO</a:t>
            </a:r>
            <a:endParaRPr lang="en-US" sz="2200" b="1" dirty="0">
              <a:solidFill>
                <a:srgbClr val="C00000"/>
              </a:solidFill>
              <a:latin typeface="Calibri 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INTERNACIONAL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1" y="731520"/>
            <a:ext cx="7434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Ciência e civilização no final do século XIX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39" y="2198077"/>
            <a:ext cx="743477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 "/>
                <a:ea typeface="Calibri" pitchFamily="34" charset="-122"/>
                <a:cs typeface="Calibri" pitchFamily="34" charset="-120"/>
              </a:rPr>
              <a:t>O capitalismo se consolida e os avanços técnico-científicos redesenham a </a:t>
            </a:r>
            <a:r>
              <a:rPr lang="en-US" sz="2000" dirty="0" err="1">
                <a:latin typeface="Calibri "/>
                <a:ea typeface="Calibri" pitchFamily="34" charset="-122"/>
                <a:cs typeface="Calibri" pitchFamily="34" charset="-120"/>
              </a:rPr>
              <a:t>ordem</a:t>
            </a:r>
            <a:r>
              <a:rPr lang="en-US" sz="2000" dirty="0">
                <a:latin typeface="Calibri 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latin typeface="Calibri "/>
                <a:ea typeface="Calibri" pitchFamily="34" charset="-122"/>
                <a:cs typeface="Calibri" pitchFamily="34" charset="-120"/>
              </a:rPr>
              <a:t>mundial</a:t>
            </a:r>
            <a:r>
              <a:rPr lang="en-US" sz="2000" dirty="0" smtClean="0">
                <a:latin typeface="Calibri 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>
              <a:latin typeface="Calibri "/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 "/>
                <a:ea typeface="Calibri" pitchFamily="34" charset="-122"/>
                <a:cs typeface="Calibri" pitchFamily="34" charset="-120"/>
              </a:rPr>
              <a:t>A elite brasileira busca inserir o país nessa nova organização mundial das relações de </a:t>
            </a:r>
            <a:r>
              <a:rPr lang="en-US" sz="2000" dirty="0" err="1" smtClean="0">
                <a:latin typeface="Calibri "/>
                <a:ea typeface="Calibri" pitchFamily="34" charset="-122"/>
                <a:cs typeface="Calibri" pitchFamily="34" charset="-120"/>
              </a:rPr>
              <a:t>produção</a:t>
            </a:r>
            <a:r>
              <a:rPr lang="en-US" sz="2000" dirty="0" smtClean="0">
                <a:latin typeface="Calibri 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>
              <a:latin typeface="Calibri "/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 "/>
                <a:ea typeface="Calibri" pitchFamily="34" charset="-122"/>
                <a:cs typeface="Calibri" pitchFamily="34" charset="-120"/>
              </a:rPr>
              <a:t>Teorias então prestigiadas no cenário científico internacional: positivismo, evolucionismo, darwinismo social e </a:t>
            </a:r>
            <a:r>
              <a:rPr lang="en-US" sz="2000" dirty="0" err="1">
                <a:latin typeface="Calibri "/>
                <a:ea typeface="Calibri" pitchFamily="34" charset="-122"/>
                <a:cs typeface="Calibri" pitchFamily="34" charset="-120"/>
              </a:rPr>
              <a:t>determinismo</a:t>
            </a:r>
            <a:r>
              <a:rPr lang="en-US" sz="2000" dirty="0">
                <a:latin typeface="Calibri 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latin typeface="Calibri "/>
                <a:ea typeface="Calibri" pitchFamily="34" charset="-122"/>
                <a:cs typeface="Calibri" pitchFamily="34" charset="-120"/>
              </a:rPr>
              <a:t>biológico</a:t>
            </a:r>
            <a:r>
              <a:rPr lang="en-US" sz="2000" dirty="0" smtClean="0">
                <a:latin typeface="Calibri 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>
              <a:latin typeface="Calibri "/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 "/>
                <a:ea typeface="Calibri" pitchFamily="34" charset="-122"/>
                <a:cs typeface="Calibri" pitchFamily="34" charset="-120"/>
              </a:rPr>
              <a:t>Essas correntes influenciaram fortemente o modo como se discutia a questão racial no </a:t>
            </a:r>
            <a:r>
              <a:rPr lang="en-US" sz="2000" dirty="0" err="1" smtClean="0">
                <a:latin typeface="Calibri 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2000" dirty="0" smtClean="0">
                <a:latin typeface="Calibri "/>
                <a:ea typeface="Calibri" pitchFamily="34" charset="-122"/>
                <a:cs typeface="Calibri" pitchFamily="34" charset="-120"/>
              </a:rPr>
              <a:t>;</a:t>
            </a:r>
            <a:endParaRPr lang="en-US" sz="2000" dirty="0">
              <a:latin typeface="Calibri 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31823" y="4035668"/>
            <a:ext cx="3211232" cy="2182251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 flipV="1">
            <a:off x="8915399" y="4369777"/>
            <a:ext cx="2333760" cy="281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34046" y="4914900"/>
            <a:ext cx="278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Positivismo · Evolucionismo · Darwinismo social · Determinismo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9634" name="Picture 2" descr="https://blogger.googleusercontent.com/img/b/R29vZ2xl/AVvXsEhWYzl8d2b5Lqx054gcY_2vjGNyz6Xz2jzTnIhyphenhyphen3WkJM1wl2eti9D0_jmzC1aF33D-S30BHtiLMqgwxPlYen5i3QUOkiufCoFvlWoXJV2oum0pbsUBsIcyrf4MYjDcfcGZe-nOp8udKP0tA/s280/herbert+spencer+augusto+comte+Natalia+Peixoto+Bravo+de+Souza+A+milit%25C3%25A2ncia+em+torno+da+glorifica%25C3%25A7%25C3%25A3o+de+Euclides+da+Cunha+um+projeto+pol%25C3%25ADtico-ideol%25C3%25B3gic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31823" y="1645919"/>
            <a:ext cx="3228376" cy="20292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FUNDO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468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Duas questões centrais para os primeiros intelectuais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39" y="2031022"/>
            <a:ext cx="7487529" cy="418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1) Como construir uma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identidade nacional 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que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rompesse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 definitivamente os laços com a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política </a:t>
            </a:r>
            <a:r>
              <a:rPr lang="en-US" sz="2200" b="1" dirty="0" err="1">
                <a:ea typeface="Calibri" pitchFamily="34" charset="-122"/>
                <a:cs typeface="Calibri" pitchFamily="34" charset="-120"/>
              </a:rPr>
              <a:t>portuguesa</a:t>
            </a:r>
            <a:r>
              <a:rPr lang="en-US" sz="2200" dirty="0" smtClean="0">
                <a:ea typeface="Calibri" pitchFamily="34" charset="-122"/>
                <a:cs typeface="Calibri" pitchFamily="34" charset="-120"/>
              </a:rPr>
              <a:t>?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</a:pP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2) Como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entender — e ao mesmo tempo criar 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a formação social 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dessa nova nação,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marcada pela miscigenação e </a:t>
            </a:r>
            <a:r>
              <a:rPr lang="en-US" sz="2200" b="1" dirty="0" err="1">
                <a:ea typeface="Calibri" pitchFamily="34" charset="-122"/>
                <a:cs typeface="Calibri" pitchFamily="34" charset="-120"/>
              </a:rPr>
              <a:t>pela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 smtClean="0">
                <a:ea typeface="Calibri" pitchFamily="34" charset="-122"/>
                <a:cs typeface="Calibri" pitchFamily="34" charset="-120"/>
              </a:rPr>
              <a:t>escravidão</a:t>
            </a:r>
            <a:r>
              <a:rPr lang="en-US" sz="2200" b="1" dirty="0" smtClean="0">
                <a:ea typeface="Calibri" pitchFamily="34" charset="-122"/>
                <a:cs typeface="Calibri" pitchFamily="34" charset="-120"/>
              </a:rPr>
              <a:t>?</a:t>
            </a: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endParaRPr lang="en-US" sz="2200" dirty="0" smtClean="0"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 err="1" smtClean="0">
                <a:ea typeface="Calibri" pitchFamily="34" charset="-122"/>
                <a:cs typeface="Calibri" pitchFamily="34" charset="-120"/>
              </a:rPr>
              <a:t>Essas</a:t>
            </a:r>
            <a:r>
              <a:rPr lang="en-US" sz="2200" dirty="0" smtClean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duas perguntas orientaram gerações de pensadores,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mesmo antes de a Sociologia se consolidar como ciência no país</a:t>
            </a:r>
            <a:endParaRPr lang="en-US" sz="2200" b="1" dirty="0"/>
          </a:p>
        </p:txBody>
      </p:sp>
      <p:sp>
        <p:nvSpPr>
          <p:cNvPr id="5" name="Shape 3"/>
          <p:cNvSpPr/>
          <p:nvPr/>
        </p:nvSpPr>
        <p:spPr>
          <a:xfrm>
            <a:off x="8317523" y="3508130"/>
            <a:ext cx="3325532" cy="2709789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01100" y="3771900"/>
            <a:ext cx="2659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51631" y="4844562"/>
            <a:ext cx="2762824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nacional  ·  Formação social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7586" name="Picture 2" descr="https://sme.goiania.go.gov.br/conexaoescola/wp-content/uploads/2022/09/Hibridismo-Cultural-1-e166353766831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51631" y="298939"/>
            <a:ext cx="3332122" cy="24794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ERAM ESSES INTÉRPRETES?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Os primeiros “pensadores sociais” do Brasil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828606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Até a década de 1930,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o Brasil não possuía cursos 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superiores de </a:t>
            </a:r>
            <a:r>
              <a:rPr lang="en-US" sz="2200" b="1" dirty="0" err="1">
                <a:ea typeface="Calibri" pitchFamily="34" charset="-122"/>
                <a:cs typeface="Calibri" pitchFamily="34" charset="-120"/>
              </a:rPr>
              <a:t>Ciências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 smtClean="0">
                <a:ea typeface="Calibri" pitchFamily="34" charset="-122"/>
                <a:cs typeface="Calibri" pitchFamily="34" charset="-120"/>
              </a:rPr>
              <a:t>Sociais</a:t>
            </a:r>
            <a:r>
              <a:rPr lang="en-US" sz="2200" b="1" dirty="0" smtClean="0">
                <a:ea typeface="Calibri" pitchFamily="34" charset="-122"/>
                <a:cs typeface="Calibri" pitchFamily="34" charset="-120"/>
              </a:rPr>
              <a:t>;</a:t>
            </a:r>
            <a:endParaRPr lang="en-US" sz="2200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Os chamados “pensadores sociais brasileiros” eram,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em sua maioria, médicos, advogados, jornalistas, engenheiros e </a:t>
            </a:r>
            <a:r>
              <a:rPr lang="en-US" sz="2200" b="1" dirty="0" err="1" smtClean="0">
                <a:ea typeface="Calibri" pitchFamily="34" charset="-122"/>
                <a:cs typeface="Calibri" pitchFamily="34" charset="-120"/>
              </a:rPr>
              <a:t>políticos</a:t>
            </a:r>
            <a:r>
              <a:rPr lang="en-US" sz="2200" dirty="0" smtClean="0">
                <a:ea typeface="Calibri" pitchFamily="34" charset="-122"/>
                <a:cs typeface="Calibri" pitchFamily="34" charset="-120"/>
              </a:rPr>
              <a:t>;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b="1" dirty="0">
                <a:ea typeface="Calibri" pitchFamily="34" charset="-122"/>
                <a:cs typeface="Calibri" pitchFamily="34" charset="-120"/>
              </a:rPr>
              <a:t>A ciência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, nesse contexto, era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vista como uma espécie de “missão”, atrelada às necessidades do </a:t>
            </a:r>
            <a:r>
              <a:rPr lang="en-US" sz="2200" b="1" dirty="0" smtClean="0">
                <a:ea typeface="Calibri" pitchFamily="34" charset="-122"/>
                <a:cs typeface="Calibri" pitchFamily="34" charset="-120"/>
              </a:rPr>
              <a:t>Estado;</a:t>
            </a:r>
            <a:endParaRPr lang="en-US" sz="2200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Embora suas teses não sejam hoje consideradas cientificamente válidas,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ajudam a compreender a persistência de posturas racistas na </a:t>
            </a:r>
            <a:r>
              <a:rPr lang="en-US" sz="2200" b="1" dirty="0" err="1">
                <a:ea typeface="Calibri" pitchFamily="34" charset="-122"/>
                <a:cs typeface="Calibri" pitchFamily="34" charset="-120"/>
              </a:rPr>
              <a:t>sociedade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 smtClean="0">
                <a:ea typeface="Calibri" pitchFamily="34" charset="-122"/>
                <a:cs typeface="Calibri" pitchFamily="34" charset="-120"/>
              </a:rPr>
              <a:t>atual</a:t>
            </a:r>
            <a:r>
              <a:rPr lang="en-US" sz="2200" dirty="0" smtClean="0"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A7BE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7E8D1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 smtClean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Sociologia Pré-Científica no Brasil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Interpretações sobre a nação entre o final do século XIX e a década de 1930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1" y="731520"/>
            <a:ext cx="6537960" cy="68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aula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37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Situar o período da sociologia pré-científica brasileira (final do séc. XIX até 1930)</a:t>
            </a:r>
            <a:endParaRPr lang="en-US" sz="24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Compreender a centralidade das teorias raciais e deterministas nesse momento</a:t>
            </a:r>
            <a:endParaRPr lang="en-US" sz="24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FontTx/>
              <a:buChar char="●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Conhecer os principais pensadores e suas diferentes posições sobre a </a:t>
            </a:r>
            <a:r>
              <a:rPr lang="en-US" sz="2400" dirty="0" err="1" smtClean="0">
                <a:ea typeface="Calibri" pitchFamily="34" charset="-122"/>
                <a:cs typeface="Calibri" pitchFamily="34" charset="-120"/>
              </a:rPr>
              <a:t>miscigenação</a:t>
            </a:r>
            <a:endParaRPr lang="en-US" sz="24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ea typeface="Calibri" pitchFamily="34" charset="-122"/>
                <a:cs typeface="Calibri" pitchFamily="34" charset="-120"/>
              </a:rPr>
              <a:t>Refletir sobre a persistência dessas ideias no senso comum contemporâneo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autores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Cunha · Romero · Torres · Nina Rodrigues · Oliveira Vianna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9396" name="AutoShape 4" descr="Imagem gerada com 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9398" name="AutoShape 6" descr="Imagem gerada com 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9400" name="Picture 8" descr="C:\Users\profw\Downloads\image_94b9543c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6640" y="1874520"/>
            <a:ext cx="4366260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</a:t>
            </a:r>
            <a:r>
              <a:rPr lang="en-US" sz="3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…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Até a década de 1930, quem refletia sobre a sociedade brasileira </a:t>
            </a:r>
            <a:r>
              <a:rPr lang="en-US" sz="2000" b="1" dirty="0">
                <a:ea typeface="Calibri" pitchFamily="34" charset="-122"/>
                <a:cs typeface="Calibri" pitchFamily="34" charset="-120"/>
              </a:rPr>
              <a:t>não tinha, obrigatoriamente, formação em </a:t>
            </a:r>
            <a:r>
              <a:rPr lang="en-US" sz="2000" b="1" dirty="0" err="1">
                <a:ea typeface="Calibri" pitchFamily="34" charset="-122"/>
                <a:cs typeface="Calibri" pitchFamily="34" charset="-120"/>
              </a:rPr>
              <a:t>Ciências</a:t>
            </a:r>
            <a:r>
              <a:rPr lang="en-US" sz="2000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ea typeface="Calibri" pitchFamily="34" charset="-122"/>
                <a:cs typeface="Calibri" pitchFamily="34" charset="-120"/>
              </a:rPr>
              <a:t>Sociais</a:t>
            </a:r>
            <a:r>
              <a:rPr lang="en-US" sz="2000" b="1" dirty="0" smtClean="0">
                <a:ea typeface="Calibri" pitchFamily="34" charset="-122"/>
                <a:cs typeface="Calibri" pitchFamily="34" charset="-120"/>
              </a:rPr>
              <a:t>.</a:t>
            </a:r>
            <a:endParaRPr lang="en-US" sz="2000" b="1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Os “pensadores sociais brasileiros” eram, em sua maioria, </a:t>
            </a:r>
            <a:r>
              <a:rPr lang="en-US" sz="2000" b="1" dirty="0">
                <a:ea typeface="Calibri" pitchFamily="34" charset="-122"/>
                <a:cs typeface="Calibri" pitchFamily="34" charset="-120"/>
              </a:rPr>
              <a:t>médicos, advogados, jornalistas, engenheiros e </a:t>
            </a:r>
            <a:r>
              <a:rPr lang="en-US" sz="2000" b="1" dirty="0" err="1" smtClean="0">
                <a:ea typeface="Calibri" pitchFamily="34" charset="-122"/>
                <a:cs typeface="Calibri" pitchFamily="34" charset="-120"/>
              </a:rPr>
              <a:t>políticos</a:t>
            </a:r>
            <a:r>
              <a:rPr lang="en-US" sz="2000" dirty="0" smtClean="0">
                <a:ea typeface="Calibri" pitchFamily="34" charset="-122"/>
                <a:cs typeface="Calibri" pitchFamily="34" charset="-120"/>
              </a:rPr>
              <a:t>;</a:t>
            </a:r>
            <a:endParaRPr lang="en-US" sz="20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ea typeface="Calibri" pitchFamily="34" charset="-122"/>
                <a:cs typeface="Calibri" pitchFamily="34" charset="-120"/>
              </a:rPr>
              <a:t>Evolucionismo social, darwinismo social e determinismo biológico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e social eram teorias amplamente aceitas pela comunidade científica e </a:t>
            </a:r>
            <a:r>
              <a:rPr lang="en-US" sz="2000" dirty="0" err="1">
                <a:ea typeface="Calibri" pitchFamily="34" charset="-122"/>
                <a:cs typeface="Calibri" pitchFamily="34" charset="-120"/>
              </a:rPr>
              <a:t>pela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ea typeface="Calibri" pitchFamily="34" charset="-122"/>
                <a:cs typeface="Calibri" pitchFamily="34" charset="-120"/>
              </a:rPr>
              <a:t>população</a:t>
            </a:r>
            <a:r>
              <a:rPr lang="en-US" sz="2000" dirty="0" smtClean="0">
                <a:ea typeface="Calibri" pitchFamily="34" charset="-122"/>
                <a:cs typeface="Calibri" pitchFamily="34" charset="-120"/>
              </a:rPr>
              <a:t>;</a:t>
            </a:r>
            <a:endParaRPr lang="en-US" sz="20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ea typeface="Calibri" pitchFamily="34" charset="-122"/>
                <a:cs typeface="Calibri" pitchFamily="34" charset="-120"/>
              </a:rPr>
              <a:t>A miscigenação era vista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, nessas concepções, </a:t>
            </a:r>
            <a:r>
              <a:rPr lang="en-US" sz="2000" b="1" dirty="0">
                <a:ea typeface="Calibri" pitchFamily="34" charset="-122"/>
                <a:cs typeface="Calibri" pitchFamily="34" charset="-120"/>
              </a:rPr>
              <a:t>como um “atraso”: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a raça negra, tida como “inferior”, “contaminaria” a </a:t>
            </a:r>
            <a:r>
              <a:rPr lang="en-US" sz="2000" dirty="0" err="1">
                <a:ea typeface="Calibri" pitchFamily="34" charset="-122"/>
                <a:cs typeface="Calibri" pitchFamily="34" charset="-120"/>
              </a:rPr>
              <a:t>raça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ea typeface="Calibri" pitchFamily="34" charset="-122"/>
                <a:cs typeface="Calibri" pitchFamily="34" charset="-120"/>
              </a:rPr>
              <a:t>branca</a:t>
            </a:r>
            <a:r>
              <a:rPr lang="en-US" sz="2000" dirty="0" smtClean="0">
                <a:ea typeface="Calibri" pitchFamily="34" charset="-122"/>
                <a:cs typeface="Calibri" pitchFamily="34" charset="-120"/>
              </a:rPr>
              <a:t>;</a:t>
            </a:r>
            <a:endParaRPr lang="en-US" sz="20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Essa visão orientou políticas de </a:t>
            </a:r>
            <a:r>
              <a:rPr lang="en-US" sz="2000" b="1" dirty="0">
                <a:ea typeface="Calibri" pitchFamily="34" charset="-122"/>
                <a:cs typeface="Calibri" pitchFamily="34" charset="-120"/>
              </a:rPr>
              <a:t>incentivo à imigração europeia, buscando o “branqueamento”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ea typeface="Calibri" pitchFamily="34" charset="-122"/>
                <a:cs typeface="Calibri" pitchFamily="34" charset="-120"/>
              </a:rPr>
              <a:t>da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ea typeface="Calibri" pitchFamily="34" charset="-122"/>
                <a:cs typeface="Calibri" pitchFamily="34" charset="-120"/>
              </a:rPr>
              <a:t>população</a:t>
            </a:r>
            <a:r>
              <a:rPr lang="en-US" sz="2000" dirty="0" smtClean="0"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756381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Euclides da Cunha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1866–1909  ·  Engenheiro, jornalista e escritor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26677" y="1828800"/>
            <a:ext cx="9014155" cy="427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Autor de Os Sertões (1902), obra nascida da cobertura da Guerra de Canudos (1896) para o jornal O Estado de S. Paulo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Influenciado pelo evolucionismo de Herbert Spencer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: a História seguiria uma progressão linear, do menos ao mais desenvolvido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Retrata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o contraste entre dois Brasis: o moderno e o atrasado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, o litoral próspero e o sertão pobre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Sua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experiência em Canudos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o levou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a rever sua posição: de “atraso”, a miscigenação passa a ser um traço que o país não deveria negar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Defendia que o Brasil deveria trilhar seu próprio caminho evolutivo, em vez de tentar copiar os europeus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5298" name="AutoShape 2" descr="Imagem gerada com 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5300" name="AutoShape 4" descr="Imagem gerada com 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" name="Picture 6" descr="https://files.cercomp.ufg.br/weby/up/473/o/euclides-da-cunh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375" y="756381"/>
            <a:ext cx="1766940" cy="248973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92340" y="45720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85285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Sílvio Romero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1851–1914  ·  Político, jornalista, historiador e crítico literário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10944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Autor dos cinco volumes de História da Literatura Brasileira, sua principal obra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Para Romero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, a miscigenação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é, antes de tudo, um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dado concreto e inegável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da realidade brasileira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Não existiria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uma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raça específica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que determinasse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a nação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todo brasileiro seria mestiço — no sangue ou na cultura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Partilhava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, como seus contemporâneos,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a crença na superioridade branca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e via a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imigração europeia como positiva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Seu interesse central estava no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mestiço, tomado como o verdadeiro representante da identidade brasileira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53250" name="Picture 2" descr="https://andt.org.br/wp-content/uploads/2021/04/SILVIO-VASCONCELOS-DA-SILVEIRA-RAMOS-ROMER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12048" y="266846"/>
            <a:ext cx="1955301" cy="26667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84406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Alberto</a:t>
            </a:r>
            <a:r>
              <a:rPr lang="en-US" sz="22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Torres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1865–1917  ·  Jornalista, político e bacharel em Direito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944" y="3246120"/>
            <a:ext cx="1142811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Influenciado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sobretudo pelo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positivismo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Obras centrais: A organização nacional (1914) e O problema nacional brasileiro (1914)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Preocupava-se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em tornar o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Brasil autônomo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diante do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imperialismo internacional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Defendia a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diminuição das distâncias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entre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o regional e o nacional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Propunha um Estado forte e racional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, capaz de promover mudanças e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corrigir as desordens herdadas da colonização escravocrata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51202" name="Picture 2" descr="https://upload.wikimedia.org/wikipedia/commons/4/42/Alberto_torres.jpg?utm_source=pt.wikipedia.org&amp;utm_campaign=index&amp;utm_content=origina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943" y="731520"/>
            <a:ext cx="1893453" cy="22959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 · O TOM MAIS RADICAL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271455" y="41148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618349" y="914400"/>
            <a:ext cx="49782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Raimundo Nina Rodrigues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618350" y="1925515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1862–1906  ·  Médico e antropólogo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109441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Um dos primeiros antropólogos a estudar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cientificamente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os povos negros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residentes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no Brasil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Defendia a existência de diferenças insuperáveis entre as raças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, hierarquizando negros e indígenas como inferiores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Cunhou a ideia de “crime relativo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”: raças “inferiores” exigiriam códigos penais distintos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Postura marcada pelo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pessimismo: a miscigenação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 brasileira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condenaria o país ao fracasso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como nação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Obras: As raças e a responsabilidade penal do Brasil (1894) e Mestiçagem, degenerescência e crime (1899)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49154" name="Picture 2" descr="https://upload.wikimedia.org/wikipedia/commons/1/1c/Nina_02.jpg?utm_source=pt.wikipedia.org&amp;utm_campaign=index&amp;utm_content=origina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38408" y="98070"/>
            <a:ext cx="2327495" cy="30231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67041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37856" y="1097280"/>
            <a:ext cx="4538589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Oliveira Vianna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37856" y="1627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1883–1951  ·  Jurista e político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1" y="2084832"/>
            <a:ext cx="849337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Obra principal: Populações meridionais do Brasil (1920)</a:t>
            </a:r>
            <a:endParaRPr lang="en-US" sz="22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Compartilhava com Nina Rodrigues a ideia de hierarquia entre “raças </a:t>
            </a:r>
            <a:r>
              <a:rPr lang="en-US" sz="22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superiores” (europeias) e “inferiores” (negra e indígena)</a:t>
            </a:r>
            <a:endParaRPr lang="en-US" sz="22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Via </a:t>
            </a:r>
            <a:r>
              <a:rPr lang="en-US" sz="22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a miscigenação como algo negativo, </a:t>
            </a:r>
            <a:r>
              <a:rPr lang="en-US" sz="22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mas defendia que a “superioridade branca” sempre prevaleceria </a:t>
            </a:r>
            <a:r>
              <a:rPr lang="en-US" sz="22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22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daí seu apoio à imigração europeia</a:t>
            </a:r>
            <a:endParaRPr lang="en-US" sz="22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Analisava a oposição entre o Brasil “real” (marcado pelo “insolidarismo”) e o Brasil “legal” (das instituições formais)</a:t>
            </a:r>
            <a:endParaRPr lang="en-US" sz="22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Defendia um Estado forte</a:t>
            </a:r>
            <a:r>
              <a:rPr lang="en-US" sz="22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, já que o país </a:t>
            </a:r>
            <a:r>
              <a:rPr lang="en-US" sz="22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careceria de um “povo” capaz de sustentar um governo liberal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47106" name="Picture 2" descr="https://thumb.wikimedia.org/wikipedia/commons/thumb/9/9b/Oliveria_Viana%2C_Fundo_Correio_da_Manh%C3%A3.tif/lossy-page1-960px-Oliveria_Viana%2C_Fundo_Correio_da_Manh%C3%A3.tif.jpg?utm_source=pt.wikipedia.org&amp;utm_campaign=index&amp;utm_content=thumbnai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34379" y="195838"/>
            <a:ext cx="2199448" cy="318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COMPARATIVA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Convergências e divergências sobre a miscigenação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4389120"/>
          </a:xfrm>
          <a:prstGeom prst="roundRect">
            <a:avLst>
              <a:gd name="adj" fmla="val 2624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pela mestiçagem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02757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Euclides da Cunha, Sílvio Romero e Alberto Torres</a:t>
            </a:r>
            <a:endParaRPr lang="en-US" sz="16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Reconhecem a miscigenação como um dado real da identidade brasileira</a:t>
            </a:r>
            <a:endParaRPr lang="en-US" sz="16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Defendem uma produção intelectual própria, em vez de importar ideias europeias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3458" y="1828800"/>
            <a:ext cx="3484778" cy="4389120"/>
          </a:xfrm>
          <a:prstGeom prst="roundRect">
            <a:avLst>
              <a:gd name="adj" fmla="val 2624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82058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Radicalismo racial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697480"/>
            <a:ext cx="302757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Raimundo Nina Rodrigues</a:t>
            </a:r>
            <a:endParaRPr lang="en-US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insuperável entre as raças</a:t>
            </a:r>
            <a:endParaRPr lang="en-US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Pessimismo quanto ao futuro de uma nação mestiça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158277" y="1828800"/>
            <a:ext cx="3484778" cy="4389120"/>
          </a:xfrm>
          <a:prstGeom prst="roundRect">
            <a:avLst>
              <a:gd name="adj" fmla="val 2624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6877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Branqueamento gradual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2697480"/>
            <a:ext cx="302757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Vianna</a:t>
            </a:r>
            <a:endParaRPr lang="en-US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Miscigenação vista como negativa, porém “corrigível”</a:t>
            </a:r>
            <a:endParaRPr lang="en-US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 na imigração europeia para “branquear” a população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· Unidade 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4114800"/>
            <a:ext cx="4114800" cy="4114800"/>
          </a:xfrm>
          <a:prstGeom prst="ellipse">
            <a:avLst/>
          </a:prstGeom>
          <a:solidFill>
            <a:srgbClr val="A7BEAE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AINDA IMPORTA?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legado que persiste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09351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teorias hoje não são consideradas cientificamente válidas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assim, alguns de seus fundamentos permanecem no senso comum, como a persistência de posturas racistas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esse contexto evita anacronismos e ajuda a identificar a permanência dessas ideias na sociedade atual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a partir de 1930, a Sociologia se consolida como disciplina científica — Gilberto Freyre e Sérgio Buarque de Holanda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0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A7BE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7E8D1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23134" y="43030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 smtClean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23134" y="968188"/>
            <a:ext cx="11094415" cy="9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48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</a:t>
            </a:r>
            <a:r>
              <a:rPr lang="en-US" sz="4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1930 I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23134" y="1934583"/>
            <a:ext cx="105586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Gilberto Freyre e Sérgio Buarque de </a:t>
            </a:r>
            <a:r>
              <a:rPr lang="en-US" sz="24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Holanda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31520"/>
            <a:ext cx="11094415" cy="68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aula</a:t>
            </a:r>
            <a:endParaRPr lang="en-US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37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processo de institucionalização da Sociologia no Brasil a partir de 1930</a:t>
            </a:r>
            <a:endParaRPr lang="en-US" sz="20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a virada culturalista de Gilberto Freyre e o conceito de democracia racial</a:t>
            </a:r>
            <a:endParaRPr lang="en-US" sz="20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“homem cordial” e a análise do patrimonialismo em Sérgio Buarque de Holanda</a:t>
            </a:r>
            <a:endParaRPr lang="en-US" sz="20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as duas interpretações sobre a herança colonial portuguesa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ano-chave da institucionalização da Sociologia no Brasil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1930: uma nova fase para a Sociologia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década de 1930 marca o estabelecimento e a 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da Sociologia como área científica </a:t>
            </a:r>
            <a:r>
              <a:rPr lang="en-US" sz="2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Inauguram-se os 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cursos superiores </a:t>
            </a:r>
            <a:r>
              <a:rPr lang="en-US" sz="2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Sociologia, com 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intenso intercâmbio com nomes do cenário estrangeiro</a:t>
            </a:r>
            <a:endParaRPr lang="en-US" sz="24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de pesquisa tornam-se mais sofisticados</a:t>
            </a:r>
            <a:r>
              <a:rPr lang="en-US" sz="2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abrindo espaço para novas interpretações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questões nacionais continuam girando em torno da identidade nacional e da herança colonial </a:t>
            </a:r>
            <a:r>
              <a:rPr lang="en-US" sz="2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escravista — mas agora com outro instrumental </a:t>
            </a:r>
            <a:r>
              <a:rPr lang="en-US" sz="2400" dirty="0" err="1" smtClean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1930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097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Gilberto Freyre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38975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1900–1978  ·  Sociólogo e antropólogo pernambucano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109441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Aluno do antropólogo Franz Boas;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influenciado pela escola </a:t>
            </a:r>
            <a:r>
              <a:rPr lang="en-US" sz="2000" b="1" dirty="0" err="1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culturalista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norte-americana</a:t>
            </a:r>
            <a:r>
              <a:rPr lang="en-US" sz="2000" dirty="0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e </a:t>
            </a:r>
            <a:r>
              <a:rPr lang="en-US" sz="2000" b="1" dirty="0" err="1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2000" b="1" dirty="0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funcionalismo</a:t>
            </a:r>
            <a:r>
              <a:rPr lang="en-US" sz="2000" b="1" dirty="0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francês</a:t>
            </a:r>
            <a:r>
              <a:rPr lang="en-US" sz="2000" b="1" dirty="0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b="1" dirty="0" err="1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Émile</a:t>
            </a:r>
            <a:r>
              <a:rPr lang="en-US" sz="2000" b="1" dirty="0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 Durkheim</a:t>
            </a:r>
            <a:endParaRPr lang="en-US" sz="2000" b="1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Propôs substituir a noção de raça pela de cultura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como chave de interpretação do Brasil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Obra máxima: Casa-Grande &amp; Senzala (1933);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também Sobrados e Mucambos (1936) e Interpretações do Brasil (1945)</a:t>
            </a:r>
            <a:endParaRPr lang="en-US" sz="20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Formação social dispersa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em núcleos autossuficientes — as grandes fazendas —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centrados na família patriarcal</a:t>
            </a:r>
            <a:endParaRPr lang="en-US" sz="2000" b="1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Para Freyre,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a colonização portuguesa foi mais “branda”, permitindo maior aproximação entre as raças</a:t>
            </a:r>
            <a:endParaRPr lang="en-US" sz="2000" b="1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10" name="Espaço Reservado para Conteúdo 2">
            <a:extLst>
              <a:ext uri="{FF2B5EF4-FFF2-40B4-BE49-F238E27FC236}">
                <a16:creationId xmlns="" xmlns:a16="http://schemas.microsoft.com/office/drawing/2014/main" id="{56F63EC6-7F31-4F07-AD73-32164A92DF0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10769" y="625143"/>
            <a:ext cx="3462905" cy="23466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CASA-GRANDE &amp; SENZALA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268222" cy="61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32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Democracia</a:t>
            </a:r>
            <a:r>
              <a:rPr lang="en-US" sz="3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Racial</a:t>
            </a:r>
            <a:endParaRPr lang="en-US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45222"/>
            <a:ext cx="11094415" cy="521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Freyre defendia que 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miscigenação diminuiu a distância social entre senhores e escravizados</a:t>
            </a: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gerando uma espécie de 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harmonia entre as </a:t>
            </a:r>
            <a:r>
              <a:rPr lang="en-US" sz="21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raças</a:t>
            </a:r>
            <a:r>
              <a:rPr lang="en-US" sz="21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FontTx/>
              <a:buChar char="●"/>
            </a:pPr>
            <a:r>
              <a:rPr lang="pt-BR" sz="2100" dirty="0" smtClean="0"/>
              <a:t>A </a:t>
            </a:r>
            <a:r>
              <a:rPr lang="pt-BR" sz="2100" b="1" dirty="0" smtClean="0"/>
              <a:t>Democracia Racial </a:t>
            </a:r>
            <a:r>
              <a:rPr lang="pt-BR" sz="2100" dirty="0" smtClean="0"/>
              <a:t>é a tese principal da obra: Freyre faz </a:t>
            </a:r>
            <a:r>
              <a:rPr lang="pt-BR" sz="2100" b="1" dirty="0" smtClean="0"/>
              <a:t>o diagnóstico de uma escravidão brasileira suavizada pela ausência, entre os portugueses, do preconceito racial</a:t>
            </a:r>
            <a:r>
              <a:rPr lang="pt-BR" sz="2100" dirty="0" smtClean="0"/>
              <a:t>, </a:t>
            </a:r>
            <a:r>
              <a:rPr lang="pt-BR" sz="2100" b="1" dirty="0" smtClean="0"/>
              <a:t>resultante em uma </a:t>
            </a:r>
            <a:r>
              <a:rPr lang="pt-BR" sz="2100" b="1" dirty="0" err="1" smtClean="0"/>
              <a:t>bicontinentalidade</a:t>
            </a:r>
            <a:r>
              <a:rPr lang="pt-BR" sz="2100" b="1" dirty="0" smtClean="0"/>
              <a:t> de nossa formação – Europa e África;</a:t>
            </a:r>
            <a:endParaRPr lang="en-US" sz="21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Rompeu</a:t>
            </a:r>
            <a:r>
              <a:rPr lang="en-US" sz="21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 o racismo científico </a:t>
            </a: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até então dominante, mas também 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construiu uma imagem idealizada da </a:t>
            </a:r>
            <a:r>
              <a:rPr lang="en-US" sz="21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colonização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brasileira</a:t>
            </a:r>
            <a:r>
              <a:rPr lang="en-US" sz="21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100" b="1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Décadas depois, autores como 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Florestan Fernandes</a:t>
            </a: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vão </a:t>
            </a: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chamá-la de “mito da democracia racial” </a:t>
            </a: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tema da </a:t>
            </a:r>
            <a:r>
              <a:rPr lang="en-US" sz="2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r>
              <a:rPr lang="en-US" sz="21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1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Casa-Grande &amp; Senzala foi traduzida para dezenas de línguas e integrou estudos da Unesco sobre relações raciais nos </a:t>
            </a:r>
            <a:r>
              <a:rPr lang="en-US" sz="2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r>
              <a:rPr lang="en-US" sz="2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1950.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1930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66656" y="411480"/>
            <a:ext cx="8600635" cy="67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Sérgio Buarque de Holanda</a:t>
            </a:r>
            <a:endParaRPr lang="en-US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9829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1902–1982  ·  Historiador e sociólogo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24554" y="1440180"/>
            <a:ext cx="8618501" cy="477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dirty="0">
                <a:ea typeface="Calibri" pitchFamily="34" charset="-122"/>
                <a:cs typeface="Calibri" pitchFamily="34" charset="-120"/>
              </a:rPr>
              <a:t>Publica, em 1936, Raízes do Brasil — obra fundadora da Sociologia brasileira</a:t>
            </a:r>
            <a:endParaRPr lang="en-US" sz="21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b="1" dirty="0">
                <a:ea typeface="Calibri" pitchFamily="34" charset="-122"/>
                <a:cs typeface="Calibri" pitchFamily="34" charset="-120"/>
              </a:rPr>
              <a:t>Influenciado por Max Weber, utiliza a metodologia do tipo ideal </a:t>
            </a:r>
            <a:r>
              <a:rPr lang="en-US" sz="2100" dirty="0">
                <a:ea typeface="Calibri" pitchFamily="34" charset="-122"/>
                <a:cs typeface="Calibri" pitchFamily="34" charset="-120"/>
              </a:rPr>
              <a:t>para analisar a cultura política do país</a:t>
            </a:r>
            <a:endParaRPr lang="en-US" sz="21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b="1" dirty="0">
                <a:ea typeface="Calibri" pitchFamily="34" charset="-122"/>
                <a:cs typeface="Calibri" pitchFamily="34" charset="-120"/>
              </a:rPr>
              <a:t>Assim como Freyre, concentra-se nos aspectos culturais </a:t>
            </a:r>
            <a:r>
              <a:rPr lang="en-US" sz="2100" dirty="0">
                <a:ea typeface="Calibri" pitchFamily="34" charset="-122"/>
                <a:cs typeface="Calibri" pitchFamily="34" charset="-120"/>
              </a:rPr>
              <a:t>herdados da colonização portuguesa</a:t>
            </a:r>
            <a:endParaRPr lang="en-US" sz="2100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dirty="0">
                <a:ea typeface="Calibri" pitchFamily="34" charset="-122"/>
                <a:cs typeface="Calibri" pitchFamily="34" charset="-120"/>
              </a:rPr>
              <a:t>Diferente de Freyre</a:t>
            </a:r>
            <a:r>
              <a:rPr lang="en-US" sz="2100" b="1" dirty="0">
                <a:ea typeface="Calibri" pitchFamily="34" charset="-122"/>
                <a:cs typeface="Calibri" pitchFamily="34" charset="-120"/>
              </a:rPr>
              <a:t>, porém, não vê essa herança </a:t>
            </a:r>
            <a:r>
              <a:rPr lang="en-US" sz="2100" b="1" dirty="0" err="1"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2100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 smtClean="0">
                <a:ea typeface="Calibri" pitchFamily="34" charset="-122"/>
                <a:cs typeface="Calibri" pitchFamily="34" charset="-120"/>
              </a:rPr>
              <a:t>positiva</a:t>
            </a:r>
            <a:endParaRPr lang="en-US" sz="2100" b="1" dirty="0" smtClean="0">
              <a:ea typeface="Calibri" pitchFamily="34" charset="-122"/>
              <a:cs typeface="Calibri" pitchFamily="34" charset="-120"/>
            </a:endParaRP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FontTx/>
              <a:buChar char="●"/>
            </a:pPr>
            <a:r>
              <a:rPr lang="en-US" sz="2100" dirty="0" err="1" smtClean="0"/>
              <a:t>Dois</a:t>
            </a:r>
            <a:r>
              <a:rPr lang="en-US" sz="2100" dirty="0" smtClean="0"/>
              <a:t> </a:t>
            </a:r>
            <a:r>
              <a:rPr lang="en-US" sz="2100" dirty="0" err="1" smtClean="0"/>
              <a:t>sentidos</a:t>
            </a:r>
            <a:r>
              <a:rPr lang="en-US" sz="2100" dirty="0" smtClean="0"/>
              <a:t> de </a:t>
            </a:r>
            <a:r>
              <a:rPr lang="en-US" sz="2100" dirty="0" err="1" smtClean="0"/>
              <a:t>colonização</a:t>
            </a:r>
            <a:r>
              <a:rPr lang="en-US" sz="2100" dirty="0" smtClean="0"/>
              <a:t>: </a:t>
            </a:r>
            <a:r>
              <a:rPr lang="en-US" sz="2100" dirty="0" err="1" smtClean="0"/>
              <a:t>Aventureiros</a:t>
            </a:r>
            <a:r>
              <a:rPr lang="en-US" sz="2100" dirty="0" smtClean="0"/>
              <a:t> (</a:t>
            </a:r>
            <a:r>
              <a:rPr lang="en-US" sz="2100" dirty="0" err="1" smtClean="0"/>
              <a:t>exploração</a:t>
            </a:r>
            <a:r>
              <a:rPr lang="en-US" sz="2100" dirty="0" smtClean="0"/>
              <a:t>) × </a:t>
            </a:r>
            <a:r>
              <a:rPr lang="en-US" sz="2100" dirty="0" err="1" smtClean="0"/>
              <a:t>Trabalhadores</a:t>
            </a:r>
            <a:r>
              <a:rPr lang="en-US" sz="2100" dirty="0" smtClean="0"/>
              <a:t> (</a:t>
            </a:r>
            <a:r>
              <a:rPr lang="en-US" sz="2100" dirty="0" err="1" smtClean="0"/>
              <a:t>povoamento</a:t>
            </a:r>
            <a:r>
              <a:rPr lang="en-US" sz="2100" dirty="0" smtClean="0"/>
              <a:t>)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FontTx/>
              <a:buChar char="●"/>
            </a:pPr>
            <a:r>
              <a:rPr lang="en-US" sz="2100" b="1" dirty="0" err="1" smtClean="0"/>
              <a:t>Brasil</a:t>
            </a:r>
            <a:r>
              <a:rPr lang="en-US" sz="2100" b="1" dirty="0" smtClean="0"/>
              <a:t> = </a:t>
            </a:r>
            <a:r>
              <a:rPr lang="en-US" sz="2100" b="1" dirty="0" err="1" smtClean="0"/>
              <a:t>herança</a:t>
            </a:r>
            <a:r>
              <a:rPr lang="en-US" sz="2100" b="1" dirty="0" smtClean="0"/>
              <a:t> </a:t>
            </a:r>
            <a:r>
              <a:rPr lang="en-US" sz="2100" b="1" dirty="0" err="1" smtClean="0"/>
              <a:t>ibérica</a:t>
            </a:r>
            <a:r>
              <a:rPr lang="en-US" sz="2100" b="1" dirty="0" smtClean="0"/>
              <a:t> → </a:t>
            </a:r>
            <a:r>
              <a:rPr lang="en-US" sz="2100" b="1" dirty="0" err="1" smtClean="0"/>
              <a:t>ruralismo</a:t>
            </a:r>
            <a:r>
              <a:rPr lang="en-US" sz="2100" b="1" dirty="0" smtClean="0"/>
              <a:t> e </a:t>
            </a:r>
            <a:r>
              <a:rPr lang="en-US" sz="2100" b="1" dirty="0" err="1" smtClean="0"/>
              <a:t>personalismo</a:t>
            </a:r>
            <a:endParaRPr lang="en-US" sz="2100" b="1" dirty="0"/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100" b="1" dirty="0">
                <a:ea typeface="Calibri" pitchFamily="34" charset="-122"/>
                <a:cs typeface="Calibri" pitchFamily="34" charset="-120"/>
              </a:rPr>
              <a:t>Identifica no Brasil uma “frouxidão organizacional” e aversão à formalidade herdadas de Portugal</a:t>
            </a:r>
            <a:endParaRPr lang="en-US" sz="2100" b="1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10" name="Espaço Reservado para Conteúdo 6">
            <a:extLst>
              <a:ext uri="{FF2B5EF4-FFF2-40B4-BE49-F238E27FC236}">
                <a16:creationId xmlns:a16="http://schemas.microsoft.com/office/drawing/2014/main" xmlns="" id="{52C4B471-9784-4BAB-BC35-87F9C0D2FF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2258" r="14509" b="1"/>
          <a:stretch/>
        </p:blipFill>
        <p:spPr>
          <a:xfrm>
            <a:off x="635637" y="1440180"/>
            <a:ext cx="2072394" cy="3026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BRASIL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 homem cordial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37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 de Raízes do Brasil para 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os efeitos da herança portuguesa na formação social brasileira</a:t>
            </a:r>
            <a:endParaRPr lang="en-US" sz="2200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Frequentemente mal interpretado como sinônimo de “afetuoso, gentil e hospitaleiro”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Buarque de 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Holanda usa “cordial</a:t>
            </a: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em seu sentido latino — cordialis, 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“relativo ao coração</a:t>
            </a: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que o brasileiro 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agiria mais pela emoção do que pela racionalidade nas </a:t>
            </a:r>
            <a:r>
              <a:rPr lang="en-US" sz="2200" b="1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 smtClean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r>
              <a:rPr lang="en-US" sz="2200" dirty="0" smtClean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tese 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fundamentou explicações posteriores </a:t>
            </a: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chamado 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“jeitinho brasileiro”</a:t>
            </a:r>
            <a:endParaRPr lang="en-US" sz="2200" b="1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cordialis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“Relativo ao coração” — não “afetuoso”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28676" name="Picture 4" descr="https://lupa1.com.br/migration/uploads/editor/file_2c5cff8c654746565830a1564c026afbf9df2d8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6639" y="1874520"/>
            <a:ext cx="4236416" cy="42862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BRASIL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Patrimonialismo: a fronteira entre público e privado</a:t>
            </a:r>
            <a:endParaRPr lang="en-US" sz="3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39" y="1874520"/>
            <a:ext cx="6740183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Para Buarque de Holanda,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a sociedade brasileira se organiza segundo uma lógica patrimonialista</a:t>
            </a:r>
            <a:endParaRPr lang="en-US" sz="2200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Práticas do ambiente privado —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intimidade, flexibilidade, troca de favores</a:t>
            </a:r>
            <a:r>
              <a:rPr lang="en-US" sz="2200" dirty="0">
                <a:ea typeface="Calibri" pitchFamily="34" charset="-122"/>
                <a:cs typeface="Calibri" pitchFamily="34" charset="-120"/>
              </a:rPr>
              <a:t> — estendem-se ao espaço público</a:t>
            </a:r>
            <a:endParaRPr lang="en-US" sz="22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O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público passa a ser tratado como extensão do privado, rompendo com a impessoalidade esperada do Estado moderno</a:t>
            </a:r>
            <a:endParaRPr lang="en-US" sz="2200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Nesse ethos estariam as </a:t>
            </a:r>
            <a:r>
              <a:rPr lang="en-US" sz="2200" b="1" dirty="0">
                <a:ea typeface="Calibri" pitchFamily="34" charset="-122"/>
                <a:cs typeface="Calibri" pitchFamily="34" charset="-120"/>
              </a:rPr>
              <a:t>raízes do personalismo e de práticas como a </a:t>
            </a:r>
            <a:r>
              <a:rPr lang="en-US" sz="2200" b="1" dirty="0" err="1" smtClean="0">
                <a:ea typeface="Calibri" pitchFamily="34" charset="-122"/>
                <a:cs typeface="Calibri" pitchFamily="34" charset="-120"/>
              </a:rPr>
              <a:t>corrupção</a:t>
            </a:r>
            <a:endParaRPr lang="en-US" sz="2200" b="1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Privado → Público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patrimonialista, segundo Buarque de Holanda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10" name="Picture 2" descr="https://periferiadainformacao.wordpress.com/wp-content/uploads/2015/12/sem-tc3adtulo2.jpg?w=637&amp;h=44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6640" y="1874520"/>
            <a:ext cx="4236415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COMPARATIVA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Gilberto Freyre × Sérgio Buarque de Holanda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87188" cy="438912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3871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Gilberto Freyre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77308"/>
            <a:ext cx="5158588" cy="295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Herança portuguesa: positiva ou ambígua</a:t>
            </a:r>
            <a:endParaRPr lang="en-US" sz="20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Miscigenação como harmonia (democracia racial)</a:t>
            </a:r>
            <a:endParaRPr lang="en-US" sz="20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análise: a família patriarcal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55868" y="1828800"/>
            <a:ext cx="5387188" cy="4389120"/>
          </a:xfrm>
          <a:prstGeom prst="roundRect">
            <a:avLst>
              <a:gd name="adj" fmla="val 2083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55869" y="1828800"/>
            <a:ext cx="538718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5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Sérgio Buarque de Holanda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255869" y="3077308"/>
            <a:ext cx="5158587" cy="295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Herança portuguesa: predominantemente negativa</a:t>
            </a:r>
            <a:endParaRPr lang="en-US" sz="20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Homem cordial e patrimonialismo</a:t>
            </a:r>
            <a:endParaRPr lang="en-US" sz="20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pt-BR" sz="2000" dirty="0" smtClean="0"/>
              <a:t>Seria necessário uma grande transformação social, um conjunto de regras destinadas a superar um passado de favorecimentos pessoais originários das oligarquias rurais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· Unidade 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4114800"/>
            <a:ext cx="4114800" cy="4114800"/>
          </a:xfrm>
          <a:prstGeom prst="ellipse">
            <a:avLst/>
          </a:prstGeom>
          <a:solidFill>
            <a:srgbClr val="A7BEAE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 SEGUIR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volta à economia: Caio Prado Júnior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018001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Freyre e Buarque de Holanda compartilham o método de valorizar os aspectos culturais da colonização — mas divergem quanto ao seu significado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ajudam a consolidar a Sociologia como disciplina científica no Brasil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Caio Prado Júnior desloca o eixo da análise — da cultura para a economia e a posição do Brasil no capitalismo mundial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· Unidade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0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A7BEA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7E8D1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 smtClean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1930 II: </a:t>
            </a:r>
            <a:r>
              <a:rPr lang="en-US" sz="4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Caio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Prado Júnior e 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</a:p>
          <a:p>
            <a:pPr marL="0" indent="0">
              <a:buNone/>
            </a:pPr>
            <a:r>
              <a:rPr lang="en-US" sz="4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Incompleta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Brasileira</a:t>
            </a:r>
            <a:endParaRPr 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ABERTURA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aula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37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</a:t>
            </a:r>
            <a:r>
              <a:rPr lang="en-US" sz="23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r>
              <a:rPr lang="en-US" sz="2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3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materialista</a:t>
            </a:r>
            <a:r>
              <a:rPr lang="en-US" sz="23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(Marx) </a:t>
            </a: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Caio Prado Júnior sobre a </a:t>
            </a:r>
            <a:r>
              <a:rPr lang="en-US" sz="23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r>
              <a:rPr lang="en-US" sz="23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300" b="1" dirty="0" err="1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brasileira</a:t>
            </a:r>
            <a:endParaRPr lang="en-US" sz="2300" b="1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</a:t>
            </a: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conceito de </a:t>
            </a:r>
            <a:r>
              <a:rPr lang="en-US" sz="2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internacional do trabalho </a:t>
            </a: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</a:t>
            </a:r>
            <a:r>
              <a:rPr lang="en-US" sz="2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colonização brasileira</a:t>
            </a:r>
            <a:endParaRPr lang="en-US" sz="2300" b="1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Retomar, de forma sintética, </a:t>
            </a:r>
            <a:r>
              <a:rPr lang="en-US" sz="2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do pensamento social brasileiro</a:t>
            </a:r>
            <a:endParaRPr lang="en-US" sz="2300" b="1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a </a:t>
            </a:r>
            <a:r>
              <a:rPr lang="en-US" sz="2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entre a formação histórica do Brasil </a:t>
            </a:r>
            <a:r>
              <a:rPr lang="en-US" sz="2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</a:t>
            </a:r>
            <a:r>
              <a:rPr lang="en-US" sz="2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da </a:t>
            </a:r>
            <a:r>
              <a:rPr lang="en-US" sz="23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</a:t>
            </a:r>
            <a:r>
              <a:rPr lang="en-US" sz="2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3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social.</a:t>
            </a:r>
            <a:endParaRPr lang="en-US" sz="2300" b="1" dirty="0">
              <a:solidFill>
                <a:srgbClr val="C0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Encerrando a Unidade 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10" name="Espaço Reservado para Conteúdo 8">
            <a:extLst>
              <a:ext uri="{FF2B5EF4-FFF2-40B4-BE49-F238E27FC236}">
                <a16:creationId xmlns="" xmlns:a16="http://schemas.microsoft.com/office/drawing/2014/main" id="{83C16578-C2FD-42E4-85BF-565E02FC31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t="7801" r="-2" b="16797"/>
          <a:stretch/>
        </p:blipFill>
        <p:spPr>
          <a:xfrm>
            <a:off x="7406639" y="1874520"/>
            <a:ext cx="4236416" cy="434340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1930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371600" cy="13716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Caio Prado Júnior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084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1907–1990  ·  Historiador e intelectual marxista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109441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Historiador paulista, </a:t>
            </a: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 pela leitura de Karl Marx</a:t>
            </a:r>
            <a:endParaRPr lang="en-US" sz="22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o Brasil sob a </a:t>
            </a: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materialista da História</a:t>
            </a:r>
            <a:endParaRPr lang="en-US" sz="22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centrais:</a:t>
            </a:r>
            <a:r>
              <a:rPr lang="en-US" sz="2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Evolução política do Brasil (1933) e Formação do Brasil contemporâneo (1942)</a:t>
            </a:r>
            <a:endParaRPr lang="en-US" sz="2200" b="1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compreender </a:t>
            </a: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a partir de um contexto mais amplo: sua inserção na divisão internacional do trabalho</a:t>
            </a:r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14338" name="Picture 2" descr="https://blogdaboitempo.com.br/wp-content/uploads/2016/04/caio-prado-biografi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24838" y="193432"/>
            <a:ext cx="3481754" cy="34817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DO BRASIL CONTEMPORÂNEO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 divisão internacional do trabalho</a:t>
            </a:r>
            <a:endParaRPr lang="en-US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6537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Conceito-chave: como se organizam o consumo, a produção e a distribuição de mercadorias entre os países</a:t>
            </a:r>
            <a:endParaRPr lang="en-US" sz="20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Para Caio Prado Jr., a colonização e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a formação social do Brasil ocorreram para servir à expansão do mercantilismo europeu</a:t>
            </a:r>
            <a:endParaRPr lang="en-US" sz="20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O Brasil se estabeleceu como </a:t>
            </a: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país extrativista e, depois, exportador de produtos primários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— cana-de-açúcar, café, minérios</a:t>
            </a:r>
            <a:endParaRPr lang="en-US" sz="2000" dirty="0"/>
          </a:p>
          <a:p>
            <a:pPr marL="342900" indent="-342900" algn="just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O regime escravista e a política monárquica favoreceram esse papel subalterno </a:t>
            </a:r>
            <a:r>
              <a:rPr lang="en-US" sz="2000" dirty="0">
                <a:ea typeface="Calibri" pitchFamily="34" charset="-122"/>
                <a:cs typeface="Calibri" pitchFamily="34" charset="-120"/>
              </a:rPr>
              <a:t>do país na divisão internacional do trabalho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06640" y="1874520"/>
            <a:ext cx="4236415" cy="4343400"/>
          </a:xfrm>
          <a:prstGeom prst="roundRect">
            <a:avLst>
              <a:gd name="adj" fmla="val 2590"/>
            </a:avLst>
          </a:prstGeom>
          <a:solidFill>
            <a:srgbClr val="E7E8D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2232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Colônia → Exportador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427482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subalterno do Brasil na economia mundial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14338" name="Picture 2" descr="https://escolaeducacao.com.br/wp-content/uploads/2020/11/pacto-colonial-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4426" y="1874520"/>
            <a:ext cx="4228630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INACABADO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 formação social como processo em aberto</a:t>
            </a:r>
            <a:endParaRPr lang="en-US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Desde o início da colonização,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a sociedade brasileira teria adquirido forma própria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— não a mera soma isolada de negros, brancos e indígenas, mas uma mistura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complexa e </a:t>
            </a:r>
            <a:r>
              <a:rPr lang="en-US" sz="2000" b="1" dirty="0" err="1" smtClean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única</a:t>
            </a:r>
            <a:endParaRPr lang="en-US" sz="2000" b="1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A formação do Brasil seria um </a:t>
            </a:r>
            <a:r>
              <a:rPr lang="en-US" sz="2000" b="1" dirty="0">
                <a:solidFill>
                  <a:srgbClr val="C00000"/>
                </a:solidFill>
                <a:ea typeface="Calibri" pitchFamily="34" charset="-122"/>
                <a:cs typeface="Calibri" pitchFamily="34" charset="-120"/>
              </a:rPr>
              <a:t>processo inacabado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enquanto o país ocupasse posição subordinada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e dependente na economia mundial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Mesmo após o fim da escravidão,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as condições de trabalho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da maioria permaneceram precárias, </a:t>
            </a: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conservando, muitas vezes, traços escravistas</a:t>
            </a:r>
            <a:endParaRPr lang="en-US" sz="2000" b="1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b="1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Mesmo com o início da industrialização, o Brasil manteve seu papel de exportador de commodities </a:t>
            </a:r>
            <a:r>
              <a:rPr lang="en-US" sz="2000" dirty="0">
                <a:solidFill>
                  <a:srgbClr val="3A3A3A"/>
                </a:solidFill>
                <a:ea typeface="Calibri" pitchFamily="34" charset="-122"/>
                <a:cs typeface="Calibri" pitchFamily="34" charset="-120"/>
              </a:rPr>
              <a:t>— produtos agrícolas, pecuários e minerais de baixo processamento industrial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percurso do pensamento social brasileiro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77669" y="22860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77669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17749" y="2606040"/>
            <a:ext cx="3058058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58368" y="3108960"/>
            <a:ext cx="347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 séc. XIX – 1930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347868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pré-científica: pensadores sem formação acadêmica (Cunha, Romero, Torres, Nina Rodrigues, Oliveira Vianna)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5808" y="22860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758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15888" y="2606040"/>
            <a:ext cx="3058058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356506" y="3108960"/>
            <a:ext cx="347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 de 1930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356506" y="3566160"/>
            <a:ext cx="347868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Institucionalização: primeiros cursos superiores de Sociologia (Freyre, Buarque de Holanda, Prado Jr.)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473946" y="22860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47394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054645" y="3108960"/>
            <a:ext cx="347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Décadas seguintes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054645" y="3566160"/>
            <a:ext cx="347868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acadêmica: pesquisa empírica e crítica ao pensamento </a:t>
            </a:r>
            <a:r>
              <a:rPr lang="en-US" sz="160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</a:t>
            </a:r>
            <a:r>
              <a:rPr lang="en-US" sz="1600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CHAVES DE LEITURA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Freyre, Buarque de Holanda e Prado Jr.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4389120"/>
          </a:xfrm>
          <a:prstGeom prst="roundRect">
            <a:avLst>
              <a:gd name="adj" fmla="val 2624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Gilberto Freyre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02757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Chave: </a:t>
            </a:r>
            <a:r>
              <a:rPr lang="en-US" sz="16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6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6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Tese: miscigenação como harmonia (democracia racial)</a:t>
            </a:r>
            <a:endParaRPr lang="en-US" sz="1600" dirty="0"/>
          </a:p>
          <a:p>
            <a:pPr marL="342900" indent="-342900" algn="just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Legado: rompe com o racismo científico, mas idealiza a colonização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3458" y="1828800"/>
            <a:ext cx="3484778" cy="4389120"/>
          </a:xfrm>
          <a:prstGeom prst="roundRect">
            <a:avLst>
              <a:gd name="adj" fmla="val 2624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82058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Buarque de Holanda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697480"/>
            <a:ext cx="302757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Chave: tipo ideal weberiano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Tese: homem cordial e patrimonialismo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Legado: base para entender o “jeitinho brasileiro”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8277" y="1828800"/>
            <a:ext cx="3484778" cy="4389120"/>
          </a:xfrm>
          <a:prstGeom prst="roundRect">
            <a:avLst>
              <a:gd name="adj" fmla="val 2624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6877" y="20299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Caio Prado Jr.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2697480"/>
            <a:ext cx="302757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Chave: materialismo histórico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Tese: divisão internacional do trabalho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Legado: leitura econômico-estrutural da formação nacional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· Unidade 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FECHANDO O FIO CONDUTOR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A2A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Da cidadania tortuosa ao pensamento social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Carvalho: a cidadania brasileira nunca combinou plenamente direitos civis, políticos e sociais — os sociais vieram primeiro</a:t>
            </a:r>
            <a:endParaRPr lang="en-US" sz="22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Sociologia pré-científica: pensadores sem formação acadêmica tentam explicar a formação racial e social do país (1870–1930)</a:t>
            </a:r>
            <a:endParaRPr lang="en-US" sz="22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1930: institucionalização da Sociologia; Freyre, Buarque de Holanda e Prado Jr. oferecem três chaves distintas — cultura, tipo ideal e economia</a:t>
            </a:r>
            <a:endParaRPr lang="en-US" sz="22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 mesmo fio conecta as duas discussões: a dificuldade histórica do Brasil em construir instituições e uma cidadania plena para todos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REFLETIR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está em aberto</a:t>
            </a:r>
            <a:endParaRPr lang="en-US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94415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legitimação estatal de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teorias raciais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como no art. 138 da Constituição de 1934, que previa a “educação eugênica” —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impactou o desenvolvimento social da população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 forma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mito da democracia racial de Freyre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ainda influencia o debate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público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sobre racismo no Brasil?</a:t>
            </a:r>
            <a:endParaRPr lang="en-US" sz="2400" b="1" dirty="0"/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Essas perguntas preparam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terreno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2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r>
              <a:rPr lang="en-US" sz="2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r>
              <a:rPr lang="en-US" sz="2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Estratificação Social e Desigualdade no Brasil</a:t>
            </a:r>
            <a:endParaRPr lang="en-US" sz="2400" b="1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3247</Words>
  <Application>Microsoft Office PowerPoint</Application>
  <PresentationFormat>Personalizar</PresentationFormat>
  <Paragraphs>354</Paragraphs>
  <Slides>37</Slides>
  <Notes>37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3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Willian Vieira Mathias de oliveira</cp:lastModifiedBy>
  <cp:revision>6</cp:revision>
  <dcterms:created xsi:type="dcterms:W3CDTF">2026-09-06T16:56:21Z</dcterms:created>
  <dcterms:modified xsi:type="dcterms:W3CDTF">2026-09-07T16:04:52Z</dcterms:modified>
</cp:coreProperties>
</file>