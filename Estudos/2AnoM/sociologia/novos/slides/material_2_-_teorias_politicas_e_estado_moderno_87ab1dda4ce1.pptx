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NUL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0"/>
            <a:ext cx="109728" cy="514350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1: ESTADO, PODER POLÍTICO E SOBERANIA: MAQUIAVEL E HOBBES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17519"/>
            <a:ext cx="5669280" cy="9690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 err="1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r>
              <a:rPr lang="en-US" sz="24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400" dirty="0" err="1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Teorias</a:t>
            </a:r>
            <a:r>
              <a:rPr lang="en-US" sz="24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</a:t>
            </a:r>
            <a:r>
              <a:rPr lang="en-US" sz="24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Estado </a:t>
            </a:r>
            <a:r>
              <a:rPr lang="en-US" sz="2400" dirty="0" err="1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Moderno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20840" y="914400"/>
            <a:ext cx="21945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Contexto histórico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 Príncipe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Fortuna &amp; Virtù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Os fins justificam os meios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Hobbes e o Estado de Natureza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 Leviatã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Soberania Absoluta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5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</a:t>
            </a:r>
            <a:r>
              <a:rPr lang="en-US" sz="1300" b="1" kern="0" spc="3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</a:t>
            </a:r>
            <a:r>
              <a:rPr lang="en-US" sz="1300" b="1" kern="0" spc="300" dirty="0" err="1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</a:t>
            </a:r>
            <a:r>
              <a:rPr lang="en-US" sz="1300" b="1" kern="0" spc="3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de </a:t>
            </a:r>
            <a:r>
              <a:rPr lang="en-US" sz="1300" b="1" kern="0" spc="300" dirty="0" err="1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</a:t>
            </a:r>
            <a:r>
              <a:rPr lang="en-US" sz="1300" b="1" kern="0" spc="3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kern="0" spc="300" dirty="0" err="1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</a:t>
            </a:r>
            <a:r>
              <a:rPr lang="en-US" sz="1300" b="1" kern="0" spc="3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Maquiavel e a</a:t>
            </a:r>
            <a:endParaRPr lang="en-US" sz="3600" b="1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da Política</a:t>
            </a:r>
            <a:endParaRPr lang="en-US" sz="3600" b="1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Nicolau Maquiavel  (1469 – 1527)</a:t>
            </a:r>
            <a:endParaRPr lang="en-US" sz="1400" dirty="0"/>
          </a:p>
        </p:txBody>
      </p:sp>
      <p:pic>
        <p:nvPicPr>
          <p:cNvPr id="6" name="Imagem 5" descr="Pessoa de camisa preta&#10;&#10;Descrição gerada automaticamente">
            <a:extLst>
              <a:ext uri="{FF2B5EF4-FFF2-40B4-BE49-F238E27FC236}">
                <a16:creationId xmlns="" xmlns:a16="http://schemas.microsoft.com/office/drawing/2014/main" id="{B4342D75-BE16-4C1E-AA75-86FCDEB33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=""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993149" y="1103087"/>
            <a:ext cx="357187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Maquiavel: Contexto e Obra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Renascimento · Itália · Filosofia Política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54864" cy="3520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99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foi Maquiavel?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Filósofo político do Renascimento (1469–1527).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 do governo de Florença com vasta experiência diplomática.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Itália estava fragmentada em repúblicas, principados e ducados — enquanto França, Inglaterra e Portugal se unificavam em Estados nacionais.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25880"/>
            <a:ext cx="54864" cy="3520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99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Príncipe (1512)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709928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"Manual" dedicado a Lourenço de Médici sobre como conquistar e manter o poder.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 com os "espelhos de príncipes" medievais: o governante não precisa ser virtuoso — precisa ser eficaz.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Visão: unificar a Itália sob um príncipe forte.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Fortuna &amp; Virtù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fatores que determinam o poder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03920" cy="82296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5331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governante garante a estabilidade e a paz?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240280"/>
            <a:ext cx="54864" cy="2651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13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FORTUNA  — o acaso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39136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está fora do nosso controle: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sorte, circunstâncias, oportunidades.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governante não controla a fortuna,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pode aproveitá-la ou minimizar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efeitos negativos.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240280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240280"/>
            <a:ext cx="54864" cy="265176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313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VIRTÙ  — a habilidade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624328"/>
            <a:ext cx="391363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qualidades que tornam o governante apto a liderar: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destreza, prudência, determinação.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virtù não é bondade moral —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capacidade de agir com eficácia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diante de qualquer situação.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"Os fins justificam os meios"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autonomia da política em relação à moral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8595360" cy="82296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234440"/>
            <a:ext cx="45719" cy="960120"/>
          </a:xfrm>
          <a:prstGeom prst="rect">
            <a:avLst/>
          </a:prstGeom>
          <a:solidFill>
            <a:srgbClr val="E8B86D"/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"É muito mais seguro ser temido que amado."  — Maquiavel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114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54864" cy="2514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04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Separação: política ≠ moral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391363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ações do governante devem ser julgadas pela eficácia — não pelos mesmos critérios morais válidos para cidadãos comuns.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príncipe não precisa ser bom: precisa parecer bom e agir com prudência para manter o poder.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4114800" cy="2514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331720"/>
            <a:ext cx="54864" cy="251460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404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Pluralismo de valores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715768"/>
            <a:ext cx="391363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Maquiavel antecipa a ideia de que não existe uma única moral aplicável a todas as situações.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príncipe que segue sempre a honestidade e compaixão torna-se vulnerável a quem não tiver os mesmos escrúpulos.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Maquiavel Republicano: os Discursos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outra face do pensamento maquiavélico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8631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</a:t>
            </a:r>
            <a:r>
              <a:rPr lang="en-US" sz="1350" b="1" i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Discursos sobre a primeira década de Tito Lívio</a:t>
            </a:r>
            <a:r>
              <a:rPr lang="en-US" sz="13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Maquiavel defende o regime republicano tomando Roma Antiga como modelo.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78892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54864" cy="2880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93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República &gt; Monarquia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04288"/>
            <a:ext cx="258775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monarquia oferece segurança, mas nunca liberdade. Apenas uma república garante a liberdade plena aos cidadãos.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8688" y="1920240"/>
            <a:ext cx="278892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920240"/>
            <a:ext cx="54864" cy="288036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993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Governo pela lei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2304288"/>
            <a:ext cx="258775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leis, não nos caprichos de um governante — o debate e a diversidade ajudam a adaptar o Estado.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1920240"/>
            <a:ext cx="278892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920240"/>
            <a:ext cx="54864" cy="2880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9933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Conflito como motor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0216" y="2304288"/>
            <a:ext cx="2587752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conflitos entre patrícios e plebeus em Roma geraram ampliação de liberdades — a tensão social pode ser produtiva.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5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2871" y="407861"/>
            <a:ext cx="3473405" cy="780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</a:t>
            </a:r>
            <a:r>
              <a:rPr lang="en-US" sz="1300" b="1" kern="0" spc="3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</a:t>
            </a:r>
            <a:r>
              <a:rPr lang="en-US" sz="1300" b="1" kern="0" spc="300" dirty="0" err="1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</a:t>
            </a:r>
            <a:r>
              <a:rPr lang="en-US" sz="1300" b="1" kern="0" spc="3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</a:p>
          <a:p>
            <a:pPr marL="0" indent="0" algn="ctr">
              <a:buNone/>
            </a:pPr>
            <a:r>
              <a:rPr lang="en-US" sz="1300" b="1" kern="0" spc="3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300" b="1" kern="0" spc="300" dirty="0" err="1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</a:t>
            </a:r>
            <a:r>
              <a:rPr lang="en-US" sz="1300" b="1" kern="0" spc="3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kern="0" spc="300" dirty="0" err="1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</a:t>
            </a:r>
            <a:r>
              <a:rPr lang="en-US" sz="1300" b="1" kern="0" spc="300" dirty="0" smtClean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82872" y="1188719"/>
            <a:ext cx="3644443" cy="2429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Hobbes e a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 Absoluta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82872" y="3904948"/>
            <a:ext cx="36444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Hobbes  (1588 – 1679)  ·  Leviatã (1651)</a:t>
            </a:r>
            <a:endParaRPr lang="en-US" sz="1400" dirty="0"/>
          </a:p>
        </p:txBody>
      </p:sp>
      <p:pic>
        <p:nvPicPr>
          <p:cNvPr id="6" name="Imagem 5">
            <a:extLst>
              <a:ext uri="{FF2B5EF4-FFF2-40B4-BE49-F238E27FC236}">
                <a16:creationId xmlns="" xmlns:a16="http://schemas.microsoft.com/office/drawing/2014/main" id="{FC851837-520D-41FE-B3CE-22625D68D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412" y="407861"/>
            <a:ext cx="4966705" cy="44799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Hobbes e o Contratualismo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Inglaterra do século XVII — Contexto histórico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54864" cy="3520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99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histórico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Europa vivia sob o absolutismo — poder centralizado no monarca.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Inglaterra, duas revoluções abalaram o absolutismo: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Revolução Puritana (1641–1649)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Revolução Gloriosa (1688–1689)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Hobbes viveu e escreveu em meio a esse turbulento período.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25880"/>
            <a:ext cx="54864" cy="3520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3990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contratualismo?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709928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segundo a qual a vida política nasce de acordos livres entre os indivíduos.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não é natural nem divino — é uma construção racional criada pelos próprios homens para garantir paz e segurança.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Hobbes foi o primeiro a formular essa ideia de modo sistemático.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2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2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2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2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atureza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humana sem o Estado — hipótese filosófica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8595360" cy="914400"/>
          </a:xfrm>
          <a:prstGeom prst="rect">
            <a:avLst/>
          </a:prstGeom>
          <a:solidFill>
            <a:srgbClr val="2C1810"/>
          </a:solidFill>
          <a:ln w="12700">
            <a:solidFill>
              <a:srgbClr val="2C18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homem é o lobo do homem."  — Hobbes, Do Cidadão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2487168"/>
            <a:ext cx="2788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487168"/>
            <a:ext cx="54864" cy="2377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603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Estado, sem lei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871216"/>
            <a:ext cx="25877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estado de natureza não há justiça ou injustiça — apenas a luta pela sobrevivência.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18688" y="2487168"/>
            <a:ext cx="2788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2487168"/>
            <a:ext cx="54864" cy="23774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5603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Guerra de todos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todos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2871216"/>
            <a:ext cx="25877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indivíduo busca satisfazer seus desejos, usando a violência sem restrições.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2487168"/>
            <a:ext cx="2788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2487168"/>
            <a:ext cx="54864" cy="23774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25603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Igualdade perversa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2871216"/>
            <a:ext cx="258775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são aproximadamente iguais em força e astúcia — o mais fraco pode matar o mais forte dormindo.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 Social e o Leviatã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saída do Estado de Natureza — Leviatã (1651)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920240" cy="15544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8988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2011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"guerra de todos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todos"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12848" y="2103120"/>
            <a:ext cx="219456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417320"/>
            <a:ext cx="1920240" cy="155448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38988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23744" y="2011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 da morte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ao acordo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2103120"/>
            <a:ext cx="219456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417320"/>
            <a:ext cx="1920240" cy="15544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38988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0016" y="2011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indivíduos cedem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liberdade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65392" y="2103120"/>
            <a:ext cx="219456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3136" y="1417320"/>
            <a:ext cx="1920240" cy="155448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138988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LEVIATÃ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(Estado)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76288" y="2011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absoluto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a paz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8595360" cy="7772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2724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"Os pactos sem espada não passam de palavras."  — Hobbes, Leviatã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74320" y="3931920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931920"/>
            <a:ext cx="54864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931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IRREVOGÁVEL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" y="4129799"/>
            <a:ext cx="2715768" cy="7165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 cedido, o poder não pode ser retirado do soberano (salvo unanimidade).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18688" y="3931920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18688" y="3931920"/>
            <a:ext cx="54864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40050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55848" y="4315968"/>
            <a:ext cx="258775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soberano não está submetido às leis — ele as cria para garantir a paz.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63056" y="3931920"/>
            <a:ext cx="2788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3931920"/>
            <a:ext cx="54864" cy="91440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93192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INDIVISÍVEL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0" y="4224528"/>
            <a:ext cx="2734056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poder não pode ser dividido: nem internamente, nem entre Estado e Igreja.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Legado de Hobbes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para o pensamento político moderno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50292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82880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Sociedade como construção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764792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disposição de viver em sociedade deixa de ser "natural" (como na Grécia) e passa a ser artificial — resultado de um acordo racional.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25880"/>
            <a:ext cx="502920" cy="1691640"/>
          </a:xfrm>
          <a:prstGeom prst="rect">
            <a:avLst/>
          </a:prstGeom>
          <a:solidFill>
            <a:srgbClr val="2D3561"/>
          </a:solidFill>
          <a:ln w="12700">
            <a:solidFill>
              <a:srgbClr val="2D35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82880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492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5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medo como motor histórico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1764792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medo da morte e da violência é o principal impulso que leva os homens a criar o Estado e superar o caos.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200400"/>
            <a:ext cx="502920" cy="1691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70332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voluntário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639312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nasce de uma escolha: os indivíduos voluntariamente abrem mão de parte de sua liberdade. Ideia avançada para a época.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320040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00400"/>
            <a:ext cx="502920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703320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49240" y="3291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laica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3639312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Hobbes retira a religião do centro da justificativa do poder — uma das bases do pensamento político moderno.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C"/>
          </a:solidFill>
          <a:ln w="12700">
            <a:solidFill>
              <a:srgbClr val="1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Maquiavel × Hobbes — Comparativo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Semelhanças e diferenças entre os dois pensadores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2286000" cy="475488"/>
          </a:xfrm>
          <a:prstGeom prst="rect">
            <a:avLst/>
          </a:prstGeom>
          <a:solidFill>
            <a:srgbClr val="1A1F3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3108960" cy="475488"/>
          </a:xfrm>
          <a:prstGeom prst="rect">
            <a:avLst/>
          </a:prstGeom>
          <a:solidFill>
            <a:srgbClr val="1A1F3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41732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Maquiavel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1417320"/>
            <a:ext cx="3108960" cy="475488"/>
          </a:xfrm>
          <a:prstGeom prst="rect">
            <a:avLst/>
          </a:prstGeom>
          <a:solidFill>
            <a:srgbClr val="1A1F3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141732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892808"/>
            <a:ext cx="2286000" cy="475488"/>
          </a:xfrm>
          <a:prstGeom prst="rect">
            <a:avLst/>
          </a:prstGeom>
          <a:solidFill>
            <a:srgbClr val="EAEB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9280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14600" y="1892808"/>
            <a:ext cx="3108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892808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Renascimento (séc. XV–XVI)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23560" y="1892808"/>
            <a:ext cx="3108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892808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Modernidade inicial (séc. XVII)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2368296"/>
            <a:ext cx="2286000" cy="475488"/>
          </a:xfrm>
          <a:prstGeom prst="rect">
            <a:avLst/>
          </a:prstGeom>
          <a:solidFill>
            <a:srgbClr val="EAEB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68296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central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14600" y="2368296"/>
            <a:ext cx="3108960" cy="475488"/>
          </a:xfrm>
          <a:prstGeom prst="rect">
            <a:avLst/>
          </a:prstGeom>
          <a:solidFill>
            <a:srgbClr val="F8F8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2368296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Príncipe (1512)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23560" y="2368296"/>
            <a:ext cx="3108960" cy="475488"/>
          </a:xfrm>
          <a:prstGeom prst="rect">
            <a:avLst/>
          </a:prstGeom>
          <a:solidFill>
            <a:srgbClr val="F8F8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368296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Leviatã (1651)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2843784"/>
            <a:ext cx="2286000" cy="475488"/>
          </a:xfrm>
          <a:prstGeom prst="rect">
            <a:avLst/>
          </a:prstGeom>
          <a:solidFill>
            <a:srgbClr val="EAEB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43784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14600" y="2843784"/>
            <a:ext cx="3108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284378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manter o poder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23560" y="2843784"/>
            <a:ext cx="3108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2843784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Estado existe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28600" y="3319272"/>
            <a:ext cx="2286000" cy="475488"/>
          </a:xfrm>
          <a:prstGeom prst="rect">
            <a:avLst/>
          </a:prstGeom>
          <a:solidFill>
            <a:srgbClr val="EAEB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31927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 humana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514600" y="3319272"/>
            <a:ext cx="3108960" cy="475488"/>
          </a:xfrm>
          <a:prstGeom prst="rect">
            <a:avLst/>
          </a:prstGeom>
          <a:solidFill>
            <a:srgbClr val="F8F8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331927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Ambiciosa e imprevisível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23560" y="3319272"/>
            <a:ext cx="3108960" cy="475488"/>
          </a:xfrm>
          <a:prstGeom prst="rect">
            <a:avLst/>
          </a:prstGeom>
          <a:solidFill>
            <a:srgbClr val="F8F8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3319272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Egoísta e violenta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28600" y="3794760"/>
            <a:ext cx="2286000" cy="475488"/>
          </a:xfrm>
          <a:prstGeom prst="rect">
            <a:avLst/>
          </a:prstGeom>
          <a:solidFill>
            <a:srgbClr val="EAEB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794760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 Estado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514600" y="3794760"/>
            <a:ext cx="3108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379476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e habilidade do príncipe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23560" y="3794760"/>
            <a:ext cx="31089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3794760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social racional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28600" y="4270248"/>
            <a:ext cx="2286000" cy="475488"/>
          </a:xfrm>
          <a:prstGeom prst="rect">
            <a:avLst/>
          </a:prstGeom>
          <a:solidFill>
            <a:srgbClr val="EAEBE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27024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e política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2514600" y="4270248"/>
            <a:ext cx="3108960" cy="475488"/>
          </a:xfrm>
          <a:prstGeom prst="rect">
            <a:avLst/>
          </a:prstGeom>
          <a:solidFill>
            <a:srgbClr val="F8F8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6040" y="4270248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Separadas — eficácia acima de tudo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23560" y="4270248"/>
            <a:ext cx="3108960" cy="475488"/>
          </a:xfrm>
          <a:prstGeom prst="rect">
            <a:avLst/>
          </a:prstGeom>
          <a:solidFill>
            <a:srgbClr val="F8F8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5000" y="4270248"/>
            <a:ext cx="2999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Subordinadas ao Estado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 da aula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4048" y="9601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9326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Maquiavel separou política e moral — o governante deve ser eficaz, não necessariamente virtuoso.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155448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270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Fortuna (acaso) e a Virtù (habilidade) determinam o sucesso do príncipe.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214884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214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Hobbes: sem Estado, a vida humana é "solitária, pobre, sórdida, brutal e curta".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27432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1576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 social de Hobbes cria um soberano absoluto para garantir a paz.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333756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1012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contribuíram para o pensamento político moderno ao laicizar a teoria do Estado.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64592" cy="480974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64592"/>
            <a:ext cx="2926080" cy="480974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50292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TEORIAS POLÍTICAS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ESTADO MODERNO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7472" y="1787652"/>
            <a:ext cx="5724407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Aula 2: </a:t>
            </a:r>
            <a:r>
              <a:rPr lang="en-US" sz="2400" b="1" dirty="0" err="1" smtClean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Direitos</a:t>
            </a:r>
            <a:r>
              <a:rPr lang="en-US" sz="2400" b="1" dirty="0" smtClean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 smtClean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Naturais</a:t>
            </a:r>
            <a:r>
              <a:rPr lang="en-US" sz="2400" b="1" dirty="0" smtClean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 e </a:t>
            </a:r>
            <a:r>
              <a:rPr lang="en-US" sz="2400" b="1" dirty="0" err="1" smtClean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Vontade</a:t>
            </a:r>
            <a:r>
              <a:rPr lang="en-US" sz="2400" b="1" dirty="0" smtClean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 smtClean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Geral</a:t>
            </a:r>
            <a:r>
              <a:rPr lang="en-US" sz="2400" b="1" dirty="0" smtClean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: </a:t>
            </a:r>
          </a:p>
          <a:p>
            <a:pPr marL="0" indent="0" algn="ctr">
              <a:buNone/>
            </a:pPr>
            <a:r>
              <a:rPr lang="en-US" sz="2400" b="1" dirty="0" smtClean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Locke  e   </a:t>
            </a:r>
            <a:r>
              <a:rPr lang="en-US" sz="2400" b="1" dirty="0">
                <a:solidFill>
                  <a:srgbClr val="E8C96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34" charset="0"/>
                <a:ea typeface="Georgia" pitchFamily="34" charset="-122"/>
                <a:cs typeface="Georgia" pitchFamily="34" charset="-120"/>
              </a:rPr>
              <a:t>Rousseau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72" y="441655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7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</a:t>
            </a:r>
            <a:r>
              <a:rPr lang="en-US" sz="1400" b="1" dirty="0" smtClean="0">
                <a:solidFill>
                  <a:srgbClr val="7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de </a:t>
            </a:r>
            <a:r>
              <a:rPr lang="en-US" sz="1400" b="1" dirty="0" err="1" smtClean="0">
                <a:solidFill>
                  <a:srgbClr val="7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</a:t>
            </a:r>
            <a:r>
              <a:rPr lang="en-US" sz="1400" b="1" dirty="0" smtClean="0">
                <a:solidFill>
                  <a:srgbClr val="7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400" b="1" dirty="0" err="1" smtClean="0">
                <a:solidFill>
                  <a:srgbClr val="7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</a:t>
            </a:r>
            <a:r>
              <a:rPr lang="en-US" sz="1400" b="1" dirty="0" smtClean="0">
                <a:solidFill>
                  <a:srgbClr val="7AA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400" b="1" dirty="0"/>
          </a:p>
        </p:txBody>
      </p:sp>
      <p:sp>
        <p:nvSpPr>
          <p:cNvPr id="9" name="Text 7"/>
          <p:cNvSpPr/>
          <p:nvPr/>
        </p:nvSpPr>
        <p:spPr>
          <a:xfrm>
            <a:off x="6400800" y="5029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DA AULA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896112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Contexto de Locke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335024"/>
            <a:ext cx="2514600" cy="0"/>
          </a:xfrm>
          <a:prstGeom prst="line">
            <a:avLst/>
          </a:prstGeom>
          <a:noFill/>
          <a:ln w="7620">
            <a:solidFill>
              <a:srgbClr val="3A66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43560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1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</a:t>
            </a:r>
            <a:r>
              <a:rPr lang="en-US" sz="11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Locke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1874520"/>
            <a:ext cx="2514600" cy="0"/>
          </a:xfrm>
          <a:prstGeom prst="line">
            <a:avLst/>
          </a:prstGeom>
          <a:noFill/>
          <a:ln w="7620">
            <a:solidFill>
              <a:srgbClr val="3A66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75104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Direitos Naturais e Propriedade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414016"/>
            <a:ext cx="2514600" cy="0"/>
          </a:xfrm>
          <a:prstGeom prst="line">
            <a:avLst/>
          </a:prstGeom>
          <a:noFill/>
          <a:ln w="7620">
            <a:solidFill>
              <a:srgbClr val="3A66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5146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 Contrato em Locke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953512"/>
            <a:ext cx="2514600" cy="0"/>
          </a:xfrm>
          <a:prstGeom prst="line">
            <a:avLst/>
          </a:prstGeom>
          <a:noFill/>
          <a:ln w="7620">
            <a:solidFill>
              <a:srgbClr val="3A66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054096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Separação de Poderes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493008"/>
            <a:ext cx="2514600" cy="0"/>
          </a:xfrm>
          <a:prstGeom prst="line">
            <a:avLst/>
          </a:prstGeom>
          <a:noFill/>
          <a:ln w="7620">
            <a:solidFill>
              <a:srgbClr val="3A66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593592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Rousseau e o Bom Selvagem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032504"/>
            <a:ext cx="2514600" cy="0"/>
          </a:xfrm>
          <a:prstGeom prst="line">
            <a:avLst/>
          </a:prstGeom>
          <a:noFill/>
          <a:ln w="7620">
            <a:solidFill>
              <a:srgbClr val="3A66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133088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Vontade Geral e Soberania Popular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46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</a:t>
            </a:r>
            <a:r>
              <a:rPr lang="en-US" sz="1200" b="1" kern="0" spc="300" dirty="0" smtClean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 Locke e os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Direitos Naturais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Locke </a:t>
            </a:r>
            <a:r>
              <a:rPr lang="en-US" sz="2000" b="1" i="1" dirty="0" smtClean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000" b="1" i="1" dirty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1632 – 1704</a:t>
            </a:r>
            <a:r>
              <a:rPr lang="en-US" sz="2000" b="1" i="1" dirty="0" smtClean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2000" b="1" i="1" dirty="0" err="1" smtClean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2000" b="1" i="1" dirty="0" smtClean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i="1" dirty="0" err="1" smtClean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</a:t>
            </a:r>
            <a:r>
              <a:rPr lang="en-US" sz="2000" b="1" i="1" dirty="0" smtClean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i="1" dirty="0" err="1" smtClean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Naturais</a:t>
            </a:r>
            <a:endParaRPr lang="en-US" sz="2000" b="1" dirty="0"/>
          </a:p>
        </p:txBody>
      </p:sp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A9274DC9-8081-4AFB-8C3D-6090E42F3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281" y="1149002"/>
            <a:ext cx="3462716" cy="34627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0"/>
            <a:ext cx="8942832" cy="502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40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Locke: Contexto e </a:t>
            </a:r>
            <a:r>
              <a:rPr lang="en-US" sz="2400" b="1" i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r>
              <a:rPr lang="en-US" sz="24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stado</a:t>
            </a:r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Natureza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Empirismo, Revolução Gloriosa e a razão natural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258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325880"/>
            <a:ext cx="4023360" cy="64008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foi Locke?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746504"/>
            <a:ext cx="3822192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Locke (1632–1704) foi um dos principais expoentes do empirismo moderno — defendia que o conhecimento vem da experiência, não de ideias inatas.</a:t>
            </a: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 contemporâneo da Revolução Gloriosa (1688–89) na Inglaterra e considerado um de seus principais ideólogos.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4279392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25880"/>
            <a:ext cx="4279392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1732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r>
              <a:rPr lang="en-US" sz="1300" b="1" dirty="0" err="1" smtClean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stado</a:t>
            </a:r>
            <a:r>
              <a:rPr lang="en-US" sz="1300" b="1" dirty="0" smtClean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</a:t>
            </a:r>
            <a:r>
              <a:rPr lang="en-US" sz="1300" b="1" dirty="0" err="1" smtClean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natureza</a:t>
            </a:r>
            <a:r>
              <a:rPr lang="en-US" sz="1300" b="1" dirty="0" smtClean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Locke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746504"/>
            <a:ext cx="4078224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contrário de Hobbes, Locke acreditava que o estado de natureza é pacífico: os homens são livres, iguais e guiados pela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natural está inscrita no coração dos homens — </a:t>
            </a: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conflito poderia ser resolvido pelos próprios indivíduos, sem necessidade de um Estado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0"/>
            <a:ext cx="8942832" cy="502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40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Direitos Naturais, Trabalho e Propriedade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Jusnaturalismo · Fundamento do Liberalismo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25880"/>
            <a:ext cx="8558784" cy="73152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89888"/>
            <a:ext cx="8375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 natural: direito à VIDA · LIBERDADE · PROPRIEDADE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2608" y="21762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2176272"/>
            <a:ext cx="2788920" cy="64008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267712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 Natural (Jusnaturalismo)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596896"/>
            <a:ext cx="2587752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razão humana revela uma lei natural que confere a cada indivíduo direitos </a:t>
            </a:r>
            <a:r>
              <a:rPr lang="en-US" sz="1500" dirty="0" err="1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inalienáveis</a:t>
            </a:r>
            <a:r>
              <a:rPr lang="en-US" sz="1500" dirty="0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 é a grande referência do jusnaturalismo moderno.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218688" y="21762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2176272"/>
            <a:ext cx="278892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267712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Trabalho como fundamento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2596896"/>
            <a:ext cx="2587752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transformar a natureza pelo trabalho, o homem constitui propriedade particular. O trabalho é o que justifica e legitima a posse de um bem.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21762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2176272"/>
            <a:ext cx="2788920" cy="64008"/>
          </a:xfrm>
          <a:prstGeom prst="rect">
            <a:avLst/>
          </a:prstGeom>
          <a:solidFill>
            <a:srgbClr val="5C6B2A"/>
          </a:solidFill>
          <a:ln w="12700">
            <a:solidFill>
              <a:srgbClr val="5C6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2267712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 dirty="0" smtClean="0">
              <a:solidFill>
                <a:srgbClr val="5C6B2A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5C6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Propriedade</a:t>
            </a:r>
            <a:r>
              <a:rPr lang="en-US" sz="1300" b="1" dirty="0" smtClean="0">
                <a:solidFill>
                  <a:srgbClr val="5C6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b="1" dirty="0">
                <a:solidFill>
                  <a:srgbClr val="5C6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base dos demais direitos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1928" y="2596896"/>
            <a:ext cx="2587752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endParaRPr lang="en-US" sz="1500" dirty="0" smtClean="0">
              <a:solidFill>
                <a:srgbClr val="3A3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500" dirty="0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é a base de todos os direitos naturais: garante a vida (subsistência) e a liberdade (independência). Locke é o precursor do liberalismo.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0"/>
            <a:ext cx="8942832" cy="502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40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</a:t>
            </a:r>
            <a:r>
              <a:rPr lang="en-US" sz="24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</a:t>
            </a:r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</a:t>
            </a:r>
            <a:r>
              <a:rPr lang="en-US" sz="24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natureza</a:t>
            </a:r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</a:t>
            </a:r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r>
              <a:rPr lang="en-US" sz="24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ocial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sair do estado de natureza? · O contrato em Locke vs. Hobbes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25880"/>
            <a:ext cx="40233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325880"/>
            <a:ext cx="4023360" cy="64008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Problemas que levam ao Contrato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746504"/>
            <a:ext cx="3822192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populacional, escassez de recursos e surgimento da moeda tornam o estado de natureza instável. Cada um julga em causa própria — falta um juiz imparcial.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427939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25880"/>
            <a:ext cx="4279392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1732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do Contrato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746504"/>
            <a:ext cx="4078224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juiz imparcial e um poder executor que preserve os direitos naturais e proteja a comunidade de conflitos internos e ameaças externas.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2608" y="3063240"/>
            <a:ext cx="8558784" cy="36576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108960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smtClean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                                                        </a:t>
            </a:r>
            <a:r>
              <a:rPr lang="en-US" sz="1300" b="1" dirty="0" err="1" smtClean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</a:t>
            </a:r>
            <a:r>
              <a:rPr lang="en-US" sz="1300" b="1" dirty="0" smtClean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3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Hobbes  ×  Contrato em Locke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608" y="3456432"/>
            <a:ext cx="2743200" cy="475488"/>
          </a:xfrm>
          <a:prstGeom prst="rect">
            <a:avLst/>
          </a:prstGeom>
          <a:solidFill>
            <a:srgbClr val="E8E0D0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45643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do contrato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08960" y="3456432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45643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os próprios cidadãos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3456432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345643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governantes e governados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" y="3959352"/>
            <a:ext cx="2743200" cy="475488"/>
          </a:xfrm>
          <a:prstGeom prst="rect">
            <a:avLst/>
          </a:prstGeom>
          <a:solidFill>
            <a:srgbClr val="E8E0D0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95935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resultante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108960" y="3959352"/>
            <a:ext cx="2834640" cy="475488"/>
          </a:xfrm>
          <a:prstGeom prst="rect">
            <a:avLst/>
          </a:prstGeom>
          <a:solidFill>
            <a:srgbClr val="F5F0E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95935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Soberano absoluto e irrevogável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3959352"/>
            <a:ext cx="2834640" cy="475488"/>
          </a:xfrm>
          <a:prstGeom prst="rect">
            <a:avLst/>
          </a:prstGeom>
          <a:solidFill>
            <a:srgbClr val="F5F0E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95935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 limitado pelo consentimento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2608" y="4462272"/>
            <a:ext cx="2743200" cy="475488"/>
          </a:xfrm>
          <a:prstGeom prst="rect">
            <a:avLst/>
          </a:prstGeom>
          <a:solidFill>
            <a:srgbClr val="E8E0D0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462272"/>
            <a:ext cx="2633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do contrato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108960" y="4462272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446227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— soberano é intocável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0" y="4462272"/>
            <a:ext cx="2834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4462272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Povo pode destituir governante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0"/>
            <a:ext cx="8942832" cy="502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40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Governo, Poderes e Direito à Resistência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poderes · Limites do governante · Desobediência civil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25880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325880"/>
            <a:ext cx="2788920" cy="64008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Poder Legislativo (supremo)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746504"/>
            <a:ext cx="258775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Emanação da vontade do povo — cria as leis. Nenhum outro poder pode se sobrepor a ele.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18688" y="1325880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325880"/>
            <a:ext cx="278892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41732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Poder Executivo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746504"/>
            <a:ext cx="258775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Confiado ao príncipe. Aplica as leis criadas pelo Legislativo no dia a dia.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44768" y="1325880"/>
            <a:ext cx="2788920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1325880"/>
            <a:ext cx="2788920" cy="64008"/>
          </a:xfrm>
          <a:prstGeom prst="rect">
            <a:avLst/>
          </a:prstGeom>
          <a:solidFill>
            <a:srgbClr val="5C6B2A"/>
          </a:solidFill>
          <a:ln w="12700">
            <a:solidFill>
              <a:srgbClr val="5C6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1417320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Poder Federativo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1928" y="1746504"/>
            <a:ext cx="258775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das relações exteriores: guerras, alianças e tratados com outros povos.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2608" y="3337560"/>
            <a:ext cx="8558784" cy="16002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" y="3337560"/>
            <a:ext cx="64008" cy="160020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47288"/>
            <a:ext cx="830275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"Sempre que tais legisladores tentarem violar ou destruir a propriedade do povo ou reduzi-lo à escravidão sob um poder arbitrário, colocar-se-ão em estado de guerra com o povo, que fica, a partir de então, desobrigado de toda obediência."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30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Locke — fundamento do direito à resistência (desobediência civil)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</a:t>
            </a:r>
            <a:r>
              <a:rPr lang="en-US" sz="1200" b="1" kern="0" spc="300" dirty="0" smtClean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621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Rousseau e a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Vontade Geral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Jean-Jacques Rousseau  (1712 – 1778</a:t>
            </a:r>
            <a:r>
              <a:rPr lang="en-US" b="1" dirty="0" smtClean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a </a:t>
            </a:r>
            <a:r>
              <a:rPr lang="en-US" b="1" dirty="0" err="1" smtClean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</a:t>
            </a:r>
            <a:r>
              <a:rPr lang="en-US" b="1" dirty="0" smtClean="0">
                <a:solidFill>
                  <a:srgbClr val="A0B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Popular</a:t>
            </a:r>
            <a:endParaRPr lang="en-US" b="1" dirty="0"/>
          </a:p>
        </p:txBody>
      </p:sp>
      <p:pic>
        <p:nvPicPr>
          <p:cNvPr id="7" name="Imagem 6">
            <a:extLst>
              <a:ext uri="{FF2B5EF4-FFF2-40B4-BE49-F238E27FC236}">
                <a16:creationId xmlns="" xmlns:a16="http://schemas.microsoft.com/office/drawing/2014/main" id="{4D9F4A77-D960-4171-8739-B96493FD3A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50" r="1" b="18802"/>
          <a:stretch/>
        </p:blipFill>
        <p:spPr>
          <a:xfrm>
            <a:off x="1730123" y="1745469"/>
            <a:ext cx="3615147" cy="303839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0"/>
            <a:ext cx="8942832" cy="502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40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Século das Luzes e o Bom Selvagem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Iluminismo · Natureza vs. Civilização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2588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325880"/>
            <a:ext cx="4023360" cy="64008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Iluminismo (séc. XVIII)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746504"/>
            <a:ext cx="3822192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baseado na crença de que a razão emancipa o homem da superstição. Na França, o absolutismo entrava em colapso — Voltaire, Montesquieu e Rousseau dominavam o debate político.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4279392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25880"/>
            <a:ext cx="4279392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1732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Natureza &gt; Civilização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746504"/>
            <a:ext cx="407822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Rousseau </a:t>
            </a: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radicaliza o iluminismo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 estado de </a:t>
            </a: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natureza é superior à civilização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estado natural há igualdade e </a:t>
            </a:r>
            <a:r>
              <a:rPr lang="en-US" sz="1500" dirty="0" err="1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bondade</a:t>
            </a:r>
            <a:r>
              <a:rPr lang="en-US" sz="1500" dirty="0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 </a:t>
            </a:r>
            <a:r>
              <a:rPr lang="en-US" sz="1500" b="1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humano</a:t>
            </a:r>
            <a:r>
              <a:rPr lang="en-US" sz="15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1500" b="1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instintivo</a:t>
            </a:r>
            <a:r>
              <a:rPr lang="en-US" sz="15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500" b="1" dirty="0" err="1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inocente</a:t>
            </a:r>
            <a:r>
              <a:rPr lang="en-US" sz="15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500" dirty="0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500" dirty="0" err="1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sociedade</a:t>
            </a:r>
            <a:r>
              <a:rPr lang="en-US" sz="1500" dirty="0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que corrompe o homem.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2608" y="3364992"/>
            <a:ext cx="8558784" cy="1536192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3364992"/>
            <a:ext cx="64008" cy="15361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830275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 homem é naturalmente bom, a sociedade o corrompe."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81144"/>
            <a:ext cx="830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Rousseau — origem do mito do bom selvagem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0"/>
            <a:ext cx="8942832" cy="502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40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Propriedade, Desigualdade e a Queda do Homem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Rousseau vs. Locke sobre a propriedade privada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25880"/>
            <a:ext cx="402336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325880"/>
            <a:ext cx="4023360" cy="64008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Locke: propriedade é direito natural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746504"/>
            <a:ext cx="3822192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justifica a posse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propriedade é base da liberdade e da vida — fundamento do liberalismo.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4279392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25880"/>
            <a:ext cx="4279392" cy="64008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1732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2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Rousseau: propriedade é a origem do mal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1746504"/>
            <a:ext cx="4078224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propriedade privada deu início à desigualdade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à violência e à corrupção entre os homens. É o marco da degeneração humana.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92608" y="3017520"/>
            <a:ext cx="8558784" cy="192024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3017520"/>
            <a:ext cx="64008" cy="192024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27248"/>
            <a:ext cx="830275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 verdadeiro fundador da sociedade civil foi o primeiro que, tendo cercado um terreno, lembrou-se de dizer 'isto é meu' e encontrou pessoas suficientemente simples para acreditá-lo. Quantos crimes, guerras, assassínios e misérias não pouparia ao gênero humano aquele que tivesse gritado: 'os frutos são de todos e a terra não pertence a ninguém!'"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617720"/>
            <a:ext cx="8302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Rousseau — Discurso sobre a origem da desigualdade entre os homens (1755)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0"/>
            <a:ext cx="8942832" cy="502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40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Contrato Social e a Soberania Popular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Rousseau: liberdade civil · Povo soberano · Democracia direta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258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325880"/>
            <a:ext cx="2743200" cy="64008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Novo Pacto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1746504"/>
            <a:ext cx="2542032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retorno ao estado de natureza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mas é preciso um novo contrato: </a:t>
            </a: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homens perdem a liberdade natural e ganham a liberdade civil.</a:t>
            </a:r>
            <a:endParaRPr lang="en-US" sz="1500" b="1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civil 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obedecer às leis que você mesmo ajudou a criar.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2743200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41732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Vontade Geral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746504"/>
            <a:ext cx="2542032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soma das vontades 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individuais — </a:t>
            </a: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interesse comum do corpo coletivo.</a:t>
            </a:r>
            <a:endParaRPr lang="en-US" sz="1500" b="1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a vontade geral pode criar e revogar leis</a:t>
            </a: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É imune ao despotismo porque visa ao todo, não a indivíduos ou grupos.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08192" y="1325880"/>
            <a:ext cx="274320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08192" y="1325880"/>
            <a:ext cx="2743200" cy="64008"/>
          </a:xfrm>
          <a:prstGeom prst="rect">
            <a:avLst/>
          </a:prstGeom>
          <a:solidFill>
            <a:srgbClr val="5C6B2A"/>
          </a:solidFill>
          <a:ln w="12700">
            <a:solidFill>
              <a:srgbClr val="5C6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41732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C6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Soberania Popular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45352" y="1746504"/>
            <a:ext cx="2542032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povo é soberano — </a:t>
            </a:r>
            <a:r>
              <a:rPr lang="en-US" sz="1500" b="1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 não se representa.</a:t>
            </a:r>
            <a:endParaRPr lang="en-US" sz="1500" b="1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povo não deve se submeter a um governo, mas ser parte integrante dele, reunindo-se em assembleias para discutir e votar as leis diretamente.</a:t>
            </a: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bom governo é a democracia direta.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0"/>
            <a:ext cx="8942832" cy="502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40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da Democracia Direta e Soberania ≠ Governo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autocrítica de Rousseau · Governantes vs. Soberano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25880"/>
            <a:ext cx="3959352" cy="25422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325880"/>
            <a:ext cx="4023360" cy="64008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6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(in)viabilidade da Vontade Geral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" y="1746504"/>
            <a:ext cx="3959352" cy="23248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Rousseau reconhecia que assembleias participativas só funcionam em pequenas unidades políticas — cidades-estado.</a:t>
            </a: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 Estado nacional amplo, com múltiplas cidades, a democracia direta torna-se impraticável.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325880"/>
            <a:ext cx="4215384" cy="232514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25880"/>
            <a:ext cx="4279392" cy="640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417320"/>
            <a:ext cx="4078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Soberania ≠ Governo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1746503"/>
            <a:ext cx="4215384" cy="21216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governo é instituído pelo soberano (o povo), mas não se confunde com ele.</a:t>
            </a: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50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parlamento era visto por Rousseau como um engodo: ao eleger representantes, o povo deixa de ser livre — eles podem decidir em causa própria.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01168" y="3868108"/>
            <a:ext cx="8844156" cy="1275392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3493008"/>
            <a:ext cx="64008" cy="1508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4071366"/>
            <a:ext cx="8229600" cy="132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Solução de Rousseau: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289128"/>
            <a:ext cx="8569836" cy="854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D0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Realização periódica de assembleias que reúnam TODO o conjunto de cidadãos — para decidir questões graves e vigiar a atuação dos governantes. Somente assim a soberania popular se mantém viva e a liberdade civil é preservada.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8942832" cy="91440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0"/>
            <a:ext cx="8942832" cy="502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6400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 × Rousseau — Comparativo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Semelhanças e diferenças entre os dois contratualistas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89888"/>
            <a:ext cx="2514600" cy="466344"/>
          </a:xfrm>
          <a:prstGeom prst="rect">
            <a:avLst/>
          </a:prstGeom>
          <a:solidFill>
            <a:srgbClr val="1C2B1E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89888"/>
            <a:ext cx="2404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Aspecto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62072" y="1389888"/>
            <a:ext cx="2971800" cy="466344"/>
          </a:xfrm>
          <a:prstGeom prst="rect">
            <a:avLst/>
          </a:prstGeom>
          <a:solidFill>
            <a:srgbClr val="1C2B1E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389888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33872" y="1389888"/>
            <a:ext cx="2971800" cy="466344"/>
          </a:xfrm>
          <a:prstGeom prst="rect">
            <a:avLst/>
          </a:prstGeom>
          <a:solidFill>
            <a:srgbClr val="1C2B1E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1389888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8C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Rousseau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2608" y="1883664"/>
            <a:ext cx="2514600" cy="466344"/>
          </a:xfrm>
          <a:prstGeom prst="rect">
            <a:avLst/>
          </a:prstGeom>
          <a:solidFill>
            <a:srgbClr val="E2D9C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883664"/>
            <a:ext cx="2404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62072" y="1883664"/>
            <a:ext cx="2971800" cy="466344"/>
          </a:xfrm>
          <a:prstGeom prst="rect">
            <a:avLst/>
          </a:prstGeom>
          <a:solidFill>
            <a:srgbClr val="F5F0E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3512" y="1883664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Séc. XVII (Revolução Gloriosa)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33872" y="1883664"/>
            <a:ext cx="2971800" cy="466344"/>
          </a:xfrm>
          <a:prstGeom prst="rect">
            <a:avLst/>
          </a:prstGeom>
          <a:solidFill>
            <a:srgbClr val="F5F0E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1883664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Séc. XVIII (Iluminismo francês)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92608" y="2377440"/>
            <a:ext cx="2514600" cy="466344"/>
          </a:xfrm>
          <a:prstGeom prst="rect">
            <a:avLst/>
          </a:prstGeom>
          <a:solidFill>
            <a:srgbClr val="E2D9C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377440"/>
            <a:ext cx="2404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200" b="1" dirty="0" err="1" smtClean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stado</a:t>
            </a:r>
            <a:r>
              <a:rPr lang="en-US" sz="1200" b="1" dirty="0" smtClean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</a:t>
            </a:r>
            <a:r>
              <a:rPr lang="en-US" sz="1200" b="1" dirty="0" err="1" smtClean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eatureza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862072" y="2377440"/>
            <a:ext cx="29718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53512" y="2377440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Pacífico e racional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33872" y="2377440"/>
            <a:ext cx="29718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25312" y="2377440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Inocente e superior à civilização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" y="2871216"/>
            <a:ext cx="2514600" cy="466344"/>
          </a:xfrm>
          <a:prstGeom prst="rect">
            <a:avLst/>
          </a:prstGeom>
          <a:solidFill>
            <a:srgbClr val="E2D9C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871216"/>
            <a:ext cx="2404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privada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62072" y="2871216"/>
            <a:ext cx="2971800" cy="466344"/>
          </a:xfrm>
          <a:prstGeom prst="rect">
            <a:avLst/>
          </a:prstGeom>
          <a:solidFill>
            <a:srgbClr val="F5F0E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53512" y="2871216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natural legítimo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33872" y="2871216"/>
            <a:ext cx="2971800" cy="466344"/>
          </a:xfrm>
          <a:prstGeom prst="rect">
            <a:avLst/>
          </a:prstGeom>
          <a:solidFill>
            <a:srgbClr val="F5F0E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25312" y="2871216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da desigualdade e corrupção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92608" y="3364992"/>
            <a:ext cx="2514600" cy="466344"/>
          </a:xfrm>
          <a:prstGeom prst="rect">
            <a:avLst/>
          </a:prstGeom>
          <a:solidFill>
            <a:srgbClr val="E2D9C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364992"/>
            <a:ext cx="2404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do contrato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862072" y="3364992"/>
            <a:ext cx="29718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53512" y="3364992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direitos individuais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33872" y="3364992"/>
            <a:ext cx="29718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25312" y="3364992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a liberdade civil coletiva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2608" y="3858768"/>
            <a:ext cx="2514600" cy="466344"/>
          </a:xfrm>
          <a:prstGeom prst="rect">
            <a:avLst/>
          </a:prstGeom>
          <a:solidFill>
            <a:srgbClr val="E2D9C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3858768"/>
            <a:ext cx="2404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Soberania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862072" y="3858768"/>
            <a:ext cx="2971800" cy="466344"/>
          </a:xfrm>
          <a:prstGeom prst="rect">
            <a:avLst/>
          </a:prstGeom>
          <a:solidFill>
            <a:srgbClr val="F5F0E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53512" y="3858768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Representativa (</a:t>
            </a:r>
            <a:r>
              <a:rPr lang="en-US" sz="1200" dirty="0" err="1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</a:t>
            </a:r>
            <a:r>
              <a:rPr lang="en-US" sz="1200" dirty="0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</a:t>
            </a:r>
            <a:r>
              <a:rPr lang="en-US" sz="1200" dirty="0" err="1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governantes</a:t>
            </a:r>
            <a:r>
              <a:rPr lang="en-US" sz="1200" dirty="0" smtClean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33872" y="3858768"/>
            <a:ext cx="2971800" cy="466344"/>
          </a:xfrm>
          <a:prstGeom prst="rect">
            <a:avLst/>
          </a:prstGeom>
          <a:solidFill>
            <a:srgbClr val="F5F0E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25312" y="3858768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e direta (vontade geral)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92608" y="4352544"/>
            <a:ext cx="2514600" cy="466344"/>
          </a:xfrm>
          <a:prstGeom prst="rect">
            <a:avLst/>
          </a:prstGeom>
          <a:solidFill>
            <a:srgbClr val="E2D9C8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352544"/>
            <a:ext cx="24048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ideal de governo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862072" y="4352544"/>
            <a:ext cx="29718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53512" y="4352544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Monarquia constitucional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833872" y="4352544"/>
            <a:ext cx="29718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D5C9B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25312" y="4352544"/>
            <a:ext cx="2862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dirty="0">
                <a:solidFill>
                  <a:srgbClr val="3A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Democracia direta em assembleias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"/>
            <a:ext cx="164592" cy="4809744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9260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C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PONTOS-CHAVE DA AULA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822960"/>
            <a:ext cx="822960" cy="6217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8229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84124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estado de natureza os homens são livres e racionais — a propriedade, fundada no trabalho, é um direito natural.</a:t>
            </a:r>
            <a:endParaRPr lang="en-US" sz="1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92608" y="1645920"/>
            <a:ext cx="822960" cy="621792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6459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166420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 se dá entre governantes e governados: o povo pode destituir o governo que violar seus direitos — direito à resistência.</a:t>
            </a:r>
            <a:endParaRPr lang="en-US" sz="14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2608" y="2468880"/>
            <a:ext cx="822960" cy="6217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46888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Rousseau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248716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civilização e a propriedade privada corrompem o homem naturalmente bom — o mito do bom selvagem.</a:t>
            </a:r>
            <a:endParaRPr lang="en-US" sz="1400" b="1" dirty="0">
              <a:solidFill>
                <a:srgbClr val="92D05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92608" y="3291840"/>
            <a:ext cx="822960" cy="62179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329184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Rousseau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331012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vontade geral expressa o interesse coletivo. Soberania não se representa — o bom governo é a democracia direta.</a:t>
            </a:r>
            <a:endParaRPr lang="en-US" sz="1400" b="1" dirty="0">
              <a:solidFill>
                <a:srgbClr val="92D050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92608" y="4114800"/>
            <a:ext cx="822960" cy="621792"/>
          </a:xfrm>
          <a:prstGeom prst="rect">
            <a:avLst/>
          </a:prstGeom>
          <a:solidFill>
            <a:srgbClr val="7AAA88"/>
          </a:solidFill>
          <a:ln w="12700">
            <a:solidFill>
              <a:srgbClr val="7AAA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411480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4133088"/>
            <a:ext cx="76809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Contratualistas que laicizaram a teoria do Estado e influenciaram diretamente as revoluções liberais e democráticas modernas.</a:t>
            </a:r>
            <a:endParaRPr lang="en-US" sz="1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256032"/>
            <a:ext cx="3108960" cy="4636008"/>
          </a:xfrm>
          <a:prstGeom prst="rect">
            <a:avLst/>
          </a:prstGeom>
          <a:solidFill>
            <a:srgbClr val="323232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0" y="256032"/>
            <a:ext cx="0" cy="4636008"/>
          </a:xfrm>
          <a:prstGeom prst="line">
            <a:avLst/>
          </a:prstGeom>
          <a:noFill/>
          <a:ln w="38100">
            <a:solidFill>
              <a:srgbClr val="8B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50292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TEORIAS POLÍTICAS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ESTADO MODERNO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8680" y="1124712"/>
            <a:ext cx="5683752" cy="12523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Aula 3: Estado e </a:t>
            </a:r>
            <a:r>
              <a:rPr lang="en-US" sz="2400" b="1" dirty="0" err="1" smtClean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Sociedade</a:t>
            </a:r>
            <a:r>
              <a:rPr lang="en-US" sz="2400" b="1" dirty="0" smtClean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400" b="1" dirty="0" err="1" smtClean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Capitalista</a:t>
            </a:r>
            <a:r>
              <a:rPr lang="en-US" sz="2400" b="1" dirty="0" smtClean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 </a:t>
            </a:r>
            <a:r>
              <a:rPr lang="en-US" sz="2400" b="1" dirty="0" err="1" smtClean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Liberalismo</a:t>
            </a:r>
            <a:r>
              <a:rPr lang="en-US" sz="2400" b="1" dirty="0" smtClean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</a:t>
            </a:r>
            <a:r>
              <a:rPr lang="en-US" sz="2400" b="1" dirty="0" smtClean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</a:t>
            </a:r>
            <a:r>
              <a:rPr lang="en-US" sz="2400" b="1" dirty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Marx  </a:t>
            </a:r>
            <a:r>
              <a:rPr lang="en-US" sz="2400" b="1" dirty="0" smtClean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 </a:t>
            </a:r>
            <a:r>
              <a:rPr lang="en-US" sz="2400" b="1" dirty="0">
                <a:solidFill>
                  <a:srgbClr val="D4A84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Anarquismo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6"/>
          <p:cNvSpPr/>
          <p:nvPr/>
        </p:nvSpPr>
        <p:spPr>
          <a:xfrm>
            <a:off x="157883" y="2907792"/>
            <a:ext cx="57166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</a:t>
            </a:r>
            <a:r>
              <a:rPr lang="en-US" sz="1400" b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de </a:t>
            </a:r>
            <a:r>
              <a:rPr lang="en-US" sz="1400" b="1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</a:t>
            </a:r>
            <a:r>
              <a:rPr lang="en-US" sz="1400" b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</a:t>
            </a:r>
            <a:r>
              <a:rPr lang="en-US" sz="1400" b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</a:p>
          <a:p>
            <a:pPr marL="0" indent="0">
              <a:buNone/>
            </a:pPr>
            <a:r>
              <a:rPr lang="en-US" sz="1400" b="1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r>
              <a:rPr lang="en-US" sz="1400" b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</a:t>
            </a:r>
            <a:r>
              <a:rPr lang="en-US" sz="1400" b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</a:t>
            </a:r>
            <a:r>
              <a:rPr lang="en-US" sz="1400" b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de </a:t>
            </a:r>
            <a:r>
              <a:rPr lang="en-US" sz="1400" b="1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</a:t>
            </a:r>
            <a:r>
              <a:rPr lang="en-US" sz="1400" b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</a:t>
            </a:r>
            <a:r>
              <a:rPr lang="en-US" sz="1400" b="1" dirty="0" smtClean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1400" b="1" dirty="0"/>
          </a:p>
        </p:txBody>
      </p:sp>
      <p:sp>
        <p:nvSpPr>
          <p:cNvPr id="9" name="Text 7"/>
          <p:cNvSpPr/>
          <p:nvPr/>
        </p:nvSpPr>
        <p:spPr>
          <a:xfrm>
            <a:off x="6263640" y="502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TÓPICOS DA AULA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886968"/>
            <a:ext cx="237744" cy="23774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886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65392" y="88696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Liberalismo?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389888"/>
            <a:ext cx="265176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35608"/>
            <a:ext cx="237744" cy="23774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35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65392" y="14356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Liberalismo Ético, Econômico e Político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938528"/>
            <a:ext cx="265176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984248"/>
            <a:ext cx="237744" cy="23774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984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65392" y="198424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 de Hegel ao Contratualismo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487168"/>
            <a:ext cx="265176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2532888"/>
            <a:ext cx="237744" cy="23774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65392" y="25328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Marx e o Estado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3035808"/>
            <a:ext cx="265176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081528"/>
            <a:ext cx="237744" cy="23774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81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65392" y="308152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como Ideologia Burguesa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584448"/>
            <a:ext cx="265176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630168"/>
            <a:ext cx="237744" cy="23774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630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65392" y="363016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Superação do Estado — Comunismo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4133088"/>
            <a:ext cx="265176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4178808"/>
            <a:ext cx="237744" cy="23774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4178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565392" y="417880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Filosofia Anarquista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201168" cy="49423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93341"/>
            <a:ext cx="50292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4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</a:t>
            </a:r>
            <a:r>
              <a:rPr lang="en-US" sz="1150" b="1" kern="0" spc="400" dirty="0" smtClean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Liberalismo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Hegel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1643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pensamento burguês e a crítica ao contratualismo · Séc. </a:t>
            </a:r>
            <a:r>
              <a:rPr lang="en-US" sz="1400" b="1" i="1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XVIII–XIX: </a:t>
            </a:r>
            <a:r>
              <a:rPr lang="en-US" sz="1400" b="1" i="1" dirty="0" err="1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liberalismo</a:t>
            </a:r>
            <a:r>
              <a:rPr lang="en-US" sz="1400" b="1" i="1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Hegel</a:t>
            </a:r>
            <a:endParaRPr lang="en-US" sz="1400" b="1" dirty="0"/>
          </a:p>
        </p:txBody>
      </p:sp>
      <p:pic>
        <p:nvPicPr>
          <p:cNvPr id="8" name="Espaço Reservado para Conteúdo 6" descr="friedrich-hegel-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142" y="2921589"/>
            <a:ext cx="2124829" cy="212482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1BF00059-B7E5-8A0C-91B2-E6072355D55C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11938" y="1603469"/>
            <a:ext cx="1546727" cy="194887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8B54EB2C-424F-8AD2-D6D5-C4FAE0FBE18A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39673" y="2102658"/>
            <a:ext cx="1546727" cy="19488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Liberalismo: Três Dimensões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· Econômica · Política — o conjunto de ideias da burguesia contra a nobreza feudal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8558784" cy="65836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389888"/>
            <a:ext cx="64008" cy="6583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447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Liberalismo = ideias éticas, políticas e econômicas da burguesia contra a nobreza feudal e o Estado absolutista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92608" y="21762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2176272"/>
            <a:ext cx="64008" cy="27432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" y="2176272"/>
            <a:ext cx="278892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2267712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⚖️  Ético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056" y="2606040"/>
            <a:ext cx="2569464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 o estado de direito: rejeita prisões sem culpa formada, torturas e penas cruéis. Garante </a:t>
            </a:r>
            <a:r>
              <a:rPr lang="en-US" sz="15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de pensamento, expressão e religião — tolerância e pluralidade.</a:t>
            </a:r>
            <a:endParaRPr lang="en-US" sz="1500" b="1" dirty="0"/>
          </a:p>
        </p:txBody>
      </p:sp>
      <p:sp>
        <p:nvSpPr>
          <p:cNvPr id="14" name="Shape 12"/>
          <p:cNvSpPr/>
          <p:nvPr/>
        </p:nvSpPr>
        <p:spPr>
          <a:xfrm>
            <a:off x="3218688" y="21762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2176272"/>
            <a:ext cx="64008" cy="27432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18688" y="2176272"/>
            <a:ext cx="2788920" cy="5029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4136" y="2267712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📈  Econômico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74136" y="2606040"/>
            <a:ext cx="2569464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Opõe-se à intervenção do Estado na economia (monopólios reais). </a:t>
            </a: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Smith e David Ricardo defendem propriedade privada dos meios de produção, livre-iniciativa e competição de mercado.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44768" y="2176272"/>
            <a:ext cx="2788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44768" y="2176272"/>
            <a:ext cx="64008" cy="27432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2176272"/>
            <a:ext cx="2788920" cy="502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2267712"/>
            <a:ext cx="2569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🏛️  Político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0216" y="2606040"/>
            <a:ext cx="2569464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indivíduo é a origem do poder, que nasce de um contrato social voluntário</a:t>
            </a: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Estado garante a ordem pública. </a:t>
            </a:r>
            <a:r>
              <a:rPr lang="en-US" sz="15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Consolida-se contra o absolutismo: </a:t>
            </a: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voto, representação e separação dos poderes.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Crítica de Hegel ao Contratualismo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W. F. Hegel (1770–1831) · O Estado como síntese histórica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4023360" cy="3364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64008" cy="33649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389888"/>
            <a:ext cx="402336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48132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Estado em Hegel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" y="1819656"/>
            <a:ext cx="3803904" cy="30944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Hegel afasta-se do contratualismo</a:t>
            </a:r>
            <a:r>
              <a:rPr lang="en-US" sz="14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 Estado não nasceu de um acordo voluntário entre indivíduos.</a:t>
            </a:r>
            <a:endParaRPr lang="en-US" sz="1450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45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Hegel, o Estado é uma construção histórica </a:t>
            </a:r>
            <a:r>
              <a:rPr lang="en-US" sz="14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síntese entre a liberdade coletiva (Família) e a liberdade individual (Sociedade Civil).</a:t>
            </a:r>
            <a:endParaRPr lang="en-US" sz="1450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45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supera os antagonismos da sociedade civil em nome do interesse público.</a:t>
            </a:r>
            <a:endParaRPr lang="en-US" sz="1450" b="1" dirty="0"/>
          </a:p>
        </p:txBody>
      </p:sp>
      <p:sp>
        <p:nvSpPr>
          <p:cNvPr id="11" name="Shape 9"/>
          <p:cNvSpPr/>
          <p:nvPr/>
        </p:nvSpPr>
        <p:spPr>
          <a:xfrm>
            <a:off x="4572000" y="1389888"/>
            <a:ext cx="4279392" cy="3364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89888"/>
            <a:ext cx="64008" cy="33649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389888"/>
            <a:ext cx="4279392" cy="502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481328"/>
            <a:ext cx="4059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52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Hegel × Contratualistas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27448" y="1819655"/>
            <a:ext cx="4059936" cy="3015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4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Locke e Rousseau, o Estado serve aos indivíduos — existe para </a:t>
            </a:r>
            <a:r>
              <a:rPr lang="en-US" sz="1450" dirty="0" err="1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</a:t>
            </a:r>
            <a:r>
              <a:rPr lang="en-US" sz="14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smtClean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dirty="0" err="1" smtClean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</a:t>
            </a:r>
            <a:r>
              <a:rPr lang="en-US" sz="1450" dirty="0" smtClean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45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Hegel, o Estado é superior aos indivíduos</a:t>
            </a:r>
            <a:r>
              <a:rPr lang="en-US" sz="14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não foi criado para garantir direitos naturais, mas </a:t>
            </a:r>
            <a:r>
              <a:rPr lang="en-US" sz="145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expressão máxima da razão e da liberdade humana na história.</a:t>
            </a:r>
            <a:endParaRPr lang="en-US" sz="1450" b="1" dirty="0"/>
          </a:p>
          <a:p>
            <a:pPr marL="0" indent="0" algn="just">
              <a:lnSpc>
                <a:spcPct val="125000"/>
              </a:lnSpc>
              <a:buNone/>
            </a:pPr>
            <a:endParaRPr lang="en-US" sz="1450" dirty="0"/>
          </a:p>
          <a:p>
            <a:pPr marL="0" indent="0" algn="just">
              <a:lnSpc>
                <a:spcPct val="125000"/>
              </a:lnSpc>
              <a:buNone/>
            </a:pPr>
            <a:r>
              <a:rPr lang="en-US" sz="14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história é o desenvolvimento do </a:t>
            </a:r>
            <a:r>
              <a:rPr lang="en-US" sz="1450" dirty="0" err="1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</a:t>
            </a:r>
            <a:r>
              <a:rPr lang="en-US" sz="14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 smtClean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Absoluto</a:t>
            </a:r>
            <a:r>
              <a:rPr lang="en-US" sz="1450" dirty="0" smtClean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direção à plena liberdade.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201168" cy="49423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0995" y="1085439"/>
            <a:ext cx="50292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4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 </a:t>
            </a:r>
            <a:r>
              <a:rPr lang="en-US" sz="1150" b="1" kern="0" spc="400" dirty="0" smtClean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046720" cy="111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Marx e os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Anarquistas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86160" y="1217007"/>
            <a:ext cx="85157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críticas ao Estado no século XIX · Karl Marx (1818–1883</a:t>
            </a:r>
            <a:r>
              <a:rPr lang="en-US" b="1" i="1" dirty="0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o </a:t>
            </a:r>
            <a:r>
              <a:rPr lang="en-US" b="1" i="1" dirty="0" err="1" smtClean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Anarquismo</a:t>
            </a:r>
            <a:endParaRPr lang="en-US" b="1" dirty="0"/>
          </a:p>
        </p:txBody>
      </p:sp>
      <p:pic>
        <p:nvPicPr>
          <p:cNvPr id="8" name="Imagem 7">
            <a:extLst>
              <a:ext uri="{FF2B5EF4-FFF2-40B4-BE49-F238E27FC236}">
                <a16:creationId xmlns="" xmlns:a16="http://schemas.microsoft.com/office/drawing/2014/main" id="{3DE53BDC-0B5E-A457-17D0-FBCB31CF2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95" y="2303676"/>
            <a:ext cx="3498209" cy="2125648"/>
          </a:xfrm>
          <a:prstGeom prst="rect">
            <a:avLst/>
          </a:prstGeom>
        </p:spPr>
      </p:pic>
      <p:pic>
        <p:nvPicPr>
          <p:cNvPr id="9" name="Picture 10" descr="C:\Users\profw\OneDrive\Área de Trabalho\images.jpe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40195" y="3149294"/>
            <a:ext cx="3276233" cy="18517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Marx e o Estado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Materialismo histórico · Luta de classes · Ideologia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40233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64008" cy="171907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389888"/>
            <a:ext cx="4023360" cy="5029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48132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Marx herda de Hegel...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" y="1819656"/>
            <a:ext cx="3803904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é uma construção histórica dos homens </a:t>
            </a: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não uma condição natural para a sociabilidade.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389888"/>
            <a:ext cx="4279392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89888"/>
            <a:ext cx="64008" cy="171907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389888"/>
            <a:ext cx="4279392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481328"/>
            <a:ext cx="4059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...mas inverte o idealismo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27448" y="1819656"/>
            <a:ext cx="4059936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produção material (luta de classes) que determina o Estado — não o Espírito. O Estado perpetua as relações capitalistas</a:t>
            </a: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propriedade privada e trabalho assalariado.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2608" y="3218688"/>
            <a:ext cx="8558784" cy="166420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3218688"/>
            <a:ext cx="64008" cy="166420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273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Estado como Ideologia Burguesa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3639312"/>
            <a:ext cx="8229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2000"/>
              </a:lnSpc>
              <a:buNone/>
            </a:pP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ideias dominantes em qualquer época são as ideias da classe dominante (Infraestrutura → Superestrutura). </a:t>
            </a:r>
            <a:r>
              <a:rPr lang="en-US" sz="15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Ideologia </a:t>
            </a: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Falsa Consciência Social: </a:t>
            </a:r>
            <a:r>
              <a:rPr lang="en-US" sz="15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camufla a luta de classes, apresentando a sociedade como harmônica e sem conflitos.</a:t>
            </a:r>
            <a:r>
              <a:rPr lang="en-US" sz="15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é a principal superestrutura da Modernidade — o "comitê executivo da classe dominante".</a:t>
            </a:r>
            <a:endParaRPr lang="en-US" sz="15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Superação do Estado e o Comunismo em Marx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Revolução Social · Ditadura do Proletariado · Sociedade sem classes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2743200" cy="1828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2336" y="1993392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Capitalismo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" y="25603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burguês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a exploração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54096" y="2304288"/>
            <a:ext cx="146304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389888"/>
            <a:ext cx="2743200" cy="182880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28416" y="1993392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Ditadura do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Proletariado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28416" y="25603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proletário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destrói o capitalismo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0176" y="2304288"/>
            <a:ext cx="146304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44768" y="1389888"/>
            <a:ext cx="2743200" cy="18288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54496" y="1993392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Comunismo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54496" y="2560320"/>
            <a:ext cx="2523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abolido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Sociedade de produtores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92608" y="3364992"/>
            <a:ext cx="8558784" cy="157276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" y="3364992"/>
            <a:ext cx="8558784" cy="64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3832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B0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859536" y="3529584"/>
            <a:ext cx="7845552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Revolução Social em Marx funda-se na superação do Estado </a:t>
            </a: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não em sua fundação (contratualistas) nem em sua realização (Hegel). </a:t>
            </a:r>
            <a:r>
              <a:rPr lang="en-US" sz="1400" b="1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liberdade dos liberais é ilusória numa sociedade organizada pelo Estado capitalista.</a:t>
            </a: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Estado é apenas um momento no trajeto da humanidade rumo ao reino da liberdade.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" y="4608576"/>
            <a:ext cx="7845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Marx — síntese da concepção marxista do Estado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Filosofia Anarquista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individual absoluta · Crítica ao Estado, ao capitalismo e ao marxismo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" y="1389888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389888"/>
            <a:ext cx="64008" cy="192024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389888"/>
            <a:ext cx="4023360" cy="5029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" y="1481328"/>
            <a:ext cx="3803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princípio central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" y="1819656"/>
            <a:ext cx="3803904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liberdade individual é absoluta — a sociedade deve confirmá-la, não limitá-la. Relações sociais que impõem domínio de uns sobre outros anulam a própria liberdade.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1389888"/>
            <a:ext cx="4279392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389888"/>
            <a:ext cx="64008" cy="19202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389888"/>
            <a:ext cx="4279392" cy="5029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1481328"/>
            <a:ext cx="4059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4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 e Propriedade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27448" y="1819656"/>
            <a:ext cx="4059936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50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 propriedade contribuíram em certo momento histórico, mas passaram a restringir a emancipação humana. São hierárquicos, autoritários, centralizados e intermediados — contrários à ordem natural das relações humanas.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2608" y="3447288"/>
            <a:ext cx="8558784" cy="1481328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" y="3447288"/>
            <a:ext cx="64008" cy="148132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511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crítica anarquista é tripla: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5488" y="3858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ao Capitalismo: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5488" y="413308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de exploração econômica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28416" y="3858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ao Estado: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18688" y="413308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de submissão política — deve ser extinto imediatamente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81344" y="38587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▸ ao Marxismo: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108192" y="4133088"/>
            <a:ext cx="2743200" cy="1010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ditadura do proletariado e os partidos são formas de intermediação — tão autoritárias quanto o que criticam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98755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7315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Comparativo: Liberalismo × Marx × Anarquismo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posições sobre Estado, Propriedade e Liberdade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2286000" cy="539496"/>
          </a:xfrm>
          <a:prstGeom prst="rect">
            <a:avLst/>
          </a:prstGeom>
          <a:solidFill>
            <a:srgbClr val="2A2A2A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89888"/>
            <a:ext cx="2176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96896" y="1389888"/>
            <a:ext cx="2084832" cy="539496"/>
          </a:xfrm>
          <a:prstGeom prst="rect">
            <a:avLst/>
          </a:prstGeom>
          <a:solidFill>
            <a:srgbClr val="1A1A3A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1389888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Liberalismo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1728" y="1389888"/>
            <a:ext cx="2084832" cy="539496"/>
          </a:xfrm>
          <a:prstGeom prst="rect">
            <a:avLst/>
          </a:prstGeom>
          <a:solidFill>
            <a:srgbClr val="1A3A1A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389888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8DD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Marxismo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766560" y="1389888"/>
            <a:ext cx="2084832" cy="539496"/>
          </a:xfrm>
          <a:prstGeom prst="rect">
            <a:avLst/>
          </a:prstGeom>
          <a:solidFill>
            <a:srgbClr val="3A1A1A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389888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99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Anarquismo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" y="1956816"/>
            <a:ext cx="2286000" cy="539496"/>
          </a:xfrm>
          <a:prstGeom prst="rect">
            <a:avLst/>
          </a:prstGeom>
          <a:solidFill>
            <a:srgbClr val="E0DAD2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956816"/>
            <a:ext cx="2176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 Estado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96896" y="1956816"/>
            <a:ext cx="2084832" cy="539496"/>
          </a:xfrm>
          <a:prstGeom prst="rect">
            <a:avLst/>
          </a:prstGeom>
          <a:solidFill>
            <a:srgbClr val="F5F2EE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88336" y="1956816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social voluntário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81728" y="1956816"/>
            <a:ext cx="2084832" cy="539496"/>
          </a:xfrm>
          <a:prstGeom prst="rect">
            <a:avLst/>
          </a:prstGeom>
          <a:solidFill>
            <a:srgbClr val="F5F2EE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956816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histórica da classe dominante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956816"/>
            <a:ext cx="2084832" cy="539496"/>
          </a:xfrm>
          <a:prstGeom prst="rect">
            <a:avLst/>
          </a:prstGeom>
          <a:solidFill>
            <a:srgbClr val="F5F2EE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956816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Imposição autoritária artificial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523744"/>
            <a:ext cx="2286000" cy="539496"/>
          </a:xfrm>
          <a:prstGeom prst="rect">
            <a:avLst/>
          </a:prstGeom>
          <a:solidFill>
            <a:srgbClr val="E0DAD2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523744"/>
            <a:ext cx="2176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privada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96896" y="2523744"/>
            <a:ext cx="2084832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88336" y="2523744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natural fundamental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81728" y="2523744"/>
            <a:ext cx="2084832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2523744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de exploração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2523744"/>
            <a:ext cx="2084832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523744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de dominação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090672"/>
            <a:ext cx="2286000" cy="539496"/>
          </a:xfrm>
          <a:prstGeom prst="rect">
            <a:avLst/>
          </a:prstGeom>
          <a:solidFill>
            <a:srgbClr val="E0DAD2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090672"/>
            <a:ext cx="2176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do Estado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96896" y="3090672"/>
            <a:ext cx="2084832" cy="539496"/>
          </a:xfrm>
          <a:prstGeom prst="rect">
            <a:avLst/>
          </a:prstGeom>
          <a:solidFill>
            <a:srgbClr val="F5F2EE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88336" y="3090672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ordem e direitos individuais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81728" y="3090672"/>
            <a:ext cx="2084832" cy="539496"/>
          </a:xfrm>
          <a:prstGeom prst="rect">
            <a:avLst/>
          </a:prstGeom>
          <a:solidFill>
            <a:srgbClr val="F5F2EE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3090672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Superestrutura burguesa — a superar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3090672"/>
            <a:ext cx="2084832" cy="539496"/>
          </a:xfrm>
          <a:prstGeom prst="rect">
            <a:avLst/>
          </a:prstGeom>
          <a:solidFill>
            <a:srgbClr val="F5F2EE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090672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a abolir imediatamente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" y="3657600"/>
            <a:ext cx="2286000" cy="539496"/>
          </a:xfrm>
          <a:prstGeom prst="rect">
            <a:avLst/>
          </a:prstGeom>
          <a:solidFill>
            <a:srgbClr val="E0DAD2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7472" y="3657600"/>
            <a:ext cx="2176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96896" y="3657600"/>
            <a:ext cx="2084832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88336" y="3657600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— protegida pelo Estado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81728" y="3657600"/>
            <a:ext cx="2084832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3657600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Ilusória sob o capitalismo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66560" y="3657600"/>
            <a:ext cx="2084832" cy="539496"/>
          </a:xfrm>
          <a:prstGeom prst="rect">
            <a:avLst/>
          </a:prstGeom>
          <a:solidFill>
            <a:srgbClr val="FFFFFF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3657600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Absoluta — incompatível com o Estado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2286000" cy="539496"/>
          </a:xfrm>
          <a:prstGeom prst="rect">
            <a:avLst/>
          </a:prstGeom>
          <a:solidFill>
            <a:srgbClr val="E0DAD2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" y="4224528"/>
            <a:ext cx="217627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596896" y="4224528"/>
            <a:ext cx="2084832" cy="539496"/>
          </a:xfrm>
          <a:prstGeom prst="rect">
            <a:avLst/>
          </a:prstGeom>
          <a:solidFill>
            <a:srgbClr val="F5F2EE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88336" y="4224528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Reformar e limitar o Estado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81728" y="4224528"/>
            <a:ext cx="2084832" cy="539496"/>
          </a:xfrm>
          <a:prstGeom prst="rect">
            <a:avLst/>
          </a:prstGeom>
          <a:solidFill>
            <a:srgbClr val="F5F2EE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4224528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Revolução → Ditadura → Comunismo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66560" y="4224528"/>
            <a:ext cx="2084832" cy="539496"/>
          </a:xfrm>
          <a:prstGeom prst="rect">
            <a:avLst/>
          </a:prstGeom>
          <a:solidFill>
            <a:srgbClr val="F5F2EE"/>
          </a:solidFill>
          <a:ln w="6350">
            <a:solidFill>
              <a:srgbClr val="CCBBA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4224528"/>
            <a:ext cx="1975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3C3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Abolição imediata de Estado e capital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201168" cy="463600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34747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PONTOS-CHAVE DA AULA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7472" y="868680"/>
            <a:ext cx="1188720" cy="71323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6868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Liberalismo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64208" y="886968"/>
            <a:ext cx="7223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ideias da burguesia: defende propriedade privada, liberdades individuais e Estado limitado pelo consentimento dos cidadãos.</a:t>
            </a:r>
            <a:endParaRPr lang="en-US" sz="15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47472" y="1609344"/>
            <a:ext cx="8522208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837944"/>
            <a:ext cx="118872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3794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Hegel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64208" y="1856232"/>
            <a:ext cx="7223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não nasce de um contrato, mas de uma construção histórica — síntese entre liberdade individual e coletiva, superando os conflitos da sociedade civil.</a:t>
            </a:r>
            <a:endParaRPr lang="en-US" sz="1500" b="1" dirty="0">
              <a:solidFill>
                <a:srgbClr val="0070C0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47472" y="2578608"/>
            <a:ext cx="8522208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807208"/>
            <a:ext cx="1188720" cy="713232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807208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64208" y="2825496"/>
            <a:ext cx="7223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é a superestrutura da classe dominante: perpetua a exploração capitalista. A solução é a revolução rumo ao comunismo e à abolição do Estado.</a:t>
            </a:r>
            <a:endParaRPr lang="en-US" sz="1500" b="1" dirty="0">
              <a:solidFill>
                <a:srgbClr val="C0000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7472" y="3547872"/>
            <a:ext cx="8522208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776472"/>
            <a:ext cx="118872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776472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Anarquismo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64208" y="3794760"/>
            <a:ext cx="72237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5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individual absoluta — Estado e propriedade devem ser abolidos imediatamente. Critica também o marxismo por aceitar a ditadura do proletariado.</a:t>
            </a:r>
            <a:endParaRPr lang="en-US" sz="1500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3502</Words>
  <Application>Microsoft Office PowerPoint</Application>
  <PresentationFormat>Apresentação na tela (16:9)</PresentationFormat>
  <Paragraphs>468</Paragraphs>
  <Slides>36</Slides>
  <Notes>36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3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Teorias Políticas e Estado Moderno</dc:title>
  <dc:subject>PptxGenJS Presentation</dc:subject>
  <dc:creator>PptxGenJS</dc:creator>
  <cp:lastModifiedBy>Willian Vieira Mathias de oliveira</cp:lastModifiedBy>
  <cp:revision>2</cp:revision>
  <dcterms:created xsi:type="dcterms:W3CDTF">2026-03-26T19:28:13Z</dcterms:created>
  <dcterms:modified xsi:type="dcterms:W3CDTF">2026-04-03T12:48:09Z</dcterms:modified>
</cp:coreProperties>
</file>