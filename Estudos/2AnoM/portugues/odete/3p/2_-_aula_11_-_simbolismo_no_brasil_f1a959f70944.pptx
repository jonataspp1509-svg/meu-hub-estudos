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304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B4B"/>
    <a:srgbClr val="0D0D0D"/>
    <a:srgbClr val="2C1006"/>
    <a:srgbClr val="C7B6A0"/>
    <a:srgbClr val="988771"/>
    <a:srgbClr val="D8C8B2"/>
    <a:srgbClr val="DAC9B4"/>
    <a:srgbClr val="A7947F"/>
    <a:srgbClr val="E3D9CB"/>
    <a:srgbClr val="D6C7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655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029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1540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648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15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25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7273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88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324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1145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415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6335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600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3067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060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348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7218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2794E8-C916-4193-94BE-BF7A7153E953}" type="datetimeFigureOut">
              <a:rPr lang="pt-BR" smtClean="0"/>
              <a:t>16/05/2020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9922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34B2CDB-68AC-4FC6-97D1-8887B376040E}"/>
              </a:ext>
            </a:extLst>
          </p:cNvPr>
          <p:cNvSpPr txBox="1"/>
          <p:nvPr/>
        </p:nvSpPr>
        <p:spPr>
          <a:xfrm>
            <a:off x="747658" y="2358887"/>
            <a:ext cx="1069668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600" dirty="0">
                <a:latin typeface="Blackadder ITC" panose="04020505051007020D02" pitchFamily="82" charset="0"/>
              </a:rPr>
              <a:t>Simbolismo</a:t>
            </a:r>
            <a:endParaRPr lang="pt-BR" sz="9600" dirty="0">
              <a:solidFill>
                <a:srgbClr val="FFC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4B4A65A-08F9-48B4-B05C-38A80F02A3CC}"/>
              </a:ext>
            </a:extLst>
          </p:cNvPr>
          <p:cNvSpPr txBox="1"/>
          <p:nvPr/>
        </p:nvSpPr>
        <p:spPr>
          <a:xfrm>
            <a:off x="926563" y="934277"/>
            <a:ext cx="42682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0" dirty="0">
                <a:latin typeface="Blackadder ITC" panose="04020505051007020D02" pitchFamily="82" charset="0"/>
              </a:rPr>
              <a:t>Aula de hoje:</a:t>
            </a:r>
            <a:endParaRPr lang="pt-BR" sz="4400" dirty="0">
              <a:solidFill>
                <a:srgbClr val="FFC000"/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219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8421B03-0684-49C7-B904-CE37370A7D95}"/>
              </a:ext>
            </a:extLst>
          </p:cNvPr>
          <p:cNvSpPr/>
          <p:nvPr/>
        </p:nvSpPr>
        <p:spPr>
          <a:xfrm>
            <a:off x="3428407" y="39839"/>
            <a:ext cx="53351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3600" dirty="0">
                <a:latin typeface="Gabriola" panose="04040605051002020D02" pitchFamily="82" charset="0"/>
                <a:cs typeface="Times New Roman" panose="02020603050405020304" pitchFamily="18" charset="0"/>
              </a:rPr>
              <a:t>1.3. Camilo Pessanha : A dor cósmica</a:t>
            </a:r>
            <a:endParaRPr lang="pt-BR" sz="3600" dirty="0">
              <a:latin typeface="Gabriola" panose="04040605051002020D02" pitchFamily="82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9599DF-6A16-473E-A0B0-407328E85965}"/>
              </a:ext>
            </a:extLst>
          </p:cNvPr>
          <p:cNvSpPr/>
          <p:nvPr/>
        </p:nvSpPr>
        <p:spPr>
          <a:xfrm>
            <a:off x="337895" y="742823"/>
            <a:ext cx="11516139" cy="45719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007569F-A8D0-4C82-926C-E9F7391C1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139" y="986030"/>
            <a:ext cx="4191517" cy="95410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 mágoa, a dor e a morte: a concepção cética e pessimista.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CC2501D-F56E-4BFE-94FD-C47B358F33FE}"/>
              </a:ext>
            </a:extLst>
          </p:cNvPr>
          <p:cNvSpPr/>
          <p:nvPr/>
        </p:nvSpPr>
        <p:spPr>
          <a:xfrm>
            <a:off x="6691954" y="1098603"/>
            <a:ext cx="3818925" cy="5529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O MEU CORAÇÃO DESCE</a:t>
            </a: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O meu coração desce,</a:t>
            </a: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Um balão apagado...</a:t>
            </a: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_ Melhor fora que ardesse,</a:t>
            </a: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Nas trevas, incendiado.</a:t>
            </a: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Na bruma fastidienta.</a:t>
            </a: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Como um caixão à cova...</a:t>
            </a: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_ Porque antes não rebenta</a:t>
            </a: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De dor violenta e nova?!</a:t>
            </a: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Que apego ainda o sustém?</a:t>
            </a: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Átomo miserando...</a:t>
            </a: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_ Se o esmagasse o trem</a:t>
            </a: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Dum comboio arquejando!...</a:t>
            </a: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endParaRPr lang="pt-PT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O inane, vil despojo</a:t>
            </a: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Da alma egoísta e fraca!</a:t>
            </a: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Trouxesse-o o mar de rojo,</a:t>
            </a:r>
          </a:p>
          <a:p>
            <a:pPr algn="just">
              <a:lnSpc>
                <a:spcPts val="16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Levasse-o a ressaca.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8F5D1AE0-F417-487E-A377-7C07AB1E267F}"/>
              </a:ext>
            </a:extLst>
          </p:cNvPr>
          <p:cNvCxnSpPr>
            <a:cxnSpLocks/>
          </p:cNvCxnSpPr>
          <p:nvPr/>
        </p:nvCxnSpPr>
        <p:spPr>
          <a:xfrm>
            <a:off x="6306860" y="1095212"/>
            <a:ext cx="0" cy="5529719"/>
          </a:xfrm>
          <a:prstGeom prst="line">
            <a:avLst/>
          </a:prstGeom>
          <a:ln w="38100" cap="sq" cmpd="dbl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1D59F778-5164-4274-9ECF-DC52D1545FE0}"/>
              </a:ext>
            </a:extLst>
          </p:cNvPr>
          <p:cNvSpPr/>
          <p:nvPr/>
        </p:nvSpPr>
        <p:spPr>
          <a:xfrm>
            <a:off x="179102" y="-2252"/>
            <a:ext cx="15071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2400" dirty="0">
                <a:latin typeface="Gabriola" panose="04040605051002020D02" pitchFamily="82" charset="0"/>
                <a:cs typeface="Times New Roman" panose="02020603050405020304" pitchFamily="18" charset="0"/>
              </a:rPr>
              <a:t>Retomando</a:t>
            </a:r>
            <a:r>
              <a:rPr lang="pt-PT" sz="3600" dirty="0">
                <a:latin typeface="Gabriola" panose="04040605051002020D02" pitchFamily="82" charset="0"/>
                <a:cs typeface="Times New Roman" panose="02020603050405020304" pitchFamily="18" charset="0"/>
              </a:rPr>
              <a:t>...</a:t>
            </a:r>
            <a:endParaRPr lang="pt-BR" sz="3600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573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8421B03-0684-49C7-B904-CE37370A7D95}"/>
              </a:ext>
            </a:extLst>
          </p:cNvPr>
          <p:cNvSpPr/>
          <p:nvPr/>
        </p:nvSpPr>
        <p:spPr>
          <a:xfrm>
            <a:off x="1286141" y="171124"/>
            <a:ext cx="47708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3200" dirty="0">
                <a:latin typeface="Gabriola" panose="04040605051002020D02" pitchFamily="82" charset="0"/>
                <a:cs typeface="Times New Roman" panose="02020603050405020304" pitchFamily="18" charset="0"/>
              </a:rPr>
              <a:t>1.3. Camilo Pessanha : A dor cósmica</a:t>
            </a:r>
            <a:endParaRPr lang="pt-BR" sz="3200" dirty="0">
              <a:latin typeface="Gabriola" panose="04040605051002020D02" pitchFamily="82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9599DF-6A16-473E-A0B0-407328E85965}"/>
              </a:ext>
            </a:extLst>
          </p:cNvPr>
          <p:cNvSpPr/>
          <p:nvPr/>
        </p:nvSpPr>
        <p:spPr>
          <a:xfrm>
            <a:off x="755570" y="852005"/>
            <a:ext cx="5832000" cy="45719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007569F-A8D0-4C82-926C-E9F7391C1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18" y="1199338"/>
            <a:ext cx="5760895" cy="489364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homem não detém nenhum meio de se apoderar da realidade exterior: nem a visão, nem o pensamento, nem o sonho. Como consequência, a morte é a única realidade desejada; é o "Ponto Final".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6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poeta explora imagens relacionadas à água, como meio de provocar sensações que levem o leitor a imaginar  “um plano superior”, depois da morte. A simbologia da água, em si, reforça a ideia de “purificação e renascimento”( o nirvana) que é o objetivo maior  do sonho simbolista.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CC2501D-F56E-4BFE-94FD-C47B358F33FE}"/>
              </a:ext>
            </a:extLst>
          </p:cNvPr>
          <p:cNvSpPr/>
          <p:nvPr/>
        </p:nvSpPr>
        <p:spPr>
          <a:xfrm>
            <a:off x="7260343" y="225780"/>
            <a:ext cx="4593762" cy="6482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POEMA FINAL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b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Ó cores virtuais que jazeis subterrâneas,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- Fulgurações azuis, vermelhos de hemoptise,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Represados clarões, cromáticas vesânias  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solidFill>
                  <a:srgbClr val="FF4B4B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No limbo onde esperais a luz que vos batize,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As pálpebras cerrai, ansiosas não veleis.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Abortos que pendeis as frontes cor de cidra,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Tão graves de cismar, nos bocais dos museus,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E escutando o correr da água na clepsidra,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Vagamente sorris, resignados e ateus,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Cessai de cogitar, o abismo não sondeis.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Gemebundo arrulhar dos sonhos não sonhados,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Que toda a noite errais, doces almas penando,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E as asas lacerais na aresta dos telhados,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E no vento expirais em um queixume brando,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Adormecei. Não suspireis. Não respireis.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8F5D1AE0-F417-487E-A377-7C07AB1E267F}"/>
              </a:ext>
            </a:extLst>
          </p:cNvPr>
          <p:cNvCxnSpPr>
            <a:cxnSpLocks/>
          </p:cNvCxnSpPr>
          <p:nvPr/>
        </p:nvCxnSpPr>
        <p:spPr>
          <a:xfrm>
            <a:off x="6811827" y="171124"/>
            <a:ext cx="0" cy="6515749"/>
          </a:xfrm>
          <a:prstGeom prst="line">
            <a:avLst/>
          </a:prstGeom>
          <a:ln w="38100" cap="sq" cmpd="dbl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022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34B2CDB-68AC-4FC6-97D1-8887B376040E}"/>
              </a:ext>
            </a:extLst>
          </p:cNvPr>
          <p:cNvSpPr txBox="1"/>
          <p:nvPr/>
        </p:nvSpPr>
        <p:spPr>
          <a:xfrm>
            <a:off x="654893" y="1166191"/>
            <a:ext cx="1069668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3800" dirty="0">
                <a:latin typeface="Blackadder ITC" panose="04020505051007020D02" pitchFamily="82" charset="0"/>
              </a:rPr>
              <a:t>Simbolismo no</a:t>
            </a:r>
            <a:br>
              <a:rPr lang="pt-PT" sz="13800" dirty="0">
                <a:latin typeface="Blackadder ITC" panose="04020505051007020D02" pitchFamily="82" charset="0"/>
              </a:rPr>
            </a:br>
            <a:r>
              <a:rPr lang="pt-PT" sz="13800" dirty="0">
                <a:latin typeface="Blackadder ITC" panose="04020505051007020D02" pitchFamily="82" charset="0"/>
              </a:rPr>
              <a:t>Brasil</a:t>
            </a:r>
            <a:endParaRPr lang="pt-BR" sz="8800" dirty="0">
              <a:solidFill>
                <a:srgbClr val="FFC000"/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590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8421B03-0684-49C7-B904-CE37370A7D95}"/>
              </a:ext>
            </a:extLst>
          </p:cNvPr>
          <p:cNvSpPr/>
          <p:nvPr/>
        </p:nvSpPr>
        <p:spPr>
          <a:xfrm>
            <a:off x="1262751" y="159107"/>
            <a:ext cx="96664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3200" dirty="0">
                <a:latin typeface="Gabriola" panose="04040605051002020D02" pitchFamily="82" charset="0"/>
                <a:cs typeface="Times New Roman" panose="02020603050405020304" pitchFamily="18" charset="0"/>
              </a:rPr>
              <a:t>1. A realidade Brasileira ao final do século XIX: </a:t>
            </a:r>
            <a:r>
              <a:rPr lang="pt-PT" sz="32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Um país em transformação</a:t>
            </a:r>
            <a:r>
              <a:rPr lang="pt-PT" sz="3200" dirty="0">
                <a:latin typeface="Gabriola" panose="04040605051002020D02" pitchFamily="82" charset="0"/>
                <a:cs typeface="Times New Roman" panose="02020603050405020304" pitchFamily="18" charset="0"/>
              </a:rPr>
              <a:t> </a:t>
            </a:r>
            <a:endParaRPr lang="pt-BR" sz="3200" dirty="0">
              <a:latin typeface="Gabriola" panose="04040605051002020D02" pitchFamily="82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9599DF-6A16-473E-A0B0-407328E85965}"/>
              </a:ext>
            </a:extLst>
          </p:cNvPr>
          <p:cNvSpPr/>
          <p:nvPr/>
        </p:nvSpPr>
        <p:spPr>
          <a:xfrm>
            <a:off x="39756" y="743882"/>
            <a:ext cx="11664000" cy="360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007569F-A8D0-4C82-926C-E9F7391C1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0687" y="1955615"/>
            <a:ext cx="5561396" cy="340420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1.1. Pós abolição;</a:t>
            </a:r>
          </a:p>
          <a:p>
            <a:pPr marL="457200" lvl="0" indent="-45720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1.2. A proclamação da República;</a:t>
            </a:r>
          </a:p>
          <a:p>
            <a:pPr marL="457200" lvl="0" indent="-45720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1.3. Movimentos migratórios;</a:t>
            </a:r>
          </a:p>
          <a:p>
            <a:pPr marL="457200" lvl="0" indent="-45720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1.4. Início da industrialização.</a:t>
            </a:r>
          </a:p>
        </p:txBody>
      </p:sp>
      <p:pic>
        <p:nvPicPr>
          <p:cNvPr id="9" name="Imagem 8" descr="simbolismo">
            <a:extLst>
              <a:ext uri="{FF2B5EF4-FFF2-40B4-BE49-F238E27FC236}">
                <a16:creationId xmlns:a16="http://schemas.microsoft.com/office/drawing/2014/main" id="{23EF6B0F-CF99-4A8A-BEAA-54E94D3253C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05" y="1768381"/>
            <a:ext cx="5380382" cy="377867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2948362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8421B03-0684-49C7-B904-CE37370A7D95}"/>
              </a:ext>
            </a:extLst>
          </p:cNvPr>
          <p:cNvSpPr/>
          <p:nvPr/>
        </p:nvSpPr>
        <p:spPr>
          <a:xfrm>
            <a:off x="3862817" y="145855"/>
            <a:ext cx="44662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3200" dirty="0">
                <a:latin typeface="Gabriola" panose="04040605051002020D02" pitchFamily="82" charset="0"/>
              </a:rPr>
              <a:t>2. O caminho simbolista no Brasil</a:t>
            </a:r>
            <a:endParaRPr lang="pt-BR" sz="3200" dirty="0">
              <a:latin typeface="Gabriola" panose="04040605051002020D02" pitchFamily="82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9599DF-6A16-473E-A0B0-407328E85965}"/>
              </a:ext>
            </a:extLst>
          </p:cNvPr>
          <p:cNvSpPr/>
          <p:nvPr/>
        </p:nvSpPr>
        <p:spPr>
          <a:xfrm>
            <a:off x="39756" y="743882"/>
            <a:ext cx="11664000" cy="360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007569F-A8D0-4C82-926C-E9F7391C1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1" y="978569"/>
            <a:ext cx="10297530" cy="554254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</a:pPr>
            <a:r>
              <a:rPr lang="pt-PT" alt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2.1. O simbolismo nasceu do descontentamento de escritores contrários ao Naturalismo e ao Realismo, que pregavam uma visão materialista e cientificista da vida defendida pelo Positivismo.</a:t>
            </a:r>
          </a:p>
          <a:p>
            <a:pPr lvl="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</a:pPr>
            <a:endParaRPr lang="pt-PT" altLang="pt-BR" sz="24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</a:pPr>
            <a:r>
              <a:rPr lang="pt-PT" alt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2.2. Os primeiros simbolistas apresentavam uma estética marcada pela subjetividade, elemento presente no misticismo e na sugestão sensorial, postura totalmente antagônica aos valores seguidos pela estética realista.</a:t>
            </a:r>
          </a:p>
          <a:p>
            <a:pPr lvl="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</a:pPr>
            <a:endParaRPr lang="pt-PT" altLang="pt-BR" sz="24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</a:pPr>
            <a:r>
              <a:rPr lang="pt-PT" alt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2.3.Existiram à sombra do Parnasianismo, que domina o gosto do leitor.</a:t>
            </a:r>
          </a:p>
          <a:p>
            <a:pPr lvl="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</a:pPr>
            <a:endParaRPr lang="pt-PT" altLang="pt-BR" sz="24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</a:pPr>
            <a:r>
              <a:rPr lang="pt-PT" alt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2.4. Chamados de “</a:t>
            </a:r>
            <a:r>
              <a:rPr lang="pt-PT" altLang="pt-BR" sz="24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poetas malditos</a:t>
            </a:r>
            <a:r>
              <a:rPr lang="pt-PT" alt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”.</a:t>
            </a:r>
          </a:p>
          <a:p>
            <a:pPr lvl="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</a:pPr>
            <a:endParaRPr lang="pt-PT" altLang="pt-BR" sz="24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</a:pPr>
            <a:r>
              <a:rPr lang="pt-PT" alt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2.5. </a:t>
            </a:r>
            <a:r>
              <a:rPr lang="pt-PT" altLang="pt-BR" sz="24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Duas orientações distintas</a:t>
            </a:r>
            <a:r>
              <a:rPr lang="pt-PT" alt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:</a:t>
            </a:r>
          </a:p>
          <a:p>
            <a:pPr marL="914400" lvl="1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1ª. Orientação </a:t>
            </a:r>
            <a:r>
              <a:rPr lang="pt-PT" altLang="pt-BR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humanístico-social</a:t>
            </a:r>
            <a:r>
              <a:rPr lang="pt-PT" alt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: A preocupação com os problemas transcendentais do ser humano. Autor: </a:t>
            </a:r>
            <a:r>
              <a:rPr lang="pt-PT" altLang="pt-BR" sz="24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CRUZ e SOUSA</a:t>
            </a:r>
            <a:r>
              <a:rPr lang="pt-PT" alt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4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914400" lvl="1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2ª.Orientação </a:t>
            </a:r>
            <a:r>
              <a:rPr lang="pt-PT" altLang="pt-BR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místico-religiosa</a:t>
            </a:r>
            <a:r>
              <a:rPr lang="pt-PT" alt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: a preocupação com a alma e a religiosidade. Autor</a:t>
            </a:r>
            <a:r>
              <a:rPr lang="pt-PT" altLang="pt-BR" sz="24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: Alphonsus de Guimaraens</a:t>
            </a:r>
            <a:r>
              <a:rPr lang="pt-PT" alt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4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501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Imagem representativa da obra">
            <a:extLst>
              <a:ext uri="{FF2B5EF4-FFF2-40B4-BE49-F238E27FC236}">
                <a16:creationId xmlns:a16="http://schemas.microsoft.com/office/drawing/2014/main" id="{3691EF42-592B-45C6-9779-34A64EA7B25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2919">
            <a:off x="644525" y="1499336"/>
            <a:ext cx="1955097" cy="2328845"/>
          </a:xfrm>
          <a:prstGeom prst="rect">
            <a:avLst/>
          </a:prstGeom>
          <a:ln>
            <a:noFill/>
          </a:ln>
          <a:effectLst/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8421B03-0684-49C7-B904-CE37370A7D95}"/>
              </a:ext>
            </a:extLst>
          </p:cNvPr>
          <p:cNvSpPr/>
          <p:nvPr/>
        </p:nvSpPr>
        <p:spPr>
          <a:xfrm>
            <a:off x="2182068" y="159107"/>
            <a:ext cx="78277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3200" dirty="0">
                <a:latin typeface="Gabriola" panose="04040605051002020D02" pitchFamily="82" charset="0"/>
              </a:rPr>
              <a:t>CRUZ e SOUSA : “A luz negra do Infinito” – “O Cisne Negro”</a:t>
            </a:r>
            <a:endParaRPr lang="pt-BR" sz="3200" dirty="0">
              <a:latin typeface="Gabriola" panose="04040605051002020D02" pitchFamily="82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9599DF-6A16-473E-A0B0-407328E85965}"/>
              </a:ext>
            </a:extLst>
          </p:cNvPr>
          <p:cNvSpPr/>
          <p:nvPr/>
        </p:nvSpPr>
        <p:spPr>
          <a:xfrm>
            <a:off x="39756" y="743882"/>
            <a:ext cx="11664000" cy="360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007569F-A8D0-4C82-926C-E9F7391C1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6567" y="1474619"/>
            <a:ext cx="5198786" cy="39087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altLang="pt-BR" sz="3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Aspectos: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PT" altLang="pt-BR" sz="14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transcendental pela poesia- O sentimento trágico da existência.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8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 profundidade filosófica e a angústia metafísica.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8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Uma vida de dor.</a:t>
            </a:r>
          </a:p>
        </p:txBody>
      </p:sp>
      <p:pic>
        <p:nvPicPr>
          <p:cNvPr id="7" name="Imagem 6" descr="Cruz e Souza">
            <a:extLst>
              <a:ext uri="{FF2B5EF4-FFF2-40B4-BE49-F238E27FC236}">
                <a16:creationId xmlns:a16="http://schemas.microsoft.com/office/drawing/2014/main" id="{104FF0D2-0327-41A6-A11C-D1D9B8ACD7F7}"/>
              </a:ext>
            </a:extLst>
          </p:cNvPr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736" b="92746" l="8000" r="91200">
                        <a14:foregroundMark x1="46800" y1="9845" x2="70400" y2="17098"/>
                        <a14:foregroundMark x1="56800" y1="6736" x2="50800" y2="10881"/>
                        <a14:foregroundMark x1="54000" y1="68912" x2="62800" y2="81347"/>
                        <a14:foregroundMark x1="79200" y1="83938" x2="58000" y2="85492"/>
                        <a14:foregroundMark x1="13600" y1="84715" x2="26000" y2="74352"/>
                        <a14:foregroundMark x1="6800" y1="74870" x2="8000" y2="85233"/>
                        <a14:foregroundMark x1="8000" y1="85233" x2="32000" y2="89896"/>
                        <a14:foregroundMark x1="36400" y1="82124" x2="38000" y2="78756"/>
                        <a14:foregroundMark x1="47200" y1="64508" x2="63200" y2="73834"/>
                        <a14:foregroundMark x1="85200" y1="72798" x2="82800" y2="89378"/>
                        <a14:foregroundMark x1="50400" y1="91710" x2="63200" y2="90415"/>
                        <a14:foregroundMark x1="63200" y1="90415" x2="87600" y2="93005"/>
                        <a14:foregroundMark x1="91200" y1="91969" x2="90400" y2="813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8626" y="2470908"/>
            <a:ext cx="4057622" cy="4665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 descr="Imagem representativa da obra">
            <a:extLst>
              <a:ext uri="{FF2B5EF4-FFF2-40B4-BE49-F238E27FC236}">
                <a16:creationId xmlns:a16="http://schemas.microsoft.com/office/drawing/2014/main" id="{B18B60AE-7300-4CE5-A4D3-FA6C0207A50B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44519">
            <a:off x="1273998" y="2803431"/>
            <a:ext cx="1816141" cy="2599562"/>
          </a:xfrm>
          <a:prstGeom prst="rect">
            <a:avLst/>
          </a:prstGeom>
          <a:ln>
            <a:noFill/>
          </a:ln>
          <a:effectLst/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793859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D007569F-A8D0-4C82-926C-E9F7391C1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4796" y="1292858"/>
            <a:ext cx="6652801" cy="522194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5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Um drama na busca do eu-lírico em chegar em algum lugar, o infinito-  uma busca do “eu-lírico” pela essência do ser.</a:t>
            </a: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5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5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Questionar a razão e o fundamento da existência humana: a dor de existir.</a:t>
            </a: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5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5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É uma forma de integração com o cosmo, de busca do transcendente, de viagem “aos mundos mais imponderáveis”.</a:t>
            </a: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5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5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poeta Mário Quintana, “Sonhar é acordar-se para dentro”.</a:t>
            </a: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5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5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Afirma Medina &amp; outros: “a visão simbolista é de envolvimento entre o eu e as coisas, de uma misteriosa relação entre o sujeito e o objeto, a alma e o mundo – uma relação que não pode ser descrita, mas apenas sugerida pelo símbolo”.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CC2501D-F56E-4BFE-94FD-C47B358F33FE}"/>
              </a:ext>
            </a:extLst>
          </p:cNvPr>
          <p:cNvSpPr/>
          <p:nvPr/>
        </p:nvSpPr>
        <p:spPr>
          <a:xfrm>
            <a:off x="570534" y="1090084"/>
            <a:ext cx="4593762" cy="5596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O cavador do infinito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b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Com a lâmpada do Sonho desce aflito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E sobe aos mundos mais imponderáveis,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Vai abafando as queixas implacáveis,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Da alma o profundo e soluçado grito.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Ânsias, Desejos, tudo a fogo escrito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Sente, em redor, nos astros inefáveis.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Cava nas fundas eras insondáveis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O cavador do trágico Infinito.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E quanto mais pelo Infinito cava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Mais o Infinito se transforma em lava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E o cavador se perde nas distâncias...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Alto levanta a lâmpada do Sonho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E com seu vulto pálido e tristonho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Cava os abismos das eternas ânsias !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8F5D1AE0-F417-487E-A377-7C07AB1E267F}"/>
              </a:ext>
            </a:extLst>
          </p:cNvPr>
          <p:cNvCxnSpPr>
            <a:cxnSpLocks/>
          </p:cNvCxnSpPr>
          <p:nvPr/>
        </p:nvCxnSpPr>
        <p:spPr>
          <a:xfrm>
            <a:off x="4386676" y="1120786"/>
            <a:ext cx="0" cy="5566087"/>
          </a:xfrm>
          <a:prstGeom prst="line">
            <a:avLst/>
          </a:prstGeom>
          <a:ln w="38100" cap="sq" cmpd="dbl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A058FBCB-A7C3-498B-B105-9920E2E52F09}"/>
              </a:ext>
            </a:extLst>
          </p:cNvPr>
          <p:cNvSpPr/>
          <p:nvPr/>
        </p:nvSpPr>
        <p:spPr>
          <a:xfrm>
            <a:off x="2406312" y="123691"/>
            <a:ext cx="78277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3200" dirty="0">
                <a:latin typeface="Gabriola" panose="04040605051002020D02" pitchFamily="82" charset="0"/>
              </a:rPr>
              <a:t>CRUZ e SOUSA : “A luz negra do Infinito” – “O Cisne Negro”</a:t>
            </a:r>
            <a:endParaRPr lang="pt-BR" sz="3200" dirty="0">
              <a:latin typeface="Gabriola" panose="04040605051002020D02" pitchFamily="82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17E62FB-4B48-400C-B422-4B3A36AA666B}"/>
              </a:ext>
            </a:extLst>
          </p:cNvPr>
          <p:cNvSpPr/>
          <p:nvPr/>
        </p:nvSpPr>
        <p:spPr>
          <a:xfrm>
            <a:off x="264000" y="721719"/>
            <a:ext cx="11664000" cy="360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455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D007569F-A8D0-4C82-926C-E9F7391C1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869" y="1290963"/>
            <a:ext cx="5530206" cy="397031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eu lírico exprime seu </a:t>
            </a:r>
            <a:r>
              <a:rPr lang="pt-PT" alt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desejo de transcender o corpo físico e superar os  limites  impostos ao ser humano</a:t>
            </a: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: corpo e alma.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8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 espiritualidade: Todos possuem uma alma que sofre o aprisionamento.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8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Oposição: prisão X liberdade.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CC2501D-F56E-4BFE-94FD-C47B358F33FE}"/>
              </a:ext>
            </a:extLst>
          </p:cNvPr>
          <p:cNvSpPr/>
          <p:nvPr/>
        </p:nvSpPr>
        <p:spPr>
          <a:xfrm>
            <a:off x="1153629" y="1290963"/>
            <a:ext cx="4593762" cy="5007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 Cárcere das  almas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b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Ah! Toda  alma  num cárcere anda  presa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Soluçando nas trevas, entre as grades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Do calabouço olhando imensidades,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Mares, estrelas, tardes, natureza.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Tudo se veste de igual grandeza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Quando a alma entre grilhões as liberdades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Sonha e, sonhando, as imortalidades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Rasga no etéreo Espaço da Pureza.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Ó almas presas, mudas e fechadas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Nas prisões colossais e abandonadas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Da Dor no calabouço, atroz, funéreo!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Nesses silêncios solitários, graves,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Que chaveiro do Céu possui as chaves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Para abrir-nos as portas do Mistério?!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8F5D1AE0-F417-487E-A377-7C07AB1E267F}"/>
              </a:ext>
            </a:extLst>
          </p:cNvPr>
          <p:cNvCxnSpPr>
            <a:cxnSpLocks/>
          </p:cNvCxnSpPr>
          <p:nvPr/>
        </p:nvCxnSpPr>
        <p:spPr>
          <a:xfrm>
            <a:off x="5314328" y="1011587"/>
            <a:ext cx="0" cy="5566087"/>
          </a:xfrm>
          <a:prstGeom prst="line">
            <a:avLst/>
          </a:prstGeom>
          <a:ln w="38100" cap="sq" cmpd="dbl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A058FBCB-A7C3-498B-B105-9920E2E52F09}"/>
              </a:ext>
            </a:extLst>
          </p:cNvPr>
          <p:cNvSpPr/>
          <p:nvPr/>
        </p:nvSpPr>
        <p:spPr>
          <a:xfrm>
            <a:off x="2406312" y="123691"/>
            <a:ext cx="78277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3200" dirty="0">
                <a:latin typeface="Gabriola" panose="04040605051002020D02" pitchFamily="82" charset="0"/>
              </a:rPr>
              <a:t>CRUZ e SOUSA : “A luz negra do Infinito” – “O Cisne Negro”</a:t>
            </a:r>
            <a:endParaRPr lang="pt-BR" sz="3200" dirty="0">
              <a:latin typeface="Gabriola" panose="04040605051002020D02" pitchFamily="82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17E62FB-4B48-400C-B422-4B3A36AA666B}"/>
              </a:ext>
            </a:extLst>
          </p:cNvPr>
          <p:cNvSpPr/>
          <p:nvPr/>
        </p:nvSpPr>
        <p:spPr>
          <a:xfrm>
            <a:off x="264000" y="721719"/>
            <a:ext cx="11664000" cy="360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5819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D007569F-A8D0-4C82-926C-E9F7391C1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870" y="1134895"/>
            <a:ext cx="5119392" cy="26776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Um aspecto simbólico em sua poesia: A cor branca.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pt-PT" altLang="pt-BR" sz="28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pt-PT" alt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Busca pela harmonia, de ordem no caos que está mergulhado, de uma “paz” para a sua alma.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CC2501D-F56E-4BFE-94FD-C47B358F33FE}"/>
              </a:ext>
            </a:extLst>
          </p:cNvPr>
          <p:cNvSpPr/>
          <p:nvPr/>
        </p:nvSpPr>
        <p:spPr>
          <a:xfrm>
            <a:off x="1021107" y="1011587"/>
            <a:ext cx="4593762" cy="5597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Ó Formas alvas, brancas, Formas claras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De luares, de neves, de neblinas!...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Ó Formas vagas, fluidas, cristalinas...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Incensos dos turíbulos das aras...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[...]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Indefiníveis músicas supremas,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 Harmonias da Cor e do Perfume...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Horas do Ocaso, trêmulas, extremas,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Réquiem do Sol que a Dor da Luz resume...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[...]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Flores negras do tédio e flores vagas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De amores vãos, tantálicos, doentios...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Fundas vermelhidões de velhas chagas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 Em sangue, abertas, escorrendo em rios...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endParaRPr lang="pt-PT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Tudo! vivo e nervoso e quente e forte,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Nos turbilhões quiméricos do Sonho,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Passe, cantando, ante o perfil medonho</a:t>
            </a:r>
          </a:p>
          <a:p>
            <a:pPr algn="just">
              <a:lnSpc>
                <a:spcPts val="1500"/>
              </a:lnSpc>
              <a:spcAft>
                <a:spcPts val="800"/>
              </a:spcAft>
            </a:pPr>
            <a:r>
              <a:rPr lang="pt-PT" dirty="0">
                <a:latin typeface="Arial Narrow" panose="020B0606020202030204" pitchFamily="34" charset="0"/>
                <a:cs typeface="Times New Roman" panose="02020603050405020304" pitchFamily="18" charset="0"/>
              </a:rPr>
              <a:t>E o tropel cabalístico da Morte...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8F5D1AE0-F417-487E-A377-7C07AB1E267F}"/>
              </a:ext>
            </a:extLst>
          </p:cNvPr>
          <p:cNvCxnSpPr>
            <a:cxnSpLocks/>
          </p:cNvCxnSpPr>
          <p:nvPr/>
        </p:nvCxnSpPr>
        <p:spPr>
          <a:xfrm>
            <a:off x="5314328" y="1011587"/>
            <a:ext cx="0" cy="5566087"/>
          </a:xfrm>
          <a:prstGeom prst="line">
            <a:avLst/>
          </a:prstGeom>
          <a:ln w="38100" cap="sq" cmpd="dbl"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A058FBCB-A7C3-498B-B105-9920E2E52F09}"/>
              </a:ext>
            </a:extLst>
          </p:cNvPr>
          <p:cNvSpPr/>
          <p:nvPr/>
        </p:nvSpPr>
        <p:spPr>
          <a:xfrm>
            <a:off x="2406312" y="123691"/>
            <a:ext cx="78277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3200" dirty="0">
                <a:latin typeface="Gabriola" panose="04040605051002020D02" pitchFamily="82" charset="0"/>
              </a:rPr>
              <a:t>CRUZ e SOUSA : “A luz negra do Infinito” – “O Cisne Negro”</a:t>
            </a:r>
            <a:endParaRPr lang="pt-BR" sz="3200" dirty="0">
              <a:latin typeface="Gabriola" panose="04040605051002020D02" pitchFamily="82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17E62FB-4B48-400C-B422-4B3A36AA666B}"/>
              </a:ext>
            </a:extLst>
          </p:cNvPr>
          <p:cNvSpPr/>
          <p:nvPr/>
        </p:nvSpPr>
        <p:spPr>
          <a:xfrm>
            <a:off x="264000" y="721719"/>
            <a:ext cx="11664000" cy="360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16620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Ardósia</Template>
  <TotalTime>5382</TotalTime>
  <Words>1144</Words>
  <Application>Microsoft Office PowerPoint</Application>
  <PresentationFormat>Widescreen</PresentationFormat>
  <Paragraphs>150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Arial Narrow</vt:lpstr>
      <vt:lpstr>Blackadder ITC</vt:lpstr>
      <vt:lpstr>Bradley Hand ITC</vt:lpstr>
      <vt:lpstr>Calisto MT</vt:lpstr>
      <vt:lpstr>Gabriola</vt:lpstr>
      <vt:lpstr>Wingdings</vt:lpstr>
      <vt:lpstr>Wingdings 2</vt:lpstr>
      <vt:lpstr>Ardósia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Jacqueline cobiak</dc:creator>
  <cp:lastModifiedBy>Jacqueline cobiak</cp:lastModifiedBy>
  <cp:revision>90</cp:revision>
  <dcterms:created xsi:type="dcterms:W3CDTF">2020-03-21T18:02:02Z</dcterms:created>
  <dcterms:modified xsi:type="dcterms:W3CDTF">2020-05-16T18:33:26Z</dcterms:modified>
</cp:coreProperties>
</file>