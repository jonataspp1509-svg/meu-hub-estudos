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309" r:id="rId3"/>
    <p:sldId id="310" r:id="rId4"/>
    <p:sldId id="311" r:id="rId5"/>
    <p:sldId id="31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B4B"/>
    <a:srgbClr val="0D0D0D"/>
    <a:srgbClr val="2C1006"/>
    <a:srgbClr val="C7B6A0"/>
    <a:srgbClr val="988771"/>
    <a:srgbClr val="D8C8B2"/>
    <a:srgbClr val="DAC9B4"/>
    <a:srgbClr val="A7947F"/>
    <a:srgbClr val="E3D9CB"/>
    <a:srgbClr val="D6C7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21/05/2020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8655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21/05/2020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7029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21/05/2020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1540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21/05/2020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6488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21/05/2020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9156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21/05/2020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6255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21/05/2020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7273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21/05/2020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0888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21/05/2020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4324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21/05/2020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1145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21/05/2020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2415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21/05/2020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263353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21/05/2020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46009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21/05/2020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30670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21/05/2020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7060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21/05/2020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13486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21/05/2020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7218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2794E8-C916-4193-94BE-BF7A7153E953}" type="datetimeFigureOut">
              <a:rPr lang="pt-BR" smtClean="0"/>
              <a:t>21/05/2020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09922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34B2CDB-68AC-4FC6-97D1-8887B376040E}"/>
              </a:ext>
            </a:extLst>
          </p:cNvPr>
          <p:cNvSpPr txBox="1"/>
          <p:nvPr/>
        </p:nvSpPr>
        <p:spPr>
          <a:xfrm>
            <a:off x="747658" y="2358887"/>
            <a:ext cx="10696683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600" dirty="0">
                <a:latin typeface="Blackadder ITC" panose="04020505051007020D02" pitchFamily="82" charset="0"/>
              </a:rPr>
              <a:t>Simbolismo</a:t>
            </a:r>
            <a:endParaRPr lang="pt-BR" sz="9600" dirty="0">
              <a:solidFill>
                <a:srgbClr val="FFC000"/>
              </a:solidFill>
              <a:latin typeface="Bradley Hand ITC" panose="03070402050302030203" pitchFamily="66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4B4A65A-08F9-48B4-B05C-38A80F02A3CC}"/>
              </a:ext>
            </a:extLst>
          </p:cNvPr>
          <p:cNvSpPr txBox="1"/>
          <p:nvPr/>
        </p:nvSpPr>
        <p:spPr>
          <a:xfrm>
            <a:off x="926563" y="934277"/>
            <a:ext cx="42682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0" dirty="0">
                <a:latin typeface="Blackadder ITC" panose="04020505051007020D02" pitchFamily="82" charset="0"/>
              </a:rPr>
              <a:t>Aula de hoje:</a:t>
            </a:r>
            <a:endParaRPr lang="pt-BR" sz="4400" dirty="0">
              <a:solidFill>
                <a:srgbClr val="FFC000"/>
              </a:solidFill>
              <a:latin typeface="Bradley Hand ITC" panose="0307040205030203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4219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 descr="Imagem representativa da obra">
            <a:extLst>
              <a:ext uri="{FF2B5EF4-FFF2-40B4-BE49-F238E27FC236}">
                <a16:creationId xmlns:a16="http://schemas.microsoft.com/office/drawing/2014/main" id="{3691EF42-592B-45C6-9779-34A64EA7B25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22919">
            <a:off x="644525" y="1499336"/>
            <a:ext cx="1955097" cy="2328845"/>
          </a:xfrm>
          <a:prstGeom prst="rect">
            <a:avLst/>
          </a:prstGeom>
          <a:ln>
            <a:noFill/>
          </a:ln>
          <a:effectLst/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8421B03-0684-49C7-B904-CE37370A7D95}"/>
              </a:ext>
            </a:extLst>
          </p:cNvPr>
          <p:cNvSpPr/>
          <p:nvPr/>
        </p:nvSpPr>
        <p:spPr>
          <a:xfrm>
            <a:off x="2182068" y="159107"/>
            <a:ext cx="78277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3200" dirty="0">
                <a:latin typeface="Gabriola" panose="04040605051002020D02" pitchFamily="82" charset="0"/>
              </a:rPr>
              <a:t>CRUZ e SOUSA : “A luz negra do Infinito” – “O Cisne Negro”</a:t>
            </a:r>
            <a:endParaRPr lang="pt-BR" sz="3200" dirty="0">
              <a:latin typeface="Gabriola" panose="04040605051002020D02" pitchFamily="82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B9599DF-6A16-473E-A0B0-407328E85965}"/>
              </a:ext>
            </a:extLst>
          </p:cNvPr>
          <p:cNvSpPr/>
          <p:nvPr/>
        </p:nvSpPr>
        <p:spPr>
          <a:xfrm>
            <a:off x="39756" y="743882"/>
            <a:ext cx="11664000" cy="36000"/>
          </a:xfrm>
          <a:prstGeom prst="rect">
            <a:avLst/>
          </a:prstGeom>
          <a:gradFill flip="none" rotWithShape="1">
            <a:gsLst>
              <a:gs pos="58000">
                <a:srgbClr val="F8E9D2"/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007569F-A8D0-4C82-926C-E9F7391C1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6567" y="1474619"/>
            <a:ext cx="5198786" cy="390876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PT" altLang="pt-BR" sz="36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Aspectos: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pt-PT" altLang="pt-BR" sz="1400" dirty="0">
              <a:solidFill>
                <a:prstClr val="white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pt-PT" altLang="pt-BR" sz="28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O transcendental pela poesia- O sentimento trágico da existência.</a:t>
            </a:r>
          </a:p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pt-PT" altLang="pt-BR" sz="2800" dirty="0">
              <a:solidFill>
                <a:prstClr val="white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pt-PT" altLang="pt-BR" sz="28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A profundidade filosófica e a angústia metafísica.</a:t>
            </a:r>
          </a:p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pt-PT" altLang="pt-BR" sz="2800" dirty="0">
              <a:solidFill>
                <a:prstClr val="white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pt-PT" altLang="pt-BR" sz="28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Uma vida de dor.</a:t>
            </a:r>
          </a:p>
        </p:txBody>
      </p:sp>
      <p:pic>
        <p:nvPicPr>
          <p:cNvPr id="7" name="Imagem 6" descr="Cruz e Souza">
            <a:extLst>
              <a:ext uri="{FF2B5EF4-FFF2-40B4-BE49-F238E27FC236}">
                <a16:creationId xmlns:a16="http://schemas.microsoft.com/office/drawing/2014/main" id="{104FF0D2-0327-41A6-A11C-D1D9B8ACD7F7}"/>
              </a:ext>
            </a:extLst>
          </p:cNvPr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736" b="92746" l="8000" r="91200">
                        <a14:foregroundMark x1="46800" y1="9845" x2="70400" y2="17098"/>
                        <a14:foregroundMark x1="56800" y1="6736" x2="50800" y2="10881"/>
                        <a14:foregroundMark x1="54000" y1="68912" x2="62800" y2="81347"/>
                        <a14:foregroundMark x1="79200" y1="83938" x2="58000" y2="85492"/>
                        <a14:foregroundMark x1="13600" y1="84715" x2="26000" y2="74352"/>
                        <a14:foregroundMark x1="6800" y1="74870" x2="8000" y2="85233"/>
                        <a14:foregroundMark x1="8000" y1="85233" x2="32000" y2="89896"/>
                        <a14:foregroundMark x1="36400" y1="82124" x2="38000" y2="78756"/>
                        <a14:foregroundMark x1="47200" y1="64508" x2="63200" y2="73834"/>
                        <a14:foregroundMark x1="85200" y1="72798" x2="82800" y2="89378"/>
                        <a14:foregroundMark x1="50400" y1="91710" x2="63200" y2="90415"/>
                        <a14:foregroundMark x1="63200" y1="90415" x2="87600" y2="93005"/>
                        <a14:foregroundMark x1="91200" y1="91969" x2="90400" y2="8134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8626" y="2470908"/>
            <a:ext cx="4057622" cy="4665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m 9" descr="Imagem representativa da obra">
            <a:extLst>
              <a:ext uri="{FF2B5EF4-FFF2-40B4-BE49-F238E27FC236}">
                <a16:creationId xmlns:a16="http://schemas.microsoft.com/office/drawing/2014/main" id="{B18B60AE-7300-4CE5-A4D3-FA6C0207A50B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044519">
            <a:off x="1273998" y="2803431"/>
            <a:ext cx="1816141" cy="2599562"/>
          </a:xfrm>
          <a:prstGeom prst="rect">
            <a:avLst/>
          </a:prstGeom>
          <a:ln>
            <a:noFill/>
          </a:ln>
          <a:effectLst/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793859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D007569F-A8D0-4C82-926C-E9F7391C1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4796" y="1292858"/>
            <a:ext cx="6652801" cy="522194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algn="just" defTabSz="91440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pt-PT" altLang="pt-BR" sz="25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Um drama na busca do eu-lírico em chegar em algum lugar, o infinito-  uma busca do “eu-lírico” pela essência do ser.</a:t>
            </a:r>
          </a:p>
          <a:p>
            <a:pPr marL="457200" lvl="0" indent="-457200" algn="just" defTabSz="91440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pt-PT" altLang="pt-BR" sz="2500" dirty="0">
              <a:solidFill>
                <a:prstClr val="white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marL="457200" lvl="0" indent="-457200" algn="just" defTabSz="91440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pt-PT" altLang="pt-BR" sz="25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Questionar a razão e o fundamento da existência humana: a dor de existir.</a:t>
            </a:r>
          </a:p>
          <a:p>
            <a:pPr marL="457200" lvl="0" indent="-457200" algn="just" defTabSz="91440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pt-PT" altLang="pt-BR" sz="2500" dirty="0">
              <a:solidFill>
                <a:prstClr val="white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marL="457200" lvl="0" indent="-457200" algn="just" defTabSz="91440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pt-PT" altLang="pt-BR" sz="25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É uma forma de integração com o cosmo, de busca do transcendente, de viagem “aos mundos mais imponderáveis”.</a:t>
            </a:r>
          </a:p>
          <a:p>
            <a:pPr marL="457200" lvl="0" indent="-457200" algn="just" defTabSz="91440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pt-PT" altLang="pt-BR" sz="2500" dirty="0">
              <a:solidFill>
                <a:prstClr val="white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marL="457200" lvl="0" indent="-457200" algn="just" defTabSz="91440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pt-PT" altLang="pt-BR" sz="25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O poeta Mário Quintana, “Sonhar é acordar-se para dentro”.</a:t>
            </a:r>
          </a:p>
          <a:p>
            <a:pPr marL="457200" lvl="0" indent="-457200" algn="just" defTabSz="91440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pt-PT" altLang="pt-BR" sz="2500" dirty="0">
              <a:solidFill>
                <a:prstClr val="white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marL="457200" lvl="0" indent="-457200" algn="just" defTabSz="91440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pt-PT" altLang="pt-BR" sz="25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Afirma Medina &amp; outros: “a visão simbolista é de envolvimento entre o eu e as coisas, de uma misteriosa relação entre o sujeito e o objeto, a alma e o mundo – uma relação que não pode ser descrita, mas apenas sugerida pelo símbolo”.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CC2501D-F56E-4BFE-94FD-C47B358F33FE}"/>
              </a:ext>
            </a:extLst>
          </p:cNvPr>
          <p:cNvSpPr/>
          <p:nvPr/>
        </p:nvSpPr>
        <p:spPr>
          <a:xfrm>
            <a:off x="570534" y="1090084"/>
            <a:ext cx="4593762" cy="5596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O cavador do infinito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endParaRPr lang="pt-PT" b="1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Com a lâmpada do Sonho desce aflito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E sobe aos mundos mais imponderáveis,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Vai abafando as queixas implacáveis,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Da alma o profundo e soluçado grito.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endParaRPr lang="pt-PT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Ânsias, Desejos, tudo a fogo escrito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Sente, em redor, nos astros inefáveis.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Cava nas fundas eras insondáveis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O cavador do trágico Infinito.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endParaRPr lang="pt-PT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E quanto mais pelo Infinito cava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Mais o Infinito se transforma em lava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E o cavador se perde nas distâncias...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endParaRPr lang="pt-PT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Alto levanta a lâmpada do Sonho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E com seu vulto pálido e tristonho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Cava os abismos das eternas ânsias !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8F5D1AE0-F417-487E-A377-7C07AB1E267F}"/>
              </a:ext>
            </a:extLst>
          </p:cNvPr>
          <p:cNvCxnSpPr>
            <a:cxnSpLocks/>
          </p:cNvCxnSpPr>
          <p:nvPr/>
        </p:nvCxnSpPr>
        <p:spPr>
          <a:xfrm>
            <a:off x="4386676" y="1120786"/>
            <a:ext cx="0" cy="5566087"/>
          </a:xfrm>
          <a:prstGeom prst="line">
            <a:avLst/>
          </a:prstGeom>
          <a:ln w="38100" cap="sq" cmpd="dbl">
            <a:solidFill>
              <a:schemeClr val="tx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Retângulo 8">
            <a:extLst>
              <a:ext uri="{FF2B5EF4-FFF2-40B4-BE49-F238E27FC236}">
                <a16:creationId xmlns:a16="http://schemas.microsoft.com/office/drawing/2014/main" id="{A058FBCB-A7C3-498B-B105-9920E2E52F09}"/>
              </a:ext>
            </a:extLst>
          </p:cNvPr>
          <p:cNvSpPr/>
          <p:nvPr/>
        </p:nvSpPr>
        <p:spPr>
          <a:xfrm>
            <a:off x="2406312" y="123691"/>
            <a:ext cx="78277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3200" dirty="0">
                <a:latin typeface="Gabriola" panose="04040605051002020D02" pitchFamily="82" charset="0"/>
              </a:rPr>
              <a:t>CRUZ e SOUSA : “A luz negra do Infinito” – “O Cisne Negro”</a:t>
            </a:r>
            <a:endParaRPr lang="pt-BR" sz="3200" dirty="0">
              <a:latin typeface="Gabriola" panose="04040605051002020D02" pitchFamily="82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17E62FB-4B48-400C-B422-4B3A36AA666B}"/>
              </a:ext>
            </a:extLst>
          </p:cNvPr>
          <p:cNvSpPr/>
          <p:nvPr/>
        </p:nvSpPr>
        <p:spPr>
          <a:xfrm>
            <a:off x="264000" y="721719"/>
            <a:ext cx="11664000" cy="36000"/>
          </a:xfrm>
          <a:prstGeom prst="rect">
            <a:avLst/>
          </a:prstGeom>
          <a:gradFill flip="none" rotWithShape="1">
            <a:gsLst>
              <a:gs pos="58000">
                <a:srgbClr val="F8E9D2"/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8455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D007569F-A8D0-4C82-926C-E9F7391C1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4869" y="1290963"/>
            <a:ext cx="5530206" cy="397031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pt-PT" altLang="pt-BR" sz="28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O eu lírico exprime seu </a:t>
            </a:r>
            <a:r>
              <a:rPr lang="pt-PT" altLang="pt-BR" sz="2800" dirty="0">
                <a:solidFill>
                  <a:srgbClr val="FFC000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desejo de transcender o corpo físico e superar os  limites  impostos ao ser humano</a:t>
            </a:r>
            <a:r>
              <a:rPr lang="pt-PT" altLang="pt-BR" sz="28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: corpo e alma.</a:t>
            </a:r>
          </a:p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pt-PT" altLang="pt-BR" sz="2800" dirty="0">
              <a:solidFill>
                <a:prstClr val="white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pt-PT" altLang="pt-BR" sz="28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A espiritualidade: Todos possuem uma alma que sofre o aprisionamento.</a:t>
            </a:r>
          </a:p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pt-PT" altLang="pt-BR" sz="2800" dirty="0">
              <a:solidFill>
                <a:prstClr val="white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pt-PT" altLang="pt-BR" sz="28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Oposição: prisão X liberdade.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CC2501D-F56E-4BFE-94FD-C47B358F33FE}"/>
              </a:ext>
            </a:extLst>
          </p:cNvPr>
          <p:cNvSpPr/>
          <p:nvPr/>
        </p:nvSpPr>
        <p:spPr>
          <a:xfrm>
            <a:off x="1153629" y="1290963"/>
            <a:ext cx="4593762" cy="50073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 Cárcere das  almas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endParaRPr lang="pt-PT" b="1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Ah! Toda  alma  num cárcere anda  presa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Soluçando nas trevas, entre as grades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Do calabouço olhando imensidades,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Mares, estrelas, tardes, natureza.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Tudo se veste de igual grandeza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Quando a alma entre grilhões as liberdades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Sonha e, sonhando, as imortalidades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Rasga no etéreo Espaço da Pureza.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Ó almas presas, mudas e fechadas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Nas prisões colossais e abandonadas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Da Dor no calabouço, atroz, funéreo!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Nesses silêncios solitários, graves,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Que chaveiro do Céu possui as chaves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Para abrir-nos as portas do Mistério?!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endParaRPr lang="pt-PT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8F5D1AE0-F417-487E-A377-7C07AB1E267F}"/>
              </a:ext>
            </a:extLst>
          </p:cNvPr>
          <p:cNvCxnSpPr>
            <a:cxnSpLocks/>
          </p:cNvCxnSpPr>
          <p:nvPr/>
        </p:nvCxnSpPr>
        <p:spPr>
          <a:xfrm>
            <a:off x="5314328" y="1011587"/>
            <a:ext cx="0" cy="5566087"/>
          </a:xfrm>
          <a:prstGeom prst="line">
            <a:avLst/>
          </a:prstGeom>
          <a:ln w="38100" cap="sq" cmpd="dbl">
            <a:solidFill>
              <a:schemeClr val="tx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Retângulo 8">
            <a:extLst>
              <a:ext uri="{FF2B5EF4-FFF2-40B4-BE49-F238E27FC236}">
                <a16:creationId xmlns:a16="http://schemas.microsoft.com/office/drawing/2014/main" id="{A058FBCB-A7C3-498B-B105-9920E2E52F09}"/>
              </a:ext>
            </a:extLst>
          </p:cNvPr>
          <p:cNvSpPr/>
          <p:nvPr/>
        </p:nvSpPr>
        <p:spPr>
          <a:xfrm>
            <a:off x="2406312" y="123691"/>
            <a:ext cx="78277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3200" dirty="0">
                <a:latin typeface="Gabriola" panose="04040605051002020D02" pitchFamily="82" charset="0"/>
              </a:rPr>
              <a:t>CRUZ e SOUSA : “A luz negra do Infinito” – “O Cisne Negro”</a:t>
            </a:r>
            <a:endParaRPr lang="pt-BR" sz="3200" dirty="0">
              <a:latin typeface="Gabriola" panose="04040605051002020D02" pitchFamily="82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17E62FB-4B48-400C-B422-4B3A36AA666B}"/>
              </a:ext>
            </a:extLst>
          </p:cNvPr>
          <p:cNvSpPr/>
          <p:nvPr/>
        </p:nvSpPr>
        <p:spPr>
          <a:xfrm>
            <a:off x="264000" y="721719"/>
            <a:ext cx="11664000" cy="36000"/>
          </a:xfrm>
          <a:prstGeom prst="rect">
            <a:avLst/>
          </a:prstGeom>
          <a:gradFill flip="none" rotWithShape="1">
            <a:gsLst>
              <a:gs pos="58000">
                <a:srgbClr val="F8E9D2"/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5819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D007569F-A8D0-4C82-926C-E9F7391C1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4870" y="1134895"/>
            <a:ext cx="5119392" cy="26776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pt-PT" altLang="pt-BR" sz="28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Um aspecto simbólico em sua poesia: A cor branca.</a:t>
            </a:r>
          </a:p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pt-PT" altLang="pt-BR" sz="2800" dirty="0">
              <a:solidFill>
                <a:prstClr val="white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pt-PT" altLang="pt-BR" sz="28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Busca pela harmonia, de ordem no caos que está mergulhado, de uma “paz” para a sua alma.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CC2501D-F56E-4BFE-94FD-C47B358F33FE}"/>
              </a:ext>
            </a:extLst>
          </p:cNvPr>
          <p:cNvSpPr/>
          <p:nvPr/>
        </p:nvSpPr>
        <p:spPr>
          <a:xfrm>
            <a:off x="1021107" y="1011587"/>
            <a:ext cx="4593762" cy="55972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Ó Formas alvas, brancas, Formas claras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De luares, de neves, de neblinas!...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Ó Formas vagas, fluidas, cristalinas...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Incensos dos turíbulos das aras...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[...]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Indefiníveis músicas supremas,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 Harmonias da Cor e do Perfume...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Horas do Ocaso, trêmulas, extremas,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Réquiem do Sol que a Dor da Luz resume...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[...]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Flores negras do tédio e flores vagas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De amores vãos, tantálicos, doentios...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Fundas vermelhidões de velhas chagas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 Em sangue, abertas, escorrendo em rios...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endParaRPr lang="pt-PT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Tudo! vivo e nervoso e quente e forte,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Nos turbilhões quiméricos do Sonho,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Passe, cantando, ante o perfil medonho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E o tropel cabalístico da Morte...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8F5D1AE0-F417-487E-A377-7C07AB1E267F}"/>
              </a:ext>
            </a:extLst>
          </p:cNvPr>
          <p:cNvCxnSpPr>
            <a:cxnSpLocks/>
          </p:cNvCxnSpPr>
          <p:nvPr/>
        </p:nvCxnSpPr>
        <p:spPr>
          <a:xfrm>
            <a:off x="5314328" y="1011587"/>
            <a:ext cx="0" cy="5566087"/>
          </a:xfrm>
          <a:prstGeom prst="line">
            <a:avLst/>
          </a:prstGeom>
          <a:ln w="38100" cap="sq" cmpd="dbl">
            <a:solidFill>
              <a:schemeClr val="tx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Retângulo 8">
            <a:extLst>
              <a:ext uri="{FF2B5EF4-FFF2-40B4-BE49-F238E27FC236}">
                <a16:creationId xmlns:a16="http://schemas.microsoft.com/office/drawing/2014/main" id="{A058FBCB-A7C3-498B-B105-9920E2E52F09}"/>
              </a:ext>
            </a:extLst>
          </p:cNvPr>
          <p:cNvSpPr/>
          <p:nvPr/>
        </p:nvSpPr>
        <p:spPr>
          <a:xfrm>
            <a:off x="2406312" y="123691"/>
            <a:ext cx="78277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3200" dirty="0">
                <a:latin typeface="Gabriola" panose="04040605051002020D02" pitchFamily="82" charset="0"/>
              </a:rPr>
              <a:t>CRUZ e SOUSA : “A luz negra do Infinito” – “O Cisne Negro”</a:t>
            </a:r>
            <a:endParaRPr lang="pt-BR" sz="3200" dirty="0">
              <a:latin typeface="Gabriola" panose="04040605051002020D02" pitchFamily="82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17E62FB-4B48-400C-B422-4B3A36AA666B}"/>
              </a:ext>
            </a:extLst>
          </p:cNvPr>
          <p:cNvSpPr/>
          <p:nvPr/>
        </p:nvSpPr>
        <p:spPr>
          <a:xfrm>
            <a:off x="264000" y="721719"/>
            <a:ext cx="11664000" cy="36000"/>
          </a:xfrm>
          <a:prstGeom prst="rect">
            <a:avLst/>
          </a:prstGeom>
          <a:gradFill flip="none" rotWithShape="1">
            <a:gsLst>
              <a:gs pos="58000">
                <a:srgbClr val="F8E9D2"/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16620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rdósia">
  <a:themeElements>
    <a:clrScheme name="Ardósi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Ardósi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rdósi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Ardósia</Template>
  <TotalTime>5395</TotalTime>
  <Words>622</Words>
  <Application>Microsoft Office PowerPoint</Application>
  <PresentationFormat>Widescreen</PresentationFormat>
  <Paragraphs>84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3" baseType="lpstr">
      <vt:lpstr>Arial Narrow</vt:lpstr>
      <vt:lpstr>Blackadder ITC</vt:lpstr>
      <vt:lpstr>Bradley Hand ITC</vt:lpstr>
      <vt:lpstr>Calisto MT</vt:lpstr>
      <vt:lpstr>Gabriola</vt:lpstr>
      <vt:lpstr>Wingdings</vt:lpstr>
      <vt:lpstr>Wingdings 2</vt:lpstr>
      <vt:lpstr>Ardósia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Jacqueline cobiak</dc:creator>
  <cp:lastModifiedBy>Jacqueline cobiak</cp:lastModifiedBy>
  <cp:revision>91</cp:revision>
  <dcterms:created xsi:type="dcterms:W3CDTF">2020-03-21T18:02:02Z</dcterms:created>
  <dcterms:modified xsi:type="dcterms:W3CDTF">2020-05-21T12:19:55Z</dcterms:modified>
</cp:coreProperties>
</file>