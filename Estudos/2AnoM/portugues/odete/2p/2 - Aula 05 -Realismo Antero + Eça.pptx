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9" r:id="rId3"/>
    <p:sldId id="270" r:id="rId4"/>
    <p:sldId id="276" r:id="rId5"/>
    <p:sldId id="277" r:id="rId6"/>
    <p:sldId id="278" r:id="rId7"/>
    <p:sldId id="27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B4B"/>
    <a:srgbClr val="0D0D0D"/>
    <a:srgbClr val="2C1006"/>
    <a:srgbClr val="C7B6A0"/>
    <a:srgbClr val="988771"/>
    <a:srgbClr val="D8C8B2"/>
    <a:srgbClr val="DAC9B4"/>
    <a:srgbClr val="A7947F"/>
    <a:srgbClr val="E3D9CB"/>
    <a:srgbClr val="D6C7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7" d="100"/>
          <a:sy n="77" d="100"/>
        </p:scale>
        <p:origin x="498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26/04/2020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655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26/04/2020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029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26/04/2020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1540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26/04/2020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6488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26/04/2020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915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26/04/2020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625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26/04/2020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7273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26/04/2020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88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26/04/2020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324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26/04/2020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1145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26/04/2020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415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26/04/2020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6335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26/04/2020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4600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26/04/2020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3067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26/04/2020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7060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26/04/2020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348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26/04/2020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7218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2794E8-C916-4193-94BE-BF7A7153E953}" type="datetimeFigureOut">
              <a:rPr lang="pt-BR" smtClean="0"/>
              <a:t>26/04/2020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9922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34B2CDB-68AC-4FC6-97D1-8887B376040E}"/>
              </a:ext>
            </a:extLst>
          </p:cNvPr>
          <p:cNvSpPr txBox="1"/>
          <p:nvPr/>
        </p:nvSpPr>
        <p:spPr>
          <a:xfrm>
            <a:off x="1182158" y="2348710"/>
            <a:ext cx="98276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dirty="0">
                <a:latin typeface="Blackadder ITC" panose="04020505051007020D02" pitchFamily="82" charset="0"/>
              </a:rPr>
              <a:t>Realismo em </a:t>
            </a:r>
            <a:r>
              <a:rPr lang="pt-BR" sz="9600" dirty="0">
                <a:solidFill>
                  <a:srgbClr val="92D050"/>
                </a:solidFill>
                <a:latin typeface="Blackadder ITC" panose="04020505051007020D02" pitchFamily="82" charset="0"/>
              </a:rPr>
              <a:t>Por</a:t>
            </a:r>
            <a:r>
              <a:rPr lang="pt-BR" sz="9600" dirty="0">
                <a:solidFill>
                  <a:srgbClr val="FF4B4B"/>
                </a:solidFill>
                <a:latin typeface="Blackadder ITC" panose="04020505051007020D02" pitchFamily="82" charset="0"/>
              </a:rPr>
              <a:t>tugal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99237AF-3F00-4F3E-ADDD-7C98C39A8A64}"/>
              </a:ext>
            </a:extLst>
          </p:cNvPr>
          <p:cNvSpPr txBox="1"/>
          <p:nvPr/>
        </p:nvSpPr>
        <p:spPr>
          <a:xfrm>
            <a:off x="4022195" y="905110"/>
            <a:ext cx="3868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latin typeface="Blackadder ITC" panose="04020505051007020D02" pitchFamily="82" charset="0"/>
              </a:rPr>
              <a:t>Aula de hoje :</a:t>
            </a:r>
          </a:p>
        </p:txBody>
      </p:sp>
    </p:spTree>
    <p:extLst>
      <p:ext uri="{BB962C8B-B14F-4D97-AF65-F5344CB8AC3E}">
        <p14:creationId xmlns:p14="http://schemas.microsoft.com/office/powerpoint/2010/main" val="2864219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8421B03-0684-49C7-B904-CE37370A7D95}"/>
              </a:ext>
            </a:extLst>
          </p:cNvPr>
          <p:cNvSpPr/>
          <p:nvPr/>
        </p:nvSpPr>
        <p:spPr>
          <a:xfrm>
            <a:off x="5149256" y="225203"/>
            <a:ext cx="184697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5400" dirty="0"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Autores</a:t>
            </a:r>
            <a:endParaRPr lang="pt-BR" sz="5400" dirty="0">
              <a:latin typeface="Gabriola" panose="04040605051002020D02" pitchFamily="82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9599DF-6A16-473E-A0B0-407328E85965}"/>
              </a:ext>
            </a:extLst>
          </p:cNvPr>
          <p:cNvSpPr/>
          <p:nvPr/>
        </p:nvSpPr>
        <p:spPr>
          <a:xfrm>
            <a:off x="337930" y="1249008"/>
            <a:ext cx="11516139" cy="45719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CDC9517-EB63-489B-9C28-5C0F44FB2D84}"/>
              </a:ext>
            </a:extLst>
          </p:cNvPr>
          <p:cNvSpPr/>
          <p:nvPr/>
        </p:nvSpPr>
        <p:spPr>
          <a:xfrm>
            <a:off x="6798105" y="5608992"/>
            <a:ext cx="47751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5400" dirty="0">
                <a:latin typeface="Gabriola" panose="04040605051002020D02" pitchFamily="82" charset="0"/>
                <a:cs typeface="Times New Roman" panose="02020603050405020304" pitchFamily="18" charset="0"/>
              </a:rPr>
              <a:t>Antero de Quental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5050E1D-A77B-4CE4-9CBD-6477A16F8055}"/>
              </a:ext>
            </a:extLst>
          </p:cNvPr>
          <p:cNvSpPr/>
          <p:nvPr/>
        </p:nvSpPr>
        <p:spPr>
          <a:xfrm>
            <a:off x="7160889" y="1359524"/>
            <a:ext cx="37103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5400" dirty="0">
                <a:latin typeface="Gabriola" panose="04040605051002020D02" pitchFamily="82" charset="0"/>
                <a:cs typeface="Times New Roman" panose="02020603050405020304" pitchFamily="18" charset="0"/>
              </a:rPr>
              <a:t>POESIA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A1E4F22-3376-4E76-8FD2-D200BA7AA77A}"/>
              </a:ext>
            </a:extLst>
          </p:cNvPr>
          <p:cNvSpPr/>
          <p:nvPr/>
        </p:nvSpPr>
        <p:spPr>
          <a:xfrm>
            <a:off x="1683587" y="5642599"/>
            <a:ext cx="37103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5400" dirty="0">
                <a:latin typeface="Gabriola" panose="04040605051002020D02" pitchFamily="82" charset="0"/>
                <a:cs typeface="Times New Roman" panose="02020603050405020304" pitchFamily="18" charset="0"/>
              </a:rPr>
              <a:t>Eça de Queirós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06161FC-E400-4C08-9FD7-C4E116450582}"/>
              </a:ext>
            </a:extLst>
          </p:cNvPr>
          <p:cNvSpPr/>
          <p:nvPr/>
        </p:nvSpPr>
        <p:spPr>
          <a:xfrm>
            <a:off x="1683587" y="1392237"/>
            <a:ext cx="37103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5400" dirty="0">
                <a:latin typeface="Gabriola" panose="04040605051002020D02" pitchFamily="82" charset="0"/>
                <a:cs typeface="Times New Roman" panose="02020603050405020304" pitchFamily="18" charset="0"/>
              </a:rPr>
              <a:t>PROSA</a:t>
            </a:r>
          </a:p>
        </p:txBody>
      </p:sp>
      <p:pic>
        <p:nvPicPr>
          <p:cNvPr id="9220" name="Picture 4" descr="Eça de Queiroz. Vida e obra de Eça de Queiroz - Brasil Escola">
            <a:extLst>
              <a:ext uri="{FF2B5EF4-FFF2-40B4-BE49-F238E27FC236}">
                <a16:creationId xmlns:a16="http://schemas.microsoft.com/office/drawing/2014/main" id="{841631F5-CC11-4A19-B03A-02D9DA949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723" b="99377" l="2750" r="95000">
                        <a14:foregroundMark x1="15000" y1="86604" x2="35750" y2="57009"/>
                        <a14:foregroundMark x1="35750" y1="57009" x2="42750" y2="54517"/>
                        <a14:foregroundMark x1="34250" y1="69159" x2="47250" y2="57321"/>
                        <a14:foregroundMark x1="8250" y1="94704" x2="18000" y2="81308"/>
                        <a14:foregroundMark x1="2250" y1="94704" x2="15250" y2="99688"/>
                        <a14:foregroundMark x1="15250" y1="99688" x2="36000" y2="99377"/>
                        <a14:foregroundMark x1="36000" y1="99377" x2="45750" y2="94704"/>
                        <a14:foregroundMark x1="2750" y1="95016" x2="3750" y2="92523"/>
                        <a14:foregroundMark x1="74000" y1="72274" x2="78500" y2="80685"/>
                        <a14:foregroundMark x1="45750" y1="36137" x2="47500" y2="34891"/>
                        <a14:foregroundMark x1="44250" y1="37383" x2="48500" y2="30218"/>
                        <a14:foregroundMark x1="60750" y1="9034" x2="68000" y2="9034"/>
                        <a14:foregroundMark x1="93750" y1="77570" x2="95000" y2="93146"/>
                        <a14:foregroundMark x1="44500" y1="39875" x2="45750" y2="370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908" y="2438880"/>
            <a:ext cx="3810000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C23DC73-5960-47F4-AA2F-F38E56783ED4}"/>
              </a:ext>
            </a:extLst>
          </p:cNvPr>
          <p:cNvCxnSpPr>
            <a:cxnSpLocks/>
          </p:cNvCxnSpPr>
          <p:nvPr/>
        </p:nvCxnSpPr>
        <p:spPr>
          <a:xfrm>
            <a:off x="6224337" y="1475875"/>
            <a:ext cx="0" cy="5056447"/>
          </a:xfrm>
          <a:prstGeom prst="line">
            <a:avLst/>
          </a:prstGeom>
          <a:ln w="38100"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ANTERO DE QUENTAL, IMPORTANTE LITERATO DAS ILHAS AÇORES">
            <a:extLst>
              <a:ext uri="{FF2B5EF4-FFF2-40B4-BE49-F238E27FC236}">
                <a16:creationId xmlns:a16="http://schemas.microsoft.com/office/drawing/2014/main" id="{318A69FE-68E7-4F41-A7FC-04CA2A193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98" b="97384" l="294" r="99706">
                        <a14:foregroundMark x1="48824" y1="7267" x2="65882" y2="9012"/>
                        <a14:foregroundMark x1="77647" y1="18023" x2="77941" y2="27035"/>
                        <a14:foregroundMark x1="77941" y1="27035" x2="77941" y2="27035"/>
                        <a14:foregroundMark x1="73824" y1="52035" x2="73824" y2="52035"/>
                        <a14:foregroundMark x1="75000" y1="51163" x2="76471" y2="34884"/>
                        <a14:foregroundMark x1="80588" y1="25581" x2="78235" y2="16279"/>
                        <a14:foregroundMark x1="78235" y1="16279" x2="77353" y2="15988"/>
                        <a14:foregroundMark x1="74412" y1="12791" x2="57647" y2="5523"/>
                        <a14:foregroundMark x1="57647" y1="5523" x2="52941" y2="4360"/>
                        <a14:foregroundMark x1="54412" y1="3198" x2="61765" y2="4360"/>
                        <a14:foregroundMark x1="36765" y1="9012" x2="37647" y2="11337"/>
                        <a14:foregroundMark x1="30882" y1="15407" x2="31471" y2="21512"/>
                        <a14:foregroundMark x1="28529" y1="19186" x2="30882" y2="18895"/>
                        <a14:foregroundMark x1="27059" y1="19767" x2="28824" y2="18605"/>
                        <a14:foregroundMark x1="29412" y1="15698" x2="31765" y2="15698"/>
                        <a14:foregroundMark x1="28529" y1="26744" x2="30000" y2="30523"/>
                        <a14:foregroundMark x1="27647" y1="28198" x2="29118" y2="30814"/>
                        <a14:foregroundMark x1="21471" y1="89244" x2="55294" y2="89535"/>
                        <a14:foregroundMark x1="55294" y1="89535" x2="56176" y2="89826"/>
                        <a14:foregroundMark x1="64118" y1="88372" x2="86765" y2="97384"/>
                        <a14:foregroundMark x1="72647" y1="84302" x2="93529" y2="95930"/>
                        <a14:foregroundMark x1="61471" y1="81395" x2="68235" y2="86047"/>
                        <a14:foregroundMark x1="64412" y1="72965" x2="90000" y2="90116"/>
                        <a14:foregroundMark x1="90000" y1="90116" x2="90000" y2="90116"/>
                        <a14:foregroundMark x1="83824" y1="82849" x2="99706" y2="91860"/>
                        <a14:foregroundMark x1="17353" y1="88081" x2="5882" y2="95930"/>
                        <a14:foregroundMark x1="5882" y1="95930" x2="5588" y2="95930"/>
                        <a14:foregroundMark x1="294" y1="94477" x2="588" y2="96512"/>
                        <a14:foregroundMark x1="18824" y1="88663" x2="27353" y2="83430"/>
                        <a14:foregroundMark x1="57647" y1="90698" x2="69706" y2="95930"/>
                        <a14:backgroundMark x1="50588" y1="1163" x2="50588" y2="1163"/>
                      </a14:backgroundRemoval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701" y="2342078"/>
            <a:ext cx="3170391" cy="3207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657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34B2CDB-68AC-4FC6-97D1-8887B376040E}"/>
              </a:ext>
            </a:extLst>
          </p:cNvPr>
          <p:cNvSpPr txBox="1"/>
          <p:nvPr/>
        </p:nvSpPr>
        <p:spPr>
          <a:xfrm>
            <a:off x="3122375" y="2533493"/>
            <a:ext cx="98276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dirty="0">
                <a:latin typeface="Blackadder ITC" panose="04020505051007020D02" pitchFamily="82" charset="0"/>
              </a:rPr>
              <a:t>1. Antero de Quental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65E6D11-8F2F-4111-A319-6A07620789E7}"/>
              </a:ext>
            </a:extLst>
          </p:cNvPr>
          <p:cNvSpPr txBox="1"/>
          <p:nvPr/>
        </p:nvSpPr>
        <p:spPr>
          <a:xfrm>
            <a:off x="2976600" y="3662787"/>
            <a:ext cx="98276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rgbClr val="FF4B4B"/>
                </a:solidFill>
                <a:latin typeface="Blackadder ITC" panose="04020505051007020D02" pitchFamily="82" charset="0"/>
              </a:rPr>
              <a:t>O poeta do Apocalipse</a:t>
            </a:r>
          </a:p>
        </p:txBody>
      </p:sp>
      <p:pic>
        <p:nvPicPr>
          <p:cNvPr id="4" name="Picture 2" descr="ANTERO DE QUENTAL, IMPORTANTE LITERATO DAS ILHAS AÇORES">
            <a:extLst>
              <a:ext uri="{FF2B5EF4-FFF2-40B4-BE49-F238E27FC236}">
                <a16:creationId xmlns:a16="http://schemas.microsoft.com/office/drawing/2014/main" id="{62AA9330-AC31-418E-A7F4-D419867D9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98" b="97384" l="294" r="99706">
                        <a14:foregroundMark x1="48824" y1="7267" x2="65882" y2="9012"/>
                        <a14:foregroundMark x1="77647" y1="18023" x2="77941" y2="27035"/>
                        <a14:foregroundMark x1="77941" y1="27035" x2="77941" y2="27035"/>
                        <a14:foregroundMark x1="73824" y1="52035" x2="73824" y2="52035"/>
                        <a14:foregroundMark x1="75000" y1="51163" x2="76471" y2="34884"/>
                        <a14:foregroundMark x1="80588" y1="25581" x2="78235" y2="16279"/>
                        <a14:foregroundMark x1="78235" y1="16279" x2="77353" y2="15988"/>
                        <a14:foregroundMark x1="74412" y1="12791" x2="57647" y2="5523"/>
                        <a14:foregroundMark x1="57647" y1="5523" x2="52941" y2="4360"/>
                        <a14:foregroundMark x1="54412" y1="3198" x2="61765" y2="4360"/>
                        <a14:foregroundMark x1="36765" y1="9012" x2="37647" y2="11337"/>
                        <a14:foregroundMark x1="30882" y1="15407" x2="31471" y2="21512"/>
                        <a14:foregroundMark x1="28529" y1="19186" x2="30882" y2="18895"/>
                        <a14:foregroundMark x1="27059" y1="19767" x2="28824" y2="18605"/>
                        <a14:foregroundMark x1="29412" y1="15698" x2="31765" y2="15698"/>
                        <a14:foregroundMark x1="28529" y1="26744" x2="30000" y2="30523"/>
                        <a14:foregroundMark x1="27647" y1="28198" x2="29118" y2="30814"/>
                        <a14:foregroundMark x1="21471" y1="89244" x2="55294" y2="89535"/>
                        <a14:foregroundMark x1="55294" y1="89535" x2="56176" y2="89826"/>
                        <a14:foregroundMark x1="64118" y1="88372" x2="86765" y2="97384"/>
                        <a14:foregroundMark x1="72647" y1="84302" x2="93529" y2="95930"/>
                        <a14:foregroundMark x1="61471" y1="81395" x2="68235" y2="86047"/>
                        <a14:foregroundMark x1="64412" y1="72965" x2="90000" y2="90116"/>
                        <a14:foregroundMark x1="90000" y1="90116" x2="90000" y2="90116"/>
                        <a14:foregroundMark x1="83824" y1="82849" x2="99706" y2="91860"/>
                        <a14:foregroundMark x1="17353" y1="88081" x2="5882" y2="95930"/>
                        <a14:foregroundMark x1="5882" y1="95930" x2="5588" y2="95930"/>
                        <a14:foregroundMark x1="294" y1="94477" x2="588" y2="96512"/>
                        <a14:foregroundMark x1="18824" y1="88663" x2="27353" y2="83430"/>
                        <a14:foregroundMark x1="57647" y1="90698" x2="69706" y2="95930"/>
                        <a14:backgroundMark x1="50588" y1="1163" x2="50588" y2="1163"/>
                      </a14:backgroundRemoval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450576" y="1272209"/>
            <a:ext cx="5520840" cy="5585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5D7273F-BC22-4A72-95AF-6C6BA2E15EA2}"/>
              </a:ext>
            </a:extLst>
          </p:cNvPr>
          <p:cNvSpPr txBox="1"/>
          <p:nvPr/>
        </p:nvSpPr>
        <p:spPr>
          <a:xfrm>
            <a:off x="192316" y="179902"/>
            <a:ext cx="3868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latin typeface="Blackadder ITC" panose="04020505051007020D02" pitchFamily="82" charset="0"/>
              </a:rPr>
              <a:t>Retomando...</a:t>
            </a:r>
          </a:p>
        </p:txBody>
      </p:sp>
    </p:spTree>
    <p:extLst>
      <p:ext uri="{BB962C8B-B14F-4D97-AF65-F5344CB8AC3E}">
        <p14:creationId xmlns:p14="http://schemas.microsoft.com/office/powerpoint/2010/main" val="2269700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8421B03-0684-49C7-B904-CE37370A7D95}"/>
              </a:ext>
            </a:extLst>
          </p:cNvPr>
          <p:cNvSpPr/>
          <p:nvPr/>
        </p:nvSpPr>
        <p:spPr>
          <a:xfrm>
            <a:off x="756292" y="38038"/>
            <a:ext cx="109792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3200" dirty="0"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Leia os textos a seguir e indique as diferenças entre eles quanto ao olhar do eu lírico.</a:t>
            </a:r>
            <a:endParaRPr lang="pt-BR" sz="3200" dirty="0">
              <a:latin typeface="Gabriola" panose="04040605051002020D02" pitchFamily="82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9599DF-6A16-473E-A0B0-407328E85965}"/>
              </a:ext>
            </a:extLst>
          </p:cNvPr>
          <p:cNvSpPr/>
          <p:nvPr/>
        </p:nvSpPr>
        <p:spPr>
          <a:xfrm flipV="1">
            <a:off x="337930" y="632539"/>
            <a:ext cx="11516139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1167027-5368-4F37-A095-476748212ABB}"/>
              </a:ext>
            </a:extLst>
          </p:cNvPr>
          <p:cNvSpPr/>
          <p:nvPr/>
        </p:nvSpPr>
        <p:spPr>
          <a:xfrm>
            <a:off x="427004" y="1312613"/>
            <a:ext cx="4135975" cy="5622052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 Tu, que dormes, espírito sereno,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Posto à sombra dos cedros seculares,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Como um levita à sombra dos altares,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Longe da luta e do fragor terreno,</a:t>
            </a:r>
          </a:p>
          <a:p>
            <a:pPr algn="ctr">
              <a:spcAft>
                <a:spcPts val="800"/>
              </a:spcAft>
            </a:pPr>
            <a:endParaRPr lang="pt-PT" sz="3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Acorda! é tempo! O sol, já alto e pleno,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Afugentou as larvas tumulares...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Para surgir do seio desses mares,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Um mundo novo espera só um aceno...</a:t>
            </a:r>
          </a:p>
          <a:p>
            <a:pPr algn="ctr">
              <a:spcAft>
                <a:spcPts val="800"/>
              </a:spcAft>
            </a:pPr>
            <a:endParaRPr lang="pt-PT" sz="3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Escuta! é a grande voz das multidões!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São teus irmãos, que se erguem! São canções...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Mas de guerra... e são vozes de rebate!</a:t>
            </a:r>
          </a:p>
          <a:p>
            <a:pPr algn="ctr">
              <a:spcAft>
                <a:spcPts val="800"/>
              </a:spcAft>
            </a:pPr>
            <a:endParaRPr lang="pt-PT" sz="3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Ergue-te, pois, soldado do Futuro,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 dos raios de luz do sonho puro,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Sonhador, faze espada de combate.</a:t>
            </a:r>
          </a:p>
          <a:p>
            <a:pPr algn="ctr">
              <a:spcAft>
                <a:spcPts val="800"/>
              </a:spcAft>
            </a:pPr>
            <a:endParaRPr lang="pt-PT" sz="16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ANTERO DE QUENTAL, IMPORTANTE LITERATO DAS ILHAS AÇORES">
            <a:extLst>
              <a:ext uri="{FF2B5EF4-FFF2-40B4-BE49-F238E27FC236}">
                <a16:creationId xmlns:a16="http://schemas.microsoft.com/office/drawing/2014/main" id="{EBB9C338-956C-4058-A584-ABEA5B9AA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DADADA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98" b="97384" l="294" r="99706">
                        <a14:foregroundMark x1="48824" y1="7267" x2="65882" y2="9012"/>
                        <a14:foregroundMark x1="77647" y1="18023" x2="77941" y2="27035"/>
                        <a14:foregroundMark x1="77941" y1="27035" x2="77941" y2="27035"/>
                        <a14:foregroundMark x1="73824" y1="52035" x2="73824" y2="52035"/>
                        <a14:foregroundMark x1="75000" y1="51163" x2="76471" y2="34884"/>
                        <a14:foregroundMark x1="80588" y1="25581" x2="78235" y2="16279"/>
                        <a14:foregroundMark x1="78235" y1="16279" x2="77353" y2="15988"/>
                        <a14:foregroundMark x1="74412" y1="12791" x2="57647" y2="5523"/>
                        <a14:foregroundMark x1="57647" y1="5523" x2="52941" y2="4360"/>
                        <a14:foregroundMark x1="54412" y1="3198" x2="61765" y2="4360"/>
                        <a14:foregroundMark x1="36765" y1="9012" x2="37647" y2="11337"/>
                        <a14:foregroundMark x1="30882" y1="15407" x2="31471" y2="21512"/>
                        <a14:foregroundMark x1="28529" y1="19186" x2="30882" y2="18895"/>
                        <a14:foregroundMark x1="27059" y1="19767" x2="28824" y2="18605"/>
                        <a14:foregroundMark x1="29412" y1="15698" x2="31765" y2="15698"/>
                        <a14:foregroundMark x1="28529" y1="26744" x2="30000" y2="30523"/>
                        <a14:foregroundMark x1="27647" y1="28198" x2="29118" y2="30814"/>
                        <a14:foregroundMark x1="21471" y1="89244" x2="55294" y2="89535"/>
                        <a14:foregroundMark x1="55294" y1="89535" x2="56176" y2="89826"/>
                        <a14:foregroundMark x1="64118" y1="88372" x2="86765" y2="97384"/>
                        <a14:foregroundMark x1="72647" y1="84302" x2="93529" y2="95930"/>
                        <a14:foregroundMark x1="61471" y1="81395" x2="68235" y2="86047"/>
                        <a14:foregroundMark x1="64412" y1="72965" x2="90000" y2="90116"/>
                        <a14:foregroundMark x1="90000" y1="90116" x2="90000" y2="90116"/>
                        <a14:foregroundMark x1="83824" y1="82849" x2="99706" y2="91860"/>
                        <a14:foregroundMark x1="17353" y1="88081" x2="5882" y2="95930"/>
                        <a14:foregroundMark x1="5882" y1="95930" x2="5588" y2="95930"/>
                        <a14:foregroundMark x1="294" y1="94477" x2="588" y2="96512"/>
                        <a14:foregroundMark x1="18824" y1="88663" x2="27353" y2="83430"/>
                        <a14:foregroundMark x1="57647" y1="90698" x2="69706" y2="95930"/>
                        <a14:backgroundMark x1="50588" y1="1163" x2="50588" y2="1163"/>
                      </a14:backgroundRemoval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926" y="2301502"/>
            <a:ext cx="1833981" cy="1855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A7C2B07B-1E1A-435B-BF33-1C3D4014D99A}"/>
              </a:ext>
            </a:extLst>
          </p:cNvPr>
          <p:cNvSpPr/>
          <p:nvPr/>
        </p:nvSpPr>
        <p:spPr>
          <a:xfrm>
            <a:off x="7701291" y="1289678"/>
            <a:ext cx="4063705" cy="5668218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 Para além do Universo luminoso,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Cheio de formas, de rumor, de lida,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De forças, de desejos e de vida,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Abre-se como um vácuo tenebroso.</a:t>
            </a:r>
          </a:p>
          <a:p>
            <a:pPr algn="ctr">
              <a:spcAft>
                <a:spcPts val="800"/>
              </a:spcAft>
            </a:pPr>
            <a:endParaRPr lang="pt-PT" sz="3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A onda desse mar tumultuoso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Vem ali expirar, esmaecida…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Numa imobilidade indefinida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Termina ali o ser, inerte, ocioso...</a:t>
            </a:r>
          </a:p>
          <a:p>
            <a:pPr algn="ctr">
              <a:spcAft>
                <a:spcPts val="800"/>
              </a:spcAft>
            </a:pPr>
            <a:endParaRPr lang="pt-PT" sz="3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 quando o pensamento, assim absorto,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Emerge a custo desse mundo morto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E torna a olhar as coisas naturais,</a:t>
            </a:r>
          </a:p>
          <a:p>
            <a:pPr algn="ctr">
              <a:spcAft>
                <a:spcPts val="800"/>
              </a:spcAft>
            </a:pPr>
            <a:endParaRPr lang="pt-PT" sz="3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À bela luz da vida, ampla, infinita,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Só vê com tédio, em tudo quanto fita,</a:t>
            </a:r>
          </a:p>
          <a:p>
            <a:pPr algn="ctr">
              <a:spcAft>
                <a:spcPts val="800"/>
              </a:spcAft>
            </a:pPr>
            <a:r>
              <a:rPr lang="pt-PT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A ilusão e o vazio universais.</a:t>
            </a:r>
          </a:p>
          <a:p>
            <a:pPr algn="ctr">
              <a:spcAft>
                <a:spcPts val="800"/>
              </a:spcAft>
            </a:pPr>
            <a:endParaRPr lang="pt-PT" sz="16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2" descr="ANTERO DE QUENTAL, IMPORTANTE LITERATO DAS ILHAS AÇORES">
            <a:extLst>
              <a:ext uri="{FF2B5EF4-FFF2-40B4-BE49-F238E27FC236}">
                <a16:creationId xmlns:a16="http://schemas.microsoft.com/office/drawing/2014/main" id="{8F543F1E-24DF-473A-B76D-0CA3CD0C3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98" b="97384" l="294" r="99706">
                        <a14:foregroundMark x1="48824" y1="7267" x2="65882" y2="9012"/>
                        <a14:foregroundMark x1="77647" y1="18023" x2="77941" y2="27035"/>
                        <a14:foregroundMark x1="77941" y1="27035" x2="77941" y2="27035"/>
                        <a14:foregroundMark x1="73824" y1="52035" x2="73824" y2="52035"/>
                        <a14:foregroundMark x1="75000" y1="51163" x2="76471" y2="34884"/>
                        <a14:foregroundMark x1="80588" y1="25581" x2="78235" y2="16279"/>
                        <a14:foregroundMark x1="78235" y1="16279" x2="77353" y2="15988"/>
                        <a14:foregroundMark x1="74412" y1="12791" x2="57647" y2="5523"/>
                        <a14:foregroundMark x1="57647" y1="5523" x2="52941" y2="4360"/>
                        <a14:foregroundMark x1="54412" y1="3198" x2="61765" y2="4360"/>
                        <a14:foregroundMark x1="36765" y1="9012" x2="37647" y2="11337"/>
                        <a14:foregroundMark x1="30882" y1="15407" x2="31471" y2="21512"/>
                        <a14:foregroundMark x1="28529" y1="19186" x2="30882" y2="18895"/>
                        <a14:foregroundMark x1="27059" y1="19767" x2="28824" y2="18605"/>
                        <a14:foregroundMark x1="29412" y1="15698" x2="31765" y2="15698"/>
                        <a14:foregroundMark x1="28529" y1="26744" x2="30000" y2="30523"/>
                        <a14:foregroundMark x1="27647" y1="28198" x2="29118" y2="30814"/>
                        <a14:foregroundMark x1="21471" y1="89244" x2="55294" y2="89535"/>
                        <a14:foregroundMark x1="55294" y1="89535" x2="56176" y2="89826"/>
                        <a14:foregroundMark x1="64118" y1="88372" x2="86765" y2="97384"/>
                        <a14:foregroundMark x1="72647" y1="84302" x2="93529" y2="95930"/>
                        <a14:foregroundMark x1="61471" y1="81395" x2="68235" y2="86047"/>
                        <a14:foregroundMark x1="64412" y1="72965" x2="90000" y2="90116"/>
                        <a14:foregroundMark x1="90000" y1="90116" x2="90000" y2="90116"/>
                        <a14:foregroundMark x1="83824" y1="82849" x2="99706" y2="91860"/>
                        <a14:foregroundMark x1="17353" y1="88081" x2="5882" y2="95930"/>
                        <a14:foregroundMark x1="5882" y1="95930" x2="5588" y2="95930"/>
                        <a14:foregroundMark x1="294" y1="94477" x2="588" y2="96512"/>
                        <a14:foregroundMark x1="18824" y1="88663" x2="27353" y2="83430"/>
                        <a14:foregroundMark x1="57647" y1="90698" x2="69706" y2="95930"/>
                        <a14:backgroundMark x1="50588" y1="1163" x2="50588" y2="1163"/>
                      </a14:backgroundRemoval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406161" y="2311738"/>
            <a:ext cx="1833982" cy="1855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2B90BE4-F3B4-4465-AECB-3713E0AC310B}"/>
              </a:ext>
            </a:extLst>
          </p:cNvPr>
          <p:cNvSpPr/>
          <p:nvPr/>
        </p:nvSpPr>
        <p:spPr>
          <a:xfrm>
            <a:off x="1341149" y="855744"/>
            <a:ext cx="23076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400" b="1" dirty="0">
                <a:solidFill>
                  <a:srgbClr val="FFC000"/>
                </a:solidFill>
              </a:rPr>
              <a:t>TEXTO 1 : A UM POETA</a:t>
            </a:r>
            <a:endParaRPr lang="pt-BR" sz="1400" b="1" dirty="0">
              <a:solidFill>
                <a:srgbClr val="FFC000"/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3974534-1D20-4D1D-8F13-F31B90ADF56A}"/>
              </a:ext>
            </a:extLst>
          </p:cNvPr>
          <p:cNvSpPr/>
          <p:nvPr/>
        </p:nvSpPr>
        <p:spPr>
          <a:xfrm>
            <a:off x="8376601" y="801751"/>
            <a:ext cx="25581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1400" b="1" dirty="0">
                <a:solidFill>
                  <a:schemeClr val="tx2">
                    <a:lumMod val="75000"/>
                  </a:schemeClr>
                </a:solidFill>
              </a:rPr>
              <a:t>TEXTO 2 : NIRVANA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1C15142-7D46-43E4-B0B9-A1521E802C9B}"/>
              </a:ext>
            </a:extLst>
          </p:cNvPr>
          <p:cNvSpPr/>
          <p:nvPr/>
        </p:nvSpPr>
        <p:spPr>
          <a:xfrm>
            <a:off x="4573569" y="4177532"/>
            <a:ext cx="333314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pt-BR" sz="1600" dirty="0" err="1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Obs</a:t>
            </a:r>
            <a:r>
              <a:rPr lang="pt-BR" sz="1600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: o Nirvana não pode ser apenas visto pelo seu lado negativo, pois aponta para a paz. O Nirvana é o céu do budismo; atrai os budistas como o céu atrai os cristãos.</a:t>
            </a:r>
          </a:p>
        </p:txBody>
      </p:sp>
    </p:spTree>
    <p:extLst>
      <p:ext uri="{BB962C8B-B14F-4D97-AF65-F5344CB8AC3E}">
        <p14:creationId xmlns:p14="http://schemas.microsoft.com/office/powerpoint/2010/main" val="3960572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34B2CDB-68AC-4FC6-97D1-8887B376040E}"/>
              </a:ext>
            </a:extLst>
          </p:cNvPr>
          <p:cNvSpPr txBox="1"/>
          <p:nvPr/>
        </p:nvSpPr>
        <p:spPr>
          <a:xfrm>
            <a:off x="7262353" y="512946"/>
            <a:ext cx="4611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7200" dirty="0">
                <a:latin typeface="Blackadder ITC" panose="04020505051007020D02" pitchFamily="82" charset="0"/>
              </a:rPr>
              <a:t>2. A prosa Realista em Portugal</a:t>
            </a:r>
            <a:endParaRPr lang="pt-BR" sz="7200" dirty="0">
              <a:latin typeface="Blackadder ITC" panose="04020505051007020D02" pitchFamily="82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65E6D11-8F2F-4111-A319-6A07620789E7}"/>
              </a:ext>
            </a:extLst>
          </p:cNvPr>
          <p:cNvSpPr txBox="1"/>
          <p:nvPr/>
        </p:nvSpPr>
        <p:spPr>
          <a:xfrm>
            <a:off x="7153530" y="4498395"/>
            <a:ext cx="505630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000" dirty="0">
                <a:solidFill>
                  <a:srgbClr val="92D050"/>
                </a:solidFill>
                <a:latin typeface="Blackadder ITC" panose="04020505051007020D02" pitchFamily="82" charset="0"/>
              </a:rPr>
              <a:t>O grande </a:t>
            </a:r>
          </a:p>
          <a:p>
            <a:pPr algn="ctr"/>
            <a:endParaRPr lang="pt-PT" sz="1200" dirty="0">
              <a:solidFill>
                <a:srgbClr val="92D050"/>
              </a:solidFill>
              <a:latin typeface="Blackadder ITC" panose="04020505051007020D02" pitchFamily="82" charset="0"/>
            </a:endParaRPr>
          </a:p>
          <a:p>
            <a:pPr algn="ctr"/>
            <a:r>
              <a:rPr lang="pt-PT" sz="6000" dirty="0">
                <a:solidFill>
                  <a:srgbClr val="92D050"/>
                </a:solidFill>
                <a:latin typeface="Blackadder ITC" panose="04020505051007020D02" pitchFamily="82" charset="0"/>
              </a:rPr>
              <a:t>Eça de Queirós</a:t>
            </a:r>
            <a:endParaRPr lang="pt-BR" sz="6000" dirty="0">
              <a:solidFill>
                <a:srgbClr val="92D050"/>
              </a:solidFill>
              <a:latin typeface="Blackadder ITC" panose="04020505051007020D02" pitchFamily="82" charset="0"/>
            </a:endParaRPr>
          </a:p>
        </p:txBody>
      </p:sp>
      <p:pic>
        <p:nvPicPr>
          <p:cNvPr id="4" name="Imagem 3" descr="5">
            <a:extLst>
              <a:ext uri="{FF2B5EF4-FFF2-40B4-BE49-F238E27FC236}">
                <a16:creationId xmlns:a16="http://schemas.microsoft.com/office/drawing/2014/main" id="{B18ACAC2-C1C3-4783-8E11-5FB585D85392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64" b="99091" l="1667" r="96667">
                        <a14:foregroundMark x1="63333" y1="10455" x2="70000" y2="40909"/>
                        <a14:foregroundMark x1="78333" y1="10000" x2="85417" y2="41818"/>
                        <a14:foregroundMark x1="88333" y1="22727" x2="88333" y2="50000"/>
                        <a14:foregroundMark x1="69583" y1="41364" x2="77917" y2="69545"/>
                        <a14:foregroundMark x1="67917" y1="63636" x2="75000" y2="70909"/>
                        <a14:foregroundMark x1="75000" y1="70909" x2="75833" y2="71364"/>
                        <a14:foregroundMark x1="87917" y1="53182" x2="80833" y2="72273"/>
                        <a14:foregroundMark x1="94167" y1="27727" x2="92083" y2="53636"/>
                        <a14:foregroundMark x1="96667" y1="35909" x2="97083" y2="42273"/>
                        <a14:foregroundMark x1="61667" y1="33182" x2="65833" y2="39091"/>
                        <a14:foregroundMark x1="55417" y1="5455" x2="67083" y2="5455"/>
                        <a14:foregroundMark x1="67083" y1="5455" x2="72500" y2="4545"/>
                        <a14:foregroundMark x1="74167" y1="1818" x2="86667" y2="5909"/>
                        <a14:foregroundMark x1="47083" y1="85909" x2="64583" y2="93182"/>
                        <a14:foregroundMark x1="90000" y1="73182" x2="90000" y2="92273"/>
                        <a14:foregroundMark x1="76667" y1="93182" x2="85000" y2="93636"/>
                        <a14:foregroundMark x1="85000" y1="93636" x2="87917" y2="93182"/>
                        <a14:foregroundMark x1="70000" y1="94545" x2="79583" y2="95000"/>
                        <a14:foregroundMark x1="79583" y1="95000" x2="80417" y2="95000"/>
                        <a14:foregroundMark x1="95833" y1="96818" x2="74167" y2="99091"/>
                        <a14:foregroundMark x1="49167" y1="43636" x2="50833" y2="53636"/>
                        <a14:foregroundMark x1="25833" y1="39091" x2="29167" y2="44545"/>
                        <a14:foregroundMark x1="34583" y1="36364" x2="34583" y2="36364"/>
                        <a14:foregroundMark x1="8750" y1="20455" x2="22083" y2="68636"/>
                        <a14:foregroundMark x1="6667" y1="40455" x2="14583" y2="69545"/>
                        <a14:foregroundMark x1="3750" y1="47273" x2="11250" y2="63182"/>
                        <a14:foregroundMark x1="2500" y1="75909" x2="8750" y2="85455"/>
                        <a14:foregroundMark x1="8750" y1="85455" x2="13333" y2="88636"/>
                        <a14:foregroundMark x1="30833" y1="22273" x2="22083" y2="16364"/>
                        <a14:foregroundMark x1="22083" y1="16364" x2="12083" y2="15455"/>
                        <a14:foregroundMark x1="12083" y1="15455" x2="1667" y2="21364"/>
                        <a14:foregroundMark x1="22500" y1="24091" x2="25417" y2="32273"/>
                        <a14:foregroundMark x1="21250" y1="23636" x2="27500" y2="25455"/>
                        <a14:foregroundMark x1="7500" y1="87727" x2="20417" y2="89091"/>
                        <a14:foregroundMark x1="1667" y1="70455" x2="1667" y2="70455"/>
                        <a14:foregroundMark x1="2083" y1="25909" x2="6250" y2="30455"/>
                        <a14:foregroundMark x1="95833" y1="25000" x2="93333" y2="16364"/>
                        <a14:backgroundMark x1="41667" y1="20000" x2="40417" y2="14545"/>
                        <a14:backgroundMark x1="95833" y1="4091" x2="98333" y2="10000"/>
                        <a14:backgroundMark x1="99167" y1="53636" x2="99167" y2="51364"/>
                        <a14:backgroundMark x1="98750" y1="41818" x2="98750" y2="340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15353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ADB3349-3DE6-4347-9333-ADB88D722EBF}"/>
              </a:ext>
            </a:extLst>
          </p:cNvPr>
          <p:cNvCxnSpPr/>
          <p:nvPr/>
        </p:nvCxnSpPr>
        <p:spPr>
          <a:xfrm>
            <a:off x="7434470" y="4240696"/>
            <a:ext cx="44390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70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8421B03-0684-49C7-B904-CE37370A7D95}"/>
              </a:ext>
            </a:extLst>
          </p:cNvPr>
          <p:cNvSpPr/>
          <p:nvPr/>
        </p:nvSpPr>
        <p:spPr>
          <a:xfrm>
            <a:off x="3122259" y="225203"/>
            <a:ext cx="590097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5400" dirty="0"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1.	 Um pensamento realista</a:t>
            </a:r>
            <a:endParaRPr lang="pt-BR" sz="5400" dirty="0">
              <a:latin typeface="Gabriola" panose="04040605051002020D02" pitchFamily="82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9599DF-6A16-473E-A0B0-407328E85965}"/>
              </a:ext>
            </a:extLst>
          </p:cNvPr>
          <p:cNvSpPr/>
          <p:nvPr/>
        </p:nvSpPr>
        <p:spPr>
          <a:xfrm>
            <a:off x="337930" y="1249008"/>
            <a:ext cx="11516139" cy="45719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131ABBB-2925-406C-9CF4-0AE573C96351}"/>
              </a:ext>
            </a:extLst>
          </p:cNvPr>
          <p:cNvSpPr/>
          <p:nvPr/>
        </p:nvSpPr>
        <p:spPr>
          <a:xfrm>
            <a:off x="2658434" y="1855494"/>
            <a:ext cx="883120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PT" sz="2800" dirty="0"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“A minha ambição seria pintar a Sociedade portuguesa, tal qual fez o Constitucionalismo de 1830 – e mostrar-lhe, como num espelho, que triste país eles formam – eles e elas. É o meu fim nas </a:t>
            </a:r>
            <a:r>
              <a:rPr lang="pt-PT" sz="2800" dirty="0">
                <a:solidFill>
                  <a:srgbClr val="FFC000"/>
                </a:solidFill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Cenas da Vida Portuguesa</a:t>
            </a:r>
            <a:r>
              <a:rPr lang="pt-PT" sz="2800" dirty="0"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. É necessário acutilar o mundo oficial, o mundo sentimental, o mundo literário, o mundo agrícola, o mundo supersticioso – e com todo o respeito pelas instituições que são de origem eterna, destruir </a:t>
            </a:r>
            <a:r>
              <a:rPr lang="pt-PT" sz="2800" dirty="0">
                <a:solidFill>
                  <a:srgbClr val="FFC000"/>
                </a:solidFill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as falsas interpretações e falsas realizações que lhes dá uma sociedade podre</a:t>
            </a:r>
            <a:r>
              <a:rPr lang="pt-PT" sz="2800" dirty="0"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. Não lhe parece Você que um tal trabalho é justo?”</a:t>
            </a:r>
            <a:endParaRPr lang="pt-BR" sz="2800" dirty="0">
              <a:latin typeface="Gabriola" panose="04040605051002020D02" pitchFamily="82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2194D22-CDED-47E5-BCD5-69096959CFCE}"/>
              </a:ext>
            </a:extLst>
          </p:cNvPr>
          <p:cNvSpPr/>
          <p:nvPr/>
        </p:nvSpPr>
        <p:spPr>
          <a:xfrm>
            <a:off x="2658434" y="5818788"/>
            <a:ext cx="9021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2400" dirty="0"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( Eça de Queirós)</a:t>
            </a:r>
            <a:endParaRPr lang="pt-BR" sz="2400" dirty="0">
              <a:latin typeface="Gabriola" panose="04040605051002020D02" pitchFamily="82" charset="0"/>
            </a:endParaRPr>
          </a:p>
        </p:txBody>
      </p:sp>
      <p:pic>
        <p:nvPicPr>
          <p:cNvPr id="1028" name="Picture 4" descr="Eça de Queirós - Portal da Literatura">
            <a:extLst>
              <a:ext uri="{FF2B5EF4-FFF2-40B4-BE49-F238E27FC236}">
                <a16:creationId xmlns:a16="http://schemas.microsoft.com/office/drawing/2014/main" id="{A44D54B3-83DF-4238-B5BE-75164FE97A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753" b="96986" l="2400" r="98000">
                        <a14:foregroundMark x1="43600" y1="8767" x2="47200" y2="24932"/>
                        <a14:foregroundMark x1="42400" y1="7671" x2="48800" y2="8493"/>
                        <a14:foregroundMark x1="55600" y1="20000" x2="55600" y2="27945"/>
                        <a14:foregroundMark x1="58800" y1="16438" x2="58800" y2="16438"/>
                        <a14:foregroundMark x1="37200" y1="8767" x2="39600" y2="7671"/>
                        <a14:foregroundMark x1="72800" y1="43836" x2="70000" y2="43836"/>
                        <a14:foregroundMark x1="42400" y1="90411" x2="42400" y2="90411"/>
                        <a14:foregroundMark x1="36800" y1="90137" x2="41600" y2="91233"/>
                        <a14:foregroundMark x1="69200" y1="88493" x2="63600" y2="92055"/>
                        <a14:foregroundMark x1="31600" y1="97260" x2="58000" y2="97808"/>
                        <a14:foregroundMark x1="58000" y1="97808" x2="61600" y2="97260"/>
                        <a14:foregroundMark x1="6000" y1="91507" x2="15200" y2="93151"/>
                        <a14:foregroundMark x1="91200" y1="92603" x2="98000" y2="92603"/>
                        <a14:foregroundMark x1="2400" y1="90685" x2="8800" y2="912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6808"/>
          <a:stretch/>
        </p:blipFill>
        <p:spPr bwMode="auto">
          <a:xfrm>
            <a:off x="-805699" y="2609351"/>
            <a:ext cx="3497957" cy="424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7960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8421B03-0684-49C7-B904-CE37370A7D95}"/>
              </a:ext>
            </a:extLst>
          </p:cNvPr>
          <p:cNvSpPr/>
          <p:nvPr/>
        </p:nvSpPr>
        <p:spPr>
          <a:xfrm>
            <a:off x="4044787" y="225203"/>
            <a:ext cx="405591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5400" dirty="0"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2.	Projeto literário:</a:t>
            </a:r>
            <a:endParaRPr lang="pt-BR" sz="5400" dirty="0">
              <a:latin typeface="Gabriola" panose="04040605051002020D02" pitchFamily="82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9599DF-6A16-473E-A0B0-407328E85965}"/>
              </a:ext>
            </a:extLst>
          </p:cNvPr>
          <p:cNvSpPr/>
          <p:nvPr/>
        </p:nvSpPr>
        <p:spPr>
          <a:xfrm>
            <a:off x="337930" y="1249008"/>
            <a:ext cx="11516139" cy="45719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131ABBB-2925-406C-9CF4-0AE573C96351}"/>
              </a:ext>
            </a:extLst>
          </p:cNvPr>
          <p:cNvSpPr/>
          <p:nvPr/>
        </p:nvSpPr>
        <p:spPr>
          <a:xfrm>
            <a:off x="1730093" y="1573946"/>
            <a:ext cx="10123976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PT" sz="2400" b="1" dirty="0"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2.1. O retrato cruel de uma sociedade hipócrita : </a:t>
            </a:r>
            <a:r>
              <a:rPr lang="pt-PT" sz="2400" dirty="0"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“Realismo é a arte que nos pinta a nossos próprios olhos {...} para condenar o que houver de mau em nossa sociedade.”</a:t>
            </a:r>
          </a:p>
          <a:p>
            <a:pPr algn="just"/>
            <a:endParaRPr lang="pt-PT" dirty="0">
              <a:latin typeface="Gabriola" panose="04040605051002020D02" pitchFamily="8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PT" sz="2400" b="1" dirty="0"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2.2. Uma carreira dividida em três fases:</a:t>
            </a:r>
          </a:p>
          <a:p>
            <a:pPr algn="just"/>
            <a:r>
              <a:rPr lang="pt-PT" sz="2400" dirty="0"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	1ª) Antes de 1875: Prosas bárbaras – ainda um gosto popular, com linguagem mais  subjetiva.</a:t>
            </a:r>
          </a:p>
          <a:p>
            <a:pPr algn="just"/>
            <a:endParaRPr lang="pt-PT" sz="900" dirty="0">
              <a:latin typeface="Gabriola" panose="04040605051002020D02" pitchFamily="8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PT" sz="2400" dirty="0"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	2ª) O olhar mais crítico e pessimista do Realismo </a:t>
            </a:r>
          </a:p>
          <a:p>
            <a:pPr algn="just"/>
            <a:r>
              <a:rPr lang="pt-PT" sz="2400" dirty="0"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		– O crime do padre Amaro, O primo Basílio, A Relíquia e Os Maias. </a:t>
            </a:r>
          </a:p>
          <a:p>
            <a:pPr algn="just"/>
            <a:r>
              <a:rPr lang="pt-PT" sz="2400" dirty="0"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		– Temas: A igreja corrompida, a hipocrisia da vida devota; O olhar crítico para uma instituição 				falida : o casamento e o ócio de uma sociedade;  O retrato impiedoso da aristocracia.</a:t>
            </a:r>
          </a:p>
          <a:p>
            <a:pPr algn="just"/>
            <a:r>
              <a:rPr lang="pt-PT" sz="2400" dirty="0"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		Obs: Cenas da vida portuguesa : retrato da burguesia portuguesa como uma classe que tem			uma marca: HIPOCRISIA (Essência X Aparência).</a:t>
            </a:r>
          </a:p>
          <a:p>
            <a:pPr algn="just"/>
            <a:endParaRPr lang="pt-PT" sz="1000" dirty="0">
              <a:latin typeface="Gabriola" panose="04040605051002020D02" pitchFamily="8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PT" sz="2400" dirty="0">
                <a:latin typeface="Gabriola" panose="04040605051002020D02" pitchFamily="82" charset="0"/>
                <a:ea typeface="Calibri" panose="020F0502020204030204" pitchFamily="34" charset="0"/>
                <a:cs typeface="Times New Roman" panose="02020603050405020304" pitchFamily="18" charset="0"/>
              </a:rPr>
              <a:t>	3ª) Um olhar mais intimista , mais humanizada e até um pouco patriótica - A ilustre casa de Ramires 	e A cidade e as serras.</a:t>
            </a:r>
          </a:p>
        </p:txBody>
      </p:sp>
      <p:pic>
        <p:nvPicPr>
          <p:cNvPr id="2050" name="Picture 2" descr="Eça de Queirós | Autores | Literatura | Educação">
            <a:extLst>
              <a:ext uri="{FF2B5EF4-FFF2-40B4-BE49-F238E27FC236}">
                <a16:creationId xmlns:a16="http://schemas.microsoft.com/office/drawing/2014/main" id="{DB795150-39AF-48C9-833A-31AEA3825B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6667" l="5333" r="90000">
                        <a14:foregroundMark x1="25667" y1="22424" x2="26333" y2="31818"/>
                        <a14:foregroundMark x1="30333" y1="39394" x2="32333" y2="53939"/>
                        <a14:foregroundMark x1="10333" y1="48485" x2="17667" y2="55152"/>
                        <a14:foregroundMark x1="25667" y1="63939" x2="40667" y2="63333"/>
                        <a14:foregroundMark x1="15667" y1="70909" x2="29000" y2="73030"/>
                        <a14:foregroundMark x1="80667" y1="64242" x2="71333" y2="72121"/>
                        <a14:foregroundMark x1="83333" y1="67273" x2="80333" y2="73030"/>
                        <a14:foregroundMark x1="82333" y1="74848" x2="73000" y2="76061"/>
                        <a14:foregroundMark x1="14000" y1="71212" x2="27667" y2="80303"/>
                        <a14:foregroundMark x1="27667" y1="80303" x2="28000" y2="80303"/>
                        <a14:foregroundMark x1="12000" y1="73636" x2="19333" y2="78485"/>
                        <a14:foregroundMark x1="35000" y1="81818" x2="57333" y2="79394"/>
                        <a14:foregroundMark x1="28000" y1="83636" x2="46000" y2="83636"/>
                        <a14:foregroundMark x1="46000" y1="83636" x2="53333" y2="83333"/>
                        <a14:foregroundMark x1="73000" y1="84545" x2="57333" y2="84545"/>
                        <a14:foregroundMark x1="57667" y1="85758" x2="68333" y2="91818"/>
                        <a14:foregroundMark x1="20333" y1="95455" x2="45333" y2="94848"/>
                        <a14:foregroundMark x1="45333" y1="94848" x2="68667" y2="96667"/>
                        <a14:foregroundMark x1="6667" y1="96061" x2="6667" y2="96061"/>
                        <a14:foregroundMark x1="5333" y1="96061" x2="5333" y2="96061"/>
                        <a14:foregroundMark x1="23000" y1="22424" x2="23000" y2="22424"/>
                        <a14:foregroundMark x1="23000" y1="23333" x2="23000" y2="23333"/>
                        <a14:foregroundMark x1="23667" y1="26018" x2="23667" y2="23030"/>
                        <a14:foregroundMark x1="24583" y1="44390" x2="23667" y2="45758"/>
                        <a14:foregroundMark x1="21333" y1="46970" x2="29000" y2="37273"/>
                        <a14:foregroundMark x1="22667" y1="23636" x2="23000" y2="25758"/>
                        <a14:foregroundMark x1="22333" y1="22121" x2="24000" y2="17273"/>
                        <a14:foregroundMark x1="22000" y1="19697" x2="23000" y2="17273"/>
                        <a14:foregroundMark x1="23000" y1="17273" x2="25333" y2="14848"/>
                        <a14:backgroundMark x1="5333" y1="49697" x2="5667" y2="62727"/>
                        <a14:backgroundMark x1="19667" y1="26364" x2="20333" y2="32727"/>
                        <a14:backgroundMark x1="25667" y1="35152" x2="21000" y2="42727"/>
                        <a14:backgroundMark x1="8667" y1="86061" x2="8667" y2="86061"/>
                        <a14:backgroundMark x1="11333" y1="85758" x2="5667" y2="86061"/>
                        <a14:backgroundMark x1="4000" y1="98182" x2="4000" y2="981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8693" r="8693" b="15105"/>
          <a:stretch/>
        </p:blipFill>
        <p:spPr bwMode="auto">
          <a:xfrm flipH="1">
            <a:off x="112735" y="2940536"/>
            <a:ext cx="2857500" cy="2668456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55121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Ardósia</Template>
  <TotalTime>4611</TotalTime>
  <Words>486</Words>
  <Application>Microsoft Office PowerPoint</Application>
  <PresentationFormat>Widescreen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Arial</vt:lpstr>
      <vt:lpstr>Arial Narrow</vt:lpstr>
      <vt:lpstr>Blackadder ITC</vt:lpstr>
      <vt:lpstr>Calisto MT</vt:lpstr>
      <vt:lpstr>Gabriola</vt:lpstr>
      <vt:lpstr>Wingdings 2</vt:lpstr>
      <vt:lpstr>Ardósia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Jacqueline cobiak</dc:creator>
  <cp:lastModifiedBy>Jacqueline cobiak</cp:lastModifiedBy>
  <cp:revision>54</cp:revision>
  <dcterms:created xsi:type="dcterms:W3CDTF">2020-03-21T18:02:02Z</dcterms:created>
  <dcterms:modified xsi:type="dcterms:W3CDTF">2020-04-27T14:57:33Z</dcterms:modified>
</cp:coreProperties>
</file>