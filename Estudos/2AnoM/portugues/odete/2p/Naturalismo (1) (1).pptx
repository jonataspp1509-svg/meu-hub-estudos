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420" r:id="rId5"/>
    <p:sldId id="432" r:id="rId6"/>
    <p:sldId id="441" r:id="rId7"/>
    <p:sldId id="442" r:id="rId8"/>
    <p:sldId id="443" r:id="rId9"/>
    <p:sldId id="449" r:id="rId10"/>
    <p:sldId id="444" r:id="rId11"/>
    <p:sldId id="45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D6A4"/>
    <a:srgbClr val="FF7C80"/>
    <a:srgbClr val="000000"/>
    <a:srgbClr val="5D4320"/>
    <a:srgbClr val="FFFFFF"/>
    <a:srgbClr val="008000"/>
    <a:srgbClr val="FF4B4B"/>
    <a:srgbClr val="D60000"/>
    <a:srgbClr val="A20000"/>
    <a:srgbClr val="FF2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53EE81-5062-495E-92A0-AEBD2A49427C}" v="100" dt="2024-04-21T03:06:24.1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12" autoAdjust="0"/>
    <p:restoredTop sz="94660"/>
  </p:normalViewPr>
  <p:slideViewPr>
    <p:cSldViewPr snapToGrid="0">
      <p:cViewPr varScale="1">
        <p:scale>
          <a:sx n="72" d="100"/>
          <a:sy n="72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655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029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1540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6488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15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625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7273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088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324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1145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415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6335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6009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3067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060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348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7218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2794E8-C916-4193-94BE-BF7A7153E953}" type="datetimeFigureOut">
              <a:rPr lang="pt-BR" smtClean="0"/>
              <a:t>21/04/2024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24F733A-D7EA-46C7-BB98-6445E1A52B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9922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cursos do Escritor: Usar ou abusar das Referências (Literárias) – Sara  Farinha">
            <a:extLst>
              <a:ext uri="{FF2B5EF4-FFF2-40B4-BE49-F238E27FC236}">
                <a16:creationId xmlns:a16="http://schemas.microsoft.com/office/drawing/2014/main" id="{A51499E4-3F62-45DF-B159-54CFA193D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2522"/>
            <a:ext cx="12192000" cy="7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094AB9-35B8-4046-B9C0-B4803AA29C48}"/>
              </a:ext>
            </a:extLst>
          </p:cNvPr>
          <p:cNvSpPr/>
          <p:nvPr/>
        </p:nvSpPr>
        <p:spPr>
          <a:xfrm>
            <a:off x="1421296" y="1378577"/>
            <a:ext cx="9349408" cy="312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</a:pPr>
            <a:r>
              <a:rPr lang="pt-BR" sz="12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lackadder ITC" panose="04020505051007020D02" pitchFamily="82" charset="0"/>
              </a:rPr>
              <a:t>Naturalismo</a:t>
            </a:r>
          </a:p>
          <a:p>
            <a:pPr lvl="0" algn="ctr">
              <a:spcBef>
                <a:spcPct val="20000"/>
              </a:spcBef>
              <a:spcAft>
                <a:spcPts val="600"/>
              </a:spcAft>
              <a:buClr>
                <a:srgbClr val="DADADA"/>
              </a:buClr>
              <a:buSzPct val="70000"/>
            </a:pPr>
            <a:r>
              <a:rPr lang="pt-BR" sz="6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lackadder ITC" panose="04020505051007020D02" pitchFamily="82" charset="0"/>
              </a:rPr>
              <a:t>A Literatura a serviço da Ciência </a:t>
            </a:r>
          </a:p>
        </p:txBody>
      </p:sp>
    </p:spTree>
    <p:extLst>
      <p:ext uri="{BB962C8B-B14F-4D97-AF65-F5344CB8AC3E}">
        <p14:creationId xmlns:p14="http://schemas.microsoft.com/office/powerpoint/2010/main" val="2302881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768626" y="1595675"/>
            <a:ext cx="10370934" cy="3901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 algn="just">
              <a:lnSpc>
                <a:spcPts val="3300"/>
              </a:lnSpc>
              <a:buAutoNum type="arabicPeriod"/>
            </a:pPr>
            <a:r>
              <a:rPr lang="pt-BR" sz="3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 visão mais biológica do Realismo.</a:t>
            </a:r>
          </a:p>
          <a:p>
            <a:pPr marL="742950" indent="-742950" algn="just">
              <a:lnSpc>
                <a:spcPts val="3300"/>
              </a:lnSpc>
              <a:buAutoNum type="arabicPeriod"/>
            </a:pPr>
            <a:endParaRPr lang="pt-BR" sz="36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742950" indent="-742950" algn="just">
              <a:lnSpc>
                <a:spcPts val="3300"/>
              </a:lnSpc>
              <a:buFont typeface="+mj-lt"/>
              <a:buAutoNum type="arabicPeriod"/>
            </a:pPr>
            <a:r>
              <a:rPr lang="pt-BR" sz="3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 Influência da teoria da evolução humana: Darwin.</a:t>
            </a:r>
          </a:p>
          <a:p>
            <a:pPr marL="742950" indent="-742950" algn="just">
              <a:lnSpc>
                <a:spcPts val="3300"/>
              </a:lnSpc>
              <a:buFont typeface="+mj-lt"/>
              <a:buAutoNum type="arabicPeriod"/>
            </a:pPr>
            <a:endParaRPr lang="pt-BR" sz="36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742950" indent="-742950" algn="just">
              <a:lnSpc>
                <a:spcPts val="3300"/>
              </a:lnSpc>
              <a:buFont typeface="+mj-lt"/>
              <a:buAutoNum type="arabicPeriod"/>
            </a:pPr>
            <a:r>
              <a:rPr lang="pt-BR" sz="3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Os seres humanos estão regidos pelas mesmas leis que regem a natureza.</a:t>
            </a:r>
          </a:p>
          <a:p>
            <a:pPr marL="742950" indent="-742950" algn="just">
              <a:lnSpc>
                <a:spcPts val="3300"/>
              </a:lnSpc>
              <a:buFont typeface="+mj-lt"/>
              <a:buAutoNum type="arabicPeriod"/>
            </a:pPr>
            <a:endParaRPr lang="pt-BR" sz="40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742950" indent="-742950" algn="just">
              <a:lnSpc>
                <a:spcPts val="3300"/>
              </a:lnSpc>
              <a:buFont typeface="+mj-lt"/>
              <a:buAutoNum type="arabicPeriod"/>
            </a:pPr>
            <a:r>
              <a:rPr lang="pt-BR" sz="3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 personagem naturalista age movida por desejos de ordem sexual que, normalmente, superam a sua capacidade racional de controle.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4089073" y="143965"/>
            <a:ext cx="40138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Aspectos relevantes: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919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81 melhor ideia de O cortiço | o cortiço, fotos antigas ...">
            <a:extLst>
              <a:ext uri="{FF2B5EF4-FFF2-40B4-BE49-F238E27FC236}">
                <a16:creationId xmlns:a16="http://schemas.microsoft.com/office/drawing/2014/main" id="{9C60BB64-0BEE-FD14-794F-5BDB32CF6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59" y="1300478"/>
            <a:ext cx="4426227" cy="2315043"/>
          </a:xfrm>
          <a:prstGeom prst="rect">
            <a:avLst/>
          </a:prstGeom>
          <a:ln>
            <a:noFill/>
          </a:ln>
          <a:effectLst>
            <a:reflection blurRad="6350" stA="50000" endA="295" endPos="92000" dist="1016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4717775" y="981697"/>
            <a:ext cx="7010399" cy="5732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Os escritores observam a realidade a partir do Determinismo.</a:t>
            </a:r>
          </a:p>
          <a:p>
            <a:pPr marL="514350" indent="-514350" algn="just">
              <a:buFont typeface="Wingdings" panose="05000000000000000000" pitchFamily="2" charset="2"/>
              <a:buChar char="§"/>
            </a:pPr>
            <a:endParaRPr lang="pt-BR" sz="105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método da observação e de experimentação: </a:t>
            </a:r>
          </a:p>
          <a:p>
            <a:pPr algn="just"/>
            <a:r>
              <a:rPr 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         Claude Bernard          O Romance experimental.</a:t>
            </a:r>
          </a:p>
          <a:p>
            <a:pPr marL="514350" indent="-514350" algn="just">
              <a:buFont typeface="Wingdings" panose="05000000000000000000" pitchFamily="2" charset="2"/>
              <a:buChar char="§"/>
            </a:pPr>
            <a:endParaRPr lang="pt-BR" sz="11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Um precursor: Émile Zola: Compreender o comportamento humano e suas motivações, a partir do meio e da pressão social, é possível atuar na transformação do indivíduo para alcançar o melhor estado social.          O engajamento literário.</a:t>
            </a:r>
          </a:p>
          <a:p>
            <a:pPr marL="514350" indent="-514350" algn="just">
              <a:buFont typeface="Wingdings" panose="05000000000000000000" pitchFamily="2" charset="2"/>
              <a:buChar char="§"/>
            </a:pPr>
            <a:endParaRPr lang="pt-BR" sz="11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olhar sobre a coletividade: Afastando-se do olhar psicológico que marcou a literatura realista, os naturalistas dedicam-se a análise dos fenômenos coletivos, corroborando a tese determinista por eles defendida.</a:t>
            </a:r>
          </a:p>
          <a:p>
            <a:pPr marL="514350" indent="-514350" algn="just">
              <a:buFont typeface="Wingdings" panose="05000000000000000000" pitchFamily="2" charset="2"/>
              <a:buChar char="§"/>
            </a:pPr>
            <a:endParaRPr lang="pt-BR" sz="11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olhar sobre os excluídos, o proletariado, os ambientes degradantes.</a:t>
            </a:r>
          </a:p>
          <a:p>
            <a:pPr marL="514350" indent="-514350" algn="just">
              <a:buFont typeface="Wingdings" panose="05000000000000000000" pitchFamily="2" charset="2"/>
              <a:buChar char="§"/>
            </a:pPr>
            <a:endParaRPr lang="pt-BR" sz="11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O caráter imparcial: olhar científico. Foco narrativo em 3ª pessoa.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4210611" y="143965"/>
            <a:ext cx="37707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O projeto literário: 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C235729A-8D9D-3C3F-2C51-579533357814}"/>
              </a:ext>
            </a:extLst>
          </p:cNvPr>
          <p:cNvSpPr/>
          <p:nvPr/>
        </p:nvSpPr>
        <p:spPr>
          <a:xfrm>
            <a:off x="6957390" y="2023337"/>
            <a:ext cx="287968" cy="24278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4458726C-FE57-54A1-9BDA-908F3523ED42}"/>
              </a:ext>
            </a:extLst>
          </p:cNvPr>
          <p:cNvSpPr/>
          <p:nvPr/>
        </p:nvSpPr>
        <p:spPr>
          <a:xfrm>
            <a:off x="5858557" y="3605081"/>
            <a:ext cx="287968" cy="24278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1507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59E603E-CDD1-4A33-AB99-A65E06F02165}"/>
              </a:ext>
            </a:extLst>
          </p:cNvPr>
          <p:cNvSpPr/>
          <p:nvPr/>
        </p:nvSpPr>
        <p:spPr>
          <a:xfrm>
            <a:off x="567324" y="2064676"/>
            <a:ext cx="597772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ts val="3000"/>
              </a:lnSpc>
              <a:buFont typeface="Wingdings" panose="05000000000000000000" pitchFamily="2" charset="2"/>
              <a:buChar char="§"/>
            </a:pPr>
            <a:r>
              <a:rPr lang="pt-BR" sz="30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A partir da descrição da intimidade das personagens, o romance naturalista expõe que pessoas submetidas a condições sub-humanas perdem a racionalidade, a humanidade, e dominadas por seus instintos animais vivem o “processo de animalização”.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2150849" y="143965"/>
            <a:ext cx="78903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 A ZOOMORFIZAÇÂO – ANIMALIZAÇÂO: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A zoomorfização de Fabiano – O Homem que não existiu | paulcar66">
            <a:extLst>
              <a:ext uri="{FF2B5EF4-FFF2-40B4-BE49-F238E27FC236}">
                <a16:creationId xmlns:a16="http://schemas.microsoft.com/office/drawing/2014/main" id="{2593B6FA-D5DF-22A0-8ED4-DCEA05A62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95309">
            <a:off x="7413763" y="1825486"/>
            <a:ext cx="3619500" cy="344805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667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3969391" y="143965"/>
            <a:ext cx="42532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Escritores brasileiros: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Aluísio Azevedo | Academia Brasileira de Letras">
            <a:extLst>
              <a:ext uri="{FF2B5EF4-FFF2-40B4-BE49-F238E27FC236}">
                <a16:creationId xmlns:a16="http://schemas.microsoft.com/office/drawing/2014/main" id="{E9BD4645-F52E-8691-B43A-F73961053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00" b="98000" l="5530" r="98157">
                        <a14:foregroundMark x1="28111" y1="27667" x2="28111" y2="27667"/>
                        <a14:foregroundMark x1="25806" y1="27667" x2="38710" y2="10333"/>
                        <a14:foregroundMark x1="38710" y1="10333" x2="52995" y2="6667"/>
                        <a14:foregroundMark x1="52995" y1="6667" x2="58986" y2="6667"/>
                        <a14:foregroundMark x1="49309" y1="3000" x2="49309" y2="3000"/>
                        <a14:foregroundMark x1="16129" y1="89667" x2="64516" y2="89333"/>
                        <a14:foregroundMark x1="64516" y1="89333" x2="82028" y2="90333"/>
                        <a14:foregroundMark x1="76959" y1="80667" x2="87558" y2="87667"/>
                        <a14:foregroundMark x1="87558" y1="87667" x2="90783" y2="93667"/>
                        <a14:foregroundMark x1="21659" y1="73000" x2="5530" y2="98000"/>
                        <a14:foregroundMark x1="93088" y1="86333" x2="98157" y2="96333"/>
                        <a14:foregroundMark x1="84793" y1="60667" x2="84793" y2="6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2" y="1416955"/>
            <a:ext cx="3935689" cy="5441045"/>
          </a:xfrm>
          <a:prstGeom prst="rect">
            <a:avLst/>
          </a:prstGeom>
          <a:noFill/>
          <a:effectLst>
            <a:glow rad="228600">
              <a:schemeClr val="accent3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628ED86-7AF6-1558-EFB1-CFC3E7C1DA8A}"/>
              </a:ext>
            </a:extLst>
          </p:cNvPr>
          <p:cNvSpPr/>
          <p:nvPr/>
        </p:nvSpPr>
        <p:spPr>
          <a:xfrm>
            <a:off x="4499561" y="4286221"/>
            <a:ext cx="6983002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 algn="just">
              <a:buAutoNum type="arabicPeriod"/>
            </a:pPr>
            <a:r>
              <a:rPr lang="pt-BR" sz="48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Aluísio Azevedo:</a:t>
            </a:r>
          </a:p>
          <a:p>
            <a:pPr algn="just"/>
            <a:endParaRPr lang="pt-BR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  <a:p>
            <a:pPr algn="just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 “</a:t>
            </a:r>
            <a:r>
              <a:rPr lang="pt-BR" sz="28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O mulato” (1881); “O Cortiço” (1890).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991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3969391" y="143965"/>
            <a:ext cx="42532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Escritores brasileiros: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628ED86-7AF6-1558-EFB1-CFC3E7C1DA8A}"/>
              </a:ext>
            </a:extLst>
          </p:cNvPr>
          <p:cNvSpPr/>
          <p:nvPr/>
        </p:nvSpPr>
        <p:spPr>
          <a:xfrm>
            <a:off x="1256626" y="3884190"/>
            <a:ext cx="6813948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54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2. Raul Pompeia</a:t>
            </a:r>
          </a:p>
          <a:p>
            <a:endParaRPr lang="pt-BR" sz="44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  <a:p>
            <a:r>
              <a:rPr lang="pt-BR" sz="44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“O Ateneu” (1888).</a:t>
            </a:r>
            <a:endParaRPr lang="pt-PT" sz="44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Raul Pompéia - Autor - Rio de Literaturas">
            <a:extLst>
              <a:ext uri="{FF2B5EF4-FFF2-40B4-BE49-F238E27FC236}">
                <a16:creationId xmlns:a16="http://schemas.microsoft.com/office/drawing/2014/main" id="{6D3071F8-5703-E3C2-8FF3-4F932BE47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BB864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667" l="10000" r="98000">
                        <a14:foregroundMark x1="21000" y1="57333" x2="33667" y2="59000"/>
                        <a14:foregroundMark x1="21333" y1="97667" x2="49667" y2="75667"/>
                        <a14:foregroundMark x1="62667" y1="85667" x2="80667" y2="93667"/>
                        <a14:foregroundMark x1="91333" y1="97333" x2="75333" y2="86333"/>
                        <a14:foregroundMark x1="73667" y1="76667" x2="84333" y2="88333"/>
                        <a14:foregroundMark x1="84333" y1="88333" x2="93667" y2="92333"/>
                        <a14:foregroundMark x1="98000" y1="96000" x2="98000" y2="96000"/>
                        <a14:foregroundMark x1="29333" y1="36333" x2="29333" y2="36333"/>
                        <a14:foregroundMark x1="26333" y1="39333" x2="24667" y2="26333"/>
                        <a14:foregroundMark x1="27333" y1="9667" x2="52667" y2="12000"/>
                        <a14:foregroundMark x1="66000" y1="11667" x2="69333" y2="23333"/>
                        <a14:foregroundMark x1="76667" y1="35000" x2="76333" y2="18000"/>
                        <a14:foregroundMark x1="76333" y1="18000" x2="65333" y2="4333"/>
                        <a14:foregroundMark x1="65333" y1="4333" x2="63586" y2="3925"/>
                        <a14:foregroundMark x1="28000" y1="7667" x2="22667" y2="19667"/>
                        <a14:foregroundMark x1="21333" y1="13000" x2="31758" y2="4841"/>
                        <a14:foregroundMark x1="21333" y1="18333" x2="21667" y2="25000"/>
                        <a14:foregroundMark x1="36333" y1="98000" x2="52000" y2="94667"/>
                        <a14:foregroundMark x1="17000" y1="98000" x2="11000" y2="99667"/>
                        <a14:foregroundMark x1="20667" y1="31333" x2="20667" y2="31333"/>
                        <a14:foregroundMark x1="36333" y1="5333" x2="61000" y2="8000"/>
                        <a14:foregroundMark x1="61000" y1="3667" x2="43333" y2="1667"/>
                        <a14:foregroundMark x1="43333" y1="1667" x2="33333" y2="3667"/>
                        <a14:foregroundMark x1="29000" y1="4667" x2="29000" y2="4667"/>
                        <a14:foregroundMark x1="25000" y1="6333" x2="25000" y2="6333"/>
                        <a14:foregroundMark x1="25000" y1="6333" x2="25000" y2="6333"/>
                        <a14:foregroundMark x1="23333" y1="9000" x2="27333" y2="6000"/>
                        <a14:foregroundMark x1="28333" y1="4000" x2="30333" y2="2000"/>
                        <a14:foregroundMark x1="30333" y1="2000" x2="30333" y2="2000"/>
                        <a14:foregroundMark x1="30333" y1="2000" x2="33000" y2="0"/>
                        <a14:foregroundMark x1="19667" y1="58333" x2="19667" y2="58333"/>
                        <a14:backgroundMark x1="24333" y1="1667" x2="24333" y2="1667"/>
                        <a14:backgroundMark x1="24333" y1="1667" x2="24333" y2="1667"/>
                        <a14:backgroundMark x1="27000" y1="1000" x2="27000" y2="1000"/>
                        <a14:backgroundMark x1="63333" y1="2000" x2="63333" y2="2000"/>
                        <a14:backgroundMark x1="62000" y1="1000" x2="62000" y2="1000"/>
                        <a14:backgroundMark x1="61000" y1="667" x2="61000" y2="667"/>
                        <a14:backgroundMark x1="61000" y1="0" x2="58889" y2="1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712" y="1880712"/>
            <a:ext cx="4977288" cy="4977288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213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5372788" y="143965"/>
            <a:ext cx="14464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Textos: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0AF8C3-3BC3-E77E-4EF2-0456BA5A10D3}"/>
              </a:ext>
            </a:extLst>
          </p:cNvPr>
          <p:cNvSpPr/>
          <p:nvPr/>
        </p:nvSpPr>
        <p:spPr>
          <a:xfrm>
            <a:off x="827567" y="1349664"/>
            <a:ext cx="10747513" cy="4734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800"/>
              </a:lnSpc>
            </a:pPr>
            <a:r>
              <a:rPr lang="pt-BR" sz="2600" dirty="0">
                <a:solidFill>
                  <a:schemeClr val="bg2">
                    <a:lumMod val="25000"/>
                    <a:lumOff val="75000"/>
                  </a:schemeClr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1. Eram cinco horas da manhã e o cortiço acordava, abrindo, não os olhos, mas a sua infinidade de portas e janelas alinhadas. (...) Daí a pouco, em volta das bicas era um zunzum crescente; uma aglomeração tumultuosa de machos e fêmeas. Uns, após outros, lavavam a cara, incomodamente, debaixo do fio de água que escorria da altura de uns cinco palmos. O chão inundava-se. As mulheres precisavam já prender as saias entre as coxas para não as molhar; </a:t>
            </a:r>
            <a:r>
              <a:rPr lang="pt-BR" sz="2600" dirty="0" err="1">
                <a:solidFill>
                  <a:schemeClr val="bg2">
                    <a:lumMod val="25000"/>
                    <a:lumOff val="75000"/>
                  </a:schemeClr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via-se-lhes</a:t>
            </a:r>
            <a:r>
              <a:rPr lang="pt-BR" sz="2600" dirty="0">
                <a:solidFill>
                  <a:schemeClr val="bg2">
                    <a:lumMod val="25000"/>
                    <a:lumOff val="75000"/>
                  </a:schemeClr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 a tostada nudez dos braços e do pescoço, que elas despiam, suspendendo o cabelo todo para o alto do casco; os homens, esses não se preocupavam em não molhar o pelo, ao contrário metiam a cabeça bem debaixo da água e esfregavam com força as ventas e as barbas, fossando e fungando contra as palmas da mão (...).</a:t>
            </a:r>
          </a:p>
          <a:p>
            <a:pPr algn="just"/>
            <a:endParaRPr lang="pt-BR" sz="1100" dirty="0">
              <a:solidFill>
                <a:schemeClr val="bg2">
                  <a:lumMod val="25000"/>
                  <a:lumOff val="75000"/>
                </a:schemeClr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algn="just"/>
            <a:r>
              <a:rPr lang="pt-BR" sz="2600" dirty="0">
                <a:solidFill>
                  <a:schemeClr val="bg2">
                    <a:lumMod val="25000"/>
                    <a:lumOff val="75000"/>
                  </a:schemeClr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AZEVEDO, Aluísio. O cortiço</a:t>
            </a:r>
          </a:p>
          <a:p>
            <a:pPr algn="just"/>
            <a:endParaRPr lang="pt-BR" sz="2600" dirty="0">
              <a:solidFill>
                <a:prstClr val="white"/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algn="just"/>
            <a:r>
              <a:rPr lang="pt-BR" sz="2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Considerando o meio, que aspecto se evidencia no fragmento?</a:t>
            </a:r>
          </a:p>
          <a:p>
            <a:pPr algn="just"/>
            <a:r>
              <a:rPr lang="pt-BR" sz="2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Destaque as expressões que confirmam o processo de </a:t>
            </a:r>
            <a:r>
              <a:rPr lang="pt-BR" sz="2600" dirty="0" err="1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zoomorfização</a:t>
            </a:r>
            <a:r>
              <a:rPr lang="pt-BR" sz="2600" dirty="0">
                <a:solidFill>
                  <a:prstClr val="white"/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53898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171ED15A-2190-4B4C-B724-2A2506986F15}"/>
              </a:ext>
            </a:extLst>
          </p:cNvPr>
          <p:cNvSpPr/>
          <p:nvPr/>
        </p:nvSpPr>
        <p:spPr>
          <a:xfrm>
            <a:off x="567324" y="755897"/>
            <a:ext cx="11268000" cy="25200"/>
          </a:xfrm>
          <a:prstGeom prst="rect">
            <a:avLst/>
          </a:prstGeom>
          <a:gradFill flip="none" rotWithShape="1">
            <a:gsLst>
              <a:gs pos="58000">
                <a:srgbClr val="F8E9D2"/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C720473-CE6F-4618-B4D5-56E70B6D3039}"/>
              </a:ext>
            </a:extLst>
          </p:cNvPr>
          <p:cNvSpPr/>
          <p:nvPr/>
        </p:nvSpPr>
        <p:spPr>
          <a:xfrm>
            <a:off x="5372788" y="143965"/>
            <a:ext cx="14464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prstClr val="white"/>
                </a:solidFill>
                <a:latin typeface="Modern Love Grunge" panose="04070805081005020601" pitchFamily="82" charset="0"/>
                <a:cs typeface="Times New Roman" panose="02020603050405020304" pitchFamily="18" charset="0"/>
              </a:rPr>
              <a:t>Textos:</a:t>
            </a:r>
            <a:endParaRPr lang="pt-PT" sz="3200" dirty="0">
              <a:solidFill>
                <a:prstClr val="white"/>
              </a:solidFill>
              <a:latin typeface="Modern Love Grunge" panose="04070805081005020601" pitchFamily="82" charset="0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0AF8C3-3BC3-E77E-4EF2-0456BA5A10D3}"/>
              </a:ext>
            </a:extLst>
          </p:cNvPr>
          <p:cNvSpPr/>
          <p:nvPr/>
        </p:nvSpPr>
        <p:spPr>
          <a:xfrm>
            <a:off x="1281800" y="1336412"/>
            <a:ext cx="9628398" cy="2964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800"/>
              </a:lnSpc>
            </a:pPr>
            <a:r>
              <a:rPr lang="pt-BR" sz="2800" dirty="0">
                <a:solidFill>
                  <a:schemeClr val="bg2">
                    <a:lumMod val="25000"/>
                    <a:lumOff val="75000"/>
                  </a:schemeClr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2. “E naquela terra encharcada e fumegante, naquela umidade quente e lodosa, começou a </a:t>
            </a:r>
            <a:r>
              <a:rPr lang="pt-BR" sz="2800" dirty="0" err="1">
                <a:solidFill>
                  <a:schemeClr val="bg2">
                    <a:lumMod val="25000"/>
                    <a:lumOff val="75000"/>
                  </a:schemeClr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minhocar</a:t>
            </a:r>
            <a:r>
              <a:rPr lang="pt-BR" sz="2800" dirty="0">
                <a:solidFill>
                  <a:schemeClr val="bg2">
                    <a:lumMod val="25000"/>
                    <a:lumOff val="75000"/>
                  </a:schemeClr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, e esfervilhar, a crescer, um mundo, uma coisa viva, uma geração, que parecia brotar espontânea, ali mesmo, daquele lameiro, a multiplicar-se como larvas no esterco.” </a:t>
            </a:r>
          </a:p>
          <a:p>
            <a:pPr algn="just">
              <a:lnSpc>
                <a:spcPts val="2800"/>
              </a:lnSpc>
            </a:pPr>
            <a:endParaRPr lang="pt-BR" sz="2800" dirty="0">
              <a:solidFill>
                <a:schemeClr val="bg2">
                  <a:lumMod val="25000"/>
                  <a:lumOff val="75000"/>
                </a:schemeClr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algn="just">
              <a:lnSpc>
                <a:spcPts val="2800"/>
              </a:lnSpc>
            </a:pPr>
            <a:r>
              <a:rPr lang="pt-BR" sz="2800" dirty="0">
                <a:solidFill>
                  <a:schemeClr val="bg2">
                    <a:lumMod val="25000"/>
                    <a:lumOff val="75000"/>
                  </a:schemeClr>
                </a:solidFill>
                <a:latin typeface="Gabriola" panose="04040605051002020D02" pitchFamily="82" charset="0"/>
                <a:cs typeface="Times New Roman" panose="02020603050405020304" pitchFamily="18" charset="0"/>
              </a:rPr>
              <a:t>AZEVEDO, Aluísio. O cortiço</a:t>
            </a:r>
          </a:p>
          <a:p>
            <a:pPr algn="just">
              <a:lnSpc>
                <a:spcPts val="2800"/>
              </a:lnSpc>
            </a:pPr>
            <a:endParaRPr lang="pt-BR" sz="2800" dirty="0">
              <a:solidFill>
                <a:schemeClr val="bg2">
                  <a:lumMod val="25000"/>
                  <a:lumOff val="75000"/>
                </a:schemeClr>
              </a:solidFill>
              <a:latin typeface="Gabriola" panose="04040605051002020D02" pitchFamily="82" charset="0"/>
              <a:cs typeface="Times New Roman" panose="02020603050405020304" pitchFamily="18" charset="0"/>
            </a:endParaRPr>
          </a:p>
          <a:p>
            <a:pPr algn="just">
              <a:lnSpc>
                <a:spcPts val="2800"/>
              </a:lnSpc>
            </a:pPr>
            <a:r>
              <a:rPr lang="pt-BR" sz="2800" dirty="0">
                <a:latin typeface="Gabriola" panose="04040605051002020D02" pitchFamily="82" charset="0"/>
                <a:cs typeface="Times New Roman" panose="02020603050405020304" pitchFamily="18" charset="0"/>
              </a:rPr>
              <a:t>Qual característica fundamental do Naturalismo é observada no texto?</a:t>
            </a:r>
          </a:p>
        </p:txBody>
      </p:sp>
    </p:spTree>
    <p:extLst>
      <p:ext uri="{BB962C8B-B14F-4D97-AF65-F5344CB8AC3E}">
        <p14:creationId xmlns:p14="http://schemas.microsoft.com/office/powerpoint/2010/main" val="14548837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ba27e87-2a6c-47c6-95b9-e8ad66b21cf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A1F22D6BC14B4FA62D98AE0156A25F" ma:contentTypeVersion="15" ma:contentTypeDescription="Crie um novo documento." ma:contentTypeScope="" ma:versionID="7c3dd28b3ff12fbc61b916f03df99b5d">
  <xsd:schema xmlns:xsd="http://www.w3.org/2001/XMLSchema" xmlns:xs="http://www.w3.org/2001/XMLSchema" xmlns:p="http://schemas.microsoft.com/office/2006/metadata/properties" xmlns:ns3="41d7acb0-8139-4e24-93e9-50c510813f45" xmlns:ns4="dba27e87-2a6c-47c6-95b9-e8ad66b21cf8" targetNamespace="http://schemas.microsoft.com/office/2006/metadata/properties" ma:root="true" ma:fieldsID="7b3cf587720da69aafa339306ecea50a" ns3:_="" ns4:_="">
    <xsd:import namespace="41d7acb0-8139-4e24-93e9-50c510813f45"/>
    <xsd:import namespace="dba27e87-2a6c-47c6-95b9-e8ad66b21cf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  <xsd:element ref="ns4:MediaServiceObjectDetectorVersions" minOccurs="0"/>
                <xsd:element ref="ns4:_activity" minOccurs="0"/>
                <xsd:element ref="ns4:MediaServiceSearchProperties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7acb0-8139-4e24-93e9-50c510813f4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Dica de Compartilhamento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a27e87-2a6c-47c6-95b9-e8ad66b21c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4353F9-F19B-4AB7-B905-93B58C19F5E7}">
  <ds:schemaRefs>
    <ds:schemaRef ds:uri="41d7acb0-8139-4e24-93e9-50c510813f45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dba27e87-2a6c-47c6-95b9-e8ad66b21cf8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454BDCA-EC28-4297-81C6-A016606F69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C3C3C2-7136-496B-98A4-7F53FCC855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d7acb0-8139-4e24-93e9-50c510813f45"/>
    <ds:schemaRef ds:uri="dba27e87-2a6c-47c6-95b9-e8ad66b21c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1559</TotalTime>
  <Words>532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Blackadder ITC</vt:lpstr>
      <vt:lpstr>Calisto MT</vt:lpstr>
      <vt:lpstr>Gabriola</vt:lpstr>
      <vt:lpstr>Modern Love Grunge</vt:lpstr>
      <vt:lpstr>Wingdings</vt:lpstr>
      <vt:lpstr>Wingdings 2</vt:lpstr>
      <vt:lpstr>Ardósia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Jacqueline Cobiak</dc:creator>
  <cp:lastModifiedBy>Jacqueline Cobiak</cp:lastModifiedBy>
  <cp:revision>53</cp:revision>
  <dcterms:created xsi:type="dcterms:W3CDTF">2020-09-20T02:49:18Z</dcterms:created>
  <dcterms:modified xsi:type="dcterms:W3CDTF">2024-04-21T03:09:59Z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0x0101002BA1F22D6BC14B4FA62D98AE0156A25F</vt:lpwstr>
  </property>
</Properties>
</file>