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0" r:id="rId2"/>
    <p:sldId id="432" r:id="rId3"/>
    <p:sldId id="441" r:id="rId4"/>
    <p:sldId id="442" r:id="rId5"/>
    <p:sldId id="443" r:id="rId6"/>
    <p:sldId id="444" r:id="rId7"/>
    <p:sldId id="445" r:id="rId8"/>
    <p:sldId id="446" r:id="rId9"/>
    <p:sldId id="447" r:id="rId10"/>
    <p:sldId id="44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6A4"/>
    <a:srgbClr val="FF7C80"/>
    <a:srgbClr val="000000"/>
    <a:srgbClr val="5D4320"/>
    <a:srgbClr val="FFFFFF"/>
    <a:srgbClr val="008000"/>
    <a:srgbClr val="FF4B4B"/>
    <a:srgbClr val="D60000"/>
    <a:srgbClr val="A20000"/>
    <a:srgbClr val="FF2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660"/>
  </p:normalViewPr>
  <p:slideViewPr>
    <p:cSldViewPr snapToGrid="0">
      <p:cViewPr>
        <p:scale>
          <a:sx n="70" d="100"/>
          <a:sy n="70" d="100"/>
        </p:scale>
        <p:origin x="7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65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02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54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48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1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5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7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8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2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14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4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335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6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067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060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4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21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2794E8-C916-4193-94BE-BF7A7153E953}" type="datetimeFigureOut">
              <a:rPr lang="pt-BR" smtClean="0"/>
              <a:t>06/02/2021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992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cursos do Escritor: Usar ou abusar das Referências (Literárias) – Sara  Farinha">
            <a:extLst>
              <a:ext uri="{FF2B5EF4-FFF2-40B4-BE49-F238E27FC236}">
                <a16:creationId xmlns:a16="http://schemas.microsoft.com/office/drawing/2014/main" id="{A51499E4-3F62-45DF-B159-54CFA193D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2522"/>
            <a:ext cx="12192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094AB9-35B8-4046-B9C0-B4803AA29C48}"/>
              </a:ext>
            </a:extLst>
          </p:cNvPr>
          <p:cNvSpPr/>
          <p:nvPr/>
        </p:nvSpPr>
        <p:spPr>
          <a:xfrm>
            <a:off x="1256168" y="1007516"/>
            <a:ext cx="9349408" cy="533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</a:pPr>
            <a:r>
              <a:rPr lang="pt-BR" sz="1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lackadder ITC" panose="04020505051007020D02" pitchFamily="82" charset="0"/>
              </a:rPr>
              <a:t>Realismo e  Naturalismo </a:t>
            </a:r>
          </a:p>
          <a:p>
            <a:pPr lvl="0" algn="ctr"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</a:pPr>
            <a:r>
              <a:rPr lang="pt-BR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lackadder ITC" panose="04020505051007020D02" pitchFamily="82" charset="0"/>
              </a:rPr>
              <a:t>2ª metade do século XIX</a:t>
            </a:r>
            <a:endParaRPr lang="en-US" sz="8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8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1052439" y="1595675"/>
            <a:ext cx="1008712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“ [...] o Romantismo era a apoteose do sentimento; o Realismo é a anatomia do caráter. É a crítica do homem. É a arte que nos pinta a nossos próprios olhos- para nos conhecermos, para que saibamos se somos verdadeiros ou falsos, para condenarmos o que houve de mau na sociedade.” </a:t>
            </a:r>
          </a:p>
          <a:p>
            <a:endParaRPr lang="pt-BR" sz="4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r>
              <a:rPr lang="pt-BR" sz="4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( Eça de Queirós)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3138588" y="143965"/>
            <a:ext cx="59148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1. Um pensamento relevante: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91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4752091" y="1348520"/>
            <a:ext cx="693605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Realismo surgiu na segunda metade do século 19. 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endParaRPr lang="pt-BR" sz="3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Foi, no objetivo maior, uma reação ao idealismo da literatura romântica. 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endParaRPr lang="pt-BR" sz="3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próprio romantismo, aliás, surgido no início do mesmo século, já vinha abandonando o idealismo, como pode-se perceber na obra do escritor francês Victor Hugo, que rompia com essa tendência idealista ao fazer denúncias da vida miserável dos pobres na França, em romances que se consagraram, como o célebre "Os Miseráveis".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3958235" y="143965"/>
            <a:ext cx="42755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2. A vida como ela é 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5" name="Imagem 4" descr="Realismo: conceito, pintores e características da Arte do século XIX">
            <a:extLst>
              <a:ext uri="{FF2B5EF4-FFF2-40B4-BE49-F238E27FC236}">
                <a16:creationId xmlns:a16="http://schemas.microsoft.com/office/drawing/2014/main" id="{B7D3C53C-0B3E-4A52-A322-2D7BF143AB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41" y="1461372"/>
            <a:ext cx="4013550" cy="398433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9F5EE96-7BEF-44B7-A917-C222BA4EC815}"/>
              </a:ext>
            </a:extLst>
          </p:cNvPr>
          <p:cNvSpPr txBox="1"/>
          <p:nvPr/>
        </p:nvSpPr>
        <p:spPr>
          <a:xfrm rot="16200000">
            <a:off x="-1242383" y="3700412"/>
            <a:ext cx="3619414" cy="26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100" i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vagão Terceira classe </a:t>
            </a:r>
            <a:r>
              <a:rPr lang="pt-BR" sz="1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(1863-65) Honoré </a:t>
            </a:r>
            <a:r>
              <a:rPr lang="pt-BR" sz="1100" dirty="0" err="1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Daumier</a:t>
            </a:r>
            <a:endParaRPr lang="pt-BR" sz="1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507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723332" y="1402067"/>
            <a:ext cx="59777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Os realistas deslocam o olhar para o mundo dos pobres e fixam o universo burguês, deixam de lado as aparências para procurar as </a:t>
            </a:r>
            <a:r>
              <a:rPr lang="pt-BR" sz="30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essências</a:t>
            </a: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desmistificando as hipocrisias da sociedade. 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endParaRPr lang="pt-BR" sz="3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romance pioneiro é romance "Madame Bovary" (1857), de Gustave Flaubert, que critica com sutil ironia a hipocrisia da educação sentimental burguesa. Assim, a obra literária tornou-se um instrumento de </a:t>
            </a:r>
            <a:r>
              <a:rPr lang="pt-BR" sz="30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denúncia e crítica social</a:t>
            </a: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3958235" y="143965"/>
            <a:ext cx="42755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2. A vida como ela é 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Resultado de imagem para Madame Bovary">
            <a:extLst>
              <a:ext uri="{FF2B5EF4-FFF2-40B4-BE49-F238E27FC236}">
                <a16:creationId xmlns:a16="http://schemas.microsoft.com/office/drawing/2014/main" id="{DDC1A465-1EF9-407E-9EA2-56C629CC7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9" b="17116"/>
          <a:stretch/>
        </p:blipFill>
        <p:spPr bwMode="auto">
          <a:xfrm rot="21363086">
            <a:off x="7426493" y="1407399"/>
            <a:ext cx="3889575" cy="456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6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3671248" y="1541117"/>
            <a:ext cx="7192370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Os países europeus passavam pela </a:t>
            </a:r>
            <a:r>
              <a:rPr lang="pt-BR" sz="30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Segunda Revolução Industrial</a:t>
            </a: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(1850 e 1870), período de bastante movimentação cultural, social e política:</a:t>
            </a:r>
          </a:p>
          <a:p>
            <a:pPr algn="just">
              <a:lnSpc>
                <a:spcPts val="3000"/>
              </a:lnSpc>
            </a:pPr>
            <a:endParaRPr lang="pt-BR" sz="3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Fortalecimento da Burguesia capitalista;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Lutas sociais;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Tentativas de revolução do proletariado;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Novas ideias políticas - Partidos trabalhistas;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Novos pensamentos filosóficos;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Revisão de conceitos religiosos consagrados;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Domínio do pensamento científico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2885024" y="143965"/>
            <a:ext cx="64219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3. Aspectos históricos/ culturais: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DACAA6A-BCEE-4DA1-9ADD-EF0E1872DC34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0" r="9690"/>
          <a:stretch/>
        </p:blipFill>
        <p:spPr bwMode="auto">
          <a:xfrm rot="20931657">
            <a:off x="881020" y="1588853"/>
            <a:ext cx="2178415" cy="15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 descr="Resultado de imagem para 2ª revolução industrial">
            <a:extLst>
              <a:ext uri="{FF2B5EF4-FFF2-40B4-BE49-F238E27FC236}">
                <a16:creationId xmlns:a16="http://schemas.microsoft.com/office/drawing/2014/main" id="{4D080591-8B0A-497C-9C3D-5456F0EEB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0676">
            <a:off x="1137334" y="3108928"/>
            <a:ext cx="2178415" cy="159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m para 2ª revolução industrial">
            <a:extLst>
              <a:ext uri="{FF2B5EF4-FFF2-40B4-BE49-F238E27FC236}">
                <a16:creationId xmlns:a16="http://schemas.microsoft.com/office/drawing/2014/main" id="{9CF5F7DF-1CBF-40BB-A274-E13D579BC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5"/>
          <a:stretch/>
        </p:blipFill>
        <p:spPr bwMode="auto">
          <a:xfrm rot="20775971">
            <a:off x="856701" y="4512226"/>
            <a:ext cx="2178415" cy="145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99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996286" y="1513821"/>
            <a:ext cx="994921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1. O Positivismo-Racionalismo de Augusto Comte: </a:t>
            </a:r>
          </a:p>
          <a:p>
            <a:pPr algn="just">
              <a:lnSpc>
                <a:spcPts val="3000"/>
              </a:lnSpc>
            </a:pPr>
            <a:endParaRPr lang="pt-BR" sz="3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>
              <a:lnSpc>
                <a:spcPts val="3000"/>
              </a:lnSpc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As verdades científicas  resultam do experimentalismo, da observação e da contestação.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2676826" y="143965"/>
            <a:ext cx="68383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Domínio do pensamento científico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Augusto Comte - filosofia">
            <a:extLst>
              <a:ext uri="{FF2B5EF4-FFF2-40B4-BE49-F238E27FC236}">
                <a16:creationId xmlns:a16="http://schemas.microsoft.com/office/drawing/2014/main" id="{81DFBCB1-FB25-4025-B437-C74FAB242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09" y="3429000"/>
            <a:ext cx="9999572" cy="260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89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4984649" y="2228671"/>
            <a:ext cx="590736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2. O Socialismo de Karl Max: </a:t>
            </a:r>
          </a:p>
          <a:p>
            <a:pPr algn="just">
              <a:lnSpc>
                <a:spcPts val="3000"/>
              </a:lnSpc>
            </a:pPr>
            <a:endParaRPr lang="pt-BR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  <a:p>
            <a:pPr algn="just">
              <a:lnSpc>
                <a:spcPts val="3000"/>
              </a:lnSpc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Manifesto Comunista ( 1848)- A classe operária e a consciência de classe; a tentativa de derrubada da burguesia e o sistema capitalista e se implantação do comunismo.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2676826" y="143965"/>
            <a:ext cx="68383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Domínio do pensamento científico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6" name="Imagem 5" descr="Karl Marx, o grande lutador pela liberdade - PCdoB">
            <a:extLst>
              <a:ext uri="{FF2B5EF4-FFF2-40B4-BE49-F238E27FC236}">
                <a16:creationId xmlns:a16="http://schemas.microsoft.com/office/drawing/2014/main" id="{1440D2AB-55A0-4462-BFC6-54ED0F50681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30"/>
          <a:stretch/>
        </p:blipFill>
        <p:spPr bwMode="auto">
          <a:xfrm>
            <a:off x="567324" y="1665027"/>
            <a:ext cx="4326341" cy="389170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1790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1278389" y="1982450"/>
            <a:ext cx="6640027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3. O Evolucionismo de Darwin:</a:t>
            </a:r>
          </a:p>
          <a:p>
            <a:pPr algn="just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ts val="3000"/>
              </a:lnSpc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Origem das Espécies (1859) e ideias marcantes:</a:t>
            </a:r>
          </a:p>
          <a:p>
            <a:pPr algn="just">
              <a:lnSpc>
                <a:spcPts val="3000"/>
              </a:lnSpc>
            </a:pPr>
            <a:endParaRPr lang="pt-BR" sz="3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condição natural/biológica do ser humano. </a:t>
            </a: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endParaRPr lang="pt-BR" sz="3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mais forte predomina o mais fraco.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2676826" y="143965"/>
            <a:ext cx="68383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Domínio do pensamento científico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8" name="Imagem 7" descr="Charles Darwin, 211 anos - BRASILIÁRIOS.COM">
            <a:extLst>
              <a:ext uri="{FF2B5EF4-FFF2-40B4-BE49-F238E27FC236}">
                <a16:creationId xmlns:a16="http://schemas.microsoft.com/office/drawing/2014/main" id="{D80B52ED-80E9-46B1-AE67-EC9B778E27CA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9" b="99050" l="4000" r="96000">
                        <a14:foregroundMark x1="49000" y1="32304" x2="58667" y2="27791"/>
                        <a14:foregroundMark x1="58667" y1="27791" x2="59333" y2="27078"/>
                        <a14:foregroundMark x1="61667" y1="46081" x2="61333" y2="49169"/>
                        <a14:foregroundMark x1="29667" y1="60333" x2="15000" y2="80523"/>
                        <a14:foregroundMark x1="15000" y1="80523" x2="15000" y2="80523"/>
                        <a14:foregroundMark x1="83000" y1="63658" x2="94667" y2="74109"/>
                        <a14:foregroundMark x1="87000" y1="63420" x2="93000" y2="65796"/>
                        <a14:foregroundMark x1="96000" y1="70071" x2="96000" y2="79335"/>
                        <a14:foregroundMark x1="93333" y1="85273" x2="94000" y2="96912"/>
                        <a14:foregroundMark x1="84667" y1="89549" x2="51333" y2="89786"/>
                        <a14:foregroundMark x1="51333" y1="89786" x2="49667" y2="89549"/>
                        <a14:foregroundMark x1="15667" y1="83610" x2="54333" y2="85748"/>
                        <a14:foregroundMark x1="54333" y1="85748" x2="63333" y2="85036"/>
                        <a14:foregroundMark x1="19667" y1="59857" x2="6667" y2="67933"/>
                        <a14:foregroundMark x1="23000" y1="57245" x2="12333" y2="61045"/>
                        <a14:foregroundMark x1="12333" y1="61045" x2="12333" y2="61045"/>
                        <a14:foregroundMark x1="4000" y1="65796" x2="4333" y2="81948"/>
                        <a14:foregroundMark x1="12333" y1="93112" x2="48000" y2="95012"/>
                        <a14:foregroundMark x1="7333" y1="96437" x2="56333" y2="99050"/>
                        <a14:foregroundMark x1="56333" y1="99050" x2="90667" y2="97150"/>
                        <a14:foregroundMark x1="61333" y1="31116" x2="65667" y2="41330"/>
                        <a14:foregroundMark x1="65667" y1="41330" x2="65667" y2="42043"/>
                        <a14:foregroundMark x1="59000" y1="42993" x2="58333" y2="50119"/>
                        <a14:foregroundMark x1="54333" y1="45368" x2="54667" y2="484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87988" y="605772"/>
            <a:ext cx="4804012" cy="62522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569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3955216" y="1805028"/>
            <a:ext cx="6640027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4. O Determinismo de Taine :</a:t>
            </a:r>
          </a:p>
          <a:p>
            <a:pPr algn="just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2676826" y="143965"/>
            <a:ext cx="68383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Domínio do pensamento científico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8E46CBA-3B69-4E47-A3DB-75EC2142165D}"/>
              </a:ext>
            </a:extLst>
          </p:cNvPr>
          <p:cNvSpPr/>
          <p:nvPr/>
        </p:nvSpPr>
        <p:spPr>
          <a:xfrm>
            <a:off x="4075098" y="2488407"/>
            <a:ext cx="75683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800" dirty="0">
                <a:latin typeface="Gabriola" panose="04040605051002020D02" pitchFamily="82" charset="0"/>
              </a:rPr>
              <a:t>Todo o acontecimento é uma </a:t>
            </a:r>
            <a:r>
              <a:rPr lang="pt-PT" sz="2800" dirty="0">
                <a:solidFill>
                  <a:srgbClr val="FFC000"/>
                </a:solidFill>
                <a:latin typeface="Gabriola" panose="04040605051002020D02" pitchFamily="82" charset="0"/>
              </a:rPr>
              <a:t>CONSEQUÊNCIA</a:t>
            </a:r>
            <a:r>
              <a:rPr lang="pt-PT" sz="2800" dirty="0">
                <a:latin typeface="Gabriola" panose="04040605051002020D02" pitchFamily="82" charset="0"/>
              </a:rPr>
              <a:t> necessária de um acontecimento ou de uma série de acontecimentos anteriores.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BFE952C-8208-4233-8F42-73923AB7AC89}"/>
              </a:ext>
            </a:extLst>
          </p:cNvPr>
          <p:cNvSpPr/>
          <p:nvPr/>
        </p:nvSpPr>
        <p:spPr>
          <a:xfrm>
            <a:off x="4075098" y="3498218"/>
            <a:ext cx="75683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800" dirty="0">
                <a:latin typeface="Gabriola" panose="04040605051002020D02" pitchFamily="82" charset="0"/>
              </a:rPr>
              <a:t>Hippolyte Taine defende que o comportamento humano é determinado por 3 fatores :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DB713D3-0B70-451E-A196-CB85DDC84697}"/>
              </a:ext>
            </a:extLst>
          </p:cNvPr>
          <p:cNvSpPr/>
          <p:nvPr/>
        </p:nvSpPr>
        <p:spPr>
          <a:xfrm>
            <a:off x="4075098" y="4489125"/>
            <a:ext cx="81169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PT" sz="2800" dirty="0">
                <a:solidFill>
                  <a:srgbClr val="FFC000"/>
                </a:solidFill>
                <a:latin typeface="Gabriola" panose="04040605051002020D02" pitchFamily="82" charset="0"/>
              </a:rPr>
              <a:t>O MEIO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PT" sz="2800" dirty="0">
                <a:solidFill>
                  <a:srgbClr val="FFC000"/>
                </a:solidFill>
                <a:latin typeface="Gabriola" panose="04040605051002020D02" pitchFamily="82" charset="0"/>
              </a:rPr>
              <a:t>A RAÇA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PT" sz="2800" dirty="0">
                <a:solidFill>
                  <a:srgbClr val="FFC000"/>
                </a:solidFill>
                <a:latin typeface="Gabriola" panose="04040605051002020D02" pitchFamily="82" charset="0"/>
              </a:rPr>
              <a:t>O MOMENTO HISTÓRICO</a:t>
            </a:r>
          </a:p>
        </p:txBody>
      </p:sp>
      <p:pic>
        <p:nvPicPr>
          <p:cNvPr id="11" name="Picture 2" descr="Resultado de imagem para determinismo de taine">
            <a:extLst>
              <a:ext uri="{FF2B5EF4-FFF2-40B4-BE49-F238E27FC236}">
                <a16:creationId xmlns:a16="http://schemas.microsoft.com/office/drawing/2014/main" id="{9EEAE5C0-7FD0-4625-AFA1-65CAED5D1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07" y="1509022"/>
            <a:ext cx="3175668" cy="41832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31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5195297" y="1435860"/>
            <a:ext cx="664002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5. A Psicanálise de Freud</a:t>
            </a:r>
          </a:p>
          <a:p>
            <a:pPr algn="just"/>
            <a:r>
              <a:rPr lang="pt-BR" sz="14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teoria do inconsciente:</a:t>
            </a:r>
          </a:p>
          <a:p>
            <a:pPr algn="just"/>
            <a:endParaRPr lang="pt-BR" sz="11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inconsciente;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censura;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recalque;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libido;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sonho;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Id – Ego – Superego.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2676826" y="143965"/>
            <a:ext cx="68383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Domínio do pensamento científico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6" name="Imagem 5" descr="Analisando (cientificamente) Freud | EL PAÍS Semanal | EL PAÍS Brasil">
            <a:extLst>
              <a:ext uri="{FF2B5EF4-FFF2-40B4-BE49-F238E27FC236}">
                <a16:creationId xmlns:a16="http://schemas.microsoft.com/office/drawing/2014/main" id="{C7A731D7-984D-4A3B-953C-26FA67C59407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625" b="98834" l="10000" r="90000">
                        <a14:foregroundMark x1="71163" y1="8625" x2="71163" y2="8625"/>
                        <a14:foregroundMark x1="57209" y1="96037" x2="57209" y2="96037"/>
                        <a14:foregroundMark x1="38372" y1="98834" x2="38372" y2="98834"/>
                        <a14:foregroundMark x1="27674" y1="79953" x2="27674" y2="7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921" y="1810961"/>
            <a:ext cx="6025680" cy="5545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67B7451-5D46-4008-AA49-21500F758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71236">
            <a:off x="930600" y="1789211"/>
            <a:ext cx="3492453" cy="367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997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519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Blackadder ITC</vt:lpstr>
      <vt:lpstr>Calibri</vt:lpstr>
      <vt:lpstr>Calisto MT</vt:lpstr>
      <vt:lpstr>Gabriola</vt:lpstr>
      <vt:lpstr>Modern Love Grunge</vt:lpstr>
      <vt:lpstr>Wingdings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Jacqueline Cobiak</dc:creator>
  <cp:lastModifiedBy>Jacqueline Cobiak</cp:lastModifiedBy>
  <cp:revision>51</cp:revision>
  <dcterms:created xsi:type="dcterms:W3CDTF">2020-09-20T02:49:18Z</dcterms:created>
  <dcterms:modified xsi:type="dcterms:W3CDTF">2021-02-06T13:32:59Z</dcterms:modified>
</cp:coreProperties>
</file>