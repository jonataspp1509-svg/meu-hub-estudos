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  <p:sldMasterId id="2147483840" r:id="rId2"/>
  </p:sldMasterIdLst>
  <p:sldIdLst>
    <p:sldId id="270" r:id="rId3"/>
    <p:sldId id="288" r:id="rId4"/>
    <p:sldId id="256" r:id="rId5"/>
    <p:sldId id="272" r:id="rId6"/>
    <p:sldId id="257" r:id="rId7"/>
    <p:sldId id="258" r:id="rId8"/>
    <p:sldId id="279" r:id="rId9"/>
    <p:sldId id="261" r:id="rId10"/>
    <p:sldId id="259" r:id="rId11"/>
    <p:sldId id="260" r:id="rId12"/>
    <p:sldId id="262" r:id="rId13"/>
    <p:sldId id="282" r:id="rId14"/>
    <p:sldId id="285" r:id="rId15"/>
    <p:sldId id="264" r:id="rId16"/>
    <p:sldId id="276" r:id="rId17"/>
    <p:sldId id="273" r:id="rId18"/>
    <p:sldId id="274" r:id="rId19"/>
    <p:sldId id="275" r:id="rId20"/>
    <p:sldId id="277" r:id="rId21"/>
    <p:sldId id="286" r:id="rId22"/>
    <p:sldId id="283" r:id="rId23"/>
    <p:sldId id="265" r:id="rId24"/>
    <p:sldId id="266" r:id="rId25"/>
    <p:sldId id="267" r:id="rId26"/>
    <p:sldId id="278" r:id="rId27"/>
    <p:sldId id="269" r:id="rId28"/>
    <p:sldId id="289" r:id="rId29"/>
    <p:sldId id="290" r:id="rId30"/>
    <p:sldId id="291" r:id="rId31"/>
    <p:sldId id="292" r:id="rId32"/>
    <p:sldId id="293" r:id="rId33"/>
    <p:sldId id="294" r:id="rId34"/>
    <p:sldId id="29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67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72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251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47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04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622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48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16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92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27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64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5A839-851B-4C0D-A7A4-6DBFF87ED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9EA55B-8719-42C4-A11D-0C3EA0BF5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76A630-78ED-48A2-B187-2D9481A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9A5AB1-DD8E-4354-895B-9FBEF57E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4F11C6-1911-4973-8A90-B11DA81C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130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B692C-251D-4BDF-9347-39D8D413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EA4733-D943-4C0B-9CE3-A9292DFE5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192CCF-1006-4511-BEC6-8B150ECD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7CFDB2-CBD0-4A0F-B371-A23E94094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6096-5449-4E85-AB2D-5FBA6853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650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0AF9A-49E3-4B1C-8D35-06DEA3AF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180ABB-D1C1-4CBD-9FBB-9C144AFE2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03771A-C2CD-4265-8D6D-609F1E32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3628EF-A6DE-4E9E-8C16-16CCB2619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718079-75BA-483A-B5A5-18E1970D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730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39709-B862-4862-9E8F-77F8F031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659200-86E3-4ECF-B6FD-489BBB382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89CAFB-F283-4FC5-B897-913E6EC79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D3C70F-8FE0-447D-A459-3DAC9AC92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188ACB-679E-4CCF-9688-9526E55B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E201C6-7A82-435E-BFE4-72B80AF0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817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844AE-8C1A-4968-B23A-6A1C6BD73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78ED31-3315-49AF-A7BF-8FFEB54B7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1D194A-2292-4F2F-910B-55C70969C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785BFEB-1A41-4929-BE97-7B5BA1E7A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0606792-3B1B-481D-BF76-D36368449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FCB1AF-5E4F-4C0A-8E16-5BBD96728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4EC610E-8CC5-47F5-A391-02E1F1ABA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7763FF9-6DEA-4304-927D-BAE8C1A4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546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8BA56-D821-4F77-9434-5420739D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9D468A-505F-4A46-AA61-976EF050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7F13C6-1477-4CB0-85AF-D8466F5B1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55DA271-DF76-44A7-A9AD-95E2A7D4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795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729A4C-0B72-40DC-8FD8-B348BFF8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35468CC-F257-4045-A61E-36C8C86B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B6EA95-0EC4-4619-AE13-5BD12876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251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2B9A5-CFDC-47C7-AA6C-F61342101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9D1B09-A3D2-428D-8C44-3CE8FB1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75E838-ACA2-418B-A496-ACDD7D2C7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03F1A3-9DEB-4CCB-A2D1-7FEC0A5B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B31487-90FE-4EBA-B1F0-E3439BBA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0304E4-4083-4F50-9905-EC87EA1C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3211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85DA3-EF7A-4182-B81B-2B0A2618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0258F61-6DEE-4853-9E94-04F3B7CDD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D2EF26-3B38-4DFF-817C-63BA57F02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8CC69F-F0C6-4C40-B570-F9D81AE5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5AD2E0-C1B7-4BC1-A8FE-61C270AB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A9AC1D-FDBF-4780-A5AF-8C7674301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028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3B579-9C07-4D1B-916B-D37972AB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FCF830-13BA-4BC3-993C-66C37CE0E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617BE1-37E7-4835-A9B4-D219EC73E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AEDD9C-BCDB-4C48-B879-0EEC8DC8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D27EE3-2ED6-4314-809E-812A56F7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587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63394C-9567-41B5-B9E2-D78B147C6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540D25-6468-4B0C-9003-54B29B463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85C3DB-271C-4521-B2FC-5F94004A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D5E025-4324-480C-B24C-680A96EAA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8C7078-CAF2-49DA-BDB0-63780B4F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67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F3E84-218C-4930-B4F0-25C21A061CD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A78D3-04B0-4C6E-8764-9907FDD29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74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7BBE14-F9DF-4687-BB08-FC16C657F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E16A5B-2D07-40A3-A4A1-863CF4C7B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7D7407-1C16-4E96-856D-7AFFEC480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4B507-E65C-4F6B-81F0-A44524B3FB7B}" type="datetimeFigureOut">
              <a:rPr lang="pt-BR" smtClean="0"/>
              <a:t>01/06/2022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B3E4AC-5789-4B2B-A2F7-392D08817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034C4F-996E-407F-9C84-F699FE456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35520-A065-43A9-B21F-4648207CB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92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hyperlink" Target="https://www.nationalgeographicbrasil.com/historia/2020/01/arqueologia-revela-segredos-das-trincheiras-da-primeira-guerra-mundia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t.wikipedia.org/wiki/Primeira_Guerra_Mundial#/media/Ficheiro:WWImontage.jpg" TargetMode="Externa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m.acervo.estadao.com.br/noticias/acervo,ha-100-anos--eua-abandonavam-neutralidade-e-entravam-na-primeira-guerra-mundial,12754,0.htm" TargetMode="External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rra.com.br/noticias/mundo/europa/alemanha-quita-divida-e-primeira-guerra-termina-oficialmente,2ebb462627b2b310VgnCLD200000bbcceb0aRCRD.html" TargetMode="External"/><Relationship Id="rId3" Type="http://schemas.openxmlformats.org/officeDocument/2006/relationships/image" Target="../media/image23.jpeg"/><Relationship Id="rId7" Type="http://schemas.openxmlformats.org/officeDocument/2006/relationships/hyperlink" Target="https://internacional.estadao.com.br/noticias/europa,alemanha-quita-dividas-da-1-guerra-mundial,61923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ornalri.com.br/derek-assenco-creuz/os-100-anos-do-tratado-de-versalhes-e-a-criacao-da-sociedade-das-nacoes" TargetMode="External"/><Relationship Id="rId5" Type="http://schemas.openxmlformats.org/officeDocument/2006/relationships/image" Target="../media/image24.jpeg"/><Relationship Id="rId4" Type="http://schemas.openxmlformats.org/officeDocument/2006/relationships/hyperlink" Target="https://www.todamateria.com.br/tratado-de-versalhes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3BEC76B-D9A7-446E-860A-D62FF9AF45BE}"/>
              </a:ext>
            </a:extLst>
          </p:cNvPr>
          <p:cNvSpPr/>
          <p:nvPr/>
        </p:nvSpPr>
        <p:spPr>
          <a:xfrm>
            <a:off x="308113" y="567726"/>
            <a:ext cx="11111948" cy="5294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(Fuvest)  "As lâmpadas estão se apagando na Europa inteira. Não as veremos brilhar outra vez em nossa existência".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Sobre esta frase, proferida por Edward Grey, secretário das Relações Exteriores da Grã-Bretanha, em agosto de 1914, pode-se afirmar que exprime: 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a) a percepção de que a guerra, que estava começando naquele momento e que iria envolver toda a Europa, marcava o fim de uma cultura, de uma época conhecida como a Belle Époque;   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b) a desilusão de quem sabe que a guerra, que começava naquele momento, entre Grã-Bretanha e Alemanha, iria sepultar toda uma política de esforços diplomáticos visando evitar o conflito.   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c) a compreensão de quem, por ser muito velho, consegue perceber que também aquela guerra, embora longa e sangrenta, iria terminar um dia, permitindo que a Europa voltasse a brilhar;   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d) a ilusão de que, apesar de tudo, a guerra que estava começando, iria, por causa de seu caráter mortal e generalizado, ser o último grande conflito armado a envolver todos os países da Europa;   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e) a convicção de que à guerra que acabava de começar, e que iria envolver todo o continente europeu, haveria de suceder uma outra, a Segunda Guerra Mundial, antes da paz definitiva ser alcançada.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D62D55-5DAF-4EC5-831B-24AF856FE041}"/>
              </a:ext>
            </a:extLst>
          </p:cNvPr>
          <p:cNvSpPr txBox="1"/>
          <p:nvPr/>
        </p:nvSpPr>
        <p:spPr>
          <a:xfrm>
            <a:off x="1476374" y="74569"/>
            <a:ext cx="7115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Capítulo 31  - “Um mundo em Guerra” ( 1914-1918) página 737</a:t>
            </a:r>
          </a:p>
        </p:txBody>
      </p:sp>
    </p:spTree>
    <p:extLst>
      <p:ext uri="{BB962C8B-B14F-4D97-AF65-F5344CB8AC3E}">
        <p14:creationId xmlns:p14="http://schemas.microsoft.com/office/powerpoint/2010/main" val="371979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670DBD5-770C-4383-9F54-5B86E86B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0277" y="0"/>
            <a:ext cx="9771446" cy="6858000"/>
          </a:xfrm>
          <a:custGeom>
            <a:avLst/>
            <a:gdLst>
              <a:gd name="connsiteX0" fmla="*/ 1422188 w 9771446"/>
              <a:gd name="connsiteY0" fmla="*/ 0 h 6858000"/>
              <a:gd name="connsiteX1" fmla="*/ 8349258 w 9771446"/>
              <a:gd name="connsiteY1" fmla="*/ 0 h 6858000"/>
              <a:gd name="connsiteX2" fmla="*/ 8502224 w 9771446"/>
              <a:gd name="connsiteY2" fmla="*/ 159673 h 6858000"/>
              <a:gd name="connsiteX3" fmla="*/ 9771446 w 9771446"/>
              <a:gd name="connsiteY3" fmla="*/ 3429001 h 6858000"/>
              <a:gd name="connsiteX4" fmla="*/ 8502224 w 9771446"/>
              <a:gd name="connsiteY4" fmla="*/ 6698330 h 6858000"/>
              <a:gd name="connsiteX5" fmla="*/ 8349260 w 9771446"/>
              <a:gd name="connsiteY5" fmla="*/ 6858000 h 6858000"/>
              <a:gd name="connsiteX6" fmla="*/ 1422186 w 9771446"/>
              <a:gd name="connsiteY6" fmla="*/ 6858000 h 6858000"/>
              <a:gd name="connsiteX7" fmla="*/ 1269223 w 9771446"/>
              <a:gd name="connsiteY7" fmla="*/ 6698330 h 6858000"/>
              <a:gd name="connsiteX8" fmla="*/ 0 w 9771446"/>
              <a:gd name="connsiteY8" fmla="*/ 3429001 h 6858000"/>
              <a:gd name="connsiteX9" fmla="*/ 1269223 w 9771446"/>
              <a:gd name="connsiteY9" fmla="*/ 159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71446" h="6858000">
                <a:moveTo>
                  <a:pt x="1422188" y="0"/>
                </a:moveTo>
                <a:lnTo>
                  <a:pt x="8349258" y="0"/>
                </a:lnTo>
                <a:lnTo>
                  <a:pt x="8502224" y="159673"/>
                </a:lnTo>
                <a:cubicBezTo>
                  <a:pt x="9290813" y="1023162"/>
                  <a:pt x="9771446" y="2170221"/>
                  <a:pt x="9771446" y="3429001"/>
                </a:cubicBezTo>
                <a:cubicBezTo>
                  <a:pt x="9771446" y="4687781"/>
                  <a:pt x="9290813" y="5834840"/>
                  <a:pt x="8502224" y="6698330"/>
                </a:cubicBezTo>
                <a:lnTo>
                  <a:pt x="8349260" y="6858000"/>
                </a:lnTo>
                <a:lnTo>
                  <a:pt x="1422186" y="6858000"/>
                </a:lnTo>
                <a:lnTo>
                  <a:pt x="1269223" y="6698330"/>
                </a:lnTo>
                <a:cubicBezTo>
                  <a:pt x="480633" y="5834840"/>
                  <a:pt x="0" y="4687781"/>
                  <a:pt x="0" y="3429001"/>
                </a:cubicBezTo>
                <a:cubicBezTo>
                  <a:pt x="0" y="2170221"/>
                  <a:pt x="480633" y="1023162"/>
                  <a:pt x="1269223" y="159673"/>
                </a:cubicBezTo>
                <a:close/>
              </a:path>
            </a:pathLst>
          </a:custGeom>
          <a:solidFill>
            <a:schemeClr val="bg1">
              <a:lumMod val="8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Os Romanov: Lembra-te de Coburgo - O Noivado de Nicolau e Alexandra">
            <a:extLst>
              <a:ext uri="{FF2B5EF4-FFF2-40B4-BE49-F238E27FC236}">
                <a16:creationId xmlns:a16="http://schemas.microsoft.com/office/drawing/2014/main" id="{F39A24C5-1BD4-48EA-A78B-B91CCB9906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0" b="20715"/>
          <a:stretch/>
        </p:blipFill>
        <p:spPr bwMode="auto">
          <a:xfrm>
            <a:off x="1460597" y="0"/>
            <a:ext cx="9270806" cy="6857990"/>
          </a:xfrm>
          <a:custGeom>
            <a:avLst/>
            <a:gdLst/>
            <a:ahLst/>
            <a:cxnLst/>
            <a:rect l="l" t="t" r="r" b="b"/>
            <a:pathLst>
              <a:path w="9270806" h="6858000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CB88836-F605-461E-8D9B-926C9946BEEC}"/>
              </a:ext>
            </a:extLst>
          </p:cNvPr>
          <p:cNvSpPr txBox="1"/>
          <p:nvPr/>
        </p:nvSpPr>
        <p:spPr>
          <a:xfrm>
            <a:off x="1938020" y="4277360"/>
            <a:ext cx="1564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Guilherme II –Kaiser da Alemanha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096BA2-951A-428B-A373-A6F8CEA9577D}"/>
              </a:ext>
            </a:extLst>
          </p:cNvPr>
          <p:cNvSpPr txBox="1"/>
          <p:nvPr/>
        </p:nvSpPr>
        <p:spPr>
          <a:xfrm>
            <a:off x="2847975" y="2580640"/>
            <a:ext cx="1133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Czar Nicolau II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8208D0-3875-4C8E-B4C1-1DC3E32E80B4}"/>
              </a:ext>
            </a:extLst>
          </p:cNvPr>
          <p:cNvSpPr txBox="1"/>
          <p:nvPr/>
        </p:nvSpPr>
        <p:spPr>
          <a:xfrm>
            <a:off x="5009829" y="4438650"/>
            <a:ext cx="1543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Rainha Vitória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A7362F-2240-414A-9E7F-D0D76F87219B}"/>
              </a:ext>
            </a:extLst>
          </p:cNvPr>
          <p:cNvSpPr txBox="1"/>
          <p:nvPr/>
        </p:nvSpPr>
        <p:spPr>
          <a:xfrm>
            <a:off x="4270151" y="2737414"/>
            <a:ext cx="1387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Czarina Alexandra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D33961B-97F8-48C5-9BC0-FE4098EE51DA}"/>
              </a:ext>
            </a:extLst>
          </p:cNvPr>
          <p:cNvSpPr txBox="1"/>
          <p:nvPr/>
        </p:nvSpPr>
        <p:spPr>
          <a:xfrm>
            <a:off x="1538605" y="811340"/>
            <a:ext cx="1224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futuro rei Eduardo VII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A2935DD-BA14-491F-9B3C-86605EA801ED}"/>
              </a:ext>
            </a:extLst>
          </p:cNvPr>
          <p:cNvCxnSpPr/>
          <p:nvPr/>
        </p:nvCxnSpPr>
        <p:spPr>
          <a:xfrm>
            <a:off x="2520315" y="1253955"/>
            <a:ext cx="20002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304315A-2290-4F8A-AFEA-3E8D7878C064}"/>
              </a:ext>
            </a:extLst>
          </p:cNvPr>
          <p:cNvSpPr txBox="1"/>
          <p:nvPr/>
        </p:nvSpPr>
        <p:spPr>
          <a:xfrm>
            <a:off x="9213161" y="5287973"/>
            <a:ext cx="2674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Casamento de Ernesto Luís de Hesse com a princesa Vitória </a:t>
            </a:r>
            <a:r>
              <a:rPr kumimoji="0" lang="pt-B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Melita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, Coburgo, Abril de 1894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126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3B9F4C2-D3E1-4A07-86E6-39A9D1937D4B}"/>
              </a:ext>
            </a:extLst>
          </p:cNvPr>
          <p:cNvSpPr/>
          <p:nvPr/>
        </p:nvSpPr>
        <p:spPr>
          <a:xfrm>
            <a:off x="7918959" y="4649288"/>
            <a:ext cx="282280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b="1" dirty="0"/>
              <a:t>Imperialismo russo, sérvio e o nacionalismo eslavo  (</a:t>
            </a:r>
            <a:r>
              <a:rPr lang="pt-BR" altLang="pt-BR" b="1" dirty="0">
                <a:solidFill>
                  <a:srgbClr val="FF0000"/>
                </a:solidFill>
              </a:rPr>
              <a:t>Pan </a:t>
            </a:r>
            <a:r>
              <a:rPr lang="pt-BR" altLang="pt-BR" b="1" dirty="0" err="1">
                <a:solidFill>
                  <a:srgbClr val="FF0000"/>
                </a:solidFill>
              </a:rPr>
              <a:t>Eslavismo</a:t>
            </a:r>
            <a:r>
              <a:rPr lang="pt-BR" altLang="pt-BR" b="1" dirty="0"/>
              <a:t>) na Península Balcânica se chocando com Impérios decadentes (Austríaco e Turco)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CC89D70-AA56-479F-8379-A1C0C74B2464}"/>
              </a:ext>
            </a:extLst>
          </p:cNvPr>
          <p:cNvSpPr/>
          <p:nvPr/>
        </p:nvSpPr>
        <p:spPr>
          <a:xfrm>
            <a:off x="790051" y="1219496"/>
            <a:ext cx="16193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sz="4000" dirty="0"/>
              <a:t>Causas</a:t>
            </a:r>
            <a:endParaRPr lang="pt-BR" sz="40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5E268C5-9832-4C1D-AFF8-7B2588CAFA41}"/>
              </a:ext>
            </a:extLst>
          </p:cNvPr>
          <p:cNvSpPr/>
          <p:nvPr/>
        </p:nvSpPr>
        <p:spPr>
          <a:xfrm>
            <a:off x="3740232" y="2236444"/>
            <a:ext cx="2050837" cy="82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400" b="1" dirty="0"/>
              <a:t>Conflitos Imperialistas</a:t>
            </a:r>
            <a:endParaRPr lang="pt-BR" sz="2400" b="1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BCADBB-3F65-4B69-ADC9-770706D3D152}"/>
              </a:ext>
            </a:extLst>
          </p:cNvPr>
          <p:cNvSpPr/>
          <p:nvPr/>
        </p:nvSpPr>
        <p:spPr>
          <a:xfrm>
            <a:off x="7918959" y="2022588"/>
            <a:ext cx="29070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b="1" dirty="0"/>
              <a:t>Revanchismo francês  </a:t>
            </a:r>
            <a:r>
              <a:rPr lang="pt-BR" altLang="pt-BR" b="1" dirty="0" err="1"/>
              <a:t>anti-germânico</a:t>
            </a:r>
            <a:r>
              <a:rPr lang="pt-BR" altLang="pt-BR" b="1" dirty="0"/>
              <a:t> (perda da Alsácia e Lorena na Unificação Alemã)</a:t>
            </a:r>
            <a:endParaRPr lang="pt-BR" b="1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2C81589-D0E4-4F98-AE60-2EEF29F475A9}"/>
              </a:ext>
            </a:extLst>
          </p:cNvPr>
          <p:cNvSpPr/>
          <p:nvPr/>
        </p:nvSpPr>
        <p:spPr>
          <a:xfrm>
            <a:off x="7918959" y="3335938"/>
            <a:ext cx="25299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b="1" dirty="0"/>
              <a:t>Ameaça alemã às colônias britânicas no Oriente (Estrada de Ferro Berlim Bagdá ) </a:t>
            </a:r>
            <a:endParaRPr lang="pt-BR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8260A5-B9D0-4F06-A2F6-D0C402279E10}"/>
              </a:ext>
            </a:extLst>
          </p:cNvPr>
          <p:cNvSpPr txBox="1"/>
          <p:nvPr/>
        </p:nvSpPr>
        <p:spPr>
          <a:xfrm>
            <a:off x="7875217" y="387548"/>
            <a:ext cx="307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Disputas Industriais entre Inglaterra e Alemanha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CEA6A2B-7C67-46A8-BDCD-2C3103634323}"/>
              </a:ext>
            </a:extLst>
          </p:cNvPr>
          <p:cNvSpPr txBox="1"/>
          <p:nvPr/>
        </p:nvSpPr>
        <p:spPr>
          <a:xfrm>
            <a:off x="7918959" y="1181248"/>
            <a:ext cx="2695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 “Questão Marroquina” </a:t>
            </a:r>
          </a:p>
          <a:p>
            <a:r>
              <a:rPr lang="pt-BR" b="1" dirty="0"/>
              <a:t>(França vs. Alemanha)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5A2704A-5EC5-4AD6-8C2A-2137DB0BB158}"/>
              </a:ext>
            </a:extLst>
          </p:cNvPr>
          <p:cNvSpPr/>
          <p:nvPr/>
        </p:nvSpPr>
        <p:spPr>
          <a:xfrm>
            <a:off x="1450238" y="4470767"/>
            <a:ext cx="19183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b="1" dirty="0"/>
              <a:t>A corrida Armamentista (“Paz Armada”)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C9A8FE6-2451-471A-85E6-93806AF8457C}"/>
              </a:ext>
            </a:extLst>
          </p:cNvPr>
          <p:cNvSpPr/>
          <p:nvPr/>
        </p:nvSpPr>
        <p:spPr>
          <a:xfrm>
            <a:off x="3359928" y="4410588"/>
            <a:ext cx="33369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b="1" dirty="0"/>
              <a:t>A política de Alianças (Tríplice Entente: França, Inglaterra e Rússia // Tríplice Aliança: Alemanha, Áustria-Hungria, Itália</a:t>
            </a:r>
            <a:r>
              <a:rPr lang="pt-BR" altLang="pt-BR" dirty="0"/>
              <a:t>)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43C4694F-B784-40B6-A09F-6F0AF2D4D4F1}"/>
              </a:ext>
            </a:extLst>
          </p:cNvPr>
          <p:cNvCxnSpPr>
            <a:cxnSpLocks/>
          </p:cNvCxnSpPr>
          <p:nvPr/>
        </p:nvCxnSpPr>
        <p:spPr>
          <a:xfrm flipH="1">
            <a:off x="2812817" y="3110948"/>
            <a:ext cx="1013748" cy="1221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D7BD290-5F8B-4E92-A61A-8A17D486DC6F}"/>
              </a:ext>
            </a:extLst>
          </p:cNvPr>
          <p:cNvCxnSpPr/>
          <p:nvPr/>
        </p:nvCxnSpPr>
        <p:spPr>
          <a:xfrm>
            <a:off x="4502887" y="3335938"/>
            <a:ext cx="525529" cy="731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84526DE3-C6FA-4B9A-922D-D160AD54B573}"/>
              </a:ext>
            </a:extLst>
          </p:cNvPr>
          <p:cNvCxnSpPr/>
          <p:nvPr/>
        </p:nvCxnSpPr>
        <p:spPr>
          <a:xfrm flipV="1">
            <a:off x="5625268" y="875229"/>
            <a:ext cx="2166731" cy="1669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D3BDC16A-9E11-43EE-A809-71235F40A65E}"/>
              </a:ext>
            </a:extLst>
          </p:cNvPr>
          <p:cNvCxnSpPr/>
          <p:nvPr/>
        </p:nvCxnSpPr>
        <p:spPr>
          <a:xfrm flipV="1">
            <a:off x="5607662" y="1551537"/>
            <a:ext cx="2289426" cy="1011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8AF0CC7E-4F52-4495-851B-5A4578E027C6}"/>
              </a:ext>
            </a:extLst>
          </p:cNvPr>
          <p:cNvCxnSpPr>
            <a:cxnSpLocks/>
          </p:cNvCxnSpPr>
          <p:nvPr/>
        </p:nvCxnSpPr>
        <p:spPr>
          <a:xfrm flipV="1">
            <a:off x="5599043" y="2553772"/>
            <a:ext cx="2040345" cy="16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2EAB2A98-8C9A-4DEB-ACCD-CDBCADA6BDDC}"/>
              </a:ext>
            </a:extLst>
          </p:cNvPr>
          <p:cNvCxnSpPr>
            <a:cxnSpLocks/>
          </p:cNvCxnSpPr>
          <p:nvPr/>
        </p:nvCxnSpPr>
        <p:spPr>
          <a:xfrm>
            <a:off x="5599043" y="2573056"/>
            <a:ext cx="2214221" cy="127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DF109666-061A-4C89-95ED-421AAE29318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599043" y="2570411"/>
            <a:ext cx="2319916" cy="309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C31E360F-7D8D-4E62-BBE1-2E845D678F51}"/>
              </a:ext>
            </a:extLst>
          </p:cNvPr>
          <p:cNvSpPr txBox="1"/>
          <p:nvPr/>
        </p:nvSpPr>
        <p:spPr>
          <a:xfrm>
            <a:off x="790051" y="101600"/>
            <a:ext cx="5448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1ª Guerra Mundial</a:t>
            </a:r>
          </a:p>
        </p:txBody>
      </p:sp>
    </p:spTree>
    <p:extLst>
      <p:ext uri="{BB962C8B-B14F-4D97-AF65-F5344CB8AC3E}">
        <p14:creationId xmlns:p14="http://schemas.microsoft.com/office/powerpoint/2010/main" val="115596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construção da Ferrovia Berlim-Bagdá beneficiaria a integração ...">
            <a:extLst>
              <a:ext uri="{FF2B5EF4-FFF2-40B4-BE49-F238E27FC236}">
                <a16:creationId xmlns:a16="http://schemas.microsoft.com/office/drawing/2014/main" id="{0ED21A13-3F44-4F7A-B1A7-7918AD942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02419"/>
            <a:ext cx="8328846" cy="625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EDFAA2A-45F0-4DA2-AA4C-B9C07C4451A3}"/>
              </a:ext>
            </a:extLst>
          </p:cNvPr>
          <p:cNvSpPr txBox="1"/>
          <p:nvPr/>
        </p:nvSpPr>
        <p:spPr>
          <a:xfrm>
            <a:off x="9299424" y="1093708"/>
            <a:ext cx="2753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Os Interesses na Península Balcânica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1C3BFE-852E-43A0-BA20-6FFC528D4D31}"/>
              </a:ext>
            </a:extLst>
          </p:cNvPr>
          <p:cNvSpPr txBox="1"/>
          <p:nvPr/>
        </p:nvSpPr>
        <p:spPr>
          <a:xfrm>
            <a:off x="9521093" y="4849437"/>
            <a:ext cx="2123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Império Russo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E51149-B1B0-4544-ABE6-6F45D30857A9}"/>
              </a:ext>
            </a:extLst>
          </p:cNvPr>
          <p:cNvSpPr txBox="1"/>
          <p:nvPr/>
        </p:nvSpPr>
        <p:spPr>
          <a:xfrm>
            <a:off x="9472144" y="2201704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Império Alemão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9A5DAF-8617-485E-BFE9-D346D2ABA57D}"/>
              </a:ext>
            </a:extLst>
          </p:cNvPr>
          <p:cNvSpPr txBox="1"/>
          <p:nvPr/>
        </p:nvSpPr>
        <p:spPr>
          <a:xfrm>
            <a:off x="9472144" y="2687361"/>
            <a:ext cx="258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Império Austro-Húngaro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2F23B3-51B3-48C9-AFE3-5D02F9118160}"/>
              </a:ext>
            </a:extLst>
          </p:cNvPr>
          <p:cNvSpPr txBox="1"/>
          <p:nvPr/>
        </p:nvSpPr>
        <p:spPr>
          <a:xfrm>
            <a:off x="9521093" y="5166692"/>
            <a:ext cx="2368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Sérvia (Pan-Eslavismo)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3CEB58-3D11-4CE6-B1C9-F38C8567E510}"/>
              </a:ext>
            </a:extLst>
          </p:cNvPr>
          <p:cNvSpPr txBox="1"/>
          <p:nvPr/>
        </p:nvSpPr>
        <p:spPr>
          <a:xfrm>
            <a:off x="9491877" y="3407363"/>
            <a:ext cx="236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Império Turco Otomano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EFE20DD-8642-492C-8944-3C2A00C4DBD0}"/>
              </a:ext>
            </a:extLst>
          </p:cNvPr>
          <p:cNvSpPr txBox="1"/>
          <p:nvPr/>
        </p:nvSpPr>
        <p:spPr>
          <a:xfrm>
            <a:off x="9790333" y="4178238"/>
            <a:ext cx="1584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lgerian" panose="04020705040A02060702" pitchFamily="82" charset="0"/>
              </a:rPr>
              <a:t>VERSUS</a:t>
            </a:r>
          </a:p>
        </p:txBody>
      </p:sp>
    </p:spTree>
    <p:extLst>
      <p:ext uri="{BB962C8B-B14F-4D97-AF65-F5344CB8AC3E}">
        <p14:creationId xmlns:p14="http://schemas.microsoft.com/office/powerpoint/2010/main" val="277983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CA8E16A-2E8E-4B5E-9BDD-CC6B9480B89B}"/>
              </a:ext>
            </a:extLst>
          </p:cNvPr>
          <p:cNvSpPr/>
          <p:nvPr/>
        </p:nvSpPr>
        <p:spPr>
          <a:xfrm>
            <a:off x="858987" y="105119"/>
            <a:ext cx="47849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sz="3200" dirty="0"/>
              <a:t>1a Guerra Mundial 1914-18</a:t>
            </a:r>
            <a:endParaRPr lang="pt-BR" sz="3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8FA382-0A2C-4B5E-9C17-7CC4EF638B11}"/>
              </a:ext>
            </a:extLst>
          </p:cNvPr>
          <p:cNvSpPr txBox="1"/>
          <p:nvPr/>
        </p:nvSpPr>
        <p:spPr>
          <a:xfrm>
            <a:off x="325578" y="882533"/>
            <a:ext cx="196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+mj-lt"/>
              </a:rPr>
              <a:t>Antecedentes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200DAC-B5AF-4173-A124-B1EEF36749CF}"/>
              </a:ext>
            </a:extLst>
          </p:cNvPr>
          <p:cNvSpPr txBox="1"/>
          <p:nvPr/>
        </p:nvSpPr>
        <p:spPr>
          <a:xfrm>
            <a:off x="2878680" y="676762"/>
            <a:ext cx="230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As disputas imperialistas na Europa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11F61C5-A26A-4AED-9530-28AC33E2A029}"/>
              </a:ext>
            </a:extLst>
          </p:cNvPr>
          <p:cNvSpPr txBox="1"/>
          <p:nvPr/>
        </p:nvSpPr>
        <p:spPr>
          <a:xfrm>
            <a:off x="6211960" y="810979"/>
            <a:ext cx="5570090" cy="120032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Império Austro-Húngaro e Turco Otomano não querendo perder territórios e sofrendo com movimentos nacionalistas e separatistas dentro das suas fronteiras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F97FB7-A791-45E3-A147-41DB5FD28B2B}"/>
              </a:ext>
            </a:extLst>
          </p:cNvPr>
          <p:cNvSpPr txBox="1"/>
          <p:nvPr/>
        </p:nvSpPr>
        <p:spPr>
          <a:xfrm>
            <a:off x="878576" y="1950757"/>
            <a:ext cx="4899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Os Interesses e conflitos na Península Balcânica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A797335-3550-4CFB-A43E-6B9369130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25" y="2553474"/>
            <a:ext cx="5497711" cy="356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E00C92A-D2E4-4393-94EB-062E53CA0A59}"/>
              </a:ext>
            </a:extLst>
          </p:cNvPr>
          <p:cNvSpPr txBox="1"/>
          <p:nvPr/>
        </p:nvSpPr>
        <p:spPr>
          <a:xfrm>
            <a:off x="6202449" y="2094014"/>
            <a:ext cx="5357191" cy="120032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Os Eslavos da região liderados pela Sérvia (país recém independente do Império Turco Otomano), organizando atentados e apoiando o “Pan-Eslavismo”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A515A1-A543-47FF-B980-096E4F0C2845}"/>
              </a:ext>
            </a:extLst>
          </p:cNvPr>
          <p:cNvSpPr txBox="1"/>
          <p:nvPr/>
        </p:nvSpPr>
        <p:spPr>
          <a:xfrm>
            <a:off x="6202449" y="3490755"/>
            <a:ext cx="5068956" cy="17543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A Rússia, maior país eslavo da Europa, apoiando a Sérvia em seu projeto expansionista e o Pan-eslavismo, visando alcançar uma saída para o Mar Mediterrâneo (“Portos de águas quentes”)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63E48A-2CB7-433E-95B4-DF42391404BD}"/>
              </a:ext>
            </a:extLst>
          </p:cNvPr>
          <p:cNvSpPr txBox="1"/>
          <p:nvPr/>
        </p:nvSpPr>
        <p:spPr>
          <a:xfrm>
            <a:off x="6211960" y="5320833"/>
            <a:ext cx="5771569" cy="92333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Império Alemão, com o projeto da estrada de ferro Berlim Bagdá, visando alcançar  mercados na Ásia</a:t>
            </a:r>
          </a:p>
        </p:txBody>
      </p:sp>
      <p:sp>
        <p:nvSpPr>
          <p:cNvPr id="12" name="Chave Esquerda 11">
            <a:extLst>
              <a:ext uri="{FF2B5EF4-FFF2-40B4-BE49-F238E27FC236}">
                <a16:creationId xmlns:a16="http://schemas.microsoft.com/office/drawing/2014/main" id="{9D7C2C50-919B-4AAD-B455-1BF69F6C9B49}"/>
              </a:ext>
            </a:extLst>
          </p:cNvPr>
          <p:cNvSpPr/>
          <p:nvPr/>
        </p:nvSpPr>
        <p:spPr>
          <a:xfrm>
            <a:off x="6009802" y="752181"/>
            <a:ext cx="202158" cy="55677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545E53E5-22E2-4805-8485-B219F41FC805}"/>
              </a:ext>
            </a:extLst>
          </p:cNvPr>
          <p:cNvSpPr/>
          <p:nvPr/>
        </p:nvSpPr>
        <p:spPr>
          <a:xfrm flipV="1">
            <a:off x="5778567" y="3508777"/>
            <a:ext cx="305177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7461ED8B-D9B5-4759-9921-3B34DA002C5D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287214" y="1113366"/>
            <a:ext cx="591466" cy="25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4CEDDD9-B16E-4621-90C5-A2156503B0E3}"/>
              </a:ext>
            </a:extLst>
          </p:cNvPr>
          <p:cNvCxnSpPr/>
          <p:nvPr/>
        </p:nvCxnSpPr>
        <p:spPr>
          <a:xfrm>
            <a:off x="1838739" y="1423290"/>
            <a:ext cx="448475" cy="527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B54DBE07-36A3-47BE-B871-8D542A34B180}"/>
              </a:ext>
            </a:extLst>
          </p:cNvPr>
          <p:cNvSpPr txBox="1"/>
          <p:nvPr/>
        </p:nvSpPr>
        <p:spPr>
          <a:xfrm>
            <a:off x="5924550" y="105119"/>
            <a:ext cx="62674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Capítulo 31  - “Um mundo em Guerra” ( 1914-1918) página 737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736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4D647ED-29B2-4A6C-A4B8-0BA1299C8147}"/>
              </a:ext>
            </a:extLst>
          </p:cNvPr>
          <p:cNvSpPr txBox="1"/>
          <p:nvPr/>
        </p:nvSpPr>
        <p:spPr>
          <a:xfrm>
            <a:off x="1083366" y="1983673"/>
            <a:ext cx="1899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O estopim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273196B-22C3-474B-AD19-DAAD766CB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222" y="3761726"/>
            <a:ext cx="2643917" cy="2585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740F928-0A39-4F11-B1F0-8B3B75B986F9}"/>
              </a:ext>
            </a:extLst>
          </p:cNvPr>
          <p:cNvSpPr/>
          <p:nvPr/>
        </p:nvSpPr>
        <p:spPr>
          <a:xfrm>
            <a:off x="725557" y="3349199"/>
            <a:ext cx="472108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800" dirty="0"/>
              <a:t>Assassinato de Francisco Ferdinando- príncipe herdeiro do Império Austro-Húngaro- em Sarajevo (Bósnia)-1914 por um terrorista Sérvio.</a:t>
            </a:r>
          </a:p>
        </p:txBody>
      </p:sp>
      <p:pic>
        <p:nvPicPr>
          <p:cNvPr id="6" name="Picture 2" descr="Sarajevo">
            <a:extLst>
              <a:ext uri="{FF2B5EF4-FFF2-40B4-BE49-F238E27FC236}">
                <a16:creationId xmlns:a16="http://schemas.microsoft.com/office/drawing/2014/main" id="{19E2AF02-D5FC-4338-92E6-100143B89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489" y="362041"/>
            <a:ext cx="3512811" cy="2734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3624236D-DA6F-4341-B75B-74D7F1F2CD2D}"/>
              </a:ext>
            </a:extLst>
          </p:cNvPr>
          <p:cNvCxnSpPr/>
          <p:nvPr/>
        </p:nvCxnSpPr>
        <p:spPr>
          <a:xfrm>
            <a:off x="2216426" y="2693504"/>
            <a:ext cx="278296" cy="496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BD54D72E-9C6C-4A7F-A1A5-03804F25A1B3}"/>
              </a:ext>
            </a:extLst>
          </p:cNvPr>
          <p:cNvCxnSpPr/>
          <p:nvPr/>
        </p:nvCxnSpPr>
        <p:spPr>
          <a:xfrm flipV="1">
            <a:off x="3886200" y="2107096"/>
            <a:ext cx="1252330" cy="168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13E1AB17-91C1-497A-A1E4-7CEEE527F181}"/>
              </a:ext>
            </a:extLst>
          </p:cNvPr>
          <p:cNvCxnSpPr/>
          <p:nvPr/>
        </p:nvCxnSpPr>
        <p:spPr>
          <a:xfrm>
            <a:off x="6689035" y="3518452"/>
            <a:ext cx="1023730" cy="954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96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5BFAEDE-069F-42F6-849B-D442D1AC1CDA}"/>
              </a:ext>
            </a:extLst>
          </p:cNvPr>
          <p:cNvSpPr txBox="1"/>
          <p:nvPr/>
        </p:nvSpPr>
        <p:spPr>
          <a:xfrm>
            <a:off x="238760" y="2600317"/>
            <a:ext cx="258064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 </a:t>
            </a:r>
            <a:r>
              <a:rPr lang="pt-BR" dirty="0">
                <a:latin typeface="Arial Black" panose="020B0A04020102020204" pitchFamily="34" charset="0"/>
              </a:rPr>
              <a:t>Império Austro-Húngaro impõe um ultimato à Servia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5862A4-1061-41A3-84E2-C01285D96B2B}"/>
              </a:ext>
            </a:extLst>
          </p:cNvPr>
          <p:cNvSpPr txBox="1"/>
          <p:nvPr/>
        </p:nvSpPr>
        <p:spPr>
          <a:xfrm>
            <a:off x="3952240" y="1094476"/>
            <a:ext cx="307848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Sérvia não aceita todas as exigências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6000CBD-2486-4CBD-8B8B-38A28D423BC4}"/>
              </a:ext>
            </a:extLst>
          </p:cNvPr>
          <p:cNvSpPr txBox="1"/>
          <p:nvPr/>
        </p:nvSpPr>
        <p:spPr>
          <a:xfrm>
            <a:off x="3980180" y="2765896"/>
            <a:ext cx="277368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Império Austro-Húngaro declara guerra à Servia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4195CA-4547-4355-BF0C-1DA602B1DF7F}"/>
              </a:ext>
            </a:extLst>
          </p:cNvPr>
          <p:cNvSpPr txBox="1"/>
          <p:nvPr/>
        </p:nvSpPr>
        <p:spPr>
          <a:xfrm>
            <a:off x="7863840" y="656272"/>
            <a:ext cx="307848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Rússia apoia à Sérvia e entra a seu lado na Guerra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6144E2-ED1E-4B90-8ED3-270E70C99757}"/>
              </a:ext>
            </a:extLst>
          </p:cNvPr>
          <p:cNvSpPr txBox="1"/>
          <p:nvPr/>
        </p:nvSpPr>
        <p:spPr>
          <a:xfrm>
            <a:off x="7901940" y="1717410"/>
            <a:ext cx="300228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Alemanha , devido ao tratado com a Áustria e seus interesses, declara Guerra contra a Sérvia e a Rússia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43C6DB5-F272-40FF-A9A6-313301BE5A88}"/>
              </a:ext>
            </a:extLst>
          </p:cNvPr>
          <p:cNvSpPr txBox="1"/>
          <p:nvPr/>
        </p:nvSpPr>
        <p:spPr>
          <a:xfrm>
            <a:off x="7901940" y="3227561"/>
            <a:ext cx="322072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França devido ao tratado e seus interesses, declara guerra à Alemanha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ECFE32-B373-4709-B5B8-031D70AC17D2}"/>
              </a:ext>
            </a:extLst>
          </p:cNvPr>
          <p:cNvSpPr txBox="1"/>
          <p:nvPr/>
        </p:nvSpPr>
        <p:spPr>
          <a:xfrm>
            <a:off x="7901940" y="4538370"/>
            <a:ext cx="322072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Inglaterra, após a invasão da Bélgica pela Alemanha, declara guerra ao lado da França e Rússia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401B8836-A13D-419D-B94E-BFCCF5426DF5}"/>
              </a:ext>
            </a:extLst>
          </p:cNvPr>
          <p:cNvCxnSpPr>
            <a:cxnSpLocks/>
          </p:cNvCxnSpPr>
          <p:nvPr/>
        </p:nvCxnSpPr>
        <p:spPr>
          <a:xfrm flipV="1">
            <a:off x="3037840" y="1901197"/>
            <a:ext cx="871220" cy="984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5442AF70-6F78-4773-AC70-E1D650C4772F}"/>
              </a:ext>
            </a:extLst>
          </p:cNvPr>
          <p:cNvCxnSpPr/>
          <p:nvPr/>
        </p:nvCxnSpPr>
        <p:spPr>
          <a:xfrm>
            <a:off x="5275580" y="1991360"/>
            <a:ext cx="0" cy="665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AA23858E-8DF2-4BAF-ACBD-BCFDF3A0AF28}"/>
              </a:ext>
            </a:extLst>
          </p:cNvPr>
          <p:cNvCxnSpPr>
            <a:cxnSpLocks/>
          </p:cNvCxnSpPr>
          <p:nvPr/>
        </p:nvCxnSpPr>
        <p:spPr>
          <a:xfrm flipV="1">
            <a:off x="6828790" y="1138349"/>
            <a:ext cx="990600" cy="2226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B5BE21B5-B055-4055-86F6-B0AE2E9A921D}"/>
              </a:ext>
            </a:extLst>
          </p:cNvPr>
          <p:cNvCxnSpPr>
            <a:cxnSpLocks/>
          </p:cNvCxnSpPr>
          <p:nvPr/>
        </p:nvCxnSpPr>
        <p:spPr>
          <a:xfrm flipV="1">
            <a:off x="6842125" y="2415563"/>
            <a:ext cx="866140" cy="939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25E0B25-66B5-44F2-B9F6-95F8D149B85D}"/>
              </a:ext>
            </a:extLst>
          </p:cNvPr>
          <p:cNvCxnSpPr>
            <a:cxnSpLocks/>
          </p:cNvCxnSpPr>
          <p:nvPr/>
        </p:nvCxnSpPr>
        <p:spPr>
          <a:xfrm>
            <a:off x="6842125" y="3364535"/>
            <a:ext cx="866140" cy="159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8F6D5280-AD97-4849-B40D-615F9D257927}"/>
              </a:ext>
            </a:extLst>
          </p:cNvPr>
          <p:cNvCxnSpPr>
            <a:cxnSpLocks/>
          </p:cNvCxnSpPr>
          <p:nvPr/>
        </p:nvCxnSpPr>
        <p:spPr>
          <a:xfrm>
            <a:off x="6824980" y="3364535"/>
            <a:ext cx="892810" cy="1371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0274DB3-C9AC-4493-805B-76B9BA3FA00B}"/>
              </a:ext>
            </a:extLst>
          </p:cNvPr>
          <p:cNvSpPr txBox="1"/>
          <p:nvPr/>
        </p:nvSpPr>
        <p:spPr>
          <a:xfrm>
            <a:off x="1379219" y="4956803"/>
            <a:ext cx="553212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Itália, atraída pela Inglaterra , se declara neutra no início, mas entra na Guerra em 1915 ao lado da Tríplice Entente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03AD56D-BC9F-453D-81B9-6BFA3953F346}"/>
              </a:ext>
            </a:extLst>
          </p:cNvPr>
          <p:cNvCxnSpPr>
            <a:cxnSpLocks/>
          </p:cNvCxnSpPr>
          <p:nvPr/>
        </p:nvCxnSpPr>
        <p:spPr>
          <a:xfrm flipH="1">
            <a:off x="7030720" y="5059680"/>
            <a:ext cx="762000" cy="220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54E176B-B586-4BCC-83EB-278EB9CF5B36}"/>
              </a:ext>
            </a:extLst>
          </p:cNvPr>
          <p:cNvSpPr txBox="1"/>
          <p:nvPr/>
        </p:nvSpPr>
        <p:spPr>
          <a:xfrm>
            <a:off x="1320800" y="356878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Os desdobramentos...</a:t>
            </a:r>
          </a:p>
        </p:txBody>
      </p:sp>
    </p:spTree>
    <p:extLst>
      <p:ext uri="{BB962C8B-B14F-4D97-AF65-F5344CB8AC3E}">
        <p14:creationId xmlns:p14="http://schemas.microsoft.com/office/powerpoint/2010/main" val="3829896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FF44988-AF9C-4AD1-A43A-ECD652D89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62560"/>
            <a:ext cx="10472119" cy="67868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152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gosto1914a">
            <a:extLst>
              <a:ext uri="{FF2B5EF4-FFF2-40B4-BE49-F238E27FC236}">
                <a16:creationId xmlns:a16="http://schemas.microsoft.com/office/drawing/2014/main" id="{6B041441-0BA8-446A-BF3F-74299135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15" y="1134840"/>
            <a:ext cx="5246824" cy="336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agosto1914b">
            <a:extLst>
              <a:ext uri="{FF2B5EF4-FFF2-40B4-BE49-F238E27FC236}">
                <a16:creationId xmlns:a16="http://schemas.microsoft.com/office/drawing/2014/main" id="{9265BD11-65E6-4A16-98AB-C5A553652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586" y="1830069"/>
            <a:ext cx="4701208" cy="3103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91309DD-C412-4A7C-A3B1-4854C51554C3}"/>
              </a:ext>
            </a:extLst>
          </p:cNvPr>
          <p:cNvSpPr txBox="1"/>
          <p:nvPr/>
        </p:nvSpPr>
        <p:spPr>
          <a:xfrm>
            <a:off x="4687956" y="255285"/>
            <a:ext cx="2627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 A “FESTA”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94F14D-815B-4BAC-8EE9-27F6E7CC8F6F}"/>
              </a:ext>
            </a:extLst>
          </p:cNvPr>
          <p:cNvSpPr txBox="1"/>
          <p:nvPr/>
        </p:nvSpPr>
        <p:spPr>
          <a:xfrm>
            <a:off x="1439931" y="469558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1914- FRANÇA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04140B2-1CA7-424B-A62B-246890D1CF80}"/>
              </a:ext>
            </a:extLst>
          </p:cNvPr>
          <p:cNvSpPr txBox="1"/>
          <p:nvPr/>
        </p:nvSpPr>
        <p:spPr>
          <a:xfrm>
            <a:off x="8534400" y="5064917"/>
            <a:ext cx="196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1914 ALEMANHA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D15B6F0-6731-4369-A529-986EB49CEF35}"/>
              </a:ext>
            </a:extLst>
          </p:cNvPr>
          <p:cNvSpPr txBox="1"/>
          <p:nvPr/>
        </p:nvSpPr>
        <p:spPr>
          <a:xfrm>
            <a:off x="115956" y="5380672"/>
            <a:ext cx="117712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"Em 1914, entanto, a Europa desabou do penhasco e mergulhou em um conflito catastrófico que iria matar milhões de seus homens, exaurir suas economias, abalar e rebentar impérios e sociedades e solapar definitivamente o domínio europeu do mundo. </a:t>
            </a:r>
            <a:r>
              <a:rPr lang="pt-BR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As fotografias de multidões aplaudindo nas grandes capitais são enganosas</a:t>
            </a: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A eclosão da guerra pegou de surpresa a maioria dos europeus, e sua reação inicial foi de espanto e choque..." (A Primeira Guerra Mundial" de Margaret </a:t>
            </a:r>
            <a:r>
              <a:rPr lang="pt-B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MacMillan</a:t>
            </a: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8634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uto2">
            <a:extLst>
              <a:ext uri="{FF2B5EF4-FFF2-40B4-BE49-F238E27FC236}">
                <a16:creationId xmlns:a16="http://schemas.microsoft.com/office/drawing/2014/main" id="{FB4F55B5-2917-4F43-8CED-F24E733E1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6" t="1562" r="7981" b="3125"/>
          <a:stretch/>
        </p:blipFill>
        <p:spPr bwMode="auto">
          <a:xfrm>
            <a:off x="1075758" y="635792"/>
            <a:ext cx="3526797" cy="585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auto2">
            <a:extLst>
              <a:ext uri="{FF2B5EF4-FFF2-40B4-BE49-F238E27FC236}">
                <a16:creationId xmlns:a16="http://schemas.microsoft.com/office/drawing/2014/main" id="{D4BC3999-961D-4E54-80C4-4CE4902714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" r="898"/>
          <a:stretch/>
        </p:blipFill>
        <p:spPr bwMode="auto">
          <a:xfrm>
            <a:off x="6585144" y="635793"/>
            <a:ext cx="3454206" cy="582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2F45D5D-BA26-4E2B-89EC-16A8D797A1F7}"/>
              </a:ext>
            </a:extLst>
          </p:cNvPr>
          <p:cNvSpPr txBox="1"/>
          <p:nvPr/>
        </p:nvSpPr>
        <p:spPr>
          <a:xfrm>
            <a:off x="4106007" y="179667"/>
            <a:ext cx="420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PROPAGANDAS PARA O ALISTAMENTO</a:t>
            </a:r>
          </a:p>
        </p:txBody>
      </p:sp>
    </p:spTree>
    <p:extLst>
      <p:ext uri="{BB962C8B-B14F-4D97-AF65-F5344CB8AC3E}">
        <p14:creationId xmlns:p14="http://schemas.microsoft.com/office/powerpoint/2010/main" val="2082089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uto2">
            <a:extLst>
              <a:ext uri="{FF2B5EF4-FFF2-40B4-BE49-F238E27FC236}">
                <a16:creationId xmlns:a16="http://schemas.microsoft.com/office/drawing/2014/main" id="{C6BE8C40-FECC-41E4-9215-FA16642D7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" t="1483" r="3713" b="6820"/>
          <a:stretch/>
        </p:blipFill>
        <p:spPr bwMode="auto">
          <a:xfrm>
            <a:off x="1523999" y="728662"/>
            <a:ext cx="865822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41DBDA0-5788-4907-B848-9CFA9950C50A}"/>
              </a:ext>
            </a:extLst>
          </p:cNvPr>
          <p:cNvSpPr/>
          <p:nvPr/>
        </p:nvSpPr>
        <p:spPr>
          <a:xfrm>
            <a:off x="3686412" y="226814"/>
            <a:ext cx="50851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PROPAGANDAS PARA O ALISTAMENTO</a:t>
            </a:r>
          </a:p>
        </p:txBody>
      </p:sp>
    </p:spTree>
    <p:extLst>
      <p:ext uri="{BB962C8B-B14F-4D97-AF65-F5344CB8AC3E}">
        <p14:creationId xmlns:p14="http://schemas.microsoft.com/office/powerpoint/2010/main" val="219716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846C3625-A69F-467A-BCDA-E75E7EC29629}"/>
              </a:ext>
            </a:extLst>
          </p:cNvPr>
          <p:cNvSpPr txBox="1"/>
          <p:nvPr/>
        </p:nvSpPr>
        <p:spPr>
          <a:xfrm>
            <a:off x="1201955" y="2102167"/>
            <a:ext cx="106280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endParaRPr lang="pt-BR" b="0" i="0" dirty="0">
              <a:solidFill>
                <a:srgbClr val="262626"/>
              </a:solidFill>
              <a:effectLst/>
              <a:latin typeface="Open Sans"/>
            </a:endParaRPr>
          </a:p>
          <a:p>
            <a:pPr algn="l" fontAlgn="base"/>
            <a:r>
              <a:rPr lang="pt-BR" b="0" i="0" dirty="0">
                <a:solidFill>
                  <a:srgbClr val="262626"/>
                </a:solidFill>
                <a:effectLst/>
                <a:latin typeface="Open Sans"/>
              </a:rPr>
              <a:t>- Mais de 8 milhões de efetivos na França</a:t>
            </a:r>
          </a:p>
          <a:p>
            <a:pPr algn="l" fontAlgn="base"/>
            <a:r>
              <a:rPr lang="pt-BR" dirty="0">
                <a:solidFill>
                  <a:srgbClr val="262626"/>
                </a:solidFill>
                <a:latin typeface="Open Sans"/>
              </a:rPr>
              <a:t>-</a:t>
            </a:r>
            <a:r>
              <a:rPr lang="pt-BR" b="0" i="0" dirty="0">
                <a:solidFill>
                  <a:srgbClr val="262626"/>
                </a:solidFill>
                <a:effectLst/>
                <a:latin typeface="Open Sans"/>
              </a:rPr>
              <a:t>13 milhões na Alemanha, </a:t>
            </a:r>
          </a:p>
          <a:p>
            <a:pPr marL="285750" indent="-285750" algn="l" fontAlgn="base">
              <a:buFontTx/>
              <a:buChar char="-"/>
            </a:pPr>
            <a:r>
              <a:rPr lang="pt-BR" b="0" i="0" dirty="0">
                <a:solidFill>
                  <a:srgbClr val="262626"/>
                </a:solidFill>
                <a:effectLst/>
                <a:latin typeface="Open Sans"/>
              </a:rPr>
              <a:t>9 milhões na Áustria-Hungria, </a:t>
            </a:r>
          </a:p>
          <a:p>
            <a:pPr marL="285750" indent="-285750" algn="l" fontAlgn="base">
              <a:buFontTx/>
              <a:buChar char="-"/>
            </a:pPr>
            <a:r>
              <a:rPr lang="pt-BR" dirty="0">
                <a:solidFill>
                  <a:srgbClr val="262626"/>
                </a:solidFill>
                <a:latin typeface="Open Sans"/>
              </a:rPr>
              <a:t>8 milhões </a:t>
            </a:r>
            <a:r>
              <a:rPr lang="pt-BR" b="0" i="0" dirty="0">
                <a:solidFill>
                  <a:srgbClr val="262626"/>
                </a:solidFill>
                <a:effectLst/>
                <a:latin typeface="Open Sans"/>
              </a:rPr>
              <a:t>no Reino Unido e no Império britânico,</a:t>
            </a:r>
          </a:p>
          <a:p>
            <a:pPr algn="l" fontAlgn="base"/>
            <a:r>
              <a:rPr lang="pt-BR" dirty="0">
                <a:solidFill>
                  <a:srgbClr val="262626"/>
                </a:solidFill>
                <a:latin typeface="Open Sans"/>
              </a:rPr>
              <a:t>- </a:t>
            </a:r>
            <a:r>
              <a:rPr lang="pt-BR" b="0" i="0" dirty="0">
                <a:solidFill>
                  <a:srgbClr val="262626"/>
                </a:solidFill>
                <a:effectLst/>
                <a:latin typeface="Open Sans"/>
              </a:rPr>
              <a:t>18 milhões na Rússia, </a:t>
            </a:r>
          </a:p>
          <a:p>
            <a:pPr marL="285750" indent="-285750" algn="l" fontAlgn="base">
              <a:buFontTx/>
              <a:buChar char="-"/>
            </a:pPr>
            <a:r>
              <a:rPr lang="pt-BR" b="0" i="0" dirty="0">
                <a:solidFill>
                  <a:srgbClr val="262626"/>
                </a:solidFill>
                <a:effectLst/>
                <a:latin typeface="Open Sans"/>
              </a:rPr>
              <a:t>6 milhões na Itália </a:t>
            </a:r>
            <a:endParaRPr lang="pt-BR" dirty="0">
              <a:solidFill>
                <a:srgbClr val="262626"/>
              </a:solidFill>
              <a:latin typeface="Open Sans"/>
            </a:endParaRPr>
          </a:p>
          <a:p>
            <a:pPr marL="285750" indent="-285750" algn="l" fontAlgn="base">
              <a:buFontTx/>
              <a:buChar char="-"/>
            </a:pPr>
            <a:r>
              <a:rPr lang="pt-BR" b="0" i="0" dirty="0">
                <a:solidFill>
                  <a:srgbClr val="262626"/>
                </a:solidFill>
                <a:effectLst/>
                <a:latin typeface="Open Sans"/>
              </a:rPr>
              <a:t>4 milhões nos Estados Unidos. </a:t>
            </a:r>
            <a:endParaRPr lang="pt-BR" dirty="0">
              <a:solidFill>
                <a:srgbClr val="262626"/>
              </a:solidFill>
              <a:latin typeface="Open Sans"/>
            </a:endParaRPr>
          </a:p>
          <a:p>
            <a:pPr marL="285750" indent="-285750" algn="l" fontAlgn="base">
              <a:buFontTx/>
              <a:buChar char="-"/>
            </a:pPr>
            <a:r>
              <a:rPr lang="pt-BR" dirty="0">
                <a:solidFill>
                  <a:srgbClr val="262626"/>
                </a:solidFill>
                <a:latin typeface="Open Sans"/>
              </a:rPr>
              <a:t>2</a:t>
            </a:r>
            <a:r>
              <a:rPr lang="pt-BR" b="0" i="0" dirty="0">
                <a:solidFill>
                  <a:srgbClr val="262626"/>
                </a:solidFill>
                <a:effectLst/>
                <a:latin typeface="Open Sans"/>
              </a:rPr>
              <a:t> milhões de soldados foram recrutados no Império Britânico (sobretudo na Índia) e nas colônias francesas da África e do norte da África (600.000 homens).</a:t>
            </a:r>
          </a:p>
          <a:p>
            <a:pPr algn="l" fontAlgn="base"/>
            <a:endParaRPr lang="pt-BR" b="0" i="0" dirty="0">
              <a:solidFill>
                <a:srgbClr val="262626"/>
              </a:solidFill>
              <a:effectLst/>
              <a:latin typeface="Open Sans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C95AECA0-0572-4370-856C-661EF6F4F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49" y="526080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 dirty="0"/>
          </a:p>
          <a:p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21DDC5-4B1A-4E1D-A2EB-6985ACC87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4" y="401107"/>
            <a:ext cx="184731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Open Sans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09766C1-A808-415C-94E8-7437F5C4BB78}"/>
              </a:ext>
            </a:extLst>
          </p:cNvPr>
          <p:cNvSpPr txBox="1"/>
          <p:nvPr/>
        </p:nvSpPr>
        <p:spPr>
          <a:xfrm>
            <a:off x="1423987" y="685800"/>
            <a:ext cx="8662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262626"/>
                </a:solidFill>
                <a:effectLst/>
                <a:latin typeface="Arial Black" panose="020B0A04020102020204" pitchFamily="34" charset="0"/>
              </a:rPr>
              <a:t>Cerca de 20 milhões de homens foram mobilizados no começo da guerra em 1914. Esse número aumentará paulatinamente até os 70 milhões.</a:t>
            </a:r>
            <a:endParaRPr lang="pt-BR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945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rimeira guerra mundial">
            <a:extLst>
              <a:ext uri="{FF2B5EF4-FFF2-40B4-BE49-F238E27FC236}">
                <a16:creationId xmlns:a16="http://schemas.microsoft.com/office/drawing/2014/main" id="{0CC31FBB-FED6-4456-81E8-FB8C6DB1F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046480"/>
            <a:ext cx="9011920" cy="454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492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D7E8B24-5528-47B6-97FA-EFFF88601EBA}"/>
              </a:ext>
            </a:extLst>
          </p:cNvPr>
          <p:cNvSpPr/>
          <p:nvPr/>
        </p:nvSpPr>
        <p:spPr>
          <a:xfrm>
            <a:off x="762001" y="803325"/>
            <a:ext cx="53145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pt-BR" sz="44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Processo</a:t>
            </a:r>
            <a:endParaRPr lang="en-US" sz="4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38981DF-4FD9-4FB3-9D8A-D9001D865CA8}"/>
              </a:ext>
            </a:extLst>
          </p:cNvPr>
          <p:cNvSpPr/>
          <p:nvPr/>
        </p:nvSpPr>
        <p:spPr>
          <a:xfrm>
            <a:off x="1107441" y="2874276"/>
            <a:ext cx="4501780" cy="2780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1914-15 -  Guerra de </a:t>
            </a:r>
            <a:r>
              <a:rPr lang="en-US" altLang="pt-BR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Movimentos</a:t>
            </a:r>
            <a:r>
              <a:rPr lang="en-US" alt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  (</a:t>
            </a:r>
            <a:r>
              <a:rPr lang="en-US" altLang="pt-BR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Alemanha</a:t>
            </a:r>
            <a:r>
              <a:rPr lang="en-US" alt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altLang="pt-BR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adota</a:t>
            </a:r>
            <a:r>
              <a:rPr lang="en-US" alt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 o Plano Schlieffen – </a:t>
            </a:r>
            <a:r>
              <a:rPr lang="en-US" altLang="pt-BR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invasão</a:t>
            </a:r>
            <a:r>
              <a:rPr lang="en-US" alt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 da </a:t>
            </a:r>
            <a:r>
              <a:rPr lang="en-US" altLang="pt-BR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França</a:t>
            </a:r>
            <a:r>
              <a:rPr lang="en-US" alt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 pela </a:t>
            </a:r>
            <a:r>
              <a:rPr lang="en-US" altLang="pt-BR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Bélgica</a:t>
            </a:r>
            <a:r>
              <a:rPr lang="en-US" alt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)</a:t>
            </a:r>
          </a:p>
        </p:txBody>
      </p:sp>
      <p:pic>
        <p:nvPicPr>
          <p:cNvPr id="2052" name="Picture 4" descr="As fases da guerra | A 1ª Guerra Mundial">
            <a:extLst>
              <a:ext uri="{FF2B5EF4-FFF2-40B4-BE49-F238E27FC236}">
                <a16:creationId xmlns:a16="http://schemas.microsoft.com/office/drawing/2014/main" id="{7DF321E6-31DD-45D8-9DC8-142B4FD275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7" r="16969"/>
          <a:stretch/>
        </p:blipFill>
        <p:spPr bwMode="auto">
          <a:xfrm>
            <a:off x="6750141" y="-2"/>
            <a:ext cx="5441859" cy="5654940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150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rqueólogos recorrem a fotografias aéreas tiradas durante a Primeira Guerra Mundial para reconstruir a paisagem de ...">
            <a:extLst>
              <a:ext uri="{FF2B5EF4-FFF2-40B4-BE49-F238E27FC236}">
                <a16:creationId xmlns:a16="http://schemas.microsoft.com/office/drawing/2014/main" id="{A168D77C-BA9E-40D2-9B89-D33E53A50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86" y="381644"/>
            <a:ext cx="8101013" cy="503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5F4D03B-893E-4811-B990-09C059EFE0D7}"/>
              </a:ext>
            </a:extLst>
          </p:cNvPr>
          <p:cNvSpPr/>
          <p:nvPr/>
        </p:nvSpPr>
        <p:spPr>
          <a:xfrm>
            <a:off x="0" y="1492778"/>
            <a:ext cx="56448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>
                <a:hlinkClick r:id="rId4"/>
              </a:rPr>
              <a:t>https://www.nationalgeographicbrasil.com/historia/2020/01/arqueologia-revela-segredos-das-trincheiras-da-primeira-guerra-mundial</a:t>
            </a:r>
            <a:endParaRPr lang="pt-BR" sz="10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DBD72A7-066A-4344-9C1E-9BEF67DF2933}"/>
              </a:ext>
            </a:extLst>
          </p:cNvPr>
          <p:cNvSpPr/>
          <p:nvPr/>
        </p:nvSpPr>
        <p:spPr>
          <a:xfrm>
            <a:off x="3840400" y="5424348"/>
            <a:ext cx="37223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555555"/>
                </a:solidFill>
                <a:latin typeface="GeoEditRegular"/>
              </a:rPr>
              <a:t>Foto aérea tirada em 1917 de um campo de batalha em </a:t>
            </a:r>
            <a:r>
              <a:rPr lang="pt-BR" b="1" dirty="0" err="1">
                <a:solidFill>
                  <a:srgbClr val="555555"/>
                </a:solidFill>
                <a:latin typeface="GeoEditRegular"/>
              </a:rPr>
              <a:t>Soissons</a:t>
            </a:r>
            <a:r>
              <a:rPr lang="pt-BR" b="1" dirty="0">
                <a:solidFill>
                  <a:srgbClr val="555555"/>
                </a:solidFill>
                <a:latin typeface="GeoEditRegular"/>
              </a:rPr>
              <a:t>, na França.</a:t>
            </a:r>
            <a:endParaRPr lang="pt-BR" b="1" dirty="0"/>
          </a:p>
        </p:txBody>
      </p:sp>
      <p:pic>
        <p:nvPicPr>
          <p:cNvPr id="3076" name="Picture 4" descr="Primeira Guerra Mundial: entenda tudo o que aconteceu!">
            <a:extLst>
              <a:ext uri="{FF2B5EF4-FFF2-40B4-BE49-F238E27FC236}">
                <a16:creationId xmlns:a16="http://schemas.microsoft.com/office/drawing/2014/main" id="{8A9BD327-1BEE-4C8E-85B9-FBDE7F0F7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195" y="3666859"/>
            <a:ext cx="3918506" cy="260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643A421-DC65-4966-A6F6-0D3FB1EB5B69}"/>
              </a:ext>
            </a:extLst>
          </p:cNvPr>
          <p:cNvSpPr/>
          <p:nvPr/>
        </p:nvSpPr>
        <p:spPr>
          <a:xfrm>
            <a:off x="8749704" y="1492778"/>
            <a:ext cx="3442296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sz="2400" dirty="0">
                <a:latin typeface="Arial Black" panose="020B0A04020102020204" pitchFamily="34" charset="0"/>
              </a:rPr>
              <a:t>1915-16 - Guerra de Trincheiras</a:t>
            </a:r>
          </a:p>
        </p:txBody>
      </p:sp>
      <p:pic>
        <p:nvPicPr>
          <p:cNvPr id="3078" name="Picture 6" descr="Guerra de Movimento x Guerra de Trincheiras – 21º MINIONU">
            <a:extLst>
              <a:ext uri="{FF2B5EF4-FFF2-40B4-BE49-F238E27FC236}">
                <a16:creationId xmlns:a16="http://schemas.microsoft.com/office/drawing/2014/main" id="{EF3F8978-5A0E-47C3-8251-EE7475466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420" y="4787306"/>
            <a:ext cx="24288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Um soldado britânico descansa em uma trincheira encharcada na Bélgica. A arqueologia está revelando os esforços ...">
            <a:extLst>
              <a:ext uri="{FF2B5EF4-FFF2-40B4-BE49-F238E27FC236}">
                <a16:creationId xmlns:a16="http://schemas.microsoft.com/office/drawing/2014/main" id="{64D002E4-04E3-443C-B12A-DBA544C1F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067" y="1871343"/>
            <a:ext cx="3178902" cy="2037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AC89224-7FA7-4312-9406-BCDAEDEDB9A8}"/>
              </a:ext>
            </a:extLst>
          </p:cNvPr>
          <p:cNvSpPr/>
          <p:nvPr/>
        </p:nvSpPr>
        <p:spPr>
          <a:xfrm>
            <a:off x="5564203" y="6358626"/>
            <a:ext cx="58488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>
                <a:hlinkClick r:id="rId4"/>
              </a:rPr>
              <a:t>https://www.nationalgeographicbrasil.com/historia/2020/01/arqueologia-revela-segredos-das-trincheiras-da-primeira-guerra-mundial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120598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85166F3-053B-483B-AC81-C0BF05B193BC}"/>
              </a:ext>
            </a:extLst>
          </p:cNvPr>
          <p:cNvSpPr txBox="1"/>
          <p:nvPr/>
        </p:nvSpPr>
        <p:spPr>
          <a:xfrm>
            <a:off x="5021821" y="3812954"/>
            <a:ext cx="6465287" cy="15160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MODERNIDADE NA GUERRA</a:t>
            </a:r>
          </a:p>
        </p:txBody>
      </p:sp>
      <p:pic>
        <p:nvPicPr>
          <p:cNvPr id="1028" name="Picture 4" descr="A Primeira Guerra Mundial em números">
            <a:extLst>
              <a:ext uri="{FF2B5EF4-FFF2-40B4-BE49-F238E27FC236}">
                <a16:creationId xmlns:a16="http://schemas.microsoft.com/office/drawing/2014/main" id="{EF73BA00-2E17-47D1-B35B-C2F2D0817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5" r="93" b="3"/>
          <a:stretch/>
        </p:blipFill>
        <p:spPr bwMode="auto">
          <a:xfrm>
            <a:off x="317635" y="299363"/>
            <a:ext cx="4160452" cy="304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5 grandes mitos sobre a Primeira Guerra Mundial - BBC News Brasil">
            <a:extLst>
              <a:ext uri="{FF2B5EF4-FFF2-40B4-BE49-F238E27FC236}">
                <a16:creationId xmlns:a16="http://schemas.microsoft.com/office/drawing/2014/main" id="{E1E0546E-CE8D-4913-977A-7563FCFDBA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7" r="2" b="10784"/>
          <a:stretch/>
        </p:blipFill>
        <p:spPr bwMode="auto">
          <a:xfrm>
            <a:off x="4654296" y="299363"/>
            <a:ext cx="7217085" cy="300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670DD24-685C-488F-832B-6BA5ED8B07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46" r="-3" b="5345"/>
          <a:stretch/>
        </p:blipFill>
        <p:spPr bwMode="auto">
          <a:xfrm>
            <a:off x="317635" y="3509433"/>
            <a:ext cx="4160452" cy="302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BB459F2-0757-4B7E-A95F-35BE0CD13988}"/>
              </a:ext>
            </a:extLst>
          </p:cNvPr>
          <p:cNvSpPr/>
          <p:nvPr/>
        </p:nvSpPr>
        <p:spPr>
          <a:xfrm>
            <a:off x="3428616" y="6458485"/>
            <a:ext cx="9106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>
                <a:hlinkClick r:id="rId6"/>
              </a:rPr>
              <a:t>https://pt.wikipedia.org/wiki/Primeira_Guerra_Mundial#/media/Ficheiro:WWImontage.jpg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52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EE26A8F-414A-4CC5-B4DB-2ABCB188B697}"/>
              </a:ext>
            </a:extLst>
          </p:cNvPr>
          <p:cNvSpPr/>
          <p:nvPr/>
        </p:nvSpPr>
        <p:spPr>
          <a:xfrm>
            <a:off x="571500" y="971827"/>
            <a:ext cx="6096000" cy="5909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dirty="0"/>
              <a:t>1917 – saída da Rússia gerada por um colapso interno e pela Revolução Russa de Outubro ( Paz de Brest-</a:t>
            </a:r>
            <a:r>
              <a:rPr lang="pt-BR" altLang="pt-BR" dirty="0" err="1"/>
              <a:t>Litovsky</a:t>
            </a:r>
            <a:r>
              <a:rPr lang="pt-BR" altLang="pt-BR" dirty="0"/>
              <a:t>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F0A09EC-A978-414F-90D4-FD3925F24C4B}"/>
              </a:ext>
            </a:extLst>
          </p:cNvPr>
          <p:cNvSpPr/>
          <p:nvPr/>
        </p:nvSpPr>
        <p:spPr>
          <a:xfrm>
            <a:off x="538480" y="4995201"/>
            <a:ext cx="5283200" cy="1588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dirty="0"/>
              <a:t>1918 – A proposta  dos “ 14 Pontos de Wilson”( paz sem vencedores e sem vencidos) seduz  alguns soldados alemães    e setores da sociedade alemã em um movimento interno que derruba o Kaiser Guilherme II , funda um governo republicano ( a futura    República de Weimar) que assina a rendição.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F853AD6-C12E-4AAB-97DC-D44ECFC5787E}"/>
              </a:ext>
            </a:extLst>
          </p:cNvPr>
          <p:cNvSpPr/>
          <p:nvPr/>
        </p:nvSpPr>
        <p:spPr>
          <a:xfrm>
            <a:off x="538480" y="1997839"/>
            <a:ext cx="51104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/>
              <a:t>1917 - Entrada dos EUA (interesses econômicos ameaçados, já que a economia Inglesa e Francesa estava sendo financiada por bancos e empresas norte americanas). O bloqueio marítimo alemão ao mercado inglês ( cerco com submarinos) atinge navios norte americanos. O afundamento do navio Lusitânia de passageiros por submarinos alemães em 1915 e notícias de uma possível aliança militar entre a Alemanha e o México estimula o apoio à entrada norte-americana na guerra.</a:t>
            </a:r>
            <a:endParaRPr lang="pt-BR" dirty="0"/>
          </a:p>
        </p:txBody>
      </p:sp>
      <p:pic>
        <p:nvPicPr>
          <p:cNvPr id="6146" name="Picture 2" descr="O legado nulo da revolução russa - ISTOÉ Independente">
            <a:extLst>
              <a:ext uri="{FF2B5EF4-FFF2-40B4-BE49-F238E27FC236}">
                <a16:creationId xmlns:a16="http://schemas.microsoft.com/office/drawing/2014/main" id="{BE83C5C2-FB11-4D8D-9A07-86EDA581C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810" y="8731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8F01470-1758-4AD2-B235-674AAE6DF8C5}"/>
              </a:ext>
            </a:extLst>
          </p:cNvPr>
          <p:cNvSpPr txBox="1"/>
          <p:nvPr/>
        </p:nvSpPr>
        <p:spPr>
          <a:xfrm>
            <a:off x="8639810" y="1673557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Lênin em Petrogrado em 1917</a:t>
            </a:r>
          </a:p>
        </p:txBody>
      </p:sp>
      <p:pic>
        <p:nvPicPr>
          <p:cNvPr id="6148" name="Picture 4" descr="Há 100 anos, EUA abandonavam neutralidade e entravam na Primeira ...">
            <a:extLst>
              <a:ext uri="{FF2B5EF4-FFF2-40B4-BE49-F238E27FC236}">
                <a16:creationId xmlns:a16="http://schemas.microsoft.com/office/drawing/2014/main" id="{B81D83F5-AA39-4760-AD6F-ED20EA6B8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2042889"/>
            <a:ext cx="5810250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0616E9B4-8AA5-4E0A-A4D2-AD65EAE426C0}"/>
              </a:ext>
            </a:extLst>
          </p:cNvPr>
          <p:cNvSpPr/>
          <p:nvPr/>
        </p:nvSpPr>
        <p:spPr>
          <a:xfrm>
            <a:off x="6583680" y="5491668"/>
            <a:ext cx="53225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http://m.acervo.estadao.com.br/noticias/acervo,ha-100-anos--eua-abandonavam-neutralidade-e-entravam-na-primeira-guerra-mundial,12754,0.htm</a:t>
            </a:r>
            <a:endParaRPr lang="pt-BR" dirty="0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11F0406E-0AEE-468C-861B-8AE4D87C7550}"/>
              </a:ext>
            </a:extLst>
          </p:cNvPr>
          <p:cNvSpPr/>
          <p:nvPr/>
        </p:nvSpPr>
        <p:spPr>
          <a:xfrm>
            <a:off x="6880860" y="1017411"/>
            <a:ext cx="1195070" cy="1299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FDDECFCB-A2EA-492B-80E8-51D249134181}"/>
              </a:ext>
            </a:extLst>
          </p:cNvPr>
          <p:cNvSpPr/>
          <p:nvPr/>
        </p:nvSpPr>
        <p:spPr>
          <a:xfrm>
            <a:off x="5602605" y="3429000"/>
            <a:ext cx="4826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07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9D75FF5-12D4-4ED9-B156-BD53062D3B74}"/>
              </a:ext>
            </a:extLst>
          </p:cNvPr>
          <p:cNvSpPr/>
          <p:nvPr/>
        </p:nvSpPr>
        <p:spPr>
          <a:xfrm>
            <a:off x="77413" y="874455"/>
            <a:ext cx="58484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000" dirty="0">
                <a:latin typeface="Arial Black" panose="020B0A04020102020204" pitchFamily="34" charset="0"/>
              </a:rPr>
              <a:t>1919-Imposição do Tratado de Versalhes:  Alemanha é “culpabilizada”  pela guerra (perda de territórios + indenizações + perda de recursos militares </a:t>
            </a:r>
            <a:r>
              <a:rPr lang="pt-BR" altLang="pt-BR" sz="2000" dirty="0" err="1">
                <a:latin typeface="Arial Black" panose="020B0A04020102020204" pitchFamily="34" charset="0"/>
              </a:rPr>
              <a:t>etc</a:t>
            </a:r>
            <a:r>
              <a:rPr lang="pt-BR" altLang="pt-BR" sz="2000" dirty="0">
                <a:latin typeface="Arial Black" panose="020B0A04020102020204" pitchFamily="34" charset="0"/>
              </a:rPr>
              <a:t>)  situação favorece revanchismo alemão estimulado pelo Partido Nacional-Socialista ( fundado no mesmo ano)</a:t>
            </a:r>
          </a:p>
        </p:txBody>
      </p:sp>
      <p:pic>
        <p:nvPicPr>
          <p:cNvPr id="7170" name="Picture 2" descr="Tratado de Versalhes (1919): o que foi, resumo e consequências ...">
            <a:extLst>
              <a:ext uri="{FF2B5EF4-FFF2-40B4-BE49-F238E27FC236}">
                <a16:creationId xmlns:a16="http://schemas.microsoft.com/office/drawing/2014/main" id="{9452DF72-652F-4AAB-B788-DB2EB77F8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83273"/>
            <a:ext cx="6065515" cy="318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5CB1AD3-D379-4AB4-A197-44921844A7C3}"/>
              </a:ext>
            </a:extLst>
          </p:cNvPr>
          <p:cNvSpPr/>
          <p:nvPr/>
        </p:nvSpPr>
        <p:spPr>
          <a:xfrm>
            <a:off x="6065515" y="40811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>
                <a:latin typeface="OpenSans"/>
              </a:rPr>
              <a:t>Charge mostrando o general francês Foch entregando suas exigências à Alemanha</a:t>
            </a:r>
            <a:endParaRPr lang="pt-BR" b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454DC8A-0235-4B4B-9A4A-162600035435}"/>
              </a:ext>
            </a:extLst>
          </p:cNvPr>
          <p:cNvSpPr/>
          <p:nvPr/>
        </p:nvSpPr>
        <p:spPr>
          <a:xfrm>
            <a:off x="6313098" y="4800491"/>
            <a:ext cx="5438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https://www.todamateria.com.br/tratado-de-versalhes/</a:t>
            </a:r>
            <a:endParaRPr lang="pt-BR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21E78D4E-ED84-4F66-B845-AF404EB7D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3" y="3501321"/>
            <a:ext cx="5713789" cy="2967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1C8D1EB-0037-4795-8B9A-1DA060544A0B}"/>
              </a:ext>
            </a:extLst>
          </p:cNvPr>
          <p:cNvSpPr/>
          <p:nvPr/>
        </p:nvSpPr>
        <p:spPr>
          <a:xfrm rot="10800000" flipV="1">
            <a:off x="6400799" y="5737623"/>
            <a:ext cx="49580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6"/>
              </a:rPr>
              <a:t>https://jornalri.com.br/derek-assenco-creuz/os-100-anos-do-tratado-de-versalhes-e-a-criacao-da-sociedade-das-nacoes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A80BD0C-EDA6-4AE2-A6A4-564559CA2C30}"/>
              </a:ext>
            </a:extLst>
          </p:cNvPr>
          <p:cNvSpPr txBox="1"/>
          <p:nvPr/>
        </p:nvSpPr>
        <p:spPr>
          <a:xfrm>
            <a:off x="3457575" y="62544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dirty="0">
                <a:hlinkClick r:id="rId7"/>
              </a:rPr>
              <a:t>a Dívida alemã</a:t>
            </a:r>
            <a:endParaRPr lang="pt-BR" altLang="pt-BR" dirty="0"/>
          </a:p>
          <a:p>
            <a:r>
              <a:rPr lang="pt-BR" altLang="pt-BR" dirty="0">
                <a:hlinkClick r:id="rId8"/>
              </a:rPr>
              <a:t>A quitação da dívida</a:t>
            </a:r>
            <a:r>
              <a:rPr lang="pt-BR" altLang="pt-B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84486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uto0">
            <a:extLst>
              <a:ext uri="{FF2B5EF4-FFF2-40B4-BE49-F238E27FC236}">
                <a16:creationId xmlns:a16="http://schemas.microsoft.com/office/drawing/2014/main" id="{1C324F35-5091-42C4-85EA-0D3D55AEC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83" y="0"/>
            <a:ext cx="6072717" cy="431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auto0">
            <a:extLst>
              <a:ext uri="{FF2B5EF4-FFF2-40B4-BE49-F238E27FC236}">
                <a16:creationId xmlns:a16="http://schemas.microsoft.com/office/drawing/2014/main" id="{F203028E-389C-4F69-AF35-1751B1DF0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3511" y="2261966"/>
            <a:ext cx="6275182" cy="451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FBA8480-7CFE-4340-95DE-6BC1ED524AC5}"/>
              </a:ext>
            </a:extLst>
          </p:cNvPr>
          <p:cNvSpPr txBox="1"/>
          <p:nvPr/>
        </p:nvSpPr>
        <p:spPr>
          <a:xfrm>
            <a:off x="7258050" y="676930"/>
            <a:ext cx="2495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EUROPA ANTES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668558C-803C-4C00-9625-484F46E89F68}"/>
              </a:ext>
            </a:extLst>
          </p:cNvPr>
          <p:cNvSpPr txBox="1"/>
          <p:nvPr/>
        </p:nvSpPr>
        <p:spPr>
          <a:xfrm>
            <a:off x="1676400" y="5020848"/>
            <a:ext cx="353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 DEPOIS DA GUERRA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8C41C32-F12A-4536-BD77-8568CFCCB94D}"/>
              </a:ext>
            </a:extLst>
          </p:cNvPr>
          <p:cNvCxnSpPr/>
          <p:nvPr/>
        </p:nvCxnSpPr>
        <p:spPr>
          <a:xfrm flipH="1">
            <a:off x="6296025" y="1023261"/>
            <a:ext cx="762000" cy="176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58B3291-4FD6-4FA3-A555-E76B3D461995}"/>
              </a:ext>
            </a:extLst>
          </p:cNvPr>
          <p:cNvCxnSpPr/>
          <p:nvPr/>
        </p:nvCxnSpPr>
        <p:spPr>
          <a:xfrm>
            <a:off x="4191000" y="5619750"/>
            <a:ext cx="112395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84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0655992-0357-43BD-A4E9-4AB338AC3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126" y="0"/>
            <a:ext cx="9640305" cy="654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628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5AF20C5-BD5C-4739-909E-7E143A2A7365}"/>
              </a:ext>
            </a:extLst>
          </p:cNvPr>
          <p:cNvSpPr txBox="1"/>
          <p:nvPr/>
        </p:nvSpPr>
        <p:spPr>
          <a:xfrm>
            <a:off x="5648960" y="964620"/>
            <a:ext cx="6096000" cy="25853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– França: 1,4 milhão de mortos e 4,2 milhões de feridos.</a:t>
            </a:r>
          </a:p>
          <a:p>
            <a:r>
              <a:rPr lang="pt-BR" dirty="0"/>
              <a:t>– Alemanha: 2 milhões de mortos e 4,2 milhões de feridos.</a:t>
            </a:r>
          </a:p>
          <a:p>
            <a:r>
              <a:rPr lang="pt-BR" dirty="0"/>
              <a:t>– Áustria-Hungria: 1,4 milhões de mortos e 3,6 milhões de feridos.</a:t>
            </a:r>
          </a:p>
          <a:p>
            <a:r>
              <a:rPr lang="pt-BR" dirty="0"/>
              <a:t>– Rússia: 2 milhões de mortos e 5 milhões de feridos.</a:t>
            </a:r>
          </a:p>
          <a:p>
            <a:r>
              <a:rPr lang="pt-BR" dirty="0"/>
              <a:t>– Reino Unido e seu império: 960.000 mortos e 2 milhões de feridos.</a:t>
            </a:r>
          </a:p>
          <a:p>
            <a:r>
              <a:rPr lang="pt-BR" altLang="pt-BR" dirty="0"/>
              <a:t>-- Itália: 600.000 mortos e um milhão de feridos.</a:t>
            </a:r>
          </a:p>
          <a:p>
            <a:r>
              <a:rPr lang="pt-BR" altLang="pt-BR" dirty="0"/>
              <a:t>– Império Otomano: 800.000 mortos.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742ECB-6FA8-439F-BE1A-32A3ADB044A9}"/>
              </a:ext>
            </a:extLst>
          </p:cNvPr>
          <p:cNvSpPr txBox="1"/>
          <p:nvPr/>
        </p:nvSpPr>
        <p:spPr>
          <a:xfrm>
            <a:off x="1616075" y="190004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 Black" panose="020B0A04020102020204" pitchFamily="34" charset="0"/>
              </a:rPr>
              <a:t>Nas fileiras militares, a guerra deixou 10 milhões de mortos e 20 milhões de feridos...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Resultado de imagem para dados sobre a primeira guerra mundial">
            <a:extLst>
              <a:ext uri="{FF2B5EF4-FFF2-40B4-BE49-F238E27FC236}">
                <a16:creationId xmlns:a16="http://schemas.microsoft.com/office/drawing/2014/main" id="{86A6A449-D3B3-4555-8B60-5E576DF67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" y="1264920"/>
            <a:ext cx="4808220" cy="3205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946C8B5-B0FF-43E9-A6C4-241242ACA81A}"/>
              </a:ext>
            </a:extLst>
          </p:cNvPr>
          <p:cNvSpPr txBox="1"/>
          <p:nvPr/>
        </p:nvSpPr>
        <p:spPr>
          <a:xfrm>
            <a:off x="271780" y="4483487"/>
            <a:ext cx="36772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0" i="0" dirty="0">
                <a:solidFill>
                  <a:srgbClr val="333333"/>
                </a:solidFill>
                <a:effectLst/>
                <a:latin typeface="Open Sans"/>
              </a:rPr>
              <a:t>O cemitério militar de </a:t>
            </a:r>
            <a:r>
              <a:rPr lang="pt-BR" sz="1000" b="0" i="0" dirty="0" err="1">
                <a:solidFill>
                  <a:srgbClr val="333333"/>
                </a:solidFill>
                <a:effectLst/>
                <a:latin typeface="Open Sans"/>
              </a:rPr>
              <a:t>Vieil</a:t>
            </a:r>
            <a:r>
              <a:rPr lang="pt-BR" sz="1000" b="0" i="0" dirty="0">
                <a:solidFill>
                  <a:srgbClr val="333333"/>
                </a:solidFill>
                <a:effectLst/>
                <a:latin typeface="Open Sans"/>
              </a:rPr>
              <a:t> Armand, em 2018. Cerca de 30.000 soldados franceses e alemães morreram nesta montanha na Primeira Guerra Mundial - AFP/Arquivos</a:t>
            </a:r>
            <a:endParaRPr lang="pt-BR" sz="1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350303-B090-4848-8DAE-04C51B5CCAA5}"/>
              </a:ext>
            </a:extLst>
          </p:cNvPr>
          <p:cNvSpPr txBox="1"/>
          <p:nvPr/>
        </p:nvSpPr>
        <p:spPr>
          <a:xfrm>
            <a:off x="6096000" y="5222150"/>
            <a:ext cx="5669280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>
                <a:solidFill>
                  <a:srgbClr val="262626"/>
                </a:solidFill>
                <a:effectLst/>
              </a:rPr>
              <a:t>entre 1,2 e 1,5 milhão de armênios no Império Otomano.</a:t>
            </a:r>
          </a:p>
          <a:p>
            <a:pPr algn="l" fontAlgn="base"/>
            <a:r>
              <a:rPr lang="pt-BR" b="0" i="0" u="sng" dirty="0">
                <a:solidFill>
                  <a:srgbClr val="262626"/>
                </a:solidFill>
                <a:effectLst/>
              </a:rPr>
              <a:t>Ao final da guerra, uma pandemia mundial de gripe, a chamada gripe espanhola, deixou dezenas de milhões de vítimas na Europa.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6F0264F-EE4D-4A5B-9749-C425DD3834F9}"/>
              </a:ext>
            </a:extLst>
          </p:cNvPr>
          <p:cNvSpPr txBox="1"/>
          <p:nvPr/>
        </p:nvSpPr>
        <p:spPr>
          <a:xfrm>
            <a:off x="1741170" y="5222150"/>
            <a:ext cx="309499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Genocídio Armênio e a Gripe “Espanhola”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4FD8E9D-D9C8-4ACA-8078-5874A727A709}"/>
              </a:ext>
            </a:extLst>
          </p:cNvPr>
          <p:cNvCxnSpPr/>
          <p:nvPr/>
        </p:nvCxnSpPr>
        <p:spPr>
          <a:xfrm flipV="1">
            <a:off x="5171440" y="2377440"/>
            <a:ext cx="335280" cy="111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630F786-DC94-4D9C-9C9E-E2361C1B346D}"/>
              </a:ext>
            </a:extLst>
          </p:cNvPr>
          <p:cNvCxnSpPr/>
          <p:nvPr/>
        </p:nvCxnSpPr>
        <p:spPr>
          <a:xfrm>
            <a:off x="5171440" y="5545315"/>
            <a:ext cx="741680" cy="174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793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FBDAD76-C1C8-45E6-AD4C-B36C1120A2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49680" y="-108937"/>
            <a:ext cx="9113520" cy="1012132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3200" dirty="0" err="1">
                <a:latin typeface="Arial Black" panose="020B0A04020102020204" pitchFamily="34" charset="0"/>
              </a:rPr>
              <a:t>Conseqüências</a:t>
            </a:r>
            <a:r>
              <a:rPr lang="pt-BR" altLang="pt-BR" sz="3200" dirty="0">
                <a:latin typeface="Arial Black" panose="020B0A04020102020204" pitchFamily="34" charset="0"/>
              </a:rPr>
              <a:t> da 1a.Guerra Mundial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0CEEBA2-A02D-4574-845D-0B6B13144C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244080" y="992953"/>
            <a:ext cx="5163284" cy="5516244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dirty="0"/>
              <a:t>Desmonte do Império Austríaco e do Império Turco-Otomano.</a:t>
            </a:r>
          </a:p>
          <a:p>
            <a:pPr eaLnBrk="1" hangingPunct="1"/>
            <a:r>
              <a:rPr lang="pt-BR" altLang="pt-BR" dirty="0"/>
              <a:t>Queda do Czar Nicolau II (</a:t>
            </a:r>
            <a:r>
              <a:rPr lang="pt-BR" altLang="pt-BR" dirty="0" err="1"/>
              <a:t>Rev.Russa</a:t>
            </a:r>
            <a:r>
              <a:rPr lang="pt-BR" altLang="pt-BR" dirty="0"/>
              <a:t>)</a:t>
            </a:r>
          </a:p>
          <a:p>
            <a:pPr eaLnBrk="1" hangingPunct="1"/>
            <a:r>
              <a:rPr lang="pt-BR" altLang="pt-BR" dirty="0"/>
              <a:t>Economia </a:t>
            </a:r>
            <a:r>
              <a:rPr lang="pt-BR" altLang="pt-BR" dirty="0" err="1"/>
              <a:t>européia</a:t>
            </a:r>
            <a:r>
              <a:rPr lang="pt-BR" altLang="pt-BR" dirty="0"/>
              <a:t> arruinada (portos, fábricas e estradas destruídas) + hegemonia norte-americana.</a:t>
            </a:r>
          </a:p>
          <a:p>
            <a:pPr eaLnBrk="1" hangingPunct="1"/>
            <a:r>
              <a:rPr lang="pt-BR" altLang="pt-BR" dirty="0"/>
              <a:t>Crise do liberalismo econômico e da democracia (fortalecimento progressivo do Estado e do intervencionismo estatal )</a:t>
            </a:r>
          </a:p>
        </p:txBody>
      </p:sp>
      <p:pic>
        <p:nvPicPr>
          <p:cNvPr id="4" name="Picture 2" descr="auto0">
            <a:extLst>
              <a:ext uri="{FF2B5EF4-FFF2-40B4-BE49-F238E27FC236}">
                <a16:creationId xmlns:a16="http://schemas.microsoft.com/office/drawing/2014/main" id="{5D8A1AE1-B241-4794-AFD9-F4D21FF12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311" y="1172470"/>
            <a:ext cx="7170840" cy="515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69CFD6-4FAE-4D4B-ACCD-5713AEFC0F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 dirty="0" err="1"/>
              <a:t>Conseqüências</a:t>
            </a:r>
            <a:endParaRPr lang="pt-BR" altLang="pt-BR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99B7116-2127-4BBE-9A31-4C3B921C6E0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417638"/>
            <a:ext cx="7400925" cy="512253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dirty="0"/>
              <a:t>Criação da Liga das Nações , organismo com o objetivo de eliminar futuras guerras estabelecendo    o caminho diplomático como antídoto para  novos conflitos. Terá um alcance limitado , já que sem a presença ( durante um certo tempo) de países importantes como os EUA,  a Alemanha e Rússia. Sua legitimidade será questionada intensamente nos anos 30, acusada de ser um   instrumento para interesses franceses e ingleses.</a:t>
            </a:r>
          </a:p>
          <a:p>
            <a:pPr eaLnBrk="1" hangingPunct="1"/>
            <a:r>
              <a:rPr lang="pt-BR" altLang="pt-BR" dirty="0"/>
              <a:t>Estímulo para movimentos anticoloniais na Ásia e na África ( 1o.ensaio na “descolonização”).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481252E-DA59-415C-B427-0DB003DC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640084"/>
            <a:ext cx="4662237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EFC25EBF-4F17-4644-9548-2D9FF349D8C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95250" y="749300"/>
            <a:ext cx="7597638" cy="158639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pt-BR" altLang="pt-BR" dirty="0"/>
              <a:t>Muitos Ex-soldados, inadaptados para a vida civil e com dificuldades para se inserir no mercado de trabalho serão   presa fácil para  discursos nacionalistas e revanchistas.</a:t>
            </a:r>
          </a:p>
        </p:txBody>
      </p:sp>
      <p:sp>
        <p:nvSpPr>
          <p:cNvPr id="11270" name="Line 7">
            <a:extLst>
              <a:ext uri="{FF2B5EF4-FFF2-40B4-BE49-F238E27FC236}">
                <a16:creationId xmlns:a16="http://schemas.microsoft.com/office/drawing/2014/main" id="{981AA35D-A9F2-46F6-BDFA-399C5E655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4288" y="1844675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1271" name="Line 8">
            <a:extLst>
              <a:ext uri="{FF2B5EF4-FFF2-40B4-BE49-F238E27FC236}">
                <a16:creationId xmlns:a16="http://schemas.microsoft.com/office/drawing/2014/main" id="{C63272EE-9F23-4305-B76C-7CD0D43F2E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2125" y="270827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4" name="Picture 2" descr="Opera Mundi: Hoje na História: 1919 - Fracassa a Rebelião ...">
            <a:extLst>
              <a:ext uri="{FF2B5EF4-FFF2-40B4-BE49-F238E27FC236}">
                <a16:creationId xmlns:a16="http://schemas.microsoft.com/office/drawing/2014/main" id="{1103D8AD-B312-474A-90DB-38557A832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383" y="1844675"/>
            <a:ext cx="5163355" cy="290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FCE190E-24BA-43F8-AE66-35766C722E1E}"/>
              </a:ext>
            </a:extLst>
          </p:cNvPr>
          <p:cNvSpPr/>
          <p:nvPr/>
        </p:nvSpPr>
        <p:spPr>
          <a:xfrm>
            <a:off x="95251" y="2855449"/>
            <a:ext cx="61763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latin typeface="Arial Black" panose="020B0A04020102020204" pitchFamily="34" charset="0"/>
              </a:rPr>
              <a:t>O surgimento da URSS e o ambiente de crise econômica e social europeia  favorecerão o crescimento de partidos de esquerda e sindicatos sensíveis a propostas revolucionárias... O “bolchevismo” revolucionário terá adeptos significativos em alguns países , mas também  será hipertrofiado como ameaça (um fantasma útil) em outros contextos europeus. O discurso internacionalista revolucionário Russo e as fragilidades socioeconômicas da Europa  ajudarão na disseminação   dessa  ameaça.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D38984-054D-4D35-9A6E-58E69A4E3D6F}"/>
              </a:ext>
            </a:extLst>
          </p:cNvPr>
          <p:cNvSpPr txBox="1"/>
          <p:nvPr/>
        </p:nvSpPr>
        <p:spPr>
          <a:xfrm>
            <a:off x="6772005" y="4881193"/>
            <a:ext cx="488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1919 -Tentativa Revolucionária na Alemanha- a Revolta </a:t>
            </a:r>
            <a:r>
              <a:rPr lang="pt-BR" dirty="0" err="1"/>
              <a:t>Espartaquista</a:t>
            </a:r>
            <a:r>
              <a:rPr lang="pt-BR" dirty="0"/>
              <a:t> liderada por Rosa Luxemburgo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9BAD064-0E01-46E2-9265-BCC08B0F6135}"/>
              </a:ext>
            </a:extLst>
          </p:cNvPr>
          <p:cNvCxnSpPr>
            <a:endCxn id="6" idx="1"/>
          </p:cNvCxnSpPr>
          <p:nvPr/>
        </p:nvCxnSpPr>
        <p:spPr>
          <a:xfrm flipV="1">
            <a:off x="5983357" y="5342858"/>
            <a:ext cx="788648" cy="593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54EF40-1E88-4F72-83D1-9CC4705A3449}"/>
              </a:ext>
            </a:extLst>
          </p:cNvPr>
          <p:cNvSpPr txBox="1">
            <a:spLocks noChangeArrowheads="1"/>
          </p:cNvSpPr>
          <p:nvPr/>
        </p:nvSpPr>
        <p:spPr>
          <a:xfrm>
            <a:off x="506195" y="4243066"/>
            <a:ext cx="5044801" cy="24456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dirty="0">
                <a:latin typeface="Arial Black" panose="020B0A04020102020204" pitchFamily="34" charset="0"/>
              </a:rPr>
              <a:t>O </a:t>
            </a:r>
            <a:r>
              <a:rPr lang="pt-BR" sz="1800" u="sng" dirty="0">
                <a:latin typeface="Arial Black" panose="020B0A04020102020204" pitchFamily="34" charset="0"/>
              </a:rPr>
              <a:t>Plano Dawes</a:t>
            </a:r>
            <a:r>
              <a:rPr lang="pt-BR" sz="1800" dirty="0">
                <a:latin typeface="Arial Black" panose="020B0A04020102020204" pitchFamily="34" charset="0"/>
              </a:rPr>
              <a:t>, visando uma</a:t>
            </a:r>
            <a:r>
              <a:rPr lang="pt-BR" altLang="pt-BR" sz="1800" dirty="0">
                <a:latin typeface="Arial Black" panose="020B0A04020102020204" pitchFamily="34" charset="0"/>
              </a:rPr>
              <a:t> reconstrução europeia  que diminuísse a adesão social às ideias políticas extremistas e  aliviasse o peso do Tratado de Versalhes para a Alemanha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98F5B8-A4A2-452B-A5D9-C3ACE1F6E111}"/>
              </a:ext>
            </a:extLst>
          </p:cNvPr>
          <p:cNvSpPr txBox="1"/>
          <p:nvPr/>
        </p:nvSpPr>
        <p:spPr>
          <a:xfrm>
            <a:off x="147552" y="1966013"/>
            <a:ext cx="49316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A Política do cordão Sanitário ( nos Tratados Complementares  ao Tratado de Versalhes foram criados  vários países artificiais na Europa Oriental para isolar a URSS da Europa Ocidental).</a:t>
            </a:r>
          </a:p>
        </p:txBody>
      </p:sp>
      <p:pic>
        <p:nvPicPr>
          <p:cNvPr id="7" name="Picture 2" descr="auto0">
            <a:extLst>
              <a:ext uri="{FF2B5EF4-FFF2-40B4-BE49-F238E27FC236}">
                <a16:creationId xmlns:a16="http://schemas.microsoft.com/office/drawing/2014/main" id="{FCC6B9A4-8D2B-4F0F-98C2-0B3DBF6AB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7059" y="1477493"/>
            <a:ext cx="5777389" cy="415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ABD5F678-ACA5-495D-A977-391B1C1FC630}"/>
              </a:ext>
            </a:extLst>
          </p:cNvPr>
          <p:cNvSpPr/>
          <p:nvPr/>
        </p:nvSpPr>
        <p:spPr>
          <a:xfrm>
            <a:off x="506195" y="666717"/>
            <a:ext cx="7781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</a:rPr>
              <a:t>O Antídoto contra o risco bolchevista </a:t>
            </a:r>
            <a:endParaRPr lang="pt-BR" b="1" dirty="0">
              <a:latin typeface="Arial Black" panose="020B0A04020102020204" pitchFamily="34" charset="0"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B4483116-90B4-48A9-9883-94EB836298D8}"/>
              </a:ext>
            </a:extLst>
          </p:cNvPr>
          <p:cNvCxnSpPr/>
          <p:nvPr/>
        </p:nvCxnSpPr>
        <p:spPr>
          <a:xfrm flipH="1">
            <a:off x="3519055" y="1288473"/>
            <a:ext cx="193963" cy="415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78D8185B-7527-46A4-B304-DD15439E633A}"/>
              </a:ext>
            </a:extLst>
          </p:cNvPr>
          <p:cNvCxnSpPr/>
          <p:nvPr/>
        </p:nvCxnSpPr>
        <p:spPr>
          <a:xfrm flipH="1">
            <a:off x="4059382" y="1288473"/>
            <a:ext cx="1676400" cy="285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286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uto2">
            <a:extLst>
              <a:ext uri="{FF2B5EF4-FFF2-40B4-BE49-F238E27FC236}">
                <a16:creationId xmlns:a16="http://schemas.microsoft.com/office/drawing/2014/main" id="{7B83C444-C6DF-4B4D-B706-3348F5A1B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188" y="400052"/>
            <a:ext cx="6789737" cy="56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460E5B2-33BB-4AB0-B2EA-B7C737841604}"/>
              </a:ext>
            </a:extLst>
          </p:cNvPr>
          <p:cNvSpPr/>
          <p:nvPr/>
        </p:nvSpPr>
        <p:spPr>
          <a:xfrm>
            <a:off x="600075" y="1705660"/>
            <a:ext cx="366871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400" dirty="0">
                <a:latin typeface="Arial Black" panose="020B0A04020102020204" pitchFamily="34" charset="0"/>
              </a:rPr>
              <a:t>Novo papel da mulher dentro da economia e da sociedade  servirá como estímulo para o movimento feminista e suas pautas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D66F6A3-4058-485B-9B99-7A937B741953}"/>
              </a:ext>
            </a:extLst>
          </p:cNvPr>
          <p:cNvSpPr txBox="1"/>
          <p:nvPr/>
        </p:nvSpPr>
        <p:spPr>
          <a:xfrm>
            <a:off x="1466850" y="707870"/>
            <a:ext cx="8591550" cy="544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(Uerj)  A Primeira Guerra Mundial não resolveu nada. As esperanças que gerou - de um mundo pacífico e democrático de Estados-nação sob a liga das nações; de um retorno à economia mundial de 1913; mesmo (entre os que saudaram a revolução russa) de capitalismo mundial derrubado dentro de anos ou meses por um levante dos oprimidos - logo foram frustradas. O passado estava fora de alcance, o futuro fora adiado, o presente era amargo, a não ser por uns poucos anos passageiros em meados da década de 1920.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ERIC J. HOBSBAWM. "A era dos extremos: o breve século XX (1914-1991)". São Paulo: Companhia das Letras, 1995.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período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entre-guerras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(1919-1939) começou com uma combinação de esperança e ressentimento.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Diversos acordos foram impostos pelos Estados vencedores aos derrotados. O mais conhecido deles é o Tratado de Versalhes de 1919. Outros tratados complementares também foram assinados e igualmente tiveram grande importância para a geopolítica mundial.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5000"/>
              </a:lnSpc>
              <a:spcAft>
                <a:spcPts val="200"/>
              </a:spcAft>
              <a:buFont typeface="+mj-lt"/>
              <a:buAutoNum type="alphaUcParenR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(Maio) ( Média) Indique e explique duas transformações na geopolítica mundial decorrentes desses tratados complementares. (1,0) (seis linhas)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50FAF86-AAB6-45A5-9885-CBC64BB98A30}"/>
              </a:ext>
            </a:extLst>
          </p:cNvPr>
          <p:cNvSpPr txBox="1"/>
          <p:nvPr/>
        </p:nvSpPr>
        <p:spPr>
          <a:xfrm>
            <a:off x="1400175" y="6150129"/>
            <a:ext cx="10629900" cy="369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B) Explique porque a Liga das Nações não garantiu ‘um mundo pacífico e democrático’.</a:t>
            </a: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758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FB2B102-77C4-4DFD-A749-7631493B8454}"/>
              </a:ext>
            </a:extLst>
          </p:cNvPr>
          <p:cNvSpPr txBox="1"/>
          <p:nvPr/>
        </p:nvSpPr>
        <p:spPr>
          <a:xfrm>
            <a:off x="1809749" y="1178992"/>
            <a:ext cx="8296275" cy="400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Resolução (A):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Duas das transformações: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desaparecimentos de impérios centrais multiétnicos e pluriculturais, como o austro-húngaro e o turco-otomano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surgimento de novos Estados no leste europeu: </a:t>
            </a:r>
            <a:r>
              <a:rPr lang="pt-BR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Tchecoeslováquia</a:t>
            </a: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Polônia, Iugoslávia, além da Áustria e da Hungria, separadas uma da outra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entrega de territórios anteriormente turcos ao Reino Unido (Palestina, Jordânia e Mesopotâmia) e à França (Líbano e Síria) pela Liga das Nações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reforço da política de isolamento imposta à Rússia, com a criação de um cordão sanitário, formado também por países surgidos da desagregação do império austro-húngaro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05000"/>
              </a:lnSpc>
              <a:spcAft>
                <a:spcPts val="200"/>
              </a:spcAft>
            </a:pPr>
            <a:r>
              <a:rPr lang="pt-BR" sz="1600" dirty="0">
                <a:solidFill>
                  <a:srgbClr val="FFF5E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94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C984E46-591D-48C0-A998-236F0EC33E09}"/>
              </a:ext>
            </a:extLst>
          </p:cNvPr>
          <p:cNvSpPr txBox="1"/>
          <p:nvPr/>
        </p:nvSpPr>
        <p:spPr>
          <a:xfrm>
            <a:off x="3048000" y="2055163"/>
            <a:ext cx="6096000" cy="2747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Resolução (B)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Liga das Nações não terá a representatividade necessária para ser reconhecida como árbitro eficaz dos conflitos e atritos surgidos no  pós guerra. A ausência de países como os EUA, Alemanha e Rússia, durante um tempo significativo do seu funcionamento, restringirá seu campo de ação  e ilustrará essa falta de representatividade.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093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15417DD-357F-4EF2-A001-01FD905EBC2C}"/>
              </a:ext>
            </a:extLst>
          </p:cNvPr>
          <p:cNvSpPr txBox="1"/>
          <p:nvPr/>
        </p:nvSpPr>
        <p:spPr>
          <a:xfrm>
            <a:off x="1066799" y="886969"/>
            <a:ext cx="9077325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(Mack) A respeito do envolvimento dos E.U.A. na Primeira Grande Guerra é INCORRETO afirmar que: 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foi influenciado pela intenção germânica de atrair o México, prometendo-lhe ajuda na reconquista de territórios perdidos para os E.U.A.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os E.U.A. financiaram diretamente a indústria bélica franco-inglesa e enviaram um grande contingente de soldados ao fronte. 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uma possível derrota da França e Inglaterra colocaria em risco os investimentos norte-americanos na Europa. 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contrariando o Congresso, o presidente dos E.U.A. rompeu a neutralidade, declarando guerra às forças do Eixo. 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E) a adesão dos E.U.A. desequilibrou as forças em luta, dando um novo alento à Entente.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11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C7153B3-C991-48A2-8F53-AB2AAC4157EB}"/>
              </a:ext>
            </a:extLst>
          </p:cNvPr>
          <p:cNvSpPr txBox="1"/>
          <p:nvPr/>
        </p:nvSpPr>
        <p:spPr>
          <a:xfrm>
            <a:off x="2943225" y="2953357"/>
            <a:ext cx="6096000" cy="95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(GABARITO) D) contrariando o Congresso, o presidente dos E.U.A. rompeu a neutralidade, declarando guerra às forças do Eixo. </a:t>
            </a:r>
            <a:endParaRPr lang="pt-BR" sz="24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516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BE3FC4C-20F0-44F8-83DA-2FAABF67A959}"/>
              </a:ext>
            </a:extLst>
          </p:cNvPr>
          <p:cNvSpPr txBox="1"/>
          <p:nvPr/>
        </p:nvSpPr>
        <p:spPr>
          <a:xfrm>
            <a:off x="2152650" y="1001925"/>
            <a:ext cx="8401050" cy="4854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(1ª Guerra)  (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Vunesp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Modificado) As raízes da 1ª Guerra Mundial encontram-se, em grande parte, na história do século XIX. Pode-se citar como alguns dos fatores que deram origem ao conflito desencadeado em 1914 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concentração da industrialização na Inglaterra e o escasso crescimento econômico das nações do continente europeu. 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emergência de ideologias socialistas e revoluções operárias que desajustaram as relações entre os países capitalistas. 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derrota militar da França para a Prússia, no processo de unificação alemã, e a incorporação da Alsácia e da Lorena à Alemanha. </a:t>
            </a:r>
            <a:endParaRPr lang="pt-BR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o confronto secular entre a França e a Inglaterra e a crise da economia inglesa provocada pelo bloqueio continental.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E) a política do “equilíbrio europeu”, praticada pelo Congresso de Viena, e o fortalecimento militar da Rússia na Península Balcânica.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309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D49448A-0647-4CDB-9F99-05A2A00C35D2}"/>
              </a:ext>
            </a:extLst>
          </p:cNvPr>
          <p:cNvSpPr txBox="1"/>
          <p:nvPr/>
        </p:nvSpPr>
        <p:spPr>
          <a:xfrm>
            <a:off x="3048000" y="2915270"/>
            <a:ext cx="6096000" cy="102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(GABARITO) C) a derrota militar da França para a Prússia, no processo de unificação alemã, e a incorporação da Alsácia e da Lorena à Alemanha. </a:t>
            </a:r>
            <a:endParaRPr lang="pt-BR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97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2504</Words>
  <Application>Microsoft Office PowerPoint</Application>
  <PresentationFormat>Widescreen</PresentationFormat>
  <Paragraphs>151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33</vt:i4>
      </vt:variant>
    </vt:vector>
  </HeadingPairs>
  <TitlesOfParts>
    <vt:vector size="44" baseType="lpstr">
      <vt:lpstr>Algerian</vt:lpstr>
      <vt:lpstr>Arial</vt:lpstr>
      <vt:lpstr>Arial Black</vt:lpstr>
      <vt:lpstr>Calibri</vt:lpstr>
      <vt:lpstr>Calibri Light</vt:lpstr>
      <vt:lpstr>GeoEditRegular</vt:lpstr>
      <vt:lpstr>Open Sans</vt:lpstr>
      <vt:lpstr>OpenSans</vt:lpstr>
      <vt:lpstr>Trebuchet MS</vt:lpstr>
      <vt:lpstr>Office Theme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Conseqüências da 1a.Guerra Mundial</vt:lpstr>
      <vt:lpstr>Conseqüências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Siracusa</dc:creator>
  <cp:lastModifiedBy>Celso Siracusa</cp:lastModifiedBy>
  <cp:revision>10</cp:revision>
  <dcterms:created xsi:type="dcterms:W3CDTF">2020-08-09T23:11:08Z</dcterms:created>
  <dcterms:modified xsi:type="dcterms:W3CDTF">2022-06-01T20:53:02Z</dcterms:modified>
</cp:coreProperties>
</file>