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7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80" d="100"/>
          <a:sy n="80" d="100"/>
        </p:scale>
        <p:origin x="555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9C643F-5C9E-A6D2-FD49-445FA0F8C2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245833-04F5-A42F-C6BC-A89B7B9CB5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44118C-227E-0570-88F5-3ACC06091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5A74D-DB48-489F-AE03-DFAA9033D06E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12D435-D95E-EA60-957B-0AB403AE8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57DC39-68F9-0DE9-40E0-620CCC202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B1BD-85DA-48C2-BE4B-D0B914A203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617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BB3459-42BF-4EC8-7902-9797E4223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248FAD-B79F-5226-17BE-3DA24AFF2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B10F58-3DD5-9A99-95FC-6269F55F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5A74D-DB48-489F-AE03-DFAA9033D06E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2DB39B-538E-D02D-FFC2-56E823876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EBE0AC-7467-54B4-E97F-86C4CCF64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B1BD-85DA-48C2-BE4B-D0B914A203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6269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A5F3C9-1570-EC84-233E-1EBE4241C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10DA07-9C25-64CC-0D7F-77B00098A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D74D30-A06C-65DF-78F0-C74F2C5BB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5A74D-DB48-489F-AE03-DFAA9033D06E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4F469C-E042-5765-6ACF-248F9E363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B4CBDD-354C-A8AC-C298-799FEB222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B1BD-85DA-48C2-BE4B-D0B914A203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2498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798C82-F41F-0355-3BA9-DE40D3FB5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3BA450-B518-7B56-0CC5-34EEDB33DD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25C9D59-4F9C-12F6-D461-960AF76B2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C11340C-41D4-2C07-D65F-BC69F578F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5A74D-DB48-489F-AE03-DFAA9033D06E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84299BF-9F39-D427-7FEF-D90A263B5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5375486-1D34-3934-F569-4CAAAA634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B1BD-85DA-48C2-BE4B-D0B914A203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3310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A8A806-E100-A6FA-901D-D5634614C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7AE2B62-90FA-67D2-07A2-D18586D1D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A901359-02D6-FC7F-9896-102A1D40D7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085B2EC-B403-E12A-553A-31F605AB3C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327F310-DDDC-4616-D1A7-85E8A04903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46D8379-4C7E-FD43-D254-E56E88EE7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5A74D-DB48-489F-AE03-DFAA9033D06E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2D78C6F-D3E5-CEAB-4CEE-8E6FE7AC9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5D1835A-3E07-1D98-86F8-CA425AD67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B1BD-85DA-48C2-BE4B-D0B914A203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0286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A46AA3-BC84-9065-7C67-A3536B561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DE69207-7E50-127E-9E04-EB70C0282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5A74D-DB48-489F-AE03-DFAA9033D06E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78FDD91-7C32-EF3F-07A7-01AF466BA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68A551D-AAF0-D306-63DB-3DC32BA2A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B1BD-85DA-48C2-BE4B-D0B914A203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2144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46CC20F-BB13-664E-94AC-05FF4BEBD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5A74D-DB48-489F-AE03-DFAA9033D06E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E7A6D49-14DD-1586-CB36-DCB968FD3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6FD5B8D-5217-D9EA-B966-88C370B37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B1BD-85DA-48C2-BE4B-D0B914A203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1524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9958F6-E579-AD21-8A43-D8C6E3683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02F529-63E1-099C-E655-5662CDAA9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6FC55FE-69EA-59AE-7446-7927E04BC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73F8184-5F30-1102-3B86-439B4FE79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5A74D-DB48-489F-AE03-DFAA9033D06E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0194018-B1A2-47F0-5D0D-AD58E0512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06716A6-956E-D11A-C01B-9C84AC7E5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B1BD-85DA-48C2-BE4B-D0B914A203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5517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5450A5-0416-FF39-0FCC-E67B350BA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ACEC60C-9867-6CE0-BA52-E24351A6360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98D216B-9BBB-A97E-8A11-FAFA48B19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AF18CA-35A2-CFD8-ADB7-90D9F723C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5A74D-DB48-489F-AE03-DFAA9033D06E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0451497-89C3-527A-1703-B31CB2264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08E549B-4382-5B09-9207-AE4BDFB64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B1BD-85DA-48C2-BE4B-D0B914A203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7136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D1A077-EF8B-C78B-29CE-F64978BA2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63E1B98-DBA6-F980-0B74-C684B0D9AA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A0A60F-84A0-27F0-0020-9D301768C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5A74D-DB48-489F-AE03-DFAA9033D06E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CA1DFC-8B08-8A57-F046-C6865ECF1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7A796F-3BED-57CB-705B-805EEF29A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B1BD-85DA-48C2-BE4B-D0B914A203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494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BD3AE04-5AB3-FDD5-3D02-197B5F7EA9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32D2E63-E922-1DFA-EDC9-A2BC5A5CDB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910784-D0BA-E0CA-1319-890519EED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5A74D-DB48-489F-AE03-DFAA9033D06E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A93595-5A8E-A7F3-BB68-FC90EEC29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8C642D-5021-65C1-DEFD-EDB03961D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B1BD-85DA-48C2-BE4B-D0B914A203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453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EF0FBA0-B22B-F3B4-48DD-04D7000CC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4DDE6EA-88AA-0AC8-35EC-90A6E29A0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4DC07C-0C27-D117-59C8-758E32604A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75A74D-DB48-489F-AE03-DFAA9033D06E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B47A84-34A6-3141-BD59-C5A70AAD6F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ABCBF9-78B1-4966-BFB3-AA1180C5A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E2B1BD-85DA-48C2-BE4B-D0B914A203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1880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C7066367-B213-38F5-2581-CE02CCCF434C}"/>
              </a:ext>
            </a:extLst>
          </p:cNvPr>
          <p:cNvSpPr txBox="1"/>
          <p:nvPr/>
        </p:nvSpPr>
        <p:spPr>
          <a:xfrm>
            <a:off x="185270" y="95624"/>
            <a:ext cx="11666072" cy="6488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1. (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Ufjf-pism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3)  Leia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os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trechos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abaixo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. </a:t>
            </a:r>
            <a:endParaRPr lang="pt-BR" sz="1800" dirty="0">
              <a:effectLst/>
              <a:latin typeface="+mn-lt"/>
              <a:ea typeface="Cambria" panose="02040503050406030204" pitchFamily="18" charset="0"/>
            </a:endParaRPr>
          </a:p>
          <a:p>
            <a:pPr algn="just"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 err="1">
                <a:effectLst/>
                <a:latin typeface="+mn-lt"/>
                <a:ea typeface="Cambria" panose="02040503050406030204" pitchFamily="18" charset="0"/>
              </a:rPr>
              <a:t>Trecho</a:t>
            </a:r>
            <a:r>
              <a:rPr lang="en-US" sz="1800" b="1" dirty="0">
                <a:effectLst/>
                <a:latin typeface="+mn-lt"/>
                <a:ea typeface="Cambria" panose="02040503050406030204" pitchFamily="18" charset="0"/>
              </a:rPr>
              <a:t> I </a:t>
            </a:r>
            <a:endParaRPr lang="pt-BR" sz="1800" dirty="0">
              <a:effectLst/>
              <a:latin typeface="+mn-lt"/>
              <a:ea typeface="Cambria" panose="02040503050406030204" pitchFamily="18" charset="0"/>
            </a:endParaRPr>
          </a:p>
          <a:p>
            <a:pPr algn="just"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“Em 1916,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em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meio à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guerra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, Marcel Duchamp (1887-1968)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produzia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a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obra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Roda de Bicicleta. Nem a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roda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servia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para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andar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, nem o banco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servia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para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sentar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. Algo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aparentemente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irracional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,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ilógico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,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diriam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muitos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(...). Mais do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que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uma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outra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forma de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produzir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arte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, Duchamp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estava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propondo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uma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outra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forma de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ver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a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arte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, de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olhar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para o mundo. (...) </a:t>
            </a:r>
            <a:endParaRPr lang="pt-BR" sz="1800" dirty="0">
              <a:effectLst/>
              <a:latin typeface="+mn-lt"/>
              <a:ea typeface="Cambria" panose="02040503050406030204" pitchFamily="18" charset="0"/>
            </a:endParaRPr>
          </a:p>
          <a:p>
            <a:pPr algn="just"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Depois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de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sua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Roda de Bicicleta, o mundo das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artes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não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seria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mais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o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mesmo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.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Depois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da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Primeira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Guerra Mundial, o mundo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não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seria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mais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o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mesmo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.” </a:t>
            </a:r>
            <a:endParaRPr lang="pt-BR" sz="1800" dirty="0">
              <a:effectLst/>
              <a:latin typeface="+mn-lt"/>
              <a:ea typeface="Cambria" panose="02040503050406030204" pitchFamily="18" charset="0"/>
            </a:endParaRPr>
          </a:p>
          <a:p>
            <a:pPr algn="just"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Fonte: CAMPOS, Flavio de; MIRANDA, Renan Garcia (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Colab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.).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Escrita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da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historia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: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ensino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medio: volume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unico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. Sao Paulo: Escala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Educacional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, 2005. 656p. 3 ex. </a:t>
            </a:r>
            <a:endParaRPr lang="pt-BR" sz="1800" dirty="0">
              <a:effectLst/>
              <a:latin typeface="+mn-lt"/>
              <a:ea typeface="Cambria" panose="02040503050406030204" pitchFamily="18" charset="0"/>
            </a:endParaRPr>
          </a:p>
          <a:p>
            <a:pPr algn="just"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 err="1">
                <a:effectLst/>
                <a:latin typeface="+mn-lt"/>
                <a:ea typeface="Cambria" panose="02040503050406030204" pitchFamily="18" charset="0"/>
              </a:rPr>
              <a:t>Trecho</a:t>
            </a:r>
            <a:r>
              <a:rPr lang="en-US" sz="1800" b="1" dirty="0">
                <a:effectLst/>
                <a:latin typeface="+mn-lt"/>
                <a:ea typeface="Cambria" panose="02040503050406030204" pitchFamily="18" charset="0"/>
              </a:rPr>
              <a:t> II </a:t>
            </a:r>
            <a:endParaRPr lang="pt-BR" sz="1800" dirty="0">
              <a:effectLst/>
              <a:latin typeface="+mn-lt"/>
              <a:ea typeface="Cambria" panose="02040503050406030204" pitchFamily="18" charset="0"/>
            </a:endParaRPr>
          </a:p>
          <a:p>
            <a:pPr algn="just"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"A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humanidade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sobreviveu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. Contudo, o grande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edifício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da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civilização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do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século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XX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desmoronou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nas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chamas da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guerra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mundial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,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quando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suas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colunas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ruíram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.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Não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há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como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compreender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o Breve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Século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XX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sem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ela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. Ele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foi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marcado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pela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guerra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.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Viveu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e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pensou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em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termos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de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guerra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mundial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,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mesmo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quando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os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canhões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se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calavam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e as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bombas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não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explodiam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.“ Fonte: HOBSBAWM, Eric. A Era dos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Extremos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. São Paulo: Companhia das Letras, 1995, p. 30. </a:t>
            </a:r>
            <a:endParaRPr lang="pt-BR" dirty="0">
              <a:ea typeface="Cambria" panose="02040503050406030204" pitchFamily="18" charset="0"/>
            </a:endParaRPr>
          </a:p>
          <a:p>
            <a:pPr algn="just"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a) Aponte UMA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razão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para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que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a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Primeira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Guerra Mundial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seja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apontada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como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marco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de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uma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nova forma de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ver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o mundo. </a:t>
            </a:r>
            <a:endParaRPr lang="pt-BR" sz="1800" dirty="0">
              <a:effectLst/>
              <a:latin typeface="+mn-lt"/>
              <a:ea typeface="Cambria" panose="02040503050406030204" pitchFamily="18" charset="0"/>
            </a:endParaRPr>
          </a:p>
          <a:p>
            <a:pPr algn="just"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b)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Explique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como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, a partir da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Primeira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Guerra Mundial, o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temor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de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uma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nova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guerra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passou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a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fazer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parte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do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cotidiano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.</a:t>
            </a:r>
            <a:endParaRPr lang="pt-BR" sz="1000" dirty="0">
              <a:effectLst/>
              <a:latin typeface="Arial" panose="020B0604020202020204" pitchFamily="34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40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878B4EB-1D70-FDC3-66F3-476664036BE6}"/>
              </a:ext>
            </a:extLst>
          </p:cNvPr>
          <p:cNvSpPr txBox="1"/>
          <p:nvPr/>
        </p:nvSpPr>
        <p:spPr>
          <a:xfrm>
            <a:off x="400423" y="627529"/>
            <a:ext cx="10148047" cy="4847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2. (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Fgv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) </a:t>
            </a:r>
            <a:r>
              <a:rPr lang="en-US" sz="2400" i="1" dirty="0">
                <a:effectLst/>
                <a:latin typeface="+mn-lt"/>
                <a:ea typeface="Cambria" panose="02040503050406030204" pitchFamily="18" charset="0"/>
              </a:rPr>
              <a:t>A </a:t>
            </a:r>
            <a:r>
              <a:rPr lang="en-US" sz="2400" i="1" dirty="0" err="1">
                <a:effectLst/>
                <a:latin typeface="+mn-lt"/>
                <a:ea typeface="Cambria" panose="02040503050406030204" pitchFamily="18" charset="0"/>
              </a:rPr>
              <a:t>Primeira</a:t>
            </a:r>
            <a:r>
              <a:rPr lang="en-US" sz="2400" i="1" dirty="0">
                <a:effectLst/>
                <a:latin typeface="+mn-lt"/>
                <a:ea typeface="Cambria" panose="02040503050406030204" pitchFamily="18" charset="0"/>
              </a:rPr>
              <a:t> Guerra Mundial </a:t>
            </a:r>
            <a:r>
              <a:rPr lang="en-US" sz="2400" i="1" dirty="0" err="1">
                <a:effectLst/>
                <a:latin typeface="+mn-lt"/>
                <a:ea typeface="Cambria" panose="02040503050406030204" pitchFamily="18" charset="0"/>
              </a:rPr>
              <a:t>envolveu</a:t>
            </a:r>
            <a:r>
              <a:rPr lang="en-US" sz="2400" i="1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i="1" dirty="0" err="1">
                <a:effectLst/>
                <a:latin typeface="+mn-lt"/>
                <a:ea typeface="Cambria" panose="02040503050406030204" pitchFamily="18" charset="0"/>
              </a:rPr>
              <a:t>todas</a:t>
            </a:r>
            <a:r>
              <a:rPr lang="en-US" sz="2400" i="1" dirty="0">
                <a:effectLst/>
                <a:latin typeface="+mn-lt"/>
                <a:ea typeface="Cambria" panose="02040503050406030204" pitchFamily="18" charset="0"/>
              </a:rPr>
              <a:t> as </a:t>
            </a:r>
            <a:r>
              <a:rPr lang="en-US" sz="2400" i="1" dirty="0" err="1">
                <a:effectLst/>
                <a:latin typeface="+mn-lt"/>
                <a:ea typeface="Cambria" panose="02040503050406030204" pitchFamily="18" charset="0"/>
              </a:rPr>
              <a:t>grandes</a:t>
            </a:r>
            <a:r>
              <a:rPr lang="en-US" sz="2400" i="1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i="1" dirty="0" err="1">
                <a:effectLst/>
                <a:latin typeface="+mn-lt"/>
                <a:ea typeface="Cambria" panose="02040503050406030204" pitchFamily="18" charset="0"/>
              </a:rPr>
              <a:t>potências</a:t>
            </a:r>
            <a:r>
              <a:rPr lang="en-US" sz="2400" i="1" dirty="0">
                <a:effectLst/>
                <a:latin typeface="+mn-lt"/>
                <a:ea typeface="Cambria" panose="02040503050406030204" pitchFamily="18" charset="0"/>
              </a:rPr>
              <a:t>, e </a:t>
            </a:r>
            <a:r>
              <a:rPr lang="en-US" sz="2400" i="1" dirty="0" err="1">
                <a:effectLst/>
                <a:latin typeface="+mn-lt"/>
                <a:ea typeface="Cambria" panose="02040503050406030204" pitchFamily="18" charset="0"/>
              </a:rPr>
              <a:t>na</a:t>
            </a:r>
            <a:r>
              <a:rPr lang="en-US" sz="2400" i="1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i="1" dirty="0" err="1">
                <a:effectLst/>
                <a:latin typeface="+mn-lt"/>
                <a:ea typeface="Cambria" panose="02040503050406030204" pitchFamily="18" charset="0"/>
              </a:rPr>
              <a:t>verdade</a:t>
            </a:r>
            <a:r>
              <a:rPr lang="en-US" sz="2400" i="1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i="1" dirty="0" err="1">
                <a:effectLst/>
                <a:latin typeface="+mn-lt"/>
                <a:ea typeface="Cambria" panose="02040503050406030204" pitchFamily="18" charset="0"/>
              </a:rPr>
              <a:t>todos</a:t>
            </a:r>
            <a:r>
              <a:rPr lang="en-US" sz="2400" i="1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i="1" dirty="0" err="1">
                <a:effectLst/>
                <a:latin typeface="+mn-lt"/>
                <a:ea typeface="Cambria" panose="02040503050406030204" pitchFamily="18" charset="0"/>
              </a:rPr>
              <a:t>os</a:t>
            </a:r>
            <a:r>
              <a:rPr lang="en-US" sz="2400" i="1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i="1" dirty="0" err="1">
                <a:effectLst/>
                <a:latin typeface="+mn-lt"/>
                <a:ea typeface="Cambria" panose="02040503050406030204" pitchFamily="18" charset="0"/>
              </a:rPr>
              <a:t>Estados</a:t>
            </a:r>
            <a:r>
              <a:rPr lang="en-US" sz="2400" i="1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i="1" dirty="0" err="1">
                <a:effectLst/>
                <a:latin typeface="+mn-lt"/>
                <a:ea typeface="Cambria" panose="02040503050406030204" pitchFamily="18" charset="0"/>
              </a:rPr>
              <a:t>europeus</a:t>
            </a:r>
            <a:r>
              <a:rPr lang="en-US" sz="2400" i="1" dirty="0">
                <a:effectLst/>
                <a:latin typeface="+mn-lt"/>
                <a:ea typeface="Cambria" panose="02040503050406030204" pitchFamily="18" charset="0"/>
              </a:rPr>
              <a:t>, com </a:t>
            </a:r>
            <a:r>
              <a:rPr lang="en-US" sz="2400" i="1" dirty="0" err="1">
                <a:effectLst/>
                <a:latin typeface="+mn-lt"/>
                <a:ea typeface="Cambria" panose="02040503050406030204" pitchFamily="18" charset="0"/>
              </a:rPr>
              <a:t>exceção</a:t>
            </a:r>
            <a:r>
              <a:rPr lang="en-US" sz="2400" i="1" dirty="0">
                <a:effectLst/>
                <a:latin typeface="+mn-lt"/>
                <a:ea typeface="Cambria" panose="02040503050406030204" pitchFamily="18" charset="0"/>
              </a:rPr>
              <a:t> da </a:t>
            </a:r>
            <a:r>
              <a:rPr lang="en-US" sz="2400" i="1" dirty="0" err="1">
                <a:effectLst/>
                <a:latin typeface="+mn-lt"/>
                <a:ea typeface="Cambria" panose="02040503050406030204" pitchFamily="18" charset="0"/>
              </a:rPr>
              <a:t>Espanha</a:t>
            </a:r>
            <a:r>
              <a:rPr lang="en-US" sz="2400" i="1" dirty="0">
                <a:effectLst/>
                <a:latin typeface="+mn-lt"/>
                <a:ea typeface="Cambria" panose="02040503050406030204" pitchFamily="18" charset="0"/>
              </a:rPr>
              <a:t>, </a:t>
            </a:r>
            <a:r>
              <a:rPr lang="en-US" sz="2400" i="1" dirty="0" err="1">
                <a:effectLst/>
                <a:latin typeface="+mn-lt"/>
                <a:ea typeface="Cambria" panose="02040503050406030204" pitchFamily="18" charset="0"/>
              </a:rPr>
              <a:t>os</a:t>
            </a:r>
            <a:r>
              <a:rPr lang="en-US" sz="2400" i="1" dirty="0">
                <a:effectLst/>
                <a:latin typeface="+mn-lt"/>
                <a:ea typeface="Cambria" panose="02040503050406030204" pitchFamily="18" charset="0"/>
              </a:rPr>
              <a:t> Países </a:t>
            </a:r>
            <a:r>
              <a:rPr lang="en-US" sz="2400" i="1" dirty="0" err="1">
                <a:effectLst/>
                <a:latin typeface="+mn-lt"/>
                <a:ea typeface="Cambria" panose="02040503050406030204" pitchFamily="18" charset="0"/>
              </a:rPr>
              <a:t>Baixos</a:t>
            </a:r>
            <a:r>
              <a:rPr lang="en-US" sz="2400" i="1" dirty="0">
                <a:effectLst/>
                <a:latin typeface="+mn-lt"/>
                <a:ea typeface="Cambria" panose="02040503050406030204" pitchFamily="18" charset="0"/>
              </a:rPr>
              <a:t>, </a:t>
            </a:r>
            <a:r>
              <a:rPr lang="en-US" sz="2400" i="1" dirty="0" err="1">
                <a:effectLst/>
                <a:latin typeface="+mn-lt"/>
                <a:ea typeface="Cambria" panose="02040503050406030204" pitchFamily="18" charset="0"/>
              </a:rPr>
              <a:t>os</a:t>
            </a:r>
            <a:r>
              <a:rPr lang="en-US" sz="2400" i="1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i="1" dirty="0" err="1">
                <a:effectLst/>
                <a:latin typeface="+mn-lt"/>
                <a:ea typeface="Cambria" panose="02040503050406030204" pitchFamily="18" charset="0"/>
              </a:rPr>
              <a:t>três</a:t>
            </a:r>
            <a:r>
              <a:rPr lang="en-US" sz="2400" i="1" dirty="0">
                <a:effectLst/>
                <a:latin typeface="+mn-lt"/>
                <a:ea typeface="Cambria" panose="02040503050406030204" pitchFamily="18" charset="0"/>
              </a:rPr>
              <a:t> países da </a:t>
            </a:r>
            <a:r>
              <a:rPr lang="en-US" sz="2400" i="1" dirty="0" err="1">
                <a:effectLst/>
                <a:latin typeface="+mn-lt"/>
                <a:ea typeface="Cambria" panose="02040503050406030204" pitchFamily="18" charset="0"/>
              </a:rPr>
              <a:t>Escandinávia</a:t>
            </a:r>
            <a:r>
              <a:rPr lang="en-US" sz="2400" i="1" dirty="0">
                <a:effectLst/>
                <a:latin typeface="+mn-lt"/>
                <a:ea typeface="Cambria" panose="02040503050406030204" pitchFamily="18" charset="0"/>
              </a:rPr>
              <a:t> e a </a:t>
            </a:r>
            <a:r>
              <a:rPr lang="en-US" sz="2400" i="1" dirty="0" err="1">
                <a:effectLst/>
                <a:latin typeface="+mn-lt"/>
                <a:ea typeface="Cambria" panose="02040503050406030204" pitchFamily="18" charset="0"/>
              </a:rPr>
              <a:t>Suíça</a:t>
            </a:r>
            <a:r>
              <a:rPr lang="en-US" sz="2400" i="1" dirty="0">
                <a:effectLst/>
                <a:latin typeface="+mn-lt"/>
                <a:ea typeface="Cambria" panose="02040503050406030204" pitchFamily="18" charset="0"/>
              </a:rPr>
              <a:t>. E </a:t>
            </a:r>
            <a:r>
              <a:rPr lang="en-US" sz="2400" i="1" dirty="0" err="1">
                <a:effectLst/>
                <a:latin typeface="+mn-lt"/>
                <a:ea typeface="Cambria" panose="02040503050406030204" pitchFamily="18" charset="0"/>
              </a:rPr>
              <a:t>mais</a:t>
            </a:r>
            <a:r>
              <a:rPr lang="en-US" sz="2400" i="1" dirty="0">
                <a:effectLst/>
                <a:latin typeface="+mn-lt"/>
                <a:ea typeface="Cambria" panose="02040503050406030204" pitchFamily="18" charset="0"/>
              </a:rPr>
              <a:t>: </a:t>
            </a:r>
            <a:r>
              <a:rPr lang="en-US" sz="2400" i="1" dirty="0" err="1">
                <a:effectLst/>
                <a:latin typeface="+mn-lt"/>
                <a:ea typeface="Cambria" panose="02040503050406030204" pitchFamily="18" charset="0"/>
              </a:rPr>
              <a:t>tropas</a:t>
            </a:r>
            <a:r>
              <a:rPr lang="en-US" sz="2400" i="1" dirty="0">
                <a:effectLst/>
                <a:latin typeface="+mn-lt"/>
                <a:ea typeface="Cambria" panose="02040503050406030204" pitchFamily="18" charset="0"/>
              </a:rPr>
              <a:t> do </a:t>
            </a:r>
            <a:r>
              <a:rPr lang="en-US" sz="2400" i="1" dirty="0" err="1">
                <a:effectLst/>
                <a:latin typeface="+mn-lt"/>
                <a:ea typeface="Cambria" panose="02040503050406030204" pitchFamily="18" charset="0"/>
              </a:rPr>
              <a:t>ultramar</a:t>
            </a:r>
            <a:r>
              <a:rPr lang="en-US" sz="2400" i="1" dirty="0">
                <a:effectLst/>
                <a:latin typeface="+mn-lt"/>
                <a:ea typeface="Cambria" panose="02040503050406030204" pitchFamily="18" charset="0"/>
              </a:rPr>
              <a:t> foram, </a:t>
            </a:r>
            <a:r>
              <a:rPr lang="en-US" sz="2400" i="1" dirty="0" err="1">
                <a:effectLst/>
                <a:latin typeface="+mn-lt"/>
                <a:ea typeface="Cambria" panose="02040503050406030204" pitchFamily="18" charset="0"/>
              </a:rPr>
              <a:t>muitas</a:t>
            </a:r>
            <a:r>
              <a:rPr lang="en-US" sz="2400" i="1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i="1" dirty="0" err="1">
                <a:effectLst/>
                <a:latin typeface="+mn-lt"/>
                <a:ea typeface="Cambria" panose="02040503050406030204" pitchFamily="18" charset="0"/>
              </a:rPr>
              <a:t>vezes</a:t>
            </a:r>
            <a:r>
              <a:rPr lang="en-US" sz="2400" i="1" dirty="0">
                <a:effectLst/>
                <a:latin typeface="+mn-lt"/>
                <a:ea typeface="Cambria" panose="02040503050406030204" pitchFamily="18" charset="0"/>
              </a:rPr>
              <a:t> pela </a:t>
            </a:r>
            <a:r>
              <a:rPr lang="en-US" sz="2400" i="1" dirty="0" err="1">
                <a:effectLst/>
                <a:latin typeface="+mn-lt"/>
                <a:ea typeface="Cambria" panose="02040503050406030204" pitchFamily="18" charset="0"/>
              </a:rPr>
              <a:t>primeira</a:t>
            </a:r>
            <a:r>
              <a:rPr lang="en-US" sz="2400" i="1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i="1" dirty="0" err="1">
                <a:effectLst/>
                <a:latin typeface="+mn-lt"/>
                <a:ea typeface="Cambria" panose="02040503050406030204" pitchFamily="18" charset="0"/>
              </a:rPr>
              <a:t>vez</a:t>
            </a:r>
            <a:r>
              <a:rPr lang="en-US" sz="2400" i="1" dirty="0">
                <a:effectLst/>
                <a:latin typeface="+mn-lt"/>
                <a:ea typeface="Cambria" panose="02040503050406030204" pitchFamily="18" charset="0"/>
              </a:rPr>
              <a:t>, </a:t>
            </a:r>
            <a:r>
              <a:rPr lang="en-US" sz="2400" i="1" dirty="0" err="1">
                <a:effectLst/>
                <a:latin typeface="+mn-lt"/>
                <a:ea typeface="Cambria" panose="02040503050406030204" pitchFamily="18" charset="0"/>
              </a:rPr>
              <a:t>enviadas</a:t>
            </a:r>
            <a:r>
              <a:rPr lang="en-US" sz="2400" i="1" dirty="0">
                <a:effectLst/>
                <a:latin typeface="+mn-lt"/>
                <a:ea typeface="Cambria" panose="02040503050406030204" pitchFamily="18" charset="0"/>
              </a:rPr>
              <a:t> para </a:t>
            </a:r>
            <a:r>
              <a:rPr lang="en-US" sz="2400" i="1" dirty="0" err="1">
                <a:effectLst/>
                <a:latin typeface="+mn-lt"/>
                <a:ea typeface="Cambria" panose="02040503050406030204" pitchFamily="18" charset="0"/>
              </a:rPr>
              <a:t>lutar</a:t>
            </a:r>
            <a:r>
              <a:rPr lang="en-US" sz="2400" i="1" dirty="0">
                <a:effectLst/>
                <a:latin typeface="+mn-lt"/>
                <a:ea typeface="Cambria" panose="02040503050406030204" pitchFamily="18" charset="0"/>
              </a:rPr>
              <a:t> e </a:t>
            </a:r>
            <a:r>
              <a:rPr lang="en-US" sz="2400" i="1" dirty="0" err="1">
                <a:effectLst/>
                <a:latin typeface="+mn-lt"/>
                <a:ea typeface="Cambria" panose="02040503050406030204" pitchFamily="18" charset="0"/>
              </a:rPr>
              <a:t>operar</a:t>
            </a:r>
            <a:r>
              <a:rPr lang="en-US" sz="2400" i="1" dirty="0">
                <a:effectLst/>
                <a:latin typeface="+mn-lt"/>
                <a:ea typeface="Cambria" panose="02040503050406030204" pitchFamily="18" charset="0"/>
              </a:rPr>
              <a:t> fora das </a:t>
            </a:r>
            <a:r>
              <a:rPr lang="en-US" sz="2400" i="1" dirty="0" err="1">
                <a:effectLst/>
                <a:latin typeface="+mn-lt"/>
                <a:ea typeface="Cambria" panose="02040503050406030204" pitchFamily="18" charset="0"/>
              </a:rPr>
              <a:t>suas</a:t>
            </a:r>
            <a:r>
              <a:rPr lang="en-US" sz="2400" i="1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i="1" dirty="0" err="1">
                <a:effectLst/>
                <a:latin typeface="+mn-lt"/>
                <a:ea typeface="Cambria" panose="02040503050406030204" pitchFamily="18" charset="0"/>
              </a:rPr>
              <a:t>regiões</a:t>
            </a:r>
            <a:r>
              <a:rPr lang="en-US" sz="2400" i="1" dirty="0">
                <a:effectLst/>
                <a:latin typeface="+mn-lt"/>
                <a:ea typeface="Cambria" panose="02040503050406030204" pitchFamily="18" charset="0"/>
              </a:rPr>
              <a:t> (...).</a:t>
            </a:r>
            <a:endParaRPr lang="pt-BR" sz="2400" dirty="0">
              <a:effectLst/>
              <a:latin typeface="+mn-lt"/>
              <a:ea typeface="Cambria" panose="02040503050406030204" pitchFamily="18" charset="0"/>
            </a:endParaRPr>
          </a:p>
          <a:p>
            <a:pPr algn="just"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HOBSBAWM,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E.</a:t>
            </a:r>
            <a:r>
              <a:rPr lang="en-US" sz="2400" i="1" dirty="0" err="1">
                <a:effectLst/>
                <a:latin typeface="+mn-lt"/>
                <a:ea typeface="Cambria" panose="02040503050406030204" pitchFamily="18" charset="0"/>
              </a:rPr>
              <a:t>Era</a:t>
            </a:r>
            <a:r>
              <a:rPr lang="en-US" sz="2400" i="1" dirty="0">
                <a:effectLst/>
                <a:latin typeface="+mn-lt"/>
                <a:ea typeface="Cambria" panose="02040503050406030204" pitchFamily="18" charset="0"/>
              </a:rPr>
              <a:t> dos </a:t>
            </a:r>
            <a:r>
              <a:rPr lang="en-US" sz="2400" i="1" dirty="0" err="1">
                <a:effectLst/>
                <a:latin typeface="+mn-lt"/>
                <a:ea typeface="Cambria" panose="02040503050406030204" pitchFamily="18" charset="0"/>
              </a:rPr>
              <a:t>extremos</a:t>
            </a:r>
            <a:r>
              <a:rPr lang="en-US" sz="2400" i="1" dirty="0">
                <a:effectLst/>
                <a:latin typeface="+mn-lt"/>
                <a:ea typeface="Cambria" panose="02040503050406030204" pitchFamily="18" charset="0"/>
              </a:rPr>
              <a:t>. O breve </a:t>
            </a:r>
            <a:r>
              <a:rPr lang="en-US" sz="2400" i="1" dirty="0" err="1">
                <a:effectLst/>
                <a:latin typeface="+mn-lt"/>
                <a:ea typeface="Cambria" panose="02040503050406030204" pitchFamily="18" charset="0"/>
              </a:rPr>
              <a:t>século</a:t>
            </a:r>
            <a:r>
              <a:rPr lang="en-US" sz="2400" i="1" dirty="0">
                <a:effectLst/>
                <a:latin typeface="+mn-lt"/>
                <a:ea typeface="Cambria" panose="02040503050406030204" pitchFamily="18" charset="0"/>
              </a:rPr>
              <a:t> XX (1914-1991)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.Trad., São Paulo: Companhia das Letras, 1995, p. 31.</a:t>
            </a:r>
            <a:endParaRPr lang="pt-BR" sz="2400" dirty="0">
              <a:effectLst/>
              <a:latin typeface="+mn-lt"/>
              <a:ea typeface="Cambria" panose="02040503050406030204" pitchFamily="18" charset="0"/>
            </a:endParaRPr>
          </a:p>
          <a:p>
            <a:pPr algn="just"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a) Quais foram as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motivações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econômicas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do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conflito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citado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no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texto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?</a:t>
            </a:r>
            <a:endParaRPr lang="pt-BR" sz="2400" dirty="0">
              <a:effectLst/>
              <a:latin typeface="+mn-lt"/>
              <a:ea typeface="Cambria" panose="02040503050406030204" pitchFamily="18" charset="0"/>
            </a:endParaRPr>
          </a:p>
          <a:p>
            <a:pPr algn="just"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b) Como a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guerra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influenciou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e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dividiu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os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movimentos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e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partidos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socialistas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do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período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?</a:t>
            </a:r>
            <a:endParaRPr lang="pt-BR" sz="2400" dirty="0">
              <a:effectLst/>
              <a:latin typeface="+mn-lt"/>
              <a:ea typeface="Cambria" panose="02040503050406030204" pitchFamily="18" charset="0"/>
            </a:endParaRPr>
          </a:p>
          <a:p>
            <a:pPr algn="just"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c)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Apresente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duas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transformações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decorrentes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diretamente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do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conflito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.</a:t>
            </a:r>
            <a:endParaRPr lang="pt-BR" sz="2400" dirty="0">
              <a:effectLst/>
              <a:latin typeface="Arial" panose="020B0604020202020204" pitchFamily="34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230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076A8BC-8597-7E8F-96B2-F931A638A1C5}"/>
              </a:ext>
            </a:extLst>
          </p:cNvPr>
          <p:cNvSpPr txBox="1"/>
          <p:nvPr/>
        </p:nvSpPr>
        <p:spPr>
          <a:xfrm>
            <a:off x="262965" y="95624"/>
            <a:ext cx="10703859" cy="6104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3. (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Unicentro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)  O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período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que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antecede a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Primeira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Guerra Mundial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foi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marcado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por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contradições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fundamentais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do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sistema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capitalista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que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, ao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evoluírem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,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geraram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uma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grande crise no mundo liberal.</a:t>
            </a:r>
            <a:endParaRPr lang="pt-BR" sz="2400" dirty="0">
              <a:effectLst/>
              <a:latin typeface="+mn-lt"/>
              <a:ea typeface="Cambria" panose="02040503050406030204" pitchFamily="18" charset="0"/>
            </a:endParaRPr>
          </a:p>
          <a:p>
            <a:pPr algn="just"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Sobre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esse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período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, marque </a:t>
            </a:r>
            <a:r>
              <a:rPr lang="en-US" sz="2400" b="1" dirty="0">
                <a:effectLst/>
                <a:latin typeface="+mn-lt"/>
                <a:ea typeface="Cambria" panose="02040503050406030204" pitchFamily="18" charset="0"/>
              </a:rPr>
              <a:t>V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para o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que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for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verdadeiro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e </a:t>
            </a:r>
            <a:r>
              <a:rPr lang="en-US" sz="2400" b="1" dirty="0">
                <a:effectLst/>
                <a:latin typeface="+mn-lt"/>
                <a:ea typeface="Cambria" panose="02040503050406030204" pitchFamily="18" charset="0"/>
              </a:rPr>
              <a:t>F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, para as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demais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.</a:t>
            </a:r>
            <a:endParaRPr lang="pt-BR" sz="2400" dirty="0">
              <a:effectLst/>
              <a:latin typeface="+mn-lt"/>
              <a:ea typeface="Cambria" panose="02040503050406030204" pitchFamily="18" charset="0"/>
            </a:endParaRPr>
          </a:p>
          <a:p>
            <a:pPr algn="just"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( ) A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oposição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entre o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socialismo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e o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capitalismo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promovia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a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bipolarização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política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,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ideológica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e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militar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,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submetendo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as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relações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internacionais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aos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interesses americanos e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soviéticos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.</a:t>
            </a:r>
            <a:endParaRPr lang="pt-BR" sz="2400" dirty="0">
              <a:effectLst/>
              <a:latin typeface="+mn-lt"/>
              <a:ea typeface="Cambria" panose="02040503050406030204" pitchFamily="18" charset="0"/>
            </a:endParaRPr>
          </a:p>
          <a:p>
            <a:pPr algn="just"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( ) A Europa Oriental via-se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envolvida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em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lutas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nacionalistas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, e a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região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balcânica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era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disputada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por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nações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imperialistas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europeias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.</a:t>
            </a:r>
            <a:endParaRPr lang="pt-BR" sz="2400" dirty="0">
              <a:effectLst/>
              <a:latin typeface="+mn-lt"/>
              <a:ea typeface="Cambria" panose="02040503050406030204" pitchFamily="18" charset="0"/>
            </a:endParaRPr>
          </a:p>
          <a:p>
            <a:pPr algn="just"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( ) A Europa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exercia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uma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hegemonia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econômica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dominando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os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preços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no mercado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mundial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e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controlando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a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maior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parcela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da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produção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desse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mesmo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mercado.</a:t>
            </a:r>
            <a:endParaRPr lang="pt-BR" sz="2400" dirty="0">
              <a:effectLst/>
              <a:latin typeface="+mn-lt"/>
              <a:ea typeface="Cambria" panose="02040503050406030204" pitchFamily="18" charset="0"/>
            </a:endParaRPr>
          </a:p>
          <a:p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A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alternativa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que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contém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a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sequência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correta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, de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cima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para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baixo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, é a</a:t>
            </a:r>
          </a:p>
          <a:p>
            <a:r>
              <a:rPr lang="en-US" dirty="0"/>
              <a:t>a)   V F V </a:t>
            </a:r>
            <a:r>
              <a:rPr lang="pt-BR" dirty="0"/>
              <a:t> </a:t>
            </a:r>
            <a:r>
              <a:rPr lang="en-US" dirty="0"/>
              <a:t>b)   V </a:t>
            </a:r>
            <a:r>
              <a:rPr lang="en-US" dirty="0" err="1"/>
              <a:t>V</a:t>
            </a:r>
            <a:r>
              <a:rPr lang="en-US" dirty="0"/>
              <a:t> F </a:t>
            </a:r>
            <a:r>
              <a:rPr lang="pt-BR" dirty="0"/>
              <a:t> </a:t>
            </a:r>
            <a:r>
              <a:rPr lang="en-US" dirty="0"/>
              <a:t>c)   V F </a:t>
            </a:r>
            <a:r>
              <a:rPr lang="en-US" dirty="0" err="1"/>
              <a:t>F</a:t>
            </a:r>
            <a:r>
              <a:rPr lang="pt-BR" dirty="0"/>
              <a:t>  </a:t>
            </a:r>
            <a:r>
              <a:rPr lang="en-US" dirty="0"/>
              <a:t>d)   F V F</a:t>
            </a:r>
            <a:r>
              <a:rPr lang="pt-BR" dirty="0"/>
              <a:t>   </a:t>
            </a:r>
            <a:r>
              <a:rPr lang="en-US" dirty="0"/>
              <a:t>e)   F V </a:t>
            </a:r>
            <a:r>
              <a:rPr lang="en-US" dirty="0" err="1"/>
              <a:t>V</a:t>
            </a:r>
            <a:endParaRPr lang="pt-BR" dirty="0"/>
          </a:p>
          <a:p>
            <a:pPr algn="just">
              <a:spcBef>
                <a:spcPts val="600"/>
              </a:spcBef>
              <a:spcAft>
                <a:spcPts val="800"/>
              </a:spcAft>
              <a:buNone/>
            </a:pPr>
            <a:endParaRPr lang="pt-BR" sz="1000" dirty="0">
              <a:effectLst/>
              <a:latin typeface="Arial" panose="020B0604020202020204" pitchFamily="34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8703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F4D2979-04A8-14D0-6B85-462F82F79311}"/>
              </a:ext>
            </a:extLst>
          </p:cNvPr>
          <p:cNvSpPr txBox="1"/>
          <p:nvPr/>
        </p:nvSpPr>
        <p:spPr>
          <a:xfrm>
            <a:off x="914399" y="71718"/>
            <a:ext cx="9132048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4. (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Acafe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) 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Completam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-se cem anos do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término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da Grande Guerra (1914-1918). A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Primeira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Guerra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começa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europeia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e termina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como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um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conflito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mundial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. No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contexto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desta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guerra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, e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acerca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de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seus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antecedentes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,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todas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as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alternativas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estão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</a:rPr>
              <a:t>corretas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, </a:t>
            </a:r>
            <a:r>
              <a:rPr lang="en-US" sz="2400" b="1" dirty="0" err="1">
                <a:effectLst/>
                <a:latin typeface="+mn-lt"/>
                <a:ea typeface="Cambria" panose="02040503050406030204" pitchFamily="18" charset="0"/>
              </a:rPr>
              <a:t>exceto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</a:rPr>
              <a:t> a:    </a:t>
            </a:r>
            <a:endParaRPr lang="pt-BR" sz="2400" dirty="0">
              <a:effectLst/>
              <a:latin typeface="+mn-lt"/>
              <a:ea typeface="Cambria" panose="02040503050406030204" pitchFamily="18" charset="0"/>
            </a:endParaRPr>
          </a:p>
          <a:p>
            <a:pPr marL="147320" indent="-147320" algn="just">
              <a:spcAft>
                <a:spcPts val="1000"/>
              </a:spcAft>
              <a:buNone/>
            </a:pP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a)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Cambria" panose="02040503050406030204" pitchFamily="18" charset="0"/>
              </a:rPr>
              <a:t>   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As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rivalidades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imperialistas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originárias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desde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o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século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XIX entre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ingleses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e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alemães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também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contribuíram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para a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formação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de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alianças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militares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distintas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.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endParaRPr lang="pt-BR" sz="2400" dirty="0">
              <a:effectLst/>
              <a:latin typeface="+mn-lt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147320" indent="-147320" algn="just">
              <a:spcAft>
                <a:spcPts val="1000"/>
              </a:spcAft>
              <a:buNone/>
            </a:pP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b)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Cambria" panose="02040503050406030204" pitchFamily="18" charset="0"/>
              </a:rPr>
              <a:t>  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Os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russos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que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faziam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parte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da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Tríplice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Entente,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assinaram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um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armistício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com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os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alemães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e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retiraram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-se da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guerra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por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causa da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revolução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que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acontecia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em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seu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território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.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endParaRPr lang="pt-BR" sz="2400" dirty="0">
              <a:effectLst/>
              <a:latin typeface="+mn-lt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147320" indent="-147320" algn="just">
              <a:spcAft>
                <a:spcPts val="1000"/>
              </a:spcAft>
              <a:buNone/>
            </a:pP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c)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Cambria" panose="02040503050406030204" pitchFamily="18" charset="0"/>
              </a:rPr>
              <a:t>   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A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Questão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da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Bósnia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-Herzegovina,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que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tinha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os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sérvios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e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austríacos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como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aliados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desencadeou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a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Questão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Balcânica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quando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os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alemães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invadiram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Sarajevo.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endParaRPr lang="pt-BR" sz="2400" dirty="0">
              <a:effectLst/>
              <a:latin typeface="+mn-lt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147320" indent="-147320" algn="just">
              <a:spcAft>
                <a:spcPts val="1000"/>
              </a:spcAft>
              <a:buNone/>
            </a:pP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d)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Cambria" panose="02040503050406030204" pitchFamily="18" charset="0"/>
              </a:rPr>
              <a:t>  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Os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Estados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Unidos da América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entraram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militarmente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na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guerra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em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1917, ao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lado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da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Tríplice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Entente. Esta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participação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estadunidense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foi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determinante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para o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término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da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guerra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em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1918.</a:t>
            </a:r>
            <a:r>
              <a:rPr lang="en-US" sz="2400" dirty="0">
                <a:effectLst/>
                <a:latin typeface="+mn-lt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endParaRPr lang="pt-BR" sz="2400" dirty="0">
              <a:effectLst/>
              <a:latin typeface="Arial" panose="020B0604020202020204" pitchFamily="34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312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2DDFA0D-A31E-C1CC-13FD-D22C3C35BD4D}"/>
              </a:ext>
            </a:extLst>
          </p:cNvPr>
          <p:cNvSpPr txBox="1"/>
          <p:nvPr/>
        </p:nvSpPr>
        <p:spPr>
          <a:xfrm>
            <a:off x="806823" y="143435"/>
            <a:ext cx="9120095" cy="6273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5. (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Acafe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)  O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início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da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Primeira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Guerra (1914/1918)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completou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seu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centenário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em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2014.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Conflito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de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grandes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proporções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ela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foi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o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resultado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de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disputas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econômicas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imperialistas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e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nacionalistas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numa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Europa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industrializada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.</a:t>
            </a:r>
            <a:endParaRPr lang="pt-BR" sz="2000" dirty="0">
              <a:effectLst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Sobre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a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Primeira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Guerra e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seu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contexto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sz="2000" b="1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todas</a:t>
            </a:r>
            <a:r>
              <a:rPr lang="en-US" sz="2000" b="1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as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alternativas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estão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corretas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sz="2000" b="1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exceto</a:t>
            </a:r>
            <a:r>
              <a:rPr lang="en-US" sz="2000" b="1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a:</a:t>
            </a:r>
            <a:endParaRPr lang="pt-BR" sz="2000" dirty="0">
              <a:effectLst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147320" indent="-147320" algn="just">
              <a:spcAft>
                <a:spcPts val="1000"/>
              </a:spcAft>
              <a:buNone/>
            </a:pP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a)   A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questão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balcânica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evidencia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as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disputas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entre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Alemanha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e Hungria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pelo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controle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do mar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Adriático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e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coloca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em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choque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os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movimentos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nacionalistas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: pan-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eslavismo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liderado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pela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Sérvia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e o pan-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germanismo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liderado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pelos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alemães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.</a:t>
            </a:r>
            <a:endParaRPr lang="pt-BR" sz="2000" dirty="0">
              <a:effectLst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147320" indent="-147320" algn="just">
              <a:spcAft>
                <a:spcPts val="1000"/>
              </a:spcAft>
              <a:buNone/>
            </a:pP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b)   Apesar de ter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começado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a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guerra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como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aliada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da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Tríplice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Aliança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a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Itália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passou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para o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lado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da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Tríplice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Entente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por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ter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recebido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uma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proposta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de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compensações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territoriais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.</a:t>
            </a:r>
            <a:endParaRPr lang="pt-BR" sz="2000" dirty="0">
              <a:effectLst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147320" indent="-147320" algn="just">
              <a:spcAft>
                <a:spcPts val="1000"/>
              </a:spcAft>
              <a:buNone/>
            </a:pP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c)   A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Rússia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não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permaneceu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na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guerra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até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o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seu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término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. Por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conta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da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Revolução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socialista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foi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assinado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um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tratado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com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os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alemães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e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os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russos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se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retiraram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da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guerra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.</a:t>
            </a:r>
            <a:endParaRPr lang="pt-BR" sz="2000" dirty="0">
              <a:effectLst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147320" indent="-147320" algn="just">
              <a:spcAft>
                <a:spcPts val="1000"/>
              </a:spcAft>
              <a:buNone/>
            </a:pP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d)   Quando a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guerra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iniciou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multidões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saíram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às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ruas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nos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países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envolvidos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para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comemorar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o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conflito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: a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lealdade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e o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patriotismo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eram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palavras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de </a:t>
            </a:r>
            <a:r>
              <a:rPr lang="en-US" sz="20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ordem</a:t>
            </a:r>
            <a:r>
              <a:rPr lang="en-US" sz="20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.</a:t>
            </a:r>
            <a:endParaRPr lang="pt-BR" sz="2000" dirty="0">
              <a:effectLst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794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5747D78-138E-1AA5-46DB-0AE0D45145FA}"/>
              </a:ext>
            </a:extLst>
          </p:cNvPr>
          <p:cNvSpPr txBox="1"/>
          <p:nvPr/>
        </p:nvSpPr>
        <p:spPr>
          <a:xfrm>
            <a:off x="633506" y="358588"/>
            <a:ext cx="9681882" cy="5852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6. (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Unesp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)  As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raízes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da 1</a:t>
            </a:r>
            <a:r>
              <a:rPr lang="en-US" sz="2400" u="sng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Guerra Mundial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encontram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-se,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em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grande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parte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na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história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do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século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XIX. Pode-se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citar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como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alguns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dos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fatores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que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deram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origem ao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conflito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desencadeado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em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1914</a:t>
            </a:r>
            <a:endParaRPr lang="pt-BR" sz="2400" dirty="0">
              <a:effectLst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147320" indent="-147320" algn="just">
              <a:spcAft>
                <a:spcPts val="1000"/>
              </a:spcAft>
              <a:buNone/>
            </a:pP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a)   a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concentração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da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industrialização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na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Inglaterra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e o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escasso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crescimento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econômico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das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nações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do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continente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europeu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.</a:t>
            </a:r>
            <a:endParaRPr lang="pt-BR" sz="2400" dirty="0">
              <a:effectLst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147320" indent="-147320" algn="just">
              <a:spcAft>
                <a:spcPts val="1000"/>
              </a:spcAft>
              <a:buNone/>
            </a:pP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b)   a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emergência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de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ideologias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socialistas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e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revoluções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operárias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que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desajustaram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as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relações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entre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os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países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capitalistas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.</a:t>
            </a:r>
            <a:endParaRPr lang="pt-BR" sz="2400" dirty="0">
              <a:effectLst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147320" indent="-147320" algn="just">
              <a:spcAft>
                <a:spcPts val="1000"/>
              </a:spcAft>
              <a:buNone/>
            </a:pP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c)   a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derrota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militar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da França pela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Prússia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no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processo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de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unificação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alemã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e a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incorporação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da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Alsácia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e da Lorena à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Alemanha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.</a:t>
            </a:r>
            <a:endParaRPr lang="pt-BR" sz="2400" dirty="0">
              <a:effectLst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147320" indent="-147320" algn="just">
              <a:spcAft>
                <a:spcPts val="1000"/>
              </a:spcAft>
              <a:buNone/>
            </a:pP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d)   o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confronto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secular entre a França e a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Inglaterra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e a crise da economia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inglesa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provocada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pelo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bloqueio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continental.</a:t>
            </a:r>
            <a:endParaRPr lang="pt-BR" sz="2400" dirty="0">
              <a:effectLst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147320" indent="-147320" algn="just">
              <a:spcAft>
                <a:spcPts val="1000"/>
              </a:spcAft>
              <a:buNone/>
            </a:pP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e)   a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política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do "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equilíbrio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europeu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",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praticada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pelo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Congresso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de Viena, e o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fortalecimento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militar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da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Rússia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na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Península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Balcânica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.</a:t>
            </a:r>
            <a:endParaRPr lang="pt-BR" sz="2400" dirty="0">
              <a:effectLst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304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F0608C5-E2BF-A73B-AE8B-63A5E826A7F3}"/>
              </a:ext>
            </a:extLst>
          </p:cNvPr>
          <p:cNvSpPr txBox="1"/>
          <p:nvPr/>
        </p:nvSpPr>
        <p:spPr>
          <a:xfrm>
            <a:off x="824752" y="615578"/>
            <a:ext cx="9771529" cy="5114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7. (Mackenzie) 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Os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fatores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responsáveis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pela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eclosão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da I Guerra Mundial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podem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ser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resumidos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por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:</a:t>
            </a:r>
            <a:endParaRPr lang="pt-BR" sz="2400" dirty="0">
              <a:effectLst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147320" indent="-147320" algn="just">
              <a:spcAft>
                <a:spcPts val="1000"/>
              </a:spcAft>
              <a:buNone/>
            </a:pP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a)  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revisionismo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alemão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corrida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armamentista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Pan-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eslavismo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e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Revolução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Russa.</a:t>
            </a:r>
            <a:endParaRPr lang="pt-BR" sz="2400" dirty="0">
              <a:effectLst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147320" indent="-147320" algn="just">
              <a:spcAft>
                <a:spcPts val="1000"/>
              </a:spcAft>
              <a:buNone/>
            </a:pP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b)  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choques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imperialistas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entre a França e a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Inglaterra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Pacto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Anti-Komintern e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desmembramento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do Império Austro-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Húngaro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.</a:t>
            </a:r>
            <a:endParaRPr lang="pt-BR" sz="2400" dirty="0">
              <a:effectLst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147320" indent="-147320" algn="just">
              <a:spcAft>
                <a:spcPts val="1000"/>
              </a:spcAft>
              <a:buNone/>
            </a:pP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c)  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reorganização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das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fronteiras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das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nações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balcânicas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surgimento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do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nazismo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desagregação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do Império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Otomano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.</a:t>
            </a:r>
            <a:endParaRPr lang="pt-BR" sz="2400" dirty="0">
              <a:effectLst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147320" indent="-147320" algn="just">
              <a:spcAft>
                <a:spcPts val="1000"/>
              </a:spcAft>
              <a:buNone/>
            </a:pP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d)  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fracasso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da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política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de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apaziguamento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inglesa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anexação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da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Tchecoslováquia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rearmamento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alemão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e crise do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Marrocos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.</a:t>
            </a:r>
            <a:endParaRPr lang="pt-BR" sz="2400" dirty="0">
              <a:effectLst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147320" indent="-147320" algn="just">
              <a:spcAft>
                <a:spcPts val="1000"/>
              </a:spcAft>
              <a:buNone/>
            </a:pP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e)  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Imperialismo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rompimento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do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equilíbrio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europeu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Nacionalismo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e Política de </a:t>
            </a:r>
            <a:r>
              <a:rPr lang="en-US" sz="2400" dirty="0" err="1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Alianças</a:t>
            </a:r>
            <a:r>
              <a:rPr lang="en-US" sz="2400" dirty="0">
                <a:effectLst/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.</a:t>
            </a:r>
            <a:endParaRPr lang="pt-BR" sz="2400" dirty="0">
              <a:effectLst/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327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042DC7D-EF3C-70AA-8EC9-E080C20FDF4C}"/>
              </a:ext>
            </a:extLst>
          </p:cNvPr>
          <p:cNvSpPr txBox="1"/>
          <p:nvPr/>
        </p:nvSpPr>
        <p:spPr>
          <a:xfrm>
            <a:off x="334683" y="519953"/>
            <a:ext cx="7775388" cy="5581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8. (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Cesgranrio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) 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Considerando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-se as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relações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internacionais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presentes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na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conjuntura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pré-1</a:t>
            </a:r>
            <a:r>
              <a:rPr lang="en-US" sz="2000" u="sng" dirty="0">
                <a:effectLst/>
                <a:latin typeface="+mn-lt"/>
                <a:ea typeface="Cambria" panose="02040503050406030204" pitchFamily="18" charset="0"/>
              </a:rPr>
              <a:t>a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Grande Guerra,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podemos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afirmar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que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:</a:t>
            </a:r>
            <a:endParaRPr lang="pt-BR" sz="2000" dirty="0">
              <a:effectLst/>
              <a:latin typeface="+mn-lt"/>
              <a:ea typeface="Cambria" panose="02040503050406030204" pitchFamily="18" charset="0"/>
            </a:endParaRPr>
          </a:p>
          <a:p>
            <a:pPr algn="just"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I - As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rivalidades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anglo-germânicas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foram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agravadas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pela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construção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da Estrada de Ferro Berlim-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Bagdá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.</a:t>
            </a:r>
            <a:endParaRPr lang="pt-BR" sz="2000" dirty="0">
              <a:effectLst/>
              <a:latin typeface="+mn-lt"/>
              <a:ea typeface="Cambria" panose="02040503050406030204" pitchFamily="18" charset="0"/>
            </a:endParaRPr>
          </a:p>
          <a:p>
            <a:pPr algn="just"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II - As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pretensões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da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Rússia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de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dominar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os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Estreitos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de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Bósforo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e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Dardanelos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aumentaram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os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seus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conflitos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com o Império Turco.</a:t>
            </a:r>
            <a:endParaRPr lang="pt-BR" sz="2000" dirty="0">
              <a:effectLst/>
              <a:latin typeface="+mn-lt"/>
              <a:ea typeface="Cambria" panose="02040503050406030204" pitchFamily="18" charset="0"/>
            </a:endParaRPr>
          </a:p>
          <a:p>
            <a:pPr algn="just"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III - As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desavenças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entre a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Sérvia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e o Império Austro-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Húngaro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estavam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diretamente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ligadas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à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disputa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pela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anexação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da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Bósnia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-Herzegovina pela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Inglaterra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.</a:t>
            </a:r>
            <a:endParaRPr lang="pt-BR" sz="2000" dirty="0">
              <a:effectLst/>
              <a:latin typeface="+mn-lt"/>
              <a:ea typeface="Cambria" panose="02040503050406030204" pitchFamily="18" charset="0"/>
            </a:endParaRPr>
          </a:p>
          <a:p>
            <a:pPr algn="just"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IV - A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morte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do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futuro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Imperador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Austro-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Húngaro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, Francisco Ferdinando,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em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Sarajevo,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na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Bósnia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,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precipitou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o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início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da Guerra.</a:t>
            </a:r>
            <a:endParaRPr lang="pt-BR" sz="2000" dirty="0">
              <a:effectLst/>
              <a:latin typeface="+mn-lt"/>
              <a:ea typeface="Cambria" panose="02040503050406030204" pitchFamily="18" charset="0"/>
            </a:endParaRPr>
          </a:p>
          <a:p>
            <a:pPr algn="just"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V - A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união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da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Inglaterra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, França e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Japão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para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formar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a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Tríplice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Entente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foi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uma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maneira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de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neutralizar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a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Tríplice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Aliança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,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que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unia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Alemanha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,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Rússia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 e </a:t>
            </a:r>
            <a:r>
              <a:rPr lang="en-US" sz="2000" dirty="0" err="1">
                <a:effectLst/>
                <a:latin typeface="+mn-lt"/>
                <a:ea typeface="Cambria" panose="02040503050406030204" pitchFamily="18" charset="0"/>
              </a:rPr>
              <a:t>Itália</a:t>
            </a:r>
            <a:r>
              <a:rPr lang="en-US" sz="2000" dirty="0">
                <a:effectLst/>
                <a:latin typeface="+mn-lt"/>
                <a:ea typeface="Cambria" panose="02040503050406030204" pitchFamily="18" charset="0"/>
              </a:rPr>
              <a:t>.</a:t>
            </a:r>
            <a:endParaRPr lang="pt-BR" sz="2000" dirty="0">
              <a:effectLst/>
              <a:latin typeface="Arial" panose="020B0604020202020204" pitchFamily="34" charset="0"/>
              <a:ea typeface="Cambria" panose="02040503050406030204" pitchFamily="18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C8E91DB-CA40-0F0F-2E8E-FEBB2C06F63E}"/>
              </a:ext>
            </a:extLst>
          </p:cNvPr>
          <p:cNvSpPr txBox="1"/>
          <p:nvPr/>
        </p:nvSpPr>
        <p:spPr>
          <a:xfrm>
            <a:off x="8437132" y="2390525"/>
            <a:ext cx="3180044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Estão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corretas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 as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</a:rPr>
              <a:t>afirmativas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</a:rPr>
              <a:t>:</a:t>
            </a:r>
            <a:endParaRPr lang="pt-BR" sz="1800" dirty="0">
              <a:effectLst/>
              <a:latin typeface="+mn-lt"/>
              <a:ea typeface="Cambria" panose="02040503050406030204" pitchFamily="18" charset="0"/>
            </a:endParaRPr>
          </a:p>
          <a:p>
            <a:pPr marL="147320" indent="-147320" algn="just">
              <a:spcAft>
                <a:spcPts val="1000"/>
              </a:spcAft>
              <a:buNone/>
            </a:pPr>
            <a:r>
              <a:rPr lang="en-US" dirty="0">
                <a:ea typeface="Cambria" panose="02040503050406030204" pitchFamily="18" charset="0"/>
                <a:cs typeface="Arial" panose="020B0604020202020204" pitchFamily="34" charset="0"/>
              </a:rPr>
              <a:t>A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)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  <a:cs typeface="Cambria" panose="02040503050406030204" pitchFamily="18" charset="0"/>
              </a:rPr>
              <a:t>  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somente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I, II e III.</a:t>
            </a:r>
            <a:endParaRPr lang="pt-BR" sz="1800" dirty="0">
              <a:effectLst/>
              <a:latin typeface="+mn-lt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147320" indent="-147320" algn="just">
              <a:spcAft>
                <a:spcPts val="1000"/>
              </a:spcAft>
              <a:buNone/>
            </a:pPr>
            <a:r>
              <a:rPr lang="en-US" dirty="0">
                <a:ea typeface="Cambria" panose="02040503050406030204" pitchFamily="18" charset="0"/>
                <a:cs typeface="Arial" panose="020B0604020202020204" pitchFamily="34" charset="0"/>
              </a:rPr>
              <a:t>B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)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  <a:cs typeface="Cambria" panose="02040503050406030204" pitchFamily="18" charset="0"/>
              </a:rPr>
              <a:t>  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somente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I, II e IV.</a:t>
            </a:r>
            <a:endParaRPr lang="pt-BR" sz="1800" dirty="0">
              <a:effectLst/>
              <a:latin typeface="+mn-lt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147320" indent="-147320" algn="just">
              <a:spcAft>
                <a:spcPts val="1000"/>
              </a:spcAft>
              <a:buNone/>
            </a:pPr>
            <a:r>
              <a:rPr lang="en-US" dirty="0">
                <a:ea typeface="Cambria" panose="02040503050406030204" pitchFamily="18" charset="0"/>
                <a:cs typeface="Arial" panose="020B0604020202020204" pitchFamily="34" charset="0"/>
              </a:rPr>
              <a:t>C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)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  <a:cs typeface="Cambria" panose="02040503050406030204" pitchFamily="18" charset="0"/>
              </a:rPr>
              <a:t>  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somente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I, III e V.</a:t>
            </a:r>
            <a:endParaRPr lang="pt-BR" sz="1800" dirty="0">
              <a:effectLst/>
              <a:latin typeface="+mn-lt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147320" indent="-147320" algn="just">
              <a:spcAft>
                <a:spcPts val="1000"/>
              </a:spcAft>
              <a:buNone/>
            </a:pPr>
            <a:r>
              <a:rPr lang="en-US" dirty="0">
                <a:ea typeface="Cambria" panose="02040503050406030204" pitchFamily="18" charset="0"/>
                <a:cs typeface="Arial" panose="020B0604020202020204" pitchFamily="34" charset="0"/>
              </a:rPr>
              <a:t>D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)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  <a:cs typeface="Cambria" panose="02040503050406030204" pitchFamily="18" charset="0"/>
              </a:rPr>
              <a:t>  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somente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II, III e IV.</a:t>
            </a:r>
            <a:endParaRPr lang="pt-BR" sz="1800" dirty="0">
              <a:effectLst/>
              <a:latin typeface="+mn-lt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147320" indent="-147320" algn="just">
              <a:spcAft>
                <a:spcPts val="1000"/>
              </a:spcAft>
              <a:buNone/>
            </a:pPr>
            <a:r>
              <a:rPr lang="en-US" dirty="0">
                <a:ea typeface="Cambria" panose="02040503050406030204" pitchFamily="18" charset="0"/>
                <a:cs typeface="Arial" panose="020B0604020202020204" pitchFamily="34" charset="0"/>
              </a:rPr>
              <a:t>E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)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  <a:cs typeface="Cambria" panose="02040503050406030204" pitchFamily="18" charset="0"/>
              </a:rPr>
              <a:t>   </a:t>
            </a:r>
            <a:r>
              <a:rPr lang="en-US" sz="1800" dirty="0" err="1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somente</a:t>
            </a:r>
            <a:r>
              <a:rPr lang="en-US" sz="1800" dirty="0">
                <a:effectLst/>
                <a:latin typeface="+mn-lt"/>
                <a:ea typeface="Cambria" panose="02040503050406030204" pitchFamily="18" charset="0"/>
                <a:cs typeface="Arial" panose="020B0604020202020204" pitchFamily="34" charset="0"/>
              </a:rPr>
              <a:t> III, IV e V.</a:t>
            </a:r>
            <a:endParaRPr lang="pt-BR" sz="1000" dirty="0">
              <a:effectLst/>
              <a:latin typeface="Arial" panose="020B0604020202020204" pitchFamily="34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207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AC03415-2F71-FC72-136B-606C96D7ABA2}"/>
              </a:ext>
            </a:extLst>
          </p:cNvPr>
          <p:cNvSpPr txBox="1"/>
          <p:nvPr/>
        </p:nvSpPr>
        <p:spPr>
          <a:xfrm>
            <a:off x="529987" y="2500767"/>
            <a:ext cx="1029951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pt-BR" sz="1800" b="1" i="0" dirty="0">
                <a:effectLst/>
                <a:latin typeface="+mn-lt"/>
              </a:rPr>
              <a:t>Q2</a:t>
            </a:r>
          </a:p>
          <a:p>
            <a:pPr fontAlgn="t">
              <a:lnSpc>
                <a:spcPct val="100000"/>
              </a:lnSpc>
              <a:buNone/>
            </a:pPr>
            <a:r>
              <a:rPr lang="pt-BR" sz="1800" b="1" i="0" dirty="0">
                <a:effectLst/>
                <a:latin typeface="+mn-lt"/>
              </a:rPr>
              <a:t>a)</a:t>
            </a:r>
            <a:r>
              <a:rPr lang="pt-BR" sz="1800" b="0" i="0" dirty="0">
                <a:effectLst/>
                <a:latin typeface="+mn-lt"/>
              </a:rPr>
              <a:t> As motivações econômicas incluíram a disputa por mercados consumidores, matérias-primas e áreas coloniais entre as potências industrializadas.</a:t>
            </a:r>
          </a:p>
          <a:p>
            <a:pPr fontAlgn="t">
              <a:lnSpc>
                <a:spcPct val="100000"/>
              </a:lnSpc>
              <a:buNone/>
            </a:pPr>
            <a:r>
              <a:rPr lang="pt-BR" sz="1800" b="1" i="0" dirty="0">
                <a:effectLst/>
                <a:latin typeface="+mn-lt"/>
              </a:rPr>
              <a:t>b)</a:t>
            </a:r>
            <a:r>
              <a:rPr lang="pt-BR" sz="1800" b="0" i="0" dirty="0">
                <a:effectLst/>
                <a:latin typeface="+mn-lt"/>
              </a:rPr>
              <a:t> Os movimentos socialistas dividiram-se entre os que apoiavam seus países na guerra por patriotismo e os que defendiam o internacionalismo operário e se opunham ao conflito.</a:t>
            </a:r>
          </a:p>
          <a:p>
            <a:pPr fontAlgn="t">
              <a:lnSpc>
                <a:spcPct val="100000"/>
              </a:lnSpc>
              <a:buNone/>
            </a:pPr>
            <a:r>
              <a:rPr lang="pt-BR" sz="1800" b="1" i="0" dirty="0">
                <a:effectLst/>
                <a:latin typeface="+mn-lt"/>
              </a:rPr>
              <a:t>c)</a:t>
            </a:r>
            <a:r>
              <a:rPr lang="pt-BR" sz="1800" b="0" i="0" dirty="0">
                <a:effectLst/>
                <a:latin typeface="+mn-lt"/>
              </a:rPr>
              <a:t> Duas transformações decorrentes da guerra: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800" b="0" i="0" dirty="0">
                <a:effectLst/>
                <a:latin typeface="+mn-lt"/>
              </a:rPr>
              <a:t>Queda de impérios como o Alemão, Austro-Húngaro, Otomano e Russo.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800" b="0" i="0" dirty="0">
                <a:effectLst/>
                <a:latin typeface="+mn-lt"/>
              </a:rPr>
              <a:t>Surgimento de novos Estados e fortalecimento dos Estados Unidos como potência mundial.</a:t>
            </a:r>
            <a:endParaRPr lang="pt-BR" sz="1800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22C978C-BDF4-F437-FBEE-BCC2B96BD0DA}"/>
              </a:ext>
            </a:extLst>
          </p:cNvPr>
          <p:cNvSpPr txBox="1"/>
          <p:nvPr/>
        </p:nvSpPr>
        <p:spPr>
          <a:xfrm>
            <a:off x="529987" y="120953"/>
            <a:ext cx="1010844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pt-BR" sz="1800" b="1" i="0" dirty="0">
                <a:effectLst/>
                <a:latin typeface="+mn-lt"/>
              </a:rPr>
              <a:t>GABARITO</a:t>
            </a:r>
          </a:p>
          <a:p>
            <a:pPr fontAlgn="t">
              <a:lnSpc>
                <a:spcPct val="100000"/>
              </a:lnSpc>
              <a:buNone/>
            </a:pPr>
            <a:r>
              <a:rPr lang="pt-BR" sz="1800" b="1" i="0" dirty="0">
                <a:effectLst/>
                <a:latin typeface="+mn-lt"/>
              </a:rPr>
              <a:t>Q1.</a:t>
            </a:r>
          </a:p>
          <a:p>
            <a:pPr fontAlgn="t">
              <a:lnSpc>
                <a:spcPct val="100000"/>
              </a:lnSpc>
              <a:buNone/>
            </a:pPr>
            <a:r>
              <a:rPr lang="pt-BR" sz="1800" b="1" i="0" dirty="0">
                <a:effectLst/>
                <a:latin typeface="+mn-lt"/>
              </a:rPr>
              <a:t>a)</a:t>
            </a:r>
            <a:r>
              <a:rPr lang="pt-BR" sz="1800" b="0" i="0" dirty="0">
                <a:effectLst/>
                <a:latin typeface="+mn-lt"/>
              </a:rPr>
              <a:t> A Primeira Guerra Mundial marcou uma nova forma de ver o mundo porque revelou o enorme potencial destrutivo da tecnologia moderna, abalando a confiança no progresso, na razão e na civilização europeia.</a:t>
            </a:r>
          </a:p>
          <a:p>
            <a:pPr fontAlgn="t">
              <a:lnSpc>
                <a:spcPct val="100000"/>
              </a:lnSpc>
              <a:buNone/>
            </a:pPr>
            <a:r>
              <a:rPr lang="pt-BR" sz="1800" b="1" i="0" dirty="0">
                <a:effectLst/>
                <a:latin typeface="+mn-lt"/>
              </a:rPr>
              <a:t>b)</a:t>
            </a:r>
            <a:r>
              <a:rPr lang="pt-BR" sz="1800" b="0" i="0" dirty="0">
                <a:effectLst/>
                <a:latin typeface="+mn-lt"/>
              </a:rPr>
              <a:t> O temor de uma nova guerra passou a fazer parte do cotidiano devido à destruição sem precedentes, ao desenvolvimento de armamentos cada vez mais poderosos e às tensões internacionais que permaneceram após o conflito.</a:t>
            </a:r>
            <a:endParaRPr lang="pt-BR" sz="1800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AC4D2F0-9F9F-3996-49BE-042D42BD71B3}"/>
              </a:ext>
            </a:extLst>
          </p:cNvPr>
          <p:cNvSpPr txBox="1"/>
          <p:nvPr/>
        </p:nvSpPr>
        <p:spPr>
          <a:xfrm>
            <a:off x="529987" y="4982721"/>
            <a:ext cx="97410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pt-BR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  <a:r>
              <a:rPr lang="pt-BR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E) F V </a:t>
            </a:r>
            <a:r>
              <a:rPr lang="pt-BR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endParaRPr lang="pt-BR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t">
              <a:lnSpc>
                <a:spcPct val="100000"/>
              </a:lnSpc>
              <a:buNone/>
            </a:pPr>
            <a:r>
              <a:rPr lang="pt-BR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4.</a:t>
            </a:r>
            <a:r>
              <a:rPr lang="pt-BR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</a:t>
            </a:r>
          </a:p>
          <a:p>
            <a:pPr fontAlgn="t">
              <a:lnSpc>
                <a:spcPct val="100000"/>
              </a:lnSpc>
              <a:buNone/>
            </a:pPr>
            <a:r>
              <a:rPr lang="pt-BR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5.</a:t>
            </a:r>
            <a:r>
              <a:rPr lang="pt-BR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</a:t>
            </a:r>
          </a:p>
          <a:p>
            <a:pPr fontAlgn="t">
              <a:lnSpc>
                <a:spcPct val="100000"/>
              </a:lnSpc>
              <a:buNone/>
            </a:pPr>
            <a:r>
              <a:rPr lang="pt-BR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6.</a:t>
            </a:r>
            <a:r>
              <a:rPr lang="pt-BR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</a:t>
            </a:r>
          </a:p>
          <a:p>
            <a:pPr fontAlgn="t">
              <a:lnSpc>
                <a:spcPct val="100000"/>
              </a:lnSpc>
              <a:buNone/>
            </a:pPr>
            <a:r>
              <a:rPr lang="pt-BR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7.</a:t>
            </a:r>
            <a:r>
              <a:rPr lang="pt-BR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</a:t>
            </a:r>
          </a:p>
          <a:p>
            <a:pPr fontAlgn="t">
              <a:lnSpc>
                <a:spcPct val="100000"/>
              </a:lnSpc>
              <a:buNone/>
            </a:pPr>
            <a:r>
              <a:rPr lang="pt-BR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8.</a:t>
            </a:r>
            <a:r>
              <a:rPr lang="pt-BR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 (I, II e IV)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440411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1578</Words>
  <Application>Microsoft Office PowerPoint</Application>
  <PresentationFormat>Widescreen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Cambria</vt:lpstr>
      <vt:lpstr>Segoe UI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Celso Aparecido Siracusa</dc:creator>
  <cp:lastModifiedBy>Celso Aparecido Siracusa</cp:lastModifiedBy>
  <cp:revision>3</cp:revision>
  <dcterms:created xsi:type="dcterms:W3CDTF">2026-10-07T23:20:07Z</dcterms:created>
  <dcterms:modified xsi:type="dcterms:W3CDTF">2026-10-23T23:26:22Z</dcterms:modified>
</cp:coreProperties>
</file>