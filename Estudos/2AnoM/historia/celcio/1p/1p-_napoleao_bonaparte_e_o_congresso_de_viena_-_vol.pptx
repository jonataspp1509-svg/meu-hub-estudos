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4" r:id="rId2"/>
    <p:sldId id="256" r:id="rId3"/>
    <p:sldId id="303" r:id="rId4"/>
    <p:sldId id="288" r:id="rId5"/>
    <p:sldId id="294" r:id="rId6"/>
    <p:sldId id="290" r:id="rId7"/>
    <p:sldId id="301" r:id="rId8"/>
    <p:sldId id="289" r:id="rId9"/>
    <p:sldId id="302" r:id="rId10"/>
    <p:sldId id="300" r:id="rId11"/>
    <p:sldId id="295" r:id="rId12"/>
    <p:sldId id="297" r:id="rId13"/>
    <p:sldId id="299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55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1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4A6D2-8674-4107-BD68-B2445482B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17C794-787A-4FF8-9951-D6DABC934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431363-85FF-4149-B71D-3B6A1979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DD50-3A5F-4797-B40E-727F526D6D2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80A286-4C12-431C-BDE4-70BEA2688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E980FD-5730-439C-8537-A350F652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365B-B43A-4475-AF50-E8356488D8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03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4E50F-F85C-4972-A38F-C6090F92D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2E6D3C-A115-4EBF-A931-79422B0A4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391FE9-97A0-43F2-8BE6-39F13666C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DD50-3A5F-4797-B40E-727F526D6D2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A0F97C-4312-45F3-94F9-4773ECD5E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63B8CD-7376-4C42-8787-29F720B1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365B-B43A-4475-AF50-E8356488D8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2391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E5668-7117-4204-BE09-253F8A4B4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DBFA5F-A436-4373-A29E-4912122DF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AE9420-6A28-431A-BC99-34195B513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DD50-3A5F-4797-B40E-727F526D6D2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D6EE1E-7D86-41FD-8E7D-1A50CEA1A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4060EE-A764-45A2-951D-41C7FAC9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365B-B43A-4475-AF50-E8356488D8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3988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9EA2E-EF41-4836-B29F-4C925918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6D53BE-E818-4CD4-B493-9C50D88CFC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A46A59-D5CC-4292-91E4-21C54CDD2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72332E-91E8-40BC-8C6C-D7BCE506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DD50-3A5F-4797-B40E-727F526D6D2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5FF3DB-2F71-4C1C-9C16-0F4106C7A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B2833C-3A29-4C59-BD29-B21AA979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365B-B43A-4475-AF50-E8356488D8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184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87A4B-4D73-4522-8E74-2043B50E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F8FB62-DE10-4355-89FC-CE0400BAA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E3A7FF-C409-4E37-93F2-4A62E0EFC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1C673E-1DD0-454F-9A3B-034C631C0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697714-7B30-4A58-A2C4-1D01CCA73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82289AA-83C6-466D-B2A3-851C1FD56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DD50-3A5F-4797-B40E-727F526D6D2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FD744A5-6720-49D0-BF7E-F5D417042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3FCB6CD-BFCE-4590-AE5B-01E918051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365B-B43A-4475-AF50-E8356488D8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29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2511D-99E9-4628-A139-B42FA7B2F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644949-B329-4473-876B-B1B94841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DD50-3A5F-4797-B40E-727F526D6D2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687E81-31AE-4547-A9A1-CC78B54F3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4DD894B-1477-4C3D-8A20-48E5B2B1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365B-B43A-4475-AF50-E8356488D8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765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82D750C-38DE-4155-A4CB-DB2B7D339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DD50-3A5F-4797-B40E-727F526D6D2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92BF2A-A546-4506-A711-52862DFC5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51C736-F568-4216-B752-632EBC2F5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365B-B43A-4475-AF50-E8356488D8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5377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CE2A4-FF91-4676-843A-057E7B95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38E5B0-C5F9-41E5-85CF-3D0E098E8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D5C2D1-8995-4E72-8C1C-8F35ECEAB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F28676-2805-4D23-91C1-A7B4EA33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DD50-3A5F-4797-B40E-727F526D6D2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DDD5CF-E47E-4B05-9803-EB40ADAC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FEE813-7492-47E3-8B14-CF266F1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365B-B43A-4475-AF50-E8356488D8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6197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465522-CFA5-4CEC-8368-CDB76DACD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07048C5-2509-4DC6-873B-50302B2CF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445C41-9FA1-4CD2-B24F-3B11E0840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E8C8C0-552F-4778-B6C2-D8B9524B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DD50-3A5F-4797-B40E-727F526D6D2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0394FD-199C-431B-B646-F50B6D01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6A8B4F-E721-4BF6-B2AF-DD7D0E32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365B-B43A-4475-AF50-E8356488D8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08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83014-9DC0-44B6-B3F2-D53CC7D3A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5B4DE0-E2AA-49B7-976A-D24AD21B1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BEECD8-8B61-4056-BA26-06573F280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DD50-3A5F-4797-B40E-727F526D6D2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EE358-A756-4A69-A491-1BF132F52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0B2CD0-D50F-45C1-B684-13D71B1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365B-B43A-4475-AF50-E8356488D8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517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E4E8C0-CA6D-4E36-9241-04D74042A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D4BD7F-785E-4E89-A0D1-C640BFC2C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0F842A-3849-4769-8BBB-AD4EED499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DD50-3A5F-4797-B40E-727F526D6D2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7114A9-6E8F-485F-BAA3-08161DD2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C4806C-8A80-422F-B08B-D66FE6FE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365B-B43A-4475-AF50-E8356488D8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728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5DF5D9-2030-4CA1-AD1D-B76E09D4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1AD194-2F82-466B-B33F-ECDA153F4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E612CE-ABE3-42DA-80A1-313E6B522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DDD50-3A5F-4797-B40E-727F526D6D2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38F9AF-A266-4E97-9EF0-82A6D0498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5F13A7-DFF6-4F3B-8CC2-A59D782C1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2365B-B43A-4475-AF50-E8356488D8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050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xerciciosweb.com.br/concurseiros/legislacao/legislacao-exercicios-concurso-publico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F960AEE-CA3A-8AF7-6CC2-57CC2AE6F8EF}"/>
              </a:ext>
            </a:extLst>
          </p:cNvPr>
          <p:cNvSpPr txBox="1"/>
          <p:nvPr/>
        </p:nvSpPr>
        <p:spPr>
          <a:xfrm>
            <a:off x="938306" y="764989"/>
            <a:ext cx="95085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PERÍODO NAPOLEÔNICO</a:t>
            </a:r>
          </a:p>
          <a:p>
            <a:r>
              <a:rPr lang="pt-BR" sz="2800" b="1" dirty="0">
                <a:highlight>
                  <a:srgbClr val="FFFF00"/>
                </a:highlight>
              </a:rPr>
              <a:t>Pág.83 do Volume 3- Cap.5 ( Consulado ) e Capítulo 6 ( A Era Napoleônica e Independências na América Espanhola) página 90-94).</a:t>
            </a:r>
          </a:p>
        </p:txBody>
      </p:sp>
    </p:spTree>
    <p:extLst>
      <p:ext uri="{BB962C8B-B14F-4D97-AF65-F5344CB8AC3E}">
        <p14:creationId xmlns:p14="http://schemas.microsoft.com/office/powerpoint/2010/main" val="1440648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8F1A839-A058-A106-82B4-C4AB21A97B73}"/>
              </a:ext>
            </a:extLst>
          </p:cNvPr>
          <p:cNvSpPr txBox="1"/>
          <p:nvPr/>
        </p:nvSpPr>
        <p:spPr>
          <a:xfrm>
            <a:off x="1075242" y="1019027"/>
            <a:ext cx="10041515" cy="704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000">
                <a:latin typeface="Arial Black" panose="020B0604020202020204" pitchFamily="34" charset="0"/>
                <a:cs typeface="Arial Black" panose="020B0604020202020204" pitchFamily="34" charset="0"/>
              </a:rPr>
              <a:t>Exemplo : em 1794 na ocupação militar da Bélgica, foram mobilizados 90.000 soldados franceses...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6311C5-40C6-3FD2-70AA-069CBD7C42ED}"/>
              </a:ext>
            </a:extLst>
          </p:cNvPr>
          <p:cNvSpPr txBox="1"/>
          <p:nvPr/>
        </p:nvSpPr>
        <p:spPr>
          <a:xfrm>
            <a:off x="5181600" y="2515711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77EEE0-8356-AF3B-89BA-4019DC3FDC70}"/>
              </a:ext>
            </a:extLst>
          </p:cNvPr>
          <p:cNvSpPr txBox="1"/>
          <p:nvPr/>
        </p:nvSpPr>
        <p:spPr>
          <a:xfrm>
            <a:off x="5181600" y="2515711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9AD1859-8B4E-9933-9090-58005BD3484C}"/>
              </a:ext>
            </a:extLst>
          </p:cNvPr>
          <p:cNvSpPr/>
          <p:nvPr/>
        </p:nvSpPr>
        <p:spPr>
          <a:xfrm>
            <a:off x="5558451" y="1869026"/>
            <a:ext cx="3727469" cy="96223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184 Bois</a:t>
            </a:r>
          </a:p>
          <a:p>
            <a:pPr algn="ctr"/>
            <a:r>
              <a:rPr lang="pt-BR" b="1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130 Ovelhas</a:t>
            </a:r>
          </a:p>
          <a:p>
            <a:pPr algn="ctr"/>
            <a:r>
              <a:rPr lang="pt-BR" b="1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80 toneladas de farinha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23D886F-F6D8-F508-9D9A-B98912F501BF}"/>
              </a:ext>
            </a:extLst>
          </p:cNvPr>
          <p:cNvSpPr txBox="1"/>
          <p:nvPr/>
        </p:nvSpPr>
        <p:spPr>
          <a:xfrm>
            <a:off x="1645011" y="1997413"/>
            <a:ext cx="2853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000">
                <a:latin typeface="Arial Black" panose="020B0604020202020204" pitchFamily="34" charset="0"/>
                <a:cs typeface="Arial Black" panose="020B0604020202020204" pitchFamily="34" charset="0"/>
              </a:rPr>
              <a:t>Estes consumiam DIARIAMENTE...</a:t>
            </a:r>
            <a:r>
              <a:rPr lang="pt-BR" u="sng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endParaRPr lang="pt-BR" sz="2000" b="1" u="sng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88D0CDB-AD6E-694B-0B36-F560FB5E2C90}"/>
              </a:ext>
            </a:extLst>
          </p:cNvPr>
          <p:cNvSpPr/>
          <p:nvPr/>
        </p:nvSpPr>
        <p:spPr>
          <a:xfrm>
            <a:off x="993044" y="3214160"/>
            <a:ext cx="10041516" cy="8026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As tropas mobilizadas pela França durante as Guerras Napoleônicas...chegarão à  400.000 homens...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1CBFFAA-D31B-BADF-0D7F-578F3B8CBB0C}"/>
              </a:ext>
            </a:extLst>
          </p:cNvPr>
          <p:cNvSpPr/>
          <p:nvPr/>
        </p:nvSpPr>
        <p:spPr>
          <a:xfrm>
            <a:off x="1690729" y="4257553"/>
            <a:ext cx="8116522" cy="5608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 exército Austríaco chegará a 300.000 austríacos...</a:t>
            </a:r>
            <a:endParaRPr lang="pt-BR" sz="2000">
              <a:solidFill>
                <a:schemeClr val="tx1"/>
              </a:solidFill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F39B743E-E43E-F608-4155-8B24FD595A51}"/>
              </a:ext>
            </a:extLst>
          </p:cNvPr>
          <p:cNvSpPr/>
          <p:nvPr/>
        </p:nvSpPr>
        <p:spPr>
          <a:xfrm>
            <a:off x="2093353" y="4971870"/>
            <a:ext cx="7192567" cy="3785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 exército russo -  400.000 russos</a:t>
            </a:r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AA8BFD6-6270-9276-9A0A-3ACAE15F76CB}"/>
              </a:ext>
            </a:extLst>
          </p:cNvPr>
          <p:cNvSpPr/>
          <p:nvPr/>
        </p:nvSpPr>
        <p:spPr>
          <a:xfrm>
            <a:off x="2152706" y="5496281"/>
            <a:ext cx="7192567" cy="43472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 exército prussiano - 200.000 prussianos</a:t>
            </a:r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52A0305-A7F8-8618-627F-C9D7B9616BBA}"/>
              </a:ext>
            </a:extLst>
          </p:cNvPr>
          <p:cNvSpPr/>
          <p:nvPr/>
        </p:nvSpPr>
        <p:spPr>
          <a:xfrm>
            <a:off x="2152707" y="6103945"/>
            <a:ext cx="7192566" cy="43472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 exército dos Estados alemães -  60.000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CBF17A7-4A13-F4C4-7393-1C96EFBDD909}"/>
              </a:ext>
            </a:extLst>
          </p:cNvPr>
          <p:cNvSpPr/>
          <p:nvPr/>
        </p:nvSpPr>
        <p:spPr>
          <a:xfrm>
            <a:off x="4065852" y="178592"/>
            <a:ext cx="3872204" cy="66749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000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OS CUSTOS DAS GUERRAS NO SÉCULO XVIII / XIX...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DB551103-1B62-59B4-3D40-233990F16C32}"/>
              </a:ext>
            </a:extLst>
          </p:cNvPr>
          <p:cNvCxnSpPr>
            <a:cxnSpLocks/>
          </p:cNvCxnSpPr>
          <p:nvPr/>
        </p:nvCxnSpPr>
        <p:spPr>
          <a:xfrm>
            <a:off x="4342666" y="2379148"/>
            <a:ext cx="11194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556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82E971A4-2511-4212-8295-E4C0116E5C5E}"/>
              </a:ext>
            </a:extLst>
          </p:cNvPr>
          <p:cNvSpPr/>
          <p:nvPr/>
        </p:nvSpPr>
        <p:spPr>
          <a:xfrm>
            <a:off x="127552" y="639928"/>
            <a:ext cx="11708295" cy="1590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7B90B7D-55DE-4DB0-98A7-740B452E1B14}"/>
              </a:ext>
            </a:extLst>
          </p:cNvPr>
          <p:cNvCxnSpPr/>
          <p:nvPr/>
        </p:nvCxnSpPr>
        <p:spPr>
          <a:xfrm>
            <a:off x="4264677" y="798954"/>
            <a:ext cx="0" cy="88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EB87BDD-50AF-4EEB-BE1A-43D5785D927E}"/>
              </a:ext>
            </a:extLst>
          </p:cNvPr>
          <p:cNvCxnSpPr/>
          <p:nvPr/>
        </p:nvCxnSpPr>
        <p:spPr>
          <a:xfrm>
            <a:off x="168928" y="789429"/>
            <a:ext cx="0" cy="193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59A237B-C24E-4E29-8C65-D55D97417F05}"/>
              </a:ext>
            </a:extLst>
          </p:cNvPr>
          <p:cNvCxnSpPr/>
          <p:nvPr/>
        </p:nvCxnSpPr>
        <p:spPr>
          <a:xfrm>
            <a:off x="2028824" y="798954"/>
            <a:ext cx="0" cy="88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D5888ED1-F595-4B45-B15E-44C18E36D513}"/>
              </a:ext>
            </a:extLst>
          </p:cNvPr>
          <p:cNvSpPr/>
          <p:nvPr/>
        </p:nvSpPr>
        <p:spPr>
          <a:xfrm>
            <a:off x="0" y="982902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1789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C6B685D-D766-471F-B694-E24A7F55EEB9}"/>
              </a:ext>
            </a:extLst>
          </p:cNvPr>
          <p:cNvSpPr/>
          <p:nvPr/>
        </p:nvSpPr>
        <p:spPr>
          <a:xfrm>
            <a:off x="1702452" y="950282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1792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166F583-F6CF-4EBB-A28D-827ED017F8B3}"/>
              </a:ext>
            </a:extLst>
          </p:cNvPr>
          <p:cNvSpPr/>
          <p:nvPr/>
        </p:nvSpPr>
        <p:spPr>
          <a:xfrm>
            <a:off x="3991635" y="907429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1795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8EE7E9C-270B-4CCC-9304-7439AD0E4B78}"/>
              </a:ext>
            </a:extLst>
          </p:cNvPr>
          <p:cNvSpPr/>
          <p:nvPr/>
        </p:nvSpPr>
        <p:spPr>
          <a:xfrm>
            <a:off x="6621838" y="950282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1799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89AE257-97E6-4062-8863-25694D184782}"/>
              </a:ext>
            </a:extLst>
          </p:cNvPr>
          <p:cNvSpPr/>
          <p:nvPr/>
        </p:nvSpPr>
        <p:spPr>
          <a:xfrm>
            <a:off x="118024" y="34127"/>
            <a:ext cx="25717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MONARQUIA CONSTITUCIONAL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01FF44B-FE18-49F4-B2CF-AC3EE93B68A2}"/>
              </a:ext>
            </a:extLst>
          </p:cNvPr>
          <p:cNvSpPr/>
          <p:nvPr/>
        </p:nvSpPr>
        <p:spPr>
          <a:xfrm>
            <a:off x="4378885" y="92655"/>
            <a:ext cx="1250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REPÚBLICA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CFFF5C0-46BE-4C47-A750-18A17F150317}"/>
              </a:ext>
            </a:extLst>
          </p:cNvPr>
          <p:cNvSpPr/>
          <p:nvPr/>
        </p:nvSpPr>
        <p:spPr>
          <a:xfrm>
            <a:off x="2429817" y="798954"/>
            <a:ext cx="15703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2"/>
                </a:solidFill>
                <a:latin typeface="Arial Black" panose="020B0A04020102020204" pitchFamily="34" charset="0"/>
              </a:rPr>
              <a:t>Convenção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4513DBE-6A25-4D97-AB05-B87FA2CB8A42}"/>
              </a:ext>
            </a:extLst>
          </p:cNvPr>
          <p:cNvSpPr/>
          <p:nvPr/>
        </p:nvSpPr>
        <p:spPr>
          <a:xfrm>
            <a:off x="5004217" y="837967"/>
            <a:ext cx="1291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Diretório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E005FE9-29AC-44F9-AFB6-95FF04480D99}"/>
              </a:ext>
            </a:extLst>
          </p:cNvPr>
          <p:cNvSpPr/>
          <p:nvPr/>
        </p:nvSpPr>
        <p:spPr>
          <a:xfrm>
            <a:off x="5342977" y="1952625"/>
            <a:ext cx="20992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/>
              <a:t>Controle da Alta burguesia sob ameaça</a:t>
            </a:r>
            <a:endParaRPr lang="pt-BR" dirty="0"/>
          </a:p>
        </p:txBody>
      </p:sp>
      <p:pic>
        <p:nvPicPr>
          <p:cNvPr id="2050" name="Picture 2" descr="Napoleão e o Golpe de 18 Brumario">
            <a:extLst>
              <a:ext uri="{FF2B5EF4-FFF2-40B4-BE49-F238E27FC236}">
                <a16:creationId xmlns:a16="http://schemas.microsoft.com/office/drawing/2014/main" id="{1C50D0A6-49DB-4905-A5AD-C2E1CE0C1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24" y="2074916"/>
            <a:ext cx="4451997" cy="2331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882940AD-7930-468C-9D8C-9F0C92C5D5BA}"/>
              </a:ext>
            </a:extLst>
          </p:cNvPr>
          <p:cNvSpPr/>
          <p:nvPr/>
        </p:nvSpPr>
        <p:spPr>
          <a:xfrm>
            <a:off x="326371" y="4448175"/>
            <a:ext cx="31312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b="1" i="0" dirty="0">
                <a:effectLst/>
              </a:rPr>
              <a:t>O general Napoleão Bonaparte no Conselho dos Quinhentos ( </a:t>
            </a:r>
            <a:r>
              <a:rPr lang="pt-BR" sz="1000" b="1" dirty="0"/>
              <a:t>n</a:t>
            </a:r>
            <a:r>
              <a:rPr lang="pt-BR" sz="1000" b="1" i="0" dirty="0">
                <a:effectLst/>
              </a:rPr>
              <a:t>ome dado a Assembleia Legislativa nesse período), em 10 de novembro de 1799. Autor: François </a:t>
            </a:r>
            <a:r>
              <a:rPr lang="pt-BR" sz="1000" b="1" i="0" dirty="0" err="1">
                <a:effectLst/>
              </a:rPr>
              <a:t>Bouchot</a:t>
            </a:r>
            <a:endParaRPr lang="pt-BR" sz="1000" b="1" dirty="0"/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297B7AB4-7EE1-4058-8E9C-116CA643150B}"/>
              </a:ext>
            </a:extLst>
          </p:cNvPr>
          <p:cNvCxnSpPr/>
          <p:nvPr/>
        </p:nvCxnSpPr>
        <p:spPr>
          <a:xfrm>
            <a:off x="5524500" y="1276761"/>
            <a:ext cx="291564" cy="675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D7023F70-9F9D-4775-9E08-837CF5684DA1}"/>
              </a:ext>
            </a:extLst>
          </p:cNvPr>
          <p:cNvCxnSpPr/>
          <p:nvPr/>
        </p:nvCxnSpPr>
        <p:spPr>
          <a:xfrm flipV="1">
            <a:off x="6948209" y="1801336"/>
            <a:ext cx="747991" cy="494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8DC49E1-D333-470B-BFB6-43AEF02A2277}"/>
              </a:ext>
            </a:extLst>
          </p:cNvPr>
          <p:cNvSpPr txBox="1"/>
          <p:nvPr/>
        </p:nvSpPr>
        <p:spPr>
          <a:xfrm>
            <a:off x="7848711" y="1490960"/>
            <a:ext cx="3367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Realistas ( membros da  Nobreza e do Clero) tramando o retorno do Antigo Regime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A94A3E2-8911-49EA-B919-EF3773D55ED3}"/>
              </a:ext>
            </a:extLst>
          </p:cNvPr>
          <p:cNvSpPr txBox="1"/>
          <p:nvPr/>
        </p:nvSpPr>
        <p:spPr>
          <a:xfrm>
            <a:off x="7848711" y="2459965"/>
            <a:ext cx="3667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2ª Coligação </a:t>
            </a:r>
            <a:r>
              <a:rPr lang="pt-BR" dirty="0" err="1"/>
              <a:t>antifrancesa</a:t>
            </a:r>
            <a:r>
              <a:rPr lang="pt-BR" dirty="0"/>
              <a:t> ( Inglaterra, Áustria, Rússia, </a:t>
            </a:r>
            <a:r>
              <a:rPr lang="pt-BR" dirty="0" err="1"/>
              <a:t>etc</a:t>
            </a:r>
            <a:r>
              <a:rPr lang="pt-BR" dirty="0"/>
              <a:t>) - 1799</a:t>
            </a:r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FDC8A609-B5AE-4D38-AEE2-CA48353EBB65}"/>
              </a:ext>
            </a:extLst>
          </p:cNvPr>
          <p:cNvCxnSpPr/>
          <p:nvPr/>
        </p:nvCxnSpPr>
        <p:spPr>
          <a:xfrm>
            <a:off x="7000820" y="2493776"/>
            <a:ext cx="771636" cy="857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FDE28E0-6600-4BC8-88A9-9B08D4B389D8}"/>
              </a:ext>
            </a:extLst>
          </p:cNvPr>
          <p:cNvSpPr txBox="1"/>
          <p:nvPr/>
        </p:nvSpPr>
        <p:spPr>
          <a:xfrm>
            <a:off x="7893251" y="3041785"/>
            <a:ext cx="3467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Riscos de novas lideranças Jacobinas surgirem e mobilizarem os sans-culottes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8D08523D-F970-4176-9F1B-4B2D47235F10}"/>
              </a:ext>
            </a:extLst>
          </p:cNvPr>
          <p:cNvCxnSpPr>
            <a:cxnSpLocks/>
          </p:cNvCxnSpPr>
          <p:nvPr/>
        </p:nvCxnSpPr>
        <p:spPr>
          <a:xfrm>
            <a:off x="6924564" y="2414290"/>
            <a:ext cx="771636" cy="214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eta: para Baixo 41">
            <a:extLst>
              <a:ext uri="{FF2B5EF4-FFF2-40B4-BE49-F238E27FC236}">
                <a16:creationId xmlns:a16="http://schemas.microsoft.com/office/drawing/2014/main" id="{761846D7-5EDA-466F-A63B-1ADB3D4C7FA9}"/>
              </a:ext>
            </a:extLst>
          </p:cNvPr>
          <p:cNvSpPr/>
          <p:nvPr/>
        </p:nvSpPr>
        <p:spPr>
          <a:xfrm>
            <a:off x="6096000" y="2906443"/>
            <a:ext cx="199468" cy="8572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251511A3-71AF-4CC5-9678-5BD8AAB7EF51}"/>
              </a:ext>
            </a:extLst>
          </p:cNvPr>
          <p:cNvSpPr/>
          <p:nvPr/>
        </p:nvSpPr>
        <p:spPr>
          <a:xfrm>
            <a:off x="4767875" y="3898312"/>
            <a:ext cx="393700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>
                <a:latin typeface="Arial Black" panose="020B0A04020102020204" pitchFamily="34" charset="0"/>
              </a:rPr>
              <a:t>Diante dos riscos a seus interesses ela se aproxima e se associa ao General Napoleão Bonaparte ( que tem apoio irrestrito dos camponeses e do exército)</a:t>
            </a:r>
            <a:endParaRPr lang="pt-BR" dirty="0"/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D8D35458-CDB4-47EE-B5B6-F61F3EFA1609}"/>
              </a:ext>
            </a:extLst>
          </p:cNvPr>
          <p:cNvCxnSpPr>
            <a:cxnSpLocks/>
            <a:stCxn id="43" idx="1"/>
            <a:endCxn id="47" idx="3"/>
          </p:cNvCxnSpPr>
          <p:nvPr/>
        </p:nvCxnSpPr>
        <p:spPr>
          <a:xfrm flipH="1">
            <a:off x="3457578" y="4775475"/>
            <a:ext cx="1310297" cy="722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112B3A05-81E0-4D15-B853-22A8BA80305A}"/>
              </a:ext>
            </a:extLst>
          </p:cNvPr>
          <p:cNvSpPr txBox="1"/>
          <p:nvPr/>
        </p:nvSpPr>
        <p:spPr>
          <a:xfrm>
            <a:off x="557496" y="5313544"/>
            <a:ext cx="29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  <a:latin typeface="Algerian" panose="04020705040A02060702" pitchFamily="82" charset="0"/>
              </a:rPr>
              <a:t>Golpe do 18 Brumário</a:t>
            </a:r>
          </a:p>
        </p:txBody>
      </p: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D6F03855-F8AE-453C-A6D0-2C930105181A}"/>
              </a:ext>
            </a:extLst>
          </p:cNvPr>
          <p:cNvCxnSpPr/>
          <p:nvPr/>
        </p:nvCxnSpPr>
        <p:spPr>
          <a:xfrm flipV="1">
            <a:off x="1600200" y="4990272"/>
            <a:ext cx="0" cy="323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151664BD-2A84-48AB-B790-A07878A4D955}"/>
              </a:ext>
            </a:extLst>
          </p:cNvPr>
          <p:cNvCxnSpPr/>
          <p:nvPr/>
        </p:nvCxnSpPr>
        <p:spPr>
          <a:xfrm>
            <a:off x="1809750" y="5762625"/>
            <a:ext cx="761997" cy="361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A3B569A1-BFBC-46EC-832D-5908720286CB}"/>
              </a:ext>
            </a:extLst>
          </p:cNvPr>
          <p:cNvSpPr txBox="1"/>
          <p:nvPr/>
        </p:nvSpPr>
        <p:spPr>
          <a:xfrm>
            <a:off x="2649151" y="5811267"/>
            <a:ext cx="4838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Fechamento da Assembleia  Legislativa e criação de um governo ditatorial disfarçado – o “Consulado”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ABC6F77-F873-AC8C-27CB-7E9D4A8D4DEF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2028823" y="277321"/>
            <a:ext cx="2350062" cy="382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6DFF587-6A01-DEBB-4C7A-7C5386582508}"/>
              </a:ext>
            </a:extLst>
          </p:cNvPr>
          <p:cNvCxnSpPr>
            <a:stCxn id="17" idx="3"/>
          </p:cNvCxnSpPr>
          <p:nvPr/>
        </p:nvCxnSpPr>
        <p:spPr>
          <a:xfrm>
            <a:off x="5629548" y="277321"/>
            <a:ext cx="992290" cy="362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88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04AE251E-9C04-43F2-860E-A0EFBD9F5A28}"/>
              </a:ext>
            </a:extLst>
          </p:cNvPr>
          <p:cNvSpPr/>
          <p:nvPr/>
        </p:nvSpPr>
        <p:spPr>
          <a:xfrm>
            <a:off x="110343" y="603755"/>
            <a:ext cx="11708295" cy="1590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A3D4CC7F-9DA9-4D40-9B1F-9E8258BAE9DD}"/>
              </a:ext>
            </a:extLst>
          </p:cNvPr>
          <p:cNvSpPr/>
          <p:nvPr/>
        </p:nvSpPr>
        <p:spPr>
          <a:xfrm>
            <a:off x="377687" y="740464"/>
            <a:ext cx="45719" cy="1590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5849F08-19A6-4B92-97AE-2346E4BC4AAB}"/>
              </a:ext>
            </a:extLst>
          </p:cNvPr>
          <p:cNvSpPr txBox="1"/>
          <p:nvPr/>
        </p:nvSpPr>
        <p:spPr>
          <a:xfrm>
            <a:off x="73547" y="899490"/>
            <a:ext cx="1009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1799</a:t>
            </a:r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57B05815-E611-4B7A-8FB8-2C53738A209F}"/>
              </a:ext>
            </a:extLst>
          </p:cNvPr>
          <p:cNvSpPr/>
          <p:nvPr/>
        </p:nvSpPr>
        <p:spPr>
          <a:xfrm>
            <a:off x="3929402" y="784017"/>
            <a:ext cx="45719" cy="1590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006110F-C3BB-4EAE-BE0B-9A1F4E4AE0F9}"/>
              </a:ext>
            </a:extLst>
          </p:cNvPr>
          <p:cNvSpPr txBox="1"/>
          <p:nvPr/>
        </p:nvSpPr>
        <p:spPr>
          <a:xfrm>
            <a:off x="3624203" y="897106"/>
            <a:ext cx="82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1804</a:t>
            </a:r>
          </a:p>
        </p:txBody>
      </p:sp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2FCFF945-01CC-4230-92D3-EA04A3EF34B6}"/>
              </a:ext>
            </a:extLst>
          </p:cNvPr>
          <p:cNvSpPr/>
          <p:nvPr/>
        </p:nvSpPr>
        <p:spPr>
          <a:xfrm>
            <a:off x="10110167" y="736086"/>
            <a:ext cx="45719" cy="1590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34378EB-92D3-48FD-B2F5-FC49EB1C8C47}"/>
              </a:ext>
            </a:extLst>
          </p:cNvPr>
          <p:cNvSpPr txBox="1"/>
          <p:nvPr/>
        </p:nvSpPr>
        <p:spPr>
          <a:xfrm>
            <a:off x="9650977" y="850545"/>
            <a:ext cx="964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1814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82335E1E-0ECD-4C57-8B19-CF791AFDF1A1}"/>
              </a:ext>
            </a:extLst>
          </p:cNvPr>
          <p:cNvCxnSpPr/>
          <p:nvPr/>
        </p:nvCxnSpPr>
        <p:spPr>
          <a:xfrm flipV="1">
            <a:off x="5414339" y="597774"/>
            <a:ext cx="22860" cy="109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622BDC65-B3BF-4A03-9718-3879A4FE1FC9}"/>
              </a:ext>
            </a:extLst>
          </p:cNvPr>
          <p:cNvCxnSpPr>
            <a:cxnSpLocks/>
          </p:cNvCxnSpPr>
          <p:nvPr/>
        </p:nvCxnSpPr>
        <p:spPr>
          <a:xfrm flipV="1">
            <a:off x="10644809" y="536712"/>
            <a:ext cx="0" cy="47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9EBFE179-F8A9-4D3B-AEB4-6866A1309EFF}"/>
              </a:ext>
            </a:extLst>
          </p:cNvPr>
          <p:cNvSpPr/>
          <p:nvPr/>
        </p:nvSpPr>
        <p:spPr>
          <a:xfrm>
            <a:off x="5535338" y="797614"/>
            <a:ext cx="1253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2"/>
                </a:solidFill>
                <a:latin typeface="Arial Black" panose="020B0A04020102020204" pitchFamily="34" charset="0"/>
              </a:rPr>
              <a:t>Império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0377715-6D20-442B-831C-24892FDCEFDC}"/>
              </a:ext>
            </a:extLst>
          </p:cNvPr>
          <p:cNvSpPr/>
          <p:nvPr/>
        </p:nvSpPr>
        <p:spPr>
          <a:xfrm>
            <a:off x="9584009" y="1356732"/>
            <a:ext cx="23965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latin typeface="Arial Black" panose="020B0A04020102020204" pitchFamily="34" charset="0"/>
              </a:rPr>
              <a:t>Governo dos Cem Dias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866151E-5A7B-4E53-9051-EF376A1348C5}"/>
              </a:ext>
            </a:extLst>
          </p:cNvPr>
          <p:cNvSpPr txBox="1"/>
          <p:nvPr/>
        </p:nvSpPr>
        <p:spPr>
          <a:xfrm>
            <a:off x="1379803" y="797614"/>
            <a:ext cx="138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Consulado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FD5F86D2-5FC8-46CE-9F4E-160965089AE5}"/>
              </a:ext>
            </a:extLst>
          </p:cNvPr>
          <p:cNvCxnSpPr>
            <a:cxnSpLocks/>
          </p:cNvCxnSpPr>
          <p:nvPr/>
        </p:nvCxnSpPr>
        <p:spPr>
          <a:xfrm flipV="1">
            <a:off x="10460686" y="1197724"/>
            <a:ext cx="0" cy="26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34818C0-D080-4BBB-B6B7-A8397A724DD6}"/>
              </a:ext>
            </a:extLst>
          </p:cNvPr>
          <p:cNvCxnSpPr/>
          <p:nvPr/>
        </p:nvCxnSpPr>
        <p:spPr>
          <a:xfrm>
            <a:off x="10925175" y="718101"/>
            <a:ext cx="0" cy="159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E1B966D-CFF3-4025-A8C5-73FECF974E00}"/>
              </a:ext>
            </a:extLst>
          </p:cNvPr>
          <p:cNvSpPr txBox="1"/>
          <p:nvPr/>
        </p:nvSpPr>
        <p:spPr>
          <a:xfrm>
            <a:off x="10644809" y="807303"/>
            <a:ext cx="820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1815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90F98D7-75B3-47CE-93F3-2C68AAE38D74}"/>
              </a:ext>
            </a:extLst>
          </p:cNvPr>
          <p:cNvSpPr txBox="1"/>
          <p:nvPr/>
        </p:nvSpPr>
        <p:spPr>
          <a:xfrm>
            <a:off x="3058538" y="54257"/>
            <a:ext cx="3706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Período Napoleônico</a:t>
            </a:r>
          </a:p>
        </p:txBody>
      </p:sp>
      <p:pic>
        <p:nvPicPr>
          <p:cNvPr id="4098" name="Picture 2" descr="Império Napoleônico">
            <a:extLst>
              <a:ext uri="{FF2B5EF4-FFF2-40B4-BE49-F238E27FC236}">
                <a16:creationId xmlns:a16="http://schemas.microsoft.com/office/drawing/2014/main" id="{71B6AFFB-1E8B-4CB6-AA53-8458EC94C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208" y="5180003"/>
            <a:ext cx="2505733" cy="1638144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3B3124F-EBAC-4199-9DC8-08140548CB0C}"/>
              </a:ext>
            </a:extLst>
          </p:cNvPr>
          <p:cNvSpPr txBox="1"/>
          <p:nvPr/>
        </p:nvSpPr>
        <p:spPr>
          <a:xfrm>
            <a:off x="111229" y="2556851"/>
            <a:ext cx="2144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Burguesia Financeira e  mercantil 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28BCBBC1-1089-4100-ABAA-CFA36FC070C8}"/>
              </a:ext>
            </a:extLst>
          </p:cNvPr>
          <p:cNvCxnSpPr/>
          <p:nvPr/>
        </p:nvCxnSpPr>
        <p:spPr>
          <a:xfrm>
            <a:off x="1838739" y="1127938"/>
            <a:ext cx="0" cy="228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7068119-BA8F-44C4-80D3-4C9A84DAF7E2}"/>
              </a:ext>
            </a:extLst>
          </p:cNvPr>
          <p:cNvSpPr txBox="1"/>
          <p:nvPr/>
        </p:nvSpPr>
        <p:spPr>
          <a:xfrm>
            <a:off x="653908" y="1296705"/>
            <a:ext cx="28994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Governo dividido em três Cônsules- na prática controlado pelo 1º Cônsul Napoleão e pelo Exército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948561B-93F4-4558-B59C-7B25C1037DF2}"/>
              </a:ext>
            </a:extLst>
          </p:cNvPr>
          <p:cNvSpPr txBox="1"/>
          <p:nvPr/>
        </p:nvSpPr>
        <p:spPr>
          <a:xfrm>
            <a:off x="1136708" y="2063252"/>
            <a:ext cx="121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Apoio da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08F2717-5BB2-447D-96ED-62534653542C}"/>
              </a:ext>
            </a:extLst>
          </p:cNvPr>
          <p:cNvSpPr txBox="1"/>
          <p:nvPr/>
        </p:nvSpPr>
        <p:spPr>
          <a:xfrm>
            <a:off x="2419496" y="2486997"/>
            <a:ext cx="1615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dos camponeses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F2654D50-B59F-424B-A9D3-ED902D1C8BB9}"/>
              </a:ext>
            </a:extLst>
          </p:cNvPr>
          <p:cNvCxnSpPr/>
          <p:nvPr/>
        </p:nvCxnSpPr>
        <p:spPr>
          <a:xfrm flipH="1">
            <a:off x="944217" y="2404701"/>
            <a:ext cx="139147" cy="164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1A0A590F-686D-405F-A8C5-0B941350DB6D}"/>
              </a:ext>
            </a:extLst>
          </p:cNvPr>
          <p:cNvCxnSpPr>
            <a:cxnSpLocks/>
          </p:cNvCxnSpPr>
          <p:nvPr/>
        </p:nvCxnSpPr>
        <p:spPr>
          <a:xfrm>
            <a:off x="2250211" y="2375178"/>
            <a:ext cx="256913" cy="149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7FBECB1A-1FE6-4BC7-A308-655C27E74949}"/>
              </a:ext>
            </a:extLst>
          </p:cNvPr>
          <p:cNvCxnSpPr>
            <a:cxnSpLocks/>
          </p:cNvCxnSpPr>
          <p:nvPr/>
        </p:nvCxnSpPr>
        <p:spPr>
          <a:xfrm>
            <a:off x="3929402" y="1356732"/>
            <a:ext cx="105288" cy="581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F07375F-BEE8-4DD6-803F-8F24A02BEABB}"/>
              </a:ext>
            </a:extLst>
          </p:cNvPr>
          <p:cNvSpPr txBox="1"/>
          <p:nvPr/>
        </p:nvSpPr>
        <p:spPr>
          <a:xfrm>
            <a:off x="3912568" y="1994602"/>
            <a:ext cx="1615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Código Civil Napoleônico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63C0D9A-2AEA-47FF-81DE-CAA98814A99E}"/>
              </a:ext>
            </a:extLst>
          </p:cNvPr>
          <p:cNvSpPr txBox="1"/>
          <p:nvPr/>
        </p:nvSpPr>
        <p:spPr>
          <a:xfrm>
            <a:off x="5507322" y="1510620"/>
            <a:ext cx="47796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Proibição de greves e de sindicatos</a:t>
            </a:r>
          </a:p>
          <a:p>
            <a:r>
              <a:rPr lang="pt-BR" dirty="0"/>
              <a:t>Defesa da liberdade individual e da iniciativa privada</a:t>
            </a:r>
          </a:p>
          <a:p>
            <a:r>
              <a:rPr lang="pt-BR" dirty="0"/>
              <a:t>Consolidava o liberalismo político e econômico</a:t>
            </a:r>
          </a:p>
          <a:p>
            <a:r>
              <a:rPr lang="pt-BR" dirty="0"/>
              <a:t>Garante a igualdade jurídica entre os homens ( reafirma o fim de privilégios de Nobres e do Clero)</a:t>
            </a:r>
          </a:p>
          <a:p>
            <a:r>
              <a:rPr lang="pt-BR" dirty="0"/>
              <a:t>Defende a Liberdade de pensamento e liberdade religiosa</a:t>
            </a:r>
          </a:p>
          <a:p>
            <a:r>
              <a:rPr lang="pt-BR" dirty="0"/>
              <a:t>Garante o Direito à propriedade privada</a:t>
            </a:r>
          </a:p>
          <a:p>
            <a:r>
              <a:rPr lang="pt-BR" dirty="0"/>
              <a:t>Consolida a discriminação a mulher: a mulher deve estar submetida ao homem (pai, irmão ou marido).</a:t>
            </a:r>
          </a:p>
          <a:p>
            <a:endParaRPr lang="pt-BR" dirty="0"/>
          </a:p>
        </p:txBody>
      </p:sp>
      <p:sp>
        <p:nvSpPr>
          <p:cNvPr id="44" name="Chave Esquerda 43">
            <a:extLst>
              <a:ext uri="{FF2B5EF4-FFF2-40B4-BE49-F238E27FC236}">
                <a16:creationId xmlns:a16="http://schemas.microsoft.com/office/drawing/2014/main" id="{774685FE-DCAC-4B2D-BC83-C88BC04DA6E5}"/>
              </a:ext>
            </a:extLst>
          </p:cNvPr>
          <p:cNvSpPr/>
          <p:nvPr/>
        </p:nvSpPr>
        <p:spPr>
          <a:xfrm>
            <a:off x="5437199" y="1547701"/>
            <a:ext cx="198288" cy="357095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ABF14B6B-7C19-4EBD-AF95-046DEB46AF01}"/>
              </a:ext>
            </a:extLst>
          </p:cNvPr>
          <p:cNvCxnSpPr/>
          <p:nvPr/>
        </p:nvCxnSpPr>
        <p:spPr>
          <a:xfrm>
            <a:off x="4704967" y="2821231"/>
            <a:ext cx="411633" cy="492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F2008686-4920-4B83-97E2-E2185F22CBFB}"/>
              </a:ext>
            </a:extLst>
          </p:cNvPr>
          <p:cNvCxnSpPr>
            <a:cxnSpLocks/>
          </p:cNvCxnSpPr>
          <p:nvPr/>
        </p:nvCxnSpPr>
        <p:spPr>
          <a:xfrm>
            <a:off x="4445177" y="2821231"/>
            <a:ext cx="792745" cy="2565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F28075D8-9E37-4019-88A1-ACDF6791248E}"/>
              </a:ext>
            </a:extLst>
          </p:cNvPr>
          <p:cNvSpPr txBox="1"/>
          <p:nvPr/>
        </p:nvSpPr>
        <p:spPr>
          <a:xfrm>
            <a:off x="5030956" y="5537410"/>
            <a:ext cx="34687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Após plebiscito, Napoleão  reestabelece o Império, sendo coroado Imperador em 1804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7CAA6AB8-E390-4843-B2D4-5DE228622D6B}"/>
              </a:ext>
            </a:extLst>
          </p:cNvPr>
          <p:cNvSpPr txBox="1"/>
          <p:nvPr/>
        </p:nvSpPr>
        <p:spPr>
          <a:xfrm>
            <a:off x="286362" y="3584956"/>
            <a:ext cx="24046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Governo cria o Banco da França, cria uma nova moeda- o Franco – e investe e financia a burguesia francesa</a:t>
            </a:r>
          </a:p>
        </p:txBody>
      </p: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891A5AD1-9F87-49D8-9618-CB8F6DEB2D8D}"/>
              </a:ext>
            </a:extLst>
          </p:cNvPr>
          <p:cNvCxnSpPr/>
          <p:nvPr/>
        </p:nvCxnSpPr>
        <p:spPr>
          <a:xfrm>
            <a:off x="944217" y="3203182"/>
            <a:ext cx="0" cy="292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ED5E2397-5AE5-4DEA-85B0-595D94F9F62C}"/>
              </a:ext>
            </a:extLst>
          </p:cNvPr>
          <p:cNvCxnSpPr/>
          <p:nvPr/>
        </p:nvCxnSpPr>
        <p:spPr>
          <a:xfrm>
            <a:off x="2971800" y="3203182"/>
            <a:ext cx="86738" cy="381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A49180CE-7A4E-4296-95CA-FD7033229C06}"/>
              </a:ext>
            </a:extLst>
          </p:cNvPr>
          <p:cNvSpPr txBox="1"/>
          <p:nvPr/>
        </p:nvSpPr>
        <p:spPr>
          <a:xfrm>
            <a:off x="2760928" y="3592868"/>
            <a:ext cx="16813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Governo ratifica a Reforma Agrária</a:t>
            </a:r>
          </a:p>
        </p:txBody>
      </p:sp>
    </p:spTree>
    <p:extLst>
      <p:ext uri="{BB962C8B-B14F-4D97-AF65-F5344CB8AC3E}">
        <p14:creationId xmlns:p14="http://schemas.microsoft.com/office/powerpoint/2010/main" val="2565459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04AE251E-9C04-43F2-860E-A0EFBD9F5A28}"/>
              </a:ext>
            </a:extLst>
          </p:cNvPr>
          <p:cNvSpPr/>
          <p:nvPr/>
        </p:nvSpPr>
        <p:spPr>
          <a:xfrm>
            <a:off x="110343" y="603755"/>
            <a:ext cx="11708295" cy="1590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A3D4CC7F-9DA9-4D40-9B1F-9E8258BAE9DD}"/>
              </a:ext>
            </a:extLst>
          </p:cNvPr>
          <p:cNvSpPr/>
          <p:nvPr/>
        </p:nvSpPr>
        <p:spPr>
          <a:xfrm>
            <a:off x="377687" y="740464"/>
            <a:ext cx="45719" cy="1590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5849F08-19A6-4B92-97AE-2346E4BC4AAB}"/>
              </a:ext>
            </a:extLst>
          </p:cNvPr>
          <p:cNvSpPr txBox="1"/>
          <p:nvPr/>
        </p:nvSpPr>
        <p:spPr>
          <a:xfrm>
            <a:off x="73547" y="899490"/>
            <a:ext cx="1009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1799</a:t>
            </a:r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57B05815-E611-4B7A-8FB8-2C53738A209F}"/>
              </a:ext>
            </a:extLst>
          </p:cNvPr>
          <p:cNvSpPr/>
          <p:nvPr/>
        </p:nvSpPr>
        <p:spPr>
          <a:xfrm>
            <a:off x="3929402" y="784017"/>
            <a:ext cx="45719" cy="1590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006110F-C3BB-4EAE-BE0B-9A1F4E4AE0F9}"/>
              </a:ext>
            </a:extLst>
          </p:cNvPr>
          <p:cNvSpPr txBox="1"/>
          <p:nvPr/>
        </p:nvSpPr>
        <p:spPr>
          <a:xfrm>
            <a:off x="3624203" y="897106"/>
            <a:ext cx="82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1804</a:t>
            </a:r>
          </a:p>
        </p:txBody>
      </p:sp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2FCFF945-01CC-4230-92D3-EA04A3EF34B6}"/>
              </a:ext>
            </a:extLst>
          </p:cNvPr>
          <p:cNvSpPr/>
          <p:nvPr/>
        </p:nvSpPr>
        <p:spPr>
          <a:xfrm>
            <a:off x="10110167" y="736086"/>
            <a:ext cx="45719" cy="1590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34378EB-92D3-48FD-B2F5-FC49EB1C8C47}"/>
              </a:ext>
            </a:extLst>
          </p:cNvPr>
          <p:cNvSpPr txBox="1"/>
          <p:nvPr/>
        </p:nvSpPr>
        <p:spPr>
          <a:xfrm>
            <a:off x="9650977" y="850545"/>
            <a:ext cx="964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1814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82335E1E-0ECD-4C57-8B19-CF791AFDF1A1}"/>
              </a:ext>
            </a:extLst>
          </p:cNvPr>
          <p:cNvCxnSpPr/>
          <p:nvPr/>
        </p:nvCxnSpPr>
        <p:spPr>
          <a:xfrm flipV="1">
            <a:off x="5414339" y="597774"/>
            <a:ext cx="22860" cy="109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622BDC65-B3BF-4A03-9718-3879A4FE1FC9}"/>
              </a:ext>
            </a:extLst>
          </p:cNvPr>
          <p:cNvCxnSpPr>
            <a:cxnSpLocks/>
          </p:cNvCxnSpPr>
          <p:nvPr/>
        </p:nvCxnSpPr>
        <p:spPr>
          <a:xfrm flipV="1">
            <a:off x="10644809" y="536712"/>
            <a:ext cx="0" cy="47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9EBFE179-F8A9-4D3B-AEB4-6866A1309EFF}"/>
              </a:ext>
            </a:extLst>
          </p:cNvPr>
          <p:cNvSpPr/>
          <p:nvPr/>
        </p:nvSpPr>
        <p:spPr>
          <a:xfrm>
            <a:off x="5535338" y="797614"/>
            <a:ext cx="1253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2"/>
                </a:solidFill>
                <a:latin typeface="Arial Black" panose="020B0A04020102020204" pitchFamily="34" charset="0"/>
              </a:rPr>
              <a:t>Império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0377715-6D20-442B-831C-24892FDCEFDC}"/>
              </a:ext>
            </a:extLst>
          </p:cNvPr>
          <p:cNvSpPr/>
          <p:nvPr/>
        </p:nvSpPr>
        <p:spPr>
          <a:xfrm>
            <a:off x="9584009" y="1356732"/>
            <a:ext cx="23965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latin typeface="Arial Black" panose="020B0A04020102020204" pitchFamily="34" charset="0"/>
              </a:rPr>
              <a:t>Governo dos Cem Dias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866151E-5A7B-4E53-9051-EF376A1348C5}"/>
              </a:ext>
            </a:extLst>
          </p:cNvPr>
          <p:cNvSpPr txBox="1"/>
          <p:nvPr/>
        </p:nvSpPr>
        <p:spPr>
          <a:xfrm>
            <a:off x="1379803" y="797614"/>
            <a:ext cx="138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Consulado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FD5F86D2-5FC8-46CE-9F4E-160965089AE5}"/>
              </a:ext>
            </a:extLst>
          </p:cNvPr>
          <p:cNvCxnSpPr>
            <a:cxnSpLocks/>
          </p:cNvCxnSpPr>
          <p:nvPr/>
        </p:nvCxnSpPr>
        <p:spPr>
          <a:xfrm flipV="1">
            <a:off x="10460686" y="1197724"/>
            <a:ext cx="0" cy="26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34818C0-D080-4BBB-B6B7-A8397A724DD6}"/>
              </a:ext>
            </a:extLst>
          </p:cNvPr>
          <p:cNvCxnSpPr/>
          <p:nvPr/>
        </p:nvCxnSpPr>
        <p:spPr>
          <a:xfrm>
            <a:off x="10925175" y="718101"/>
            <a:ext cx="0" cy="159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E1B966D-CFF3-4025-A8C5-73FECF974E00}"/>
              </a:ext>
            </a:extLst>
          </p:cNvPr>
          <p:cNvSpPr txBox="1"/>
          <p:nvPr/>
        </p:nvSpPr>
        <p:spPr>
          <a:xfrm>
            <a:off x="10644809" y="807303"/>
            <a:ext cx="820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1815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90F98D7-75B3-47CE-93F3-2C68AAE38D74}"/>
              </a:ext>
            </a:extLst>
          </p:cNvPr>
          <p:cNvSpPr txBox="1"/>
          <p:nvPr/>
        </p:nvSpPr>
        <p:spPr>
          <a:xfrm>
            <a:off x="3058538" y="54257"/>
            <a:ext cx="3706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Período Napoleônico</a:t>
            </a:r>
          </a:p>
        </p:txBody>
      </p:sp>
      <p:pic>
        <p:nvPicPr>
          <p:cNvPr id="4098" name="Picture 2" descr="Império Napoleônico">
            <a:extLst>
              <a:ext uri="{FF2B5EF4-FFF2-40B4-BE49-F238E27FC236}">
                <a16:creationId xmlns:a16="http://schemas.microsoft.com/office/drawing/2014/main" id="{71B6AFFB-1E8B-4CB6-AA53-8458EC94C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0626" y="2138671"/>
            <a:ext cx="2683448" cy="175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791CCBC-B3F8-48F8-9E44-5A5ECE04F484}"/>
              </a:ext>
            </a:extLst>
          </p:cNvPr>
          <p:cNvSpPr/>
          <p:nvPr/>
        </p:nvSpPr>
        <p:spPr>
          <a:xfrm>
            <a:off x="506629" y="236528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- As vitórias  militares francesas contra as coligações garante o domínio de territórios novos ( Imperialismo Napoleônico)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26BA931-9CEF-481E-9F58-D9F823F1E443}"/>
              </a:ext>
            </a:extLst>
          </p:cNvPr>
          <p:cNvSpPr/>
          <p:nvPr/>
        </p:nvSpPr>
        <p:spPr>
          <a:xfrm>
            <a:off x="489777" y="294050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- O expansionismo Francês é justificado como uma forma de exportação dos ideais revolucionários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06BBB69-A745-4A7D-9F6B-4D16B453D937}"/>
              </a:ext>
            </a:extLst>
          </p:cNvPr>
          <p:cNvSpPr/>
          <p:nvPr/>
        </p:nvSpPr>
        <p:spPr>
          <a:xfrm>
            <a:off x="884933" y="1863117"/>
            <a:ext cx="37519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O Imperialismo Napoleônico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90E3716-8F3C-40CF-8C00-C9D43015F923}"/>
              </a:ext>
            </a:extLst>
          </p:cNvPr>
          <p:cNvSpPr txBox="1"/>
          <p:nvPr/>
        </p:nvSpPr>
        <p:spPr>
          <a:xfrm>
            <a:off x="4749978" y="1207444"/>
            <a:ext cx="1009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accent1"/>
                </a:solidFill>
              </a:rPr>
              <a:t>1806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62B3552-5E64-495D-9EAE-85BD1DC3EAD7}"/>
              </a:ext>
            </a:extLst>
          </p:cNvPr>
          <p:cNvCxnSpPr/>
          <p:nvPr/>
        </p:nvCxnSpPr>
        <p:spPr>
          <a:xfrm>
            <a:off x="5131792" y="797614"/>
            <a:ext cx="0" cy="396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3F5F494C-6B95-4D79-9380-5169C6437459}"/>
              </a:ext>
            </a:extLst>
          </p:cNvPr>
          <p:cNvCxnSpPr/>
          <p:nvPr/>
        </p:nvCxnSpPr>
        <p:spPr>
          <a:xfrm>
            <a:off x="5414339" y="1664509"/>
            <a:ext cx="221148" cy="154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0CCD5A2-950D-4362-9D7D-E0CB742F398F}"/>
              </a:ext>
            </a:extLst>
          </p:cNvPr>
          <p:cNvSpPr txBox="1"/>
          <p:nvPr/>
        </p:nvSpPr>
        <p:spPr>
          <a:xfrm>
            <a:off x="5759794" y="1642387"/>
            <a:ext cx="2249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Decretação do Bloqueio Continental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BF4F9CFA-4A9A-4DB0-A60D-A44FC278D9AE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4184708" y="1438277"/>
            <a:ext cx="565270" cy="365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D2209F5-9F96-4AD9-8BE4-47550EBA1CF2}"/>
              </a:ext>
            </a:extLst>
          </p:cNvPr>
          <p:cNvSpPr txBox="1"/>
          <p:nvPr/>
        </p:nvSpPr>
        <p:spPr>
          <a:xfrm>
            <a:off x="5299680" y="4162057"/>
            <a:ext cx="47505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Ao pretender impedir que a Europa Continental comercializasse com a Inglaterra, Napoleão pretendia asfixiar a economia industrial britânica</a:t>
            </a:r>
          </a:p>
        </p:txBody>
      </p:sp>
      <p:sp>
        <p:nvSpPr>
          <p:cNvPr id="32" name="Seta: para Baixo 31">
            <a:extLst>
              <a:ext uri="{FF2B5EF4-FFF2-40B4-BE49-F238E27FC236}">
                <a16:creationId xmlns:a16="http://schemas.microsoft.com/office/drawing/2014/main" id="{2B02B788-DB87-4AE2-BE4C-D7B6ED78A455}"/>
              </a:ext>
            </a:extLst>
          </p:cNvPr>
          <p:cNvSpPr/>
          <p:nvPr/>
        </p:nvSpPr>
        <p:spPr>
          <a:xfrm>
            <a:off x="6884779" y="2478930"/>
            <a:ext cx="172004" cy="15464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74" name="Picture 2" descr="A Expansão Napoleônica, o Bloqueio Continental, Fuga da Família ...">
            <a:extLst>
              <a:ext uri="{FF2B5EF4-FFF2-40B4-BE49-F238E27FC236}">
                <a16:creationId xmlns:a16="http://schemas.microsoft.com/office/drawing/2014/main" id="{28A0CD40-9EAE-4040-B26F-CCE12C089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29" y="3794733"/>
            <a:ext cx="3564019" cy="274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81A027CC-173C-4803-884A-9FB76FDA3C26}"/>
              </a:ext>
            </a:extLst>
          </p:cNvPr>
          <p:cNvCxnSpPr/>
          <p:nvPr/>
        </p:nvCxnSpPr>
        <p:spPr>
          <a:xfrm flipH="1">
            <a:off x="4749978" y="3429000"/>
            <a:ext cx="1835799" cy="1093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64FF1C3-E59F-4490-BFDC-DCD278B350DA}"/>
              </a:ext>
            </a:extLst>
          </p:cNvPr>
          <p:cNvSpPr txBox="1"/>
          <p:nvPr/>
        </p:nvSpPr>
        <p:spPr>
          <a:xfrm>
            <a:off x="5220112" y="5339497"/>
            <a:ext cx="49357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Ao mesmo tempo isso garantiria mercados para o desenvolvimento mercantil e industrial francês ( atendendo mais uma vez a burguesia francesa)</a:t>
            </a:r>
          </a:p>
        </p:txBody>
      </p:sp>
      <p:sp>
        <p:nvSpPr>
          <p:cNvPr id="36" name="Seta: para Baixo 35">
            <a:extLst>
              <a:ext uri="{FF2B5EF4-FFF2-40B4-BE49-F238E27FC236}">
                <a16:creationId xmlns:a16="http://schemas.microsoft.com/office/drawing/2014/main" id="{A9E9660F-0CCB-44FD-9505-8FEBB6491D31}"/>
              </a:ext>
            </a:extLst>
          </p:cNvPr>
          <p:cNvSpPr/>
          <p:nvPr/>
        </p:nvSpPr>
        <p:spPr>
          <a:xfrm>
            <a:off x="6884779" y="5043444"/>
            <a:ext cx="172004" cy="3110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FB0613D1-A19E-45E8-9E40-98C1FBE1F4B5}"/>
              </a:ext>
            </a:extLst>
          </p:cNvPr>
          <p:cNvCxnSpPr>
            <a:stCxn id="35" idx="1"/>
          </p:cNvCxnSpPr>
          <p:nvPr/>
        </p:nvCxnSpPr>
        <p:spPr>
          <a:xfrm flipH="1" flipV="1">
            <a:off x="4636922" y="5536096"/>
            <a:ext cx="583190" cy="26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280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 Império de Napoleão e o Congresso de Viena">
            <a:extLst>
              <a:ext uri="{FF2B5EF4-FFF2-40B4-BE49-F238E27FC236}">
                <a16:creationId xmlns:a16="http://schemas.microsoft.com/office/drawing/2014/main" id="{270D927D-325D-4012-A525-A3FD4F88D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786" y="953744"/>
            <a:ext cx="6735336" cy="5347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049DC0E-1AB7-484E-8961-DE1ADC7153E4}"/>
              </a:ext>
            </a:extLst>
          </p:cNvPr>
          <p:cNvSpPr txBox="1"/>
          <p:nvPr/>
        </p:nvSpPr>
        <p:spPr>
          <a:xfrm>
            <a:off x="2728332" y="94925"/>
            <a:ext cx="6735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Arial Black" panose="020B0A04020102020204" pitchFamily="34" charset="0"/>
              </a:rPr>
              <a:t> Imperialismo Napoleônico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257AB8-59DF-4050-8FAA-D38E4C46BCFA}"/>
              </a:ext>
            </a:extLst>
          </p:cNvPr>
          <p:cNvSpPr txBox="1"/>
          <p:nvPr/>
        </p:nvSpPr>
        <p:spPr>
          <a:xfrm>
            <a:off x="704809" y="1074788"/>
            <a:ext cx="3467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Dentro do contexto de domínios territoriais para garantir o Bloqueio Continental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78B2F9-98E8-4030-80C6-092D12111DA1}"/>
              </a:ext>
            </a:extLst>
          </p:cNvPr>
          <p:cNvSpPr txBox="1"/>
          <p:nvPr/>
        </p:nvSpPr>
        <p:spPr>
          <a:xfrm>
            <a:off x="487018" y="2643808"/>
            <a:ext cx="3667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Napoleão invade  a Espanha ( 1807)  e Portugal (1808)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AF1E6D1-ECA8-4E5A-A28E-6D4292C60C63}"/>
              </a:ext>
            </a:extLst>
          </p:cNvPr>
          <p:cNvCxnSpPr>
            <a:cxnSpLocks/>
          </p:cNvCxnSpPr>
          <p:nvPr/>
        </p:nvCxnSpPr>
        <p:spPr>
          <a:xfrm flipH="1">
            <a:off x="1421357" y="3304904"/>
            <a:ext cx="392596" cy="70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9D4FC77-992B-4462-BAFB-DEC4C6471929}"/>
              </a:ext>
            </a:extLst>
          </p:cNvPr>
          <p:cNvSpPr txBox="1"/>
          <p:nvPr/>
        </p:nvSpPr>
        <p:spPr>
          <a:xfrm>
            <a:off x="314878" y="4050634"/>
            <a:ext cx="2703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família real portuguesa foge para o Brasil, abrindo os   portos da colônia em 1808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1989EF1-04F9-4FB8-AB83-0687416D3AFF}"/>
              </a:ext>
            </a:extLst>
          </p:cNvPr>
          <p:cNvCxnSpPr/>
          <p:nvPr/>
        </p:nvCxnSpPr>
        <p:spPr>
          <a:xfrm>
            <a:off x="2720041" y="3091070"/>
            <a:ext cx="482007" cy="70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BAE9984-0193-4F96-83CC-14E4E46F0481}"/>
              </a:ext>
            </a:extLst>
          </p:cNvPr>
          <p:cNvSpPr txBox="1"/>
          <p:nvPr/>
        </p:nvSpPr>
        <p:spPr>
          <a:xfrm>
            <a:off x="3332022" y="3556051"/>
            <a:ext cx="17974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Napoleão depõe o rei da Espanha e coloca seu irmão – José Bonaparte- para governá-la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B7B6D2F-9850-49B1-AC46-D8058BA8E542}"/>
              </a:ext>
            </a:extLst>
          </p:cNvPr>
          <p:cNvSpPr txBox="1"/>
          <p:nvPr/>
        </p:nvSpPr>
        <p:spPr>
          <a:xfrm>
            <a:off x="836554" y="5504849"/>
            <a:ext cx="4248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Algerian" panose="04020705040A02060702" pitchFamily="82" charset="0"/>
              </a:rPr>
              <a:t>A desorganização das Monarquias Ibéricas favorece o processo de independência das  suas colônias na América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935D54C-FFFD-46BE-9D36-46C0E6CBD289}"/>
              </a:ext>
            </a:extLst>
          </p:cNvPr>
          <p:cNvCxnSpPr/>
          <p:nvPr/>
        </p:nvCxnSpPr>
        <p:spPr>
          <a:xfrm>
            <a:off x="2111208" y="4979504"/>
            <a:ext cx="284122" cy="397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5ACCCD97-4B03-449D-AE26-76C85DBD0D93}"/>
              </a:ext>
            </a:extLst>
          </p:cNvPr>
          <p:cNvCxnSpPr/>
          <p:nvPr/>
        </p:nvCxnSpPr>
        <p:spPr>
          <a:xfrm flipH="1">
            <a:off x="3030669" y="4750904"/>
            <a:ext cx="153117" cy="626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eta: para Baixo 19">
            <a:extLst>
              <a:ext uri="{FF2B5EF4-FFF2-40B4-BE49-F238E27FC236}">
                <a16:creationId xmlns:a16="http://schemas.microsoft.com/office/drawing/2014/main" id="{38ECB4AF-AC3B-4A59-AF60-8445EFFC2BF6}"/>
              </a:ext>
            </a:extLst>
          </p:cNvPr>
          <p:cNvSpPr/>
          <p:nvPr/>
        </p:nvSpPr>
        <p:spPr>
          <a:xfrm>
            <a:off x="1813953" y="2150845"/>
            <a:ext cx="144056" cy="3402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8662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oya, los desastres de la guer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3988"/>
            <a:ext cx="12033504" cy="6712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2023872" y="-85344"/>
            <a:ext cx="59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OS DESASTRES DA GUERRA- FRANCISCO GOYA- ESPANHA</a:t>
            </a:r>
          </a:p>
        </p:txBody>
      </p:sp>
    </p:spTree>
    <p:extLst>
      <p:ext uri="{BB962C8B-B14F-4D97-AF65-F5344CB8AC3E}">
        <p14:creationId xmlns:p14="http://schemas.microsoft.com/office/powerpoint/2010/main" val="1780847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DF623655-4C3D-430A-8EE8-BE3EDD3B58A2}"/>
              </a:ext>
            </a:extLst>
          </p:cNvPr>
          <p:cNvSpPr/>
          <p:nvPr/>
        </p:nvSpPr>
        <p:spPr>
          <a:xfrm>
            <a:off x="2879035" y="95934"/>
            <a:ext cx="64339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As resistências e a crise do Imperialismo Napoleônico</a:t>
            </a:r>
            <a:endParaRPr lang="pt-BR" dirty="0"/>
          </a:p>
        </p:txBody>
      </p:sp>
      <p:pic>
        <p:nvPicPr>
          <p:cNvPr id="4" name="Picture 1" descr="imperio_napoleonico.jpg">
            <a:extLst>
              <a:ext uri="{FF2B5EF4-FFF2-40B4-BE49-F238E27FC236}">
                <a16:creationId xmlns:a16="http://schemas.microsoft.com/office/drawing/2014/main" id="{D010C553-1155-481A-B782-B8207B97F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23" y="827633"/>
            <a:ext cx="3715234" cy="2770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B9838C2-E0F1-4DF3-92AC-24CE94BFF2B1}"/>
              </a:ext>
            </a:extLst>
          </p:cNvPr>
          <p:cNvSpPr/>
          <p:nvPr/>
        </p:nvSpPr>
        <p:spPr>
          <a:xfrm>
            <a:off x="8241691" y="1045337"/>
            <a:ext cx="387792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  <a:defRPr/>
            </a:pPr>
            <a:r>
              <a:rPr lang="pt-BR" altLang="pt-BR" dirty="0"/>
              <a:t>Os nacionalismos das áreas ocupadas que reagem ao domínio francês.</a:t>
            </a:r>
          </a:p>
          <a:p>
            <a:pPr marL="571500" indent="-571500">
              <a:buFont typeface="Wingdings" panose="05000000000000000000" pitchFamily="2" charset="2"/>
              <a:buChar char="Ø"/>
              <a:defRPr/>
            </a:pPr>
            <a:r>
              <a:rPr lang="pt-BR" altLang="pt-BR" dirty="0"/>
              <a:t>O fracasso do Bloqueio Continental – França não conseguia garantir o suprimento de manufaturas que o mercado europeu precisava e nem comprava matérias primas na mesma escala que a Inglaterra</a:t>
            </a:r>
          </a:p>
          <a:p>
            <a:pPr marL="571500" indent="-571500">
              <a:buFont typeface="Wingdings" panose="05000000000000000000" pitchFamily="2" charset="2"/>
              <a:buChar char="Ø"/>
              <a:defRPr/>
            </a:pPr>
            <a:r>
              <a:rPr lang="pt-BR" altLang="pt-BR" dirty="0"/>
              <a:t>A invasão da Rússia para garantir o Bloqueio Continental é um desastre militar graças ao inverno Russo e a Política da terra Arrasada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3DBC71FF-18F1-4868-8AC0-D9F5E22097F4}"/>
              </a:ext>
            </a:extLst>
          </p:cNvPr>
          <p:cNvCxnSpPr>
            <a:cxnSpLocks/>
          </p:cNvCxnSpPr>
          <p:nvPr/>
        </p:nvCxnSpPr>
        <p:spPr>
          <a:xfrm>
            <a:off x="7206369" y="900857"/>
            <a:ext cx="943718" cy="1031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4A7CEADB-7841-42FA-9C9C-434022E86E16}"/>
              </a:ext>
            </a:extLst>
          </p:cNvPr>
          <p:cNvSpPr txBox="1"/>
          <p:nvPr/>
        </p:nvSpPr>
        <p:spPr>
          <a:xfrm>
            <a:off x="9014792" y="511432"/>
            <a:ext cx="1938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Motivos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3C421D9-AEC7-47EA-9450-D39F9AFB6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23" y="3429000"/>
            <a:ext cx="4133364" cy="310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BFD6E172-5F0A-49B5-B2AC-CFA5F5104452}"/>
              </a:ext>
            </a:extLst>
          </p:cNvPr>
          <p:cNvSpPr/>
          <p:nvPr/>
        </p:nvSpPr>
        <p:spPr>
          <a:xfrm>
            <a:off x="4463015" y="5292654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  <a:defRPr/>
            </a:pPr>
            <a:r>
              <a:rPr lang="pt-BR" altLang="pt-BR" dirty="0"/>
              <a:t>Enfraquecido  é derrotado e preso na Ilha de Elba. Dali foge , quando já estava acontecendo o Congresso de Viena, retoma o governo francês, mas é derrotado de novo. Termina preso na ilha de Santa Helena  no litoral da África (1815)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2F6D261-EA63-40E3-8C04-EE3958A39419}"/>
              </a:ext>
            </a:extLst>
          </p:cNvPr>
          <p:cNvSpPr txBox="1"/>
          <p:nvPr/>
        </p:nvSpPr>
        <p:spPr>
          <a:xfrm>
            <a:off x="4907929" y="1633046"/>
            <a:ext cx="26030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Diante da desobediência Russa, em respeitar o Bloqueio Continental,  Napoleão  mobiliza 600.000 soldados e  atravessa  a Europa  central em 1811/12 com o objetivo de invadir a Rússia. Sai de Moscou com  menos de 100.000 soldados.</a:t>
            </a:r>
          </a:p>
        </p:txBody>
      </p:sp>
      <p:sp>
        <p:nvSpPr>
          <p:cNvPr id="14" name="Chave Esquerda 13">
            <a:extLst>
              <a:ext uri="{FF2B5EF4-FFF2-40B4-BE49-F238E27FC236}">
                <a16:creationId xmlns:a16="http://schemas.microsoft.com/office/drawing/2014/main" id="{AC93B1CD-F19C-4B93-A37D-C7D74DB431BC}"/>
              </a:ext>
            </a:extLst>
          </p:cNvPr>
          <p:cNvSpPr/>
          <p:nvPr/>
        </p:nvSpPr>
        <p:spPr>
          <a:xfrm>
            <a:off x="8150087" y="973097"/>
            <a:ext cx="437322" cy="42473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Baixo 14">
            <a:extLst>
              <a:ext uri="{FF2B5EF4-FFF2-40B4-BE49-F238E27FC236}">
                <a16:creationId xmlns:a16="http://schemas.microsoft.com/office/drawing/2014/main" id="{673600CE-DEE9-4470-AE78-C2DB5A140985}"/>
              </a:ext>
            </a:extLst>
          </p:cNvPr>
          <p:cNvSpPr/>
          <p:nvPr/>
        </p:nvSpPr>
        <p:spPr>
          <a:xfrm>
            <a:off x="6003235" y="5049366"/>
            <a:ext cx="92765" cy="2432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651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errota de Napoleão na Rússia (Foto: Reprodução)">
            <a:extLst>
              <a:ext uri="{FF2B5EF4-FFF2-40B4-BE49-F238E27FC236}">
                <a16:creationId xmlns:a16="http://schemas.microsoft.com/office/drawing/2014/main" id="{8AA82487-C257-2C3A-4073-3AF0573EE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" y="248412"/>
            <a:ext cx="9204960" cy="655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0DA1CF0-7F9C-E8BB-9C95-EA013E125730}"/>
              </a:ext>
            </a:extLst>
          </p:cNvPr>
          <p:cNvSpPr txBox="1"/>
          <p:nvPr/>
        </p:nvSpPr>
        <p:spPr>
          <a:xfrm>
            <a:off x="1097280" y="148310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retirada de Napoleão de Moscou</a:t>
            </a:r>
            <a:r>
              <a:rPr lang="pt-BR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de Adolph Northen-1851</a:t>
            </a: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70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2EE1343-4BD6-43BC-9CB2-C3AB63D0BD93}"/>
              </a:ext>
            </a:extLst>
          </p:cNvPr>
          <p:cNvSpPr txBox="1"/>
          <p:nvPr/>
        </p:nvSpPr>
        <p:spPr>
          <a:xfrm>
            <a:off x="3371850" y="247650"/>
            <a:ext cx="5010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O Congresso de Viena- 1815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73C35C0-BD8A-44B3-9BE6-4475D95B60F9}"/>
              </a:ext>
            </a:extLst>
          </p:cNvPr>
          <p:cNvSpPr/>
          <p:nvPr/>
        </p:nvSpPr>
        <p:spPr>
          <a:xfrm>
            <a:off x="737199" y="78826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Congresso de Viena, convocado após a primeira derrota de Napoleão, tinha como objetivo reorganizar a Europa, de acordo com os interesses das grandes potências que venceram Napoleão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37B5432-6FBE-4892-AE67-C4ECA51BD850}"/>
              </a:ext>
            </a:extLst>
          </p:cNvPr>
          <p:cNvSpPr/>
          <p:nvPr/>
        </p:nvSpPr>
        <p:spPr>
          <a:xfrm>
            <a:off x="6690464" y="4520017"/>
            <a:ext cx="28098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representante francês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Talleyrand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propôs o princípio da Legitimidade e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Metternich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defendeu o equilíbrio europeu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697547D-B8A9-4F2E-959C-2A01F6411F57}"/>
              </a:ext>
            </a:extLst>
          </p:cNvPr>
          <p:cNvSpPr/>
          <p:nvPr/>
        </p:nvSpPr>
        <p:spPr>
          <a:xfrm>
            <a:off x="4674645" y="2654141"/>
            <a:ext cx="22225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Áustria, Prússia, Rússia, Inglaterra , França, entre outros, fizeram parte dele.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C6E84D6-75A0-4E7C-807B-EEEF41BA02EA}"/>
              </a:ext>
            </a:extLst>
          </p:cNvPr>
          <p:cNvSpPr txBox="1"/>
          <p:nvPr/>
        </p:nvSpPr>
        <p:spPr>
          <a:xfrm>
            <a:off x="8192582" y="3506405"/>
            <a:ext cx="1916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Objetivos e Princípios básicos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3420120-3B62-4A69-8750-4D2F2641581C}"/>
              </a:ext>
            </a:extLst>
          </p:cNvPr>
          <p:cNvSpPr txBox="1"/>
          <p:nvPr/>
        </p:nvSpPr>
        <p:spPr>
          <a:xfrm>
            <a:off x="9925050" y="1499175"/>
            <a:ext cx="2124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Restaurar o Antigo Regime </a:t>
            </a:r>
            <a:r>
              <a:rPr lang="pt-BR" dirty="0"/>
              <a:t>e suas características em toda a Europa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57253A58-0E2B-4EC8-92D6-CEF60AA65639}"/>
              </a:ext>
            </a:extLst>
          </p:cNvPr>
          <p:cNvCxnSpPr/>
          <p:nvPr/>
        </p:nvCxnSpPr>
        <p:spPr>
          <a:xfrm>
            <a:off x="9258300" y="171450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7EA616D-7C6A-49CB-92C9-FF5CED2D39CD}"/>
              </a:ext>
            </a:extLst>
          </p:cNvPr>
          <p:cNvSpPr txBox="1"/>
          <p:nvPr/>
        </p:nvSpPr>
        <p:spPr>
          <a:xfrm>
            <a:off x="9939337" y="2655808"/>
            <a:ext cx="2095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Adotar o Princípio da Legitimidade nessa restauração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DA0D451-FE54-487E-AED1-F155943FDEBB}"/>
              </a:ext>
            </a:extLst>
          </p:cNvPr>
          <p:cNvSpPr txBox="1"/>
          <p:nvPr/>
        </p:nvSpPr>
        <p:spPr>
          <a:xfrm>
            <a:off x="9953625" y="3579138"/>
            <a:ext cx="2095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Garantir o equilíbrio europeu</a:t>
            </a:r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F98D615B-2CDC-49A6-8141-8473A890E804}"/>
              </a:ext>
            </a:extLst>
          </p:cNvPr>
          <p:cNvSpPr/>
          <p:nvPr/>
        </p:nvSpPr>
        <p:spPr>
          <a:xfrm>
            <a:off x="5058775" y="1896606"/>
            <a:ext cx="99024" cy="6220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Congresso de Viena - Brasil Escola">
            <a:extLst>
              <a:ext uri="{FF2B5EF4-FFF2-40B4-BE49-F238E27FC236}">
                <a16:creationId xmlns:a16="http://schemas.microsoft.com/office/drawing/2014/main" id="{548930EB-E561-43B5-95FA-122DEE796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166" y="1333951"/>
            <a:ext cx="2124245" cy="155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8A604118-5FAC-41C6-89C6-07358EB67967}"/>
              </a:ext>
            </a:extLst>
          </p:cNvPr>
          <p:cNvCxnSpPr>
            <a:cxnSpLocks/>
          </p:cNvCxnSpPr>
          <p:nvPr/>
        </p:nvCxnSpPr>
        <p:spPr>
          <a:xfrm flipV="1">
            <a:off x="7707930" y="4011890"/>
            <a:ext cx="407371" cy="419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5AC5648-EB34-4F98-B41C-68D48960CAF7}"/>
              </a:ext>
            </a:extLst>
          </p:cNvPr>
          <p:cNvSpPr txBox="1"/>
          <p:nvPr/>
        </p:nvSpPr>
        <p:spPr>
          <a:xfrm>
            <a:off x="9967913" y="4221838"/>
            <a:ext cx="20954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Criação da Santa Aliança para reprimir movimentos políticos liberais na Europa e no Mundo</a:t>
            </a:r>
          </a:p>
        </p:txBody>
      </p:sp>
      <p:pic>
        <p:nvPicPr>
          <p:cNvPr id="1028" name="Picture 4" descr="Congresso de Viena: saiba o que foi e quais o temas discutidos ...">
            <a:extLst>
              <a:ext uri="{FF2B5EF4-FFF2-40B4-BE49-F238E27FC236}">
                <a16:creationId xmlns:a16="http://schemas.microsoft.com/office/drawing/2014/main" id="{3129B2D9-5DDF-4C56-B129-1D68AC6B1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90" y="1982998"/>
            <a:ext cx="4036520" cy="3050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5F0F3E99-8E70-4C14-9AD2-0862B53C5BA4}"/>
              </a:ext>
            </a:extLst>
          </p:cNvPr>
          <p:cNvSpPr txBox="1"/>
          <p:nvPr/>
        </p:nvSpPr>
        <p:spPr>
          <a:xfrm>
            <a:off x="1235192" y="5236879"/>
            <a:ext cx="42733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1"/>
                </a:solidFill>
              </a:rPr>
              <a:t>Rússia e Prússia dividem a Polônia entre si. Áustria passa a dominar várias regiões da Itália e os estados germânicos ( antigo SIRG vira Confederação Germânica ). Inglaterra ganha áreas coloniais...</a:t>
            </a:r>
          </a:p>
        </p:txBody>
      </p:sp>
      <p:sp>
        <p:nvSpPr>
          <p:cNvPr id="23" name="Chave Esquerda 22">
            <a:extLst>
              <a:ext uri="{FF2B5EF4-FFF2-40B4-BE49-F238E27FC236}">
                <a16:creationId xmlns:a16="http://schemas.microsoft.com/office/drawing/2014/main" id="{78256DAB-BE78-4773-A025-E49693537FA5}"/>
              </a:ext>
            </a:extLst>
          </p:cNvPr>
          <p:cNvSpPr/>
          <p:nvPr/>
        </p:nvSpPr>
        <p:spPr>
          <a:xfrm>
            <a:off x="9862056" y="1333951"/>
            <a:ext cx="253494" cy="48382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6642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FE6193F-14D1-4226-B05D-AB5EE34404A7}"/>
              </a:ext>
            </a:extLst>
          </p:cNvPr>
          <p:cNvSpPr/>
          <p:nvPr/>
        </p:nvSpPr>
        <p:spPr>
          <a:xfrm>
            <a:off x="506895" y="274265"/>
            <a:ext cx="1052554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rgbClr val="444444"/>
                </a:solidFill>
                <a:latin typeface="NewsGothicMt"/>
              </a:rPr>
              <a:t>(PUC-Rio) Como general, cônsul e, depois, imperador, Napoleão Bonaparte transformou a França de um país sitiado numa potência expansionista com influência em todo o continente europeu. No entanto, a expansão francesa com seus ideais burgueses encontrou muitas resistências, principalmente entre as nações dominadas por setores aristocráticos.</a:t>
            </a:r>
          </a:p>
          <a:p>
            <a:pPr algn="just"/>
            <a:r>
              <a:rPr lang="pt-BR" sz="2400" dirty="0">
                <a:solidFill>
                  <a:srgbClr val="444444"/>
                </a:solidFill>
                <a:latin typeface="NewsGothicMt"/>
              </a:rPr>
              <a:t>Assinale a opção que identifica corretamente uma ação implementada pelo governo napoleônico.</a:t>
            </a:r>
          </a:p>
          <a:p>
            <a:pPr algn="just"/>
            <a:r>
              <a:rPr lang="pt-BR" sz="2400" dirty="0">
                <a:solidFill>
                  <a:srgbClr val="444444"/>
                </a:solidFill>
                <a:latin typeface="NewsGothicMt"/>
              </a:rPr>
              <a:t>a) O estabelecimento do catolicismo cristão e romano como religião de Estado.</a:t>
            </a:r>
          </a:p>
          <a:p>
            <a:pPr algn="just"/>
            <a:r>
              <a:rPr lang="pt-BR" sz="2400" dirty="0">
                <a:solidFill>
                  <a:srgbClr val="444444"/>
                </a:solidFill>
                <a:latin typeface="NewsGothicMt"/>
              </a:rPr>
              <a:t>b) A descentralização das atividades econômicas, o que permitia que as economias locais prosperassem sem o pagamento de impostos.</a:t>
            </a:r>
          </a:p>
          <a:p>
            <a:pPr algn="just"/>
            <a:r>
              <a:rPr lang="pt-BR" sz="2400" dirty="0">
                <a:solidFill>
                  <a:srgbClr val="444444"/>
                </a:solidFill>
                <a:latin typeface="NewsGothicMt"/>
              </a:rPr>
              <a:t>c) A adoção do Código Civil, que garantia a liberdade individual, a igualdade perante a lei e o direito à propriedade privada.</a:t>
            </a:r>
          </a:p>
          <a:p>
            <a:pPr algn="just"/>
            <a:r>
              <a:rPr lang="pt-BR" sz="2400" dirty="0">
                <a:solidFill>
                  <a:srgbClr val="444444"/>
                </a:solidFill>
                <a:latin typeface="NewsGothicMt"/>
              </a:rPr>
              <a:t>d) O estímulo, por parte das leis francesas, à criação de sindicatos de trabalhadores, livres da influência do Estado.</a:t>
            </a:r>
          </a:p>
          <a:p>
            <a:pPr algn="just"/>
            <a:r>
              <a:rPr lang="pt-BR" sz="2400" dirty="0">
                <a:solidFill>
                  <a:srgbClr val="444444"/>
                </a:solidFill>
                <a:latin typeface="NewsGothicMt"/>
              </a:rPr>
              <a:t>e) A estatização de toda a propriedade agrícola, comercial e industrial nas regiões dominadas pelo exército napoleônico.</a:t>
            </a:r>
            <a:endParaRPr lang="pt-BR" sz="2400" b="0" i="0" dirty="0">
              <a:solidFill>
                <a:srgbClr val="444444"/>
              </a:solidFill>
              <a:effectLst/>
              <a:latin typeface="NewsGothicMt"/>
            </a:endParaRPr>
          </a:p>
        </p:txBody>
      </p:sp>
    </p:spTree>
    <p:extLst>
      <p:ext uri="{BB962C8B-B14F-4D97-AF65-F5344CB8AC3E}">
        <p14:creationId xmlns:p14="http://schemas.microsoft.com/office/powerpoint/2010/main" val="1230564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EBB9407-E075-4D33-A35D-CB81B357000D}"/>
              </a:ext>
            </a:extLst>
          </p:cNvPr>
          <p:cNvSpPr/>
          <p:nvPr/>
        </p:nvSpPr>
        <p:spPr>
          <a:xfrm>
            <a:off x="1202636" y="491416"/>
            <a:ext cx="911418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rgbClr val="444444"/>
                </a:solidFill>
                <a:latin typeface="NewsGothicMt"/>
              </a:rPr>
              <a:t>UFRGS) Por volta de 1811, o Império napoleônico atingiu o seu apogeu. Direta ou indiretamente, Napoleão dominou mais da metade do continente europeu. Tal conjuntura, no entanto, reforçou os sentimentos nacionalistas da população dessas regiões. A ideia de nação, inspirada nas próprias concepções francesas, passou a ser uma arma desses nacionalistas contra Napoleão.</a:t>
            </a:r>
          </a:p>
          <a:p>
            <a:pPr algn="just"/>
            <a:r>
              <a:rPr lang="pt-BR" dirty="0">
                <a:solidFill>
                  <a:srgbClr val="444444"/>
                </a:solidFill>
                <a:latin typeface="NewsGothicMt"/>
              </a:rPr>
              <a:t>Assinale a afirmação correta, relativa à conjuntura acima delineada.</a:t>
            </a:r>
          </a:p>
          <a:p>
            <a:pPr algn="just"/>
            <a:r>
              <a:rPr lang="pt-BR" dirty="0">
                <a:solidFill>
                  <a:srgbClr val="444444"/>
                </a:solidFill>
                <a:latin typeface="NewsGothicMt"/>
              </a:rPr>
              <a:t>a) Após o bloqueio continental, em todos os Estados submetidos à dominação napoleônica, os operários e os camponeses, beneficiados pela prosperidade econômica, atuaram na defesa de Napoleão contra o nacionalismo das elites locais.</a:t>
            </a:r>
          </a:p>
          <a:p>
            <a:pPr algn="just"/>
            <a:r>
              <a:rPr lang="pt-BR" dirty="0">
                <a:solidFill>
                  <a:srgbClr val="444444"/>
                </a:solidFill>
                <a:latin typeface="NewsGothicMt"/>
              </a:rPr>
              <a:t>b) A Inglaterra, procurando manter-se longe dos problemas do continente, isolou-se e não interveio nos conflitos desencadeados pelos anseios de Napoleão de construir um Império.</a:t>
            </a:r>
          </a:p>
          <a:p>
            <a:pPr algn="just"/>
            <a:r>
              <a:rPr lang="pt-BR" dirty="0">
                <a:solidFill>
                  <a:srgbClr val="444444"/>
                </a:solidFill>
                <a:latin typeface="NewsGothicMt"/>
              </a:rPr>
              <a:t>c) A Espanha, vinculada à França pela dinastia dos Bourbon desde o século XVIII, não reagiu à dominação francesa. Em nome do respeito às suas tradições e ao seu nacionalismo, a Espanha aceitou a soberania estrangeira imposta por Napoleão.</a:t>
            </a:r>
          </a:p>
          <a:p>
            <a:pPr algn="just"/>
            <a:r>
              <a:rPr lang="pt-BR" dirty="0">
                <a:solidFill>
                  <a:srgbClr val="444444"/>
                </a:solidFill>
                <a:latin typeface="NewsGothicMt"/>
              </a:rPr>
              <a:t>d) Em 1812, Napoleão estabeleceu sólida aliança com o Papa, provocando a adesão generalizada dos católicos. Temporariamente, os surtos nacionalistas foram controlados, o que o levou a garantir suas progressivas vitórias na Rússia.</a:t>
            </a:r>
          </a:p>
          <a:p>
            <a:pPr algn="just"/>
            <a:r>
              <a:rPr lang="pt-BR" dirty="0">
                <a:solidFill>
                  <a:srgbClr val="444444"/>
                </a:solidFill>
                <a:latin typeface="NewsGothicMt"/>
              </a:rPr>
              <a:t>e) Herdeira da Filosofia das Luzes, a ideia de nação, tal como difundida na França, fundou-se sobre uma concepção universalista do homem e de seus direitos naturais. Essa concepção, porém, pressupunha o princípio do direito dos povos de dispor sobre si mesmos.</a:t>
            </a:r>
            <a:endParaRPr lang="pt-BR" b="0" i="0" dirty="0">
              <a:solidFill>
                <a:srgbClr val="444444"/>
              </a:solidFill>
              <a:effectLst/>
              <a:latin typeface="NewsGothicMt"/>
            </a:endParaRPr>
          </a:p>
        </p:txBody>
      </p:sp>
    </p:spTree>
    <p:extLst>
      <p:ext uri="{BB962C8B-B14F-4D97-AF65-F5344CB8AC3E}">
        <p14:creationId xmlns:p14="http://schemas.microsoft.com/office/powerpoint/2010/main" val="1900158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A4ACFC9-3359-4504-B345-54FD88A79BB1}"/>
              </a:ext>
            </a:extLst>
          </p:cNvPr>
          <p:cNvSpPr/>
          <p:nvPr/>
        </p:nvSpPr>
        <p:spPr>
          <a:xfrm>
            <a:off x="155712" y="549318"/>
            <a:ext cx="10340009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A3A3A"/>
                </a:solidFill>
                <a:latin typeface="-apple-system"/>
              </a:rPr>
              <a:t> (</a:t>
            </a:r>
            <a:r>
              <a:rPr lang="pt-BR" sz="2800" dirty="0">
                <a:solidFill>
                  <a:srgbClr val="3A3A3A"/>
                </a:solidFill>
                <a:latin typeface="-apple-system"/>
              </a:rPr>
              <a:t>UFV) Durante o período napoleônico (1799-1815), dentre as medidas adotadas por Bonaparte, assinale aquela que teve repercussões importantes nas relações comerciais do Brasil com a Inglaterra:</a:t>
            </a:r>
            <a:br>
              <a:rPr lang="pt-BR" sz="2800" dirty="0">
                <a:solidFill>
                  <a:srgbClr val="3A3A3A"/>
                </a:solidFill>
                <a:latin typeface="-apple-system"/>
              </a:rPr>
            </a:br>
            <a:r>
              <a:rPr lang="pt-BR" sz="2800" dirty="0">
                <a:solidFill>
                  <a:srgbClr val="3A3A3A"/>
                </a:solidFill>
                <a:latin typeface="-apple-system"/>
              </a:rPr>
              <a:t>a) a restauração financeira, com a consequente fundação do Banco da França, em 1800.</a:t>
            </a:r>
            <a:br>
              <a:rPr lang="pt-BR" sz="2800" dirty="0">
                <a:solidFill>
                  <a:srgbClr val="3A3A3A"/>
                </a:solidFill>
                <a:latin typeface="-apple-system"/>
              </a:rPr>
            </a:br>
            <a:r>
              <a:rPr lang="pt-BR" sz="2800" dirty="0">
                <a:solidFill>
                  <a:srgbClr val="3A3A3A"/>
                </a:solidFill>
                <a:latin typeface="-apple-system"/>
              </a:rPr>
              <a:t>b) decretação do Bloqueio Continental, em 1806, com o qual Napoleão visava arruinar a indústria e o comércio ingleses;</a:t>
            </a:r>
            <a:br>
              <a:rPr lang="pt-BR" sz="2800" dirty="0">
                <a:solidFill>
                  <a:srgbClr val="3A3A3A"/>
                </a:solidFill>
                <a:latin typeface="-apple-system"/>
              </a:rPr>
            </a:br>
            <a:r>
              <a:rPr lang="pt-BR" sz="2800" dirty="0">
                <a:solidFill>
                  <a:srgbClr val="3A3A3A"/>
                </a:solidFill>
                <a:latin typeface="-apple-system"/>
              </a:rPr>
              <a:t>c) promulgação, em 1804, do Código Civil que incorporou definitivamente, na </a:t>
            </a:r>
            <a:r>
              <a:rPr lang="pt-BR" sz="2800" dirty="0">
                <a:solidFill>
                  <a:srgbClr val="1E73BE"/>
                </a:solidFill>
                <a:latin typeface="-apple-system"/>
                <a:hlinkClick r:id="rId2" tooltip="legislação"/>
              </a:rPr>
              <a:t>legislação</a:t>
            </a:r>
            <a:r>
              <a:rPr lang="pt-BR" sz="2800" dirty="0">
                <a:solidFill>
                  <a:srgbClr val="3A3A3A"/>
                </a:solidFill>
                <a:latin typeface="-apple-system"/>
              </a:rPr>
              <a:t> francesa, os princípios liberais burgueses.</a:t>
            </a:r>
            <a:br>
              <a:rPr lang="pt-BR" sz="2800" dirty="0">
                <a:solidFill>
                  <a:srgbClr val="3A3A3A"/>
                </a:solidFill>
                <a:latin typeface="-apple-system"/>
              </a:rPr>
            </a:br>
            <a:r>
              <a:rPr lang="pt-BR" sz="2800" dirty="0">
                <a:solidFill>
                  <a:srgbClr val="3A3A3A"/>
                </a:solidFill>
                <a:latin typeface="-apple-system"/>
              </a:rPr>
              <a:t>d) expansão territorial da França com a incorporação de várias regiões da Europa, formando o chamado Império Napoleônico.</a:t>
            </a:r>
            <a:br>
              <a:rPr lang="pt-BR" sz="2800" dirty="0">
                <a:solidFill>
                  <a:srgbClr val="3A3A3A"/>
                </a:solidFill>
                <a:latin typeface="-apple-system"/>
              </a:rPr>
            </a:br>
            <a:r>
              <a:rPr lang="pt-BR" sz="2800" dirty="0">
                <a:solidFill>
                  <a:srgbClr val="3A3A3A"/>
                </a:solidFill>
                <a:latin typeface="-apple-system"/>
              </a:rPr>
              <a:t>e) criação do franco, como novo padrão monetário.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2484995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1458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2" baseType="lpstr">
      <vt:lpstr>Algerian</vt:lpstr>
      <vt:lpstr>-apple-system</vt:lpstr>
      <vt:lpstr>Arial</vt:lpstr>
      <vt:lpstr>Arial Black</vt:lpstr>
      <vt:lpstr>Calibri</vt:lpstr>
      <vt:lpstr>Calibri Light</vt:lpstr>
      <vt:lpstr>NewsGothicMt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Celso Siracusa</dc:creator>
  <cp:lastModifiedBy>Celso Aparecido Siracusa</cp:lastModifiedBy>
  <cp:revision>33</cp:revision>
  <dcterms:created xsi:type="dcterms:W3CDTF">2020-04-26T00:13:40Z</dcterms:created>
  <dcterms:modified xsi:type="dcterms:W3CDTF">2026-02-10T22:25:50Z</dcterms:modified>
</cp:coreProperties>
</file>