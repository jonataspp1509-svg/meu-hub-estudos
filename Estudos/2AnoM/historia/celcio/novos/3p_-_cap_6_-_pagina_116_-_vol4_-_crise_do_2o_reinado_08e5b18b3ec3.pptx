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6" r:id="rId12"/>
    <p:sldId id="267" r:id="rId13"/>
    <p:sldId id="264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354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7024E-8A9D-DE3B-45CB-25299CBBF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02E6DA-FC69-38B0-215C-DA16CB14D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63D258-A81F-630C-9CA2-B1A542BE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09BBF-6418-44D4-97D4-21F5A6DAA9C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28483F-EAEB-AD66-542F-1E4FED33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96F865-D72A-FFB4-1446-C7FE8DA0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AAAC-7281-4066-841B-25EAE2080D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372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97DDE-CFD5-87A3-68A6-F600E798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DFDE1-F8FE-FA94-8D49-9B70D117D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00B890-9DFB-720B-9B60-B06DA4F9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09BBF-6418-44D4-97D4-21F5A6DAA9C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139118-D035-CC8B-C5A9-92172A3D2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0AC945-CD93-FAB0-94DE-8BF73253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AAAC-7281-4066-841B-25EAE2080D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2773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F9C00-C099-972F-80F3-E7F017014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2D4A69-AB8E-62CB-C8F4-FC054213B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1CC59F-1556-8317-E1E8-F141D628B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09BBF-6418-44D4-97D4-21F5A6DAA9C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EC29E7-F3A7-CDF9-0CD1-90A37613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EDCABB-4EBF-93E9-8A2D-3C10DFAB3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AAAC-7281-4066-841B-25EAE2080D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1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8D2C9-E36A-CFCC-1005-6EEE10BBD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19D8A0-030C-1B5B-5CCE-74A5EE1AF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F58090-28DE-4207-4FFC-4CF4D2F61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A7DFBE-8264-8EFB-A0FF-F7DF5279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09BBF-6418-44D4-97D4-21F5A6DAA9C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E7EE50-C077-7670-B858-41C6C4022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A30D98-A327-BF98-BAA9-2E2DC470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AAAC-7281-4066-841B-25EAE2080D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30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F5EE1-B0F1-BB06-2E86-913A19E7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31ED51-8D6A-6CB5-30D0-200924D52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9D0D29-4F54-8B4D-C827-6BDDCE14C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3359121-1183-452D-DA03-CB043A29D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23428BB-377B-D572-F3FB-2602EBB32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FB75D3B-9D67-58D4-B4AA-CF18C3C6A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09BBF-6418-44D4-97D4-21F5A6DAA9C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A4028F0-69B8-F96D-8851-FD084F20E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8D8FCDF-7B2B-EAB5-8229-69B5B683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AAAC-7281-4066-841B-25EAE2080D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88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3A0C8-60F3-C0C4-3013-1719F372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FD1C661-607E-E8A3-2628-9C8E0BBC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09BBF-6418-44D4-97D4-21F5A6DAA9C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7E66E0A-B4D1-2FBC-7E8E-DDD88D19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D3E8866-F2F9-D793-F60D-150CC859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AAAC-7281-4066-841B-25EAE2080D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76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F76CD0-1E4A-5938-7D03-7ED0500D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09BBF-6418-44D4-97D4-21F5A6DAA9C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CCFD40-6E93-DA60-7271-99412001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FA16F7-9A7B-6744-02CE-CAD6DE09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AAAC-7281-4066-841B-25EAE2080D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76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D1B4F-D4D4-70CF-8305-BA98D8D67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9BBC3E-F575-EED9-5453-A210F74CE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A083290-93A1-38B1-6741-0A9388C88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7BD087-0D24-9406-3BA9-8F0BABDF2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09BBF-6418-44D4-97D4-21F5A6DAA9C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D22323-3AD3-0D83-5CFD-BF07C0E8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844FFA-54AE-E5B3-6DB2-73E2FE402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AAAC-7281-4066-841B-25EAE2080D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51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647BF-2638-B666-6CC9-D7B70BE76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C34F5D7-9CD7-BCF0-EDE6-4D4A3057C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7E3C42-C641-F2F4-DCF6-8124888B6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C68932-7508-3809-1649-3F6CC682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09BBF-6418-44D4-97D4-21F5A6DAA9C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7F74F4-1175-17D2-47AB-00DCE2AB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FA5D2-9B79-E391-E206-D78783BB7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AAAC-7281-4066-841B-25EAE2080D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06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75CC5-B94D-F6D2-6B11-2FE7863B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A5B371-DB9B-12E8-D171-DB8845593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91FF47-F9D1-455F-4E12-111FE1E01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09BBF-6418-44D4-97D4-21F5A6DAA9C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2DF9DA-1BEB-1A48-D8DC-D9367F4D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816DF0-33B9-5E6E-AC88-35847782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AAAC-7281-4066-841B-25EAE2080D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615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1578EB-C1F5-7311-8F74-6E93CF33A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851623-F15E-4380-8092-F859D8F78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8DC9DD-DAF2-D886-041E-36FEA0B5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09BBF-6418-44D4-97D4-21F5A6DAA9C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4BF231-429B-06DA-CB6E-14FC86A4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831A2-0376-D976-F2FA-9A55C49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AAAC-7281-4066-841B-25EAE2080D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4424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213728-170B-EA1D-38AA-77EBAADD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7DD817-8B04-371E-FC8C-ECB83C994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408DF8-8389-648D-AAA1-D7AA31ED2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09BBF-6418-44D4-97D4-21F5A6DAA9C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83CC3C-7087-1E67-3AD8-79FB8B13A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1F35DA-42FA-C798-9015-580D86147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3AAAC-7281-4066-841B-25EAE2080D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591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7F000CF-CFB5-800C-E67F-E2744B4D794C}"/>
              </a:ext>
            </a:extLst>
          </p:cNvPr>
          <p:cNvSpPr txBox="1"/>
          <p:nvPr/>
        </p:nvSpPr>
        <p:spPr>
          <a:xfrm>
            <a:off x="259141" y="251993"/>
            <a:ext cx="538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CRISE DO 2º REINADO</a:t>
            </a:r>
          </a:p>
          <a:p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BE8F34F-0850-F608-11F8-D518FCAF0E45}"/>
              </a:ext>
            </a:extLst>
          </p:cNvPr>
          <p:cNvSpPr txBox="1"/>
          <p:nvPr/>
        </p:nvSpPr>
        <p:spPr>
          <a:xfrm>
            <a:off x="518160" y="1955915"/>
            <a:ext cx="233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O MOVIMENTO ABOLICIONISTA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6554-54F9-98A3-0EDD-F4E165C42AF0}"/>
              </a:ext>
            </a:extLst>
          </p:cNvPr>
          <p:cNvSpPr txBox="1"/>
          <p:nvPr/>
        </p:nvSpPr>
        <p:spPr>
          <a:xfrm>
            <a:off x="3840480" y="1175440"/>
            <a:ext cx="767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Surge uma ruptura do Partido Liberal que forma em 1870 o Partido Republicano (no Rio de Janeiro). Em São Paulo, setores da burguesia cafeeira paulista fundam o Partido Republicano Paulista (1873).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0398908-D72B-869D-8F5F-C4DAD3CDA2F3}"/>
              </a:ext>
            </a:extLst>
          </p:cNvPr>
          <p:cNvSpPr txBox="1"/>
          <p:nvPr/>
        </p:nvSpPr>
        <p:spPr>
          <a:xfrm>
            <a:off x="962660" y="2967335"/>
            <a:ext cx="5532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Alguns setores da elite e da classe média urbana passam a se mobilizar pela causa abolicionista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DD4DEC8-43C9-B0A6-0CA4-12816F214864}"/>
              </a:ext>
            </a:extLst>
          </p:cNvPr>
          <p:cNvSpPr txBox="1"/>
          <p:nvPr/>
        </p:nvSpPr>
        <p:spPr>
          <a:xfrm>
            <a:off x="5110480" y="2279081"/>
            <a:ext cx="624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Essa elite Republicana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tende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a apoiar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uma modernização da economia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associada ao fim da escravidão...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BF3B1EF-A2E6-FE3C-5DC3-918A5B7D995E}"/>
              </a:ext>
            </a:extLst>
          </p:cNvPr>
          <p:cNvSpPr txBox="1"/>
          <p:nvPr/>
        </p:nvSpPr>
        <p:spPr>
          <a:xfrm>
            <a:off x="4856480" y="3941462"/>
            <a:ext cx="5786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Criação de Associações, Jornais, Eventos, Manifestações Públicas, Compras de Alforria,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04E9C21B-3B48-F494-CD14-D9F53AE2BA8E}"/>
              </a:ext>
            </a:extLst>
          </p:cNvPr>
          <p:cNvCxnSpPr/>
          <p:nvPr/>
        </p:nvCxnSpPr>
        <p:spPr>
          <a:xfrm>
            <a:off x="2052320" y="2602246"/>
            <a:ext cx="101600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E28C508-15F8-9F68-CF54-1496D0E81D7A}"/>
              </a:ext>
            </a:extLst>
          </p:cNvPr>
          <p:cNvCxnSpPr/>
          <p:nvPr/>
        </p:nvCxnSpPr>
        <p:spPr>
          <a:xfrm>
            <a:off x="6847840" y="2098770"/>
            <a:ext cx="81280" cy="180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8F60D1B9-FBE7-80B4-94A4-28E571798BE1}"/>
              </a:ext>
            </a:extLst>
          </p:cNvPr>
          <p:cNvCxnSpPr/>
          <p:nvPr/>
        </p:nvCxnSpPr>
        <p:spPr>
          <a:xfrm flipV="1">
            <a:off x="2489200" y="1798320"/>
            <a:ext cx="1351280" cy="1127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919A9AC4-69ED-457A-C4D6-1ECCD31D7D85}"/>
              </a:ext>
            </a:extLst>
          </p:cNvPr>
          <p:cNvCxnSpPr/>
          <p:nvPr/>
        </p:nvCxnSpPr>
        <p:spPr>
          <a:xfrm>
            <a:off x="4328160" y="3738880"/>
            <a:ext cx="528320" cy="39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E3C6607-570A-4E38-8BC5-386B32BA0533}"/>
              </a:ext>
            </a:extLst>
          </p:cNvPr>
          <p:cNvSpPr txBox="1"/>
          <p:nvPr/>
        </p:nvSpPr>
        <p:spPr>
          <a:xfrm>
            <a:off x="790892" y="4725801"/>
            <a:ext cx="977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Lideranças Negras, 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escravizados e simpatizantes,  organizam ações concretas , como apoio a fugas (Movimento dos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Caifazes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de Antônio Bento) ,ações judiciais (Luiz Gama), campanhas e artigos em jornais ( Engenheiro André Rebouças)</a:t>
            </a:r>
          </a:p>
        </p:txBody>
      </p:sp>
      <p:pic>
        <p:nvPicPr>
          <p:cNvPr id="1026" name="Picture 2" descr="André Rebouças - Literatura Afro-Brasileira">
            <a:extLst>
              <a:ext uri="{FF2B5EF4-FFF2-40B4-BE49-F238E27FC236}">
                <a16:creationId xmlns:a16="http://schemas.microsoft.com/office/drawing/2014/main" id="{AF9A2197-BD91-77C3-BF61-20F6960BE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480" y="5612668"/>
            <a:ext cx="787461" cy="114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uiz Gama | Blog da Biblioteca da ECA-USP">
            <a:extLst>
              <a:ext uri="{FF2B5EF4-FFF2-40B4-BE49-F238E27FC236}">
                <a16:creationId xmlns:a16="http://schemas.microsoft.com/office/drawing/2014/main" id="{10A2FA45-6E23-1A7C-1A24-A5CBB434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240" y="5422929"/>
            <a:ext cx="692012" cy="114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iquinha Gonzaga">
            <a:extLst>
              <a:ext uri="{FF2B5EF4-FFF2-40B4-BE49-F238E27FC236}">
                <a16:creationId xmlns:a16="http://schemas.microsoft.com/office/drawing/2014/main" id="{7289DCF5-39CF-8E04-D464-869D3B748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0442" y="2897927"/>
            <a:ext cx="1156078" cy="181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1D0789B8-3DA7-017A-A7FC-47327DD06EE3}"/>
              </a:ext>
            </a:extLst>
          </p:cNvPr>
          <p:cNvSpPr txBox="1"/>
          <p:nvPr/>
        </p:nvSpPr>
        <p:spPr>
          <a:xfrm>
            <a:off x="10642600" y="4766078"/>
            <a:ext cx="1366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Chiquinha Gonzaga</a:t>
            </a:r>
          </a:p>
        </p:txBody>
      </p:sp>
    </p:spTree>
    <p:extLst>
      <p:ext uri="{BB962C8B-B14F-4D97-AF65-F5344CB8AC3E}">
        <p14:creationId xmlns:p14="http://schemas.microsoft.com/office/powerpoint/2010/main" val="3545769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EA8ABB3-B81A-62D6-DC82-D423E7229232}"/>
              </a:ext>
            </a:extLst>
          </p:cNvPr>
          <p:cNvSpPr/>
          <p:nvPr/>
        </p:nvSpPr>
        <p:spPr>
          <a:xfrm>
            <a:off x="586740" y="656401"/>
            <a:ext cx="3611880" cy="7583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PRESSÕES SOCIAIS GERAM LEIS ABOLICIONISTAS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7B8DE7F-DD84-AFEB-E674-341886F2BC1A}"/>
              </a:ext>
            </a:extLst>
          </p:cNvPr>
          <p:cNvSpPr/>
          <p:nvPr/>
        </p:nvSpPr>
        <p:spPr>
          <a:xfrm>
            <a:off x="5097779" y="726540"/>
            <a:ext cx="284988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LEI DO VENTRE LIVRE- 1871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4D806C8-EA87-A76F-4B48-C818AB8F6D3B}"/>
              </a:ext>
            </a:extLst>
          </p:cNvPr>
          <p:cNvSpPr/>
          <p:nvPr/>
        </p:nvSpPr>
        <p:spPr>
          <a:xfrm>
            <a:off x="646430" y="2220646"/>
            <a:ext cx="3197860" cy="8962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ABOLIÇÃO DA ESCRAVIDÃO NO CEARÁ - 1884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EF5A75-A7B9-32FB-A532-35A663D735BD}"/>
              </a:ext>
            </a:extLst>
          </p:cNvPr>
          <p:cNvSpPr txBox="1"/>
          <p:nvPr/>
        </p:nvSpPr>
        <p:spPr>
          <a:xfrm>
            <a:off x="152400" y="3429000"/>
            <a:ext cx="4318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Greve dos jangadeiros do Ceará, liderada por Francisco José do Nascimento, o Dragão do Mar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...em 1881... Desencadeou uma série de movimentos sociais nessa Província que culminaram na abolição da escravidão em 1884 no Ceará.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F5AAFEF-0405-9564-B398-3AEB9B0627A1}"/>
              </a:ext>
            </a:extLst>
          </p:cNvPr>
          <p:cNvSpPr/>
          <p:nvPr/>
        </p:nvSpPr>
        <p:spPr>
          <a:xfrm>
            <a:off x="5097779" y="1408449"/>
            <a:ext cx="5820592" cy="4032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tx1"/>
                </a:solidFill>
              </a:rPr>
              <a:t>LEI DOS SEXAGENÁRIOS- 1885 – OU LEI SARAIVA COTEGIPE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97BDDDA-57FF-3E73-65F4-9CB830EDF5F9}"/>
              </a:ext>
            </a:extLst>
          </p:cNvPr>
          <p:cNvSpPr txBox="1"/>
          <p:nvPr/>
        </p:nvSpPr>
        <p:spPr>
          <a:xfrm>
            <a:off x="5407660" y="1907478"/>
            <a:ext cx="6334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Ambas as leis pensam mais em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protelar o processo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abolicionista e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compensar os proprietários de escravos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do que nas condições do próprio escravo. </a:t>
            </a:r>
            <a:r>
              <a:rPr lang="pt-BR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Nas duas leis a elite escravista é indenizada.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.. E o processo formal de liberdade é adiado ao máximo... ( As crianças de 1871 deveriam trabalhar até aos 21 anos para indenizar o  proprietário...Os sexagenários também deveriam trabalhar alguns anos a mais como indenização</a:t>
            </a:r>
            <a:r>
              <a:rPr lang="pt-BR" dirty="0"/>
              <a:t>). 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A3CAC4F-3B2E-72A3-D8EA-0D81A26B3C6F}"/>
              </a:ext>
            </a:extLst>
          </p:cNvPr>
          <p:cNvSpPr/>
          <p:nvPr/>
        </p:nvSpPr>
        <p:spPr>
          <a:xfrm>
            <a:off x="5283200" y="4227561"/>
            <a:ext cx="1775462" cy="3556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LEI ÁUREA- 1888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B86EE68-B3EB-B738-BE08-96A07F246AF8}"/>
              </a:ext>
            </a:extLst>
          </p:cNvPr>
          <p:cNvSpPr txBox="1"/>
          <p:nvPr/>
        </p:nvSpPr>
        <p:spPr>
          <a:xfrm>
            <a:off x="7620002" y="4227561"/>
            <a:ext cx="44907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Extingue a escravidão sem indenização ao proprietário (fato que vai custar o apoio dos Barões do Café a D. Pedro II e a Monarquia...facilitando o Golpe militar em 15 de Novembro)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C2AF3E3-7935-0053-0B50-30C0FFFFD983}"/>
              </a:ext>
            </a:extLst>
          </p:cNvPr>
          <p:cNvSpPr txBox="1"/>
          <p:nvPr/>
        </p:nvSpPr>
        <p:spPr>
          <a:xfrm>
            <a:off x="4761233" y="5429735"/>
            <a:ext cx="2664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Não estabelece nenhuma medida para integrar 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ecravo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na sociedade...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913E1857-B7B0-AB1F-8D3D-34B2D31DDA9E}"/>
              </a:ext>
            </a:extLst>
          </p:cNvPr>
          <p:cNvCxnSpPr/>
          <p:nvPr/>
        </p:nvCxnSpPr>
        <p:spPr>
          <a:xfrm>
            <a:off x="6207760" y="4805680"/>
            <a:ext cx="0" cy="528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841B77AD-C497-65C6-8F71-C32C5709A35A}"/>
              </a:ext>
            </a:extLst>
          </p:cNvPr>
          <p:cNvCxnSpPr>
            <a:cxnSpLocks/>
          </p:cNvCxnSpPr>
          <p:nvPr/>
        </p:nvCxnSpPr>
        <p:spPr>
          <a:xfrm>
            <a:off x="7198360" y="4663440"/>
            <a:ext cx="259079" cy="267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405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AEB262A-96D4-898D-D285-4724F8A9DDA7}"/>
              </a:ext>
            </a:extLst>
          </p:cNvPr>
          <p:cNvSpPr txBox="1"/>
          <p:nvPr/>
        </p:nvSpPr>
        <p:spPr>
          <a:xfrm>
            <a:off x="990600" y="228600"/>
            <a:ext cx="576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AS BRIGAS INTERNAS DO GOVERNO IMPERIAL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7F1747-48B9-EF0C-33FC-00BE24494FAD}"/>
              </a:ext>
            </a:extLst>
          </p:cNvPr>
          <p:cNvSpPr txBox="1"/>
          <p:nvPr/>
        </p:nvSpPr>
        <p:spPr>
          <a:xfrm>
            <a:off x="315686" y="1384884"/>
            <a:ext cx="1741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 QUESTÃO ESCRAVISTA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29F8CD9-BBCE-8EDF-B31F-D528F0C8F2B7}"/>
              </a:ext>
            </a:extLst>
          </p:cNvPr>
          <p:cNvSpPr/>
          <p:nvPr/>
        </p:nvSpPr>
        <p:spPr>
          <a:xfrm>
            <a:off x="2520042" y="2275724"/>
            <a:ext cx="9127671" cy="1649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Bula </a:t>
            </a:r>
            <a:r>
              <a:rPr lang="pt-BR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Syllabus</a:t>
            </a:r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1864 -  do Papa  Pio IX estabelecendo a expulsão de membros da maçonaria de dentro da igreja Católica não é obedecida pelo Imperador D. Pedro II ...O Regime de Padroado e o Beneplácito, presentes na Constituição de 1824, são usados para conter essas medidas gerando choques com algumas autoridades da Igreja dentro do Brasil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B76736-2F13-EEE0-1B8F-A3EFC1C97A78}"/>
              </a:ext>
            </a:extLst>
          </p:cNvPr>
          <p:cNvSpPr txBox="1"/>
          <p:nvPr/>
        </p:nvSpPr>
        <p:spPr>
          <a:xfrm>
            <a:off x="315686" y="3105834"/>
            <a:ext cx="1741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 QUESTÃO RELIGIOSA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36FF382-90A7-BD7B-5664-3F8F48D3F789}"/>
              </a:ext>
            </a:extLst>
          </p:cNvPr>
          <p:cNvSpPr txBox="1"/>
          <p:nvPr/>
        </p:nvSpPr>
        <p:spPr>
          <a:xfrm>
            <a:off x="484414" y="5149949"/>
            <a:ext cx="1572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 QUESTÃO MILITAR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6852C2A-0A8A-123A-DBBB-470D2F62539E}"/>
              </a:ext>
            </a:extLst>
          </p:cNvPr>
          <p:cNvSpPr/>
          <p:nvPr/>
        </p:nvSpPr>
        <p:spPr>
          <a:xfrm>
            <a:off x="2520043" y="4295271"/>
            <a:ext cx="9127670" cy="208525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 fortalecimento do Exército a partir da Guerra do Paraguai , os investimentos que recebeu , o prestígio </a:t>
            </a:r>
            <a:r>
              <a:rPr lang="pt-BR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social,etc</a:t>
            </a:r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faz com que essa instituição procure manter sua importância junto ao Estado e as linhas de investimento na sua modernização...Vários oficiais incorporam os ideais positivistas de Augusto Comte e passam a defender um protagonismo político das Forças Armadas incorporando um projeto de República Ditatorial Positivista para o Brasil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ECB11E4-1BB5-328F-A9E5-8A86CC8D8C1F}"/>
              </a:ext>
            </a:extLst>
          </p:cNvPr>
          <p:cNvSpPr/>
          <p:nvPr/>
        </p:nvSpPr>
        <p:spPr>
          <a:xfrm>
            <a:off x="2520042" y="1153887"/>
            <a:ext cx="9127671" cy="8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abolição sem indenização, retirou o apoio social da elite escravista ao Governo de D. Pedro II...Essa elite será chamada de “Republicanos de última hora”.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CDF5CC10-ADEB-CBDD-DC8F-A5466AB61984}"/>
              </a:ext>
            </a:extLst>
          </p:cNvPr>
          <p:cNvSpPr/>
          <p:nvPr/>
        </p:nvSpPr>
        <p:spPr>
          <a:xfrm>
            <a:off x="2057400" y="1611086"/>
            <a:ext cx="239486" cy="614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a Direita 22">
            <a:extLst>
              <a:ext uri="{FF2B5EF4-FFF2-40B4-BE49-F238E27FC236}">
                <a16:creationId xmlns:a16="http://schemas.microsoft.com/office/drawing/2014/main" id="{507079AA-9014-3D34-CEDF-7F28DAAF393F}"/>
              </a:ext>
            </a:extLst>
          </p:cNvPr>
          <p:cNvSpPr/>
          <p:nvPr/>
        </p:nvSpPr>
        <p:spPr>
          <a:xfrm>
            <a:off x="1948543" y="3367535"/>
            <a:ext cx="348343" cy="614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DD5C2BA8-050C-0B66-62F1-3D7DFA0E099A}"/>
              </a:ext>
            </a:extLst>
          </p:cNvPr>
          <p:cNvSpPr/>
          <p:nvPr/>
        </p:nvSpPr>
        <p:spPr>
          <a:xfrm>
            <a:off x="1948543" y="5529943"/>
            <a:ext cx="348343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8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0FA37E0-0DE6-C6B2-B5C8-235E0D624855}"/>
              </a:ext>
            </a:extLst>
          </p:cNvPr>
          <p:cNvSpPr txBox="1"/>
          <p:nvPr/>
        </p:nvSpPr>
        <p:spPr>
          <a:xfrm>
            <a:off x="571499" y="3062257"/>
            <a:ext cx="2046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OS PROJETOS REPUBLICANOS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F2FF119-E8E6-554D-34E2-86BDEE95ACA7}"/>
              </a:ext>
            </a:extLst>
          </p:cNvPr>
          <p:cNvSpPr/>
          <p:nvPr/>
        </p:nvSpPr>
        <p:spPr>
          <a:xfrm>
            <a:off x="3298372" y="2213171"/>
            <a:ext cx="8229600" cy="8490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evolucionistas,  envolvendo setores da elite agrária do Oeste Paulista, que defendiam uma transição para a República através de um processo gradativo e pacífico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846EAE-6C09-435C-7698-6379FFC77E8E}"/>
              </a:ext>
            </a:extLst>
          </p:cNvPr>
          <p:cNvSpPr/>
          <p:nvPr/>
        </p:nvSpPr>
        <p:spPr>
          <a:xfrm>
            <a:off x="3298372" y="3590916"/>
            <a:ext cx="8229600" cy="772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“Jacobinos”, envolvendo setores da classe média, que defendiam um processo revolucionário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765E78D-C1FC-513C-25CF-A047D58C562D}"/>
              </a:ext>
            </a:extLst>
          </p:cNvPr>
          <p:cNvSpPr/>
          <p:nvPr/>
        </p:nvSpPr>
        <p:spPr>
          <a:xfrm>
            <a:off x="3298372" y="4892461"/>
            <a:ext cx="8229600" cy="11253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Positivistas (Benjamin Constant, </a:t>
            </a:r>
            <a:r>
              <a:rPr lang="pt-BR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, envolvendo setores oficiais do Exército, formados nas Escolas Militares e no Clube Militar criado no Rio de Janeiro, defensores de uma ditadura científica conduzida pelos militares.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A233704-69B4-8750-B2D1-76C394A0B540}"/>
              </a:ext>
            </a:extLst>
          </p:cNvPr>
          <p:cNvSpPr/>
          <p:nvPr/>
        </p:nvSpPr>
        <p:spPr>
          <a:xfrm flipH="1">
            <a:off x="489856" y="866433"/>
            <a:ext cx="2209800" cy="10974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Interesses Políticos da Burguesia Cafeeira Paulista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DAF1CE9-1E25-61F6-B25F-4A28B51F5D77}"/>
              </a:ext>
            </a:extLst>
          </p:cNvPr>
          <p:cNvSpPr/>
          <p:nvPr/>
        </p:nvSpPr>
        <p:spPr>
          <a:xfrm>
            <a:off x="3298372" y="664029"/>
            <a:ext cx="8229599" cy="9797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Federalismo  só seria possível dentro de um Estado Republicano que imitasse os EUA...Esse Federalismo daria maior autonomia para a elite paulista controlar os recursos gerados pela economia cafeeira...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A9A1C83E-198F-D189-A3F6-9C3C3DF47356}"/>
              </a:ext>
            </a:extLst>
          </p:cNvPr>
          <p:cNvCxnSpPr/>
          <p:nvPr/>
        </p:nvCxnSpPr>
        <p:spPr>
          <a:xfrm>
            <a:off x="1480457" y="2213171"/>
            <a:ext cx="0" cy="736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EB43B6AF-1C4B-97A9-6A29-2193B7EE9694}"/>
              </a:ext>
            </a:extLst>
          </p:cNvPr>
          <p:cNvCxnSpPr/>
          <p:nvPr/>
        </p:nvCxnSpPr>
        <p:spPr>
          <a:xfrm>
            <a:off x="2296886" y="2079171"/>
            <a:ext cx="870857" cy="502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8061BF7-EE32-426D-ED0C-C8600822F974}"/>
              </a:ext>
            </a:extLst>
          </p:cNvPr>
          <p:cNvCxnSpPr/>
          <p:nvPr/>
        </p:nvCxnSpPr>
        <p:spPr>
          <a:xfrm>
            <a:off x="2830286" y="1153886"/>
            <a:ext cx="3374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547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FC67943-3D33-B7E6-CE05-B38456C12A98}"/>
              </a:ext>
            </a:extLst>
          </p:cNvPr>
          <p:cNvSpPr txBox="1"/>
          <p:nvPr/>
        </p:nvSpPr>
        <p:spPr>
          <a:xfrm>
            <a:off x="250371" y="2828835"/>
            <a:ext cx="1698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Confrontos Pontuais com o Exército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91CFBC8-944B-6C91-1E8B-A766A59960C0}"/>
              </a:ext>
            </a:extLst>
          </p:cNvPr>
          <p:cNvSpPr/>
          <p:nvPr/>
        </p:nvSpPr>
        <p:spPr>
          <a:xfrm>
            <a:off x="2204346" y="2920478"/>
            <a:ext cx="9410704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Sena Madureira faz outra declaração na imprensa condenando a escravidão (1886)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D9CA7AB-9041-2F77-82BA-D939D4FD7216}"/>
              </a:ext>
            </a:extLst>
          </p:cNvPr>
          <p:cNvSpPr/>
          <p:nvPr/>
        </p:nvSpPr>
        <p:spPr>
          <a:xfrm>
            <a:off x="2204346" y="4211774"/>
            <a:ext cx="941070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Governo manda prender o Tenente Coronel e transferi-lo do RJ para o RG do Sul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90245DD-726F-C975-076D-60EEC10897C2}"/>
              </a:ext>
            </a:extLst>
          </p:cNvPr>
          <p:cNvSpPr/>
          <p:nvPr/>
        </p:nvSpPr>
        <p:spPr>
          <a:xfrm>
            <a:off x="2204346" y="5496956"/>
            <a:ext cx="9410704" cy="7837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Marechal Deodoro da Fonseca, superior  de Sena Madureira, se recusa a acatar a ordem do Governo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81F8C34-B0FC-5F70-76DF-1F500C5DC1B2}"/>
              </a:ext>
            </a:extLst>
          </p:cNvPr>
          <p:cNvSpPr/>
          <p:nvPr/>
        </p:nvSpPr>
        <p:spPr>
          <a:xfrm>
            <a:off x="2188021" y="1676730"/>
            <a:ext cx="94270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Governo proíbe manifestações políticas de membros do Exército na Imprensa...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E2475D3-44F0-73B2-9811-CCF81520E8B9}"/>
              </a:ext>
            </a:extLst>
          </p:cNvPr>
          <p:cNvSpPr/>
          <p:nvPr/>
        </p:nvSpPr>
        <p:spPr>
          <a:xfrm>
            <a:off x="2188020" y="69354"/>
            <a:ext cx="9427029" cy="10158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Tenente Coronel Sena Madureira manifesta-se na imprensa contra uma reforma no Sistema de Aposentadoria do Exército- 1883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5137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C9FAF89-3950-D55B-082B-DEEB94F29EDB}"/>
              </a:ext>
            </a:extLst>
          </p:cNvPr>
          <p:cNvSpPr/>
          <p:nvPr/>
        </p:nvSpPr>
        <p:spPr>
          <a:xfrm>
            <a:off x="315686" y="429409"/>
            <a:ext cx="2035629" cy="9095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 Pedro tenta salvar a Monarquia...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7867635-A066-EC24-30B6-98CF800C75E6}"/>
              </a:ext>
            </a:extLst>
          </p:cNvPr>
          <p:cNvSpPr/>
          <p:nvPr/>
        </p:nvSpPr>
        <p:spPr>
          <a:xfrm>
            <a:off x="3341912" y="685800"/>
            <a:ext cx="8534401" cy="6708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Pede para que o 1º Ministro, Visconde de Ouro Preto, mande um projeto de reformas políticas que incorporem algumas reivindicações republicanas...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B91215C-4254-DEA5-3ACE-2AE55F4B41BC}"/>
              </a:ext>
            </a:extLst>
          </p:cNvPr>
          <p:cNvSpPr/>
          <p:nvPr/>
        </p:nvSpPr>
        <p:spPr>
          <a:xfrm>
            <a:off x="92528" y="1817914"/>
            <a:ext cx="12006944" cy="1295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Parlamento se recusa a votar o projeto... D, Pedro usa o Poder Moderador e fecha o Parlamento convocando novas eleições...Aproveitando a crise, os Republicanos espalham boatos de que Deodoro e Benjamin Constant seriam presos pelo Governo...Deodoro mobiliza sua tropa e marcha em direção ao Palácio do Governo anunciando a derrubada de D. Pedro e da Monarquia...</a:t>
            </a: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15 de Novembro de 1889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4327EED-9FC4-C8F6-AE5E-E91B4A31F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456" y="3517242"/>
            <a:ext cx="2043832" cy="3113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B9B96CC-E266-37E5-8B70-C9DEE33FDE35}"/>
              </a:ext>
            </a:extLst>
          </p:cNvPr>
          <p:cNvSpPr txBox="1"/>
          <p:nvPr/>
        </p:nvSpPr>
        <p:spPr>
          <a:xfrm>
            <a:off x="415923" y="4322231"/>
            <a:ext cx="22075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“A Proclamação da República por Deodoro de Fonseca” pintura de Henrique Bernardelli, 1891.</a:t>
            </a:r>
          </a:p>
          <a:p>
            <a:br>
              <a:rPr 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03A8C444-4C0C-EA99-17BB-205E7C851D27}"/>
              </a:ext>
            </a:extLst>
          </p:cNvPr>
          <p:cNvCxnSpPr/>
          <p:nvPr/>
        </p:nvCxnSpPr>
        <p:spPr>
          <a:xfrm>
            <a:off x="2702560" y="924560"/>
            <a:ext cx="447040" cy="81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Proclamação da República completa 130 anos | Agência Brasil">
            <a:extLst>
              <a:ext uri="{FF2B5EF4-FFF2-40B4-BE49-F238E27FC236}">
                <a16:creationId xmlns:a16="http://schemas.microsoft.com/office/drawing/2014/main" id="{E20D4874-D3ED-EEBB-C068-768E18312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795" y="3592285"/>
            <a:ext cx="4144645" cy="248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727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2C07C07-0065-753F-D150-70792C34655C}"/>
              </a:ext>
            </a:extLst>
          </p:cNvPr>
          <p:cNvSpPr txBox="1"/>
          <p:nvPr/>
        </p:nvSpPr>
        <p:spPr>
          <a:xfrm>
            <a:off x="497840" y="2643118"/>
            <a:ext cx="11399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. </a:t>
            </a:r>
            <a:r>
              <a:rPr lang="pt-BR" sz="2400" dirty="0">
                <a:latin typeface="Arial Black" panose="020B0A04020102020204" pitchFamily="34" charset="0"/>
              </a:rPr>
              <a:t>"Muitos acreditavam sinceramente estar vendo uma parada. Era um fenômeno digno de ver-se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.” (Gomes,  Laurentino ,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1889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pág. 335)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43A007B-22D4-7C03-24F7-123C70AAE615}"/>
              </a:ext>
            </a:extLst>
          </p:cNvPr>
          <p:cNvSpPr txBox="1"/>
          <p:nvPr/>
        </p:nvSpPr>
        <p:spPr>
          <a:xfrm>
            <a:off x="467360" y="3988524"/>
            <a:ext cx="112572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As frustrações com o novo regime podem ser resumidas no telegrama que, no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dia 21 de dezembro de 1889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Felicíssimo do Espírito Santo Cardoso, ex-senador do Império e capitão da Guarda Nacional em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Goiás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enviou ao filho Joaquim Inácio Cardoso, alferes do Exército e ativo participante da Proclamação da República no Rio de Janeiro</a:t>
            </a:r>
            <a:r>
              <a:rPr lang="pt-BR" dirty="0"/>
              <a:t>. </a:t>
            </a:r>
            <a:r>
              <a:rPr lang="pt-BR" sz="2400" dirty="0">
                <a:latin typeface="Arial Black" panose="020B0A04020102020204" pitchFamily="34" charset="0"/>
              </a:rPr>
              <a:t>"Vocês fizeram a República que não serviu para nada", reclamava o capitão. "Aqui agora, como antes, continuam mandando </a:t>
            </a:r>
            <a:r>
              <a:rPr lang="pt-BR" sz="2400" dirty="0">
                <a:highlight>
                  <a:srgbClr val="FFFF00"/>
                </a:highlight>
                <a:latin typeface="Arial Black" panose="020B0A04020102020204" pitchFamily="34" charset="0"/>
              </a:rPr>
              <a:t>os Caiado</a:t>
            </a:r>
            <a:r>
              <a:rPr lang="pt-BR" sz="2400" dirty="0">
                <a:latin typeface="Arial Black" panose="020B0A04020102020204" pitchFamily="34" charset="0"/>
              </a:rPr>
              <a:t>".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(Gomes,  Laurentino ,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1889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, pág. 335)</a:t>
            </a:r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CAD6323-1E78-41B4-72C1-1AB5DA8CD1D6}"/>
              </a:ext>
            </a:extLst>
          </p:cNvPr>
          <p:cNvSpPr txBox="1"/>
          <p:nvPr/>
        </p:nvSpPr>
        <p:spPr>
          <a:xfrm>
            <a:off x="497840" y="1239024"/>
            <a:ext cx="1112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 Black" panose="020B0A04020102020204" pitchFamily="34" charset="0"/>
              </a:rPr>
              <a:t>"O povo assistiu àquilo bestializado, atônito, surpreso, sem conhecer o que significava”,</a:t>
            </a:r>
            <a:r>
              <a:rPr lang="pt-BR" sz="2400" dirty="0"/>
              <a:t> afirmou o jornalista e chefe republicano Aristides Lobo em artigo para o Diário Popular, de São Paulo</a:t>
            </a:r>
            <a:endParaRPr lang="pt-BR" sz="2400" dirty="0">
              <a:latin typeface="Arial Black" panose="020B0A0402010202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990F2A0-47C4-78C8-44BB-A87145BBFC0A}"/>
              </a:ext>
            </a:extLst>
          </p:cNvPr>
          <p:cNvSpPr/>
          <p:nvPr/>
        </p:nvSpPr>
        <p:spPr>
          <a:xfrm>
            <a:off x="579120" y="284480"/>
            <a:ext cx="4378960" cy="3352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highlight>
                  <a:srgbClr val="FFFF00"/>
                </a:highlight>
                <a:latin typeface="Arial Black" panose="020B0A04020102020204" pitchFamily="34" charset="0"/>
              </a:rPr>
              <a:t>AS REAÇÕES POPULARES</a:t>
            </a:r>
          </a:p>
        </p:txBody>
      </p:sp>
    </p:spTree>
    <p:extLst>
      <p:ext uri="{BB962C8B-B14F-4D97-AF65-F5344CB8AC3E}">
        <p14:creationId xmlns:p14="http://schemas.microsoft.com/office/powerpoint/2010/main" val="161097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A73AEF76-A761-F4DC-6C44-A3887B32A565}"/>
              </a:ext>
            </a:extLst>
          </p:cNvPr>
          <p:cNvSpPr txBox="1"/>
          <p:nvPr/>
        </p:nvSpPr>
        <p:spPr>
          <a:xfrm>
            <a:off x="336550" y="6381918"/>
            <a:ext cx="11635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(Carvalho, José Murilo. “Os Bestializados- O Rio de Janeiro e a República que não foi</a:t>
            </a:r>
            <a:r>
              <a:rPr lang="pt-BR" sz="1100" b="1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, pág.23</a:t>
            </a:r>
            <a:r>
              <a:rPr lang="pt-BR" sz="1800" b="1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)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29F49E7-A8F9-3593-AEC5-8E768E12BD45}"/>
              </a:ext>
            </a:extLst>
          </p:cNvPr>
          <p:cNvSpPr/>
          <p:nvPr/>
        </p:nvSpPr>
        <p:spPr>
          <a:xfrm>
            <a:off x="297180" y="427994"/>
            <a:ext cx="11714480" cy="17965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 diria mesmo que a Monarquia caiu quando atingia seu ponto mais alto de popularidade entre essa gente, em parte como consequência da abolição da escravidão. A abolição deu ensejo a imensos festejos populares que duraram uma semana e se repetiram no ano seguinte, cinco meses antes da proclamação da República. A simpatia popular se dirigia não só à princesa Isabel, mas também a Pedro II, como ficou evidenciado por ocasião da comemoração do aniversário do velho imperador, a 2 de dezembro de 1888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3A4ECEA-BE90-E72E-7607-7F5AF664FBBD}"/>
              </a:ext>
            </a:extLst>
          </p:cNvPr>
          <p:cNvSpPr/>
          <p:nvPr/>
        </p:nvSpPr>
        <p:spPr>
          <a:xfrm>
            <a:off x="297180" y="2364527"/>
            <a:ext cx="11714480" cy="14015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reação negativa da população negra à República manifestou-se antes mesmo da proclamação, através da Guarda Negra organizada por José do Patrocínio. Vários incidentes verificaram-se entre os propagandistas e a Guarda. O mais sério de todos se deu com a interrupção, que resultou em mortos e feridos, de uma conferência de Silva Jardim, em dezembro de 1888, na Sociedade Francesa de Ginástica...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7FB8CB4-652F-2BB1-CD21-D6417C95249F}"/>
              </a:ext>
            </a:extLst>
          </p:cNvPr>
          <p:cNvSpPr/>
          <p:nvPr/>
        </p:nvSpPr>
        <p:spPr>
          <a:xfrm>
            <a:off x="307340" y="4038272"/>
            <a:ext cx="11704320" cy="53789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Permanece o fato de que os republicanos não conseguiram a adesão do setor pobre da população, sobretudo dos negros... 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D8BE1D3-D91A-D221-863D-B56026F60E62}"/>
              </a:ext>
            </a:extLst>
          </p:cNvPr>
          <p:cNvSpPr/>
          <p:nvPr/>
        </p:nvSpPr>
        <p:spPr>
          <a:xfrm>
            <a:off x="307340" y="4856149"/>
            <a:ext cx="11704320" cy="143045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simpatia dos negros pela Monarquia reflete-se na conhecida ojeriza que Lima Barreto, o mais popular romancista do Rio, alimentava pela República. Neto de escravos..., o romancista assistira, emocionado, aos sete anos, às comemorações da abolição e às festas promovidas por ocasião do regresso do imperador de sua viagem à Europa, também em 1888. Em contraste, vira no ano seguinte seu pai, operário da Tipografia Nacional, ser demitido pela política republicana... 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52D8B38-40C5-8FF6-2C62-47917994C2B7}"/>
              </a:ext>
            </a:extLst>
          </p:cNvPr>
          <p:cNvSpPr/>
          <p:nvPr/>
        </p:nvSpPr>
        <p:spPr>
          <a:xfrm>
            <a:off x="1087120" y="50854"/>
            <a:ext cx="6177280" cy="335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rial Black" panose="020B0A04020102020204" pitchFamily="34" charset="0"/>
              </a:rPr>
              <a:t>A POPULARIDADE DA MONARQUIA </a:t>
            </a:r>
          </a:p>
        </p:txBody>
      </p:sp>
    </p:spTree>
    <p:extLst>
      <p:ext uri="{BB962C8B-B14F-4D97-AF65-F5344CB8AC3E}">
        <p14:creationId xmlns:p14="http://schemas.microsoft.com/office/powerpoint/2010/main" val="278807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C29E2F9-3B65-1311-D31D-EA73D8CDED29}"/>
              </a:ext>
            </a:extLst>
          </p:cNvPr>
          <p:cNvSpPr/>
          <p:nvPr/>
        </p:nvSpPr>
        <p:spPr>
          <a:xfrm>
            <a:off x="421640" y="1544493"/>
            <a:ext cx="11348720" cy="3574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1872- 1 milhão de votantes no 1º grau- 13% da população de homens livres.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9311FD-FA21-CBCE-9D57-42F202D10F68}"/>
              </a:ext>
            </a:extLst>
          </p:cNvPr>
          <p:cNvSpPr txBox="1"/>
          <p:nvPr/>
        </p:nvSpPr>
        <p:spPr>
          <a:xfrm>
            <a:off x="386080" y="345440"/>
            <a:ext cx="10647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Arial Black" panose="020B0A04020102020204" pitchFamily="34" charset="0"/>
              </a:rPr>
              <a:t>Participação da população nas eleições durante o 2º Reinado e na República Velha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95BABF8-62D4-1E73-6E85-01557C022A99}"/>
              </a:ext>
            </a:extLst>
          </p:cNvPr>
          <p:cNvSpPr/>
          <p:nvPr/>
        </p:nvSpPr>
        <p:spPr>
          <a:xfrm>
            <a:off x="421640" y="2251674"/>
            <a:ext cx="11419840" cy="3574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(1881- Reforma eleitoral cria a eleição direta, aumenta o critério censitário e proíbe o voto à analfabetos)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5076ECD-CC37-9AE6-785A-2639ACB11E18}"/>
              </a:ext>
            </a:extLst>
          </p:cNvPr>
          <p:cNvSpPr/>
          <p:nvPr/>
        </p:nvSpPr>
        <p:spPr>
          <a:xfrm>
            <a:off x="421640" y="3461462"/>
            <a:ext cx="11419840" cy="9194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Na Inglaterra em 1870 – 7% da População votam</a:t>
            </a:r>
          </a:p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Nos EUA em 1888 – 18% da População votou para presidente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79F5A9B-87F9-3A57-191A-9FC7A0A0DA48}"/>
              </a:ext>
            </a:extLst>
          </p:cNvPr>
          <p:cNvSpPr/>
          <p:nvPr/>
        </p:nvSpPr>
        <p:spPr>
          <a:xfrm>
            <a:off x="421640" y="2842950"/>
            <a:ext cx="11419840" cy="4158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1886 – 100 mil votantes – 0,8% da População livre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92B4C4F-6B27-2A58-D81C-453B8AC8F232}"/>
              </a:ext>
            </a:extLst>
          </p:cNvPr>
          <p:cNvSpPr/>
          <p:nvPr/>
        </p:nvSpPr>
        <p:spPr>
          <a:xfrm>
            <a:off x="386080" y="4715777"/>
            <a:ext cx="11419840" cy="103499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( A Constituição Republicana elimina o critério censitário no processo eleitoral, exclui mulheres analfabetos e militares do direito à cidadania)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1ª Eleição Presidencial no Brasil Republicano- 1894 - </a:t>
            </a:r>
            <a:r>
              <a:rPr lang="pt-BR" dirty="0">
                <a:solidFill>
                  <a:schemeClr val="tx1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2,2% da população são eleitores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A1CF7E7-5E34-8655-817D-42354F9E429D}"/>
              </a:ext>
            </a:extLst>
          </p:cNvPr>
          <p:cNvSpPr/>
          <p:nvPr/>
        </p:nvSpPr>
        <p:spPr>
          <a:xfrm>
            <a:off x="386080" y="6096001"/>
            <a:ext cx="11419840" cy="4165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Eleição para presidente em 1930 – </a:t>
            </a:r>
            <a:r>
              <a:rPr lang="pt-BR" dirty="0">
                <a:solidFill>
                  <a:schemeClr val="tx1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5,6% da população</a:t>
            </a:r>
            <a:endParaRPr lang="pt-BR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B6208D9-2B7A-F4DE-0627-FD786F35F712}"/>
              </a:ext>
            </a:extLst>
          </p:cNvPr>
          <p:cNvSpPr txBox="1"/>
          <p:nvPr/>
        </p:nvSpPr>
        <p:spPr>
          <a:xfrm>
            <a:off x="701040" y="6551875"/>
            <a:ext cx="11663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(Carvalho, José Murilo. “Os Bestializados- O Rio de Janeiro e a República que não foi, pág.23)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286454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0FBA2E1-F4BA-2F80-E137-61B808D0496F}"/>
              </a:ext>
            </a:extLst>
          </p:cNvPr>
          <p:cNvSpPr txBox="1"/>
          <p:nvPr/>
        </p:nvSpPr>
        <p:spPr>
          <a:xfrm>
            <a:off x="309880" y="558800"/>
            <a:ext cx="115722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Definição Jurídica de República: “Forma de governo na qual o povo é soberano, governando o Estado por meio de representantes investidos nas suas funções em poderes distintos”.</a:t>
            </a:r>
          </a:p>
          <a:p>
            <a:endParaRPr lang="pt-BR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pt-BR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República </a:t>
            </a:r>
            <a:r>
              <a:rPr lang="pt-BR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é uma palavra que descreve uma </a:t>
            </a:r>
            <a:r>
              <a:rPr lang="pt-BR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forma de governo</a:t>
            </a:r>
            <a:r>
              <a:rPr lang="pt-BR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em que o Chefe de Estado é eleito pelos representantes dos cidadãos ou pelos próprios cidadãos, e exerce a sua função durante um tempo limitado. (https://www.significados.com.br/republica/)</a:t>
            </a:r>
            <a:endParaRPr lang="pt-BR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B16F45E-E9A7-9F29-4CD2-6D469F825770}"/>
              </a:ext>
            </a:extLst>
          </p:cNvPr>
          <p:cNvSpPr/>
          <p:nvPr/>
        </p:nvSpPr>
        <p:spPr>
          <a:xfrm>
            <a:off x="406400" y="2966720"/>
            <a:ext cx="11033760" cy="11379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Considerando a forma em que se instituiu e os critérios de cidadania adotados, dá para perceber os limites e as características do Governo Republicano que se estabeleceu no Brasil ? Quais seriam ?</a:t>
            </a:r>
          </a:p>
        </p:txBody>
      </p:sp>
    </p:spTree>
    <p:extLst>
      <p:ext uri="{BB962C8B-B14F-4D97-AF65-F5344CB8AC3E}">
        <p14:creationId xmlns:p14="http://schemas.microsoft.com/office/powerpoint/2010/main" val="2442243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B3B7142-967B-8E21-7F88-AB8002401952}"/>
              </a:ext>
            </a:extLst>
          </p:cNvPr>
          <p:cNvSpPr txBox="1"/>
          <p:nvPr/>
        </p:nvSpPr>
        <p:spPr>
          <a:xfrm>
            <a:off x="182880" y="0"/>
            <a:ext cx="12009120" cy="6758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(Fuvest-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Ete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2023)  "O movimento abolicionista demorou a se configurar no Brasil. Sempre houve gente de inclinação antiescravista, mas pensamento é diferente de ação. Para existir, um movimento social precisa organizar associações e eventos públicos, materializar-se como mobilização coletiva, o que só ocorre em conjunturas políticas que facilitam o uso do espaço público para exprimir reivindicações. Tal situação se configurou no Brasil nos anos 1860  -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Angela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Alonso. </a:t>
            </a:r>
            <a:r>
              <a:rPr lang="pt-BR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Flores, votos e balas: o movimento abolicionista brasileiro (1868-1888)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São Paulo: Companhia das Letras. 2015. 529 . A respeito do Movimento Abolicionista brasileiro, é correto afirmar: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AutoNum type="alphaUcParenR"/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 processo que levou à aprovação da Lei Áurea pela Princesa Isabel em 1888 não envolveu mobilização popular, tendo sido o resultado direto de conflitos internos ao governo. 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AutoNum type="alphaUcParenR"/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Além da edição de jornais como "O abolicionista", uma das principais estratégias de propaganda adotadas pelo movimento abolicionista foi a organização de espetáculos teatrais, em especial as chamadas conferências-concerto.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C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O movimento abolicionista envolveu a emergência de um tipo novo de associativismo no Brasil com o desenvolvimento de centenas de associações antiescravistas atuando exclusivamente na esfera parlamentar e adotando somente estratégias legais de atuação.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D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Uma das maiores associações existentes no período de mobilização popular pró-abolição, a Confederação Abolicionista, foi criada por José de Alencar, um dos grandes nomes do movimento abolicionista.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E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Composto por membros conservadores das elites brasileiras, o movimento abolicionista promoveu mobilizações populares em favor da manutenção do regime escravista e contribuiu para que a abolição da escravatura fosse uma conquista tardia no Brasil.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180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DAD3455-94A2-6224-CF8E-562F7EC24AD0}"/>
              </a:ext>
            </a:extLst>
          </p:cNvPr>
          <p:cNvSpPr txBox="1"/>
          <p:nvPr/>
        </p:nvSpPr>
        <p:spPr>
          <a:xfrm>
            <a:off x="812800" y="477520"/>
            <a:ext cx="10170160" cy="5518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Sobre a Lei do Ventre Livre no Brasil, é correto afirmar que essa lei </a:t>
            </a: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a) acabou com a escravidão e garantiu indenização aos proprietários de crianças escravizadas.    </a:t>
            </a: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b) fazia parte de um processo gradual de abolição da escravidão, influenciado pela classe proprietária.    </a:t>
            </a: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c) eliminava a tutela que os senhores exerciam sobre as crianças e adolescentes filhos de suas escravizadas.    </a:t>
            </a: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d) foi copiada das leis criadas por Estados Unidos e Cuba para evitar a radicalidade dos abolicionistas.   </a:t>
            </a:r>
          </a:p>
        </p:txBody>
      </p:sp>
    </p:spTree>
    <p:extLst>
      <p:ext uri="{BB962C8B-B14F-4D97-AF65-F5344CB8AC3E}">
        <p14:creationId xmlns:p14="http://schemas.microsoft.com/office/powerpoint/2010/main" val="2848589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714296A-FFF7-4C18-F43A-F98F8FF20578}"/>
              </a:ext>
            </a:extLst>
          </p:cNvPr>
          <p:cNvSpPr txBox="1"/>
          <p:nvPr/>
        </p:nvSpPr>
        <p:spPr>
          <a:xfrm>
            <a:off x="1036320" y="193041"/>
            <a:ext cx="10688320" cy="6347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pt-BR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Famerp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 Entre os impactos internos e externos sentidos pelo Brasil após o fim da Guerra do Paraguai, em 1870, estão, respectivamente</a:t>
            </a:r>
            <a:r>
              <a:rPr lang="pt-BR" sz="24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a) a integração da economia paraguaia ao comércio brasileiro e a incorporação do território paraguaio ao Brasil.   </a:t>
            </a: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b) o aumento do prestígio da monarquia entre a população brasileira e o fim da rivalidade diplomática com argentinos e uruguaios.   </a:t>
            </a: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c) o desenvolvimento do republicanismo no exército e a confirmação da hegemonia militar sobre a América do Sul.   </a:t>
            </a: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d) o crescimento do abolicionismo no exército e a ampliação da circulação mercantil na Bacia do Rio da Prata.   </a:t>
            </a: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e) a consolidação das instituições militares e a constituição de um mercado comum na região centro-sul da América. 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868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C443017-4237-9884-2D54-DA6D07334F80}"/>
              </a:ext>
            </a:extLst>
          </p:cNvPr>
          <p:cNvSpPr txBox="1"/>
          <p:nvPr/>
        </p:nvSpPr>
        <p:spPr>
          <a:xfrm>
            <a:off x="538480" y="91440"/>
            <a:ext cx="11470640" cy="6758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(Integrado - Medicina)  A Lei Áurea abolia a escravidão, mas não seu legado. Trezentos anos de opressão não se eliminam com uma penada. A abolição foi apenas o primeiro passo na direção da emancipação do negro. Nem por isso deixou de ser uma conquista, se bem que de efeito bem limitado. COSTA, Emília Viotti da. </a:t>
            </a:r>
            <a:r>
              <a:rPr lang="pt-BR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abolição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São Paulo: Editora UNESP, 2010. p. 12. Com base no fragmento e sobre o fim da escravidão no Brasil, assinale a alternativa correta.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a) A extinção do trabalho escravo no Brasil acentuou o descontentamento dos ingleses com o governo de D. Pedro II, pois a Inglaterra era a principal fornecedora de africanos escravizados para os cafeicultores paulistas.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b) Apesar de estar associada, exclusivamente, ao fim da escravidão no território brasileiro, a Lei Áurea também foi responsável pela criminalização da prática do racismo e pela realização de ações afirmativas.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c) O fim da escravidão no Brasil deve ser compreendido como fruto de um processo lento e complexo, envolvendo lideranças políticas, civis, além dos próprios escravizados, não estando limitado a promulgação da Lei Áurea pela princesa Isabel, em 1888.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d) A expansão da lavoura canavieira no nordeste brasileiro e a participação do Brasil na Guerra do Paraguai, podem ser apontados como dois importantes motivos que justificam a resistência da elite agrícola e do Exército brasileiro, em aderir ao movimento abolicionista. 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e) Uma das grandes vitórias dos proprietários de escravizados foi a obtenção do direito à indenização após a promulgação de lei que aboliu a escravidão no país, o que demonstra o alinhamento total do governo brasileiro com os interesses dos escravocratas.  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50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CFA07BF-43E2-F82B-D379-0A9F8D1CE0A2}"/>
              </a:ext>
            </a:extLst>
          </p:cNvPr>
          <p:cNvSpPr txBox="1"/>
          <p:nvPr/>
        </p:nvSpPr>
        <p:spPr>
          <a:xfrm>
            <a:off x="416560" y="264159"/>
            <a:ext cx="11379200" cy="535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(Esa)  No final do século XIX a monarquia Brasileira estava desgastada politicamente, o que resultou numa crise. Sobre os fatos ocorridos durante a crise da monarquia brasileira e Proclamação da República, pode-se afirmar que: 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a Igreja Católica foi a única instituição que apoiou o imperador até a sua queda.  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o Manifesto Republicano já havia sido lançado no final do século XVIII, pela Conjuração Carioca.  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a proclamação da República foi efetivada sem a participação de militares do Exército.  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4145" indent="-144145">
              <a:lnSpc>
                <a:spcPct val="115000"/>
              </a:lnSpc>
              <a:spcAft>
                <a:spcPts val="1000"/>
              </a:spcAft>
            </a:pPr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com a abolição da escravidão, muitos senhores de escravos passaram a apoiar a causa republicana.  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</a:rPr>
              <a:t>E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o governo monárquico não reagiu à situação difícil que se encontrava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526818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d0d693f-4244-4177-a687-7b583a63445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CDB3766497464383C136DE8547F30E" ma:contentTypeVersion="11" ma:contentTypeDescription="Crie um novo documento." ma:contentTypeScope="" ma:versionID="a46cd6af75c90fd73ea683259385ccec">
  <xsd:schema xmlns:xsd="http://www.w3.org/2001/XMLSchema" xmlns:xs="http://www.w3.org/2001/XMLSchema" xmlns:p="http://schemas.microsoft.com/office/2006/metadata/properties" xmlns:ns3="1d0d693f-4244-4177-a687-7b583a634453" xmlns:ns4="bbc753fb-7766-4447-b209-f34e8607ec7f" targetNamespace="http://schemas.microsoft.com/office/2006/metadata/properties" ma:root="true" ma:fieldsID="b3e3af15ba6b20bd652f886430523dcd" ns3:_="" ns4:_="">
    <xsd:import namespace="1d0d693f-4244-4177-a687-7b583a634453"/>
    <xsd:import namespace="bbc753fb-7766-4447-b209-f34e8607ec7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0d693f-4244-4177-a687-7b583a6344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753fb-7766-4447-b209-f34e8607ec7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D4F988-BF38-4125-B744-B628DF6D5D78}">
  <ds:schemaRefs>
    <ds:schemaRef ds:uri="bbc753fb-7766-4447-b209-f34e8607ec7f"/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1d0d693f-4244-4177-a687-7b583a634453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73DA149-7CB8-4927-8A57-B3ED70E4F7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EA9423-C674-4C28-8277-B3F5374CE6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0d693f-4244-4177-a687-7b583a634453"/>
    <ds:schemaRef ds:uri="bbc753fb-7766-4447-b209-f34e8607ec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2486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Arial</vt:lpstr>
      <vt:lpstr>Arial</vt:lpstr>
      <vt:lpstr>Arial Black</vt:lpstr>
      <vt:lpstr>Calibri</vt:lpstr>
      <vt:lpstr>Calibri Light</vt:lpstr>
      <vt:lpstr>Open Sans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Celso Aparecido Siracusa</dc:creator>
  <cp:lastModifiedBy>Celso Aparecido Siracusa</cp:lastModifiedBy>
  <cp:revision>10</cp:revision>
  <dcterms:created xsi:type="dcterms:W3CDTF">2023-11-13T00:13:51Z</dcterms:created>
  <dcterms:modified xsi:type="dcterms:W3CDTF">2026-09-03T22:57:06Z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0x010100A9CDB3766497464383C136DE8547F30E</vt:lpwstr>
  </property>
</Properties>
</file>