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Action1.xml" ContentType="application/vnd.ms-office.inkAct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8" r:id="rId3"/>
    <p:sldId id="270" r:id="rId4"/>
    <p:sldId id="272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35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03T16:34:41.7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1,'0'5,"0"2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4-03T16:34:42.32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0-04-04T04:54:51.59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act:action type="add" startTime="74919">
    <iact:property name="dataType"/>
    <iact:actionData xml:id="d0">
      <inkml:trace xmlns:inkml="http://www.w3.org/2003/InkML" xml:id="stk0" contextRef="#ctx0" brushRef="#br0">16920 9259 0</inkml:trace>
    </iact:actionData>
  </iact:action>
</iact:action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4BC5A-C4B9-4B1F-B712-B5BB57400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0B728C-72B8-40ED-9EEB-B7333DCF5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D96FBC-25C6-4932-9B69-A3BFAD1B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DA616E-189D-4FE2-8474-EF3FC3C39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F715AD-DC50-43E8-9FAB-5FF696FB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99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FD2386-2334-4A93-91DB-CECB4977C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A215AE-0944-417C-9D6F-7DA1F386D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27BD6F-5D33-4735-B93B-377A221A9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302186B-761D-4971-8D15-D2C823B88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85581A-A832-45CE-9597-3547C7C7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52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3D03E-B008-4128-994A-37A59E614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CF79D3-AFCC-4A2E-B9A4-D7151E832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8130DD-D346-4E4A-AC55-7BD5789E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9B315-F797-4CD4-8B95-E830332BA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A93272-E7C4-4972-880E-0478F61C5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870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B7342-8415-428E-B8C1-27F4FF7D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8895E1-063B-4A06-806E-B4A94EF1B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D4BC99-2BBA-4853-A700-2EA2BF60F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EF53D3-611F-47C5-92B4-1D46107ED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A4620D-23DE-4448-9EA9-D6C8BAE1A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153478-7BB7-41A2-AB55-6A36B6D92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52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F4F34-6E38-4E9D-956C-F358903AB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B219D77-B6C1-4142-A5B7-5F74528A7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14AB5BB-951D-48BA-9279-5C114A14B6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CBE713-CDCA-4C46-B85F-659BCFBACF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8DC9C4-E5A3-4658-81BE-C6DFC4A03E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8BD3ABB-6ABA-4BB9-84F4-91E1044C4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7D3778-37F0-452E-A42A-48845BAD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1E13C55-753A-4F9E-BB49-C9BAADB7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00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726D23-3283-429F-94E2-814242A3E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E2A73A-92DF-416B-A0AA-E82397FBF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A5061C-1575-4566-87F8-ABE52E86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10E25D-0045-4654-8965-95048426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45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FCB29A-50DE-43E4-9E81-5EC72140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5355AAB-14CD-4535-9EFB-2B3F652D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37059D-E692-40B1-8DA7-5AA070A19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10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F3BD26-ACC7-408B-BBCA-8DD0CF470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0B5C6B-B4D8-4A35-B91E-1B125CD016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02E256-6D29-4979-87DE-0F9F5962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3E10FE-86A5-43D0-BA2A-63B0E4E7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EDEC0B-F227-4118-986A-C49379C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E24750-9DA5-48C8-A86B-1D671E2E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79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F28E8-453B-46C7-BFEC-AA6C0BBE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6C5056-1295-4D2F-AB74-EE1626EEB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EDDAE7A-0673-46E1-B39C-E27D4D86D1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E1BB87-EDA5-4F8B-8088-7E1B71442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9E1919-10C3-45F2-9F43-41DED331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0518B2-7FE1-4D17-9863-A787ED610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627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13B24-7708-4F74-8D32-7813DA73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F5E4E7-347E-4C70-8C77-495DA9D6A4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04C74E-9E7E-4669-80F0-24D751328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AAAE4D-3C79-43F8-9FCE-1962BD09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4D6A91-D37A-43CB-9C3A-5E5B15C9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735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6D58F00-D98C-4A4D-A608-279C96652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D69A70-A6A6-4EA5-9276-DFDA7CB18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5C8F43-0ECB-4FEE-8564-D0BE5C31C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504BE-20D3-435C-9298-A9C02E4C8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66F48C-BAE1-44F2-9F3A-1EEABC276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467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F81354B-410B-47C5-9D7A-1E62D6F3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952185-3755-4B60-9C45-4DF52C1EF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5EF7FB-EE6D-498A-BCCC-830390D88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C1463-2CAE-4372-9121-A14AC39EF13D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C44F5A-B2B2-4BB8-8AC5-F7B1E0CCF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DDBA8A-8922-4D0D-A979-18791F08C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93524-ED14-4990-AED4-1A91EF1B46B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3415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hyperlink" Target="http://especiais.estadao.com.br/mundodigital/ola-mundo/" TargetMode="External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customXml" Target="../ink/ink1.xml"/><Relationship Id="rId9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microsoft.com/office/2011/relationships/inkAction" Target="../ink/inkAction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4AFF3C0-7C62-4BDD-BF0B-2D36E38E7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3269" y="603633"/>
            <a:ext cx="8865462" cy="424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2B4B441-96EE-4566-A116-BC62CFD73FFA}"/>
              </a:ext>
            </a:extLst>
          </p:cNvPr>
          <p:cNvSpPr txBox="1"/>
          <p:nvPr/>
        </p:nvSpPr>
        <p:spPr>
          <a:xfrm>
            <a:off x="9429252" y="4767565"/>
            <a:ext cx="2762748" cy="3826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>
                <a:hlinkClick r:id="rId3"/>
              </a:rPr>
              <a:t>http://especiais.estadao.com.br/mundodigital/ola-mundo</a:t>
            </a:r>
            <a:r>
              <a:rPr lang="pt-BR" dirty="0">
                <a:hlinkClick r:id="rId3"/>
              </a:rPr>
              <a:t>/</a:t>
            </a:r>
            <a:endParaRPr lang="pt-BR" dirty="0"/>
          </a:p>
        </p:txBody>
      </p:sp>
      <p:cxnSp>
        <p:nvCxnSpPr>
          <p:cNvPr id="4" name="Conector de seta reta 4">
            <a:extLst>
              <a:ext uri="{FF2B5EF4-FFF2-40B4-BE49-F238E27FC236}">
                <a16:creationId xmlns:a16="http://schemas.microsoft.com/office/drawing/2014/main" id="{C39C57CB-5D06-4A64-85B2-804517E8466E}"/>
              </a:ext>
            </a:extLst>
          </p:cNvPr>
          <p:cNvCxnSpPr>
            <a:cxnSpLocks/>
          </p:cNvCxnSpPr>
          <p:nvPr/>
        </p:nvCxnSpPr>
        <p:spPr>
          <a:xfrm flipV="1">
            <a:off x="1533641" y="1767694"/>
            <a:ext cx="9582800" cy="80743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BB75AEC-0DA1-4A7A-87C4-1AAA2F857E56}"/>
                  </a:ext>
                </a:extLst>
              </p14:cNvPr>
              <p14:cNvContentPartPr/>
              <p14:nvPr/>
            </p14:nvContentPartPr>
            <p14:xfrm>
              <a:off x="3184486" y="1975266"/>
              <a:ext cx="360" cy="468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BB75AEC-0DA1-4A7A-87C4-1AAA2F857E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5486" y="1966626"/>
                <a:ext cx="180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1DDC5A57-305A-4D53-B299-191119E5C071}"/>
                  </a:ext>
                </a:extLst>
              </p14:cNvPr>
              <p14:cNvContentPartPr/>
              <p14:nvPr/>
            </p14:nvContentPartPr>
            <p14:xfrm>
              <a:off x="3194926" y="1828386"/>
              <a:ext cx="360" cy="36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1DDC5A57-305A-4D53-B299-191119E5C07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86286" y="1819386"/>
                <a:ext cx="18000" cy="18000"/>
              </a:xfrm>
              <a:prstGeom prst="rect">
                <a:avLst/>
              </a:prstGeom>
            </p:spPr>
          </p:pic>
        </mc:Fallback>
      </mc:AlternateContent>
      <p:cxnSp>
        <p:nvCxnSpPr>
          <p:cNvPr id="8" name="Conector de seta reta 8">
            <a:extLst>
              <a:ext uri="{FF2B5EF4-FFF2-40B4-BE49-F238E27FC236}">
                <a16:creationId xmlns:a16="http://schemas.microsoft.com/office/drawing/2014/main" id="{FE9C11CD-E95A-4EEB-8EE9-156FF54AA3BB}"/>
              </a:ext>
            </a:extLst>
          </p:cNvPr>
          <p:cNvCxnSpPr>
            <a:cxnSpLocks/>
          </p:cNvCxnSpPr>
          <p:nvPr/>
        </p:nvCxnSpPr>
        <p:spPr>
          <a:xfrm>
            <a:off x="3171786" y="1843822"/>
            <a:ext cx="0" cy="462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8">
            <a:extLst>
              <a:ext uri="{FF2B5EF4-FFF2-40B4-BE49-F238E27FC236}">
                <a16:creationId xmlns:a16="http://schemas.microsoft.com/office/drawing/2014/main" id="{8718F784-B8D7-46FE-A325-134279259A2F}"/>
              </a:ext>
            </a:extLst>
          </p:cNvPr>
          <p:cNvCxnSpPr>
            <a:cxnSpLocks/>
          </p:cNvCxnSpPr>
          <p:nvPr/>
        </p:nvCxnSpPr>
        <p:spPr>
          <a:xfrm>
            <a:off x="4890227" y="1828386"/>
            <a:ext cx="0" cy="462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8">
            <a:extLst>
              <a:ext uri="{FF2B5EF4-FFF2-40B4-BE49-F238E27FC236}">
                <a16:creationId xmlns:a16="http://schemas.microsoft.com/office/drawing/2014/main" id="{45B34DE0-37EE-4920-A9B4-2642A4D757E4}"/>
              </a:ext>
            </a:extLst>
          </p:cNvPr>
          <p:cNvCxnSpPr>
            <a:cxnSpLocks/>
          </p:cNvCxnSpPr>
          <p:nvPr/>
        </p:nvCxnSpPr>
        <p:spPr>
          <a:xfrm>
            <a:off x="6923521" y="1788118"/>
            <a:ext cx="0" cy="4624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8">
            <a:extLst>
              <a:ext uri="{FF2B5EF4-FFF2-40B4-BE49-F238E27FC236}">
                <a16:creationId xmlns:a16="http://schemas.microsoft.com/office/drawing/2014/main" id="{4B7E7986-DAA7-4D9A-BE79-F507FCCC25FA}"/>
              </a:ext>
            </a:extLst>
          </p:cNvPr>
          <p:cNvCxnSpPr>
            <a:cxnSpLocks/>
          </p:cNvCxnSpPr>
          <p:nvPr/>
        </p:nvCxnSpPr>
        <p:spPr>
          <a:xfrm>
            <a:off x="8710738" y="1792959"/>
            <a:ext cx="0" cy="3826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181B63C-5614-4B9B-A64A-507F98A46DDC}"/>
              </a:ext>
            </a:extLst>
          </p:cNvPr>
          <p:cNvSpPr txBox="1"/>
          <p:nvPr/>
        </p:nvSpPr>
        <p:spPr>
          <a:xfrm>
            <a:off x="2265529" y="5467548"/>
            <a:ext cx="2277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2ª metade do século XVIII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F655D36-FDFF-4C8F-BE38-BE8570A1877F}"/>
              </a:ext>
            </a:extLst>
          </p:cNvPr>
          <p:cNvSpPr txBox="1"/>
          <p:nvPr/>
        </p:nvSpPr>
        <p:spPr>
          <a:xfrm>
            <a:off x="2722184" y="1551655"/>
            <a:ext cx="109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Séc.XVIII</a:t>
            </a:r>
            <a:endParaRPr lang="pt-BR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E6C85B6F-CACA-4E11-A42E-12671625E378}"/>
              </a:ext>
            </a:extLst>
          </p:cNvPr>
          <p:cNvSpPr txBox="1"/>
          <p:nvPr/>
        </p:nvSpPr>
        <p:spPr>
          <a:xfrm>
            <a:off x="4473571" y="1518865"/>
            <a:ext cx="1082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Séc.XIX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8203D45-A217-4ABF-8DDF-793C6C6BA4E1}"/>
              </a:ext>
            </a:extLst>
          </p:cNvPr>
          <p:cNvSpPr txBox="1"/>
          <p:nvPr/>
        </p:nvSpPr>
        <p:spPr>
          <a:xfrm>
            <a:off x="6540976" y="1518865"/>
            <a:ext cx="1103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Séc.XX</a:t>
            </a:r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D75B2C0-00C9-4A45-BA7E-02E0F5CA3506}"/>
              </a:ext>
            </a:extLst>
          </p:cNvPr>
          <p:cNvSpPr txBox="1"/>
          <p:nvPr/>
        </p:nvSpPr>
        <p:spPr>
          <a:xfrm>
            <a:off x="8353046" y="1508004"/>
            <a:ext cx="1008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Séc.XXI</a:t>
            </a:r>
            <a:endParaRPr lang="pt-BR" dirty="0"/>
          </a:p>
        </p:txBody>
      </p: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3C9182E6-1648-4552-933A-8517E35930DB}"/>
              </a:ext>
            </a:extLst>
          </p:cNvPr>
          <p:cNvCxnSpPr>
            <a:cxnSpLocks/>
          </p:cNvCxnSpPr>
          <p:nvPr/>
        </p:nvCxnSpPr>
        <p:spPr>
          <a:xfrm>
            <a:off x="5107093" y="5016982"/>
            <a:ext cx="0" cy="441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3EB27FD-7521-4B03-BAEF-DB40677DD8F2}"/>
              </a:ext>
            </a:extLst>
          </p:cNvPr>
          <p:cNvSpPr txBox="1"/>
          <p:nvPr/>
        </p:nvSpPr>
        <p:spPr>
          <a:xfrm>
            <a:off x="4601394" y="5426609"/>
            <a:ext cx="1566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2ª metade do século XIX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297515CD-9D9E-4FEA-B0BD-D9B680148EB4}"/>
              </a:ext>
            </a:extLst>
          </p:cNvPr>
          <p:cNvCxnSpPr>
            <a:cxnSpLocks/>
          </p:cNvCxnSpPr>
          <p:nvPr/>
        </p:nvCxnSpPr>
        <p:spPr>
          <a:xfrm>
            <a:off x="7033410" y="4998854"/>
            <a:ext cx="0" cy="459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06ADBBC-C1EC-4295-8CB8-C6D58125EEA4}"/>
              </a:ext>
            </a:extLst>
          </p:cNvPr>
          <p:cNvSpPr txBox="1"/>
          <p:nvPr/>
        </p:nvSpPr>
        <p:spPr>
          <a:xfrm>
            <a:off x="6528241" y="5418627"/>
            <a:ext cx="1787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2ª metade do século XX</a:t>
            </a:r>
          </a:p>
        </p:txBody>
      </p: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BA526229-187F-4A10-8721-D3FE7EED369E}"/>
              </a:ext>
            </a:extLst>
          </p:cNvPr>
          <p:cNvCxnSpPr/>
          <p:nvPr/>
        </p:nvCxnSpPr>
        <p:spPr>
          <a:xfrm>
            <a:off x="3171786" y="5016982"/>
            <a:ext cx="0" cy="441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FEA7D7BC-7532-492A-910D-159F42593321}"/>
              </a:ext>
            </a:extLst>
          </p:cNvPr>
          <p:cNvCxnSpPr/>
          <p:nvPr/>
        </p:nvCxnSpPr>
        <p:spPr>
          <a:xfrm>
            <a:off x="8849360" y="5016982"/>
            <a:ext cx="0" cy="409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35E29CCB-5EE7-4F25-813A-0B27581C8C71}"/>
              </a:ext>
            </a:extLst>
          </p:cNvPr>
          <p:cNvSpPr txBox="1"/>
          <p:nvPr/>
        </p:nvSpPr>
        <p:spPr>
          <a:xfrm>
            <a:off x="8241341" y="5446929"/>
            <a:ext cx="1715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1ª metade do século XXI</a:t>
            </a:r>
          </a:p>
        </p:txBody>
      </p:sp>
    </p:spTree>
    <p:extLst>
      <p:ext uri="{BB962C8B-B14F-4D97-AF65-F5344CB8AC3E}">
        <p14:creationId xmlns:p14="http://schemas.microsoft.com/office/powerpoint/2010/main" val="55521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070"/>
    </mc:Choice>
    <mc:Fallback xmlns="">
      <p:transition spd="slow" advTm="4680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B7BA58-791C-4F3D-9D44-83C5D0164199}"/>
              </a:ext>
            </a:extLst>
          </p:cNvPr>
          <p:cNvSpPr txBox="1"/>
          <p:nvPr/>
        </p:nvSpPr>
        <p:spPr>
          <a:xfrm>
            <a:off x="1872615" y="401858"/>
            <a:ext cx="7844155" cy="96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pt-PT" altLang="pt-BR" sz="2400" b="1" dirty="0">
                <a:solidFill>
                  <a:srgbClr val="FF0000"/>
                </a:solidFill>
              </a:rPr>
              <a:t>Primeira Revolução Industrial ( 2ª Metade do século XVIII)</a:t>
            </a:r>
            <a:endParaRPr lang="pt-PT" altLang="pt-BR" sz="2400" dirty="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endParaRPr lang="pt-PT" altLang="pt-BR" sz="2400" dirty="0">
              <a:solidFill>
                <a:srgbClr val="FF0000"/>
              </a:solidFill>
            </a:endParaRPr>
          </a:p>
          <a:p>
            <a:endParaRPr lang="pt-BR" dirty="0"/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158D41A4-EF22-4061-BE26-91424CE2A3B4}"/>
              </a:ext>
            </a:extLst>
          </p:cNvPr>
          <p:cNvCxnSpPr/>
          <p:nvPr/>
        </p:nvCxnSpPr>
        <p:spPr>
          <a:xfrm flipH="1">
            <a:off x="2238375" y="971550"/>
            <a:ext cx="1790700" cy="1047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5C6B7A8D-83DD-4CBC-83CA-FF3D847B86A0}"/>
              </a:ext>
            </a:extLst>
          </p:cNvPr>
          <p:cNvSpPr/>
          <p:nvPr/>
        </p:nvSpPr>
        <p:spPr>
          <a:xfrm>
            <a:off x="758149" y="2128478"/>
            <a:ext cx="1937425" cy="1649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PT" altLang="pt-BR" dirty="0"/>
              <a:t>Inovações técnicas (Máquinas a vapor) mecanização do sistema de produção de mercadorias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9EAA8FC-198E-418F-A599-8DE218B61799}"/>
              </a:ext>
            </a:extLst>
          </p:cNvPr>
          <p:cNvSpPr/>
          <p:nvPr/>
        </p:nvSpPr>
        <p:spPr>
          <a:xfrm>
            <a:off x="3218028" y="2128478"/>
            <a:ext cx="17907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altLang="pt-BR" dirty="0"/>
              <a:t>Processo atinge a Inglaterra e, em menor escala, a França e a Bélgica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BA92622-5424-4663-9989-4BE3F0D029BB}"/>
              </a:ext>
            </a:extLst>
          </p:cNvPr>
          <p:cNvSpPr txBox="1"/>
          <p:nvPr/>
        </p:nvSpPr>
        <p:spPr>
          <a:xfrm>
            <a:off x="5205399" y="2230527"/>
            <a:ext cx="1638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Chamada de a “Era do Carvão e do Ferro”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052A0B7-7C94-483D-A1C6-59DCCF648DD8}"/>
              </a:ext>
            </a:extLst>
          </p:cNvPr>
          <p:cNvSpPr/>
          <p:nvPr/>
        </p:nvSpPr>
        <p:spPr>
          <a:xfrm rot="10800000" flipV="1">
            <a:off x="7040369" y="2214334"/>
            <a:ext cx="16383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altLang="pt-BR" dirty="0"/>
              <a:t>Fase do Capitalismo Liberal ou Livre-concorrencial</a:t>
            </a:r>
            <a:endParaRPr lang="pt-BR" dirty="0"/>
          </a:p>
        </p:txBody>
      </p:sp>
      <p:pic>
        <p:nvPicPr>
          <p:cNvPr id="11" name="Picture 8" descr="Resumo - Revolução Industrial - Só História">
            <a:extLst>
              <a:ext uri="{FF2B5EF4-FFF2-40B4-BE49-F238E27FC236}">
                <a16:creationId xmlns:a16="http://schemas.microsoft.com/office/drawing/2014/main" id="{9AA878A7-729E-4D86-A8B0-40CDDCFAE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4076005"/>
            <a:ext cx="30480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7090FBD8-7966-44EF-8036-FD3B86B5B9ED}"/>
              </a:ext>
            </a:extLst>
          </p:cNvPr>
          <p:cNvSpPr/>
          <p:nvPr/>
        </p:nvSpPr>
        <p:spPr>
          <a:xfrm>
            <a:off x="8996323" y="2226124"/>
            <a:ext cx="191547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altLang="pt-BR" dirty="0"/>
              <a:t>Más condições de vida e de trabalho ( surgimento da ‘Questão Operária’ )</a:t>
            </a:r>
            <a:endParaRPr lang="pt-BR" dirty="0"/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E79F2838-DF01-49B5-95C7-98BBBE9B0EE3}"/>
              </a:ext>
            </a:extLst>
          </p:cNvPr>
          <p:cNvCxnSpPr>
            <a:cxnSpLocks/>
          </p:cNvCxnSpPr>
          <p:nvPr/>
        </p:nvCxnSpPr>
        <p:spPr>
          <a:xfrm flipH="1">
            <a:off x="4225746" y="904875"/>
            <a:ext cx="620802" cy="1114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07663DE-57F7-4187-AB07-2024D90DCAAF}"/>
              </a:ext>
            </a:extLst>
          </p:cNvPr>
          <p:cNvCxnSpPr>
            <a:cxnSpLocks/>
          </p:cNvCxnSpPr>
          <p:nvPr/>
        </p:nvCxnSpPr>
        <p:spPr>
          <a:xfrm>
            <a:off x="5348302" y="904875"/>
            <a:ext cx="338123" cy="1223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0F72E09C-F72A-40E3-85F4-BF30BC94EABC}"/>
              </a:ext>
            </a:extLst>
          </p:cNvPr>
          <p:cNvCxnSpPr>
            <a:cxnSpLocks/>
          </p:cNvCxnSpPr>
          <p:nvPr/>
        </p:nvCxnSpPr>
        <p:spPr>
          <a:xfrm>
            <a:off x="6003822" y="904875"/>
            <a:ext cx="1240623" cy="1114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550F9290-561D-469F-9C18-44DDDE146411}"/>
              </a:ext>
            </a:extLst>
          </p:cNvPr>
          <p:cNvCxnSpPr>
            <a:cxnSpLocks/>
          </p:cNvCxnSpPr>
          <p:nvPr/>
        </p:nvCxnSpPr>
        <p:spPr>
          <a:xfrm>
            <a:off x="6843699" y="834890"/>
            <a:ext cx="1834971" cy="1184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2" descr="Exercícios sobre Revolução Industrial">
            <a:extLst>
              <a:ext uri="{FF2B5EF4-FFF2-40B4-BE49-F238E27FC236}">
                <a16:creationId xmlns:a16="http://schemas.microsoft.com/office/drawing/2014/main" id="{6D925B83-9DAF-4056-8608-544CC2D53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399" y="3902889"/>
            <a:ext cx="4859140" cy="242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32" name="Tinta 31">
                <a:extLst>
                  <a:ext uri="{FF2B5EF4-FFF2-40B4-BE49-F238E27FC236}">
                    <a16:creationId xmlns:a16="http://schemas.microsoft.com/office/drawing/2014/main" id="{656B07E8-0154-436F-88C7-D584BF2B1A72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6091200" y="3333240"/>
              <a:ext cx="360" cy="360"/>
            </p14:xfrm>
          </p:contentPart>
        </mc:Choice>
        <mc:Fallback xmlns="">
          <p:pic>
            <p:nvPicPr>
              <p:cNvPr id="32" name="Tinta 31">
                <a:extLst>
                  <a:ext uri="{FF2B5EF4-FFF2-40B4-BE49-F238E27FC236}">
                    <a16:creationId xmlns:a16="http://schemas.microsoft.com/office/drawing/2014/main" id="{656B07E8-0154-436F-88C7-D584BF2B1A7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75360" y="326988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949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6947"/>
    </mc:Choice>
    <mc:Fallback xmlns="">
      <p:transition spd="slow" advTm="2569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C667A3-7EFE-420A-9BC0-8CF09366B82D}"/>
              </a:ext>
            </a:extLst>
          </p:cNvPr>
          <p:cNvSpPr txBox="1"/>
          <p:nvPr/>
        </p:nvSpPr>
        <p:spPr>
          <a:xfrm>
            <a:off x="650240" y="2042160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Consequências</a:t>
            </a:r>
            <a:r>
              <a:rPr lang="pt-BR" dirty="0"/>
              <a:t> </a:t>
            </a:r>
            <a:r>
              <a:rPr lang="pt-BR" b="1" dirty="0">
                <a:solidFill>
                  <a:srgbClr val="FF0000"/>
                </a:solidFill>
              </a:rPr>
              <a:t>imediatas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36B6EB7-1E88-4366-B9E6-B5330E736091}"/>
              </a:ext>
            </a:extLst>
          </p:cNvPr>
          <p:cNvCxnSpPr/>
          <p:nvPr/>
        </p:nvCxnSpPr>
        <p:spPr>
          <a:xfrm flipV="1">
            <a:off x="2529840" y="1217970"/>
            <a:ext cx="792480" cy="56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B078ADA8-C0B7-418E-A81E-285FD6D1C1D3}"/>
              </a:ext>
            </a:extLst>
          </p:cNvPr>
          <p:cNvSpPr txBox="1"/>
          <p:nvPr/>
        </p:nvSpPr>
        <p:spPr>
          <a:xfrm>
            <a:off x="3505201" y="602342"/>
            <a:ext cx="3525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Formação de duas novas classes sociais : a burguesia industrial e o proletariado (operariado)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F51F8A8-6431-4831-BC7E-433905A0B94F}"/>
              </a:ext>
            </a:extLst>
          </p:cNvPr>
          <p:cNvCxnSpPr>
            <a:cxnSpLocks/>
          </p:cNvCxnSpPr>
          <p:nvPr/>
        </p:nvCxnSpPr>
        <p:spPr>
          <a:xfrm>
            <a:off x="2529840" y="2042160"/>
            <a:ext cx="863600" cy="121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5EE88C3-2FB9-4E32-93CE-B944CD9DE1FD}"/>
              </a:ext>
            </a:extLst>
          </p:cNvPr>
          <p:cNvSpPr txBox="1"/>
          <p:nvPr/>
        </p:nvSpPr>
        <p:spPr>
          <a:xfrm>
            <a:off x="3464560" y="3733347"/>
            <a:ext cx="231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crescimento urbano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E0305ED-2A0F-4A8B-94E9-15709A827FD4}"/>
              </a:ext>
            </a:extLst>
          </p:cNvPr>
          <p:cNvSpPr txBox="1"/>
          <p:nvPr/>
        </p:nvSpPr>
        <p:spPr>
          <a:xfrm>
            <a:off x="3505201" y="1920634"/>
            <a:ext cx="3601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Revolução na produção agrária, que incorpora inovações técnicas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2402A09-F0F0-4F4A-A530-2A8EC2586D10}"/>
              </a:ext>
            </a:extLst>
          </p:cNvPr>
          <p:cNvSpPr txBox="1"/>
          <p:nvPr/>
        </p:nvSpPr>
        <p:spPr>
          <a:xfrm>
            <a:off x="3505201" y="2688491"/>
            <a:ext cx="3383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revolução nos meios de transporte com às Ferrovias e Barcos à vapor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5A4582-C08E-43C1-AE46-9D3000CCCDD4}"/>
              </a:ext>
            </a:extLst>
          </p:cNvPr>
          <p:cNvSpPr txBox="1"/>
          <p:nvPr/>
        </p:nvSpPr>
        <p:spPr>
          <a:xfrm>
            <a:off x="3500120" y="4224205"/>
            <a:ext cx="4196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Prosperidade econômica intensa e concentração de riqueza (miséria social gerando problemas nas cidades)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DAEB36D-6193-4399-9A18-8429D5317A3F}"/>
              </a:ext>
            </a:extLst>
          </p:cNvPr>
          <p:cNvSpPr/>
          <p:nvPr/>
        </p:nvSpPr>
        <p:spPr>
          <a:xfrm>
            <a:off x="7874000" y="1040785"/>
            <a:ext cx="43688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pt-BR" dirty="0"/>
              <a:t>“</a:t>
            </a:r>
            <a:r>
              <a:rPr lang="pt-BR" dirty="0">
                <a:solidFill>
                  <a:schemeClr val="accent1"/>
                </a:solidFill>
              </a:rPr>
              <a:t>É fato notório [...] que a penúria até certo grau estimula a indústria; e que o operário que pode prover às suas necessidades trabalhando só três dias ficará ocioso e bêbado o resto da semana [.]. Os pobres, nos condados onde há manufaturas, jamais trabalharão mais horas do que é preciso para custear a alimentação e suas orgias semanais [..] sem temor podemos dizer</a:t>
            </a:r>
          </a:p>
          <a:p>
            <a:r>
              <a:rPr lang="pt-BR" dirty="0">
                <a:solidFill>
                  <a:schemeClr val="accent1"/>
                </a:solidFill>
              </a:rPr>
              <a:t>que uma redução dos salários das manufaturas laníferas seria uma bênção e uma vantagem para a nação e não seria um prejuízo real para os pobres. Com esse recurso, poderíamos preservar nosso comércio, manter nossas rendas e, além de tudo, corrigir as pessoas”</a:t>
            </a:r>
            <a:r>
              <a:rPr lang="pt-BR" dirty="0"/>
              <a:t>. </a:t>
            </a:r>
            <a:r>
              <a:rPr lang="pt-BR" sz="1400" dirty="0"/>
              <a:t>SMITH, J. </a:t>
            </a:r>
            <a:r>
              <a:rPr lang="pt-BR" sz="1400" dirty="0" err="1"/>
              <a:t>Memoirs</a:t>
            </a:r>
            <a:r>
              <a:rPr lang="pt-BR" sz="1400" dirty="0"/>
              <a:t> </a:t>
            </a:r>
            <a:r>
              <a:rPr lang="pt-BR" sz="1400" dirty="0" err="1"/>
              <a:t>of</a:t>
            </a:r>
            <a:r>
              <a:rPr lang="pt-BR" sz="1400" dirty="0"/>
              <a:t> </a:t>
            </a:r>
            <a:r>
              <a:rPr lang="pt-BR" sz="1400" dirty="0" err="1"/>
              <a:t>Wool</a:t>
            </a:r>
            <a:r>
              <a:rPr lang="pt-BR" sz="1400" dirty="0"/>
              <a:t>, 1747. In: GORZ, André. Crítica da divisão do trabalho. 2. </a:t>
            </a:r>
            <a:r>
              <a:rPr lang="pt-BR" sz="1400" dirty="0" err="1"/>
              <a:t>ed.São</a:t>
            </a:r>
            <a:r>
              <a:rPr lang="pt-BR" sz="1400" dirty="0"/>
              <a:t> Paulo: Martins Fontes, 1989. p. 65.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F2F0D8-F935-46A5-8FC9-7A192CBC6879}"/>
              </a:ext>
            </a:extLst>
          </p:cNvPr>
          <p:cNvSpPr txBox="1"/>
          <p:nvPr/>
        </p:nvSpPr>
        <p:spPr>
          <a:xfrm>
            <a:off x="8229600" y="579120"/>
            <a:ext cx="3058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Porque é bom baixos salários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3E8E7163-4B98-49DC-9E9B-21DD712CC015}"/>
              </a:ext>
            </a:extLst>
          </p:cNvPr>
          <p:cNvCxnSpPr/>
          <p:nvPr/>
        </p:nvCxnSpPr>
        <p:spPr>
          <a:xfrm>
            <a:off x="2428240" y="2566965"/>
            <a:ext cx="894080" cy="481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BA6BA063-6925-4580-BEFE-82EE7EE1DEFC}"/>
              </a:ext>
            </a:extLst>
          </p:cNvPr>
          <p:cNvCxnSpPr/>
          <p:nvPr/>
        </p:nvCxnSpPr>
        <p:spPr>
          <a:xfrm>
            <a:off x="1950720" y="2905760"/>
            <a:ext cx="1371600" cy="1196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143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5152"/>
    </mc:Choice>
    <mc:Fallback xmlns="">
      <p:transition spd="slow" advTm="15515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7059255-D2A3-4C07-8BCC-C87CBCADD813}"/>
              </a:ext>
            </a:extLst>
          </p:cNvPr>
          <p:cNvSpPr txBox="1"/>
          <p:nvPr/>
        </p:nvSpPr>
        <p:spPr>
          <a:xfrm>
            <a:off x="3286443" y="416089"/>
            <a:ext cx="5659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altLang="pt-BR" b="1" dirty="0"/>
              <a:t>Segunda Revolução Industrial ( 2ª Metade do século XIX)</a:t>
            </a:r>
            <a:endParaRPr lang="pt-PT" alt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264DF3-F7C1-4B11-9748-6D3FF7295420}"/>
              </a:ext>
            </a:extLst>
          </p:cNvPr>
          <p:cNvSpPr txBox="1"/>
          <p:nvPr/>
        </p:nvSpPr>
        <p:spPr>
          <a:xfrm>
            <a:off x="612142" y="1189698"/>
            <a:ext cx="1686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altLang="pt-BR" dirty="0"/>
              <a:t>"Era do aço e da eletricidade"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7FE5E5-9888-49DA-893A-A810FA2650AF}"/>
              </a:ext>
            </a:extLst>
          </p:cNvPr>
          <p:cNvSpPr txBox="1"/>
          <p:nvPr/>
        </p:nvSpPr>
        <p:spPr>
          <a:xfrm>
            <a:off x="2826700" y="1180835"/>
            <a:ext cx="24485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altLang="pt-BR" dirty="0"/>
              <a:t>Inovações técnicas </a:t>
            </a:r>
          </a:p>
          <a:p>
            <a:r>
              <a:rPr lang="pt-PT" altLang="pt-BR" dirty="0"/>
              <a:t>( motores a combustão) e novas fontes de energia ( eletricidade e petróleo )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84C8B4-1D13-4FF5-B34B-EE18927133E4}"/>
              </a:ext>
            </a:extLst>
          </p:cNvPr>
          <p:cNvSpPr/>
          <p:nvPr/>
        </p:nvSpPr>
        <p:spPr>
          <a:xfrm>
            <a:off x="5363211" y="1180835"/>
            <a:ext cx="255016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pt-PT" altLang="pt-BR" dirty="0"/>
              <a:t>Processo se irradia e atinge EUA, Alemanha, Itália, Rússia e Japão </a:t>
            </a:r>
          </a:p>
          <a:p>
            <a:pPr>
              <a:lnSpc>
                <a:spcPct val="90000"/>
              </a:lnSpc>
            </a:pPr>
            <a:r>
              <a:rPr lang="pt-PT" altLang="pt-BR" dirty="0"/>
              <a:t>(Era Meiji)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8FEE797-942B-4830-AFDF-64D232112374}"/>
              </a:ext>
            </a:extLst>
          </p:cNvPr>
          <p:cNvSpPr/>
          <p:nvPr/>
        </p:nvSpPr>
        <p:spPr>
          <a:xfrm>
            <a:off x="8007986" y="1180835"/>
            <a:ext cx="24485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altLang="pt-BR" dirty="0"/>
              <a:t>Desaparecimento de pequenas e médias empresas e a formação de grandes conglomerados produtivos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4219510-2CB2-41B1-A7D5-ADE115121401}"/>
              </a:ext>
            </a:extLst>
          </p:cNvPr>
          <p:cNvSpPr/>
          <p:nvPr/>
        </p:nvSpPr>
        <p:spPr>
          <a:xfrm>
            <a:off x="10551161" y="1180835"/>
            <a:ext cx="159512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altLang="pt-BR" dirty="0"/>
              <a:t>Formação do Capitalismo Monopolista-Financeiro (Trustes , Cartéis e Holdings)</a:t>
            </a:r>
            <a:endParaRPr lang="pt-BR" dirty="0"/>
          </a:p>
        </p:txBody>
      </p:sp>
      <p:pic>
        <p:nvPicPr>
          <p:cNvPr id="3074" name="Picture 2" descr="Banco de dados de questões sobre Revolução Industrial">
            <a:extLst>
              <a:ext uri="{FF2B5EF4-FFF2-40B4-BE49-F238E27FC236}">
                <a16:creationId xmlns:a16="http://schemas.microsoft.com/office/drawing/2014/main" id="{8D0F578E-03D2-49DA-8D9A-284A27700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26" y="3165269"/>
            <a:ext cx="5567680" cy="356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2880673-F0D5-4178-AC21-FBFE42ADEE70}"/>
              </a:ext>
            </a:extLst>
          </p:cNvPr>
          <p:cNvSpPr txBox="1"/>
          <p:nvPr/>
        </p:nvSpPr>
        <p:spPr>
          <a:xfrm>
            <a:off x="492839" y="2659882"/>
            <a:ext cx="2283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Novas Consequências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00B65F5-DE2A-4590-B842-E2F0CFB425C2}"/>
              </a:ext>
            </a:extLst>
          </p:cNvPr>
          <p:cNvSpPr/>
          <p:nvPr/>
        </p:nvSpPr>
        <p:spPr>
          <a:xfrm>
            <a:off x="352426" y="3041173"/>
            <a:ext cx="6096000" cy="59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PT" altLang="pt-BR" dirty="0"/>
              <a:t>- </a:t>
            </a:r>
            <a:r>
              <a:rPr lang="pt-PT" altLang="pt-BR" b="1" dirty="0"/>
              <a:t>Produção em série e especialização do operário ( que vira apêndice da máquina e sofre um processo de “coisificação</a:t>
            </a:r>
            <a:r>
              <a:rPr lang="pt-PT" altLang="pt-BR" dirty="0"/>
              <a:t>” )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86B0FED-B144-4F82-B239-CEA3DD4C96E7}"/>
              </a:ext>
            </a:extLst>
          </p:cNvPr>
          <p:cNvSpPr/>
          <p:nvPr/>
        </p:nvSpPr>
        <p:spPr>
          <a:xfrm>
            <a:off x="311863" y="5604333"/>
            <a:ext cx="6096000" cy="59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PT" altLang="pt-BR" dirty="0"/>
              <a:t>- </a:t>
            </a:r>
            <a:r>
              <a:rPr lang="pt-PT" altLang="pt-BR" b="1" dirty="0"/>
              <a:t>Grandes conglomerados econômicos ( Trustes, Cartéis e Holdings)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C70044-D0F9-4E1C-A5C8-D9EC6002FB41}"/>
              </a:ext>
            </a:extLst>
          </p:cNvPr>
          <p:cNvSpPr/>
          <p:nvPr/>
        </p:nvSpPr>
        <p:spPr>
          <a:xfrm>
            <a:off x="352426" y="365523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PT" altLang="pt-BR" dirty="0"/>
              <a:t>- </a:t>
            </a:r>
            <a:r>
              <a:rPr lang="pt-PT" altLang="pt-BR" b="1" dirty="0"/>
              <a:t>A massificação progressiva do indivíduo no longo prazo( dos gostos , atitudes, valores) e o reforço paradoxal do individualismo</a:t>
            </a:r>
            <a:endParaRPr lang="pt-BR" b="1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DAF7199-D634-4790-ADF2-B5F60390A2D3}"/>
              </a:ext>
            </a:extLst>
          </p:cNvPr>
          <p:cNvSpPr/>
          <p:nvPr/>
        </p:nvSpPr>
        <p:spPr>
          <a:xfrm>
            <a:off x="311863" y="4514804"/>
            <a:ext cx="6096000" cy="10895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dirty="0"/>
              <a:t>- </a:t>
            </a:r>
            <a:r>
              <a:rPr lang="pt-BR" altLang="pt-BR" b="1" dirty="0"/>
              <a:t>O êxodo rural e a concentração industrial se intensificam e ampliam o proletariado industrial. Em consequência, surgiram agudos problemas sociais, frutos da desigualdade social e da super exploração desse operariado)</a:t>
            </a:r>
            <a:endParaRPr lang="pt-PT" altLang="pt-BR" b="1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B647B24-4CA3-4622-821E-BBEAA097D516}"/>
              </a:ext>
            </a:extLst>
          </p:cNvPr>
          <p:cNvSpPr/>
          <p:nvPr/>
        </p:nvSpPr>
        <p:spPr>
          <a:xfrm>
            <a:off x="278449" y="6241517"/>
            <a:ext cx="6096000" cy="5909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pt-PT" altLang="pt-BR" dirty="0"/>
              <a:t>- </a:t>
            </a:r>
            <a:r>
              <a:rPr lang="pt-PT" altLang="pt-BR" b="1" dirty="0"/>
              <a:t>Expansão do imperialismo e disputas entre as nações imperialistas por áreas estratégicas</a:t>
            </a:r>
            <a:endParaRPr lang="pt-BR" altLang="pt-BR" b="1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F50662F6-2621-4A13-9BD8-A17D8B31D847}"/>
              </a:ext>
            </a:extLst>
          </p:cNvPr>
          <p:cNvCxnSpPr>
            <a:cxnSpLocks/>
          </p:cNvCxnSpPr>
          <p:nvPr/>
        </p:nvCxnSpPr>
        <p:spPr>
          <a:xfrm flipH="1">
            <a:off x="1634530" y="710841"/>
            <a:ext cx="1342350" cy="410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308133C3-344D-445A-A520-6BC40974B5BB}"/>
              </a:ext>
            </a:extLst>
          </p:cNvPr>
          <p:cNvCxnSpPr/>
          <p:nvPr/>
        </p:nvCxnSpPr>
        <p:spPr>
          <a:xfrm>
            <a:off x="4257040" y="1098369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EA6CCA43-1F5A-4E4D-A5B3-A74362CB806D}"/>
              </a:ext>
            </a:extLst>
          </p:cNvPr>
          <p:cNvCxnSpPr>
            <a:cxnSpLocks/>
          </p:cNvCxnSpPr>
          <p:nvPr/>
        </p:nvCxnSpPr>
        <p:spPr>
          <a:xfrm>
            <a:off x="5933440" y="710841"/>
            <a:ext cx="132399" cy="446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34A90BD0-4F80-4903-B7B7-2B59BEF85126}"/>
              </a:ext>
            </a:extLst>
          </p:cNvPr>
          <p:cNvCxnSpPr>
            <a:cxnSpLocks/>
          </p:cNvCxnSpPr>
          <p:nvPr/>
        </p:nvCxnSpPr>
        <p:spPr>
          <a:xfrm flipH="1">
            <a:off x="3881120" y="710841"/>
            <a:ext cx="207332" cy="469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3315AB66-4FA1-4AA0-8B12-9F8EB2A95045}"/>
              </a:ext>
            </a:extLst>
          </p:cNvPr>
          <p:cNvCxnSpPr/>
          <p:nvPr/>
        </p:nvCxnSpPr>
        <p:spPr>
          <a:xfrm>
            <a:off x="7913371" y="710841"/>
            <a:ext cx="448309" cy="410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08AEEC89-3456-46FE-938A-3196EEF017FC}"/>
              </a:ext>
            </a:extLst>
          </p:cNvPr>
          <p:cNvCxnSpPr/>
          <p:nvPr/>
        </p:nvCxnSpPr>
        <p:spPr>
          <a:xfrm>
            <a:off x="9232266" y="644182"/>
            <a:ext cx="1224280" cy="545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27A08155-47DF-4019-BFB6-CE514EFB6435}"/>
              </a:ext>
            </a:extLst>
          </p:cNvPr>
          <p:cNvCxnSpPr>
            <a:cxnSpLocks/>
          </p:cNvCxnSpPr>
          <p:nvPr/>
        </p:nvCxnSpPr>
        <p:spPr>
          <a:xfrm>
            <a:off x="4152111" y="789117"/>
            <a:ext cx="101755" cy="317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27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2370"/>
    </mc:Choice>
    <mc:Fallback xmlns="">
      <p:transition spd="slow" advTm="492370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518</Words>
  <Application>Microsoft Office PowerPoint</Application>
  <PresentationFormat>Widescreen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Celso Siracusa</dc:creator>
  <cp:lastModifiedBy>Celso Aparecido Siracusa</cp:lastModifiedBy>
  <cp:revision>1</cp:revision>
  <dcterms:created xsi:type="dcterms:W3CDTF">2022-03-27T23:54:15Z</dcterms:created>
  <dcterms:modified xsi:type="dcterms:W3CDTF">2026-09-21T18:58:55Z</dcterms:modified>
</cp:coreProperties>
</file>