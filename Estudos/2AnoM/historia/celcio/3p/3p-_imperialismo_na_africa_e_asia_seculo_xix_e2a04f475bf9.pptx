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0" r:id="rId1"/>
  </p:sldMasterIdLst>
  <p:sldIdLst>
    <p:sldId id="292" r:id="rId2"/>
    <p:sldId id="257" r:id="rId3"/>
    <p:sldId id="275" r:id="rId4"/>
    <p:sldId id="276" r:id="rId5"/>
    <p:sldId id="277" r:id="rId6"/>
    <p:sldId id="298" r:id="rId7"/>
    <p:sldId id="302" r:id="rId8"/>
    <p:sldId id="282" r:id="rId9"/>
    <p:sldId id="284" r:id="rId10"/>
    <p:sldId id="286" r:id="rId11"/>
    <p:sldId id="287" r:id="rId12"/>
    <p:sldId id="288" r:id="rId13"/>
    <p:sldId id="290" r:id="rId14"/>
    <p:sldId id="289" r:id="rId15"/>
    <p:sldId id="297" r:id="rId16"/>
    <p:sldId id="294" r:id="rId17"/>
    <p:sldId id="306" r:id="rId18"/>
    <p:sldId id="303" r:id="rId19"/>
    <p:sldId id="295" r:id="rId20"/>
    <p:sldId id="304" r:id="rId21"/>
    <p:sldId id="299" r:id="rId22"/>
    <p:sldId id="300" r:id="rId23"/>
    <p:sldId id="264" r:id="rId24"/>
    <p:sldId id="263" r:id="rId25"/>
    <p:sldId id="308" r:id="rId26"/>
    <p:sldId id="259" r:id="rId27"/>
    <p:sldId id="261" r:id="rId28"/>
    <p:sldId id="260" r:id="rId29"/>
    <p:sldId id="309" r:id="rId30"/>
    <p:sldId id="310" r:id="rId31"/>
    <p:sldId id="311" r:id="rId32"/>
    <p:sldId id="312" r:id="rId33"/>
    <p:sldId id="315" r:id="rId34"/>
    <p:sldId id="318" r:id="rId35"/>
    <p:sldId id="320" r:id="rId36"/>
    <p:sldId id="316" r:id="rId37"/>
    <p:sldId id="319" r:id="rId38"/>
    <p:sldId id="321" r:id="rId3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16" autoAdjust="0"/>
    <p:restoredTop sz="94660"/>
  </p:normalViewPr>
  <p:slideViewPr>
    <p:cSldViewPr snapToGrid="0">
      <p:cViewPr varScale="1">
        <p:scale>
          <a:sx n="85" d="100"/>
          <a:sy n="85" d="100"/>
        </p:scale>
        <p:origin x="384" y="39"/>
      </p:cViewPr>
      <p:guideLst/>
    </p:cSldViewPr>
  </p:slideViewPr>
  <p:notesTextViewPr>
    <p:cViewPr>
      <p:scale>
        <a:sx n="1" d="1"/>
        <a:sy n="1" d="1"/>
      </p:scale>
      <p:origin x="0" y="0"/>
    </p:cViewPr>
  </p:notesTextViewPr>
  <p:sorterViewPr>
    <p:cViewPr>
      <p:scale>
        <a:sx n="100" d="100"/>
        <a:sy n="100" d="100"/>
      </p:scale>
      <p:origin x="0" y="-1595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3F2D02-CB8D-449C-9B49-5F1C3BBAB6F1}"/>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F975EF78-4212-4FEF-AD72-5A15B7606F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6478448E-71EF-481C-ABB8-ADD35FDEC104}"/>
              </a:ext>
            </a:extLst>
          </p:cNvPr>
          <p:cNvSpPr>
            <a:spLocks noGrp="1"/>
          </p:cNvSpPr>
          <p:nvPr>
            <p:ph type="dt" sz="half" idx="10"/>
          </p:nvPr>
        </p:nvSpPr>
        <p:spPr/>
        <p:txBody>
          <a:bodyPr/>
          <a:lstStyle/>
          <a:p>
            <a:fld id="{4431974E-025D-401E-A8FD-7BFACE36471B}" type="datetimeFigureOut">
              <a:rPr lang="pt-BR" smtClean="0"/>
              <a:t>02/09/2026</a:t>
            </a:fld>
            <a:endParaRPr lang="pt-BR"/>
          </a:p>
        </p:txBody>
      </p:sp>
      <p:sp>
        <p:nvSpPr>
          <p:cNvPr id="5" name="Espaço Reservado para Rodapé 4">
            <a:extLst>
              <a:ext uri="{FF2B5EF4-FFF2-40B4-BE49-F238E27FC236}">
                <a16:creationId xmlns:a16="http://schemas.microsoft.com/office/drawing/2014/main" id="{32E19447-81EA-4A1B-A262-1C5AEECA4D7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7E6A85F-F39F-4B99-A3D2-1A62AC20DD45}"/>
              </a:ext>
            </a:extLst>
          </p:cNvPr>
          <p:cNvSpPr>
            <a:spLocks noGrp="1"/>
          </p:cNvSpPr>
          <p:nvPr>
            <p:ph type="sldNum" sz="quarter" idx="12"/>
          </p:nvPr>
        </p:nvSpPr>
        <p:spPr/>
        <p:txBody>
          <a:bodyPr/>
          <a:lstStyle/>
          <a:p>
            <a:fld id="{43B22C1F-5638-4D99-A5B8-1C7F412D1DE0}" type="slidenum">
              <a:rPr lang="pt-BR" smtClean="0"/>
              <a:t>‹nº›</a:t>
            </a:fld>
            <a:endParaRPr lang="pt-BR"/>
          </a:p>
        </p:txBody>
      </p:sp>
    </p:spTree>
    <p:extLst>
      <p:ext uri="{BB962C8B-B14F-4D97-AF65-F5344CB8AC3E}">
        <p14:creationId xmlns:p14="http://schemas.microsoft.com/office/powerpoint/2010/main" val="25571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CCBB6B-CFEB-4340-9911-F59191800F83}"/>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60BD79D5-C080-446E-A147-7F2F1B740681}"/>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6665316-4CC5-4D96-ABDE-280C0BEB1D0C}"/>
              </a:ext>
            </a:extLst>
          </p:cNvPr>
          <p:cNvSpPr>
            <a:spLocks noGrp="1"/>
          </p:cNvSpPr>
          <p:nvPr>
            <p:ph type="dt" sz="half" idx="10"/>
          </p:nvPr>
        </p:nvSpPr>
        <p:spPr/>
        <p:txBody>
          <a:bodyPr/>
          <a:lstStyle/>
          <a:p>
            <a:fld id="{4431974E-025D-401E-A8FD-7BFACE36471B}" type="datetimeFigureOut">
              <a:rPr lang="pt-BR" smtClean="0"/>
              <a:t>02/09/2026</a:t>
            </a:fld>
            <a:endParaRPr lang="pt-BR"/>
          </a:p>
        </p:txBody>
      </p:sp>
      <p:sp>
        <p:nvSpPr>
          <p:cNvPr id="5" name="Espaço Reservado para Rodapé 4">
            <a:extLst>
              <a:ext uri="{FF2B5EF4-FFF2-40B4-BE49-F238E27FC236}">
                <a16:creationId xmlns:a16="http://schemas.microsoft.com/office/drawing/2014/main" id="{C4EFFED5-653F-4217-96A7-42BCA1B84D4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1EB2B0E-55CD-417A-8C8C-B3FF2DF6C7F0}"/>
              </a:ext>
            </a:extLst>
          </p:cNvPr>
          <p:cNvSpPr>
            <a:spLocks noGrp="1"/>
          </p:cNvSpPr>
          <p:nvPr>
            <p:ph type="sldNum" sz="quarter" idx="12"/>
          </p:nvPr>
        </p:nvSpPr>
        <p:spPr/>
        <p:txBody>
          <a:bodyPr/>
          <a:lstStyle/>
          <a:p>
            <a:fld id="{43B22C1F-5638-4D99-A5B8-1C7F412D1DE0}" type="slidenum">
              <a:rPr lang="pt-BR" smtClean="0"/>
              <a:t>‹nº›</a:t>
            </a:fld>
            <a:endParaRPr lang="pt-BR"/>
          </a:p>
        </p:txBody>
      </p:sp>
    </p:spTree>
    <p:extLst>
      <p:ext uri="{BB962C8B-B14F-4D97-AF65-F5344CB8AC3E}">
        <p14:creationId xmlns:p14="http://schemas.microsoft.com/office/powerpoint/2010/main" val="4015669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39C3A5-7C0A-428B-86C6-D03DE7835971}"/>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A1A4CEAD-158F-4D3A-80B0-13738D8C25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1C878931-3115-4DC9-A43E-6584E34E3AE4}"/>
              </a:ext>
            </a:extLst>
          </p:cNvPr>
          <p:cNvSpPr>
            <a:spLocks noGrp="1"/>
          </p:cNvSpPr>
          <p:nvPr>
            <p:ph type="dt" sz="half" idx="10"/>
          </p:nvPr>
        </p:nvSpPr>
        <p:spPr/>
        <p:txBody>
          <a:bodyPr/>
          <a:lstStyle/>
          <a:p>
            <a:fld id="{4431974E-025D-401E-A8FD-7BFACE36471B}" type="datetimeFigureOut">
              <a:rPr lang="pt-BR" smtClean="0"/>
              <a:t>02/09/2026</a:t>
            </a:fld>
            <a:endParaRPr lang="pt-BR"/>
          </a:p>
        </p:txBody>
      </p:sp>
      <p:sp>
        <p:nvSpPr>
          <p:cNvPr id="5" name="Espaço Reservado para Rodapé 4">
            <a:extLst>
              <a:ext uri="{FF2B5EF4-FFF2-40B4-BE49-F238E27FC236}">
                <a16:creationId xmlns:a16="http://schemas.microsoft.com/office/drawing/2014/main" id="{E7A9FC31-EEC2-47CD-9840-815A5280425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9E1FC2-77D8-4447-8906-6BB649AE58DC}"/>
              </a:ext>
            </a:extLst>
          </p:cNvPr>
          <p:cNvSpPr>
            <a:spLocks noGrp="1"/>
          </p:cNvSpPr>
          <p:nvPr>
            <p:ph type="sldNum" sz="quarter" idx="12"/>
          </p:nvPr>
        </p:nvSpPr>
        <p:spPr/>
        <p:txBody>
          <a:bodyPr/>
          <a:lstStyle/>
          <a:p>
            <a:fld id="{43B22C1F-5638-4D99-A5B8-1C7F412D1DE0}" type="slidenum">
              <a:rPr lang="pt-BR" smtClean="0"/>
              <a:t>‹nº›</a:t>
            </a:fld>
            <a:endParaRPr lang="pt-BR"/>
          </a:p>
        </p:txBody>
      </p:sp>
    </p:spTree>
    <p:extLst>
      <p:ext uri="{BB962C8B-B14F-4D97-AF65-F5344CB8AC3E}">
        <p14:creationId xmlns:p14="http://schemas.microsoft.com/office/powerpoint/2010/main" val="1001103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B0CAFC-809B-409D-9C5B-478E0B25FC0A}"/>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825B57E-6F7C-4865-8A2E-79DDBCBC20FA}"/>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22A3D52D-AADB-4C81-BE14-1B05CCA7F5F3}"/>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245905D8-98EB-4130-8C3A-B049D126573E}"/>
              </a:ext>
            </a:extLst>
          </p:cNvPr>
          <p:cNvSpPr>
            <a:spLocks noGrp="1"/>
          </p:cNvSpPr>
          <p:nvPr>
            <p:ph type="dt" sz="half" idx="10"/>
          </p:nvPr>
        </p:nvSpPr>
        <p:spPr/>
        <p:txBody>
          <a:bodyPr/>
          <a:lstStyle/>
          <a:p>
            <a:fld id="{4431974E-025D-401E-A8FD-7BFACE36471B}" type="datetimeFigureOut">
              <a:rPr lang="pt-BR" smtClean="0"/>
              <a:t>02/09/2026</a:t>
            </a:fld>
            <a:endParaRPr lang="pt-BR"/>
          </a:p>
        </p:txBody>
      </p:sp>
      <p:sp>
        <p:nvSpPr>
          <p:cNvPr id="6" name="Espaço Reservado para Rodapé 5">
            <a:extLst>
              <a:ext uri="{FF2B5EF4-FFF2-40B4-BE49-F238E27FC236}">
                <a16:creationId xmlns:a16="http://schemas.microsoft.com/office/drawing/2014/main" id="{A030BB20-7531-44C9-B0C7-DCB3BFEA874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C4CCE69-C6C4-4F00-8F05-6884924DBEA6}"/>
              </a:ext>
            </a:extLst>
          </p:cNvPr>
          <p:cNvSpPr>
            <a:spLocks noGrp="1"/>
          </p:cNvSpPr>
          <p:nvPr>
            <p:ph type="sldNum" sz="quarter" idx="12"/>
          </p:nvPr>
        </p:nvSpPr>
        <p:spPr/>
        <p:txBody>
          <a:bodyPr/>
          <a:lstStyle/>
          <a:p>
            <a:fld id="{43B22C1F-5638-4D99-A5B8-1C7F412D1DE0}" type="slidenum">
              <a:rPr lang="pt-BR" smtClean="0"/>
              <a:t>‹nº›</a:t>
            </a:fld>
            <a:endParaRPr lang="pt-BR"/>
          </a:p>
        </p:txBody>
      </p:sp>
    </p:spTree>
    <p:extLst>
      <p:ext uri="{BB962C8B-B14F-4D97-AF65-F5344CB8AC3E}">
        <p14:creationId xmlns:p14="http://schemas.microsoft.com/office/powerpoint/2010/main" val="2650665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80A5F9-9E0B-420A-B965-790B933AECF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81C547BC-CE36-40F8-80BD-23A5D57E3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1CD3B383-106D-489D-A757-AADC405122D0}"/>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162A3392-C1B0-44CE-9658-6A856DBE3F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C6DE5DB2-E150-48B4-81AC-3E8DA19DE7B8}"/>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20DAD97D-E5AC-493A-A287-2FA867102A64}"/>
              </a:ext>
            </a:extLst>
          </p:cNvPr>
          <p:cNvSpPr>
            <a:spLocks noGrp="1"/>
          </p:cNvSpPr>
          <p:nvPr>
            <p:ph type="dt" sz="half" idx="10"/>
          </p:nvPr>
        </p:nvSpPr>
        <p:spPr/>
        <p:txBody>
          <a:bodyPr/>
          <a:lstStyle/>
          <a:p>
            <a:fld id="{4431974E-025D-401E-A8FD-7BFACE36471B}" type="datetimeFigureOut">
              <a:rPr lang="pt-BR" smtClean="0"/>
              <a:t>02/09/2026</a:t>
            </a:fld>
            <a:endParaRPr lang="pt-BR"/>
          </a:p>
        </p:txBody>
      </p:sp>
      <p:sp>
        <p:nvSpPr>
          <p:cNvPr id="8" name="Espaço Reservado para Rodapé 7">
            <a:extLst>
              <a:ext uri="{FF2B5EF4-FFF2-40B4-BE49-F238E27FC236}">
                <a16:creationId xmlns:a16="http://schemas.microsoft.com/office/drawing/2014/main" id="{271AEE37-651F-41AA-854C-BFC5F3CE06E5}"/>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A818BD3F-334B-4507-9677-813CDE9FAD84}"/>
              </a:ext>
            </a:extLst>
          </p:cNvPr>
          <p:cNvSpPr>
            <a:spLocks noGrp="1"/>
          </p:cNvSpPr>
          <p:nvPr>
            <p:ph type="sldNum" sz="quarter" idx="12"/>
          </p:nvPr>
        </p:nvSpPr>
        <p:spPr/>
        <p:txBody>
          <a:bodyPr/>
          <a:lstStyle/>
          <a:p>
            <a:fld id="{43B22C1F-5638-4D99-A5B8-1C7F412D1DE0}" type="slidenum">
              <a:rPr lang="pt-BR" smtClean="0"/>
              <a:t>‹nº›</a:t>
            </a:fld>
            <a:endParaRPr lang="pt-BR"/>
          </a:p>
        </p:txBody>
      </p:sp>
    </p:spTree>
    <p:extLst>
      <p:ext uri="{BB962C8B-B14F-4D97-AF65-F5344CB8AC3E}">
        <p14:creationId xmlns:p14="http://schemas.microsoft.com/office/powerpoint/2010/main" val="1107514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D46ECE-9E4C-43FF-8897-E9022CD80626}"/>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3E32A0E-408A-45A0-8DA0-308CAEA5A7B4}"/>
              </a:ext>
            </a:extLst>
          </p:cNvPr>
          <p:cNvSpPr>
            <a:spLocks noGrp="1"/>
          </p:cNvSpPr>
          <p:nvPr>
            <p:ph type="dt" sz="half" idx="10"/>
          </p:nvPr>
        </p:nvSpPr>
        <p:spPr/>
        <p:txBody>
          <a:bodyPr/>
          <a:lstStyle/>
          <a:p>
            <a:fld id="{4431974E-025D-401E-A8FD-7BFACE36471B}" type="datetimeFigureOut">
              <a:rPr lang="pt-BR" smtClean="0"/>
              <a:t>02/09/2026</a:t>
            </a:fld>
            <a:endParaRPr lang="pt-BR"/>
          </a:p>
        </p:txBody>
      </p:sp>
      <p:sp>
        <p:nvSpPr>
          <p:cNvPr id="4" name="Espaço Reservado para Rodapé 3">
            <a:extLst>
              <a:ext uri="{FF2B5EF4-FFF2-40B4-BE49-F238E27FC236}">
                <a16:creationId xmlns:a16="http://schemas.microsoft.com/office/drawing/2014/main" id="{9F2B9E75-CA76-41A5-A8B4-19BF68C3357D}"/>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F3BC7838-6C38-4F48-BDB1-CF1ADFBC0886}"/>
              </a:ext>
            </a:extLst>
          </p:cNvPr>
          <p:cNvSpPr>
            <a:spLocks noGrp="1"/>
          </p:cNvSpPr>
          <p:nvPr>
            <p:ph type="sldNum" sz="quarter" idx="12"/>
          </p:nvPr>
        </p:nvSpPr>
        <p:spPr/>
        <p:txBody>
          <a:bodyPr/>
          <a:lstStyle/>
          <a:p>
            <a:fld id="{43B22C1F-5638-4D99-A5B8-1C7F412D1DE0}" type="slidenum">
              <a:rPr lang="pt-BR" smtClean="0"/>
              <a:t>‹nº›</a:t>
            </a:fld>
            <a:endParaRPr lang="pt-BR"/>
          </a:p>
        </p:txBody>
      </p:sp>
    </p:spTree>
    <p:extLst>
      <p:ext uri="{BB962C8B-B14F-4D97-AF65-F5344CB8AC3E}">
        <p14:creationId xmlns:p14="http://schemas.microsoft.com/office/powerpoint/2010/main" val="2844707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FAF0B508-CEDF-4456-8C27-B0B1B27BF2E7}"/>
              </a:ext>
            </a:extLst>
          </p:cNvPr>
          <p:cNvSpPr>
            <a:spLocks noGrp="1"/>
          </p:cNvSpPr>
          <p:nvPr>
            <p:ph type="dt" sz="half" idx="10"/>
          </p:nvPr>
        </p:nvSpPr>
        <p:spPr/>
        <p:txBody>
          <a:bodyPr/>
          <a:lstStyle/>
          <a:p>
            <a:fld id="{4431974E-025D-401E-A8FD-7BFACE36471B}" type="datetimeFigureOut">
              <a:rPr lang="pt-BR" smtClean="0"/>
              <a:t>02/09/2026</a:t>
            </a:fld>
            <a:endParaRPr lang="pt-BR"/>
          </a:p>
        </p:txBody>
      </p:sp>
      <p:sp>
        <p:nvSpPr>
          <p:cNvPr id="3" name="Espaço Reservado para Rodapé 2">
            <a:extLst>
              <a:ext uri="{FF2B5EF4-FFF2-40B4-BE49-F238E27FC236}">
                <a16:creationId xmlns:a16="http://schemas.microsoft.com/office/drawing/2014/main" id="{ABE52038-2657-486E-9EB9-42C072F22A82}"/>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EC0DBCCC-8ED8-4623-89C4-C52AF67AD58C}"/>
              </a:ext>
            </a:extLst>
          </p:cNvPr>
          <p:cNvSpPr>
            <a:spLocks noGrp="1"/>
          </p:cNvSpPr>
          <p:nvPr>
            <p:ph type="sldNum" sz="quarter" idx="12"/>
          </p:nvPr>
        </p:nvSpPr>
        <p:spPr/>
        <p:txBody>
          <a:bodyPr/>
          <a:lstStyle/>
          <a:p>
            <a:fld id="{43B22C1F-5638-4D99-A5B8-1C7F412D1DE0}" type="slidenum">
              <a:rPr lang="pt-BR" smtClean="0"/>
              <a:t>‹nº›</a:t>
            </a:fld>
            <a:endParaRPr lang="pt-BR"/>
          </a:p>
        </p:txBody>
      </p:sp>
    </p:spTree>
    <p:extLst>
      <p:ext uri="{BB962C8B-B14F-4D97-AF65-F5344CB8AC3E}">
        <p14:creationId xmlns:p14="http://schemas.microsoft.com/office/powerpoint/2010/main" val="2782569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4E98A4-411E-4C67-B59E-F82FD2EC9045}"/>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84B5F51D-23ED-4DBC-9629-76B1AAE21B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186F4C8F-CE6F-47B4-A564-75DEB2C4A4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B96A9AF3-46BA-411D-9E67-17C63EECA59C}"/>
              </a:ext>
            </a:extLst>
          </p:cNvPr>
          <p:cNvSpPr>
            <a:spLocks noGrp="1"/>
          </p:cNvSpPr>
          <p:nvPr>
            <p:ph type="dt" sz="half" idx="10"/>
          </p:nvPr>
        </p:nvSpPr>
        <p:spPr/>
        <p:txBody>
          <a:bodyPr/>
          <a:lstStyle/>
          <a:p>
            <a:fld id="{4431974E-025D-401E-A8FD-7BFACE36471B}" type="datetimeFigureOut">
              <a:rPr lang="pt-BR" smtClean="0"/>
              <a:t>02/09/2026</a:t>
            </a:fld>
            <a:endParaRPr lang="pt-BR"/>
          </a:p>
        </p:txBody>
      </p:sp>
      <p:sp>
        <p:nvSpPr>
          <p:cNvPr id="6" name="Espaço Reservado para Rodapé 5">
            <a:extLst>
              <a:ext uri="{FF2B5EF4-FFF2-40B4-BE49-F238E27FC236}">
                <a16:creationId xmlns:a16="http://schemas.microsoft.com/office/drawing/2014/main" id="{6C0AB05E-0CB7-4420-A6A5-7D8CA9E5B6A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00A0BFC-7B7B-45B7-B762-AFA3FA2CF1D2}"/>
              </a:ext>
            </a:extLst>
          </p:cNvPr>
          <p:cNvSpPr>
            <a:spLocks noGrp="1"/>
          </p:cNvSpPr>
          <p:nvPr>
            <p:ph type="sldNum" sz="quarter" idx="12"/>
          </p:nvPr>
        </p:nvSpPr>
        <p:spPr/>
        <p:txBody>
          <a:bodyPr/>
          <a:lstStyle/>
          <a:p>
            <a:fld id="{43B22C1F-5638-4D99-A5B8-1C7F412D1DE0}" type="slidenum">
              <a:rPr lang="pt-BR" smtClean="0"/>
              <a:t>‹nº›</a:t>
            </a:fld>
            <a:endParaRPr lang="pt-BR"/>
          </a:p>
        </p:txBody>
      </p:sp>
    </p:spTree>
    <p:extLst>
      <p:ext uri="{BB962C8B-B14F-4D97-AF65-F5344CB8AC3E}">
        <p14:creationId xmlns:p14="http://schemas.microsoft.com/office/powerpoint/2010/main" val="2716032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606AA2-1D27-43F1-A7BD-D316E9E5F975}"/>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A04A285B-32F0-4C25-958B-40D6015050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32519A8-FCBD-4916-957F-41593460DC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6F452277-D23A-41A2-A514-704C82A66FCD}"/>
              </a:ext>
            </a:extLst>
          </p:cNvPr>
          <p:cNvSpPr>
            <a:spLocks noGrp="1"/>
          </p:cNvSpPr>
          <p:nvPr>
            <p:ph type="dt" sz="half" idx="10"/>
          </p:nvPr>
        </p:nvSpPr>
        <p:spPr/>
        <p:txBody>
          <a:bodyPr/>
          <a:lstStyle/>
          <a:p>
            <a:fld id="{4431974E-025D-401E-A8FD-7BFACE36471B}" type="datetimeFigureOut">
              <a:rPr lang="pt-BR" smtClean="0"/>
              <a:t>02/09/2026</a:t>
            </a:fld>
            <a:endParaRPr lang="pt-BR"/>
          </a:p>
        </p:txBody>
      </p:sp>
      <p:sp>
        <p:nvSpPr>
          <p:cNvPr id="6" name="Espaço Reservado para Rodapé 5">
            <a:extLst>
              <a:ext uri="{FF2B5EF4-FFF2-40B4-BE49-F238E27FC236}">
                <a16:creationId xmlns:a16="http://schemas.microsoft.com/office/drawing/2014/main" id="{1650A6CA-8D62-4A28-BE58-111F6793E55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CCF4C27-DFCD-4699-AA21-704162663947}"/>
              </a:ext>
            </a:extLst>
          </p:cNvPr>
          <p:cNvSpPr>
            <a:spLocks noGrp="1"/>
          </p:cNvSpPr>
          <p:nvPr>
            <p:ph type="sldNum" sz="quarter" idx="12"/>
          </p:nvPr>
        </p:nvSpPr>
        <p:spPr/>
        <p:txBody>
          <a:bodyPr/>
          <a:lstStyle/>
          <a:p>
            <a:fld id="{43B22C1F-5638-4D99-A5B8-1C7F412D1DE0}" type="slidenum">
              <a:rPr lang="pt-BR" smtClean="0"/>
              <a:t>‹nº›</a:t>
            </a:fld>
            <a:endParaRPr lang="pt-BR"/>
          </a:p>
        </p:txBody>
      </p:sp>
    </p:spTree>
    <p:extLst>
      <p:ext uri="{BB962C8B-B14F-4D97-AF65-F5344CB8AC3E}">
        <p14:creationId xmlns:p14="http://schemas.microsoft.com/office/powerpoint/2010/main" val="1049371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C51E3-53A9-47D1-A640-AD1FE51E9E81}"/>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8509DEBB-703E-45A8-9E64-2AE8F0890719}"/>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CA38A3E-5F44-4AC3-92BE-6A237CCEEC4A}"/>
              </a:ext>
            </a:extLst>
          </p:cNvPr>
          <p:cNvSpPr>
            <a:spLocks noGrp="1"/>
          </p:cNvSpPr>
          <p:nvPr>
            <p:ph type="dt" sz="half" idx="10"/>
          </p:nvPr>
        </p:nvSpPr>
        <p:spPr/>
        <p:txBody>
          <a:bodyPr/>
          <a:lstStyle/>
          <a:p>
            <a:fld id="{4431974E-025D-401E-A8FD-7BFACE36471B}" type="datetimeFigureOut">
              <a:rPr lang="pt-BR" smtClean="0"/>
              <a:t>02/09/2026</a:t>
            </a:fld>
            <a:endParaRPr lang="pt-BR"/>
          </a:p>
        </p:txBody>
      </p:sp>
      <p:sp>
        <p:nvSpPr>
          <p:cNvPr id="5" name="Espaço Reservado para Rodapé 4">
            <a:extLst>
              <a:ext uri="{FF2B5EF4-FFF2-40B4-BE49-F238E27FC236}">
                <a16:creationId xmlns:a16="http://schemas.microsoft.com/office/drawing/2014/main" id="{798ADC66-23DA-4FA5-B47E-1808CAD0926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22A7E38-C288-4AF7-9105-90B85ADE657B}"/>
              </a:ext>
            </a:extLst>
          </p:cNvPr>
          <p:cNvSpPr>
            <a:spLocks noGrp="1"/>
          </p:cNvSpPr>
          <p:nvPr>
            <p:ph type="sldNum" sz="quarter" idx="12"/>
          </p:nvPr>
        </p:nvSpPr>
        <p:spPr/>
        <p:txBody>
          <a:bodyPr/>
          <a:lstStyle/>
          <a:p>
            <a:fld id="{43B22C1F-5638-4D99-A5B8-1C7F412D1DE0}" type="slidenum">
              <a:rPr lang="pt-BR" smtClean="0"/>
              <a:t>‹nº›</a:t>
            </a:fld>
            <a:endParaRPr lang="pt-BR"/>
          </a:p>
        </p:txBody>
      </p:sp>
    </p:spTree>
    <p:extLst>
      <p:ext uri="{BB962C8B-B14F-4D97-AF65-F5344CB8AC3E}">
        <p14:creationId xmlns:p14="http://schemas.microsoft.com/office/powerpoint/2010/main" val="3018049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8E359AA-B74A-4F93-B4BA-E34D3B9E1341}"/>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1FA72FA8-D6DD-4999-9104-AA9EFBD812E4}"/>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8808286-15E3-4811-9C9B-350F397A2472}"/>
              </a:ext>
            </a:extLst>
          </p:cNvPr>
          <p:cNvSpPr>
            <a:spLocks noGrp="1"/>
          </p:cNvSpPr>
          <p:nvPr>
            <p:ph type="dt" sz="half" idx="10"/>
          </p:nvPr>
        </p:nvSpPr>
        <p:spPr/>
        <p:txBody>
          <a:bodyPr/>
          <a:lstStyle/>
          <a:p>
            <a:fld id="{4431974E-025D-401E-A8FD-7BFACE36471B}" type="datetimeFigureOut">
              <a:rPr lang="pt-BR" smtClean="0"/>
              <a:t>02/09/2026</a:t>
            </a:fld>
            <a:endParaRPr lang="pt-BR"/>
          </a:p>
        </p:txBody>
      </p:sp>
      <p:sp>
        <p:nvSpPr>
          <p:cNvPr id="5" name="Espaço Reservado para Rodapé 4">
            <a:extLst>
              <a:ext uri="{FF2B5EF4-FFF2-40B4-BE49-F238E27FC236}">
                <a16:creationId xmlns:a16="http://schemas.microsoft.com/office/drawing/2014/main" id="{0F4D7F60-CEEC-4CBA-BCE5-041FE6BF934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5A630E0-CBEA-46A6-A99E-39276F1ECD72}"/>
              </a:ext>
            </a:extLst>
          </p:cNvPr>
          <p:cNvSpPr>
            <a:spLocks noGrp="1"/>
          </p:cNvSpPr>
          <p:nvPr>
            <p:ph type="sldNum" sz="quarter" idx="12"/>
          </p:nvPr>
        </p:nvSpPr>
        <p:spPr/>
        <p:txBody>
          <a:bodyPr/>
          <a:lstStyle/>
          <a:p>
            <a:fld id="{43B22C1F-5638-4D99-A5B8-1C7F412D1DE0}" type="slidenum">
              <a:rPr lang="pt-BR" smtClean="0"/>
              <a:t>‹nº›</a:t>
            </a:fld>
            <a:endParaRPr lang="pt-BR"/>
          </a:p>
        </p:txBody>
      </p:sp>
    </p:spTree>
    <p:extLst>
      <p:ext uri="{BB962C8B-B14F-4D97-AF65-F5344CB8AC3E}">
        <p14:creationId xmlns:p14="http://schemas.microsoft.com/office/powerpoint/2010/main" val="7155948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údo">
    <p:spTree>
      <p:nvGrpSpPr>
        <p:cNvPr id="1" name=""/>
        <p:cNvGrpSpPr/>
        <p:nvPr/>
      </p:nvGrpSpPr>
      <p:grpSpPr>
        <a:xfrm>
          <a:off x="0" y="0"/>
          <a:ext cx="0" cy="0"/>
          <a:chOff x="0" y="0"/>
          <a:chExt cx="0" cy="0"/>
        </a:xfrm>
      </p:grpSpPr>
      <p:sp>
        <p:nvSpPr>
          <p:cNvPr id="2" name="Espaço Reservado para Conteúdo 1"/>
          <p:cNvSpPr>
            <a:spLocks noGrp="1"/>
          </p:cNvSpPr>
          <p:nvPr>
            <p:ph/>
          </p:nvPr>
        </p:nvSpPr>
        <p:spPr>
          <a:xfrm>
            <a:off x="609600" y="274639"/>
            <a:ext cx="10972800" cy="5851525"/>
          </a:xfrm>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3" name="Rectangle 4">
            <a:extLst>
              <a:ext uri="{FF2B5EF4-FFF2-40B4-BE49-F238E27FC236}">
                <a16:creationId xmlns:a16="http://schemas.microsoft.com/office/drawing/2014/main" id="{80EFC765-B261-4523-9440-BFEA36F0E6BF}"/>
              </a:ext>
            </a:extLst>
          </p:cNvPr>
          <p:cNvSpPr>
            <a:spLocks noGrp="1" noChangeArrowheads="1"/>
          </p:cNvSpPr>
          <p:nvPr>
            <p:ph type="dt" sz="half" idx="10"/>
          </p:nvPr>
        </p:nvSpPr>
        <p:spPr>
          <a:ln/>
        </p:spPr>
        <p:txBody>
          <a:bodyPr/>
          <a:lstStyle>
            <a:lvl1pPr>
              <a:defRPr/>
            </a:lvl1pPr>
          </a:lstStyle>
          <a:p>
            <a:pPr>
              <a:defRPr/>
            </a:pPr>
            <a:endParaRPr lang="pt-BR"/>
          </a:p>
        </p:txBody>
      </p:sp>
      <p:sp>
        <p:nvSpPr>
          <p:cNvPr id="4" name="Rectangle 5">
            <a:extLst>
              <a:ext uri="{FF2B5EF4-FFF2-40B4-BE49-F238E27FC236}">
                <a16:creationId xmlns:a16="http://schemas.microsoft.com/office/drawing/2014/main" id="{D28AB4C1-7C7E-42CB-8F74-30ACECF3E931}"/>
              </a:ext>
            </a:extLst>
          </p:cNvPr>
          <p:cNvSpPr>
            <a:spLocks noGrp="1" noChangeArrowheads="1"/>
          </p:cNvSpPr>
          <p:nvPr>
            <p:ph type="ftr" sz="quarter" idx="11"/>
          </p:nvPr>
        </p:nvSpPr>
        <p:spPr>
          <a:ln/>
        </p:spPr>
        <p:txBody>
          <a:bodyPr/>
          <a:lstStyle>
            <a:lvl1pPr>
              <a:defRPr/>
            </a:lvl1pPr>
          </a:lstStyle>
          <a:p>
            <a:pPr>
              <a:defRPr/>
            </a:pPr>
            <a:endParaRPr lang="pt-BR"/>
          </a:p>
        </p:txBody>
      </p:sp>
      <p:sp>
        <p:nvSpPr>
          <p:cNvPr id="5" name="Rectangle 6">
            <a:extLst>
              <a:ext uri="{FF2B5EF4-FFF2-40B4-BE49-F238E27FC236}">
                <a16:creationId xmlns:a16="http://schemas.microsoft.com/office/drawing/2014/main" id="{387DD91D-964B-4BDA-9AF9-ADBC014F8034}"/>
              </a:ext>
            </a:extLst>
          </p:cNvPr>
          <p:cNvSpPr>
            <a:spLocks noGrp="1" noChangeArrowheads="1"/>
          </p:cNvSpPr>
          <p:nvPr>
            <p:ph type="sldNum" sz="quarter" idx="12"/>
          </p:nvPr>
        </p:nvSpPr>
        <p:spPr>
          <a:ln/>
        </p:spPr>
        <p:txBody>
          <a:bodyPr/>
          <a:lstStyle>
            <a:lvl1pPr>
              <a:defRPr/>
            </a:lvl1pPr>
          </a:lstStyle>
          <a:p>
            <a:fld id="{6FBE8B5B-A541-4DBB-B30D-C9A8C480E412}" type="slidenum">
              <a:rPr lang="pt-BR" altLang="pt-BR"/>
              <a:pPr/>
              <a:t>‹nº›</a:t>
            </a:fld>
            <a:endParaRPr lang="pt-BR" altLang="pt-BR"/>
          </a:p>
        </p:txBody>
      </p:sp>
    </p:spTree>
    <p:extLst>
      <p:ext uri="{BB962C8B-B14F-4D97-AF65-F5344CB8AC3E}">
        <p14:creationId xmlns:p14="http://schemas.microsoft.com/office/powerpoint/2010/main" val="1185681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8AB14A9F-99C9-4C60-B272-B4E33BF74B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B389E585-0E82-483F-A21F-A406353025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2A6F087-DC40-47ED-A6AF-BA681D6875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31974E-025D-401E-A8FD-7BFACE36471B}" type="datetimeFigureOut">
              <a:rPr lang="pt-BR" smtClean="0"/>
              <a:t>02/09/2026</a:t>
            </a:fld>
            <a:endParaRPr lang="pt-BR"/>
          </a:p>
        </p:txBody>
      </p:sp>
      <p:sp>
        <p:nvSpPr>
          <p:cNvPr id="5" name="Espaço Reservado para Rodapé 4">
            <a:extLst>
              <a:ext uri="{FF2B5EF4-FFF2-40B4-BE49-F238E27FC236}">
                <a16:creationId xmlns:a16="http://schemas.microsoft.com/office/drawing/2014/main" id="{B1238A54-A5DF-4944-A210-D897325360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B4C860DB-7617-4EBC-A62E-CCC256A4BE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B22C1F-5638-4D99-A5B8-1C7F412D1DE0}" type="slidenum">
              <a:rPr lang="pt-BR" smtClean="0"/>
              <a:t>‹nº›</a:t>
            </a:fld>
            <a:endParaRPr lang="pt-BR"/>
          </a:p>
        </p:txBody>
      </p:sp>
    </p:spTree>
    <p:extLst>
      <p:ext uri="{BB962C8B-B14F-4D97-AF65-F5344CB8AC3E}">
        <p14:creationId xmlns:p14="http://schemas.microsoft.com/office/powerpoint/2010/main" val="3079911847"/>
      </p:ext>
    </p:extLst>
  </p:cSld>
  <p:clrMap bg1="lt1" tx1="dk1" bg2="lt2" tx2="dk2" accent1="accent1" accent2="accent2" accent3="accent3" accent4="accent4" accent5="accent5" accent6="accent6" hlink="hlink" folHlink="folHlink"/>
  <p:sldLayoutIdLst>
    <p:sldLayoutId id="2147484041" r:id="rId1"/>
    <p:sldLayoutId id="2147484042" r:id="rId2"/>
    <p:sldLayoutId id="2147484043" r:id="rId3"/>
    <p:sldLayoutId id="2147484044" r:id="rId4"/>
    <p:sldLayoutId id="2147484045" r:id="rId5"/>
    <p:sldLayoutId id="2147484046" r:id="rId6"/>
    <p:sldLayoutId id="2147484047" r:id="rId7"/>
    <p:sldLayoutId id="2147484048" r:id="rId8"/>
    <p:sldLayoutId id="2147484049" r:id="rId9"/>
    <p:sldLayoutId id="2147484050" r:id="rId10"/>
    <p:sldLayoutId id="2147484051" r:id="rId11"/>
    <p:sldLayoutId id="214748405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hyperlink" Target="https://aventurasnahistoria.uol.com.br/noticias/reportagem/genocidio-africa-congo-belga-leopoldo-ii.phtm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aventurasnahistoria.uol.com.br/noticias/reportagem/historia-quem-foi-tio-sam-estados-unidos.phtml" TargetMode="External"/><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hyperlink" Target="https://aventurasnahistoria.uol.com.br/noticias/reportagem/o-fardo-do-homem-branco-em-charges.phtml"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hyperlink" Target="https://pt.wikipedia.org/wiki/Monop%C3%B3lio" TargetMode="External"/><Relationship Id="rId3" Type="http://schemas.openxmlformats.org/officeDocument/2006/relationships/image" Target="../media/image14.jpeg"/><Relationship Id="rId7" Type="http://schemas.openxmlformats.org/officeDocument/2006/relationships/hyperlink" Target="https://pt.wikipedia.org/wiki/Isabel_I_de_Inglaterra"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pt.wikipedia.org/wiki/1600" TargetMode="External"/><Relationship Id="rId5" Type="http://schemas.openxmlformats.org/officeDocument/2006/relationships/hyperlink" Target="https://pt.wikipedia.org/wiki/Londres" TargetMode="External"/><Relationship Id="rId10" Type="http://schemas.openxmlformats.org/officeDocument/2006/relationships/hyperlink" Target="https://pt.wikipedia.org/wiki/Thomas_Malton" TargetMode="External"/><Relationship Id="rId4" Type="http://schemas.openxmlformats.org/officeDocument/2006/relationships/hyperlink" Target="https://pt.wikipedia.org/wiki/Com%C3%A9rcio" TargetMode="External"/><Relationship Id="rId9" Type="http://schemas.openxmlformats.org/officeDocument/2006/relationships/hyperlink" Target="https://pt.wikipedia.org/wiki/East_India_House"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18.jpe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hyperlink" Target="https://pt.wikipedia.org/wiki/Ex%C3%A9rcito_de_Madras" TargetMode="External"/><Relationship Id="rId5" Type="http://schemas.openxmlformats.org/officeDocument/2006/relationships/image" Target="../media/image17.jpeg"/><Relationship Id="rId4" Type="http://schemas.openxmlformats.org/officeDocument/2006/relationships/hyperlink" Target="https://www.todamateria.com.br/imperialismo-na-asia/"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gettyimages.pt/detail/ilustra%C3%A7%C3%A3o/indian-mutiny-lieutenant-de-kantzow-calming-ilustra%C3%A7%C3%A3o-royalty-free/906323012?adppopup=true" TargetMode="External"/><Relationship Id="rId2" Type="http://schemas.openxmlformats.org/officeDocument/2006/relationships/image" Target="../media/image19.jpeg"/><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20.jpeg"/></Relationships>
</file>

<file path=ppt/slides/_rels/slide1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 Id="rId5" Type="http://schemas.openxmlformats.org/officeDocument/2006/relationships/hyperlink" Target="https://diplomatique.org.br/o-genocidio-da-grande-fome-do-seculo-19/" TargetMode="External"/><Relationship Id="rId4" Type="http://schemas.openxmlformats.org/officeDocument/2006/relationships/image" Target="../media/image25.jpeg"/></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hyperlink" Target="https://brasilescola.uol.com.br/sociologia/desobediencia-civil.htm" TargetMode="External"/><Relationship Id="rId5" Type="http://schemas.openxmlformats.org/officeDocument/2006/relationships/hyperlink" Target="https://brasilescola.uol.com.br/guerras/guerra-mexicano-americana.htm" TargetMode="External"/><Relationship Id="rId4" Type="http://schemas.openxmlformats.org/officeDocument/2006/relationships/image" Target="../media/image28.jpeg"/></Relationships>
</file>

<file path=ppt/slides/_rels/slide14.xml.rels><?xml version="1.0" encoding="UTF-8" standalone="yes"?>
<Relationships xmlns="http://schemas.openxmlformats.org/package/2006/relationships"><Relationship Id="rId3" Type="http://schemas.openxmlformats.org/officeDocument/2006/relationships/hyperlink" Target="https://pt.wikipedia.org/wiki/Porcelana" TargetMode="External"/><Relationship Id="rId2" Type="http://schemas.openxmlformats.org/officeDocument/2006/relationships/hyperlink" Target="https://pt.wikipedia.org/wiki/Seda" TargetMode="External"/><Relationship Id="rId1" Type="http://schemas.openxmlformats.org/officeDocument/2006/relationships/slideLayout" Target="../slideLayouts/slideLayout7.xml"/><Relationship Id="rId5" Type="http://schemas.openxmlformats.org/officeDocument/2006/relationships/hyperlink" Target="https://pt.wikipedia.org/wiki/Tonelada" TargetMode="External"/><Relationship Id="rId4" Type="http://schemas.openxmlformats.org/officeDocument/2006/relationships/hyperlink" Target="https://pt.wikipedia.org/wiki/Ch%C3%A1"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pt.wikipedia.org/wiki/Imp%C3%A9rio_Otomano" TargetMode="External"/><Relationship Id="rId13" Type="http://schemas.openxmlformats.org/officeDocument/2006/relationships/hyperlink" Target="https://pt.wikipedia.org/wiki/Diabo" TargetMode="External"/><Relationship Id="rId3" Type="http://schemas.openxmlformats.org/officeDocument/2006/relationships/hyperlink" Target="https://pt.wikipedia.org/wiki/Tonelada" TargetMode="External"/><Relationship Id="rId7" Type="http://schemas.openxmlformats.org/officeDocument/2006/relationships/hyperlink" Target="https://pt.wikipedia.org/wiki/Depend%C3%AAncia_qu%C3%ADmica" TargetMode="External"/><Relationship Id="rId12" Type="http://schemas.openxmlformats.org/officeDocument/2006/relationships/image" Target="../media/image29.jpeg"/><Relationship Id="rId2" Type="http://schemas.openxmlformats.org/officeDocument/2006/relationships/hyperlink" Target="https://pt.wikipedia.org/wiki/%C3%93pio" TargetMode="External"/><Relationship Id="rId16" Type="http://schemas.openxmlformats.org/officeDocument/2006/relationships/hyperlink" Target="http://www.dw.de/1839-china-pro%C3%ADbe-importa%C3%A7%C3%A3o-de-%C3%B3pio/a-473490?maca=bra-uol-all-1387-xml-uol" TargetMode="External"/><Relationship Id="rId1" Type="http://schemas.openxmlformats.org/officeDocument/2006/relationships/slideLayout" Target="../slideLayouts/slideLayout7.xml"/><Relationship Id="rId6" Type="http://schemas.openxmlformats.org/officeDocument/2006/relationships/hyperlink" Target="https://pt.wikipedia.org/wiki/Papoula" TargetMode="External"/><Relationship Id="rId11" Type="http://schemas.openxmlformats.org/officeDocument/2006/relationships/hyperlink" Target="https://pt.wikipedia.org/wiki/Companhia_Brit%C3%A2nica_das_%C3%8Dndias_Orientais" TargetMode="External"/><Relationship Id="rId5" Type="http://schemas.openxmlformats.org/officeDocument/2006/relationships/hyperlink" Target="https://pt.wikipedia.org/wiki/Entorpecente" TargetMode="External"/><Relationship Id="rId15" Type="http://schemas.openxmlformats.org/officeDocument/2006/relationships/hyperlink" Target="https://pt.wikipedia.org/wiki/Muni%C3%A7%C3%A3o" TargetMode="External"/><Relationship Id="rId10" Type="http://schemas.openxmlformats.org/officeDocument/2006/relationships/hyperlink" Target="http://www.infoescola.com/historia/guerra-do-opio/" TargetMode="External"/><Relationship Id="rId4" Type="http://schemas.openxmlformats.org/officeDocument/2006/relationships/hyperlink" Target="https://pt.wikipedia.org/wiki/Grama" TargetMode="External"/><Relationship Id="rId9" Type="http://schemas.openxmlformats.org/officeDocument/2006/relationships/hyperlink" Target="https://pt.wikipedia.org/wiki/S%C3%A9culo_XIX" TargetMode="External"/><Relationship Id="rId14" Type="http://schemas.openxmlformats.org/officeDocument/2006/relationships/hyperlink" Target="https://pt.wikipedia.org/wiki/Arma"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pt.wikipedia.org/w/index.php?title=Xizmen&amp;action=edit&amp;redlink=1" TargetMode="External"/><Relationship Id="rId13" Type="http://schemas.openxmlformats.org/officeDocument/2006/relationships/hyperlink" Target="https://pt.wikipedia.org/wiki/Tratado_de_Tianjin" TargetMode="External"/><Relationship Id="rId3" Type="http://schemas.openxmlformats.org/officeDocument/2006/relationships/hyperlink" Target="https://pt.wikipedia.org/wiki/Mission%C3%A1rio" TargetMode="External"/><Relationship Id="rId7" Type="http://schemas.openxmlformats.org/officeDocument/2006/relationships/hyperlink" Target="https://pt.wikipedia.org/wiki/Fuzhou" TargetMode="External"/><Relationship Id="rId12" Type="http://schemas.openxmlformats.org/officeDocument/2006/relationships/hyperlink" Target="https://pt.wikipedia.org/wiki/Ilha_de_Hong_Kong" TargetMode="External"/><Relationship Id="rId2" Type="http://schemas.openxmlformats.org/officeDocument/2006/relationships/image" Target="../media/image30.jpeg"/><Relationship Id="rId1" Type="http://schemas.openxmlformats.org/officeDocument/2006/relationships/slideLayout" Target="../slideLayouts/slideLayout7.xml"/><Relationship Id="rId6" Type="http://schemas.openxmlformats.org/officeDocument/2006/relationships/hyperlink" Target="https://pt.wikipedia.org/wiki/Cant%C3%A3o_(China)" TargetMode="External"/><Relationship Id="rId11" Type="http://schemas.openxmlformats.org/officeDocument/2006/relationships/hyperlink" Target="https://pt.wikipedia.org/wiki/Indeniza%C3%A7%C3%A3o_de_guerra" TargetMode="External"/><Relationship Id="rId5" Type="http://schemas.openxmlformats.org/officeDocument/2006/relationships/hyperlink" Target="https://pt.wikipedia.org/w/index.php?title=Cohong&amp;action=edit&amp;redlink=1" TargetMode="External"/><Relationship Id="rId10" Type="http://schemas.openxmlformats.org/officeDocument/2006/relationships/hyperlink" Target="https://pt.wikipedia.org/wiki/Xangai" TargetMode="External"/><Relationship Id="rId4" Type="http://schemas.openxmlformats.org/officeDocument/2006/relationships/hyperlink" Target="https://pt.wikipedia.org/wiki/Crist%C3%A3os" TargetMode="External"/><Relationship Id="rId9" Type="http://schemas.openxmlformats.org/officeDocument/2006/relationships/hyperlink" Target="https://pt.wikipedia.org/wiki/Ningbo"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pt.wikipedia.org/wiki/Bangcoc" TargetMode="External"/><Relationship Id="rId13" Type="http://schemas.openxmlformats.org/officeDocument/2006/relationships/hyperlink" Target="https://pt.wikipedia.org/wiki/HSBC" TargetMode="External"/><Relationship Id="rId3" Type="http://schemas.openxmlformats.org/officeDocument/2006/relationships/hyperlink" Target="https://pt.wikipedia.org/wiki/%C3%93pio" TargetMode="External"/><Relationship Id="rId7" Type="http://schemas.openxmlformats.org/officeDocument/2006/relationships/hyperlink" Target="https://pt.wikipedia.org/wiki/Yunnan" TargetMode="External"/><Relationship Id="rId12" Type="http://schemas.openxmlformats.org/officeDocument/2006/relationships/hyperlink" Target="https://diplomatique.org.br/hsbc-origem-do-opio/" TargetMode="External"/><Relationship Id="rId2" Type="http://schemas.openxmlformats.org/officeDocument/2006/relationships/hyperlink" Target="https://pt.wikipedia.org/wiki/1865" TargetMode="External"/><Relationship Id="rId1" Type="http://schemas.openxmlformats.org/officeDocument/2006/relationships/slideLayout" Target="../slideLayouts/slideLayout7.xml"/><Relationship Id="rId6" Type="http://schemas.openxmlformats.org/officeDocument/2006/relationships/hyperlink" Target="https://pt.wikipedia.org/wiki/%C3%8Dndias" TargetMode="External"/><Relationship Id="rId11" Type="http://schemas.openxmlformats.org/officeDocument/2006/relationships/hyperlink" Target="https://pt.wikipedia.org/wiki/D%C3%A9cada_de_1980" TargetMode="External"/><Relationship Id="rId5" Type="http://schemas.openxmlformats.org/officeDocument/2006/relationships/hyperlink" Target="https://pt.wikipedia.org/wiki/HSBC#cite_note-LEMONDEDIPLOMATIQUE-2014-2" TargetMode="External"/><Relationship Id="rId15" Type="http://schemas.openxmlformats.org/officeDocument/2006/relationships/hyperlink" Target="https://auroraoriental.wordpress.com/2017/02/04/o-opio-e-a-legalizacao-das-drogas-uma-licao-da-historia-ou-nao/" TargetMode="External"/><Relationship Id="rId10" Type="http://schemas.openxmlformats.org/officeDocument/2006/relationships/hyperlink" Target="https://pt.wikipedia.org/wiki/D%C3%A9cada_de_1920" TargetMode="External"/><Relationship Id="rId4" Type="http://schemas.openxmlformats.org/officeDocument/2006/relationships/hyperlink" Target="https://pt.wikipedia.org/wiki/Companhia_Brit%C3%A2nica_das_%C3%8Dndias_Orientais" TargetMode="External"/><Relationship Id="rId9" Type="http://schemas.openxmlformats.org/officeDocument/2006/relationships/hyperlink" Target="https://pt.wikipedia.org/wiki/Manila" TargetMode="External"/><Relationship Id="rId14" Type="http://schemas.openxmlformats.org/officeDocument/2006/relationships/image" Target="../media/image31.jpeg"/></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7.xml"/><Relationship Id="rId4" Type="http://schemas.openxmlformats.org/officeDocument/2006/relationships/image" Target="../media/image34.jpeg"/></Relationships>
</file>

<file path=ppt/slides/_rels/slide19.xml.rels><?xml version="1.0" encoding="UTF-8" standalone="yes"?>
<Relationships xmlns="http://schemas.openxmlformats.org/package/2006/relationships"><Relationship Id="rId8" Type="http://schemas.openxmlformats.org/officeDocument/2006/relationships/hyperlink" Target="https://pt.wikipedia.org/wiki/Camponeses" TargetMode="External"/><Relationship Id="rId13" Type="http://schemas.openxmlformats.org/officeDocument/2006/relationships/hyperlink" Target="https://pt.wikipedia.org/wiki/%C3%93pio" TargetMode="External"/><Relationship Id="rId18" Type="http://schemas.openxmlformats.org/officeDocument/2006/relationships/hyperlink" Target="http://www.fsmitha.com/h3/h38china.htm" TargetMode="External"/><Relationship Id="rId3" Type="http://schemas.openxmlformats.org/officeDocument/2006/relationships/hyperlink" Target="https://pt.wikipedia.org/wiki/Ecletismo" TargetMode="External"/><Relationship Id="rId7" Type="http://schemas.openxmlformats.org/officeDocument/2006/relationships/hyperlink" Target="https://pt.wikipedia.org/wiki/Protestantismo" TargetMode="External"/><Relationship Id="rId12" Type="http://schemas.openxmlformats.org/officeDocument/2006/relationships/hyperlink" Target="https://pt.wikipedia.org/wiki/Concubinato" TargetMode="External"/><Relationship Id="rId17" Type="http://schemas.openxmlformats.org/officeDocument/2006/relationships/hyperlink" Target="https://pt.wikipedia.org/wiki/Sociedade_sem_classes" TargetMode="External"/><Relationship Id="rId2" Type="http://schemas.openxmlformats.org/officeDocument/2006/relationships/hyperlink" Target="https://pt.wikipedia.org/wiki/Ideologia" TargetMode="External"/><Relationship Id="rId16" Type="http://schemas.openxmlformats.org/officeDocument/2006/relationships/hyperlink" Target="https://pt.wikipedia.org/wiki/Sociedade" TargetMode="External"/><Relationship Id="rId20" Type="http://schemas.openxmlformats.org/officeDocument/2006/relationships/image" Target="../media/image36.jpeg"/><Relationship Id="rId1" Type="http://schemas.openxmlformats.org/officeDocument/2006/relationships/slideLayout" Target="../slideLayouts/slideLayout7.xml"/><Relationship Id="rId6" Type="http://schemas.openxmlformats.org/officeDocument/2006/relationships/hyperlink" Target="https://pt.wikipedia.org/wiki/Confucionismo" TargetMode="External"/><Relationship Id="rId11" Type="http://schemas.openxmlformats.org/officeDocument/2006/relationships/hyperlink" Target="https://pt.wikipedia.org/wiki/Casamento_por_conveni%C3%AAncia" TargetMode="External"/><Relationship Id="rId5" Type="http://schemas.openxmlformats.org/officeDocument/2006/relationships/hyperlink" Target="https://pt.wikipedia.org/wiki/Tao%C3%ADsmo" TargetMode="External"/><Relationship Id="rId15" Type="http://schemas.openxmlformats.org/officeDocument/2006/relationships/hyperlink" Target="https://pt.wikipedia.org/wiki/China_Imperial" TargetMode="External"/><Relationship Id="rId10" Type="http://schemas.openxmlformats.org/officeDocument/2006/relationships/hyperlink" Target="https://pt.wikipedia.org/wiki/Tortura" TargetMode="External"/><Relationship Id="rId19" Type="http://schemas.openxmlformats.org/officeDocument/2006/relationships/image" Target="../media/image35.jpeg"/><Relationship Id="rId4" Type="http://schemas.openxmlformats.org/officeDocument/2006/relationships/hyperlink" Target="https://pt.wikipedia.org/wiki/Filosofia" TargetMode="External"/><Relationship Id="rId9" Type="http://schemas.openxmlformats.org/officeDocument/2006/relationships/hyperlink" Target="https://pt.wikipedia.org/wiki/Escravid%C3%A3o" TargetMode="External"/><Relationship Id="rId14" Type="http://schemas.openxmlformats.org/officeDocument/2006/relationships/hyperlink" Target="https://pt.wikipedia.org/wiki/Idolatria"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pt.wikipedia.org/wiki/Manchu" TargetMode="External"/><Relationship Id="rId3" Type="http://schemas.openxmlformats.org/officeDocument/2006/relationships/hyperlink" Target="http://www.megatimes.com.br/2012/01/guerra-dos-boxers-1900-1901.html" TargetMode="External"/><Relationship Id="rId7" Type="http://schemas.openxmlformats.org/officeDocument/2006/relationships/hyperlink" Target="https://pt.wikipedia.org/wiki/Dinastia_Qing" TargetMode="External"/><Relationship Id="rId2" Type="http://schemas.openxmlformats.org/officeDocument/2006/relationships/image" Target="../media/image37.jpeg"/><Relationship Id="rId1" Type="http://schemas.openxmlformats.org/officeDocument/2006/relationships/slideLayout" Target="../slideLayouts/slideLayout7.xml"/><Relationship Id="rId6" Type="http://schemas.openxmlformats.org/officeDocument/2006/relationships/hyperlink" Target="https://pt.wikipedia.org/wiki/1911" TargetMode="External"/><Relationship Id="rId5" Type="http://schemas.openxmlformats.org/officeDocument/2006/relationships/hyperlink" Target="https://thetaipingrebellion.weebly.com/what-were-the-events-that-happened-in-taiping-rebellion.html" TargetMode="External"/><Relationship Id="rId4" Type="http://schemas.openxmlformats.org/officeDocument/2006/relationships/image" Target="../media/image38.jpeg"/></Relationships>
</file>

<file path=ppt/slides/_rels/slide21.xml.rels><?xml version="1.0" encoding="UTF-8" standalone="yes"?>
<Relationships xmlns="http://schemas.openxmlformats.org/package/2006/relationships"><Relationship Id="rId3" Type="http://schemas.openxmlformats.org/officeDocument/2006/relationships/hyperlink" Target="https://aventurasnahistoria.uol.com.br/noticias/reportagem/o-fardo-do-homem-branco-em-charges.phtml" TargetMode="External"/><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aventurasnahistoria.uol.com.br/noticias/reportagem/conheca-ruby-bridges-primeira-aluna-negra-a-pisar-em-uma-escola-para-brancos-nos-eua.phtml" TargetMode="External"/><Relationship Id="rId2" Type="http://schemas.openxmlformats.org/officeDocument/2006/relationships/image" Target="../media/image40.jpeg"/><Relationship Id="rId1" Type="http://schemas.openxmlformats.org/officeDocument/2006/relationships/slideLayout" Target="../slideLayouts/slideLayout7.xml"/><Relationship Id="rId4" Type="http://schemas.openxmlformats.org/officeDocument/2006/relationships/hyperlink" Target="https://aventurasnahistoria.uol.com.br/noticias/reportagem/o-fardo-do-homem-branco-em-charges.phtml"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auroraoriental.wordpress.com/2017/01/30/34-baia-de-edo-1853-o-shogun-se-ajoelha-pela-primeira-vez/" TargetMode="External"/><Relationship Id="rId2" Type="http://schemas.openxmlformats.org/officeDocument/2006/relationships/image" Target="../media/image43.jpeg"/><Relationship Id="rId1" Type="http://schemas.openxmlformats.org/officeDocument/2006/relationships/slideLayout" Target="../slideLayouts/slideLayout7.xml"/><Relationship Id="rId4" Type="http://schemas.openxmlformats.org/officeDocument/2006/relationships/image" Target="../media/image44.jpeg"/></Relationships>
</file>

<file path=ppt/slides/_rels/slide27.xml.rels><?xml version="1.0" encoding="UTF-8" standalone="yes"?>
<Relationships xmlns="http://schemas.openxmlformats.org/package/2006/relationships"><Relationship Id="rId3" Type="http://schemas.openxmlformats.org/officeDocument/2006/relationships/hyperlink" Target="https://fernandonogueiracosta.wordpress.com/2016/03/28/era-meiji-1868-1912-no-japao-reformas-sociais/" TargetMode="External"/><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pt.wikipedia.org/wiki/Batalha_de_Port_Arthur" TargetMode="External"/><Relationship Id="rId2" Type="http://schemas.openxmlformats.org/officeDocument/2006/relationships/image" Target="../media/image46.jpe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7.xml"/><Relationship Id="rId6" Type="http://schemas.openxmlformats.org/officeDocument/2006/relationships/hyperlink" Target="https://www.ruipires-photography.com/PORTUGAL-HERITAGE/Sao-Jorge-da-Mina/" TargetMode="External"/><Relationship Id="rId5" Type="http://schemas.openxmlformats.org/officeDocument/2006/relationships/image" Target="../media/image51.jpeg"/><Relationship Id="rId4" Type="http://schemas.openxmlformats.org/officeDocument/2006/relationships/hyperlink" Target="https://cprepmauss.com.br/ud-viii-africa-das-feitorias/feitoria/"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ensinarhistoriajoelza.com.br/linha-do-tempo/encerrada-a-conferencia-de-berlim-sobre-a-africa/" TargetMode="External"/><Relationship Id="rId2" Type="http://schemas.openxmlformats.org/officeDocument/2006/relationships/image" Target="../media/image52.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aventurasnahistoria.uol.com.br/noticias/reportagem/voce-sabe-quantas-etnias-existem-na-africa.phtml" TargetMode="External"/><Relationship Id="rId2" Type="http://schemas.openxmlformats.org/officeDocument/2006/relationships/image" Target="../media/image54.gif"/><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hyperlink" Target="https://pt.wikipedia.org/wiki/De_Beers" TargetMode="External"/><Relationship Id="rId3" Type="http://schemas.openxmlformats.org/officeDocument/2006/relationships/image" Target="../media/image57.png"/><Relationship Id="rId7" Type="http://schemas.openxmlformats.org/officeDocument/2006/relationships/hyperlink" Target="https://pt.wikipedia.org/wiki/Ingl%C3%AAs" TargetMode="External"/><Relationship Id="rId2" Type="http://schemas.openxmlformats.org/officeDocument/2006/relationships/image" Target="../media/image56.jpeg"/><Relationship Id="rId1" Type="http://schemas.openxmlformats.org/officeDocument/2006/relationships/slideLayout" Target="../slideLayouts/slideLayout7.xml"/><Relationship Id="rId6" Type="http://schemas.openxmlformats.org/officeDocument/2006/relationships/hyperlink" Target="https://pt.wikipedia.org/wiki/Vida" TargetMode="External"/><Relationship Id="rId5" Type="http://schemas.openxmlformats.org/officeDocument/2006/relationships/hyperlink" Target="https://pt.wikipedia.org/wiki/Evolu%C3%A7%C3%A3o" TargetMode="External"/><Relationship Id="rId4" Type="http://schemas.openxmlformats.org/officeDocument/2006/relationships/hyperlink" Target="https://pt.wikipedia.org/wiki/Deus" TargetMode="External"/><Relationship Id="rId9" Type="http://schemas.openxmlformats.org/officeDocument/2006/relationships/hyperlink" Target="https://pt.wikipedia.org/wiki/Diamante"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guiadoestudante.abril.com.br/curso-enem-play/materia-primas-ditam-a-economia-da-africa/" TargetMode="External"/><Relationship Id="rId2" Type="http://schemas.openxmlformats.org/officeDocument/2006/relationships/image" Target="../media/image58.png"/><Relationship Id="rId1" Type="http://schemas.openxmlformats.org/officeDocument/2006/relationships/slideLayout" Target="../slideLayouts/slideLayout7.xml"/><Relationship Id="rId4" Type="http://schemas.openxmlformats.org/officeDocument/2006/relationships/image" Target="../media/image59.jpeg"/></Relationships>
</file>

<file path=ppt/slides/_rels/slide37.xml.rels><?xml version="1.0" encoding="UTF-8" standalone="yes"?>
<Relationships xmlns="http://schemas.openxmlformats.org/package/2006/relationships"><Relationship Id="rId3" Type="http://schemas.openxmlformats.org/officeDocument/2006/relationships/hyperlink" Target="https://www.coladaweb.com/historia/colonizacao-da-africa" TargetMode="External"/><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C1A6CABA-27D3-4F83-AA8A-477FEA459C35}"/>
              </a:ext>
            </a:extLst>
          </p:cNvPr>
          <p:cNvSpPr>
            <a:spLocks noGrp="1"/>
          </p:cNvSpPr>
          <p:nvPr>
            <p:ph idx="4294967295"/>
          </p:nvPr>
        </p:nvSpPr>
        <p:spPr>
          <a:xfrm>
            <a:off x="949929" y="252082"/>
            <a:ext cx="10972800" cy="5851525"/>
          </a:xfrm>
        </p:spPr>
        <p:txBody>
          <a:bodyPr/>
          <a:lstStyle/>
          <a:p>
            <a:pPr marL="0" indent="0">
              <a:buNone/>
            </a:pPr>
            <a:r>
              <a:rPr lang="pt-BR" dirty="0">
                <a:solidFill>
                  <a:srgbClr val="FF0000"/>
                </a:solidFill>
              </a:rPr>
              <a:t> Capítulo 1 – Página 10 – Volume 5 -  Imperialismo na África e Ásia </a:t>
            </a:r>
          </a:p>
          <a:p>
            <a:pPr marL="0" indent="0">
              <a:buNone/>
            </a:pPr>
            <a:r>
              <a:rPr lang="pt-BR" dirty="0">
                <a:solidFill>
                  <a:srgbClr val="FF0000"/>
                </a:solidFill>
              </a:rPr>
              <a:t>(século XIX) </a:t>
            </a:r>
          </a:p>
        </p:txBody>
      </p:sp>
      <p:pic>
        <p:nvPicPr>
          <p:cNvPr id="3" name="Picture 2" descr="AS32P02">
            <a:extLst>
              <a:ext uri="{FF2B5EF4-FFF2-40B4-BE49-F238E27FC236}">
                <a16:creationId xmlns:a16="http://schemas.microsoft.com/office/drawing/2014/main" id="{2C053D6B-752A-46B7-A173-736591E27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9087" y="1692316"/>
            <a:ext cx="5668377" cy="4251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AS32P01">
            <a:extLst>
              <a:ext uri="{FF2B5EF4-FFF2-40B4-BE49-F238E27FC236}">
                <a16:creationId xmlns:a16="http://schemas.microsoft.com/office/drawing/2014/main" id="{9732BA8D-38E7-47CE-BD23-7EF8CC7C8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536" y="1692316"/>
            <a:ext cx="5667628" cy="4251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aixaDeTexto 4">
            <a:extLst>
              <a:ext uri="{FF2B5EF4-FFF2-40B4-BE49-F238E27FC236}">
                <a16:creationId xmlns:a16="http://schemas.microsoft.com/office/drawing/2014/main" id="{A13E2286-B258-416A-9AAB-3183F5092A81}"/>
              </a:ext>
            </a:extLst>
          </p:cNvPr>
          <p:cNvSpPr txBox="1"/>
          <p:nvPr/>
        </p:nvSpPr>
        <p:spPr>
          <a:xfrm>
            <a:off x="4171950" y="894061"/>
            <a:ext cx="3848100" cy="369332"/>
          </a:xfrm>
          <a:prstGeom prst="rect">
            <a:avLst/>
          </a:prstGeom>
          <a:noFill/>
        </p:spPr>
        <p:txBody>
          <a:bodyPr wrap="square" rtlCol="0">
            <a:spAutoFit/>
          </a:bodyPr>
          <a:lstStyle/>
          <a:p>
            <a:r>
              <a:rPr lang="pt-BR" dirty="0">
                <a:latin typeface="Arial Black" panose="020B0A04020102020204" pitchFamily="34" charset="0"/>
              </a:rPr>
              <a:t>O Neocolonialismo europeu</a:t>
            </a:r>
          </a:p>
        </p:txBody>
      </p:sp>
    </p:spTree>
    <p:extLst>
      <p:ext uri="{BB962C8B-B14F-4D97-AF65-F5344CB8AC3E}">
        <p14:creationId xmlns:p14="http://schemas.microsoft.com/office/powerpoint/2010/main" val="2566019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05" name="Group 57">
            <a:extLst>
              <a:ext uri="{FF2B5EF4-FFF2-40B4-BE49-F238E27FC236}">
                <a16:creationId xmlns:a16="http://schemas.microsoft.com/office/drawing/2014/main" id="{F3F6C765-E7B8-4DE8-AECE-9D0FE62170C4}"/>
              </a:ext>
            </a:extLst>
          </p:cNvPr>
          <p:cNvGraphicFramePr>
            <a:graphicFrameLocks noGrp="1"/>
          </p:cNvGraphicFramePr>
          <p:nvPr>
            <p:ph/>
            <p:extLst>
              <p:ext uri="{D42A27DB-BD31-4B8C-83A1-F6EECF244321}">
                <p14:modId xmlns:p14="http://schemas.microsoft.com/office/powerpoint/2010/main" val="2159939405"/>
              </p:ext>
            </p:extLst>
          </p:nvPr>
        </p:nvGraphicFramePr>
        <p:xfrm>
          <a:off x="4368883" y="219076"/>
          <a:ext cx="7677151" cy="6189744"/>
        </p:xfrm>
        <a:graphic>
          <a:graphicData uri="http://schemas.openxmlformats.org/drawingml/2006/table">
            <a:tbl>
              <a:tblPr/>
              <a:tblGrid>
                <a:gridCol w="1780902">
                  <a:extLst>
                    <a:ext uri="{9D8B030D-6E8A-4147-A177-3AD203B41FA5}">
                      <a16:colId xmlns:a16="http://schemas.microsoft.com/office/drawing/2014/main" val="20000"/>
                    </a:ext>
                  </a:extLst>
                </a:gridCol>
                <a:gridCol w="2929757">
                  <a:extLst>
                    <a:ext uri="{9D8B030D-6E8A-4147-A177-3AD203B41FA5}">
                      <a16:colId xmlns:a16="http://schemas.microsoft.com/office/drawing/2014/main" val="20001"/>
                    </a:ext>
                  </a:extLst>
                </a:gridCol>
                <a:gridCol w="2966492">
                  <a:extLst>
                    <a:ext uri="{9D8B030D-6E8A-4147-A177-3AD203B41FA5}">
                      <a16:colId xmlns:a16="http://schemas.microsoft.com/office/drawing/2014/main" val="20002"/>
                    </a:ext>
                  </a:extLst>
                </a:gridCol>
              </a:tblGrid>
              <a:tr h="20562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pt-BR" sz="2800" b="0" i="0" u="none" strike="noStrike" cap="none" normalizeH="0" baseline="0" dirty="0">
                        <a:ln>
                          <a:noFill/>
                        </a:ln>
                        <a:solidFill>
                          <a:schemeClr val="tx1"/>
                        </a:solidFill>
                        <a:effectLst/>
                        <a:latin typeface="Arial" charset="0"/>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0" i="0" u="none" strike="noStrike" cap="none" normalizeH="0" baseline="0" dirty="0">
                          <a:ln>
                            <a:noFill/>
                          </a:ln>
                          <a:solidFill>
                            <a:schemeClr val="tx1"/>
                          </a:solidFill>
                          <a:effectLst/>
                          <a:latin typeface="Arial Black" panose="020B0A04020102020204" pitchFamily="34" charset="0"/>
                        </a:rPr>
                        <a:t>Colonialismo - séc. XVI</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0" i="0" u="none" strike="noStrike" cap="none" normalizeH="0" baseline="0" dirty="0">
                          <a:ln>
                            <a:noFill/>
                          </a:ln>
                          <a:solidFill>
                            <a:schemeClr val="tx1"/>
                          </a:solidFill>
                          <a:effectLst/>
                          <a:latin typeface="Arial Black" panose="020B0A04020102020204" pitchFamily="34" charset="0"/>
                        </a:rPr>
                        <a:t>Neocolonialismo -</a:t>
                      </a:r>
                      <a:r>
                        <a:rPr kumimoji="0" lang="pt-BR" sz="1800" b="0" i="0" u="none" strike="noStrike" cap="none" normalizeH="0" baseline="0" dirty="0" err="1">
                          <a:ln>
                            <a:noFill/>
                          </a:ln>
                          <a:solidFill>
                            <a:schemeClr val="tx1"/>
                          </a:solidFill>
                          <a:effectLst/>
                          <a:latin typeface="Arial Black" panose="020B0A04020102020204" pitchFamily="34" charset="0"/>
                        </a:rPr>
                        <a:t>séc.XIX</a:t>
                      </a:r>
                      <a:endParaRPr kumimoji="0" lang="pt-BR" sz="1800" b="0" i="0" u="none" strike="noStrike" cap="none" normalizeH="0" baseline="0" dirty="0">
                        <a:ln>
                          <a:noFill/>
                        </a:ln>
                        <a:solidFill>
                          <a:schemeClr val="tx1"/>
                        </a:solidFill>
                        <a:effectLst/>
                        <a:latin typeface="Arial Black" panose="020B0A04020102020204" pitchFamily="34" charset="0"/>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0713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Países envolvidos</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err="1">
                          <a:ln>
                            <a:noFill/>
                          </a:ln>
                          <a:solidFill>
                            <a:schemeClr val="tx1"/>
                          </a:solidFill>
                          <a:effectLst/>
                          <a:latin typeface="Arial" charset="0"/>
                        </a:rPr>
                        <a:t>Portugal,Espanha</a:t>
                      </a:r>
                      <a:r>
                        <a:rPr kumimoji="0" lang="pt-BR" sz="1800" b="1" i="0" u="none" strike="noStrike" cap="none" normalizeH="0" baseline="0" dirty="0">
                          <a:ln>
                            <a:noFill/>
                          </a:ln>
                          <a:solidFill>
                            <a:schemeClr val="tx1"/>
                          </a:solidFill>
                          <a:effectLst/>
                          <a:latin typeface="Arial" charset="0"/>
                        </a:rPr>
                        <a:t> e, depois, em menor grau, Inglaterra, França, Holanda</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Inglaterra, França, Bélgica e, em menor grau, Alemanha, Itália, </a:t>
                      </a:r>
                      <a:r>
                        <a:rPr kumimoji="0" lang="pt-BR" sz="1800" b="1" i="0" u="none" strike="noStrike" cap="none" normalizeH="0" baseline="0" dirty="0" err="1">
                          <a:ln>
                            <a:noFill/>
                          </a:ln>
                          <a:solidFill>
                            <a:schemeClr val="tx1"/>
                          </a:solidFill>
                          <a:effectLst/>
                          <a:latin typeface="Arial" charset="0"/>
                        </a:rPr>
                        <a:t>Japão,etc</a:t>
                      </a:r>
                      <a:r>
                        <a:rPr kumimoji="0" lang="pt-BR" sz="1800" b="1" i="0" u="none" strike="noStrike" cap="none" normalizeH="0" baseline="0" dirty="0">
                          <a:ln>
                            <a:noFill/>
                          </a:ln>
                          <a:solidFill>
                            <a:schemeClr val="tx1"/>
                          </a:solidFill>
                          <a:effectLst/>
                          <a:latin typeface="Arial" charset="0"/>
                        </a:rPr>
                        <a:t>.</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1812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objetivos</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Produtos tropicais, metais preciosos, matérias primas e mercados consumidores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Matérias primas, Mercados consumidores, exportar excedentes demográficos e de capitais.</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164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Justificativas ideológicas</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Catequese jesuítica</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Missão Civilizadora (em menor grau, a catequese religiosa)</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1400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Áreas atingidas</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América Latina ; Litoral da África e Ásia(feitorias)</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Ásia, África e  A. Latina (informalmente)</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91400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Contexto Econômico</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Capitalismo Comercial (Período de transição)</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pt-BR" sz="1800" b="1" i="0" u="none" strike="noStrike" cap="none" normalizeH="0" baseline="0" dirty="0">
                          <a:ln>
                            <a:noFill/>
                          </a:ln>
                          <a:solidFill>
                            <a:schemeClr val="tx1"/>
                          </a:solidFill>
                          <a:effectLst/>
                          <a:latin typeface="Arial" charset="0"/>
                        </a:rPr>
                        <a:t>Capitalismo Monopolista Financeiro</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73828353"/>
                  </a:ext>
                </a:extLst>
              </a:tr>
            </a:tbl>
          </a:graphicData>
        </a:graphic>
      </p:graphicFrame>
      <p:pic>
        <p:nvPicPr>
          <p:cNvPr id="5" name="Picture 2" descr="AS32P02">
            <a:extLst>
              <a:ext uri="{FF2B5EF4-FFF2-40B4-BE49-F238E27FC236}">
                <a16:creationId xmlns:a16="http://schemas.microsoft.com/office/drawing/2014/main" id="{7460E3E8-B03D-4087-8D79-EC5C0F92C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512" y="806492"/>
            <a:ext cx="3343274" cy="2507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AS32P01">
            <a:extLst>
              <a:ext uri="{FF2B5EF4-FFF2-40B4-BE49-F238E27FC236}">
                <a16:creationId xmlns:a16="http://schemas.microsoft.com/office/drawing/2014/main" id="{0799392B-DA1B-44BA-ADF4-8525B7D33C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966" y="3762375"/>
            <a:ext cx="3783095" cy="2837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aixaDeTexto 3">
            <a:extLst>
              <a:ext uri="{FF2B5EF4-FFF2-40B4-BE49-F238E27FC236}">
                <a16:creationId xmlns:a16="http://schemas.microsoft.com/office/drawing/2014/main" id="{540F460A-AB96-4AE8-BF1B-D1980DAC457D}"/>
              </a:ext>
            </a:extLst>
          </p:cNvPr>
          <p:cNvSpPr txBox="1"/>
          <p:nvPr/>
        </p:nvSpPr>
        <p:spPr>
          <a:xfrm>
            <a:off x="509587" y="397613"/>
            <a:ext cx="2905124" cy="369332"/>
          </a:xfrm>
          <a:prstGeom prst="rect">
            <a:avLst/>
          </a:prstGeom>
          <a:noFill/>
        </p:spPr>
        <p:txBody>
          <a:bodyPr wrap="square" rtlCol="0">
            <a:spAutoFit/>
          </a:bodyPr>
          <a:lstStyle/>
          <a:p>
            <a:r>
              <a:rPr lang="pt-BR" dirty="0">
                <a:latin typeface="Arial Black" panose="020B0A04020102020204" pitchFamily="34" charset="0"/>
              </a:rPr>
              <a:t>Ásia -  Século XIX</a:t>
            </a:r>
          </a:p>
        </p:txBody>
      </p:sp>
      <p:sp>
        <p:nvSpPr>
          <p:cNvPr id="7" name="CaixaDeTexto 6">
            <a:extLst>
              <a:ext uri="{FF2B5EF4-FFF2-40B4-BE49-F238E27FC236}">
                <a16:creationId xmlns:a16="http://schemas.microsoft.com/office/drawing/2014/main" id="{AAA0E4A2-6EA5-4FEA-AF19-DD61BD6A740F}"/>
              </a:ext>
            </a:extLst>
          </p:cNvPr>
          <p:cNvSpPr txBox="1"/>
          <p:nvPr/>
        </p:nvSpPr>
        <p:spPr>
          <a:xfrm>
            <a:off x="561556" y="3378935"/>
            <a:ext cx="2620211" cy="369332"/>
          </a:xfrm>
          <a:prstGeom prst="rect">
            <a:avLst/>
          </a:prstGeom>
          <a:noFill/>
        </p:spPr>
        <p:txBody>
          <a:bodyPr wrap="square" rtlCol="0">
            <a:spAutoFit/>
          </a:bodyPr>
          <a:lstStyle/>
          <a:p>
            <a:r>
              <a:rPr lang="pt-BR" dirty="0">
                <a:latin typeface="Arial Black" panose="020B0A04020102020204" pitchFamily="34" charset="0"/>
              </a:rPr>
              <a:t>África – Século XIX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14D2E4E-F942-4AE4-8FCB-A7B4D74F71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0" y="304800"/>
            <a:ext cx="5943600" cy="4279392"/>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F408E17C-075B-4012-BF6C-A4FE4FB5E4F2}"/>
              </a:ext>
            </a:extLst>
          </p:cNvPr>
          <p:cNvSpPr/>
          <p:nvPr/>
        </p:nvSpPr>
        <p:spPr>
          <a:xfrm>
            <a:off x="6257925" y="4677460"/>
            <a:ext cx="5600700" cy="923330"/>
          </a:xfrm>
          <a:prstGeom prst="rect">
            <a:avLst/>
          </a:prstGeom>
        </p:spPr>
        <p:txBody>
          <a:bodyPr wrap="square">
            <a:spAutoFit/>
          </a:bodyPr>
          <a:lstStyle/>
          <a:p>
            <a:r>
              <a:rPr lang="pt-BR" b="1" i="0" dirty="0">
                <a:solidFill>
                  <a:srgbClr val="999999"/>
                </a:solidFill>
                <a:effectLst/>
                <a:latin typeface="Open Sans"/>
              </a:rPr>
              <a:t>Exploradores belgas posam com presas de elefantes Reprodução / Crédito: </a:t>
            </a:r>
            <a:r>
              <a:rPr lang="pt-BR" b="1" i="0" dirty="0" err="1">
                <a:solidFill>
                  <a:srgbClr val="999999"/>
                </a:solidFill>
                <a:effectLst/>
                <a:latin typeface="Open Sans"/>
              </a:rPr>
              <a:t>Wikimidia</a:t>
            </a:r>
            <a:r>
              <a:rPr lang="pt-BR" b="1" i="0" dirty="0">
                <a:solidFill>
                  <a:srgbClr val="999999"/>
                </a:solidFill>
                <a:effectLst/>
                <a:latin typeface="Open Sans"/>
              </a:rPr>
              <a:t> Commons</a:t>
            </a:r>
            <a:endParaRPr lang="pt-BR" b="1" dirty="0"/>
          </a:p>
        </p:txBody>
      </p:sp>
      <p:pic>
        <p:nvPicPr>
          <p:cNvPr id="1028" name="Picture 4">
            <a:extLst>
              <a:ext uri="{FF2B5EF4-FFF2-40B4-BE49-F238E27FC236}">
                <a16:creationId xmlns:a16="http://schemas.microsoft.com/office/drawing/2014/main" id="{2C22DD4F-76DF-4853-ACB2-19F348654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650" y="190500"/>
            <a:ext cx="3876146" cy="2790825"/>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a:extLst>
              <a:ext uri="{FF2B5EF4-FFF2-40B4-BE49-F238E27FC236}">
                <a16:creationId xmlns:a16="http://schemas.microsoft.com/office/drawing/2014/main" id="{45C35921-9A9F-437F-9FFB-E0D73BD7C07A}"/>
              </a:ext>
            </a:extLst>
          </p:cNvPr>
          <p:cNvSpPr/>
          <p:nvPr/>
        </p:nvSpPr>
        <p:spPr>
          <a:xfrm>
            <a:off x="247650" y="2998665"/>
            <a:ext cx="4509568" cy="369332"/>
          </a:xfrm>
          <a:prstGeom prst="rect">
            <a:avLst/>
          </a:prstGeom>
        </p:spPr>
        <p:txBody>
          <a:bodyPr wrap="none">
            <a:spAutoFit/>
          </a:bodyPr>
          <a:lstStyle/>
          <a:p>
            <a:r>
              <a:rPr lang="pt-BR" b="0" i="0" dirty="0">
                <a:solidFill>
                  <a:srgbClr val="999999"/>
                </a:solidFill>
                <a:effectLst/>
                <a:latin typeface="Open Sans"/>
              </a:rPr>
              <a:t>Leopoldo II / Crédito: </a:t>
            </a:r>
            <a:r>
              <a:rPr lang="pt-BR" b="0" i="0" dirty="0" err="1">
                <a:solidFill>
                  <a:srgbClr val="999999"/>
                </a:solidFill>
                <a:effectLst/>
                <a:latin typeface="Open Sans"/>
              </a:rPr>
              <a:t>Wikimidia</a:t>
            </a:r>
            <a:r>
              <a:rPr lang="pt-BR" b="0" i="0" dirty="0">
                <a:solidFill>
                  <a:srgbClr val="999999"/>
                </a:solidFill>
                <a:effectLst/>
                <a:latin typeface="Open Sans"/>
              </a:rPr>
              <a:t> Commons</a:t>
            </a:r>
            <a:endParaRPr lang="pt-BR" dirty="0"/>
          </a:p>
        </p:txBody>
      </p:sp>
      <p:sp>
        <p:nvSpPr>
          <p:cNvPr id="4" name="Retângulo 3">
            <a:extLst>
              <a:ext uri="{FF2B5EF4-FFF2-40B4-BE49-F238E27FC236}">
                <a16:creationId xmlns:a16="http://schemas.microsoft.com/office/drawing/2014/main" id="{FB7FE6BB-EA91-4CCD-958E-2AAA4C61E6D5}"/>
              </a:ext>
            </a:extLst>
          </p:cNvPr>
          <p:cNvSpPr/>
          <p:nvPr/>
        </p:nvSpPr>
        <p:spPr>
          <a:xfrm>
            <a:off x="247650" y="3333751"/>
            <a:ext cx="5524499" cy="2862322"/>
          </a:xfrm>
          <a:prstGeom prst="rect">
            <a:avLst/>
          </a:prstGeom>
        </p:spPr>
        <p:txBody>
          <a:bodyPr wrap="square">
            <a:spAutoFit/>
          </a:bodyPr>
          <a:lstStyle/>
          <a:p>
            <a:r>
              <a:rPr lang="pt-BR" b="0" i="0" dirty="0">
                <a:solidFill>
                  <a:srgbClr val="000000"/>
                </a:solidFill>
                <a:effectLst/>
                <a:latin typeface="Open Sans"/>
              </a:rPr>
              <a:t>Foi por lobby do monarca que, em 1876, Bruxelas sediou uma conferência geográfica internacional na qual os anfitriões propuseram o que no papel seria uma expedição multinacional, humanitária e científica para explorar a região da África Central, quase desconhecida.</a:t>
            </a:r>
          </a:p>
          <a:p>
            <a:r>
              <a:rPr lang="pt-BR" b="0" i="0" dirty="0">
                <a:solidFill>
                  <a:srgbClr val="000000"/>
                </a:solidFill>
                <a:effectLst/>
                <a:latin typeface="Open Sans"/>
              </a:rPr>
              <a:t>Na prática, Leopoldo II estava lançando os alicerces da apropriação de um latifúndio cuja extensão territorial superou em dezenas de vezes a da Bélgica, passando por cima das populações locais.</a:t>
            </a:r>
          </a:p>
        </p:txBody>
      </p:sp>
      <p:sp>
        <p:nvSpPr>
          <p:cNvPr id="5" name="CaixaDeTexto 4">
            <a:extLst>
              <a:ext uri="{FF2B5EF4-FFF2-40B4-BE49-F238E27FC236}">
                <a16:creationId xmlns:a16="http://schemas.microsoft.com/office/drawing/2014/main" id="{07725BC7-9C45-493F-B10A-2791A07F54B5}"/>
              </a:ext>
            </a:extLst>
          </p:cNvPr>
          <p:cNvSpPr txBox="1"/>
          <p:nvPr/>
        </p:nvSpPr>
        <p:spPr>
          <a:xfrm>
            <a:off x="4252760" y="711608"/>
            <a:ext cx="1843240" cy="1200329"/>
          </a:xfrm>
          <a:prstGeom prst="rect">
            <a:avLst/>
          </a:prstGeom>
          <a:noFill/>
        </p:spPr>
        <p:txBody>
          <a:bodyPr wrap="square" rtlCol="0">
            <a:spAutoFit/>
          </a:bodyPr>
          <a:lstStyle/>
          <a:p>
            <a:r>
              <a:rPr lang="pt-BR" dirty="0"/>
              <a:t> </a:t>
            </a:r>
            <a:r>
              <a:rPr lang="pt-BR" sz="2400" b="1" dirty="0"/>
              <a:t>O Congo Belga do rei Leopoldo</a:t>
            </a:r>
          </a:p>
        </p:txBody>
      </p:sp>
    </p:spTree>
    <p:extLst>
      <p:ext uri="{BB962C8B-B14F-4D97-AF65-F5344CB8AC3E}">
        <p14:creationId xmlns:p14="http://schemas.microsoft.com/office/powerpoint/2010/main" val="2772975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982FF766-FB99-4E33-9E84-66066834C9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693" y="2650938"/>
            <a:ext cx="4543482" cy="3271307"/>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a:extLst>
              <a:ext uri="{FF2B5EF4-FFF2-40B4-BE49-F238E27FC236}">
                <a16:creationId xmlns:a16="http://schemas.microsoft.com/office/drawing/2014/main" id="{F6DA339C-1B4F-4969-88CF-D38AADDF1C4E}"/>
              </a:ext>
            </a:extLst>
          </p:cNvPr>
          <p:cNvSpPr txBox="1"/>
          <p:nvPr/>
        </p:nvSpPr>
        <p:spPr>
          <a:xfrm>
            <a:off x="7524693" y="6083475"/>
            <a:ext cx="5263023" cy="523220"/>
          </a:xfrm>
          <a:prstGeom prst="rect">
            <a:avLst/>
          </a:prstGeom>
          <a:noFill/>
        </p:spPr>
        <p:txBody>
          <a:bodyPr wrap="square" rtlCol="0">
            <a:spAutoFit/>
          </a:bodyPr>
          <a:lstStyle/>
          <a:p>
            <a:r>
              <a:rPr lang="pt-BR" sz="1400" dirty="0"/>
              <a:t>Congolês diante do pé e da mão amputados de sua filha / Crédito: </a:t>
            </a:r>
            <a:r>
              <a:rPr lang="pt-BR" sz="1400" dirty="0" err="1"/>
              <a:t>Wikimidia</a:t>
            </a:r>
            <a:r>
              <a:rPr lang="pt-BR" sz="1400" dirty="0"/>
              <a:t> Commons</a:t>
            </a:r>
          </a:p>
        </p:txBody>
      </p:sp>
      <p:pic>
        <p:nvPicPr>
          <p:cNvPr id="5124" name="Picture 4">
            <a:extLst>
              <a:ext uri="{FF2B5EF4-FFF2-40B4-BE49-F238E27FC236}">
                <a16:creationId xmlns:a16="http://schemas.microsoft.com/office/drawing/2014/main" id="{7574A7F1-F513-4654-9411-8575DD2014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 y="219075"/>
            <a:ext cx="4458229" cy="320992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D1C45603-1DBB-4503-92BC-CD96EE8476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825" y="3672840"/>
            <a:ext cx="4119562" cy="296608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mperialismo e Colonialismo - Toda Matéria">
            <a:extLst>
              <a:ext uri="{FF2B5EF4-FFF2-40B4-BE49-F238E27FC236}">
                <a16:creationId xmlns:a16="http://schemas.microsoft.com/office/drawing/2014/main" id="{D8078B5B-6107-47BD-83E6-578CF64762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15648" y="119063"/>
            <a:ext cx="3962949" cy="2347911"/>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a:extLst>
              <a:ext uri="{FF2B5EF4-FFF2-40B4-BE49-F238E27FC236}">
                <a16:creationId xmlns:a16="http://schemas.microsoft.com/office/drawing/2014/main" id="{21D6AD42-23F7-45CA-A897-9335C528713A}"/>
              </a:ext>
            </a:extLst>
          </p:cNvPr>
          <p:cNvSpPr/>
          <p:nvPr/>
        </p:nvSpPr>
        <p:spPr>
          <a:xfrm>
            <a:off x="9610726" y="489160"/>
            <a:ext cx="2324100" cy="1477328"/>
          </a:xfrm>
          <a:prstGeom prst="rect">
            <a:avLst/>
          </a:prstGeom>
        </p:spPr>
        <p:txBody>
          <a:bodyPr wrap="square">
            <a:spAutoFit/>
          </a:bodyPr>
          <a:lstStyle/>
          <a:p>
            <a:r>
              <a:rPr lang="pt-BR" dirty="0"/>
              <a:t>Alegoria inglesa mostrando a conquista da "civilização" sobre o "barbarismo" africano</a:t>
            </a:r>
          </a:p>
        </p:txBody>
      </p:sp>
      <p:pic>
        <p:nvPicPr>
          <p:cNvPr id="1026" name="Picture 2" descr="No coração das trevas (Heart of Darkness) | Livros pra macho #2 ...">
            <a:extLst>
              <a:ext uri="{FF2B5EF4-FFF2-40B4-BE49-F238E27FC236}">
                <a16:creationId xmlns:a16="http://schemas.microsoft.com/office/drawing/2014/main" id="{2A602B85-B49A-4245-BAF1-3772CE1A59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6315" y="3226670"/>
            <a:ext cx="1695450" cy="2695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2709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Celso\Evernote\Downloads\Novo Documento 2019-05-15 17.24.10.jpg">
            <a:extLst>
              <a:ext uri="{FF2B5EF4-FFF2-40B4-BE49-F238E27FC236}">
                <a16:creationId xmlns:a16="http://schemas.microsoft.com/office/drawing/2014/main" id="{E6905B1E-DD3F-42BA-958E-BC94054F29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250" y="229969"/>
            <a:ext cx="4707272" cy="539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lwf1">
            <a:extLst>
              <a:ext uri="{FF2B5EF4-FFF2-40B4-BE49-F238E27FC236}">
                <a16:creationId xmlns:a16="http://schemas.microsoft.com/office/drawing/2014/main" id="{BA5957FB-BA47-4CB4-8FAB-36FC084747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4525" y="109835"/>
            <a:ext cx="4692650" cy="569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aixaDeTexto 3">
            <a:extLst>
              <a:ext uri="{FF2B5EF4-FFF2-40B4-BE49-F238E27FC236}">
                <a16:creationId xmlns:a16="http://schemas.microsoft.com/office/drawing/2014/main" id="{F4CE738E-B8E6-4B91-9933-5B5EB561BDDB}"/>
              </a:ext>
            </a:extLst>
          </p:cNvPr>
          <p:cNvSpPr txBox="1"/>
          <p:nvPr/>
        </p:nvSpPr>
        <p:spPr>
          <a:xfrm>
            <a:off x="3806197" y="5609049"/>
            <a:ext cx="1733551" cy="215444"/>
          </a:xfrm>
          <a:prstGeom prst="rect">
            <a:avLst/>
          </a:prstGeom>
          <a:noFill/>
        </p:spPr>
        <p:txBody>
          <a:bodyPr wrap="square" rtlCol="0">
            <a:spAutoFit/>
          </a:bodyPr>
          <a:lstStyle/>
          <a:p>
            <a:r>
              <a:rPr lang="pt-BR" sz="800" b="1" i="0" dirty="0">
                <a:solidFill>
                  <a:srgbClr val="999999"/>
                </a:solidFill>
                <a:effectLst/>
                <a:latin typeface="Open Sans"/>
              </a:rPr>
              <a:t>Crédito: </a:t>
            </a:r>
            <a:r>
              <a:rPr lang="pt-BR" sz="800" b="1" i="0" dirty="0" err="1">
                <a:solidFill>
                  <a:srgbClr val="999999"/>
                </a:solidFill>
                <a:effectLst/>
                <a:latin typeface="Open Sans"/>
              </a:rPr>
              <a:t>Wikimidia</a:t>
            </a:r>
            <a:r>
              <a:rPr lang="pt-BR" sz="800" b="1" i="0" dirty="0">
                <a:solidFill>
                  <a:srgbClr val="999999"/>
                </a:solidFill>
                <a:effectLst/>
                <a:latin typeface="Open Sans"/>
              </a:rPr>
              <a:t> Commons</a:t>
            </a:r>
            <a:endParaRPr lang="pt-BR" sz="800" dirty="0"/>
          </a:p>
        </p:txBody>
      </p:sp>
      <p:sp>
        <p:nvSpPr>
          <p:cNvPr id="5" name="CaixaDeTexto 4">
            <a:extLst>
              <a:ext uri="{FF2B5EF4-FFF2-40B4-BE49-F238E27FC236}">
                <a16:creationId xmlns:a16="http://schemas.microsoft.com/office/drawing/2014/main" id="{3C69229B-E425-4BAD-9D92-A9CCEBC637C4}"/>
              </a:ext>
            </a:extLst>
          </p:cNvPr>
          <p:cNvSpPr txBox="1"/>
          <p:nvPr/>
        </p:nvSpPr>
        <p:spPr>
          <a:xfrm>
            <a:off x="4257675" y="45303"/>
            <a:ext cx="2743200" cy="369332"/>
          </a:xfrm>
          <a:prstGeom prst="rect">
            <a:avLst/>
          </a:prstGeom>
          <a:noFill/>
        </p:spPr>
        <p:txBody>
          <a:bodyPr wrap="square" rtlCol="0">
            <a:spAutoFit/>
          </a:bodyPr>
          <a:lstStyle/>
          <a:p>
            <a:r>
              <a:rPr lang="pt-BR" dirty="0"/>
              <a:t>Cenas do Congo Belga</a:t>
            </a:r>
          </a:p>
        </p:txBody>
      </p:sp>
      <p:sp>
        <p:nvSpPr>
          <p:cNvPr id="6" name="CaixaDeTexto 5">
            <a:extLst>
              <a:ext uri="{FF2B5EF4-FFF2-40B4-BE49-F238E27FC236}">
                <a16:creationId xmlns:a16="http://schemas.microsoft.com/office/drawing/2014/main" id="{E20C8598-4F31-495C-81C0-3FD8D888A0F6}"/>
              </a:ext>
            </a:extLst>
          </p:cNvPr>
          <p:cNvSpPr txBox="1"/>
          <p:nvPr/>
        </p:nvSpPr>
        <p:spPr>
          <a:xfrm>
            <a:off x="4114800" y="5870317"/>
            <a:ext cx="7210425" cy="923330"/>
          </a:xfrm>
          <a:prstGeom prst="rect">
            <a:avLst/>
          </a:prstGeom>
          <a:noFill/>
        </p:spPr>
        <p:txBody>
          <a:bodyPr wrap="square" rtlCol="0">
            <a:spAutoFit/>
          </a:bodyPr>
          <a:lstStyle/>
          <a:p>
            <a:r>
              <a:rPr lang="pt-BR" dirty="0"/>
              <a:t>Ex-ministro das Relações Exteriores, Louis Michel, em 2010 declarou considerar Leopoldo II ( o rei Belga “proprietário” do Congo) “um visionário que levou a civilização ao Congo".</a:t>
            </a:r>
          </a:p>
        </p:txBody>
      </p:sp>
      <p:sp>
        <p:nvSpPr>
          <p:cNvPr id="7" name="Retângulo 6">
            <a:extLst>
              <a:ext uri="{FF2B5EF4-FFF2-40B4-BE49-F238E27FC236}">
                <a16:creationId xmlns:a16="http://schemas.microsoft.com/office/drawing/2014/main" id="{E90FDDDA-44A0-4281-A7F2-9FD593FF7716}"/>
              </a:ext>
            </a:extLst>
          </p:cNvPr>
          <p:cNvSpPr/>
          <p:nvPr/>
        </p:nvSpPr>
        <p:spPr>
          <a:xfrm>
            <a:off x="1325249" y="5805785"/>
            <a:ext cx="2266950" cy="923330"/>
          </a:xfrm>
          <a:prstGeom prst="rect">
            <a:avLst/>
          </a:prstGeom>
        </p:spPr>
        <p:txBody>
          <a:bodyPr wrap="square">
            <a:spAutoFit/>
          </a:bodyPr>
          <a:lstStyle/>
          <a:p>
            <a:r>
              <a:rPr lang="pt-BR" sz="900" dirty="0">
                <a:hlinkClick r:id="rId4"/>
              </a:rPr>
              <a:t>https://aventurasnahistoria.uol.com.br/noticias/reportagem/genocidio-africa-congo-belga-leopoldo-ii.phtml https://aventurasnahistoria.uol.com.br/noticias/reportagem/genocidio-africa-congo-belga-leopoldo-ii.phtml</a:t>
            </a:r>
            <a:endParaRPr lang="pt-BR" sz="900" dirty="0"/>
          </a:p>
        </p:txBody>
      </p:sp>
    </p:spTree>
    <p:extLst>
      <p:ext uri="{BB962C8B-B14F-4D97-AF65-F5344CB8AC3E}">
        <p14:creationId xmlns:p14="http://schemas.microsoft.com/office/powerpoint/2010/main" val="1846313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1198FEDD-858B-4ECF-B62A-A964EE0113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95" t="3526" r="5663" b="2319"/>
          <a:stretch/>
        </p:blipFill>
        <p:spPr bwMode="auto">
          <a:xfrm>
            <a:off x="76200" y="514350"/>
            <a:ext cx="8772526" cy="5829300"/>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9CE4C2EF-ECE5-4091-ABDD-1D4991F18AB1}"/>
              </a:ext>
            </a:extLst>
          </p:cNvPr>
          <p:cNvSpPr/>
          <p:nvPr/>
        </p:nvSpPr>
        <p:spPr>
          <a:xfrm>
            <a:off x="9401175" y="294560"/>
            <a:ext cx="2714625" cy="5909310"/>
          </a:xfrm>
          <a:prstGeom prst="rect">
            <a:avLst/>
          </a:prstGeom>
        </p:spPr>
        <p:txBody>
          <a:bodyPr wrap="square">
            <a:spAutoFit/>
          </a:bodyPr>
          <a:lstStyle/>
          <a:p>
            <a:r>
              <a:rPr lang="pt-BR" dirty="0">
                <a:solidFill>
                  <a:srgbClr val="212529"/>
                </a:solidFill>
                <a:latin typeface="Open Sans"/>
              </a:rPr>
              <a:t>“Publicada em 1899 pela revista Judge de Nova York, esta charge tem em sua legenda a referência direta ao poema de </a:t>
            </a:r>
            <a:r>
              <a:rPr lang="pt-BR" dirty="0" err="1">
                <a:solidFill>
                  <a:srgbClr val="212529"/>
                </a:solidFill>
                <a:latin typeface="Open Sans"/>
              </a:rPr>
              <a:t>Kipling</a:t>
            </a:r>
            <a:r>
              <a:rPr lang="pt-BR" dirty="0">
                <a:solidFill>
                  <a:srgbClr val="212529"/>
                </a:solidFill>
                <a:latin typeface="Open Sans"/>
              </a:rPr>
              <a:t>. Nela, representantes das nações Britânica e Norte Americana — o britânico John Bull e o famoso norte-americano </a:t>
            </a:r>
            <a:r>
              <a:rPr lang="pt-BR" dirty="0">
                <a:solidFill>
                  <a:srgbClr val="800080"/>
                </a:solidFill>
                <a:latin typeface="Open Sans"/>
                <a:hlinkClick r:id="rId3"/>
              </a:rPr>
              <a:t>Tio Sam</a:t>
            </a:r>
            <a:r>
              <a:rPr lang="pt-BR" dirty="0">
                <a:solidFill>
                  <a:srgbClr val="212529"/>
                </a:solidFill>
                <a:latin typeface="Open Sans"/>
              </a:rPr>
              <a:t> — escalam um caminho difícil, cheio de pedras que simbolizam o que seriam aspectos dos não-brancos: ignorância, vício, barbarismo, superstição, brutalidade e canibalismo são algumas das palavras escritas nas rochas.(...)”</a:t>
            </a:r>
            <a:endParaRPr lang="pt-BR" dirty="0"/>
          </a:p>
        </p:txBody>
      </p:sp>
      <p:sp>
        <p:nvSpPr>
          <p:cNvPr id="3" name="CaixaDeTexto 2">
            <a:extLst>
              <a:ext uri="{FF2B5EF4-FFF2-40B4-BE49-F238E27FC236}">
                <a16:creationId xmlns:a16="http://schemas.microsoft.com/office/drawing/2014/main" id="{B42F414E-C2C0-4EA1-8C1E-EE2EA9BED08D}"/>
              </a:ext>
            </a:extLst>
          </p:cNvPr>
          <p:cNvSpPr txBox="1"/>
          <p:nvPr/>
        </p:nvSpPr>
        <p:spPr>
          <a:xfrm>
            <a:off x="509587" y="109894"/>
            <a:ext cx="9386887" cy="369332"/>
          </a:xfrm>
          <a:prstGeom prst="rect">
            <a:avLst/>
          </a:prstGeom>
          <a:noFill/>
        </p:spPr>
        <p:txBody>
          <a:bodyPr wrap="square" rtlCol="0">
            <a:spAutoFit/>
          </a:bodyPr>
          <a:lstStyle/>
          <a:p>
            <a:r>
              <a:rPr lang="pt-BR" b="1" dirty="0">
                <a:latin typeface="Arial Black" panose="020B0A04020102020204" pitchFamily="34" charset="0"/>
              </a:rPr>
              <a:t>O FARDO DO HOMEM BRANCO- UMA LEITURA DO POEMA DE KIPLING</a:t>
            </a:r>
          </a:p>
        </p:txBody>
      </p:sp>
      <p:sp>
        <p:nvSpPr>
          <p:cNvPr id="4" name="Retângulo 3">
            <a:extLst>
              <a:ext uri="{FF2B5EF4-FFF2-40B4-BE49-F238E27FC236}">
                <a16:creationId xmlns:a16="http://schemas.microsoft.com/office/drawing/2014/main" id="{6F0B1456-41D1-4F8A-91EC-54AE60DA49B7}"/>
              </a:ext>
            </a:extLst>
          </p:cNvPr>
          <p:cNvSpPr/>
          <p:nvPr/>
        </p:nvSpPr>
        <p:spPr>
          <a:xfrm>
            <a:off x="9401174" y="6147942"/>
            <a:ext cx="2714625" cy="600164"/>
          </a:xfrm>
          <a:prstGeom prst="rect">
            <a:avLst/>
          </a:prstGeom>
        </p:spPr>
        <p:txBody>
          <a:bodyPr wrap="square">
            <a:spAutoFit/>
          </a:bodyPr>
          <a:lstStyle/>
          <a:p>
            <a:r>
              <a:rPr lang="pt-BR" sz="1100" dirty="0">
                <a:hlinkClick r:id="rId4"/>
              </a:rPr>
              <a:t>https://aventurasnahistoria.uol.com.br/noticias/reportagem/o-fardo-do-homem-branco-em-charges.phtml</a:t>
            </a:r>
            <a:endParaRPr lang="pt-BR" sz="1100" dirty="0"/>
          </a:p>
        </p:txBody>
      </p:sp>
    </p:spTree>
    <p:extLst>
      <p:ext uri="{BB962C8B-B14F-4D97-AF65-F5344CB8AC3E}">
        <p14:creationId xmlns:p14="http://schemas.microsoft.com/office/powerpoint/2010/main" val="3133493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E32F35DE-B859-486A-86C7-CCA85ED40FE2}"/>
              </a:ext>
            </a:extLst>
          </p:cNvPr>
          <p:cNvSpPr/>
          <p:nvPr/>
        </p:nvSpPr>
        <p:spPr>
          <a:xfrm>
            <a:off x="457200" y="5093374"/>
            <a:ext cx="11734800" cy="1477328"/>
          </a:xfrm>
          <a:prstGeom prst="rect">
            <a:avLst/>
          </a:prstGeom>
        </p:spPr>
        <p:txBody>
          <a:bodyPr wrap="square">
            <a:spAutoFit/>
          </a:bodyPr>
          <a:lstStyle/>
          <a:p>
            <a:r>
              <a:rPr lang="pt-BR" dirty="0">
                <a:solidFill>
                  <a:srgbClr val="212529"/>
                </a:solidFill>
                <a:latin typeface="Open Sans"/>
              </a:rPr>
              <a:t>“O argumento segue o exemplo da Inglaterra, como descrito no quadro negro: ‘</a:t>
            </a:r>
            <a:r>
              <a:rPr lang="pt-BR" b="1" dirty="0">
                <a:solidFill>
                  <a:schemeClr val="accent2">
                    <a:lumMod val="50000"/>
                  </a:schemeClr>
                </a:solidFill>
                <a:latin typeface="Open Sans"/>
              </a:rPr>
              <a:t>Por não esperar por seu consentimento, ela (Inglaterra) levou muitas civilizações do mundo ao avanço. Os EUA devem governar seus novos territórios com ou sem o consentimento deles até que possam se governar sozinhos</a:t>
            </a:r>
            <a:r>
              <a:rPr lang="pt-BR" dirty="0">
                <a:solidFill>
                  <a:srgbClr val="212529"/>
                </a:solidFill>
                <a:latin typeface="Open Sans"/>
              </a:rPr>
              <a:t>’.</a:t>
            </a:r>
          </a:p>
          <a:p>
            <a:r>
              <a:rPr lang="pt-BR" dirty="0">
                <a:solidFill>
                  <a:srgbClr val="212529"/>
                </a:solidFill>
                <a:latin typeface="Open Sans"/>
              </a:rPr>
              <a:t>Nos fundos da sala, um afro-americano lava as janelas observando alegremente a classe. Um nativo americano lê um livro de cabeça para baixo e um possível aluno chinês para à porta, observando curioso a situação.</a:t>
            </a:r>
          </a:p>
        </p:txBody>
      </p:sp>
      <p:pic>
        <p:nvPicPr>
          <p:cNvPr id="3" name="Picture 2">
            <a:extLst>
              <a:ext uri="{FF2B5EF4-FFF2-40B4-BE49-F238E27FC236}">
                <a16:creationId xmlns:a16="http://schemas.microsoft.com/office/drawing/2014/main" id="{180F9FED-A10A-4A7D-9023-252BF297E8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5" y="107156"/>
            <a:ext cx="7315200" cy="4879181"/>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a:extLst>
              <a:ext uri="{FF2B5EF4-FFF2-40B4-BE49-F238E27FC236}">
                <a16:creationId xmlns:a16="http://schemas.microsoft.com/office/drawing/2014/main" id="{12F507A2-1F0A-4550-A97A-B73797A33D2F}"/>
              </a:ext>
            </a:extLst>
          </p:cNvPr>
          <p:cNvSpPr/>
          <p:nvPr/>
        </p:nvSpPr>
        <p:spPr>
          <a:xfrm>
            <a:off x="9715500" y="4340006"/>
            <a:ext cx="1914525" cy="646331"/>
          </a:xfrm>
          <a:prstGeom prst="rect">
            <a:avLst/>
          </a:prstGeom>
        </p:spPr>
        <p:txBody>
          <a:bodyPr wrap="square">
            <a:spAutoFit/>
          </a:bodyPr>
          <a:lstStyle/>
          <a:p>
            <a:r>
              <a:rPr lang="pt-BR" dirty="0"/>
              <a:t>https://youtu.be/6t_HN95-Urs</a:t>
            </a:r>
          </a:p>
        </p:txBody>
      </p:sp>
    </p:spTree>
    <p:extLst>
      <p:ext uri="{BB962C8B-B14F-4D97-AF65-F5344CB8AC3E}">
        <p14:creationId xmlns:p14="http://schemas.microsoft.com/office/powerpoint/2010/main" val="3293657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7E7DEFE-A786-470A-900C-197700D42FDA}"/>
              </a:ext>
            </a:extLst>
          </p:cNvPr>
          <p:cNvSpPr txBox="1"/>
          <p:nvPr/>
        </p:nvSpPr>
        <p:spPr>
          <a:xfrm>
            <a:off x="438150" y="386393"/>
            <a:ext cx="5324475" cy="523220"/>
          </a:xfrm>
          <a:prstGeom prst="rect">
            <a:avLst/>
          </a:prstGeom>
          <a:noFill/>
        </p:spPr>
        <p:txBody>
          <a:bodyPr wrap="square" rtlCol="0">
            <a:spAutoFit/>
          </a:bodyPr>
          <a:lstStyle/>
          <a:p>
            <a:r>
              <a:rPr lang="pt-BR" sz="2800" dirty="0"/>
              <a:t>Exemplos de Imperialismo na Ásia</a:t>
            </a:r>
          </a:p>
        </p:txBody>
      </p:sp>
      <p:pic>
        <p:nvPicPr>
          <p:cNvPr id="3" name="Picture 2" descr="AS32P02">
            <a:extLst>
              <a:ext uri="{FF2B5EF4-FFF2-40B4-BE49-F238E27FC236}">
                <a16:creationId xmlns:a16="http://schemas.microsoft.com/office/drawing/2014/main" id="{164B3F65-459F-4205-A84C-2EE47B8698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9" y="1215373"/>
            <a:ext cx="6243638" cy="4682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aixaDeTexto 3">
            <a:extLst>
              <a:ext uri="{FF2B5EF4-FFF2-40B4-BE49-F238E27FC236}">
                <a16:creationId xmlns:a16="http://schemas.microsoft.com/office/drawing/2014/main" id="{D1A918EB-E9D6-43EE-8453-A90A61957D0D}"/>
              </a:ext>
            </a:extLst>
          </p:cNvPr>
          <p:cNvSpPr txBox="1"/>
          <p:nvPr/>
        </p:nvSpPr>
        <p:spPr>
          <a:xfrm>
            <a:off x="8382000" y="1030455"/>
            <a:ext cx="1771650" cy="400110"/>
          </a:xfrm>
          <a:prstGeom prst="rect">
            <a:avLst/>
          </a:prstGeom>
          <a:noFill/>
        </p:spPr>
        <p:txBody>
          <a:bodyPr wrap="square" rtlCol="0">
            <a:spAutoFit/>
          </a:bodyPr>
          <a:lstStyle/>
          <a:p>
            <a:r>
              <a:rPr lang="pt-BR" sz="2000" dirty="0">
                <a:latin typeface="Arial Black" panose="020B0A04020102020204" pitchFamily="34" charset="0"/>
              </a:rPr>
              <a:t>A Índia</a:t>
            </a:r>
          </a:p>
        </p:txBody>
      </p:sp>
      <p:sp>
        <p:nvSpPr>
          <p:cNvPr id="6" name="CaixaDeTexto 5">
            <a:extLst>
              <a:ext uri="{FF2B5EF4-FFF2-40B4-BE49-F238E27FC236}">
                <a16:creationId xmlns:a16="http://schemas.microsoft.com/office/drawing/2014/main" id="{335058AD-2574-4B4F-9AC6-12FB3DAA1EB5}"/>
              </a:ext>
            </a:extLst>
          </p:cNvPr>
          <p:cNvSpPr txBox="1"/>
          <p:nvPr/>
        </p:nvSpPr>
        <p:spPr>
          <a:xfrm>
            <a:off x="6429377" y="447948"/>
            <a:ext cx="6362700" cy="400110"/>
          </a:xfrm>
          <a:prstGeom prst="rect">
            <a:avLst/>
          </a:prstGeom>
          <a:noFill/>
        </p:spPr>
        <p:txBody>
          <a:bodyPr wrap="square" rtlCol="0">
            <a:spAutoFit/>
          </a:bodyPr>
          <a:lstStyle/>
          <a:p>
            <a:r>
              <a:rPr lang="pt-BR" sz="2000" b="1" dirty="0"/>
              <a:t>A diplomacia do Canhão e os tratados desiguais</a:t>
            </a:r>
          </a:p>
        </p:txBody>
      </p:sp>
      <p:sp>
        <p:nvSpPr>
          <p:cNvPr id="5" name="CaixaDeTexto 4">
            <a:extLst>
              <a:ext uri="{FF2B5EF4-FFF2-40B4-BE49-F238E27FC236}">
                <a16:creationId xmlns:a16="http://schemas.microsoft.com/office/drawing/2014/main" id="{B82C14CB-6EB9-4186-9710-B74F7224106D}"/>
              </a:ext>
            </a:extLst>
          </p:cNvPr>
          <p:cNvSpPr txBox="1"/>
          <p:nvPr/>
        </p:nvSpPr>
        <p:spPr>
          <a:xfrm>
            <a:off x="6572250" y="1557936"/>
            <a:ext cx="4781549" cy="1477328"/>
          </a:xfrm>
          <a:prstGeom prst="rect">
            <a:avLst/>
          </a:prstGeom>
          <a:noFill/>
        </p:spPr>
        <p:txBody>
          <a:bodyPr wrap="square" rtlCol="0">
            <a:spAutoFit/>
          </a:bodyPr>
          <a:lstStyle/>
          <a:p>
            <a:r>
              <a:rPr lang="pt-BR" dirty="0"/>
              <a:t>Ausência de unidade política (divisão em principados) favorece o gradativo domínio britânico no decorrer do século XVII/XIX, através de uma empresa particular (</a:t>
            </a:r>
            <a:r>
              <a:rPr lang="pt-BR" dirty="0">
                <a:solidFill>
                  <a:srgbClr val="FF0000"/>
                </a:solidFill>
              </a:rPr>
              <a:t>Companhia Britânica das Índias Orientais</a:t>
            </a:r>
            <a:r>
              <a:rPr lang="pt-BR" dirty="0"/>
              <a:t>)</a:t>
            </a:r>
          </a:p>
        </p:txBody>
      </p:sp>
      <p:sp>
        <p:nvSpPr>
          <p:cNvPr id="7" name="CaixaDeTexto 6">
            <a:extLst>
              <a:ext uri="{FF2B5EF4-FFF2-40B4-BE49-F238E27FC236}">
                <a16:creationId xmlns:a16="http://schemas.microsoft.com/office/drawing/2014/main" id="{8E46E9F9-116F-4F9C-9E42-A264F0C9CF8F}"/>
              </a:ext>
            </a:extLst>
          </p:cNvPr>
          <p:cNvSpPr txBox="1"/>
          <p:nvPr/>
        </p:nvSpPr>
        <p:spPr>
          <a:xfrm>
            <a:off x="7219949" y="3272462"/>
            <a:ext cx="4314826" cy="1754326"/>
          </a:xfrm>
          <a:prstGeom prst="rect">
            <a:avLst/>
          </a:prstGeom>
          <a:noFill/>
        </p:spPr>
        <p:txBody>
          <a:bodyPr wrap="square" rtlCol="0">
            <a:spAutoFit/>
          </a:bodyPr>
          <a:lstStyle/>
          <a:p>
            <a:r>
              <a:rPr lang="pt-BR" dirty="0"/>
              <a:t>As disputas e rivalidades internas hindus são exploradas por essa empresa... que se alia à algumas lideranças e regiões, contra outras...Fornecendo recursos, exércitos, armas ...em troca de concessões , terras e direitos de comércio...</a:t>
            </a:r>
          </a:p>
        </p:txBody>
      </p:sp>
      <p:pic>
        <p:nvPicPr>
          <p:cNvPr id="8" name="Picture 2">
            <a:extLst>
              <a:ext uri="{FF2B5EF4-FFF2-40B4-BE49-F238E27FC236}">
                <a16:creationId xmlns:a16="http://schemas.microsoft.com/office/drawing/2014/main" id="{80742D3A-2AFD-4776-BC1A-D2C6A6BECF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4539" y="4795509"/>
            <a:ext cx="2307436" cy="1627714"/>
          </a:xfrm>
          <a:prstGeom prst="rect">
            <a:avLst/>
          </a:prstGeom>
          <a:noFill/>
          <a:extLst>
            <a:ext uri="{909E8E84-426E-40DD-AFC4-6F175D3DCCD1}">
              <a14:hiddenFill xmlns:a14="http://schemas.microsoft.com/office/drawing/2010/main">
                <a:solidFill>
                  <a:srgbClr val="FFFFFF"/>
                </a:solidFill>
              </a14:hiddenFill>
            </a:ext>
          </a:extLst>
        </p:spPr>
      </p:pic>
      <p:sp>
        <p:nvSpPr>
          <p:cNvPr id="9" name="Retângulo 8">
            <a:extLst>
              <a:ext uri="{FF2B5EF4-FFF2-40B4-BE49-F238E27FC236}">
                <a16:creationId xmlns:a16="http://schemas.microsoft.com/office/drawing/2014/main" id="{74673260-DE1B-473A-BB27-769B52C5BED4}"/>
              </a:ext>
            </a:extLst>
          </p:cNvPr>
          <p:cNvSpPr/>
          <p:nvPr/>
        </p:nvSpPr>
        <p:spPr>
          <a:xfrm>
            <a:off x="7419979" y="5097630"/>
            <a:ext cx="2190748" cy="1631216"/>
          </a:xfrm>
          <a:prstGeom prst="rect">
            <a:avLst/>
          </a:prstGeom>
        </p:spPr>
        <p:txBody>
          <a:bodyPr wrap="square">
            <a:spAutoFit/>
          </a:bodyPr>
          <a:lstStyle/>
          <a:p>
            <a:r>
              <a:rPr lang="pt-BR" sz="1000" b="1" dirty="0">
                <a:solidFill>
                  <a:schemeClr val="accent1"/>
                </a:solidFill>
                <a:latin typeface="Arial" panose="020B0604020202020204" pitchFamily="34" charset="0"/>
              </a:rPr>
              <a:t>Formada por </a:t>
            </a:r>
            <a:r>
              <a:rPr lang="pt-BR" sz="1000" b="1" dirty="0">
                <a:solidFill>
                  <a:schemeClr val="accent1"/>
                </a:solidFill>
                <a:latin typeface="Arial" panose="020B0604020202020204" pitchFamily="34" charset="0"/>
                <a:hlinkClick r:id="rId4" tooltip="Comércio">
                  <a:extLst>
                    <a:ext uri="{A12FA001-AC4F-418D-AE19-62706E023703}">
                      <ahyp:hlinkClr xmlns:ahyp="http://schemas.microsoft.com/office/drawing/2018/hyperlinkcolor" val="tx"/>
                    </a:ext>
                  </a:extLst>
                </a:hlinkClick>
              </a:rPr>
              <a:t>comerciantes</a:t>
            </a:r>
            <a:r>
              <a:rPr lang="pt-BR" sz="1000" b="1" dirty="0">
                <a:solidFill>
                  <a:schemeClr val="accent1"/>
                </a:solidFill>
                <a:latin typeface="Arial" panose="020B0604020202020204" pitchFamily="34" charset="0"/>
              </a:rPr>
              <a:t> de </a:t>
            </a:r>
            <a:r>
              <a:rPr lang="pt-BR" sz="1000" b="1" dirty="0">
                <a:solidFill>
                  <a:schemeClr val="accent1"/>
                </a:solidFill>
                <a:latin typeface="Arial" panose="020B0604020202020204" pitchFamily="34" charset="0"/>
                <a:hlinkClick r:id="rId5" tooltip="Londres">
                  <a:extLst>
                    <a:ext uri="{A12FA001-AC4F-418D-AE19-62706E023703}">
                      <ahyp:hlinkClr xmlns:ahyp="http://schemas.microsoft.com/office/drawing/2018/hyperlinkcolor" val="tx"/>
                    </a:ext>
                  </a:extLst>
                </a:hlinkClick>
              </a:rPr>
              <a:t>Londres</a:t>
            </a:r>
            <a:r>
              <a:rPr lang="pt-BR" sz="1000" b="1" dirty="0">
                <a:solidFill>
                  <a:schemeClr val="accent1"/>
                </a:solidFill>
                <a:latin typeface="Arial" panose="020B0604020202020204" pitchFamily="34" charset="0"/>
              </a:rPr>
              <a:t>, em </a:t>
            </a:r>
            <a:r>
              <a:rPr lang="pt-BR" sz="1000" b="1" dirty="0">
                <a:solidFill>
                  <a:schemeClr val="accent1"/>
                </a:solidFill>
                <a:latin typeface="Arial" panose="020B0604020202020204" pitchFamily="34" charset="0"/>
                <a:hlinkClick r:id="rId6" tooltip="1600">
                  <a:extLst>
                    <a:ext uri="{A12FA001-AC4F-418D-AE19-62706E023703}">
                      <ahyp:hlinkClr xmlns:ahyp="http://schemas.microsoft.com/office/drawing/2018/hyperlinkcolor" val="tx"/>
                    </a:ext>
                  </a:extLst>
                </a:hlinkClick>
              </a:rPr>
              <a:t>1600</a:t>
            </a:r>
            <a:r>
              <a:rPr lang="pt-BR" sz="1000" b="1" dirty="0">
                <a:solidFill>
                  <a:schemeClr val="accent1"/>
                </a:solidFill>
                <a:latin typeface="Arial" panose="020B0604020202020204" pitchFamily="34" charset="0"/>
              </a:rPr>
              <a:t>, com o nome de </a:t>
            </a:r>
            <a:r>
              <a:rPr lang="pt-BR" sz="1000" b="1" i="1" dirty="0">
                <a:solidFill>
                  <a:schemeClr val="accent1"/>
                </a:solidFill>
                <a:latin typeface="Arial" panose="020B0604020202020204" pitchFamily="34" charset="0"/>
              </a:rPr>
              <a:t>“</a:t>
            </a:r>
            <a:r>
              <a:rPr lang="pt-BR" sz="1000" b="1" i="1" dirty="0" err="1">
                <a:solidFill>
                  <a:schemeClr val="accent1"/>
                </a:solidFill>
                <a:latin typeface="Arial" panose="020B0604020202020204" pitchFamily="34" charset="0"/>
              </a:rPr>
              <a:t>Company</a:t>
            </a:r>
            <a:r>
              <a:rPr lang="pt-BR" sz="1000" b="1" i="1" dirty="0">
                <a:solidFill>
                  <a:schemeClr val="accent1"/>
                </a:solidFill>
                <a:latin typeface="Arial" panose="020B0604020202020204" pitchFamily="34" charset="0"/>
              </a:rPr>
              <a:t> </a:t>
            </a:r>
            <a:r>
              <a:rPr lang="pt-BR" sz="1000" b="1" i="1" dirty="0" err="1">
                <a:solidFill>
                  <a:schemeClr val="accent1"/>
                </a:solidFill>
                <a:latin typeface="Arial" panose="020B0604020202020204" pitchFamily="34" charset="0"/>
              </a:rPr>
              <a:t>of</a:t>
            </a:r>
            <a:r>
              <a:rPr lang="pt-BR" sz="1000" b="1" i="1" dirty="0">
                <a:solidFill>
                  <a:schemeClr val="accent1"/>
                </a:solidFill>
                <a:latin typeface="Arial" panose="020B0604020202020204" pitchFamily="34" charset="0"/>
              </a:rPr>
              <a:t> </a:t>
            </a:r>
            <a:r>
              <a:rPr lang="pt-BR" sz="1000" b="1" i="1" dirty="0" err="1">
                <a:solidFill>
                  <a:schemeClr val="accent1"/>
                </a:solidFill>
                <a:latin typeface="Arial" panose="020B0604020202020204" pitchFamily="34" charset="0"/>
              </a:rPr>
              <a:t>Merchants</a:t>
            </a:r>
            <a:r>
              <a:rPr lang="pt-BR" sz="1000" b="1" i="1" dirty="0">
                <a:solidFill>
                  <a:schemeClr val="accent1"/>
                </a:solidFill>
                <a:latin typeface="Arial" panose="020B0604020202020204" pitchFamily="34" charset="0"/>
              </a:rPr>
              <a:t> </a:t>
            </a:r>
            <a:r>
              <a:rPr lang="pt-BR" sz="1000" b="1" i="1" dirty="0" err="1">
                <a:solidFill>
                  <a:schemeClr val="accent1"/>
                </a:solidFill>
                <a:latin typeface="Arial" panose="020B0604020202020204" pitchFamily="34" charset="0"/>
              </a:rPr>
              <a:t>of</a:t>
            </a:r>
            <a:r>
              <a:rPr lang="pt-BR" sz="1000" b="1" i="1" dirty="0">
                <a:solidFill>
                  <a:schemeClr val="accent1"/>
                </a:solidFill>
                <a:latin typeface="Arial" panose="020B0604020202020204" pitchFamily="34" charset="0"/>
              </a:rPr>
              <a:t> London Trading </a:t>
            </a:r>
            <a:r>
              <a:rPr lang="pt-BR" sz="1000" b="1" i="1" dirty="0" err="1">
                <a:solidFill>
                  <a:schemeClr val="accent1"/>
                </a:solidFill>
                <a:latin typeface="Arial" panose="020B0604020202020204" pitchFamily="34" charset="0"/>
              </a:rPr>
              <a:t>to</a:t>
            </a:r>
            <a:r>
              <a:rPr lang="pt-BR" sz="1000" b="1" i="1" dirty="0">
                <a:solidFill>
                  <a:schemeClr val="accent1"/>
                </a:solidFill>
                <a:latin typeface="Arial" panose="020B0604020202020204" pitchFamily="34" charset="0"/>
              </a:rPr>
              <a:t> </a:t>
            </a:r>
            <a:r>
              <a:rPr lang="pt-BR" sz="1000" b="1" i="1" dirty="0" err="1">
                <a:solidFill>
                  <a:schemeClr val="accent1"/>
                </a:solidFill>
                <a:latin typeface="Arial" panose="020B0604020202020204" pitchFamily="34" charset="0"/>
              </a:rPr>
              <a:t>the</a:t>
            </a:r>
            <a:r>
              <a:rPr lang="pt-BR" sz="1000" b="1" i="1" dirty="0">
                <a:solidFill>
                  <a:schemeClr val="accent1"/>
                </a:solidFill>
                <a:latin typeface="Arial" panose="020B0604020202020204" pitchFamily="34" charset="0"/>
              </a:rPr>
              <a:t> East Indies”</a:t>
            </a:r>
            <a:r>
              <a:rPr lang="pt-BR" sz="1000" b="1" dirty="0">
                <a:solidFill>
                  <a:schemeClr val="accent1"/>
                </a:solidFill>
                <a:latin typeface="Arial" panose="020B0604020202020204" pitchFamily="34" charset="0"/>
              </a:rPr>
              <a:t>, a quem a rainha </a:t>
            </a:r>
            <a:r>
              <a:rPr lang="pt-BR" sz="1000" b="1" dirty="0">
                <a:solidFill>
                  <a:schemeClr val="accent1"/>
                </a:solidFill>
                <a:latin typeface="Arial" panose="020B0604020202020204" pitchFamily="34" charset="0"/>
                <a:hlinkClick r:id="rId7" tooltip="Isabel I de Inglaterra">
                  <a:extLst>
                    <a:ext uri="{A12FA001-AC4F-418D-AE19-62706E023703}">
                      <ahyp:hlinkClr xmlns:ahyp="http://schemas.microsoft.com/office/drawing/2018/hyperlinkcolor" val="tx"/>
                    </a:ext>
                  </a:extLst>
                </a:hlinkClick>
              </a:rPr>
              <a:t>Isabel I</a:t>
            </a:r>
            <a:r>
              <a:rPr lang="pt-BR" sz="1000" b="1" dirty="0">
                <a:solidFill>
                  <a:schemeClr val="accent1"/>
                </a:solidFill>
                <a:latin typeface="Arial" panose="020B0604020202020204" pitchFamily="34" charset="0"/>
              </a:rPr>
              <a:t> concedeu o </a:t>
            </a:r>
            <a:r>
              <a:rPr lang="pt-BR" sz="1000" b="1" dirty="0">
                <a:solidFill>
                  <a:schemeClr val="accent1"/>
                </a:solidFill>
                <a:latin typeface="Arial" panose="020B0604020202020204" pitchFamily="34" charset="0"/>
                <a:hlinkClick r:id="rId8" tooltip="Monopólio">
                  <a:extLst>
                    <a:ext uri="{A12FA001-AC4F-418D-AE19-62706E023703}">
                      <ahyp:hlinkClr xmlns:ahyp="http://schemas.microsoft.com/office/drawing/2018/hyperlinkcolor" val="tx"/>
                    </a:ext>
                  </a:extLst>
                </a:hlinkClick>
              </a:rPr>
              <a:t>monopólio</a:t>
            </a:r>
            <a:r>
              <a:rPr lang="pt-BR" sz="1000" b="1" dirty="0">
                <a:solidFill>
                  <a:schemeClr val="accent1"/>
                </a:solidFill>
                <a:latin typeface="Arial" panose="020B0604020202020204" pitchFamily="34" charset="0"/>
              </a:rPr>
              <a:t> do comércio com as “Índias orientais” por um período de 15 anos</a:t>
            </a:r>
            <a:r>
              <a:rPr lang="pt-BR" sz="1000" dirty="0">
                <a:solidFill>
                  <a:srgbClr val="202122"/>
                </a:solidFill>
                <a:latin typeface="Arial" panose="020B0604020202020204" pitchFamily="34" charset="0"/>
              </a:rPr>
              <a:t>.</a:t>
            </a:r>
            <a:endParaRPr lang="pt-BR" sz="1000" dirty="0"/>
          </a:p>
        </p:txBody>
      </p:sp>
      <p:sp>
        <p:nvSpPr>
          <p:cNvPr id="10" name="Retângulo 9">
            <a:extLst>
              <a:ext uri="{FF2B5EF4-FFF2-40B4-BE49-F238E27FC236}">
                <a16:creationId xmlns:a16="http://schemas.microsoft.com/office/drawing/2014/main" id="{35577DC8-5E72-41E5-B88F-06AB2B895E80}"/>
              </a:ext>
            </a:extLst>
          </p:cNvPr>
          <p:cNvSpPr/>
          <p:nvPr/>
        </p:nvSpPr>
        <p:spPr>
          <a:xfrm>
            <a:off x="9941717" y="6429383"/>
            <a:ext cx="1990725" cy="338554"/>
          </a:xfrm>
          <a:prstGeom prst="rect">
            <a:avLst/>
          </a:prstGeom>
        </p:spPr>
        <p:txBody>
          <a:bodyPr wrap="square">
            <a:spAutoFit/>
          </a:bodyPr>
          <a:lstStyle/>
          <a:p>
            <a:r>
              <a:rPr lang="pt-BR" sz="800" dirty="0">
                <a:solidFill>
                  <a:srgbClr val="0B0080"/>
                </a:solidFill>
                <a:latin typeface="Arial" panose="020B0604020202020204" pitchFamily="34" charset="0"/>
                <a:hlinkClick r:id="rId9" tooltip="East India House"/>
              </a:rPr>
              <a:t>East </a:t>
            </a:r>
            <a:r>
              <a:rPr lang="pt-BR" sz="800" dirty="0" err="1">
                <a:solidFill>
                  <a:srgbClr val="0B0080"/>
                </a:solidFill>
                <a:latin typeface="Arial" panose="020B0604020202020204" pitchFamily="34" charset="0"/>
                <a:hlinkClick r:id="rId9" tooltip="East India House"/>
              </a:rPr>
              <a:t>India</a:t>
            </a:r>
            <a:r>
              <a:rPr lang="pt-BR" sz="800" dirty="0">
                <a:solidFill>
                  <a:srgbClr val="0B0080"/>
                </a:solidFill>
                <a:latin typeface="Arial" panose="020B0604020202020204" pitchFamily="34" charset="0"/>
                <a:hlinkClick r:id="rId9" tooltip="East India House"/>
              </a:rPr>
              <a:t> </a:t>
            </a:r>
            <a:r>
              <a:rPr lang="pt-BR" sz="800" dirty="0" err="1">
                <a:solidFill>
                  <a:srgbClr val="0B0080"/>
                </a:solidFill>
                <a:latin typeface="Arial" panose="020B0604020202020204" pitchFamily="34" charset="0"/>
                <a:hlinkClick r:id="rId9" tooltip="East India House"/>
              </a:rPr>
              <a:t>House</a:t>
            </a:r>
            <a:r>
              <a:rPr lang="pt-BR" sz="800" dirty="0">
                <a:solidFill>
                  <a:srgbClr val="202122"/>
                </a:solidFill>
                <a:latin typeface="Arial" panose="020B0604020202020204" pitchFamily="34" charset="0"/>
              </a:rPr>
              <a:t>, Londres, pintado por </a:t>
            </a:r>
            <a:r>
              <a:rPr lang="pt-BR" sz="800" dirty="0">
                <a:solidFill>
                  <a:srgbClr val="0B0080"/>
                </a:solidFill>
                <a:latin typeface="Arial" panose="020B0604020202020204" pitchFamily="34" charset="0"/>
                <a:hlinkClick r:id="rId10" tooltip="Thomas Malton"/>
              </a:rPr>
              <a:t>Thomas </a:t>
            </a:r>
            <a:r>
              <a:rPr lang="pt-BR" sz="800" dirty="0" err="1">
                <a:solidFill>
                  <a:srgbClr val="0B0080"/>
                </a:solidFill>
                <a:latin typeface="Arial" panose="020B0604020202020204" pitchFamily="34" charset="0"/>
                <a:hlinkClick r:id="rId10" tooltip="Thomas Malton"/>
              </a:rPr>
              <a:t>Malton</a:t>
            </a:r>
            <a:r>
              <a:rPr lang="pt-BR" sz="800" dirty="0">
                <a:solidFill>
                  <a:srgbClr val="202122"/>
                </a:solidFill>
                <a:latin typeface="Arial" panose="020B0604020202020204" pitchFamily="34" charset="0"/>
              </a:rPr>
              <a:t> in c.1800</a:t>
            </a:r>
            <a:endParaRPr lang="pt-BR" sz="800" dirty="0"/>
          </a:p>
        </p:txBody>
      </p:sp>
      <p:sp>
        <p:nvSpPr>
          <p:cNvPr id="11" name="Retângulo 10">
            <a:extLst>
              <a:ext uri="{FF2B5EF4-FFF2-40B4-BE49-F238E27FC236}">
                <a16:creationId xmlns:a16="http://schemas.microsoft.com/office/drawing/2014/main" id="{5310C022-6DCF-401F-BDC5-F9CBE7178F4E}"/>
              </a:ext>
            </a:extLst>
          </p:cNvPr>
          <p:cNvSpPr/>
          <p:nvPr/>
        </p:nvSpPr>
        <p:spPr>
          <a:xfrm>
            <a:off x="1238506" y="6094699"/>
            <a:ext cx="5686172" cy="369332"/>
          </a:xfrm>
          <a:prstGeom prst="rect">
            <a:avLst/>
          </a:prstGeom>
        </p:spPr>
        <p:txBody>
          <a:bodyPr wrap="none">
            <a:spAutoFit/>
          </a:bodyPr>
          <a:lstStyle/>
          <a:p>
            <a:r>
              <a:rPr lang="pt-BR" dirty="0">
                <a:solidFill>
                  <a:srgbClr val="FF0000"/>
                </a:solidFill>
                <a:latin typeface="Arial Black" panose="020B0A04020102020204" pitchFamily="34" charset="0"/>
              </a:rPr>
              <a:t>A Companhia Britânica das Índias Orientais</a:t>
            </a:r>
          </a:p>
        </p:txBody>
      </p:sp>
      <p:cxnSp>
        <p:nvCxnSpPr>
          <p:cNvPr id="13" name="Conector de Seta Reta 12">
            <a:extLst>
              <a:ext uri="{FF2B5EF4-FFF2-40B4-BE49-F238E27FC236}">
                <a16:creationId xmlns:a16="http://schemas.microsoft.com/office/drawing/2014/main" id="{5FFC3B16-B9CA-45FD-8540-348B0E70337C}"/>
              </a:ext>
            </a:extLst>
          </p:cNvPr>
          <p:cNvCxnSpPr/>
          <p:nvPr/>
        </p:nvCxnSpPr>
        <p:spPr>
          <a:xfrm flipV="1">
            <a:off x="7077075" y="6094699"/>
            <a:ext cx="285749" cy="106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E52D9685-429D-4E93-AC70-4D184DF3485F}"/>
              </a:ext>
            </a:extLst>
          </p:cNvPr>
          <p:cNvCxnSpPr>
            <a:cxnSpLocks/>
          </p:cNvCxnSpPr>
          <p:nvPr/>
        </p:nvCxnSpPr>
        <p:spPr>
          <a:xfrm>
            <a:off x="9333306" y="5570407"/>
            <a:ext cx="2774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Seta: Curva para a Esquerda 16">
            <a:extLst>
              <a:ext uri="{FF2B5EF4-FFF2-40B4-BE49-F238E27FC236}">
                <a16:creationId xmlns:a16="http://schemas.microsoft.com/office/drawing/2014/main" id="{CB502DE9-05EC-4119-8A41-ABE6B9D79F01}"/>
              </a:ext>
            </a:extLst>
          </p:cNvPr>
          <p:cNvSpPr/>
          <p:nvPr/>
        </p:nvSpPr>
        <p:spPr>
          <a:xfrm>
            <a:off x="11420474" y="2124277"/>
            <a:ext cx="664367" cy="239077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Tree>
    <p:extLst>
      <p:ext uri="{BB962C8B-B14F-4D97-AF65-F5344CB8AC3E}">
        <p14:creationId xmlns:p14="http://schemas.microsoft.com/office/powerpoint/2010/main" val="4268689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DB6B6AE-715A-43BF-9DE8-583D9FBD37DF}"/>
              </a:ext>
            </a:extLst>
          </p:cNvPr>
          <p:cNvSpPr txBox="1"/>
          <p:nvPr/>
        </p:nvSpPr>
        <p:spPr>
          <a:xfrm>
            <a:off x="55522" y="569447"/>
            <a:ext cx="4341850" cy="1200329"/>
          </a:xfrm>
          <a:prstGeom prst="rect">
            <a:avLst/>
          </a:prstGeom>
          <a:noFill/>
        </p:spPr>
        <p:txBody>
          <a:bodyPr wrap="square" rtlCol="0">
            <a:spAutoFit/>
          </a:bodyPr>
          <a:lstStyle/>
          <a:p>
            <a:r>
              <a:rPr lang="pt-BR" dirty="0"/>
              <a:t>Os interesses dessa Companhia são orientados  uma  lógica exclusivamente mercantilista ( feitorias/ tratados comerciais) durante os séculos XVII e XXVIII...</a:t>
            </a:r>
          </a:p>
        </p:txBody>
      </p:sp>
      <p:sp>
        <p:nvSpPr>
          <p:cNvPr id="3" name="CaixaDeTexto 2">
            <a:extLst>
              <a:ext uri="{FF2B5EF4-FFF2-40B4-BE49-F238E27FC236}">
                <a16:creationId xmlns:a16="http://schemas.microsoft.com/office/drawing/2014/main" id="{494ED42A-EC6F-4E5D-99E5-5F5BD771E664}"/>
              </a:ext>
            </a:extLst>
          </p:cNvPr>
          <p:cNvSpPr txBox="1"/>
          <p:nvPr/>
        </p:nvSpPr>
        <p:spPr>
          <a:xfrm>
            <a:off x="55519" y="1869812"/>
            <a:ext cx="5173705" cy="1477328"/>
          </a:xfrm>
          <a:prstGeom prst="rect">
            <a:avLst/>
          </a:prstGeom>
          <a:noFill/>
        </p:spPr>
        <p:txBody>
          <a:bodyPr wrap="square" rtlCol="0">
            <a:spAutoFit/>
          </a:bodyPr>
          <a:lstStyle/>
          <a:p>
            <a:r>
              <a:rPr lang="pt-BR" dirty="0"/>
              <a:t>...passam a ser orientados por uma lógica determinada  pelo capitalismo industrial ( aquisição de terras para a produção de matérias- primas, investimentos em infraestrutura, como meios de transporte e portos, </a:t>
            </a:r>
            <a:r>
              <a:rPr lang="pt-BR" dirty="0" err="1"/>
              <a:t>etc</a:t>
            </a:r>
            <a:r>
              <a:rPr lang="pt-BR" dirty="0"/>
              <a:t> ). </a:t>
            </a:r>
          </a:p>
        </p:txBody>
      </p:sp>
      <p:sp>
        <p:nvSpPr>
          <p:cNvPr id="4" name="CaixaDeTexto 3">
            <a:extLst>
              <a:ext uri="{FF2B5EF4-FFF2-40B4-BE49-F238E27FC236}">
                <a16:creationId xmlns:a16="http://schemas.microsoft.com/office/drawing/2014/main" id="{AFCFC153-A552-4BDA-8A61-A18731A18DE7}"/>
              </a:ext>
            </a:extLst>
          </p:cNvPr>
          <p:cNvSpPr txBox="1"/>
          <p:nvPr/>
        </p:nvSpPr>
        <p:spPr>
          <a:xfrm>
            <a:off x="-19460" y="5879312"/>
            <a:ext cx="4263268" cy="923330"/>
          </a:xfrm>
          <a:prstGeom prst="rect">
            <a:avLst/>
          </a:prstGeom>
          <a:noFill/>
        </p:spPr>
        <p:txBody>
          <a:bodyPr wrap="square" rtlCol="0">
            <a:spAutoFit/>
          </a:bodyPr>
          <a:lstStyle/>
          <a:p>
            <a:r>
              <a:rPr lang="pt-BR" dirty="0"/>
              <a:t>Nesse processo, nativos indianos são incorporados como soldados da empresa (os chamados “Sipaios”)</a:t>
            </a:r>
          </a:p>
        </p:txBody>
      </p:sp>
      <p:sp>
        <p:nvSpPr>
          <p:cNvPr id="5" name="CaixaDeTexto 4">
            <a:extLst>
              <a:ext uri="{FF2B5EF4-FFF2-40B4-BE49-F238E27FC236}">
                <a16:creationId xmlns:a16="http://schemas.microsoft.com/office/drawing/2014/main" id="{2B18A74D-4138-4C6E-BF0A-E62A45EB6B45}"/>
              </a:ext>
            </a:extLst>
          </p:cNvPr>
          <p:cNvSpPr txBox="1"/>
          <p:nvPr/>
        </p:nvSpPr>
        <p:spPr>
          <a:xfrm>
            <a:off x="8512489" y="2752364"/>
            <a:ext cx="3679511" cy="923330"/>
          </a:xfrm>
          <a:prstGeom prst="rect">
            <a:avLst/>
          </a:prstGeom>
          <a:noFill/>
        </p:spPr>
        <p:txBody>
          <a:bodyPr wrap="square" rtlCol="0">
            <a:spAutoFit/>
          </a:bodyPr>
          <a:lstStyle/>
          <a:p>
            <a:r>
              <a:rPr lang="pt-BR" b="1" dirty="0">
                <a:solidFill>
                  <a:schemeClr val="accent1">
                    <a:lumMod val="50000"/>
                  </a:schemeClr>
                </a:solidFill>
              </a:rPr>
              <a:t>O sistema de castas e a religiosidade hindu ( reencarnação/hierarquia social/carma/</a:t>
            </a:r>
            <a:r>
              <a:rPr lang="pt-BR" b="1" dirty="0" err="1">
                <a:solidFill>
                  <a:schemeClr val="accent1">
                    <a:lumMod val="50000"/>
                  </a:schemeClr>
                </a:solidFill>
              </a:rPr>
              <a:t>etc</a:t>
            </a:r>
            <a:r>
              <a:rPr lang="pt-BR" b="1" dirty="0">
                <a:solidFill>
                  <a:schemeClr val="accent1">
                    <a:lumMod val="50000"/>
                  </a:schemeClr>
                </a:solidFill>
              </a:rPr>
              <a:t>)...</a:t>
            </a:r>
          </a:p>
        </p:txBody>
      </p:sp>
      <p:sp>
        <p:nvSpPr>
          <p:cNvPr id="6" name="CaixaDeTexto 5">
            <a:extLst>
              <a:ext uri="{FF2B5EF4-FFF2-40B4-BE49-F238E27FC236}">
                <a16:creationId xmlns:a16="http://schemas.microsoft.com/office/drawing/2014/main" id="{76FAF3C4-956B-460E-A03A-F44E9BEE99CC}"/>
              </a:ext>
            </a:extLst>
          </p:cNvPr>
          <p:cNvSpPr txBox="1"/>
          <p:nvPr/>
        </p:nvSpPr>
        <p:spPr>
          <a:xfrm>
            <a:off x="8554940" y="3675694"/>
            <a:ext cx="3709388" cy="2862322"/>
          </a:xfrm>
          <a:prstGeom prst="rect">
            <a:avLst/>
          </a:prstGeom>
          <a:noFill/>
        </p:spPr>
        <p:txBody>
          <a:bodyPr wrap="square" rtlCol="0">
            <a:spAutoFit/>
          </a:bodyPr>
          <a:lstStyle/>
          <a:p>
            <a:r>
              <a:rPr lang="pt-BR" dirty="0"/>
              <a:t>... </a:t>
            </a:r>
            <a:r>
              <a:rPr lang="pt-BR" b="1" dirty="0">
                <a:solidFill>
                  <a:schemeClr val="accent1">
                    <a:lumMod val="50000"/>
                  </a:schemeClr>
                </a:solidFill>
              </a:rPr>
              <a:t>podem ,segundo alguns, ter tido algum papel auxiliar na “aceitação” da presença do britânico dentro dessa sociedade e economia... As alianças com autoridades locais religiosas e políticas, o compartilhamento de decisões e governo, etc...encaminharão a Índia para a condição de “Protetorado Inglês”</a:t>
            </a:r>
          </a:p>
        </p:txBody>
      </p:sp>
      <p:pic>
        <p:nvPicPr>
          <p:cNvPr id="2050" name="Picture 2" descr="Império Britânico: o que não está nos livros didáticos">
            <a:extLst>
              <a:ext uri="{FF2B5EF4-FFF2-40B4-BE49-F238E27FC236}">
                <a16:creationId xmlns:a16="http://schemas.microsoft.com/office/drawing/2014/main" id="{1CA2972D-761A-4A64-8278-C01385BA7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1370" y="277689"/>
            <a:ext cx="3356883" cy="203314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specto da vida cotidiana dos funcionários britânicos na Índia, em 1902">
            <a:extLst>
              <a:ext uri="{FF2B5EF4-FFF2-40B4-BE49-F238E27FC236}">
                <a16:creationId xmlns:a16="http://schemas.microsoft.com/office/drawing/2014/main" id="{756A7132-3AC5-4218-A21A-0190AE180F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3747" y="3347140"/>
            <a:ext cx="4484506" cy="2783241"/>
          </a:xfrm>
          <a:prstGeom prst="rect">
            <a:avLst/>
          </a:prstGeom>
          <a:noFill/>
          <a:extLst>
            <a:ext uri="{909E8E84-426E-40DD-AFC4-6F175D3DCCD1}">
              <a14:hiddenFill xmlns:a14="http://schemas.microsoft.com/office/drawing/2010/main">
                <a:solidFill>
                  <a:srgbClr val="FFFFFF"/>
                </a:solidFill>
              </a14:hiddenFill>
            </a:ext>
          </a:extLst>
        </p:spPr>
      </p:pic>
      <p:sp>
        <p:nvSpPr>
          <p:cNvPr id="7" name="Retângulo 6">
            <a:extLst>
              <a:ext uri="{FF2B5EF4-FFF2-40B4-BE49-F238E27FC236}">
                <a16:creationId xmlns:a16="http://schemas.microsoft.com/office/drawing/2014/main" id="{0427DC26-43B2-4689-969D-ADBFB97C5D8D}"/>
              </a:ext>
            </a:extLst>
          </p:cNvPr>
          <p:cNvSpPr/>
          <p:nvPr/>
        </p:nvSpPr>
        <p:spPr>
          <a:xfrm>
            <a:off x="4291673" y="6218267"/>
            <a:ext cx="4263267" cy="400110"/>
          </a:xfrm>
          <a:prstGeom prst="rect">
            <a:avLst/>
          </a:prstGeom>
        </p:spPr>
        <p:txBody>
          <a:bodyPr wrap="square">
            <a:spAutoFit/>
          </a:bodyPr>
          <a:lstStyle/>
          <a:p>
            <a:r>
              <a:rPr lang="pt-BR" sz="1000" dirty="0">
                <a:hlinkClick r:id="rId4"/>
              </a:rPr>
              <a:t>https://www.todamateria.com.br/imperialismo-na-asia/</a:t>
            </a:r>
            <a:r>
              <a:rPr lang="pt-BR" sz="1000" dirty="0">
                <a:solidFill>
                  <a:srgbClr val="757575"/>
                </a:solidFill>
                <a:latin typeface="OpenSans"/>
              </a:rPr>
              <a:t>Aspecto da vida cotidiana dos funcionários britânicos na Índia, em 1902</a:t>
            </a:r>
            <a:endParaRPr lang="pt-BR" sz="1000" dirty="0"/>
          </a:p>
        </p:txBody>
      </p:sp>
      <p:pic>
        <p:nvPicPr>
          <p:cNvPr id="2054" name="Picture 6">
            <a:extLst>
              <a:ext uri="{FF2B5EF4-FFF2-40B4-BE49-F238E27FC236}">
                <a16:creationId xmlns:a16="http://schemas.microsoft.com/office/drawing/2014/main" id="{454DCA30-C11E-48D0-83F8-6706E4A630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393" y="3447176"/>
            <a:ext cx="2857500" cy="2190750"/>
          </a:xfrm>
          <a:prstGeom prst="rect">
            <a:avLst/>
          </a:prstGeom>
          <a:noFill/>
          <a:extLst>
            <a:ext uri="{909E8E84-426E-40DD-AFC4-6F175D3DCCD1}">
              <a14:hiddenFill xmlns:a14="http://schemas.microsoft.com/office/drawing/2010/main">
                <a:solidFill>
                  <a:srgbClr val="FFFFFF"/>
                </a:solidFill>
              </a14:hiddenFill>
            </a:ext>
          </a:extLst>
        </p:spPr>
      </p:pic>
      <p:sp>
        <p:nvSpPr>
          <p:cNvPr id="8" name="Retângulo 7">
            <a:extLst>
              <a:ext uri="{FF2B5EF4-FFF2-40B4-BE49-F238E27FC236}">
                <a16:creationId xmlns:a16="http://schemas.microsoft.com/office/drawing/2014/main" id="{5F421657-8438-46AC-963D-C790EDD9BAAC}"/>
              </a:ext>
            </a:extLst>
          </p:cNvPr>
          <p:cNvSpPr/>
          <p:nvPr/>
        </p:nvSpPr>
        <p:spPr>
          <a:xfrm>
            <a:off x="341565" y="5635924"/>
            <a:ext cx="4533319" cy="246221"/>
          </a:xfrm>
          <a:prstGeom prst="rect">
            <a:avLst/>
          </a:prstGeom>
        </p:spPr>
        <p:txBody>
          <a:bodyPr wrap="square">
            <a:spAutoFit/>
          </a:bodyPr>
          <a:lstStyle/>
          <a:p>
            <a:r>
              <a:rPr lang="pt-BR" sz="1000" dirty="0">
                <a:hlinkClick r:id="rId6"/>
              </a:rPr>
              <a:t>https://pt.wikipedia.org/wiki/Ex%C3%A9rcito_de_Madras</a:t>
            </a:r>
            <a:endParaRPr lang="pt-BR" sz="1000" dirty="0"/>
          </a:p>
        </p:txBody>
      </p:sp>
      <p:pic>
        <p:nvPicPr>
          <p:cNvPr id="2056" name="Picture 8" descr="Serviçal hindu serve chá a uma senhora britânica, início do século XX.">
            <a:extLst>
              <a:ext uri="{FF2B5EF4-FFF2-40B4-BE49-F238E27FC236}">
                <a16:creationId xmlns:a16="http://schemas.microsoft.com/office/drawing/2014/main" id="{009C8643-7B81-4315-B2F4-23FE65A0D8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03875" y="60980"/>
            <a:ext cx="3446560" cy="2569602"/>
          </a:xfrm>
          <a:prstGeom prst="rect">
            <a:avLst/>
          </a:prstGeom>
          <a:noFill/>
          <a:extLst>
            <a:ext uri="{909E8E84-426E-40DD-AFC4-6F175D3DCCD1}">
              <a14:hiddenFill xmlns:a14="http://schemas.microsoft.com/office/drawing/2010/main">
                <a:solidFill>
                  <a:srgbClr val="FFFFFF"/>
                </a:solidFill>
              </a14:hiddenFill>
            </a:ext>
          </a:extLst>
        </p:spPr>
      </p:pic>
      <p:sp>
        <p:nvSpPr>
          <p:cNvPr id="9" name="Retângulo 8">
            <a:extLst>
              <a:ext uri="{FF2B5EF4-FFF2-40B4-BE49-F238E27FC236}">
                <a16:creationId xmlns:a16="http://schemas.microsoft.com/office/drawing/2014/main" id="{77F84E57-F4F6-42B8-8FB3-8C090D6E3483}"/>
              </a:ext>
            </a:extLst>
          </p:cNvPr>
          <p:cNvSpPr/>
          <p:nvPr/>
        </p:nvSpPr>
        <p:spPr>
          <a:xfrm>
            <a:off x="5346986" y="2299727"/>
            <a:ext cx="2873505" cy="784830"/>
          </a:xfrm>
          <a:prstGeom prst="rect">
            <a:avLst/>
          </a:prstGeom>
        </p:spPr>
        <p:txBody>
          <a:bodyPr wrap="square">
            <a:spAutoFit/>
          </a:bodyPr>
          <a:lstStyle/>
          <a:p>
            <a:r>
              <a:rPr lang="pt-BR" sz="900" dirty="0">
                <a:solidFill>
                  <a:srgbClr val="000000"/>
                </a:solidFill>
                <a:latin typeface="Oxygen"/>
              </a:rPr>
              <a:t>Serviçal hindu serve chá a uma senhora britânica, início do século XX. https://ensinarhistoriajoelza.com.br/imperio-britanico-livros-didaticos/ - Blog: Ensinar História - </a:t>
            </a:r>
            <a:r>
              <a:rPr lang="pt-BR" sz="900" dirty="0" err="1">
                <a:solidFill>
                  <a:srgbClr val="000000"/>
                </a:solidFill>
                <a:latin typeface="Oxygen"/>
              </a:rPr>
              <a:t>Joelza</a:t>
            </a:r>
            <a:r>
              <a:rPr lang="pt-BR" sz="900" dirty="0">
                <a:solidFill>
                  <a:srgbClr val="000000"/>
                </a:solidFill>
                <a:latin typeface="Oxygen"/>
              </a:rPr>
              <a:t> Ester Domingues</a:t>
            </a:r>
            <a:endParaRPr lang="pt-BR" sz="900" dirty="0"/>
          </a:p>
        </p:txBody>
      </p:sp>
    </p:spTree>
    <p:extLst>
      <p:ext uri="{BB962C8B-B14F-4D97-AF65-F5344CB8AC3E}">
        <p14:creationId xmlns:p14="http://schemas.microsoft.com/office/powerpoint/2010/main" val="2205979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9EEBF66-58C3-46F9-8F65-EDF0209D2257}"/>
              </a:ext>
            </a:extLst>
          </p:cNvPr>
          <p:cNvSpPr txBox="1"/>
          <p:nvPr/>
        </p:nvSpPr>
        <p:spPr>
          <a:xfrm>
            <a:off x="1028700" y="456089"/>
            <a:ext cx="3834611" cy="646331"/>
          </a:xfrm>
          <a:prstGeom prst="rect">
            <a:avLst/>
          </a:prstGeom>
          <a:noFill/>
        </p:spPr>
        <p:txBody>
          <a:bodyPr wrap="square" rtlCol="0">
            <a:spAutoFit/>
          </a:bodyPr>
          <a:lstStyle/>
          <a:p>
            <a:r>
              <a:rPr lang="pt-BR" b="1" dirty="0">
                <a:solidFill>
                  <a:srgbClr val="FF0000"/>
                </a:solidFill>
                <a:latin typeface="Arial Black" panose="020B0A04020102020204" pitchFamily="34" charset="0"/>
              </a:rPr>
              <a:t>Um atrito cultural que vira uma revolta política</a:t>
            </a:r>
          </a:p>
        </p:txBody>
      </p:sp>
      <p:sp>
        <p:nvSpPr>
          <p:cNvPr id="3" name="CaixaDeTexto 2">
            <a:extLst>
              <a:ext uri="{FF2B5EF4-FFF2-40B4-BE49-F238E27FC236}">
                <a16:creationId xmlns:a16="http://schemas.microsoft.com/office/drawing/2014/main" id="{179F1E37-0E4D-4BAA-B16A-2EDB9E5FDBA4}"/>
              </a:ext>
            </a:extLst>
          </p:cNvPr>
          <p:cNvSpPr txBox="1"/>
          <p:nvPr/>
        </p:nvSpPr>
        <p:spPr>
          <a:xfrm>
            <a:off x="4702324" y="1080662"/>
            <a:ext cx="1804187" cy="1015663"/>
          </a:xfrm>
          <a:prstGeom prst="rect">
            <a:avLst/>
          </a:prstGeom>
          <a:noFill/>
        </p:spPr>
        <p:txBody>
          <a:bodyPr wrap="square" rtlCol="0">
            <a:spAutoFit/>
          </a:bodyPr>
          <a:lstStyle/>
          <a:p>
            <a:r>
              <a:rPr lang="pt-BR" sz="2000" b="1" dirty="0">
                <a:solidFill>
                  <a:srgbClr val="0070C0"/>
                </a:solidFill>
                <a:latin typeface="Arial Black" panose="020B0A04020102020204" pitchFamily="34" charset="0"/>
              </a:rPr>
              <a:t>A Revolta dos Sipaios – 1857/59</a:t>
            </a:r>
          </a:p>
        </p:txBody>
      </p:sp>
      <p:pic>
        <p:nvPicPr>
          <p:cNvPr id="6" name="Picture 4" descr="Indian Mutiny, Lieutenant de Kantzow calming sepoys : Ilustração de stock">
            <a:extLst>
              <a:ext uri="{FF2B5EF4-FFF2-40B4-BE49-F238E27FC236}">
                <a16:creationId xmlns:a16="http://schemas.microsoft.com/office/drawing/2014/main" id="{56E89B27-A638-4E5C-A091-A496822781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58" t="9065" r="4395" b="9096"/>
          <a:stretch/>
        </p:blipFill>
        <p:spPr bwMode="auto">
          <a:xfrm>
            <a:off x="445831" y="1186944"/>
            <a:ext cx="3388013" cy="2405490"/>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a:extLst>
              <a:ext uri="{FF2B5EF4-FFF2-40B4-BE49-F238E27FC236}">
                <a16:creationId xmlns:a16="http://schemas.microsoft.com/office/drawing/2014/main" id="{18E770EA-EC19-476A-8DD2-6235F35BDE77}"/>
              </a:ext>
            </a:extLst>
          </p:cNvPr>
          <p:cNvSpPr/>
          <p:nvPr/>
        </p:nvSpPr>
        <p:spPr>
          <a:xfrm>
            <a:off x="445831" y="3676958"/>
            <a:ext cx="3440369" cy="507831"/>
          </a:xfrm>
          <a:prstGeom prst="rect">
            <a:avLst/>
          </a:prstGeom>
        </p:spPr>
        <p:txBody>
          <a:bodyPr wrap="square">
            <a:spAutoFit/>
          </a:bodyPr>
          <a:lstStyle/>
          <a:p>
            <a:r>
              <a:rPr lang="pt-BR" sz="900" dirty="0">
                <a:hlinkClick r:id="rId3"/>
              </a:rPr>
              <a:t>https://www.gettyimages.pt/detail/ilustra%C3%A7%C3%A3o/indian-mutiny-lieutenant-de-kantzow-calming-ilustra%C3%A7%C3%A3o-royalty-free/906323012?adppopup=true</a:t>
            </a:r>
            <a:endParaRPr lang="pt-BR" sz="900" dirty="0"/>
          </a:p>
        </p:txBody>
      </p:sp>
      <p:pic>
        <p:nvPicPr>
          <p:cNvPr id="8" name="Picture 2" descr="Highlanders : Ilustração de stock">
            <a:extLst>
              <a:ext uri="{FF2B5EF4-FFF2-40B4-BE49-F238E27FC236}">
                <a16:creationId xmlns:a16="http://schemas.microsoft.com/office/drawing/2014/main" id="{1AB1A69E-66AD-41AD-B184-9BB0513383D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758" t="4728" r="7208" b="13025"/>
          <a:stretch/>
        </p:blipFill>
        <p:spPr bwMode="auto">
          <a:xfrm>
            <a:off x="6353175" y="2389689"/>
            <a:ext cx="4895850" cy="3158386"/>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A5301F84-5098-4A56-981D-EADE21047E05}"/>
              </a:ext>
            </a:extLst>
          </p:cNvPr>
          <p:cNvSpPr/>
          <p:nvPr/>
        </p:nvSpPr>
        <p:spPr>
          <a:xfrm>
            <a:off x="6353175" y="5824830"/>
            <a:ext cx="5153025" cy="507831"/>
          </a:xfrm>
          <a:prstGeom prst="rect">
            <a:avLst/>
          </a:prstGeom>
        </p:spPr>
        <p:txBody>
          <a:bodyPr wrap="square">
            <a:spAutoFit/>
          </a:bodyPr>
          <a:lstStyle/>
          <a:p>
            <a:r>
              <a:rPr lang="pt-BR" sz="900" dirty="0"/>
              <a:t>"</a:t>
            </a:r>
            <a:r>
              <a:rPr lang="pt-BR" sz="900" dirty="0" err="1"/>
              <a:t>Outlying</a:t>
            </a:r>
            <a:r>
              <a:rPr lang="pt-BR" sz="900" dirty="0"/>
              <a:t> </a:t>
            </a:r>
            <a:r>
              <a:rPr lang="pt-BR" sz="900" dirty="0" err="1"/>
              <a:t>picket</a:t>
            </a:r>
            <a:r>
              <a:rPr lang="pt-BR" sz="900" dirty="0"/>
              <a:t> </a:t>
            </a:r>
            <a:r>
              <a:rPr lang="pt-BR" sz="900" dirty="0" err="1"/>
              <a:t>of</a:t>
            </a:r>
            <a:r>
              <a:rPr lang="pt-BR" sz="900" dirty="0"/>
              <a:t> </a:t>
            </a:r>
            <a:r>
              <a:rPr lang="pt-BR" sz="900" dirty="0" err="1"/>
              <a:t>the</a:t>
            </a:r>
            <a:r>
              <a:rPr lang="pt-BR" sz="900" dirty="0"/>
              <a:t> </a:t>
            </a:r>
            <a:r>
              <a:rPr lang="pt-BR" sz="900" dirty="0" err="1"/>
              <a:t>Higland</a:t>
            </a:r>
            <a:r>
              <a:rPr lang="pt-BR" sz="900" dirty="0"/>
              <a:t> </a:t>
            </a:r>
            <a:r>
              <a:rPr lang="pt-BR" sz="900" dirty="0" err="1"/>
              <a:t>Brigade</a:t>
            </a:r>
            <a:r>
              <a:rPr lang="pt-BR" sz="900" dirty="0"/>
              <a:t> </a:t>
            </a:r>
            <a:r>
              <a:rPr lang="pt-BR" sz="900" dirty="0" err="1"/>
              <a:t>at</a:t>
            </a:r>
            <a:r>
              <a:rPr lang="pt-BR" sz="900" dirty="0"/>
              <a:t> </a:t>
            </a:r>
            <a:r>
              <a:rPr lang="pt-BR" sz="900" dirty="0" err="1"/>
              <a:t>the</a:t>
            </a:r>
            <a:r>
              <a:rPr lang="pt-BR" sz="900" dirty="0"/>
              <a:t> time </a:t>
            </a:r>
            <a:r>
              <a:rPr lang="pt-BR" sz="900" dirty="0" err="1"/>
              <a:t>of</a:t>
            </a:r>
            <a:r>
              <a:rPr lang="pt-BR" sz="900" dirty="0"/>
              <a:t> </a:t>
            </a:r>
            <a:r>
              <a:rPr lang="pt-BR" sz="900" dirty="0" err="1"/>
              <a:t>the</a:t>
            </a:r>
            <a:r>
              <a:rPr lang="pt-BR" sz="900" dirty="0"/>
              <a:t> </a:t>
            </a:r>
            <a:r>
              <a:rPr lang="pt-BR" sz="900" dirty="0" err="1"/>
              <a:t>Indian</a:t>
            </a:r>
            <a:r>
              <a:rPr lang="pt-BR" sz="900" dirty="0"/>
              <a:t> </a:t>
            </a:r>
            <a:r>
              <a:rPr lang="pt-BR" sz="900" dirty="0" err="1"/>
              <a:t>Mutiny</a:t>
            </a:r>
            <a:r>
              <a:rPr lang="pt-BR" sz="900" dirty="0"/>
              <a:t> in 1857. British </a:t>
            </a:r>
            <a:r>
              <a:rPr lang="pt-BR" sz="900" dirty="0" err="1"/>
              <a:t>army</a:t>
            </a:r>
            <a:r>
              <a:rPr lang="pt-BR" sz="900" dirty="0"/>
              <a:t> </a:t>
            </a:r>
            <a:r>
              <a:rPr lang="pt-BR" sz="900" dirty="0" err="1"/>
              <a:t>camp</a:t>
            </a:r>
            <a:r>
              <a:rPr lang="pt-BR" sz="900" dirty="0"/>
              <a:t> </a:t>
            </a:r>
            <a:r>
              <a:rPr lang="pt-BR" sz="900" dirty="0" err="1"/>
              <a:t>of</a:t>
            </a:r>
            <a:r>
              <a:rPr lang="pt-BR" sz="900" dirty="0"/>
              <a:t> </a:t>
            </a:r>
            <a:r>
              <a:rPr lang="pt-BR" sz="900" dirty="0" err="1"/>
              <a:t>Scottish</a:t>
            </a:r>
            <a:r>
              <a:rPr lang="pt-BR" sz="900" dirty="0"/>
              <a:t> </a:t>
            </a:r>
            <a:r>
              <a:rPr lang="pt-BR" sz="900" dirty="0" err="1"/>
              <a:t>soldiers</a:t>
            </a:r>
            <a:r>
              <a:rPr lang="pt-BR" sz="900" dirty="0"/>
              <a:t>, in </a:t>
            </a:r>
            <a:r>
              <a:rPr lang="pt-BR" sz="900" dirty="0" err="1"/>
              <a:t>the</a:t>
            </a:r>
            <a:r>
              <a:rPr lang="pt-BR" sz="900" dirty="0"/>
              <a:t> background </a:t>
            </a:r>
            <a:r>
              <a:rPr lang="pt-BR" sz="900" dirty="0" err="1"/>
              <a:t>rebels</a:t>
            </a:r>
            <a:r>
              <a:rPr lang="pt-BR" sz="900" dirty="0"/>
              <a:t> </a:t>
            </a:r>
            <a:r>
              <a:rPr lang="pt-BR" sz="900" dirty="0" err="1"/>
              <a:t>can</a:t>
            </a:r>
            <a:r>
              <a:rPr lang="pt-BR" sz="900" dirty="0"/>
              <a:t> </a:t>
            </a:r>
            <a:r>
              <a:rPr lang="pt-BR" sz="900" dirty="0" err="1"/>
              <a:t>be</a:t>
            </a:r>
            <a:r>
              <a:rPr lang="pt-BR" sz="900" dirty="0"/>
              <a:t> </a:t>
            </a:r>
            <a:r>
              <a:rPr lang="pt-BR" sz="900" dirty="0" err="1"/>
              <a:t>seen</a:t>
            </a:r>
            <a:r>
              <a:rPr lang="pt-BR" sz="900" dirty="0"/>
              <a:t> </a:t>
            </a:r>
            <a:r>
              <a:rPr lang="pt-BR" sz="900" dirty="0" err="1"/>
              <a:t>hanging</a:t>
            </a:r>
            <a:r>
              <a:rPr lang="pt-BR" sz="900" dirty="0"/>
              <a:t> </a:t>
            </a:r>
            <a:r>
              <a:rPr lang="pt-BR" sz="900" dirty="0" err="1"/>
              <a:t>from</a:t>
            </a:r>
            <a:r>
              <a:rPr lang="pt-BR" sz="900" dirty="0"/>
              <a:t> a </a:t>
            </a:r>
            <a:r>
              <a:rPr lang="pt-BR" sz="900" dirty="0" err="1"/>
              <a:t>tree</a:t>
            </a:r>
            <a:r>
              <a:rPr lang="pt-BR" sz="900" dirty="0"/>
              <a:t>. </a:t>
            </a:r>
            <a:r>
              <a:rPr lang="pt-BR" sz="900" dirty="0" err="1"/>
              <a:t>Engraving</a:t>
            </a:r>
            <a:r>
              <a:rPr lang="pt-BR" sz="900" dirty="0"/>
              <a:t> </a:t>
            </a:r>
            <a:r>
              <a:rPr lang="pt-BR" sz="900" dirty="0" err="1"/>
              <a:t>from</a:t>
            </a:r>
            <a:r>
              <a:rPr lang="pt-BR" sz="900" dirty="0"/>
              <a:t> 1858, </a:t>
            </a:r>
            <a:r>
              <a:rPr lang="pt-BR" sz="900" dirty="0" err="1"/>
              <a:t>Engraver</a:t>
            </a:r>
            <a:r>
              <a:rPr lang="pt-BR" sz="900" dirty="0"/>
              <a:t> </a:t>
            </a:r>
            <a:r>
              <a:rPr lang="pt-BR" sz="900" dirty="0" err="1"/>
              <a:t>Unkown</a:t>
            </a:r>
            <a:r>
              <a:rPr lang="pt-BR" sz="900" dirty="0"/>
              <a:t> </a:t>
            </a:r>
            <a:r>
              <a:rPr lang="pt-BR" sz="900" dirty="0" err="1"/>
              <a:t>Photo</a:t>
            </a:r>
            <a:r>
              <a:rPr lang="pt-BR" sz="900" dirty="0"/>
              <a:t> </a:t>
            </a:r>
            <a:r>
              <a:rPr lang="pt-BR" sz="900" dirty="0" err="1"/>
              <a:t>by</a:t>
            </a:r>
            <a:r>
              <a:rPr lang="pt-BR" sz="900" dirty="0"/>
              <a:t> D Walker"</a:t>
            </a:r>
          </a:p>
        </p:txBody>
      </p:sp>
      <p:sp>
        <p:nvSpPr>
          <p:cNvPr id="7" name="CaixaDeTexto 6">
            <a:extLst>
              <a:ext uri="{FF2B5EF4-FFF2-40B4-BE49-F238E27FC236}">
                <a16:creationId xmlns:a16="http://schemas.microsoft.com/office/drawing/2014/main" id="{467049C8-EA5B-4A26-A90B-FB408EE249A8}"/>
              </a:ext>
            </a:extLst>
          </p:cNvPr>
          <p:cNvSpPr txBox="1"/>
          <p:nvPr/>
        </p:nvSpPr>
        <p:spPr>
          <a:xfrm>
            <a:off x="7374991" y="225257"/>
            <a:ext cx="4656928" cy="1754326"/>
          </a:xfrm>
          <a:prstGeom prst="rect">
            <a:avLst/>
          </a:prstGeom>
          <a:noFill/>
        </p:spPr>
        <p:txBody>
          <a:bodyPr wrap="square" rtlCol="0">
            <a:spAutoFit/>
          </a:bodyPr>
          <a:lstStyle/>
          <a:p>
            <a:r>
              <a:rPr lang="pt-BR" dirty="0"/>
              <a:t>A descoberta de que as armas utilizadas pela tropa eram lubrificadas com gordura animal ... e o descaso inglês em relação a esse “problema” para a cultura Hindu ...geram uma série de motins e rebeliões que colocam em risco o domínio da empresa britânica</a:t>
            </a:r>
          </a:p>
        </p:txBody>
      </p:sp>
      <p:pic>
        <p:nvPicPr>
          <p:cNvPr id="11" name="Picture 2" descr="Morte de Coronel Finnis em Meerut : Ilustração de stock">
            <a:extLst>
              <a:ext uri="{FF2B5EF4-FFF2-40B4-BE49-F238E27FC236}">
                <a16:creationId xmlns:a16="http://schemas.microsoft.com/office/drawing/2014/main" id="{AC02B2BB-5C3D-4B55-8D4A-E4FDCDEF10A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369" t="4445" r="10260" b="17638"/>
          <a:stretch/>
        </p:blipFill>
        <p:spPr bwMode="auto">
          <a:xfrm>
            <a:off x="1098447" y="4239116"/>
            <a:ext cx="3440369" cy="2144497"/>
          </a:xfrm>
          <a:prstGeom prst="rect">
            <a:avLst/>
          </a:prstGeom>
          <a:noFill/>
          <a:extLst>
            <a:ext uri="{909E8E84-426E-40DD-AFC4-6F175D3DCCD1}">
              <a14:hiddenFill xmlns:a14="http://schemas.microsoft.com/office/drawing/2010/main">
                <a:solidFill>
                  <a:srgbClr val="FFFFFF"/>
                </a:solidFill>
              </a14:hiddenFill>
            </a:ext>
          </a:extLst>
        </p:spPr>
      </p:pic>
      <p:sp>
        <p:nvSpPr>
          <p:cNvPr id="9" name="Retângulo 8">
            <a:extLst>
              <a:ext uri="{FF2B5EF4-FFF2-40B4-BE49-F238E27FC236}">
                <a16:creationId xmlns:a16="http://schemas.microsoft.com/office/drawing/2014/main" id="{CF6C760F-EF40-4C7F-9248-BC9CE582457C}"/>
              </a:ext>
            </a:extLst>
          </p:cNvPr>
          <p:cNvSpPr/>
          <p:nvPr/>
        </p:nvSpPr>
        <p:spPr>
          <a:xfrm>
            <a:off x="137651" y="6488668"/>
            <a:ext cx="6096000" cy="369332"/>
          </a:xfrm>
          <a:prstGeom prst="rect">
            <a:avLst/>
          </a:prstGeom>
        </p:spPr>
        <p:txBody>
          <a:bodyPr>
            <a:spAutoFit/>
          </a:bodyPr>
          <a:lstStyle/>
          <a:p>
            <a:r>
              <a:rPr lang="pt-BR" sz="900" dirty="0"/>
              <a:t>Morte de Coronel </a:t>
            </a:r>
            <a:r>
              <a:rPr lang="pt-BR" sz="900" dirty="0" err="1"/>
              <a:t>Finnis</a:t>
            </a:r>
            <a:r>
              <a:rPr lang="pt-BR" sz="900" dirty="0"/>
              <a:t> em </a:t>
            </a:r>
            <a:r>
              <a:rPr lang="pt-BR" sz="900" dirty="0" err="1"/>
              <a:t>Meerut</a:t>
            </a:r>
            <a:r>
              <a:rPr lang="pt-BR" sz="900" dirty="0"/>
              <a:t> - Ilustração de </a:t>
            </a:r>
            <a:r>
              <a:rPr lang="pt-BR" sz="900" dirty="0" err="1"/>
              <a:t>stock"Colonel</a:t>
            </a:r>
            <a:r>
              <a:rPr lang="pt-BR" sz="900" dirty="0"/>
              <a:t> </a:t>
            </a:r>
            <a:r>
              <a:rPr lang="pt-BR" sz="900" dirty="0" err="1"/>
              <a:t>Finnis</a:t>
            </a:r>
            <a:r>
              <a:rPr lang="pt-BR" sz="900" dirty="0"/>
              <a:t> </a:t>
            </a:r>
            <a:r>
              <a:rPr lang="pt-BR" sz="900" dirty="0" err="1"/>
              <a:t>of</a:t>
            </a:r>
            <a:r>
              <a:rPr lang="pt-BR" sz="900" dirty="0"/>
              <a:t> </a:t>
            </a:r>
            <a:r>
              <a:rPr lang="pt-BR" sz="900" dirty="0" err="1"/>
              <a:t>the</a:t>
            </a:r>
            <a:r>
              <a:rPr lang="pt-BR" sz="900" dirty="0"/>
              <a:t> 11th </a:t>
            </a:r>
            <a:r>
              <a:rPr lang="pt-BR" sz="900" dirty="0" err="1"/>
              <a:t>Native</a:t>
            </a:r>
            <a:r>
              <a:rPr lang="pt-BR" sz="900" dirty="0"/>
              <a:t> </a:t>
            </a:r>
            <a:r>
              <a:rPr lang="pt-BR" sz="900" dirty="0" err="1"/>
              <a:t>Infantry</a:t>
            </a:r>
            <a:r>
              <a:rPr lang="pt-BR" sz="900" dirty="0"/>
              <a:t> </a:t>
            </a:r>
            <a:r>
              <a:rPr lang="pt-BR" sz="900" dirty="0" err="1"/>
              <a:t>was</a:t>
            </a:r>
            <a:r>
              <a:rPr lang="pt-BR" sz="900" dirty="0"/>
              <a:t> </a:t>
            </a:r>
            <a:r>
              <a:rPr lang="pt-BR" sz="900" dirty="0" err="1"/>
              <a:t>killed</a:t>
            </a:r>
            <a:r>
              <a:rPr lang="pt-BR" sz="900" dirty="0"/>
              <a:t> </a:t>
            </a:r>
            <a:r>
              <a:rPr lang="pt-BR" sz="900" dirty="0" err="1"/>
              <a:t>at</a:t>
            </a:r>
            <a:r>
              <a:rPr lang="pt-BR" sz="900" dirty="0"/>
              <a:t> </a:t>
            </a:r>
            <a:r>
              <a:rPr lang="pt-BR" sz="900" dirty="0" err="1"/>
              <a:t>the</a:t>
            </a:r>
            <a:r>
              <a:rPr lang="pt-BR" sz="900" dirty="0"/>
              <a:t> </a:t>
            </a:r>
            <a:r>
              <a:rPr lang="pt-BR" sz="900" dirty="0" err="1"/>
              <a:t>outbreak</a:t>
            </a:r>
            <a:r>
              <a:rPr lang="pt-BR" sz="900" dirty="0"/>
              <a:t> </a:t>
            </a:r>
            <a:r>
              <a:rPr lang="pt-BR" sz="900" dirty="0" err="1"/>
              <a:t>of</a:t>
            </a:r>
            <a:r>
              <a:rPr lang="pt-BR" sz="900" dirty="0"/>
              <a:t> </a:t>
            </a:r>
            <a:r>
              <a:rPr lang="pt-BR" sz="900" dirty="0" err="1"/>
              <a:t>the</a:t>
            </a:r>
            <a:r>
              <a:rPr lang="pt-BR" sz="900" dirty="0"/>
              <a:t> </a:t>
            </a:r>
            <a:r>
              <a:rPr lang="pt-BR" sz="900" dirty="0" err="1"/>
              <a:t>Indian</a:t>
            </a:r>
            <a:r>
              <a:rPr lang="pt-BR" sz="900" dirty="0"/>
              <a:t> </a:t>
            </a:r>
            <a:r>
              <a:rPr lang="pt-BR" sz="900" dirty="0" err="1"/>
              <a:t>Mutiny</a:t>
            </a:r>
            <a:r>
              <a:rPr lang="pt-BR" sz="900" dirty="0"/>
              <a:t> in 1857, </a:t>
            </a:r>
            <a:r>
              <a:rPr lang="pt-BR" sz="900" dirty="0" err="1"/>
              <a:t>at</a:t>
            </a:r>
            <a:r>
              <a:rPr lang="pt-BR" sz="900" dirty="0"/>
              <a:t> </a:t>
            </a:r>
            <a:r>
              <a:rPr lang="pt-BR" sz="900" dirty="0" err="1"/>
              <a:t>Meerut</a:t>
            </a:r>
            <a:r>
              <a:rPr lang="pt-BR" sz="900" dirty="0"/>
              <a:t> </a:t>
            </a:r>
            <a:r>
              <a:rPr lang="pt-BR" sz="900" dirty="0" err="1"/>
              <a:t>India</a:t>
            </a:r>
            <a:r>
              <a:rPr lang="pt-BR" sz="900" dirty="0"/>
              <a:t>. </a:t>
            </a:r>
            <a:r>
              <a:rPr lang="pt-BR" sz="900" dirty="0" err="1"/>
              <a:t>Engraving</a:t>
            </a:r>
            <a:r>
              <a:rPr lang="pt-BR" sz="900" dirty="0"/>
              <a:t> </a:t>
            </a:r>
            <a:r>
              <a:rPr lang="pt-BR" sz="900" dirty="0" err="1"/>
              <a:t>from</a:t>
            </a:r>
            <a:r>
              <a:rPr lang="pt-BR" sz="900" dirty="0"/>
              <a:t> 1858, </a:t>
            </a:r>
            <a:r>
              <a:rPr lang="pt-BR" sz="900" dirty="0" err="1"/>
              <a:t>Engraver</a:t>
            </a:r>
            <a:r>
              <a:rPr lang="pt-BR" sz="900" dirty="0"/>
              <a:t> </a:t>
            </a:r>
            <a:r>
              <a:rPr lang="pt-BR" sz="900" dirty="0" err="1"/>
              <a:t>Unkown</a:t>
            </a:r>
            <a:r>
              <a:rPr lang="pt-BR" sz="900" dirty="0"/>
              <a:t> </a:t>
            </a:r>
            <a:r>
              <a:rPr lang="pt-BR" sz="900" dirty="0" err="1"/>
              <a:t>Photo</a:t>
            </a:r>
            <a:r>
              <a:rPr lang="pt-BR" sz="900" dirty="0"/>
              <a:t> </a:t>
            </a:r>
            <a:r>
              <a:rPr lang="pt-BR" sz="900" dirty="0" err="1"/>
              <a:t>by</a:t>
            </a:r>
            <a:r>
              <a:rPr lang="pt-BR" sz="900" dirty="0"/>
              <a:t> D Walker"</a:t>
            </a:r>
          </a:p>
        </p:txBody>
      </p:sp>
      <p:sp>
        <p:nvSpPr>
          <p:cNvPr id="10" name="CaixaDeTexto 9">
            <a:extLst>
              <a:ext uri="{FF2B5EF4-FFF2-40B4-BE49-F238E27FC236}">
                <a16:creationId xmlns:a16="http://schemas.microsoft.com/office/drawing/2014/main" id="{C8906D79-EE88-48DA-9465-E3D933C4026C}"/>
              </a:ext>
            </a:extLst>
          </p:cNvPr>
          <p:cNvSpPr txBox="1"/>
          <p:nvPr/>
        </p:nvSpPr>
        <p:spPr>
          <a:xfrm>
            <a:off x="4616291" y="3035068"/>
            <a:ext cx="1488358" cy="646331"/>
          </a:xfrm>
          <a:prstGeom prst="rect">
            <a:avLst/>
          </a:prstGeom>
          <a:noFill/>
        </p:spPr>
        <p:txBody>
          <a:bodyPr wrap="square" rtlCol="0">
            <a:spAutoFit/>
          </a:bodyPr>
          <a:lstStyle/>
          <a:p>
            <a:r>
              <a:rPr lang="pt-BR" dirty="0">
                <a:solidFill>
                  <a:srgbClr val="C00000"/>
                </a:solidFill>
                <a:latin typeface="Arial Black" panose="020B0A04020102020204" pitchFamily="34" charset="0"/>
              </a:rPr>
              <a:t>O risco de “Divórcio”</a:t>
            </a:r>
          </a:p>
        </p:txBody>
      </p:sp>
      <p:cxnSp>
        <p:nvCxnSpPr>
          <p:cNvPr id="13" name="Conector de Seta Reta 12">
            <a:extLst>
              <a:ext uri="{FF2B5EF4-FFF2-40B4-BE49-F238E27FC236}">
                <a16:creationId xmlns:a16="http://schemas.microsoft.com/office/drawing/2014/main" id="{04D183F1-30E3-4828-8E04-3F18E26C2A8D}"/>
              </a:ext>
            </a:extLst>
          </p:cNvPr>
          <p:cNvCxnSpPr>
            <a:endCxn id="7" idx="1"/>
          </p:cNvCxnSpPr>
          <p:nvPr/>
        </p:nvCxnSpPr>
        <p:spPr>
          <a:xfrm flipV="1">
            <a:off x="6735097" y="1102420"/>
            <a:ext cx="639894" cy="2347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D4D96E6F-7D21-4A09-AFC8-E041DE55D3C0}"/>
              </a:ext>
            </a:extLst>
          </p:cNvPr>
          <p:cNvCxnSpPr/>
          <p:nvPr/>
        </p:nvCxnSpPr>
        <p:spPr>
          <a:xfrm>
            <a:off x="4100052" y="983226"/>
            <a:ext cx="602272" cy="353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Seta: para Baixo 15">
            <a:extLst>
              <a:ext uri="{FF2B5EF4-FFF2-40B4-BE49-F238E27FC236}">
                <a16:creationId xmlns:a16="http://schemas.microsoft.com/office/drawing/2014/main" id="{DDE27C2B-F6AB-4373-B1BB-03C1BE688E1F}"/>
              </a:ext>
            </a:extLst>
          </p:cNvPr>
          <p:cNvSpPr/>
          <p:nvPr/>
        </p:nvSpPr>
        <p:spPr>
          <a:xfrm>
            <a:off x="5250426" y="2202426"/>
            <a:ext cx="88490" cy="7275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8" name="Conector de Seta Reta 17">
            <a:extLst>
              <a:ext uri="{FF2B5EF4-FFF2-40B4-BE49-F238E27FC236}">
                <a16:creationId xmlns:a16="http://schemas.microsoft.com/office/drawing/2014/main" id="{AD031820-EF9D-4FA3-A7E1-2AF034B5367C}"/>
              </a:ext>
            </a:extLst>
          </p:cNvPr>
          <p:cNvCxnSpPr/>
          <p:nvPr/>
        </p:nvCxnSpPr>
        <p:spPr>
          <a:xfrm flipH="1" flipV="1">
            <a:off x="4100052" y="2930013"/>
            <a:ext cx="516239" cy="285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4E678B51-BED4-479E-A1BD-70D08D2B4BC8}"/>
              </a:ext>
            </a:extLst>
          </p:cNvPr>
          <p:cNvCxnSpPr>
            <a:cxnSpLocks/>
          </p:cNvCxnSpPr>
          <p:nvPr/>
        </p:nvCxnSpPr>
        <p:spPr>
          <a:xfrm flipH="1">
            <a:off x="4100053" y="3592434"/>
            <a:ext cx="516238" cy="3797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21">
            <a:extLst>
              <a:ext uri="{FF2B5EF4-FFF2-40B4-BE49-F238E27FC236}">
                <a16:creationId xmlns:a16="http://schemas.microsoft.com/office/drawing/2014/main" id="{F1CEB5A6-6051-41AA-A215-3CF939BF1444}"/>
              </a:ext>
            </a:extLst>
          </p:cNvPr>
          <p:cNvCxnSpPr/>
          <p:nvPr/>
        </p:nvCxnSpPr>
        <p:spPr>
          <a:xfrm>
            <a:off x="5695820" y="3676958"/>
            <a:ext cx="533092" cy="4469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8931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42B94BA-A21C-4F05-B7CE-835954FA6C19}"/>
              </a:ext>
            </a:extLst>
          </p:cNvPr>
          <p:cNvSpPr txBox="1"/>
          <p:nvPr/>
        </p:nvSpPr>
        <p:spPr>
          <a:xfrm>
            <a:off x="255666" y="696928"/>
            <a:ext cx="5220795" cy="1200329"/>
          </a:xfrm>
          <a:prstGeom prst="rect">
            <a:avLst/>
          </a:prstGeom>
          <a:noFill/>
        </p:spPr>
        <p:txBody>
          <a:bodyPr wrap="square" rtlCol="0">
            <a:spAutoFit/>
          </a:bodyPr>
          <a:lstStyle/>
          <a:p>
            <a:r>
              <a:rPr lang="pt-BR" dirty="0"/>
              <a:t>O Estado Inglês – A Rainha Vitória e o Parlamento  - entram como bombeiros  no processo... Para tentar garantir os interesses econômicos na região... As Indústrias britânicas dependem do mercado Indiano.</a:t>
            </a:r>
          </a:p>
        </p:txBody>
      </p:sp>
      <p:sp>
        <p:nvSpPr>
          <p:cNvPr id="3" name="CaixaDeTexto 2">
            <a:extLst>
              <a:ext uri="{FF2B5EF4-FFF2-40B4-BE49-F238E27FC236}">
                <a16:creationId xmlns:a16="http://schemas.microsoft.com/office/drawing/2014/main" id="{F69CE8FE-482E-4E5C-A10C-3972C1456BCA}"/>
              </a:ext>
            </a:extLst>
          </p:cNvPr>
          <p:cNvSpPr txBox="1"/>
          <p:nvPr/>
        </p:nvSpPr>
        <p:spPr>
          <a:xfrm>
            <a:off x="7526902" y="929179"/>
            <a:ext cx="4409432" cy="2658847"/>
          </a:xfrm>
          <a:prstGeom prst="rect">
            <a:avLst/>
          </a:prstGeom>
          <a:noFill/>
        </p:spPr>
        <p:txBody>
          <a:bodyPr wrap="square" rtlCol="0">
            <a:spAutoFit/>
          </a:bodyPr>
          <a:lstStyle/>
          <a:p>
            <a:r>
              <a:rPr lang="pt-BR" dirty="0"/>
              <a:t>A Cia das Índias é extinta ( percebe-se a impossibilidade de mantê-la respeitada)... As tropas dos Sipaios são “acalmados” e absorvidos pelo Governo Britânico que assume a Índia como um Vice-Reino ... protegido pela Inglaterra ( Protetorado ) ...A ideia é convencer que todos são súditos ( em condições igualitárias ) de um Império cosmopolita da rainha Vitória...</a:t>
            </a:r>
          </a:p>
        </p:txBody>
      </p:sp>
      <p:sp>
        <p:nvSpPr>
          <p:cNvPr id="4" name="CaixaDeTexto 3">
            <a:extLst>
              <a:ext uri="{FF2B5EF4-FFF2-40B4-BE49-F238E27FC236}">
                <a16:creationId xmlns:a16="http://schemas.microsoft.com/office/drawing/2014/main" id="{F1CD37A4-7BCA-4B7A-8110-CCC3763B77C3}"/>
              </a:ext>
            </a:extLst>
          </p:cNvPr>
          <p:cNvSpPr txBox="1"/>
          <p:nvPr/>
        </p:nvSpPr>
        <p:spPr>
          <a:xfrm>
            <a:off x="7526902" y="4259505"/>
            <a:ext cx="4221150" cy="1477328"/>
          </a:xfrm>
          <a:prstGeom prst="rect">
            <a:avLst/>
          </a:prstGeom>
          <a:noFill/>
        </p:spPr>
        <p:txBody>
          <a:bodyPr wrap="square" rtlCol="0">
            <a:spAutoFit/>
          </a:bodyPr>
          <a:lstStyle/>
          <a:p>
            <a:r>
              <a:rPr lang="pt-BR" dirty="0"/>
              <a:t>Algumas concessões liberais são feitas...:“permite-se” a formação de um Parlamento Indiano... de partidos políticos (Partido do Congresso Nacional Indiano fundado em 1885), etc.</a:t>
            </a:r>
          </a:p>
        </p:txBody>
      </p:sp>
      <p:sp>
        <p:nvSpPr>
          <p:cNvPr id="5" name="Retângulo 4">
            <a:extLst>
              <a:ext uri="{FF2B5EF4-FFF2-40B4-BE49-F238E27FC236}">
                <a16:creationId xmlns:a16="http://schemas.microsoft.com/office/drawing/2014/main" id="{A5390531-04B2-47CB-8FDE-F09E8D73AF38}"/>
              </a:ext>
            </a:extLst>
          </p:cNvPr>
          <p:cNvSpPr/>
          <p:nvPr/>
        </p:nvSpPr>
        <p:spPr>
          <a:xfrm>
            <a:off x="2687741" y="2597512"/>
            <a:ext cx="2638305" cy="3323987"/>
          </a:xfrm>
          <a:prstGeom prst="rect">
            <a:avLst/>
          </a:prstGeom>
        </p:spPr>
        <p:txBody>
          <a:bodyPr wrap="square">
            <a:spAutoFit/>
          </a:bodyPr>
          <a:lstStyle/>
          <a:p>
            <a:r>
              <a:rPr lang="pt-BR" sz="1400" b="1" dirty="0">
                <a:solidFill>
                  <a:srgbClr val="C00000"/>
                </a:solidFill>
                <a:latin typeface="Arial" panose="020B0604020202020204" pitchFamily="34" charset="0"/>
              </a:rPr>
              <a:t>A Rainha escreveu em seu diário ... sobre o seu </a:t>
            </a:r>
            <a:r>
              <a:rPr lang="pt-BR" sz="1400" b="1" i="1" dirty="0">
                <a:solidFill>
                  <a:srgbClr val="C00000"/>
                </a:solidFill>
                <a:latin typeface="Arial" panose="020B0604020202020204" pitchFamily="34" charset="0"/>
              </a:rPr>
              <a:t>"sentimento de horror e arrependimento pelo resultado desta guerra civil sangrenta“... E , segundo ela</a:t>
            </a:r>
            <a:r>
              <a:rPr lang="pt-BR" sz="1400" b="1" dirty="0">
                <a:solidFill>
                  <a:srgbClr val="C00000"/>
                </a:solidFill>
                <a:latin typeface="Arial" panose="020B0604020202020204" pitchFamily="34" charset="0"/>
              </a:rPr>
              <a:t>, devia ser anunciada uma proclamação oficial afirmando que a transferência de poder da companhia para o estado </a:t>
            </a:r>
            <a:r>
              <a:rPr lang="pt-BR" sz="1400" b="1" i="1" dirty="0">
                <a:solidFill>
                  <a:srgbClr val="C00000"/>
                </a:solidFill>
                <a:latin typeface="Arial" panose="020B0604020202020204" pitchFamily="34" charset="0"/>
              </a:rPr>
              <a:t>"devia mostrar um sentimento de generosidade, benevolência e tolerância religiosa"</a:t>
            </a:r>
            <a:r>
              <a:rPr lang="pt-BR" sz="1400" b="1" dirty="0">
                <a:solidFill>
                  <a:srgbClr val="C00000"/>
                </a:solidFill>
                <a:latin typeface="Arial" panose="020B0604020202020204" pitchFamily="34" charset="0"/>
              </a:rPr>
              <a:t>.</a:t>
            </a:r>
            <a:endParaRPr lang="pt-BR" sz="1400" b="1" dirty="0">
              <a:solidFill>
                <a:srgbClr val="C00000"/>
              </a:solidFill>
            </a:endParaRPr>
          </a:p>
        </p:txBody>
      </p:sp>
      <p:pic>
        <p:nvPicPr>
          <p:cNvPr id="8194" name="Picture 2">
            <a:extLst>
              <a:ext uri="{FF2B5EF4-FFF2-40B4-BE49-F238E27FC236}">
                <a16:creationId xmlns:a16="http://schemas.microsoft.com/office/drawing/2014/main" id="{4A8E9131-0B0E-4987-95CF-46A96B1C84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962" y="2221841"/>
            <a:ext cx="2428875"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5">
            <a:extLst>
              <a:ext uri="{FF2B5EF4-FFF2-40B4-BE49-F238E27FC236}">
                <a16:creationId xmlns:a16="http://schemas.microsoft.com/office/drawing/2014/main" id="{6B2B55FD-718C-4A6F-8D38-08C9011A4ED2}"/>
              </a:ext>
            </a:extLst>
          </p:cNvPr>
          <p:cNvSpPr/>
          <p:nvPr/>
        </p:nvSpPr>
        <p:spPr>
          <a:xfrm>
            <a:off x="145057" y="6443335"/>
            <a:ext cx="2542684" cy="261610"/>
          </a:xfrm>
          <a:prstGeom prst="rect">
            <a:avLst/>
          </a:prstGeom>
        </p:spPr>
        <p:txBody>
          <a:bodyPr wrap="none">
            <a:spAutoFit/>
          </a:bodyPr>
          <a:lstStyle/>
          <a:p>
            <a:r>
              <a:rPr lang="pt-BR" sz="1100" dirty="0">
                <a:solidFill>
                  <a:srgbClr val="000000"/>
                </a:solidFill>
                <a:latin typeface="Arial" panose="020B0604020202020204" pitchFamily="34" charset="0"/>
              </a:rPr>
              <a:t>Retrato por Alexander </a:t>
            </a:r>
            <a:r>
              <a:rPr lang="pt-BR" sz="1100" dirty="0" err="1">
                <a:solidFill>
                  <a:srgbClr val="000000"/>
                </a:solidFill>
                <a:latin typeface="Arial" panose="020B0604020202020204" pitchFamily="34" charset="0"/>
              </a:rPr>
              <a:t>Bassano</a:t>
            </a:r>
            <a:r>
              <a:rPr lang="pt-BR" sz="1100" dirty="0">
                <a:solidFill>
                  <a:srgbClr val="000000"/>
                </a:solidFill>
                <a:latin typeface="Arial" panose="020B0604020202020204" pitchFamily="34" charset="0"/>
              </a:rPr>
              <a:t>, 1882</a:t>
            </a:r>
            <a:endParaRPr lang="pt-BR" sz="1100" dirty="0"/>
          </a:p>
        </p:txBody>
      </p:sp>
      <p:sp>
        <p:nvSpPr>
          <p:cNvPr id="7" name="Retângulo 6">
            <a:extLst>
              <a:ext uri="{FF2B5EF4-FFF2-40B4-BE49-F238E27FC236}">
                <a16:creationId xmlns:a16="http://schemas.microsoft.com/office/drawing/2014/main" id="{B843A7EC-3337-4D69-960A-B711BC5F40BD}"/>
              </a:ext>
            </a:extLst>
          </p:cNvPr>
          <p:cNvSpPr/>
          <p:nvPr/>
        </p:nvSpPr>
        <p:spPr>
          <a:xfrm>
            <a:off x="124827" y="5885088"/>
            <a:ext cx="3562269" cy="477054"/>
          </a:xfrm>
          <a:prstGeom prst="rect">
            <a:avLst/>
          </a:prstGeom>
        </p:spPr>
        <p:txBody>
          <a:bodyPr wrap="square">
            <a:spAutoFit/>
          </a:bodyPr>
          <a:lstStyle/>
          <a:p>
            <a:r>
              <a:rPr lang="pt-BR" sz="1100" b="1" i="1" dirty="0">
                <a:solidFill>
                  <a:srgbClr val="000000"/>
                </a:solidFill>
                <a:latin typeface="Arial" panose="020B0604020202020204" pitchFamily="34" charset="0"/>
              </a:rPr>
              <a:t>“Rainha do Reino Unido da Grã-Bretanha e Irlanda</a:t>
            </a:r>
            <a:br>
              <a:rPr lang="pt-BR" sz="1100" b="1" i="1" dirty="0">
                <a:solidFill>
                  <a:srgbClr val="000000"/>
                </a:solidFill>
                <a:latin typeface="Arial" panose="020B0604020202020204" pitchFamily="34" charset="0"/>
              </a:rPr>
            </a:br>
            <a:r>
              <a:rPr lang="pt-BR" sz="1100" b="1" i="1" dirty="0">
                <a:solidFill>
                  <a:srgbClr val="000000"/>
                </a:solidFill>
                <a:latin typeface="Arial" panose="020B0604020202020204" pitchFamily="34" charset="0"/>
              </a:rPr>
              <a:t>Imperatriz da Índia</a:t>
            </a:r>
            <a:r>
              <a:rPr lang="pt-BR" sz="1400" b="1" i="1" dirty="0">
                <a:solidFill>
                  <a:srgbClr val="000000"/>
                </a:solidFill>
                <a:latin typeface="Arial" panose="020B0604020202020204" pitchFamily="34" charset="0"/>
              </a:rPr>
              <a:t>”</a:t>
            </a:r>
            <a:endParaRPr lang="pt-BR" sz="1400" b="1" dirty="0"/>
          </a:p>
        </p:txBody>
      </p:sp>
      <p:sp>
        <p:nvSpPr>
          <p:cNvPr id="8" name="CaixaDeTexto 7">
            <a:extLst>
              <a:ext uri="{FF2B5EF4-FFF2-40B4-BE49-F238E27FC236}">
                <a16:creationId xmlns:a16="http://schemas.microsoft.com/office/drawing/2014/main" id="{88267EB1-5F91-49FD-AAC5-28E8D0BB4FD5}"/>
              </a:ext>
            </a:extLst>
          </p:cNvPr>
          <p:cNvSpPr txBox="1"/>
          <p:nvPr/>
        </p:nvSpPr>
        <p:spPr>
          <a:xfrm>
            <a:off x="3292831" y="80888"/>
            <a:ext cx="5387009" cy="461665"/>
          </a:xfrm>
          <a:prstGeom prst="rect">
            <a:avLst/>
          </a:prstGeom>
          <a:noFill/>
        </p:spPr>
        <p:txBody>
          <a:bodyPr wrap="square" rtlCol="0">
            <a:spAutoFit/>
          </a:bodyPr>
          <a:lstStyle/>
          <a:p>
            <a:r>
              <a:rPr lang="pt-BR" sz="2400" dirty="0">
                <a:solidFill>
                  <a:srgbClr val="FF0000"/>
                </a:solidFill>
                <a:latin typeface="Arial Black" panose="020B0A04020102020204" pitchFamily="34" charset="0"/>
              </a:rPr>
              <a:t>A Índia como Vice-Reino Inglês</a:t>
            </a:r>
          </a:p>
        </p:txBody>
      </p:sp>
      <p:sp>
        <p:nvSpPr>
          <p:cNvPr id="9" name="CaixaDeTexto 8">
            <a:extLst>
              <a:ext uri="{FF2B5EF4-FFF2-40B4-BE49-F238E27FC236}">
                <a16:creationId xmlns:a16="http://schemas.microsoft.com/office/drawing/2014/main" id="{7D7C18A8-3E59-468F-97FB-F76398607E86}"/>
              </a:ext>
            </a:extLst>
          </p:cNvPr>
          <p:cNvSpPr txBox="1"/>
          <p:nvPr/>
        </p:nvSpPr>
        <p:spPr>
          <a:xfrm>
            <a:off x="5289268" y="2905780"/>
            <a:ext cx="1752268" cy="523220"/>
          </a:xfrm>
          <a:prstGeom prst="rect">
            <a:avLst/>
          </a:prstGeom>
          <a:noFill/>
        </p:spPr>
        <p:txBody>
          <a:bodyPr wrap="square" rtlCol="0">
            <a:spAutoFit/>
          </a:bodyPr>
          <a:lstStyle/>
          <a:p>
            <a:r>
              <a:rPr lang="pt-BR" sz="2800" b="1" dirty="0">
                <a:solidFill>
                  <a:schemeClr val="accent1">
                    <a:lumMod val="75000"/>
                  </a:schemeClr>
                </a:solidFill>
              </a:rPr>
              <a:t> MEDIDAS</a:t>
            </a:r>
          </a:p>
        </p:txBody>
      </p:sp>
      <p:cxnSp>
        <p:nvCxnSpPr>
          <p:cNvPr id="11" name="Conector de Seta Reta 10">
            <a:extLst>
              <a:ext uri="{FF2B5EF4-FFF2-40B4-BE49-F238E27FC236}">
                <a16:creationId xmlns:a16="http://schemas.microsoft.com/office/drawing/2014/main" id="{1C296D08-AEBB-4C04-BBDD-A392CDA97901}"/>
              </a:ext>
            </a:extLst>
          </p:cNvPr>
          <p:cNvCxnSpPr>
            <a:cxnSpLocks/>
          </p:cNvCxnSpPr>
          <p:nvPr/>
        </p:nvCxnSpPr>
        <p:spPr>
          <a:xfrm flipV="1">
            <a:off x="6251713" y="1987826"/>
            <a:ext cx="1073426" cy="832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de Seta Reta 12">
            <a:extLst>
              <a:ext uri="{FF2B5EF4-FFF2-40B4-BE49-F238E27FC236}">
                <a16:creationId xmlns:a16="http://schemas.microsoft.com/office/drawing/2014/main" id="{F884B3E5-8D55-45D5-828F-5C3EA7023DFB}"/>
              </a:ext>
            </a:extLst>
          </p:cNvPr>
          <p:cNvCxnSpPr>
            <a:cxnSpLocks/>
            <a:stCxn id="9" idx="2"/>
          </p:cNvCxnSpPr>
          <p:nvPr/>
        </p:nvCxnSpPr>
        <p:spPr>
          <a:xfrm>
            <a:off x="6165402" y="3429000"/>
            <a:ext cx="1159737" cy="1172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7591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4622E585-766D-4919-B0D0-A234745EBFA8}"/>
              </a:ext>
            </a:extLst>
          </p:cNvPr>
          <p:cNvSpPr txBox="1"/>
          <p:nvPr/>
        </p:nvSpPr>
        <p:spPr>
          <a:xfrm>
            <a:off x="352425" y="117127"/>
            <a:ext cx="6324600" cy="461665"/>
          </a:xfrm>
          <a:prstGeom prst="rect">
            <a:avLst/>
          </a:prstGeom>
          <a:noFill/>
        </p:spPr>
        <p:txBody>
          <a:bodyPr wrap="square" rtlCol="0">
            <a:spAutoFit/>
          </a:bodyPr>
          <a:lstStyle/>
          <a:p>
            <a:r>
              <a:rPr lang="pt-BR" sz="2400" b="1" dirty="0"/>
              <a:t>Algumas consequências da presença britânica</a:t>
            </a:r>
          </a:p>
        </p:txBody>
      </p:sp>
      <p:sp>
        <p:nvSpPr>
          <p:cNvPr id="3" name="CaixaDeTexto 2">
            <a:extLst>
              <a:ext uri="{FF2B5EF4-FFF2-40B4-BE49-F238E27FC236}">
                <a16:creationId xmlns:a16="http://schemas.microsoft.com/office/drawing/2014/main" id="{2D7245EE-7FB8-4FA0-A6AF-EF1C59F87675}"/>
              </a:ext>
            </a:extLst>
          </p:cNvPr>
          <p:cNvSpPr txBox="1"/>
          <p:nvPr/>
        </p:nvSpPr>
        <p:spPr>
          <a:xfrm>
            <a:off x="1566981" y="1942810"/>
            <a:ext cx="1571625" cy="369332"/>
          </a:xfrm>
          <a:prstGeom prst="rect">
            <a:avLst/>
          </a:prstGeom>
          <a:noFill/>
        </p:spPr>
        <p:txBody>
          <a:bodyPr wrap="square" rtlCol="0">
            <a:spAutoFit/>
          </a:bodyPr>
          <a:lstStyle/>
          <a:p>
            <a:r>
              <a:rPr lang="pt-BR" dirty="0"/>
              <a:t>Econômicas</a:t>
            </a:r>
          </a:p>
        </p:txBody>
      </p:sp>
      <p:sp>
        <p:nvSpPr>
          <p:cNvPr id="4" name="CaixaDeTexto 3">
            <a:extLst>
              <a:ext uri="{FF2B5EF4-FFF2-40B4-BE49-F238E27FC236}">
                <a16:creationId xmlns:a16="http://schemas.microsoft.com/office/drawing/2014/main" id="{4AAD98F4-3449-4758-B626-74D3EB6C238A}"/>
              </a:ext>
            </a:extLst>
          </p:cNvPr>
          <p:cNvSpPr txBox="1"/>
          <p:nvPr/>
        </p:nvSpPr>
        <p:spPr>
          <a:xfrm>
            <a:off x="7404615" y="522703"/>
            <a:ext cx="4210050" cy="1200329"/>
          </a:xfrm>
          <a:prstGeom prst="rect">
            <a:avLst/>
          </a:prstGeom>
          <a:noFill/>
        </p:spPr>
        <p:txBody>
          <a:bodyPr wrap="square" rtlCol="0">
            <a:spAutoFit/>
          </a:bodyPr>
          <a:lstStyle/>
          <a:p>
            <a:r>
              <a:rPr lang="pt-BR" dirty="0"/>
              <a:t>A aquisição de propriedades rurais que passam a produzir matérias primas para o mercado externo diminuindo a produção voltada ao mercado interno (subsistência)</a:t>
            </a:r>
          </a:p>
        </p:txBody>
      </p:sp>
      <p:sp>
        <p:nvSpPr>
          <p:cNvPr id="5" name="CaixaDeTexto 4">
            <a:extLst>
              <a:ext uri="{FF2B5EF4-FFF2-40B4-BE49-F238E27FC236}">
                <a16:creationId xmlns:a16="http://schemas.microsoft.com/office/drawing/2014/main" id="{0E03E650-22EF-4803-89FB-6F44CE70432E}"/>
              </a:ext>
            </a:extLst>
          </p:cNvPr>
          <p:cNvSpPr txBox="1"/>
          <p:nvPr/>
        </p:nvSpPr>
        <p:spPr>
          <a:xfrm>
            <a:off x="3414953" y="799703"/>
            <a:ext cx="1952625" cy="646331"/>
          </a:xfrm>
          <a:prstGeom prst="rect">
            <a:avLst/>
          </a:prstGeom>
          <a:noFill/>
        </p:spPr>
        <p:txBody>
          <a:bodyPr wrap="square" rtlCol="0">
            <a:spAutoFit/>
          </a:bodyPr>
          <a:lstStyle/>
          <a:p>
            <a:r>
              <a:rPr lang="pt-BR" dirty="0"/>
              <a:t> - reorganização do sistema produtivo</a:t>
            </a:r>
          </a:p>
        </p:txBody>
      </p:sp>
      <p:sp>
        <p:nvSpPr>
          <p:cNvPr id="6" name="CaixaDeTexto 5">
            <a:extLst>
              <a:ext uri="{FF2B5EF4-FFF2-40B4-BE49-F238E27FC236}">
                <a16:creationId xmlns:a16="http://schemas.microsoft.com/office/drawing/2014/main" id="{E35ED146-96DF-4F49-BB73-812351F6CCB2}"/>
              </a:ext>
            </a:extLst>
          </p:cNvPr>
          <p:cNvSpPr txBox="1"/>
          <p:nvPr/>
        </p:nvSpPr>
        <p:spPr>
          <a:xfrm>
            <a:off x="3426857" y="1609780"/>
            <a:ext cx="2933700" cy="2031325"/>
          </a:xfrm>
          <a:prstGeom prst="rect">
            <a:avLst/>
          </a:prstGeom>
          <a:noFill/>
        </p:spPr>
        <p:txBody>
          <a:bodyPr wrap="square" rtlCol="0">
            <a:spAutoFit/>
          </a:bodyPr>
          <a:lstStyle/>
          <a:p>
            <a:r>
              <a:rPr lang="pt-BR" dirty="0"/>
              <a:t>- concorrência dos produtos industriais ingleses (tecidos, etc.) com a produção artesanal indiana</a:t>
            </a:r>
          </a:p>
          <a:p>
            <a:r>
              <a:rPr lang="pt-BR" dirty="0"/>
              <a:t>de tecidos (musselina) gera falências e desemprego de artesãos...</a:t>
            </a:r>
          </a:p>
        </p:txBody>
      </p:sp>
      <p:pic>
        <p:nvPicPr>
          <p:cNvPr id="1026" name="Picture 2">
            <a:extLst>
              <a:ext uri="{FF2B5EF4-FFF2-40B4-BE49-F238E27FC236}">
                <a16:creationId xmlns:a16="http://schemas.microsoft.com/office/drawing/2014/main" id="{E9008FDE-81AD-43F1-8C3F-6216138131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 y="4710437"/>
            <a:ext cx="1600439" cy="12003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A3F65D1-0708-42E6-96B0-4E22D0D783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3236" y="4702090"/>
            <a:ext cx="1828862" cy="121702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OUPAS TÍPICAS PELO MUNDO – Be My Guest">
            <a:extLst>
              <a:ext uri="{FF2B5EF4-FFF2-40B4-BE49-F238E27FC236}">
                <a16:creationId xmlns:a16="http://schemas.microsoft.com/office/drawing/2014/main" id="{CB41BFA1-26C2-4357-848E-64A400FCED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425" y="2493477"/>
            <a:ext cx="1981200" cy="1483988"/>
          </a:xfrm>
          <a:prstGeom prst="rect">
            <a:avLst/>
          </a:prstGeom>
          <a:noFill/>
          <a:extLst>
            <a:ext uri="{909E8E84-426E-40DD-AFC4-6F175D3DCCD1}">
              <a14:hiddenFill xmlns:a14="http://schemas.microsoft.com/office/drawing/2010/main">
                <a:solidFill>
                  <a:srgbClr val="FFFFFF"/>
                </a:solidFill>
              </a14:hiddenFill>
            </a:ext>
          </a:extLst>
        </p:spPr>
      </p:pic>
      <p:sp>
        <p:nvSpPr>
          <p:cNvPr id="7" name="CaixaDeTexto 6">
            <a:extLst>
              <a:ext uri="{FF2B5EF4-FFF2-40B4-BE49-F238E27FC236}">
                <a16:creationId xmlns:a16="http://schemas.microsoft.com/office/drawing/2014/main" id="{A59A7F76-4928-45EA-ADA3-EE811A526A2E}"/>
              </a:ext>
            </a:extLst>
          </p:cNvPr>
          <p:cNvSpPr txBox="1"/>
          <p:nvPr/>
        </p:nvSpPr>
        <p:spPr>
          <a:xfrm>
            <a:off x="8048090" y="2048137"/>
            <a:ext cx="3390901" cy="1477328"/>
          </a:xfrm>
          <a:prstGeom prst="rect">
            <a:avLst/>
          </a:prstGeom>
          <a:noFill/>
        </p:spPr>
        <p:txBody>
          <a:bodyPr wrap="square" rtlCol="0">
            <a:spAutoFit/>
          </a:bodyPr>
          <a:lstStyle/>
          <a:p>
            <a:r>
              <a:rPr lang="pt-BR" dirty="0">
                <a:ln w="0"/>
                <a:solidFill>
                  <a:schemeClr val="accent1"/>
                </a:solidFill>
                <a:effectLst>
                  <a:outerShdw blurRad="38100" dist="25400" dir="5400000" algn="ctr" rotWithShape="0">
                    <a:srgbClr val="6E747A">
                      <a:alpha val="43000"/>
                    </a:srgbClr>
                  </a:outerShdw>
                </a:effectLst>
              </a:rPr>
              <a:t>Esses fatores associados a quedas na produção agrária por fatores climáticos, gerarão surtos de fome em vários períodos no século XIX e início do XX</a:t>
            </a:r>
          </a:p>
        </p:txBody>
      </p:sp>
      <p:sp>
        <p:nvSpPr>
          <p:cNvPr id="11" name="Chave Esquerda 10">
            <a:extLst>
              <a:ext uri="{FF2B5EF4-FFF2-40B4-BE49-F238E27FC236}">
                <a16:creationId xmlns:a16="http://schemas.microsoft.com/office/drawing/2014/main" id="{59AB2583-0453-44DD-B4AE-7997463908BA}"/>
              </a:ext>
            </a:extLst>
          </p:cNvPr>
          <p:cNvSpPr/>
          <p:nvPr/>
        </p:nvSpPr>
        <p:spPr>
          <a:xfrm>
            <a:off x="2862502" y="578792"/>
            <a:ext cx="828676" cy="32260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2" name="CaixaDeTexto 11">
            <a:extLst>
              <a:ext uri="{FF2B5EF4-FFF2-40B4-BE49-F238E27FC236}">
                <a16:creationId xmlns:a16="http://schemas.microsoft.com/office/drawing/2014/main" id="{BE120073-7E82-47B2-8EC8-EF84A8C2499D}"/>
              </a:ext>
            </a:extLst>
          </p:cNvPr>
          <p:cNvSpPr txBox="1"/>
          <p:nvPr/>
        </p:nvSpPr>
        <p:spPr>
          <a:xfrm>
            <a:off x="6742092" y="1896643"/>
            <a:ext cx="1325047" cy="461665"/>
          </a:xfrm>
          <a:prstGeom prst="rect">
            <a:avLst/>
          </a:prstGeom>
          <a:noFill/>
        </p:spPr>
        <p:txBody>
          <a:bodyPr wrap="square" rtlCol="0">
            <a:spAutoFit/>
          </a:bodyPr>
          <a:lstStyle/>
          <a:p>
            <a:r>
              <a:rPr lang="pt-BR" sz="2400" b="1" dirty="0">
                <a:latin typeface="Arial Black" panose="020B0A04020102020204" pitchFamily="34" charset="0"/>
              </a:rPr>
              <a:t>FOME</a:t>
            </a:r>
          </a:p>
        </p:txBody>
      </p:sp>
      <p:cxnSp>
        <p:nvCxnSpPr>
          <p:cNvPr id="14" name="Conector de Seta Reta 13">
            <a:extLst>
              <a:ext uri="{FF2B5EF4-FFF2-40B4-BE49-F238E27FC236}">
                <a16:creationId xmlns:a16="http://schemas.microsoft.com/office/drawing/2014/main" id="{B24D39D9-A35B-44E9-91E0-A6D2F3AC51CA}"/>
              </a:ext>
            </a:extLst>
          </p:cNvPr>
          <p:cNvCxnSpPr/>
          <p:nvPr/>
        </p:nvCxnSpPr>
        <p:spPr>
          <a:xfrm>
            <a:off x="6029325" y="1122867"/>
            <a:ext cx="10287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7744A71B-E19C-4C36-B6C5-498C5C6C3691}"/>
              </a:ext>
            </a:extLst>
          </p:cNvPr>
          <p:cNvCxnSpPr>
            <a:stCxn id="6" idx="3"/>
          </p:cNvCxnSpPr>
          <p:nvPr/>
        </p:nvCxnSpPr>
        <p:spPr>
          <a:xfrm flipV="1">
            <a:off x="6360557" y="2358308"/>
            <a:ext cx="381535" cy="267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a:extLst>
              <a:ext uri="{FF2B5EF4-FFF2-40B4-BE49-F238E27FC236}">
                <a16:creationId xmlns:a16="http://schemas.microsoft.com/office/drawing/2014/main" id="{232EF02F-4A6B-4FD4-B163-2BBF8260247E}"/>
              </a:ext>
            </a:extLst>
          </p:cNvPr>
          <p:cNvCxnSpPr/>
          <p:nvPr/>
        </p:nvCxnSpPr>
        <p:spPr>
          <a:xfrm flipH="1">
            <a:off x="7896225" y="1723032"/>
            <a:ext cx="847725" cy="334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7">
            <a:extLst>
              <a:ext uri="{FF2B5EF4-FFF2-40B4-BE49-F238E27FC236}">
                <a16:creationId xmlns:a16="http://schemas.microsoft.com/office/drawing/2014/main" id="{CC10E1F6-B90E-4401-A3E2-7BF4D670E304}"/>
              </a:ext>
            </a:extLst>
          </p:cNvPr>
          <p:cNvSpPr>
            <a:spLocks noChangeArrowheads="1"/>
          </p:cNvSpPr>
          <p:nvPr/>
        </p:nvSpPr>
        <p:spPr bwMode="auto">
          <a:xfrm>
            <a:off x="4153018" y="3639766"/>
            <a:ext cx="782824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pt-BR" altLang="pt-BR" b="0" i="0" u="none" strike="noStrike" cap="none" normalizeH="0" baseline="0" dirty="0">
                <a:ln>
                  <a:noFill/>
                </a:ln>
                <a:solidFill>
                  <a:srgbClr val="39393A"/>
                </a:solidFill>
                <a:effectLst/>
                <a:latin typeface="Lora"/>
              </a:rPr>
              <a:t>“Embora as más colheitas e a falta d’ água tenham atingido proporções dramáticas – às vezes nunca vistas há séculos -, quase sempre, as reservas de cereais disponíveis em outras regiões dos países atingidos teriam permitido salvar as vítimas dessas secas. (...). Dois fatores decidiam realmente a sobrevivência ou a morte certa das populações atingidas: de um lado, </a:t>
            </a:r>
            <a:r>
              <a:rPr kumimoji="0" lang="pt-BR" altLang="pt-BR" b="0" i="0" u="sng" strike="noStrike" cap="none" normalizeH="0" baseline="0" dirty="0">
                <a:ln>
                  <a:noFill/>
                </a:ln>
                <a:solidFill>
                  <a:srgbClr val="39393A"/>
                </a:solidFill>
                <a:effectLst/>
                <a:latin typeface="Lora"/>
              </a:rPr>
              <a:t>os novíssimos mercados de matérias primas e as especulações sobre os preços que estes estimulavam</a:t>
            </a:r>
            <a:r>
              <a:rPr lang="pt-BR" altLang="pt-BR" dirty="0">
                <a:solidFill>
                  <a:srgbClr val="39393A"/>
                </a:solidFill>
                <a:latin typeface="Lora"/>
              </a:rPr>
              <a:t> (.</a:t>
            </a:r>
            <a:r>
              <a:rPr kumimoji="0" lang="pt-BR" altLang="pt-BR" b="0" i="0" u="none" strike="noStrike" cap="none" normalizeH="0" baseline="0" dirty="0">
                <a:ln>
                  <a:noFill/>
                </a:ln>
                <a:solidFill>
                  <a:srgbClr val="39393A"/>
                </a:solidFill>
                <a:effectLst/>
                <a:latin typeface="Lora"/>
              </a:rPr>
              <a:t>..) .Um extremo, temos a Índia britânica governada por vice-reis tais como </a:t>
            </a:r>
            <a:r>
              <a:rPr kumimoji="0" lang="pt-BR" altLang="pt-BR" b="0" i="0" u="none" strike="noStrike" cap="none" normalizeH="0" baseline="0" dirty="0" err="1">
                <a:ln>
                  <a:noFill/>
                </a:ln>
                <a:solidFill>
                  <a:srgbClr val="39393A"/>
                </a:solidFill>
                <a:effectLst/>
                <a:latin typeface="Lora"/>
              </a:rPr>
              <a:t>Lytton</a:t>
            </a:r>
            <a:r>
              <a:rPr kumimoji="0" lang="pt-BR" altLang="pt-BR" b="0" i="0" u="none" strike="noStrike" cap="none" normalizeH="0" baseline="0" dirty="0">
                <a:ln>
                  <a:noFill/>
                </a:ln>
                <a:solidFill>
                  <a:srgbClr val="39393A"/>
                </a:solidFill>
                <a:effectLst/>
                <a:latin typeface="Lora"/>
              </a:rPr>
              <a:t>, o segundo Elgin e </a:t>
            </a:r>
            <a:r>
              <a:rPr kumimoji="0" lang="pt-BR" altLang="pt-BR" b="0" i="0" u="none" strike="noStrike" cap="none" normalizeH="0" baseline="0" dirty="0" err="1">
                <a:ln>
                  <a:noFill/>
                </a:ln>
                <a:solidFill>
                  <a:srgbClr val="39393A"/>
                </a:solidFill>
                <a:effectLst/>
                <a:latin typeface="Lora"/>
              </a:rPr>
              <a:t>Curzon</a:t>
            </a:r>
            <a:r>
              <a:rPr kumimoji="0" lang="pt-BR" altLang="pt-BR" b="0" i="0" u="none" strike="noStrike" cap="none" normalizeH="0" baseline="0" dirty="0">
                <a:ln>
                  <a:noFill/>
                </a:ln>
                <a:solidFill>
                  <a:srgbClr val="39393A"/>
                </a:solidFill>
                <a:effectLst/>
                <a:latin typeface="Lora"/>
              </a:rPr>
              <a:t>, </a:t>
            </a:r>
            <a:r>
              <a:rPr kumimoji="0" lang="pt-BR" altLang="pt-BR" b="1" i="0" u="sng" strike="noStrike" cap="none" normalizeH="0" baseline="0" dirty="0">
                <a:ln>
                  <a:noFill/>
                </a:ln>
                <a:solidFill>
                  <a:srgbClr val="39393A"/>
                </a:solidFill>
                <a:effectLst/>
                <a:latin typeface="Lora"/>
              </a:rPr>
              <a:t>onde o dogma do livre comércio e o frio cálculo egoísta do Império justificavam a exportação de enormes quantidades de cereais para a Inglaterra, bem no meio da mais horrível hecatombe</a:t>
            </a:r>
            <a:r>
              <a:rPr kumimoji="0" lang="pt-BR" altLang="pt-BR" b="1" i="0" strike="noStrike" cap="none" normalizeH="0" baseline="0" dirty="0">
                <a:ln>
                  <a:noFill/>
                </a:ln>
                <a:solidFill>
                  <a:srgbClr val="39393A"/>
                </a:solidFill>
                <a:effectLst/>
                <a:latin typeface="Lora"/>
              </a:rPr>
              <a:t>.” </a:t>
            </a:r>
            <a:r>
              <a:rPr lang="pt-BR" altLang="pt-BR" b="1" dirty="0">
                <a:solidFill>
                  <a:srgbClr val="39393A"/>
                </a:solidFill>
                <a:latin typeface="Lora"/>
              </a:rPr>
              <a:t>  </a:t>
            </a:r>
            <a:r>
              <a:rPr kumimoji="0" lang="pt-BR" altLang="pt-BR" b="1" i="0" strike="noStrike" cap="none" normalizeH="0" baseline="0" dirty="0">
                <a:ln>
                  <a:noFill/>
                </a:ln>
                <a:solidFill>
                  <a:srgbClr val="39393A"/>
                </a:solidFill>
                <a:effectLst/>
                <a:latin typeface="Lora"/>
              </a:rPr>
              <a:t>(</a:t>
            </a:r>
            <a:r>
              <a:rPr lang="pt-BR" sz="1400" dirty="0">
                <a:hlinkClick r:id="rId5"/>
              </a:rPr>
              <a:t>https://diplomatique.org.br/o-genocidio-da-grande-fome-do-seculo-19</a:t>
            </a:r>
            <a:r>
              <a:rPr lang="pt-BR" dirty="0">
                <a:hlinkClick r:id="rId5"/>
              </a:rPr>
              <a:t>/</a:t>
            </a:r>
            <a:r>
              <a:rPr lang="pt-BR" dirty="0"/>
              <a:t>)</a:t>
            </a:r>
            <a:endParaRPr kumimoji="0" lang="pt-BR" altLang="pt-BR" b="1" i="0" strike="noStrike" cap="none" normalizeH="0" baseline="0" dirty="0">
              <a:ln>
                <a:noFill/>
              </a:ln>
              <a:solidFill>
                <a:schemeClr val="tx1"/>
              </a:solidFill>
              <a:effectLst/>
              <a:latin typeface="Arial" panose="020B0604020202020204" pitchFamily="34" charset="0"/>
            </a:endParaRPr>
          </a:p>
        </p:txBody>
      </p:sp>
      <p:sp>
        <p:nvSpPr>
          <p:cNvPr id="19" name="Seta: para Baixo 18">
            <a:extLst>
              <a:ext uri="{FF2B5EF4-FFF2-40B4-BE49-F238E27FC236}">
                <a16:creationId xmlns:a16="http://schemas.microsoft.com/office/drawing/2014/main" id="{38E786A4-4425-4B62-B8FA-1B39CB9200C2}"/>
              </a:ext>
            </a:extLst>
          </p:cNvPr>
          <p:cNvSpPr/>
          <p:nvPr/>
        </p:nvSpPr>
        <p:spPr>
          <a:xfrm>
            <a:off x="9591675" y="3429000"/>
            <a:ext cx="85725" cy="31580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CaixaDeTexto 19">
            <a:extLst>
              <a:ext uri="{FF2B5EF4-FFF2-40B4-BE49-F238E27FC236}">
                <a16:creationId xmlns:a16="http://schemas.microsoft.com/office/drawing/2014/main" id="{F65DB73C-53B0-4583-BE80-6F3AEB81CBE5}"/>
              </a:ext>
            </a:extLst>
          </p:cNvPr>
          <p:cNvSpPr txBox="1"/>
          <p:nvPr/>
        </p:nvSpPr>
        <p:spPr>
          <a:xfrm>
            <a:off x="728124" y="4158459"/>
            <a:ext cx="2129316" cy="369332"/>
          </a:xfrm>
          <a:prstGeom prst="rect">
            <a:avLst/>
          </a:prstGeom>
          <a:noFill/>
        </p:spPr>
        <p:txBody>
          <a:bodyPr wrap="square" rtlCol="0">
            <a:spAutoFit/>
          </a:bodyPr>
          <a:lstStyle/>
          <a:p>
            <a:r>
              <a:rPr lang="pt-BR" dirty="0">
                <a:solidFill>
                  <a:srgbClr val="FF0000"/>
                </a:solidFill>
                <a:latin typeface="Algerian" panose="04020705040A02060702" pitchFamily="82" charset="0"/>
              </a:rPr>
              <a:t>Tecidos Hindus</a:t>
            </a:r>
          </a:p>
        </p:txBody>
      </p:sp>
    </p:spTree>
    <p:extLst>
      <p:ext uri="{BB962C8B-B14F-4D97-AF65-F5344CB8AC3E}">
        <p14:creationId xmlns:p14="http://schemas.microsoft.com/office/powerpoint/2010/main" val="2671606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2035D88-E5B8-4717-8268-3A26E92CDED9}"/>
              </a:ext>
            </a:extLst>
          </p:cNvPr>
          <p:cNvSpPr txBox="1"/>
          <p:nvPr/>
        </p:nvSpPr>
        <p:spPr>
          <a:xfrm>
            <a:off x="95250" y="1177765"/>
            <a:ext cx="1847850" cy="369332"/>
          </a:xfrm>
          <a:prstGeom prst="rect">
            <a:avLst/>
          </a:prstGeom>
          <a:noFill/>
        </p:spPr>
        <p:txBody>
          <a:bodyPr wrap="square" rtlCol="0">
            <a:spAutoFit/>
          </a:bodyPr>
          <a:lstStyle/>
          <a:p>
            <a:r>
              <a:rPr lang="pt-BR" dirty="0"/>
              <a:t>As Resistências</a:t>
            </a:r>
          </a:p>
        </p:txBody>
      </p:sp>
      <p:sp>
        <p:nvSpPr>
          <p:cNvPr id="3" name="CaixaDeTexto 2">
            <a:extLst>
              <a:ext uri="{FF2B5EF4-FFF2-40B4-BE49-F238E27FC236}">
                <a16:creationId xmlns:a16="http://schemas.microsoft.com/office/drawing/2014/main" id="{B45E7C2D-32FF-4D72-8496-386BAA52B1EF}"/>
              </a:ext>
            </a:extLst>
          </p:cNvPr>
          <p:cNvSpPr txBox="1"/>
          <p:nvPr/>
        </p:nvSpPr>
        <p:spPr>
          <a:xfrm>
            <a:off x="1840459" y="228600"/>
            <a:ext cx="6181726" cy="2585323"/>
          </a:xfrm>
          <a:prstGeom prst="rect">
            <a:avLst/>
          </a:prstGeom>
          <a:noFill/>
        </p:spPr>
        <p:txBody>
          <a:bodyPr wrap="square" rtlCol="0">
            <a:spAutoFit/>
          </a:bodyPr>
          <a:lstStyle/>
          <a:p>
            <a:r>
              <a:rPr lang="pt-BR" b="1" dirty="0"/>
              <a:t>A Revolta dos Sipaios teria gerado uma trinca nas relações entre Inglaterra e Índia...As concessões britânicas  (Partido do Congresso Africano) gerarão uma elite política e cultural que vai gradativamente questionar os privilégios jurídicos e fiscais britânicos ...</a:t>
            </a:r>
            <a:r>
              <a:rPr lang="pt-BR" b="1" dirty="0" err="1"/>
              <a:t>Nehru</a:t>
            </a:r>
            <a:r>
              <a:rPr lang="pt-BR" b="1" dirty="0"/>
              <a:t> e Mahatma Gandhi nos fins do século XIX e início do XX iniciarão uma série de movimentos pacíficos de desobediência civil que colocarão em questão a natureza da presença britânica... Gandhi , que estudou na Inglaterra Direito, usará as ideias de John Locke contra os ingleses...</a:t>
            </a:r>
          </a:p>
        </p:txBody>
      </p:sp>
      <p:pic>
        <p:nvPicPr>
          <p:cNvPr id="2050" name="Picture 2">
            <a:extLst>
              <a:ext uri="{FF2B5EF4-FFF2-40B4-BE49-F238E27FC236}">
                <a16:creationId xmlns:a16="http://schemas.microsoft.com/office/drawing/2014/main" id="{BECBCE63-CA0E-4711-9243-85B5FAC1C1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3163" y="3052884"/>
            <a:ext cx="3652837" cy="243888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74A1BF9E-613E-400F-99F5-C1977CF7FC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819" y="3429000"/>
            <a:ext cx="1343025" cy="1927241"/>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a:extLst>
              <a:ext uri="{FF2B5EF4-FFF2-40B4-BE49-F238E27FC236}">
                <a16:creationId xmlns:a16="http://schemas.microsoft.com/office/drawing/2014/main" id="{768B59C6-EE9B-4776-B317-56B04D564EC5}"/>
              </a:ext>
            </a:extLst>
          </p:cNvPr>
          <p:cNvSpPr/>
          <p:nvPr/>
        </p:nvSpPr>
        <p:spPr>
          <a:xfrm>
            <a:off x="204186" y="5680235"/>
            <a:ext cx="1980029" cy="369332"/>
          </a:xfrm>
          <a:prstGeom prst="rect">
            <a:avLst/>
          </a:prstGeom>
        </p:spPr>
        <p:txBody>
          <a:bodyPr wrap="none">
            <a:spAutoFit/>
          </a:bodyPr>
          <a:lstStyle/>
          <a:p>
            <a:r>
              <a:rPr lang="pt-BR" dirty="0" err="1">
                <a:solidFill>
                  <a:srgbClr val="000000"/>
                </a:solidFill>
                <a:latin typeface="Arial" panose="020B0604020202020204" pitchFamily="34" charset="0"/>
              </a:rPr>
              <a:t>Jawaharlal</a:t>
            </a:r>
            <a:r>
              <a:rPr lang="pt-BR" dirty="0">
                <a:solidFill>
                  <a:srgbClr val="000000"/>
                </a:solidFill>
                <a:latin typeface="Arial" panose="020B0604020202020204" pitchFamily="34" charset="0"/>
              </a:rPr>
              <a:t> </a:t>
            </a:r>
            <a:r>
              <a:rPr lang="pt-BR" dirty="0" err="1">
                <a:solidFill>
                  <a:srgbClr val="000000"/>
                </a:solidFill>
                <a:latin typeface="Arial" panose="020B0604020202020204" pitchFamily="34" charset="0"/>
              </a:rPr>
              <a:t>Nehru</a:t>
            </a:r>
            <a:endParaRPr lang="pt-BR" dirty="0"/>
          </a:p>
        </p:txBody>
      </p:sp>
      <p:sp>
        <p:nvSpPr>
          <p:cNvPr id="5" name="Retângulo 4">
            <a:extLst>
              <a:ext uri="{FF2B5EF4-FFF2-40B4-BE49-F238E27FC236}">
                <a16:creationId xmlns:a16="http://schemas.microsoft.com/office/drawing/2014/main" id="{04DE41C3-49C2-4A3B-942D-C7709FD41BDF}"/>
              </a:ext>
            </a:extLst>
          </p:cNvPr>
          <p:cNvSpPr/>
          <p:nvPr/>
        </p:nvSpPr>
        <p:spPr>
          <a:xfrm>
            <a:off x="3404600" y="5730733"/>
            <a:ext cx="2601994" cy="369332"/>
          </a:xfrm>
          <a:prstGeom prst="rect">
            <a:avLst/>
          </a:prstGeom>
        </p:spPr>
        <p:txBody>
          <a:bodyPr wrap="none">
            <a:spAutoFit/>
          </a:bodyPr>
          <a:lstStyle/>
          <a:p>
            <a:r>
              <a:rPr lang="pt-BR" dirty="0">
                <a:solidFill>
                  <a:srgbClr val="000000"/>
                </a:solidFill>
                <a:latin typeface="Lucida Grande"/>
              </a:rPr>
              <a:t>Mahatma Gandhi, 1931.</a:t>
            </a:r>
            <a:endParaRPr lang="pt-BR" dirty="0"/>
          </a:p>
        </p:txBody>
      </p:sp>
      <p:pic>
        <p:nvPicPr>
          <p:cNvPr id="2054" name="Picture 6" descr="A Desobediência Civil por [Henry David Thoreau, Sergio Karam]">
            <a:extLst>
              <a:ext uri="{FF2B5EF4-FFF2-40B4-BE49-F238E27FC236}">
                <a16:creationId xmlns:a16="http://schemas.microsoft.com/office/drawing/2014/main" id="{4901F259-D6B8-48BF-A6FC-6F0F4A43AA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7981" y="2899665"/>
            <a:ext cx="1926641" cy="3200400"/>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5">
            <a:extLst>
              <a:ext uri="{FF2B5EF4-FFF2-40B4-BE49-F238E27FC236}">
                <a16:creationId xmlns:a16="http://schemas.microsoft.com/office/drawing/2014/main" id="{66ECFD80-CB76-4970-BF49-295172662C91}"/>
              </a:ext>
            </a:extLst>
          </p:cNvPr>
          <p:cNvSpPr/>
          <p:nvPr/>
        </p:nvSpPr>
        <p:spPr>
          <a:xfrm>
            <a:off x="8694191" y="228600"/>
            <a:ext cx="3314700" cy="6186309"/>
          </a:xfrm>
          <a:prstGeom prst="rect">
            <a:avLst/>
          </a:prstGeom>
        </p:spPr>
        <p:txBody>
          <a:bodyPr wrap="square">
            <a:spAutoFit/>
          </a:bodyPr>
          <a:lstStyle/>
          <a:p>
            <a:pPr algn="just"/>
            <a:r>
              <a:rPr lang="pt-BR" dirty="0">
                <a:solidFill>
                  <a:srgbClr val="000000"/>
                </a:solidFill>
                <a:latin typeface="Raleway"/>
              </a:rPr>
              <a:t>“A </a:t>
            </a:r>
            <a:r>
              <a:rPr lang="pt-BR" b="1" dirty="0">
                <a:solidFill>
                  <a:srgbClr val="000000"/>
                </a:solidFill>
                <a:latin typeface="inherit"/>
              </a:rPr>
              <a:t>desobediência civil</a:t>
            </a:r>
            <a:r>
              <a:rPr lang="pt-BR" dirty="0">
                <a:solidFill>
                  <a:srgbClr val="000000"/>
                </a:solidFill>
                <a:latin typeface="Raleway"/>
              </a:rPr>
              <a:t> é um conceito que determina uma forma de ação social manifestada como protesto político. Essa ideia traz o sentido de uma desobediência expressa a uma determinada lei, caso ela seja enxergada como injusta por um determinado grupo de pessoas. É uma ação caracterizada pela não-violência e visa a transformação social.</a:t>
            </a:r>
          </a:p>
          <a:p>
            <a:pPr algn="just"/>
            <a:r>
              <a:rPr lang="pt-BR" dirty="0">
                <a:solidFill>
                  <a:srgbClr val="000000"/>
                </a:solidFill>
                <a:latin typeface="Raleway"/>
              </a:rPr>
              <a:t>Essa ideia foi desenvolvida inicialmente por um ativista norte-americano do século XIX chamado Henry David </a:t>
            </a:r>
            <a:r>
              <a:rPr lang="pt-BR" dirty="0" err="1">
                <a:solidFill>
                  <a:srgbClr val="000000"/>
                </a:solidFill>
                <a:latin typeface="Raleway"/>
              </a:rPr>
              <a:t>Thoreau</a:t>
            </a:r>
            <a:r>
              <a:rPr lang="pt-BR" dirty="0">
                <a:solidFill>
                  <a:srgbClr val="000000"/>
                </a:solidFill>
                <a:latin typeface="Raleway"/>
              </a:rPr>
              <a:t>, que manifestou sua insatisfação com os impostos cobrados para financiar a </a:t>
            </a:r>
            <a:r>
              <a:rPr lang="pt-BR" dirty="0">
                <a:solidFill>
                  <a:srgbClr val="000000"/>
                </a:solidFill>
                <a:latin typeface="inherit"/>
                <a:hlinkClick r:id="rId5"/>
              </a:rPr>
              <a:t>Guerra Mexicano-Americana</a:t>
            </a:r>
            <a:r>
              <a:rPr lang="pt-BR" dirty="0">
                <a:solidFill>
                  <a:srgbClr val="000000"/>
                </a:solidFill>
                <a:latin typeface="inherit"/>
              </a:rPr>
              <a:t>”</a:t>
            </a:r>
            <a:r>
              <a:rPr lang="pt-BR" dirty="0">
                <a:solidFill>
                  <a:srgbClr val="000000"/>
                </a:solidFill>
                <a:latin typeface="Raleway"/>
              </a:rPr>
              <a:t>.</a:t>
            </a:r>
            <a:endParaRPr lang="pt-BR" b="0" i="0" dirty="0">
              <a:solidFill>
                <a:srgbClr val="000000"/>
              </a:solidFill>
              <a:effectLst/>
              <a:latin typeface="Raleway"/>
            </a:endParaRPr>
          </a:p>
        </p:txBody>
      </p:sp>
      <p:sp>
        <p:nvSpPr>
          <p:cNvPr id="7" name="Retângulo 6">
            <a:extLst>
              <a:ext uri="{FF2B5EF4-FFF2-40B4-BE49-F238E27FC236}">
                <a16:creationId xmlns:a16="http://schemas.microsoft.com/office/drawing/2014/main" id="{B6AC71C4-F0D0-4BAE-9839-6B36539733B5}"/>
              </a:ext>
            </a:extLst>
          </p:cNvPr>
          <p:cNvSpPr/>
          <p:nvPr/>
        </p:nvSpPr>
        <p:spPr>
          <a:xfrm>
            <a:off x="8193635" y="6367790"/>
            <a:ext cx="4103140" cy="261610"/>
          </a:xfrm>
          <a:prstGeom prst="rect">
            <a:avLst/>
          </a:prstGeom>
        </p:spPr>
        <p:txBody>
          <a:bodyPr wrap="square">
            <a:spAutoFit/>
          </a:bodyPr>
          <a:lstStyle/>
          <a:p>
            <a:r>
              <a:rPr lang="pt-BR" sz="1100" dirty="0">
                <a:hlinkClick r:id="rId6"/>
              </a:rPr>
              <a:t>https://brasilescola.uol.com.br/sociologia/desobediencia-civil.htm</a:t>
            </a:r>
            <a:endParaRPr lang="pt-BR" sz="1100" dirty="0"/>
          </a:p>
        </p:txBody>
      </p:sp>
    </p:spTree>
    <p:extLst>
      <p:ext uri="{BB962C8B-B14F-4D97-AF65-F5344CB8AC3E}">
        <p14:creationId xmlns:p14="http://schemas.microsoft.com/office/powerpoint/2010/main" val="3376972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ED22BC8-6F15-4DA5-84AB-BBBE50B2C270}"/>
              </a:ext>
            </a:extLst>
          </p:cNvPr>
          <p:cNvSpPr txBox="1"/>
          <p:nvPr/>
        </p:nvSpPr>
        <p:spPr>
          <a:xfrm>
            <a:off x="238125" y="104775"/>
            <a:ext cx="5248275" cy="400110"/>
          </a:xfrm>
          <a:prstGeom prst="rect">
            <a:avLst/>
          </a:prstGeom>
          <a:noFill/>
        </p:spPr>
        <p:txBody>
          <a:bodyPr wrap="square" rtlCol="0">
            <a:spAutoFit/>
          </a:bodyPr>
          <a:lstStyle/>
          <a:p>
            <a:r>
              <a:rPr lang="pt-BR" sz="2000" dirty="0"/>
              <a:t>Exemplos de Imperialismo na Ásia... </a:t>
            </a:r>
          </a:p>
        </p:txBody>
      </p:sp>
      <p:sp>
        <p:nvSpPr>
          <p:cNvPr id="5" name="CaixaDeTexto 4">
            <a:extLst>
              <a:ext uri="{FF2B5EF4-FFF2-40B4-BE49-F238E27FC236}">
                <a16:creationId xmlns:a16="http://schemas.microsoft.com/office/drawing/2014/main" id="{909F43F5-152A-4024-AEEC-13ABBD5F9DB4}"/>
              </a:ext>
            </a:extLst>
          </p:cNvPr>
          <p:cNvSpPr txBox="1"/>
          <p:nvPr/>
        </p:nvSpPr>
        <p:spPr>
          <a:xfrm>
            <a:off x="4866099" y="197897"/>
            <a:ext cx="2251474" cy="584775"/>
          </a:xfrm>
          <a:prstGeom prst="rect">
            <a:avLst/>
          </a:prstGeom>
          <a:noFill/>
        </p:spPr>
        <p:txBody>
          <a:bodyPr wrap="square" rtlCol="0">
            <a:spAutoFit/>
          </a:bodyPr>
          <a:lstStyle/>
          <a:p>
            <a:r>
              <a:rPr lang="pt-BR" sz="3200" dirty="0">
                <a:latin typeface="Arial Black" panose="020B0A04020102020204" pitchFamily="34" charset="0"/>
              </a:rPr>
              <a:t>A China</a:t>
            </a:r>
          </a:p>
        </p:txBody>
      </p:sp>
      <p:sp>
        <p:nvSpPr>
          <p:cNvPr id="6" name="CaixaDeTexto 5">
            <a:extLst>
              <a:ext uri="{FF2B5EF4-FFF2-40B4-BE49-F238E27FC236}">
                <a16:creationId xmlns:a16="http://schemas.microsoft.com/office/drawing/2014/main" id="{C8D59220-83DC-4AB2-9F40-588119921997}"/>
              </a:ext>
            </a:extLst>
          </p:cNvPr>
          <p:cNvSpPr txBox="1"/>
          <p:nvPr/>
        </p:nvSpPr>
        <p:spPr>
          <a:xfrm>
            <a:off x="97631" y="1970908"/>
            <a:ext cx="1695450" cy="369332"/>
          </a:xfrm>
          <a:prstGeom prst="rect">
            <a:avLst/>
          </a:prstGeom>
          <a:noFill/>
        </p:spPr>
        <p:txBody>
          <a:bodyPr wrap="square" rtlCol="0">
            <a:spAutoFit/>
          </a:bodyPr>
          <a:lstStyle/>
          <a:p>
            <a:r>
              <a:rPr lang="pt-BR" dirty="0"/>
              <a:t>Características</a:t>
            </a:r>
          </a:p>
        </p:txBody>
      </p:sp>
      <p:sp>
        <p:nvSpPr>
          <p:cNvPr id="8" name="CaixaDeTexto 7">
            <a:extLst>
              <a:ext uri="{FF2B5EF4-FFF2-40B4-BE49-F238E27FC236}">
                <a16:creationId xmlns:a16="http://schemas.microsoft.com/office/drawing/2014/main" id="{73A7D727-E3FA-43A6-8FEB-01D2D8D9A761}"/>
              </a:ext>
            </a:extLst>
          </p:cNvPr>
          <p:cNvSpPr txBox="1"/>
          <p:nvPr/>
        </p:nvSpPr>
        <p:spPr>
          <a:xfrm>
            <a:off x="1884758" y="2096550"/>
            <a:ext cx="2114550" cy="1200329"/>
          </a:xfrm>
          <a:prstGeom prst="rect">
            <a:avLst/>
          </a:prstGeom>
          <a:noFill/>
        </p:spPr>
        <p:txBody>
          <a:bodyPr wrap="square" rtlCol="0">
            <a:spAutoFit/>
          </a:bodyPr>
          <a:lstStyle/>
          <a:p>
            <a:r>
              <a:rPr lang="pt-BR" dirty="0"/>
              <a:t>Existência de um poder central (Imperador Dinastia Manchu) </a:t>
            </a:r>
          </a:p>
        </p:txBody>
      </p:sp>
      <p:sp>
        <p:nvSpPr>
          <p:cNvPr id="9" name="CaixaDeTexto 8">
            <a:extLst>
              <a:ext uri="{FF2B5EF4-FFF2-40B4-BE49-F238E27FC236}">
                <a16:creationId xmlns:a16="http://schemas.microsoft.com/office/drawing/2014/main" id="{FDE3536A-65C0-44E2-ACAE-0A5250512F9A}"/>
              </a:ext>
            </a:extLst>
          </p:cNvPr>
          <p:cNvSpPr txBox="1"/>
          <p:nvPr/>
        </p:nvSpPr>
        <p:spPr>
          <a:xfrm>
            <a:off x="1857375" y="961065"/>
            <a:ext cx="3390900" cy="1200329"/>
          </a:xfrm>
          <a:prstGeom prst="rect">
            <a:avLst/>
          </a:prstGeom>
          <a:noFill/>
        </p:spPr>
        <p:txBody>
          <a:bodyPr wrap="square" rtlCol="0">
            <a:spAutoFit/>
          </a:bodyPr>
          <a:lstStyle/>
          <a:p>
            <a:r>
              <a:rPr lang="pt-BR" dirty="0"/>
              <a:t>História Milenar...Tradição...</a:t>
            </a:r>
          </a:p>
          <a:p>
            <a:r>
              <a:rPr lang="pt-BR" dirty="0"/>
              <a:t>Orgulho Cultural e um contato restrito e controlado em relação ao Ocidente</a:t>
            </a:r>
          </a:p>
        </p:txBody>
      </p:sp>
      <p:sp>
        <p:nvSpPr>
          <p:cNvPr id="10" name="CaixaDeTexto 9">
            <a:extLst>
              <a:ext uri="{FF2B5EF4-FFF2-40B4-BE49-F238E27FC236}">
                <a16:creationId xmlns:a16="http://schemas.microsoft.com/office/drawing/2014/main" id="{8CBC577F-9C42-482C-B67E-8399F2C0E981}"/>
              </a:ext>
            </a:extLst>
          </p:cNvPr>
          <p:cNvSpPr txBox="1"/>
          <p:nvPr/>
        </p:nvSpPr>
        <p:spPr>
          <a:xfrm>
            <a:off x="5691204" y="1524303"/>
            <a:ext cx="3829051" cy="1200329"/>
          </a:xfrm>
          <a:prstGeom prst="rect">
            <a:avLst/>
          </a:prstGeom>
          <a:noFill/>
        </p:spPr>
        <p:txBody>
          <a:bodyPr wrap="square" rtlCol="0">
            <a:spAutoFit/>
          </a:bodyPr>
          <a:lstStyle/>
          <a:p>
            <a:r>
              <a:rPr lang="pt-BR" dirty="0"/>
              <a:t>Restrições ao contato comercial com o exterior (único ponto de ligação é o porto de Cantão controlado por uma Guilda de mercadores – </a:t>
            </a:r>
            <a:r>
              <a:rPr lang="pt-BR" dirty="0" err="1"/>
              <a:t>Co-Hong</a:t>
            </a:r>
            <a:r>
              <a:rPr lang="pt-BR" dirty="0"/>
              <a:t>)</a:t>
            </a:r>
          </a:p>
        </p:txBody>
      </p:sp>
      <p:sp>
        <p:nvSpPr>
          <p:cNvPr id="11" name="CaixaDeTexto 10">
            <a:extLst>
              <a:ext uri="{FF2B5EF4-FFF2-40B4-BE49-F238E27FC236}">
                <a16:creationId xmlns:a16="http://schemas.microsoft.com/office/drawing/2014/main" id="{B6ED18A7-C61A-4C7A-990C-C0C4869E04E1}"/>
              </a:ext>
            </a:extLst>
          </p:cNvPr>
          <p:cNvSpPr txBox="1"/>
          <p:nvPr/>
        </p:nvSpPr>
        <p:spPr>
          <a:xfrm>
            <a:off x="4521995" y="2950776"/>
            <a:ext cx="3390899" cy="923330"/>
          </a:xfrm>
          <a:prstGeom prst="rect">
            <a:avLst/>
          </a:prstGeom>
          <a:noFill/>
        </p:spPr>
        <p:txBody>
          <a:bodyPr wrap="square" rtlCol="0">
            <a:spAutoFit/>
          </a:bodyPr>
          <a:lstStyle/>
          <a:p>
            <a:r>
              <a:rPr lang="pt-BR" dirty="0"/>
              <a:t>Mercadores Ingleses procuram uma forma de entrar nesse mercado...</a:t>
            </a:r>
          </a:p>
        </p:txBody>
      </p:sp>
      <p:sp>
        <p:nvSpPr>
          <p:cNvPr id="12" name="CaixaDeTexto 11">
            <a:extLst>
              <a:ext uri="{FF2B5EF4-FFF2-40B4-BE49-F238E27FC236}">
                <a16:creationId xmlns:a16="http://schemas.microsoft.com/office/drawing/2014/main" id="{1A559FF4-C87A-4864-8BF5-962F94D74454}"/>
              </a:ext>
            </a:extLst>
          </p:cNvPr>
          <p:cNvSpPr txBox="1"/>
          <p:nvPr/>
        </p:nvSpPr>
        <p:spPr>
          <a:xfrm>
            <a:off x="596508" y="3877784"/>
            <a:ext cx="3925487" cy="1200329"/>
          </a:xfrm>
          <a:prstGeom prst="rect">
            <a:avLst/>
          </a:prstGeom>
          <a:noFill/>
        </p:spPr>
        <p:txBody>
          <a:bodyPr wrap="square" rtlCol="0">
            <a:spAutoFit/>
          </a:bodyPr>
          <a:lstStyle/>
          <a:p>
            <a:r>
              <a:rPr lang="pt-BR" dirty="0"/>
              <a:t>Conhecendo o consumo cultural de ópio  ali, procuram brechas ...e portos para vendê-lo... O objetivo é produzir ópio na Índia  para vender na China...</a:t>
            </a:r>
          </a:p>
        </p:txBody>
      </p:sp>
      <p:sp>
        <p:nvSpPr>
          <p:cNvPr id="13" name="CaixaDeTexto 12">
            <a:extLst>
              <a:ext uri="{FF2B5EF4-FFF2-40B4-BE49-F238E27FC236}">
                <a16:creationId xmlns:a16="http://schemas.microsoft.com/office/drawing/2014/main" id="{C58BD888-C5B9-470A-BD4B-4954DF845E17}"/>
              </a:ext>
            </a:extLst>
          </p:cNvPr>
          <p:cNvSpPr txBox="1"/>
          <p:nvPr/>
        </p:nvSpPr>
        <p:spPr>
          <a:xfrm>
            <a:off x="5384010" y="4301129"/>
            <a:ext cx="6138861" cy="1200329"/>
          </a:xfrm>
          <a:prstGeom prst="rect">
            <a:avLst/>
          </a:prstGeom>
          <a:noFill/>
        </p:spPr>
        <p:txBody>
          <a:bodyPr wrap="square" rtlCol="0">
            <a:spAutoFit/>
          </a:bodyPr>
          <a:lstStyle/>
          <a:p>
            <a:r>
              <a:rPr lang="pt-BR" dirty="0"/>
              <a:t>Na tentativa de conter esse comércio e percebendo o aumento do consumo de Ópio dentro da sua sociedade, o Estado Chinês em um ato repressivo, apreende e lança  um carregamento de Ópio de um navio Inglês em seu porto ao mar...</a:t>
            </a:r>
          </a:p>
        </p:txBody>
      </p:sp>
      <p:sp>
        <p:nvSpPr>
          <p:cNvPr id="14" name="CaixaDeTexto 13">
            <a:extLst>
              <a:ext uri="{FF2B5EF4-FFF2-40B4-BE49-F238E27FC236}">
                <a16:creationId xmlns:a16="http://schemas.microsoft.com/office/drawing/2014/main" id="{407682E8-294C-437B-BA0D-157E341EC0F7}"/>
              </a:ext>
            </a:extLst>
          </p:cNvPr>
          <p:cNvSpPr txBox="1"/>
          <p:nvPr/>
        </p:nvSpPr>
        <p:spPr>
          <a:xfrm>
            <a:off x="5691204" y="1240932"/>
            <a:ext cx="2876550" cy="369332"/>
          </a:xfrm>
          <a:prstGeom prst="rect">
            <a:avLst/>
          </a:prstGeom>
          <a:noFill/>
        </p:spPr>
        <p:txBody>
          <a:bodyPr wrap="square" rtlCol="0">
            <a:spAutoFit/>
          </a:bodyPr>
          <a:lstStyle/>
          <a:p>
            <a:r>
              <a:rPr lang="pt-BR" dirty="0"/>
              <a:t>Economia Fechada</a:t>
            </a:r>
          </a:p>
        </p:txBody>
      </p:sp>
      <p:sp>
        <p:nvSpPr>
          <p:cNvPr id="15" name="CaixaDeTexto 14">
            <a:extLst>
              <a:ext uri="{FF2B5EF4-FFF2-40B4-BE49-F238E27FC236}">
                <a16:creationId xmlns:a16="http://schemas.microsoft.com/office/drawing/2014/main" id="{A5BEA8B8-3EE2-41CD-8ADF-8AA42CA1BF11}"/>
              </a:ext>
            </a:extLst>
          </p:cNvPr>
          <p:cNvSpPr txBox="1"/>
          <p:nvPr/>
        </p:nvSpPr>
        <p:spPr>
          <a:xfrm>
            <a:off x="1693070" y="6097805"/>
            <a:ext cx="9372602" cy="461665"/>
          </a:xfrm>
          <a:prstGeom prst="rect">
            <a:avLst/>
          </a:prstGeom>
          <a:noFill/>
        </p:spPr>
        <p:txBody>
          <a:bodyPr wrap="square" rtlCol="0">
            <a:spAutoFit/>
          </a:bodyPr>
          <a:lstStyle/>
          <a:p>
            <a:r>
              <a:rPr lang="pt-BR" sz="2400" b="1" dirty="0"/>
              <a:t>Ação Militar conduzida pela Inglaterra- “As Guerras do Ópio” (1840/42)</a:t>
            </a:r>
          </a:p>
        </p:txBody>
      </p:sp>
      <p:sp>
        <p:nvSpPr>
          <p:cNvPr id="16" name="Chave Esquerda 15">
            <a:extLst>
              <a:ext uri="{FF2B5EF4-FFF2-40B4-BE49-F238E27FC236}">
                <a16:creationId xmlns:a16="http://schemas.microsoft.com/office/drawing/2014/main" id="{F77399A8-FAB7-458E-B545-325C19D522A1}"/>
              </a:ext>
            </a:extLst>
          </p:cNvPr>
          <p:cNvSpPr/>
          <p:nvPr/>
        </p:nvSpPr>
        <p:spPr>
          <a:xfrm>
            <a:off x="1640682" y="831093"/>
            <a:ext cx="400048" cy="270062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7" name="CaixaDeTexto 16">
            <a:extLst>
              <a:ext uri="{FF2B5EF4-FFF2-40B4-BE49-F238E27FC236}">
                <a16:creationId xmlns:a16="http://schemas.microsoft.com/office/drawing/2014/main" id="{9B8BCCA6-74CD-4204-BA8C-A0D91ABA9B75}"/>
              </a:ext>
            </a:extLst>
          </p:cNvPr>
          <p:cNvSpPr txBox="1"/>
          <p:nvPr/>
        </p:nvSpPr>
        <p:spPr>
          <a:xfrm>
            <a:off x="3340893" y="5634224"/>
            <a:ext cx="4572001" cy="369332"/>
          </a:xfrm>
          <a:prstGeom prst="rect">
            <a:avLst/>
          </a:prstGeom>
          <a:noFill/>
        </p:spPr>
        <p:txBody>
          <a:bodyPr wrap="square" rtlCol="0">
            <a:spAutoFit/>
          </a:bodyPr>
          <a:lstStyle/>
          <a:p>
            <a:r>
              <a:rPr lang="pt-BR" dirty="0">
                <a:solidFill>
                  <a:srgbClr val="FF0000"/>
                </a:solidFill>
                <a:latin typeface="Arial Black" panose="020B0A04020102020204" pitchFamily="34" charset="0"/>
              </a:rPr>
              <a:t>Pretexto para uma ação de Guerra</a:t>
            </a:r>
          </a:p>
        </p:txBody>
      </p:sp>
      <p:cxnSp>
        <p:nvCxnSpPr>
          <p:cNvPr id="19" name="Conector de Seta Reta 18">
            <a:extLst>
              <a:ext uri="{FF2B5EF4-FFF2-40B4-BE49-F238E27FC236}">
                <a16:creationId xmlns:a16="http://schemas.microsoft.com/office/drawing/2014/main" id="{278949A6-337D-4FBC-B757-8B917D61363B}"/>
              </a:ext>
            </a:extLst>
          </p:cNvPr>
          <p:cNvCxnSpPr/>
          <p:nvPr/>
        </p:nvCxnSpPr>
        <p:spPr>
          <a:xfrm>
            <a:off x="4395785" y="1970908"/>
            <a:ext cx="8524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Chave Esquerda 19">
            <a:extLst>
              <a:ext uri="{FF2B5EF4-FFF2-40B4-BE49-F238E27FC236}">
                <a16:creationId xmlns:a16="http://schemas.microsoft.com/office/drawing/2014/main" id="{8D7F6473-3F6E-4B7C-92CF-046240F7D926}"/>
              </a:ext>
            </a:extLst>
          </p:cNvPr>
          <p:cNvSpPr/>
          <p:nvPr/>
        </p:nvSpPr>
        <p:spPr>
          <a:xfrm>
            <a:off x="5378654" y="1166393"/>
            <a:ext cx="585786" cy="161517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22" name="Conector de Seta Reta 21">
            <a:extLst>
              <a:ext uri="{FF2B5EF4-FFF2-40B4-BE49-F238E27FC236}">
                <a16:creationId xmlns:a16="http://schemas.microsoft.com/office/drawing/2014/main" id="{42416781-BC5E-4651-BFFD-21245D37AA9E}"/>
              </a:ext>
            </a:extLst>
          </p:cNvPr>
          <p:cNvCxnSpPr/>
          <p:nvPr/>
        </p:nvCxnSpPr>
        <p:spPr>
          <a:xfrm>
            <a:off x="4420793" y="2469810"/>
            <a:ext cx="476250" cy="469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a:extLst>
              <a:ext uri="{FF2B5EF4-FFF2-40B4-BE49-F238E27FC236}">
                <a16:creationId xmlns:a16="http://schemas.microsoft.com/office/drawing/2014/main" id="{B607F632-CB43-4082-B4DD-604F00A02267}"/>
              </a:ext>
            </a:extLst>
          </p:cNvPr>
          <p:cNvCxnSpPr/>
          <p:nvPr/>
        </p:nvCxnSpPr>
        <p:spPr>
          <a:xfrm flipH="1">
            <a:off x="5024444" y="2336872"/>
            <a:ext cx="523876" cy="6175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25">
            <a:extLst>
              <a:ext uri="{FF2B5EF4-FFF2-40B4-BE49-F238E27FC236}">
                <a16:creationId xmlns:a16="http://schemas.microsoft.com/office/drawing/2014/main" id="{2AFFBD70-E034-404A-9906-F901E23CF808}"/>
              </a:ext>
            </a:extLst>
          </p:cNvPr>
          <p:cNvCxnSpPr/>
          <p:nvPr/>
        </p:nvCxnSpPr>
        <p:spPr>
          <a:xfrm flipH="1">
            <a:off x="3999308" y="3330289"/>
            <a:ext cx="504827" cy="461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42AA633C-1703-49FB-975A-2E28117B9C67}"/>
              </a:ext>
            </a:extLst>
          </p:cNvPr>
          <p:cNvCxnSpPr/>
          <p:nvPr/>
        </p:nvCxnSpPr>
        <p:spPr>
          <a:xfrm>
            <a:off x="5288759" y="3915556"/>
            <a:ext cx="280988" cy="2815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ector de Seta Reta 29">
            <a:extLst>
              <a:ext uri="{FF2B5EF4-FFF2-40B4-BE49-F238E27FC236}">
                <a16:creationId xmlns:a16="http://schemas.microsoft.com/office/drawing/2014/main" id="{012A7947-E8DF-4755-BAC8-6DBE837E18D1}"/>
              </a:ext>
            </a:extLst>
          </p:cNvPr>
          <p:cNvCxnSpPr>
            <a:cxnSpLocks/>
          </p:cNvCxnSpPr>
          <p:nvPr/>
        </p:nvCxnSpPr>
        <p:spPr>
          <a:xfrm flipH="1">
            <a:off x="4822030" y="4783999"/>
            <a:ext cx="504826" cy="759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tângulo 1">
            <a:extLst>
              <a:ext uri="{FF2B5EF4-FFF2-40B4-BE49-F238E27FC236}">
                <a16:creationId xmlns:a16="http://schemas.microsoft.com/office/drawing/2014/main" id="{7F749F3E-BB1D-420D-A69B-2DFD73F62415}"/>
              </a:ext>
            </a:extLst>
          </p:cNvPr>
          <p:cNvSpPr/>
          <p:nvPr/>
        </p:nvSpPr>
        <p:spPr>
          <a:xfrm>
            <a:off x="9673241" y="193966"/>
            <a:ext cx="2518759" cy="3970318"/>
          </a:xfrm>
          <a:prstGeom prst="rect">
            <a:avLst/>
          </a:prstGeom>
        </p:spPr>
        <p:txBody>
          <a:bodyPr wrap="square">
            <a:spAutoFit/>
          </a:bodyPr>
          <a:lstStyle/>
          <a:p>
            <a:r>
              <a:rPr lang="pt-BR" b="1" dirty="0">
                <a:solidFill>
                  <a:schemeClr val="tx2">
                    <a:lumMod val="50000"/>
                  </a:schemeClr>
                </a:solidFill>
              </a:rPr>
              <a:t>Produtora de </a:t>
            </a:r>
            <a:r>
              <a:rPr lang="pt-BR" b="1" dirty="0">
                <a:solidFill>
                  <a:schemeClr val="tx2">
                    <a:lumMod val="50000"/>
                  </a:schemeClr>
                </a:solidFill>
                <a:hlinkClick r:id="rId2" tooltip="Seda">
                  <a:extLst>
                    <a:ext uri="{A12FA001-AC4F-418D-AE19-62706E023703}">
                      <ahyp:hlinkClr xmlns:ahyp="http://schemas.microsoft.com/office/drawing/2018/hyperlinkcolor" val="tx"/>
                    </a:ext>
                  </a:extLst>
                </a:hlinkClick>
              </a:rPr>
              <a:t>seda</a:t>
            </a:r>
            <a:r>
              <a:rPr lang="pt-BR" b="1" dirty="0">
                <a:solidFill>
                  <a:schemeClr val="tx2">
                    <a:lumMod val="50000"/>
                  </a:schemeClr>
                </a:solidFill>
              </a:rPr>
              <a:t>, </a:t>
            </a:r>
            <a:r>
              <a:rPr lang="pt-BR" b="1" dirty="0">
                <a:solidFill>
                  <a:schemeClr val="tx2">
                    <a:lumMod val="50000"/>
                  </a:schemeClr>
                </a:solidFill>
                <a:hlinkClick r:id="rId3" tooltip="Porcelana">
                  <a:extLst>
                    <a:ext uri="{A12FA001-AC4F-418D-AE19-62706E023703}">
                      <ahyp:hlinkClr xmlns:ahyp="http://schemas.microsoft.com/office/drawing/2018/hyperlinkcolor" val="tx"/>
                    </a:ext>
                  </a:extLst>
                </a:hlinkClick>
              </a:rPr>
              <a:t>porcelana</a:t>
            </a:r>
            <a:r>
              <a:rPr lang="pt-BR" b="1" dirty="0">
                <a:solidFill>
                  <a:schemeClr val="tx2">
                    <a:lumMod val="50000"/>
                  </a:schemeClr>
                </a:solidFill>
              </a:rPr>
              <a:t> e </a:t>
            </a:r>
            <a:r>
              <a:rPr lang="pt-BR" b="1" dirty="0">
                <a:solidFill>
                  <a:schemeClr val="tx2">
                    <a:lumMod val="50000"/>
                  </a:schemeClr>
                </a:solidFill>
                <a:hlinkClick r:id="rId4" tooltip="Chá">
                  <a:extLst>
                    <a:ext uri="{A12FA001-AC4F-418D-AE19-62706E023703}">
                      <ahyp:hlinkClr xmlns:ahyp="http://schemas.microsoft.com/office/drawing/2018/hyperlinkcolor" val="tx"/>
                    </a:ext>
                  </a:extLst>
                </a:hlinkClick>
              </a:rPr>
              <a:t>chá</a:t>
            </a:r>
            <a:r>
              <a:rPr lang="pt-BR" b="1" dirty="0">
                <a:solidFill>
                  <a:schemeClr val="tx2">
                    <a:lumMod val="50000"/>
                  </a:schemeClr>
                </a:solidFill>
              </a:rPr>
              <a:t> (os britânicos compraram 12.700 </a:t>
            </a:r>
            <a:r>
              <a:rPr lang="pt-BR" b="1" dirty="0">
                <a:solidFill>
                  <a:schemeClr val="tx2">
                    <a:lumMod val="50000"/>
                  </a:schemeClr>
                </a:solidFill>
                <a:hlinkClick r:id="rId5" tooltip="Tonelada">
                  <a:extLst>
                    <a:ext uri="{A12FA001-AC4F-418D-AE19-62706E023703}">
                      <ahyp:hlinkClr xmlns:ahyp="http://schemas.microsoft.com/office/drawing/2018/hyperlinkcolor" val="tx"/>
                    </a:ext>
                  </a:extLst>
                </a:hlinkClick>
              </a:rPr>
              <a:t>toneladas</a:t>
            </a:r>
            <a:r>
              <a:rPr lang="pt-BR" b="1" dirty="0">
                <a:solidFill>
                  <a:schemeClr val="tx2">
                    <a:lumMod val="50000"/>
                  </a:schemeClr>
                </a:solidFill>
              </a:rPr>
              <a:t> em 1720 e 360 mil toneladas em 1830; itens que alcançavam bons preços no mercado europeu), a China não mostrava interesse nos produtos europeus, gerando déficits ao comércio britânico.</a:t>
            </a:r>
          </a:p>
        </p:txBody>
      </p:sp>
      <p:cxnSp>
        <p:nvCxnSpPr>
          <p:cNvPr id="7" name="Conector de Seta Reta 6">
            <a:extLst>
              <a:ext uri="{FF2B5EF4-FFF2-40B4-BE49-F238E27FC236}">
                <a16:creationId xmlns:a16="http://schemas.microsoft.com/office/drawing/2014/main" id="{1506FF0C-B6C8-4D77-B6C1-39C37A76AD5A}"/>
              </a:ext>
            </a:extLst>
          </p:cNvPr>
          <p:cNvCxnSpPr>
            <a:cxnSpLocks/>
          </p:cNvCxnSpPr>
          <p:nvPr/>
        </p:nvCxnSpPr>
        <p:spPr>
          <a:xfrm flipH="1">
            <a:off x="7708109" y="2696714"/>
            <a:ext cx="1888639" cy="517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7671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9C742BE6-7C3F-4C54-9B03-6F4471D251E9}"/>
              </a:ext>
            </a:extLst>
          </p:cNvPr>
          <p:cNvSpPr/>
          <p:nvPr/>
        </p:nvSpPr>
        <p:spPr>
          <a:xfrm>
            <a:off x="6865143" y="523220"/>
            <a:ext cx="5326857" cy="2308324"/>
          </a:xfrm>
          <a:prstGeom prst="rect">
            <a:avLst/>
          </a:prstGeom>
        </p:spPr>
        <p:txBody>
          <a:bodyPr wrap="square">
            <a:spAutoFit/>
          </a:bodyPr>
          <a:lstStyle/>
          <a:p>
            <a:r>
              <a:rPr lang="pt-BR" b="1" dirty="0">
                <a:solidFill>
                  <a:schemeClr val="tx2"/>
                </a:solidFill>
                <a:latin typeface="Arial" panose="020B0604020202020204" pitchFamily="34" charset="0"/>
              </a:rPr>
              <a:t>Entre 1811 e 1821, o volume anual de importação de </a:t>
            </a:r>
            <a:r>
              <a:rPr lang="pt-BR" b="1" dirty="0">
                <a:solidFill>
                  <a:schemeClr val="tx2"/>
                </a:solidFill>
                <a:latin typeface="Arial" panose="020B0604020202020204" pitchFamily="34" charset="0"/>
                <a:hlinkClick r:id="rId2" tooltip="Ópio">
                  <a:extLst>
                    <a:ext uri="{A12FA001-AC4F-418D-AE19-62706E023703}">
                      <ahyp:hlinkClr xmlns:ahyp="http://schemas.microsoft.com/office/drawing/2018/hyperlinkcolor" val="tx"/>
                    </a:ext>
                  </a:extLst>
                </a:hlinkClick>
              </a:rPr>
              <a:t>ópio</a:t>
            </a:r>
            <a:r>
              <a:rPr lang="pt-BR" b="1" dirty="0">
                <a:solidFill>
                  <a:schemeClr val="tx2"/>
                </a:solidFill>
                <a:latin typeface="Arial" panose="020B0604020202020204" pitchFamily="34" charset="0"/>
              </a:rPr>
              <a:t> na China girava em torno de 4 500 pacotes de 15 kg cada um. Esta quantidade quadruplicou até 1835 e, quatro anos mais tarde, atingiu a quantia de 450 </a:t>
            </a:r>
            <a:r>
              <a:rPr lang="pt-BR" b="1" dirty="0">
                <a:solidFill>
                  <a:schemeClr val="tx2"/>
                </a:solidFill>
                <a:latin typeface="Arial" panose="020B0604020202020204" pitchFamily="34" charset="0"/>
                <a:hlinkClick r:id="rId3" tooltip="Tonelada">
                  <a:extLst>
                    <a:ext uri="{A12FA001-AC4F-418D-AE19-62706E023703}">
                      <ahyp:hlinkClr xmlns:ahyp="http://schemas.microsoft.com/office/drawing/2018/hyperlinkcolor" val="tx"/>
                    </a:ext>
                  </a:extLst>
                </a:hlinkClick>
              </a:rPr>
              <a:t>toneladas</a:t>
            </a:r>
            <a:r>
              <a:rPr lang="pt-BR" b="1" dirty="0">
                <a:solidFill>
                  <a:schemeClr val="tx2"/>
                </a:solidFill>
                <a:latin typeface="Arial" panose="020B0604020202020204" pitchFamily="34" charset="0"/>
              </a:rPr>
              <a:t> importadas, ou seja, um </a:t>
            </a:r>
            <a:r>
              <a:rPr lang="pt-BR" b="1" dirty="0">
                <a:solidFill>
                  <a:schemeClr val="tx2"/>
                </a:solidFill>
                <a:latin typeface="Arial" panose="020B0604020202020204" pitchFamily="34" charset="0"/>
                <a:hlinkClick r:id="rId4" tooltip="Grama">
                  <a:extLst>
                    <a:ext uri="{A12FA001-AC4F-418D-AE19-62706E023703}">
                      <ahyp:hlinkClr xmlns:ahyp="http://schemas.microsoft.com/office/drawing/2018/hyperlinkcolor" val="tx"/>
                    </a:ext>
                  </a:extLst>
                </a:hlinkClick>
              </a:rPr>
              <a:t>grama</a:t>
            </a:r>
            <a:r>
              <a:rPr lang="pt-BR" b="1" dirty="0">
                <a:solidFill>
                  <a:schemeClr val="tx2"/>
                </a:solidFill>
                <a:latin typeface="Arial" panose="020B0604020202020204" pitchFamily="34" charset="0"/>
              </a:rPr>
              <a:t> para cada um dos 450 milhões de habitantes da China na época</a:t>
            </a:r>
            <a:endParaRPr lang="pt-BR" b="1" dirty="0">
              <a:solidFill>
                <a:schemeClr val="tx2"/>
              </a:solidFill>
            </a:endParaRPr>
          </a:p>
        </p:txBody>
      </p:sp>
      <p:sp>
        <p:nvSpPr>
          <p:cNvPr id="3" name="CaixaDeTexto 2">
            <a:extLst>
              <a:ext uri="{FF2B5EF4-FFF2-40B4-BE49-F238E27FC236}">
                <a16:creationId xmlns:a16="http://schemas.microsoft.com/office/drawing/2014/main" id="{8548CAFE-5692-4D50-BA58-86FD9BC27300}"/>
              </a:ext>
            </a:extLst>
          </p:cNvPr>
          <p:cNvSpPr txBox="1"/>
          <p:nvPr/>
        </p:nvSpPr>
        <p:spPr>
          <a:xfrm>
            <a:off x="5133975" y="0"/>
            <a:ext cx="1304925" cy="523220"/>
          </a:xfrm>
          <a:prstGeom prst="rect">
            <a:avLst/>
          </a:prstGeom>
          <a:noFill/>
        </p:spPr>
        <p:txBody>
          <a:bodyPr wrap="square" rtlCol="0">
            <a:spAutoFit/>
          </a:bodyPr>
          <a:lstStyle/>
          <a:p>
            <a:r>
              <a:rPr lang="pt-BR" sz="2800" b="1" dirty="0"/>
              <a:t>O ÓPIO</a:t>
            </a:r>
          </a:p>
        </p:txBody>
      </p:sp>
      <p:sp>
        <p:nvSpPr>
          <p:cNvPr id="4" name="Retângulo 3">
            <a:extLst>
              <a:ext uri="{FF2B5EF4-FFF2-40B4-BE49-F238E27FC236}">
                <a16:creationId xmlns:a16="http://schemas.microsoft.com/office/drawing/2014/main" id="{EC9A949B-E754-4AF4-BECB-8E7DA6AA925D}"/>
              </a:ext>
            </a:extLst>
          </p:cNvPr>
          <p:cNvSpPr/>
          <p:nvPr/>
        </p:nvSpPr>
        <p:spPr>
          <a:xfrm>
            <a:off x="257175" y="794327"/>
            <a:ext cx="6015036" cy="2308324"/>
          </a:xfrm>
          <a:prstGeom prst="rect">
            <a:avLst/>
          </a:prstGeom>
        </p:spPr>
        <p:txBody>
          <a:bodyPr wrap="square">
            <a:spAutoFit/>
          </a:bodyPr>
          <a:lstStyle/>
          <a:p>
            <a:r>
              <a:rPr lang="pt-BR" dirty="0">
                <a:solidFill>
                  <a:srgbClr val="202122"/>
                </a:solidFill>
                <a:latin typeface="Arial" panose="020B0604020202020204" pitchFamily="34" charset="0"/>
              </a:rPr>
              <a:t> “(...) uma substância </a:t>
            </a:r>
            <a:r>
              <a:rPr lang="pt-BR" dirty="0">
                <a:solidFill>
                  <a:srgbClr val="0B0080"/>
                </a:solidFill>
                <a:latin typeface="Arial" panose="020B0604020202020204" pitchFamily="34" charset="0"/>
                <a:hlinkClick r:id="rId5" tooltip="Entorpecente"/>
              </a:rPr>
              <a:t>entorpecente</a:t>
            </a:r>
            <a:r>
              <a:rPr lang="pt-BR" dirty="0">
                <a:solidFill>
                  <a:srgbClr val="202122"/>
                </a:solidFill>
                <a:latin typeface="Arial" panose="020B0604020202020204" pitchFamily="34" charset="0"/>
              </a:rPr>
              <a:t>, altamente viciante, extraída da </a:t>
            </a:r>
            <a:r>
              <a:rPr lang="pt-BR" dirty="0">
                <a:solidFill>
                  <a:srgbClr val="0B0080"/>
                </a:solidFill>
                <a:latin typeface="Arial" panose="020B0604020202020204" pitchFamily="34" charset="0"/>
                <a:hlinkClick r:id="rId6" tooltip="Papoula"/>
              </a:rPr>
              <a:t>papoula</a:t>
            </a:r>
            <a:r>
              <a:rPr lang="pt-BR" dirty="0">
                <a:solidFill>
                  <a:srgbClr val="202122"/>
                </a:solidFill>
                <a:latin typeface="Arial" panose="020B0604020202020204" pitchFamily="34" charset="0"/>
              </a:rPr>
              <a:t> que causa </a:t>
            </a:r>
            <a:r>
              <a:rPr lang="pt-BR" dirty="0">
                <a:solidFill>
                  <a:srgbClr val="0B0080"/>
                </a:solidFill>
                <a:latin typeface="Arial" panose="020B0604020202020204" pitchFamily="34" charset="0"/>
                <a:hlinkClick r:id="rId7" tooltip="Dependência química"/>
              </a:rPr>
              <a:t>dependência química</a:t>
            </a:r>
            <a:r>
              <a:rPr lang="pt-BR" dirty="0">
                <a:solidFill>
                  <a:srgbClr val="202122"/>
                </a:solidFill>
                <a:latin typeface="Arial" panose="020B0604020202020204" pitchFamily="34" charset="0"/>
              </a:rPr>
              <a:t> em seus usuários,. Produzido na Índia, e também em partes do </a:t>
            </a:r>
            <a:r>
              <a:rPr lang="pt-BR" dirty="0">
                <a:solidFill>
                  <a:srgbClr val="0B0080"/>
                </a:solidFill>
                <a:latin typeface="Arial" panose="020B0604020202020204" pitchFamily="34" charset="0"/>
                <a:hlinkClick r:id="rId8" tooltip="Império Otomano"/>
              </a:rPr>
              <a:t>Império Otomano</a:t>
            </a:r>
            <a:r>
              <a:rPr lang="pt-BR" dirty="0">
                <a:solidFill>
                  <a:srgbClr val="202122"/>
                </a:solidFill>
                <a:latin typeface="Arial" panose="020B0604020202020204" pitchFamily="34" charset="0"/>
              </a:rPr>
              <a:t> no início do </a:t>
            </a:r>
            <a:r>
              <a:rPr lang="pt-BR" dirty="0">
                <a:solidFill>
                  <a:srgbClr val="0B0080"/>
                </a:solidFill>
                <a:latin typeface="Arial" panose="020B0604020202020204" pitchFamily="34" charset="0"/>
                <a:hlinkClick r:id="rId9" tooltip="Século XIX"/>
              </a:rPr>
              <a:t>século XIX</a:t>
            </a:r>
            <a:r>
              <a:rPr lang="pt-BR" dirty="0">
                <a:solidFill>
                  <a:srgbClr val="202122"/>
                </a:solidFill>
                <a:latin typeface="Arial" panose="020B0604020202020204" pitchFamily="34" charset="0"/>
              </a:rPr>
              <a:t>, os comerciantes britânicos traficavam-no ilegalmente para a China (...)”.</a:t>
            </a:r>
            <a:r>
              <a:rPr lang="pt-BR" dirty="0">
                <a:solidFill>
                  <a:srgbClr val="000000"/>
                </a:solidFill>
                <a:latin typeface="Arial" panose="020B0604020202020204" pitchFamily="34" charset="0"/>
              </a:rPr>
              <a:t> (</a:t>
            </a:r>
            <a:r>
              <a:rPr lang="pt-BR" sz="900" dirty="0">
                <a:solidFill>
                  <a:srgbClr val="000000"/>
                </a:solidFill>
                <a:latin typeface="Arial" panose="020B0604020202020204" pitchFamily="34" charset="0"/>
              </a:rPr>
              <a:t>Pedro Augusto Rezende Rodrigues (19 de janeiro de 2011). </a:t>
            </a:r>
            <a:r>
              <a:rPr lang="pt-BR" sz="900" dirty="0">
                <a:solidFill>
                  <a:srgbClr val="0B0080"/>
                </a:solidFill>
                <a:latin typeface="Arial" panose="020B0604020202020204" pitchFamily="34" charset="0"/>
                <a:hlinkClick r:id="rId10"/>
              </a:rPr>
              <a:t>«Guerra do Ópio»</a:t>
            </a:r>
            <a:r>
              <a:rPr lang="pt-BR" sz="900" dirty="0">
                <a:solidFill>
                  <a:srgbClr val="000000"/>
                </a:solidFill>
                <a:latin typeface="Arial" panose="020B0604020202020204" pitchFamily="34" charset="0"/>
              </a:rPr>
              <a:t>. </a:t>
            </a:r>
            <a:r>
              <a:rPr lang="pt-BR" sz="900" dirty="0" err="1">
                <a:solidFill>
                  <a:srgbClr val="000000"/>
                </a:solidFill>
                <a:latin typeface="Arial" panose="020B0604020202020204" pitchFamily="34" charset="0"/>
              </a:rPr>
              <a:t>InfoEscola</a:t>
            </a:r>
            <a:r>
              <a:rPr lang="pt-BR" sz="1200" dirty="0">
                <a:solidFill>
                  <a:srgbClr val="000000"/>
                </a:solidFill>
                <a:latin typeface="Arial" panose="020B0604020202020204" pitchFamily="34" charset="0"/>
              </a:rPr>
              <a:t>).</a:t>
            </a:r>
            <a:r>
              <a:rPr lang="pt-BR" dirty="0">
                <a:solidFill>
                  <a:srgbClr val="202122"/>
                </a:solidFill>
                <a:latin typeface="Arial" panose="020B0604020202020204" pitchFamily="34" charset="0"/>
              </a:rPr>
              <a:t> O Ópio já era usado em pequena escala pela Medicina Tradicional Chinesa, como anestésico...</a:t>
            </a:r>
            <a:endParaRPr lang="pt-BR" dirty="0"/>
          </a:p>
        </p:txBody>
      </p:sp>
      <p:sp>
        <p:nvSpPr>
          <p:cNvPr id="8" name="Retângulo 7">
            <a:extLst>
              <a:ext uri="{FF2B5EF4-FFF2-40B4-BE49-F238E27FC236}">
                <a16:creationId xmlns:a16="http://schemas.microsoft.com/office/drawing/2014/main" id="{E8BBD836-4F55-497F-BDE4-895407EB2214}"/>
              </a:ext>
            </a:extLst>
          </p:cNvPr>
          <p:cNvSpPr/>
          <p:nvPr/>
        </p:nvSpPr>
        <p:spPr>
          <a:xfrm>
            <a:off x="6772273" y="6522156"/>
            <a:ext cx="6096000" cy="276999"/>
          </a:xfrm>
          <a:prstGeom prst="rect">
            <a:avLst/>
          </a:prstGeom>
        </p:spPr>
        <p:txBody>
          <a:bodyPr>
            <a:spAutoFit/>
          </a:bodyPr>
          <a:lstStyle/>
          <a:p>
            <a:r>
              <a:rPr lang="pt-BR" sz="1200" dirty="0">
                <a:solidFill>
                  <a:srgbClr val="202122"/>
                </a:solidFill>
                <a:latin typeface="Arial" panose="020B0604020202020204" pitchFamily="34" charset="0"/>
              </a:rPr>
              <a:t>Depósitos de ópio da </a:t>
            </a:r>
            <a:r>
              <a:rPr lang="pt-BR" sz="1200" u="sng" dirty="0">
                <a:solidFill>
                  <a:srgbClr val="FAA700"/>
                </a:solidFill>
                <a:latin typeface="Arial" panose="020B0604020202020204" pitchFamily="34" charset="0"/>
                <a:hlinkClick r:id="rId11" tooltip="Companhia Britânica das Índias Orientais"/>
              </a:rPr>
              <a:t>Companhia das Índias Orientais</a:t>
            </a:r>
            <a:r>
              <a:rPr lang="pt-BR" sz="1200" dirty="0">
                <a:solidFill>
                  <a:srgbClr val="202122"/>
                </a:solidFill>
                <a:latin typeface="Arial" panose="020B0604020202020204" pitchFamily="34" charset="0"/>
              </a:rPr>
              <a:t> na Índia</a:t>
            </a:r>
            <a:endParaRPr lang="pt-BR" sz="1200" dirty="0"/>
          </a:p>
        </p:txBody>
      </p:sp>
      <p:pic>
        <p:nvPicPr>
          <p:cNvPr id="10" name="Picture 2">
            <a:extLst>
              <a:ext uri="{FF2B5EF4-FFF2-40B4-BE49-F238E27FC236}">
                <a16:creationId xmlns:a16="http://schemas.microsoft.com/office/drawing/2014/main" id="{11C6B4CD-6422-47D5-94EF-AF63E8CAB44A}"/>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460" t="5209" r="5761" b="14089"/>
          <a:stretch/>
        </p:blipFill>
        <p:spPr bwMode="auto">
          <a:xfrm>
            <a:off x="6772273" y="3091587"/>
            <a:ext cx="4741070" cy="341229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ela 8">
            <a:extLst>
              <a:ext uri="{FF2B5EF4-FFF2-40B4-BE49-F238E27FC236}">
                <a16:creationId xmlns:a16="http://schemas.microsoft.com/office/drawing/2014/main" id="{71EE1DFD-C240-4C69-8471-002BE32C956B}"/>
              </a:ext>
            </a:extLst>
          </p:cNvPr>
          <p:cNvGraphicFramePr>
            <a:graphicFrameLocks noGrp="1"/>
          </p:cNvGraphicFramePr>
          <p:nvPr>
            <p:extLst>
              <p:ext uri="{D42A27DB-BD31-4B8C-83A1-F6EECF244321}">
                <p14:modId xmlns:p14="http://schemas.microsoft.com/office/powerpoint/2010/main" val="1597336025"/>
              </p:ext>
            </p:extLst>
          </p:nvPr>
        </p:nvGraphicFramePr>
        <p:xfrm>
          <a:off x="678657" y="3683487"/>
          <a:ext cx="10532268" cy="2062480"/>
        </p:xfrm>
        <a:graphic>
          <a:graphicData uri="http://schemas.openxmlformats.org/drawingml/2006/table">
            <a:tbl>
              <a:tblPr/>
              <a:tblGrid>
                <a:gridCol w="5266134">
                  <a:extLst>
                    <a:ext uri="{9D8B030D-6E8A-4147-A177-3AD203B41FA5}">
                      <a16:colId xmlns:a16="http://schemas.microsoft.com/office/drawing/2014/main" val="1020263321"/>
                    </a:ext>
                  </a:extLst>
                </a:gridCol>
                <a:gridCol w="5266134">
                  <a:extLst>
                    <a:ext uri="{9D8B030D-6E8A-4147-A177-3AD203B41FA5}">
                      <a16:colId xmlns:a16="http://schemas.microsoft.com/office/drawing/2014/main" val="4225695882"/>
                    </a:ext>
                  </a:extLst>
                </a:gridCol>
              </a:tblGrid>
              <a:tr h="1671090">
                <a:tc>
                  <a:txBody>
                    <a:bodyPr/>
                    <a:lstStyle/>
                    <a:p>
                      <a:r>
                        <a:rPr lang="pt-BR" i="1" dirty="0">
                          <a:effectLst/>
                        </a:rPr>
                        <a:t>“Quanto tempo ainda vamos tolerar este jogo com o </a:t>
                      </a:r>
                      <a:r>
                        <a:rPr lang="pt-BR" i="1" u="none" strike="noStrike" dirty="0">
                          <a:solidFill>
                            <a:srgbClr val="0B0080"/>
                          </a:solidFill>
                          <a:effectLst/>
                          <a:hlinkClick r:id="rId13" tooltip="Diabo"/>
                        </a:rPr>
                        <a:t>diabo</a:t>
                      </a:r>
                      <a:r>
                        <a:rPr lang="pt-BR" i="1" dirty="0">
                          <a:effectLst/>
                        </a:rPr>
                        <a:t>? Logo não teremos mais moeda para pagar </a:t>
                      </a:r>
                      <a:r>
                        <a:rPr lang="pt-BR" i="1" u="sng" dirty="0">
                          <a:solidFill>
                            <a:srgbClr val="0B0080"/>
                          </a:solidFill>
                          <a:effectLst/>
                          <a:hlinkClick r:id="rId14"/>
                        </a:rPr>
                        <a:t>armas</a:t>
                      </a:r>
                      <a:r>
                        <a:rPr lang="pt-BR" i="1" dirty="0">
                          <a:effectLst/>
                        </a:rPr>
                        <a:t> e </a:t>
                      </a:r>
                      <a:r>
                        <a:rPr lang="pt-BR" i="1" u="none" strike="noStrike" dirty="0">
                          <a:solidFill>
                            <a:srgbClr val="0B0080"/>
                          </a:solidFill>
                          <a:effectLst/>
                          <a:hlinkClick r:id="rId15" tooltip="Munição"/>
                        </a:rPr>
                        <a:t>munição</a:t>
                      </a:r>
                      <a:r>
                        <a:rPr lang="pt-BR" i="1" dirty="0">
                          <a:effectLst/>
                        </a:rPr>
                        <a:t>. Pior ainda, não haverá soldados capazes de manejar uma arma porque estarão todos viciados...” (</a:t>
                      </a:r>
                      <a:r>
                        <a:rPr lang="pt-BR" sz="1200" b="0" i="0" kern="1200" dirty="0">
                          <a:solidFill>
                            <a:schemeClr val="tx1"/>
                          </a:solidFill>
                          <a:effectLst/>
                          <a:latin typeface="+mn-lt"/>
                          <a:ea typeface="+mn-ea"/>
                          <a:cs typeface="+mn-cs"/>
                        </a:rPr>
                        <a:t>Ministro Chinês IN</a:t>
                      </a:r>
                      <a:r>
                        <a:rPr lang="pt-BR" sz="1200" b="0" i="0" u="none" strike="noStrike" kern="1200" dirty="0">
                          <a:solidFill>
                            <a:schemeClr val="tx1"/>
                          </a:solidFill>
                          <a:effectLst/>
                          <a:latin typeface="+mn-lt"/>
                          <a:ea typeface="+mn-ea"/>
                          <a:cs typeface="+mn-cs"/>
                        </a:rPr>
                        <a:t> -</a:t>
                      </a:r>
                      <a:r>
                        <a:rPr lang="pt-BR" sz="1200" b="0" i="0" u="none" strike="noStrike" kern="1200" dirty="0">
                          <a:solidFill>
                            <a:schemeClr val="tx1"/>
                          </a:solidFill>
                          <a:effectLst/>
                          <a:latin typeface="+mn-lt"/>
                          <a:ea typeface="+mn-ea"/>
                          <a:cs typeface="+mn-cs"/>
                          <a:hlinkClick r:id="rId16"/>
                        </a:rPr>
                        <a:t>1839: China proíbe importação de ópio»</a:t>
                      </a:r>
                      <a:r>
                        <a:rPr lang="pt-BR" sz="1200" b="0" i="0" kern="1200" dirty="0">
                          <a:solidFill>
                            <a:schemeClr val="tx1"/>
                          </a:solidFill>
                          <a:effectLst/>
                          <a:latin typeface="+mn-lt"/>
                          <a:ea typeface="+mn-ea"/>
                          <a:cs typeface="+mn-cs"/>
                        </a:rPr>
                        <a:t>. Deutsche </a:t>
                      </a:r>
                      <a:r>
                        <a:rPr lang="pt-BR" sz="1200" b="0" i="0" kern="1200" dirty="0" err="1">
                          <a:solidFill>
                            <a:schemeClr val="tx1"/>
                          </a:solidFill>
                          <a:effectLst/>
                          <a:latin typeface="+mn-lt"/>
                          <a:ea typeface="+mn-ea"/>
                          <a:cs typeface="+mn-cs"/>
                        </a:rPr>
                        <a:t>Welle</a:t>
                      </a:r>
                      <a:r>
                        <a:rPr lang="pt-BR" sz="1800" b="0" i="0" kern="1200" dirty="0">
                          <a:solidFill>
                            <a:schemeClr val="tx1"/>
                          </a:solidFill>
                          <a:effectLst/>
                          <a:latin typeface="+mn-lt"/>
                          <a:ea typeface="+mn-ea"/>
                          <a:cs typeface="+mn-cs"/>
                        </a:rPr>
                        <a:t>)</a:t>
                      </a:r>
                      <a:endParaRPr lang="pt-BR" dirty="0">
                        <a:effectLst/>
                      </a:endParaRPr>
                    </a:p>
                  </a:txBody>
                  <a:tcPr marL="63500" marR="63500" marT="25400" marB="25400" anchor="ctr">
                    <a:lnL>
                      <a:noFill/>
                    </a:lnL>
                    <a:lnR>
                      <a:noFill/>
                    </a:lnR>
                    <a:lnT>
                      <a:noFill/>
                    </a:lnT>
                    <a:lnB>
                      <a:noFill/>
                    </a:lnB>
                  </a:tcPr>
                </a:tc>
                <a:tc>
                  <a:txBody>
                    <a:bodyPr/>
                    <a:lstStyle/>
                    <a:p>
                      <a:pPr algn="r" fontAlgn="t"/>
                      <a:r>
                        <a:rPr lang="pt-BR" b="1" dirty="0">
                          <a:solidFill>
                            <a:srgbClr val="B2B7F2"/>
                          </a:solidFill>
                          <a:effectLst/>
                          <a:latin typeface="Times New Roman" panose="02020603050405020304" pitchFamily="18" charset="0"/>
                        </a:rPr>
                        <a:t>”</a:t>
                      </a:r>
                    </a:p>
                  </a:txBody>
                  <a:tcPr marL="63500" marR="63500" marT="63500" marB="63500">
                    <a:lnL>
                      <a:noFill/>
                    </a:lnL>
                    <a:lnR>
                      <a:noFill/>
                    </a:lnR>
                    <a:lnT>
                      <a:noFill/>
                    </a:lnT>
                    <a:lnB>
                      <a:noFill/>
                    </a:lnB>
                  </a:tcPr>
                </a:tc>
                <a:extLst>
                  <a:ext uri="{0D108BD9-81ED-4DB2-BD59-A6C34878D82A}">
                    <a16:rowId xmlns:a16="http://schemas.microsoft.com/office/drawing/2014/main" val="1629334746"/>
                  </a:ext>
                </a:extLst>
              </a:tr>
              <a:tr h="360235">
                <a:tc>
                  <a:txBody>
                    <a:bodyPr/>
                    <a:lstStyle/>
                    <a:p>
                      <a:r>
                        <a:rPr lang="pt-BR" dirty="0"/>
                        <a:t> </a:t>
                      </a:r>
                    </a:p>
                  </a:txBody>
                  <a:tcPr anchor="ctr">
                    <a:lnL>
                      <a:noFill/>
                    </a:lnL>
                    <a:lnR>
                      <a:noFill/>
                    </a:lnR>
                    <a:lnT>
                      <a:noFill/>
                    </a:lnT>
                    <a:lnB>
                      <a:noFill/>
                    </a:lnB>
                  </a:tcPr>
                </a:tc>
                <a:tc>
                  <a:txBody>
                    <a:bodyPr/>
                    <a:lstStyle/>
                    <a:p>
                      <a:pPr algn="r" fontAlgn="b"/>
                      <a:r>
                        <a:rPr lang="pt-BR" i="0" dirty="0">
                          <a:effectLst/>
                        </a:rPr>
                        <a:t>.</a:t>
                      </a:r>
                      <a:endParaRPr lang="pt-BR" dirty="0">
                        <a:effectLst/>
                      </a:endParaRPr>
                    </a:p>
                  </a:txBody>
                  <a:tcPr anchor="b">
                    <a:lnL>
                      <a:noFill/>
                    </a:lnL>
                    <a:lnR>
                      <a:noFill/>
                    </a:lnR>
                    <a:lnT>
                      <a:noFill/>
                    </a:lnT>
                    <a:lnB>
                      <a:noFill/>
                    </a:lnB>
                  </a:tcPr>
                </a:tc>
                <a:extLst>
                  <a:ext uri="{0D108BD9-81ED-4DB2-BD59-A6C34878D82A}">
                    <a16:rowId xmlns:a16="http://schemas.microsoft.com/office/drawing/2014/main" val="825869596"/>
                  </a:ext>
                </a:extLst>
              </a:tr>
            </a:tbl>
          </a:graphicData>
        </a:graphic>
      </p:graphicFrame>
    </p:spTree>
    <p:extLst>
      <p:ext uri="{BB962C8B-B14F-4D97-AF65-F5344CB8AC3E}">
        <p14:creationId xmlns:p14="http://schemas.microsoft.com/office/powerpoint/2010/main" val="2786652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2940D2C-3744-4B30-8AB5-03163D4F7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098" y="1968907"/>
            <a:ext cx="4670447" cy="3061564"/>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a:extLst>
              <a:ext uri="{FF2B5EF4-FFF2-40B4-BE49-F238E27FC236}">
                <a16:creationId xmlns:a16="http://schemas.microsoft.com/office/drawing/2014/main" id="{AF259AB4-5DFF-4311-A87B-ACC26579A989}"/>
              </a:ext>
            </a:extLst>
          </p:cNvPr>
          <p:cNvSpPr/>
          <p:nvPr/>
        </p:nvSpPr>
        <p:spPr>
          <a:xfrm>
            <a:off x="238381" y="5252124"/>
            <a:ext cx="4667250" cy="553998"/>
          </a:xfrm>
          <a:prstGeom prst="rect">
            <a:avLst/>
          </a:prstGeom>
        </p:spPr>
        <p:txBody>
          <a:bodyPr wrap="square">
            <a:spAutoFit/>
          </a:bodyPr>
          <a:lstStyle/>
          <a:p>
            <a:r>
              <a:rPr lang="en-US" sz="1000" dirty="0">
                <a:solidFill>
                  <a:srgbClr val="202122"/>
                </a:solidFill>
                <a:latin typeface="Arial" panose="020B0604020202020204" pitchFamily="34" charset="0"/>
              </a:rPr>
              <a:t>The East India Company iron steam ship </a:t>
            </a:r>
            <a:r>
              <a:rPr lang="en-US" sz="1000" i="1" dirty="0">
                <a:solidFill>
                  <a:srgbClr val="202122"/>
                </a:solidFill>
                <a:latin typeface="Arial" panose="020B0604020202020204" pitchFamily="34" charset="0"/>
              </a:rPr>
              <a:t>Nemesis</a:t>
            </a:r>
            <a:r>
              <a:rPr lang="en-US" sz="1000" dirty="0">
                <a:solidFill>
                  <a:srgbClr val="202122"/>
                </a:solidFill>
                <a:latin typeface="Arial" panose="020B0604020202020204" pitchFamily="34" charset="0"/>
              </a:rPr>
              <a:t>, commanded by Lieutenant W. H. Hall, with boats from the </a:t>
            </a:r>
            <a:r>
              <a:rPr lang="en-US" sz="1000" i="1" dirty="0">
                <a:solidFill>
                  <a:srgbClr val="202122"/>
                </a:solidFill>
                <a:latin typeface="Arial" panose="020B0604020202020204" pitchFamily="34" charset="0"/>
              </a:rPr>
              <a:t>Sulphur</a:t>
            </a:r>
            <a:r>
              <a:rPr lang="en-US" sz="1000" dirty="0">
                <a:solidFill>
                  <a:srgbClr val="202122"/>
                </a:solidFill>
                <a:latin typeface="Arial" panose="020B0604020202020204" pitchFamily="34" charset="0"/>
              </a:rPr>
              <a:t>, </a:t>
            </a:r>
            <a:r>
              <a:rPr lang="en-US" sz="1000" i="1" dirty="0">
                <a:solidFill>
                  <a:srgbClr val="202122"/>
                </a:solidFill>
                <a:latin typeface="Arial" panose="020B0604020202020204" pitchFamily="34" charset="0"/>
              </a:rPr>
              <a:t>Calliope</a:t>
            </a:r>
            <a:r>
              <a:rPr lang="en-US" sz="1000" dirty="0">
                <a:solidFill>
                  <a:srgbClr val="202122"/>
                </a:solidFill>
                <a:latin typeface="Arial" panose="020B0604020202020204" pitchFamily="34" charset="0"/>
              </a:rPr>
              <a:t>, </a:t>
            </a:r>
            <a:r>
              <a:rPr lang="en-US" sz="1000" i="1" dirty="0">
                <a:solidFill>
                  <a:srgbClr val="202122"/>
                </a:solidFill>
                <a:latin typeface="Arial" panose="020B0604020202020204" pitchFamily="34" charset="0"/>
              </a:rPr>
              <a:t>Larne</a:t>
            </a:r>
            <a:r>
              <a:rPr lang="en-US" sz="1000" dirty="0">
                <a:solidFill>
                  <a:srgbClr val="202122"/>
                </a:solidFill>
                <a:latin typeface="Arial" panose="020B0604020202020204" pitchFamily="34" charset="0"/>
              </a:rPr>
              <a:t> and </a:t>
            </a:r>
            <a:r>
              <a:rPr lang="en-US" sz="1000" i="1" dirty="0">
                <a:solidFill>
                  <a:srgbClr val="202122"/>
                </a:solidFill>
                <a:latin typeface="Arial" panose="020B0604020202020204" pitchFamily="34" charset="0"/>
              </a:rPr>
              <a:t>Starling</a:t>
            </a:r>
            <a:r>
              <a:rPr lang="en-US" sz="1000" dirty="0">
                <a:solidFill>
                  <a:srgbClr val="202122"/>
                </a:solidFill>
                <a:latin typeface="Arial" panose="020B0604020202020204" pitchFamily="34" charset="0"/>
              </a:rPr>
              <a:t>, destroying the Chinese war junks in Anson's Bay, on 7 January 1841</a:t>
            </a:r>
            <a:endParaRPr lang="pt-BR" sz="1000" dirty="0"/>
          </a:p>
        </p:txBody>
      </p:sp>
      <p:sp>
        <p:nvSpPr>
          <p:cNvPr id="5" name="CaixaDeTexto 4">
            <a:extLst>
              <a:ext uri="{FF2B5EF4-FFF2-40B4-BE49-F238E27FC236}">
                <a16:creationId xmlns:a16="http://schemas.microsoft.com/office/drawing/2014/main" id="{E59E5303-70E9-47C5-8BFB-52BDB7430782}"/>
              </a:ext>
            </a:extLst>
          </p:cNvPr>
          <p:cNvSpPr txBox="1"/>
          <p:nvPr/>
        </p:nvSpPr>
        <p:spPr>
          <a:xfrm>
            <a:off x="657226" y="173985"/>
            <a:ext cx="3286125" cy="369332"/>
          </a:xfrm>
          <a:prstGeom prst="rect">
            <a:avLst/>
          </a:prstGeom>
          <a:noFill/>
        </p:spPr>
        <p:txBody>
          <a:bodyPr wrap="square" rtlCol="0">
            <a:spAutoFit/>
          </a:bodyPr>
          <a:lstStyle/>
          <a:p>
            <a:r>
              <a:rPr lang="pt-BR" b="1" dirty="0">
                <a:solidFill>
                  <a:schemeClr val="tx2"/>
                </a:solidFill>
                <a:latin typeface="Arial Black" panose="020B0A04020102020204" pitchFamily="34" charset="0"/>
              </a:rPr>
              <a:t>AS GUERRAS DO ÓPIO</a:t>
            </a:r>
          </a:p>
        </p:txBody>
      </p:sp>
      <p:sp>
        <p:nvSpPr>
          <p:cNvPr id="6" name="Retângulo 5">
            <a:extLst>
              <a:ext uri="{FF2B5EF4-FFF2-40B4-BE49-F238E27FC236}">
                <a16:creationId xmlns:a16="http://schemas.microsoft.com/office/drawing/2014/main" id="{9576E5F3-6329-4379-BC2D-49D3C2DE176E}"/>
              </a:ext>
            </a:extLst>
          </p:cNvPr>
          <p:cNvSpPr/>
          <p:nvPr/>
        </p:nvSpPr>
        <p:spPr>
          <a:xfrm>
            <a:off x="816200" y="519122"/>
            <a:ext cx="2710999" cy="369332"/>
          </a:xfrm>
          <a:prstGeom prst="rect">
            <a:avLst/>
          </a:prstGeom>
        </p:spPr>
        <p:txBody>
          <a:bodyPr wrap="none">
            <a:spAutoFit/>
          </a:bodyPr>
          <a:lstStyle/>
          <a:p>
            <a:r>
              <a:rPr lang="pt-BR" dirty="0">
                <a:solidFill>
                  <a:srgbClr val="202122"/>
                </a:solidFill>
                <a:latin typeface="Arial" panose="020B0604020202020204" pitchFamily="34" charset="0"/>
              </a:rPr>
              <a:t>1839-1842 e 1856-1860.</a:t>
            </a:r>
            <a:endParaRPr lang="pt-BR" dirty="0"/>
          </a:p>
        </p:txBody>
      </p:sp>
      <p:sp>
        <p:nvSpPr>
          <p:cNvPr id="9" name="CaixaDeTexto 8">
            <a:extLst>
              <a:ext uri="{FF2B5EF4-FFF2-40B4-BE49-F238E27FC236}">
                <a16:creationId xmlns:a16="http://schemas.microsoft.com/office/drawing/2014/main" id="{B9A79350-A901-4474-8585-C4E02E65B5ED}"/>
              </a:ext>
            </a:extLst>
          </p:cNvPr>
          <p:cNvSpPr txBox="1"/>
          <p:nvPr/>
        </p:nvSpPr>
        <p:spPr>
          <a:xfrm>
            <a:off x="3739671" y="1149225"/>
            <a:ext cx="2746854" cy="369332"/>
          </a:xfrm>
          <a:prstGeom prst="rect">
            <a:avLst/>
          </a:prstGeom>
          <a:noFill/>
        </p:spPr>
        <p:txBody>
          <a:bodyPr wrap="square" rtlCol="0">
            <a:spAutoFit/>
          </a:bodyPr>
          <a:lstStyle/>
          <a:p>
            <a:r>
              <a:rPr lang="pt-BR" dirty="0"/>
              <a:t>OS TRATADOS DESIGUAIS</a:t>
            </a:r>
          </a:p>
        </p:txBody>
      </p:sp>
      <p:sp>
        <p:nvSpPr>
          <p:cNvPr id="11" name="CaixaDeTexto 10">
            <a:extLst>
              <a:ext uri="{FF2B5EF4-FFF2-40B4-BE49-F238E27FC236}">
                <a16:creationId xmlns:a16="http://schemas.microsoft.com/office/drawing/2014/main" id="{BD7145A2-86AC-4A04-9C93-AC9BFC70FDFD}"/>
              </a:ext>
            </a:extLst>
          </p:cNvPr>
          <p:cNvSpPr txBox="1"/>
          <p:nvPr/>
        </p:nvSpPr>
        <p:spPr>
          <a:xfrm>
            <a:off x="8176308" y="5030470"/>
            <a:ext cx="4097566" cy="1477328"/>
          </a:xfrm>
          <a:prstGeom prst="rect">
            <a:avLst/>
          </a:prstGeom>
          <a:noFill/>
        </p:spPr>
        <p:txBody>
          <a:bodyPr wrap="square" rtlCol="0">
            <a:spAutoFit/>
          </a:bodyPr>
          <a:lstStyle/>
          <a:p>
            <a:r>
              <a:rPr lang="pt-BR" dirty="0"/>
              <a:t>Mais onze novos portos chineses seriam abertos ao comércio de ópio com o Ocidente e seria garantida a liberdade de movimento aos traficantes europeus e </a:t>
            </a:r>
            <a:r>
              <a:rPr lang="pt-BR" dirty="0">
                <a:hlinkClick r:id="rId3" tooltip="Missionário"/>
              </a:rPr>
              <a:t>missionários</a:t>
            </a:r>
            <a:r>
              <a:rPr lang="pt-BR" dirty="0"/>
              <a:t> </a:t>
            </a:r>
            <a:r>
              <a:rPr lang="pt-BR" dirty="0">
                <a:hlinkClick r:id="rId4" tooltip="Cristãos"/>
              </a:rPr>
              <a:t>cristãos</a:t>
            </a:r>
            <a:r>
              <a:rPr lang="pt-BR" dirty="0"/>
              <a:t>. </a:t>
            </a:r>
          </a:p>
        </p:txBody>
      </p:sp>
      <p:sp>
        <p:nvSpPr>
          <p:cNvPr id="13" name="CaixaDeTexto 12">
            <a:extLst>
              <a:ext uri="{FF2B5EF4-FFF2-40B4-BE49-F238E27FC236}">
                <a16:creationId xmlns:a16="http://schemas.microsoft.com/office/drawing/2014/main" id="{32F05E6D-CBB5-465F-9AB3-FE36ADE326B3}"/>
              </a:ext>
            </a:extLst>
          </p:cNvPr>
          <p:cNvSpPr txBox="1"/>
          <p:nvPr/>
        </p:nvSpPr>
        <p:spPr>
          <a:xfrm>
            <a:off x="8467728" y="38100"/>
            <a:ext cx="3514726" cy="4801314"/>
          </a:xfrm>
          <a:prstGeom prst="rect">
            <a:avLst/>
          </a:prstGeom>
          <a:noFill/>
        </p:spPr>
        <p:txBody>
          <a:bodyPr wrap="square" rtlCol="0">
            <a:spAutoFit/>
          </a:bodyPr>
          <a:lstStyle/>
          <a:p>
            <a:r>
              <a:rPr lang="pt-BR" dirty="0"/>
              <a:t>Fim da </a:t>
            </a:r>
            <a:r>
              <a:rPr lang="pt-BR" dirty="0" err="1">
                <a:hlinkClick r:id="rId5" tooltip="Cohong (página não existe)"/>
              </a:rPr>
              <a:t>Co-Hong</a:t>
            </a:r>
            <a:r>
              <a:rPr lang="pt-BR" dirty="0"/>
              <a:t> (companhia governamental chinesa); abertura de cinco portos ao comércio de ópio britânico (</a:t>
            </a:r>
            <a:r>
              <a:rPr lang="pt-BR" dirty="0">
                <a:hlinkClick r:id="rId6" tooltip="Cantão (China)"/>
              </a:rPr>
              <a:t>Cantão</a:t>
            </a:r>
            <a:r>
              <a:rPr lang="pt-BR" dirty="0"/>
              <a:t>, </a:t>
            </a:r>
            <a:r>
              <a:rPr lang="pt-BR" dirty="0" err="1">
                <a:hlinkClick r:id="rId7" tooltip="Fuzhou"/>
              </a:rPr>
              <a:t>Fuzhou</a:t>
            </a:r>
            <a:r>
              <a:rPr lang="pt-BR" dirty="0"/>
              <a:t>, </a:t>
            </a:r>
            <a:r>
              <a:rPr lang="pt-BR" dirty="0" err="1">
                <a:hlinkClick r:id="rId8" tooltip="Xizmen (página não existe)"/>
              </a:rPr>
              <a:t>Xizmen</a:t>
            </a:r>
            <a:r>
              <a:rPr lang="pt-BR" dirty="0"/>
              <a:t>, </a:t>
            </a:r>
            <a:r>
              <a:rPr lang="pt-BR" dirty="0" err="1">
                <a:hlinkClick r:id="rId9" tooltip="Ningbo"/>
              </a:rPr>
              <a:t>Ningbo</a:t>
            </a:r>
            <a:r>
              <a:rPr lang="pt-BR" dirty="0"/>
              <a:t> e </a:t>
            </a:r>
            <a:r>
              <a:rPr lang="pt-BR" dirty="0">
                <a:hlinkClick r:id="rId10" tooltip="Xangai"/>
              </a:rPr>
              <a:t>Xangai</a:t>
            </a:r>
            <a:r>
              <a:rPr lang="pt-BR" dirty="0"/>
              <a:t>);pagamento de uma </a:t>
            </a:r>
            <a:r>
              <a:rPr lang="pt-BR" dirty="0">
                <a:hlinkClick r:id="rId11" tooltip="Indenização de guerra"/>
              </a:rPr>
              <a:t>indenização de guerra</a:t>
            </a:r>
            <a:r>
              <a:rPr lang="pt-BR" dirty="0"/>
              <a:t> ; entrega da </a:t>
            </a:r>
            <a:r>
              <a:rPr lang="pt-BR" dirty="0">
                <a:hlinkClick r:id="rId12" tooltip="Ilha de Hong Kong"/>
              </a:rPr>
              <a:t>ilha de Hong Kong</a:t>
            </a:r>
            <a:r>
              <a:rPr lang="pt-BR" dirty="0"/>
              <a:t>, na qual ficaria sob o domínio inglês por 155 anos; princípio de extraterritorialidade jurídica para os britânicos na região ...</a:t>
            </a:r>
            <a:r>
              <a:rPr lang="pt-BR" b="1" dirty="0"/>
              <a:t>Como garantia do direito de comércio de ópio assim obtido, um navio de guerra britânico ficaria permanentemente ancorado em cada um desses portos.</a:t>
            </a:r>
            <a:endParaRPr lang="pt-BR" dirty="0"/>
          </a:p>
        </p:txBody>
      </p:sp>
      <p:sp>
        <p:nvSpPr>
          <p:cNvPr id="14" name="CaixaDeTexto 13">
            <a:extLst>
              <a:ext uri="{FF2B5EF4-FFF2-40B4-BE49-F238E27FC236}">
                <a16:creationId xmlns:a16="http://schemas.microsoft.com/office/drawing/2014/main" id="{256AEA62-D232-425E-A722-39868D81396D}"/>
              </a:ext>
            </a:extLst>
          </p:cNvPr>
          <p:cNvSpPr txBox="1"/>
          <p:nvPr/>
        </p:nvSpPr>
        <p:spPr>
          <a:xfrm>
            <a:off x="6132884" y="4753471"/>
            <a:ext cx="1804985" cy="1200329"/>
          </a:xfrm>
          <a:prstGeom prst="rect">
            <a:avLst/>
          </a:prstGeom>
          <a:noFill/>
        </p:spPr>
        <p:txBody>
          <a:bodyPr wrap="square" rtlCol="0">
            <a:spAutoFit/>
          </a:bodyPr>
          <a:lstStyle/>
          <a:p>
            <a:r>
              <a:rPr lang="pt-BR" dirty="0"/>
              <a:t>TRATADO DE PEQUIM (1860 o </a:t>
            </a:r>
            <a:r>
              <a:rPr lang="pt-BR" dirty="0">
                <a:hlinkClick r:id="rId13" tooltip="Tratado de Tianjin"/>
              </a:rPr>
              <a:t>Tratado de Tianjin</a:t>
            </a:r>
            <a:r>
              <a:rPr lang="pt-BR" dirty="0"/>
              <a:t>) </a:t>
            </a:r>
          </a:p>
        </p:txBody>
      </p:sp>
      <p:sp>
        <p:nvSpPr>
          <p:cNvPr id="15" name="Chave Esquerda 14">
            <a:extLst>
              <a:ext uri="{FF2B5EF4-FFF2-40B4-BE49-F238E27FC236}">
                <a16:creationId xmlns:a16="http://schemas.microsoft.com/office/drawing/2014/main" id="{877C6F7B-9512-47C3-9903-6A5012B7D2BD}"/>
              </a:ext>
            </a:extLst>
          </p:cNvPr>
          <p:cNvSpPr/>
          <p:nvPr/>
        </p:nvSpPr>
        <p:spPr>
          <a:xfrm>
            <a:off x="8248650" y="104775"/>
            <a:ext cx="219078" cy="479506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6" name="CaixaDeTexto 15">
            <a:extLst>
              <a:ext uri="{FF2B5EF4-FFF2-40B4-BE49-F238E27FC236}">
                <a16:creationId xmlns:a16="http://schemas.microsoft.com/office/drawing/2014/main" id="{88879872-114E-4CEE-893C-DC7CCF56E346}"/>
              </a:ext>
            </a:extLst>
          </p:cNvPr>
          <p:cNvSpPr txBox="1"/>
          <p:nvPr/>
        </p:nvSpPr>
        <p:spPr>
          <a:xfrm>
            <a:off x="6193471" y="1741523"/>
            <a:ext cx="1610042" cy="923330"/>
          </a:xfrm>
          <a:prstGeom prst="rect">
            <a:avLst/>
          </a:prstGeom>
          <a:noFill/>
        </p:spPr>
        <p:txBody>
          <a:bodyPr wrap="square" rtlCol="0">
            <a:spAutoFit/>
          </a:bodyPr>
          <a:lstStyle/>
          <a:p>
            <a:r>
              <a:rPr lang="pt-BR" dirty="0"/>
              <a:t>TRATADO DE NANQUIM -1842</a:t>
            </a:r>
          </a:p>
        </p:txBody>
      </p:sp>
      <p:sp>
        <p:nvSpPr>
          <p:cNvPr id="17" name="Chave Esquerda 16">
            <a:extLst>
              <a:ext uri="{FF2B5EF4-FFF2-40B4-BE49-F238E27FC236}">
                <a16:creationId xmlns:a16="http://schemas.microsoft.com/office/drawing/2014/main" id="{B382F6AB-8ED9-440B-B8A0-BD6BEC28BFCF}"/>
              </a:ext>
            </a:extLst>
          </p:cNvPr>
          <p:cNvSpPr/>
          <p:nvPr/>
        </p:nvSpPr>
        <p:spPr>
          <a:xfrm>
            <a:off x="7937869" y="5030470"/>
            <a:ext cx="420320" cy="155130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cxnSp>
        <p:nvCxnSpPr>
          <p:cNvPr id="19" name="Conector de Seta Reta 18">
            <a:extLst>
              <a:ext uri="{FF2B5EF4-FFF2-40B4-BE49-F238E27FC236}">
                <a16:creationId xmlns:a16="http://schemas.microsoft.com/office/drawing/2014/main" id="{FEF5A063-FCCE-43B4-956B-733B47137514}"/>
              </a:ext>
            </a:extLst>
          </p:cNvPr>
          <p:cNvCxnSpPr/>
          <p:nvPr/>
        </p:nvCxnSpPr>
        <p:spPr>
          <a:xfrm>
            <a:off x="7581900" y="2124075"/>
            <a:ext cx="466725"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20">
            <a:extLst>
              <a:ext uri="{FF2B5EF4-FFF2-40B4-BE49-F238E27FC236}">
                <a16:creationId xmlns:a16="http://schemas.microsoft.com/office/drawing/2014/main" id="{725B9588-5381-4FC6-B3FD-84F4AC83C17E}"/>
              </a:ext>
            </a:extLst>
          </p:cNvPr>
          <p:cNvCxnSpPr/>
          <p:nvPr/>
        </p:nvCxnSpPr>
        <p:spPr>
          <a:xfrm>
            <a:off x="7581900" y="5546168"/>
            <a:ext cx="221613" cy="178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22">
            <a:extLst>
              <a:ext uri="{FF2B5EF4-FFF2-40B4-BE49-F238E27FC236}">
                <a16:creationId xmlns:a16="http://schemas.microsoft.com/office/drawing/2014/main" id="{8329C311-A7FA-438F-9BFB-1C4CD714544E}"/>
              </a:ext>
            </a:extLst>
          </p:cNvPr>
          <p:cNvCxnSpPr/>
          <p:nvPr/>
        </p:nvCxnSpPr>
        <p:spPr>
          <a:xfrm>
            <a:off x="4819650" y="1689613"/>
            <a:ext cx="1276350" cy="3530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24">
            <a:extLst>
              <a:ext uri="{FF2B5EF4-FFF2-40B4-BE49-F238E27FC236}">
                <a16:creationId xmlns:a16="http://schemas.microsoft.com/office/drawing/2014/main" id="{B14DFF05-B3A0-42EB-88A0-892A79171126}"/>
              </a:ext>
            </a:extLst>
          </p:cNvPr>
          <p:cNvCxnSpPr>
            <a:endCxn id="16" idx="1"/>
          </p:cNvCxnSpPr>
          <p:nvPr/>
        </p:nvCxnSpPr>
        <p:spPr>
          <a:xfrm>
            <a:off x="4905631" y="1741523"/>
            <a:ext cx="1287840" cy="4616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CaixaDeTexto 25">
            <a:extLst>
              <a:ext uri="{FF2B5EF4-FFF2-40B4-BE49-F238E27FC236}">
                <a16:creationId xmlns:a16="http://schemas.microsoft.com/office/drawing/2014/main" id="{73EB595B-EDD9-4A91-94C0-A1920B055562}"/>
              </a:ext>
            </a:extLst>
          </p:cNvPr>
          <p:cNvSpPr txBox="1"/>
          <p:nvPr/>
        </p:nvSpPr>
        <p:spPr>
          <a:xfrm>
            <a:off x="2171699" y="757959"/>
            <a:ext cx="1866134" cy="276999"/>
          </a:xfrm>
          <a:prstGeom prst="rect">
            <a:avLst/>
          </a:prstGeom>
          <a:noFill/>
        </p:spPr>
        <p:txBody>
          <a:bodyPr wrap="square" rtlCol="0">
            <a:spAutoFit/>
          </a:bodyPr>
          <a:lstStyle/>
          <a:p>
            <a:r>
              <a:rPr lang="pt-BR" sz="1200" dirty="0">
                <a:solidFill>
                  <a:srgbClr val="FF0000"/>
                </a:solidFill>
              </a:rPr>
              <a:t>Inglaterra , França e EUA</a:t>
            </a:r>
          </a:p>
        </p:txBody>
      </p:sp>
      <p:sp>
        <p:nvSpPr>
          <p:cNvPr id="27" name="CaixaDeTexto 26">
            <a:extLst>
              <a:ext uri="{FF2B5EF4-FFF2-40B4-BE49-F238E27FC236}">
                <a16:creationId xmlns:a16="http://schemas.microsoft.com/office/drawing/2014/main" id="{294D32A5-614D-4027-8258-149D35AE8181}"/>
              </a:ext>
            </a:extLst>
          </p:cNvPr>
          <p:cNvSpPr txBox="1"/>
          <p:nvPr/>
        </p:nvSpPr>
        <p:spPr>
          <a:xfrm>
            <a:off x="1166230" y="749954"/>
            <a:ext cx="1565801" cy="276999"/>
          </a:xfrm>
          <a:prstGeom prst="rect">
            <a:avLst/>
          </a:prstGeom>
          <a:noFill/>
        </p:spPr>
        <p:txBody>
          <a:bodyPr wrap="square" rtlCol="0">
            <a:spAutoFit/>
          </a:bodyPr>
          <a:lstStyle/>
          <a:p>
            <a:r>
              <a:rPr lang="pt-BR" sz="1200" dirty="0">
                <a:solidFill>
                  <a:srgbClr val="FF0000"/>
                </a:solidFill>
              </a:rPr>
              <a:t>Inglaterra</a:t>
            </a:r>
          </a:p>
        </p:txBody>
      </p:sp>
      <p:sp>
        <p:nvSpPr>
          <p:cNvPr id="28" name="CaixaDeTexto 27">
            <a:extLst>
              <a:ext uri="{FF2B5EF4-FFF2-40B4-BE49-F238E27FC236}">
                <a16:creationId xmlns:a16="http://schemas.microsoft.com/office/drawing/2014/main" id="{F935B5DF-CEEC-4A73-8B93-15320481AFFD}"/>
              </a:ext>
            </a:extLst>
          </p:cNvPr>
          <p:cNvSpPr txBox="1"/>
          <p:nvPr/>
        </p:nvSpPr>
        <p:spPr>
          <a:xfrm>
            <a:off x="4456936" y="344944"/>
            <a:ext cx="4010792" cy="307777"/>
          </a:xfrm>
          <a:prstGeom prst="rect">
            <a:avLst/>
          </a:prstGeom>
          <a:noFill/>
        </p:spPr>
        <p:txBody>
          <a:bodyPr wrap="square" rtlCol="0">
            <a:spAutoFit/>
          </a:bodyPr>
          <a:lstStyle/>
          <a:p>
            <a:r>
              <a:rPr lang="pt-BR" sz="1400" b="1" dirty="0">
                <a:solidFill>
                  <a:srgbClr val="0070C0"/>
                </a:solidFill>
              </a:rPr>
              <a:t>IMPOSIÇÃO DA  “OPEN DOOR POLICY”</a:t>
            </a:r>
          </a:p>
        </p:txBody>
      </p:sp>
      <p:cxnSp>
        <p:nvCxnSpPr>
          <p:cNvPr id="30" name="Conector de Seta Reta 29">
            <a:extLst>
              <a:ext uri="{FF2B5EF4-FFF2-40B4-BE49-F238E27FC236}">
                <a16:creationId xmlns:a16="http://schemas.microsoft.com/office/drawing/2014/main" id="{EA43B37A-714C-474A-97FD-830BB4E05075}"/>
              </a:ext>
            </a:extLst>
          </p:cNvPr>
          <p:cNvCxnSpPr/>
          <p:nvPr/>
        </p:nvCxnSpPr>
        <p:spPr>
          <a:xfrm flipH="1">
            <a:off x="5457825" y="652721"/>
            <a:ext cx="91726" cy="382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a:extLst>
              <a:ext uri="{FF2B5EF4-FFF2-40B4-BE49-F238E27FC236}">
                <a16:creationId xmlns:a16="http://schemas.microsoft.com/office/drawing/2014/main" id="{B3254D22-61B5-4D43-B95F-B585876C7FDE}"/>
              </a:ext>
            </a:extLst>
          </p:cNvPr>
          <p:cNvCxnSpPr/>
          <p:nvPr/>
        </p:nvCxnSpPr>
        <p:spPr>
          <a:xfrm>
            <a:off x="6029325" y="3286125"/>
            <a:ext cx="9144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0921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97C4D04-C3B8-4F25-84A0-6CCB715CD55E}"/>
              </a:ext>
            </a:extLst>
          </p:cNvPr>
          <p:cNvSpPr txBox="1"/>
          <p:nvPr/>
        </p:nvSpPr>
        <p:spPr>
          <a:xfrm>
            <a:off x="495300" y="989086"/>
            <a:ext cx="2219325" cy="830997"/>
          </a:xfrm>
          <a:prstGeom prst="rect">
            <a:avLst/>
          </a:prstGeom>
          <a:noFill/>
        </p:spPr>
        <p:txBody>
          <a:bodyPr wrap="square" rtlCol="0">
            <a:spAutoFit/>
          </a:bodyPr>
          <a:lstStyle/>
          <a:p>
            <a:r>
              <a:rPr lang="pt-BR" sz="2400" dirty="0">
                <a:latin typeface="Arial Black" panose="020B0A04020102020204" pitchFamily="34" charset="0"/>
              </a:rPr>
              <a:t>Um detalhe Curioso...</a:t>
            </a:r>
            <a:endParaRPr lang="pt-BR" dirty="0"/>
          </a:p>
        </p:txBody>
      </p:sp>
      <p:sp>
        <p:nvSpPr>
          <p:cNvPr id="3" name="Retângulo 2">
            <a:extLst>
              <a:ext uri="{FF2B5EF4-FFF2-40B4-BE49-F238E27FC236}">
                <a16:creationId xmlns:a16="http://schemas.microsoft.com/office/drawing/2014/main" id="{578B0207-DA35-4926-B540-A871050B36A7}"/>
              </a:ext>
            </a:extLst>
          </p:cNvPr>
          <p:cNvSpPr/>
          <p:nvPr/>
        </p:nvSpPr>
        <p:spPr>
          <a:xfrm>
            <a:off x="1495425" y="2306510"/>
            <a:ext cx="7962900" cy="461665"/>
          </a:xfrm>
          <a:prstGeom prst="rect">
            <a:avLst/>
          </a:prstGeom>
        </p:spPr>
        <p:txBody>
          <a:bodyPr wrap="square">
            <a:spAutoFit/>
          </a:bodyPr>
          <a:lstStyle/>
          <a:p>
            <a:r>
              <a:rPr lang="pt-BR" dirty="0"/>
              <a:t> ... </a:t>
            </a:r>
            <a:r>
              <a:rPr lang="pt-BR" sz="2400" dirty="0">
                <a:latin typeface="Arial Black" panose="020B0A04020102020204" pitchFamily="34" charset="0"/>
              </a:rPr>
              <a:t>a História de um Banco...</a:t>
            </a:r>
          </a:p>
        </p:txBody>
      </p:sp>
      <p:sp>
        <p:nvSpPr>
          <p:cNvPr id="4" name="Retângulo 3">
            <a:extLst>
              <a:ext uri="{FF2B5EF4-FFF2-40B4-BE49-F238E27FC236}">
                <a16:creationId xmlns:a16="http://schemas.microsoft.com/office/drawing/2014/main" id="{9DE583C9-8631-40F4-9D18-EA99803AB731}"/>
              </a:ext>
            </a:extLst>
          </p:cNvPr>
          <p:cNvSpPr/>
          <p:nvPr/>
        </p:nvSpPr>
        <p:spPr>
          <a:xfrm>
            <a:off x="2352675" y="3443286"/>
            <a:ext cx="9048749" cy="1200329"/>
          </a:xfrm>
          <a:prstGeom prst="rect">
            <a:avLst/>
          </a:prstGeom>
        </p:spPr>
        <p:txBody>
          <a:bodyPr wrap="square">
            <a:spAutoFit/>
          </a:bodyPr>
          <a:lstStyle/>
          <a:p>
            <a:r>
              <a:rPr lang="pt-BR" dirty="0">
                <a:latin typeface="Arial" panose="020B0604020202020204" pitchFamily="34" charset="0"/>
              </a:rPr>
              <a:t>Em </a:t>
            </a:r>
            <a:r>
              <a:rPr lang="pt-BR" dirty="0">
                <a:latin typeface="Arial" panose="020B0604020202020204" pitchFamily="34" charset="0"/>
                <a:hlinkClick r:id="rId2" tooltip="1865">
                  <a:extLst>
                    <a:ext uri="{A12FA001-AC4F-418D-AE19-62706E023703}">
                      <ahyp:hlinkClr xmlns:ahyp="http://schemas.microsoft.com/office/drawing/2018/hyperlinkcolor" val="tx"/>
                    </a:ext>
                  </a:extLst>
                </a:hlinkClick>
              </a:rPr>
              <a:t>1865</a:t>
            </a:r>
            <a:r>
              <a:rPr lang="pt-BR" dirty="0">
                <a:latin typeface="Arial" panose="020B0604020202020204" pitchFamily="34" charset="0"/>
              </a:rPr>
              <a:t>, o escocês Thomas Sutherland  , ligado a  uma empresa de transporte marítimo da cargas ... concretizou seu plano de abrir um banco comercial para financiar o lucrativo tráfico de </a:t>
            </a:r>
            <a:r>
              <a:rPr lang="pt-BR" dirty="0">
                <a:latin typeface="Arial" panose="020B0604020202020204" pitchFamily="34" charset="0"/>
                <a:hlinkClick r:id="rId3" tooltip="Ópio">
                  <a:extLst>
                    <a:ext uri="{A12FA001-AC4F-418D-AE19-62706E023703}">
                      <ahyp:hlinkClr xmlns:ahyp="http://schemas.microsoft.com/office/drawing/2018/hyperlinkcolor" val="tx"/>
                    </a:ext>
                  </a:extLst>
                </a:hlinkClick>
              </a:rPr>
              <a:t>ópio</a:t>
            </a:r>
            <a:r>
              <a:rPr lang="pt-BR" dirty="0">
                <a:latin typeface="Arial" panose="020B0604020202020204" pitchFamily="34" charset="0"/>
              </a:rPr>
              <a:t> pela </a:t>
            </a:r>
            <a:r>
              <a:rPr lang="pt-BR" dirty="0">
                <a:latin typeface="Arial" panose="020B0604020202020204" pitchFamily="34" charset="0"/>
                <a:hlinkClick r:id="rId4" tooltip="Companhia Britânica das Índias Orientais">
                  <a:extLst>
                    <a:ext uri="{A12FA001-AC4F-418D-AE19-62706E023703}">
                      <ahyp:hlinkClr xmlns:ahyp="http://schemas.microsoft.com/office/drawing/2018/hyperlinkcolor" val="tx"/>
                    </a:ext>
                  </a:extLst>
                </a:hlinkClick>
              </a:rPr>
              <a:t>Companhia Britânica das Índias Orientais</a:t>
            </a:r>
            <a:r>
              <a:rPr lang="pt-BR" dirty="0">
                <a:latin typeface="Arial" panose="020B0604020202020204" pitchFamily="34" charset="0"/>
              </a:rPr>
              <a:t>, fundando o Hong Kong &amp; Shanghai Banking Corporation com outros parceiros</a:t>
            </a:r>
            <a:r>
              <a:rPr lang="pt-BR" baseline="30000" dirty="0">
                <a:solidFill>
                  <a:srgbClr val="0B0080"/>
                </a:solidFill>
                <a:latin typeface="Arial" panose="020B0604020202020204" pitchFamily="34" charset="0"/>
                <a:hlinkClick r:id="rId5"/>
              </a:rPr>
              <a:t>[</a:t>
            </a:r>
            <a:endParaRPr lang="pt-BR" dirty="0"/>
          </a:p>
        </p:txBody>
      </p:sp>
      <p:sp>
        <p:nvSpPr>
          <p:cNvPr id="5" name="Retângulo 4">
            <a:extLst>
              <a:ext uri="{FF2B5EF4-FFF2-40B4-BE49-F238E27FC236}">
                <a16:creationId xmlns:a16="http://schemas.microsoft.com/office/drawing/2014/main" id="{16E7DCFA-0CB3-479B-9753-63AC5BA74CD4}"/>
              </a:ext>
            </a:extLst>
          </p:cNvPr>
          <p:cNvSpPr/>
          <p:nvPr/>
        </p:nvSpPr>
        <p:spPr>
          <a:xfrm>
            <a:off x="995361" y="4809009"/>
            <a:ext cx="10901364" cy="1477328"/>
          </a:xfrm>
          <a:prstGeom prst="rect">
            <a:avLst/>
          </a:prstGeom>
        </p:spPr>
        <p:txBody>
          <a:bodyPr wrap="square">
            <a:spAutoFit/>
          </a:bodyPr>
          <a:lstStyle/>
          <a:p>
            <a:r>
              <a:rPr lang="pt-BR" dirty="0">
                <a:solidFill>
                  <a:srgbClr val="202122"/>
                </a:solidFill>
                <a:latin typeface="Arial" panose="020B0604020202020204" pitchFamily="34" charset="0"/>
              </a:rPr>
              <a:t>Beneficiando-se da colheita de ópio das </a:t>
            </a:r>
            <a:r>
              <a:rPr lang="pt-BR" dirty="0">
                <a:solidFill>
                  <a:srgbClr val="0B0080"/>
                </a:solidFill>
                <a:latin typeface="Arial" panose="020B0604020202020204" pitchFamily="34" charset="0"/>
                <a:hlinkClick r:id="rId6" tooltip="Índias"/>
              </a:rPr>
              <a:t>Índias</a:t>
            </a:r>
            <a:r>
              <a:rPr lang="pt-BR" dirty="0">
                <a:solidFill>
                  <a:srgbClr val="202122"/>
                </a:solidFill>
                <a:latin typeface="Arial" panose="020B0604020202020204" pitchFamily="34" charset="0"/>
              </a:rPr>
              <a:t> e mais tarde no </a:t>
            </a:r>
            <a:r>
              <a:rPr lang="pt-BR" dirty="0">
                <a:solidFill>
                  <a:srgbClr val="0B0080"/>
                </a:solidFill>
                <a:latin typeface="Arial" panose="020B0604020202020204" pitchFamily="34" charset="0"/>
                <a:hlinkClick r:id="rId7" tooltip="Yunnan"/>
              </a:rPr>
              <a:t>Yunnan</a:t>
            </a:r>
            <a:r>
              <a:rPr lang="pt-BR" dirty="0">
                <a:solidFill>
                  <a:srgbClr val="202122"/>
                </a:solidFill>
                <a:latin typeface="Arial" panose="020B0604020202020204" pitchFamily="34" charset="0"/>
              </a:rPr>
              <a:t>, o banco conseguiu crescer e instalar filiais em </a:t>
            </a:r>
            <a:r>
              <a:rPr lang="pt-BR" dirty="0">
                <a:solidFill>
                  <a:srgbClr val="0B0080"/>
                </a:solidFill>
                <a:latin typeface="Arial" panose="020B0604020202020204" pitchFamily="34" charset="0"/>
                <a:hlinkClick r:id="rId8" tooltip="Bangcoc"/>
              </a:rPr>
              <a:t>Bangcoc</a:t>
            </a:r>
            <a:r>
              <a:rPr lang="pt-BR" dirty="0">
                <a:solidFill>
                  <a:srgbClr val="202122"/>
                </a:solidFill>
                <a:latin typeface="Arial" panose="020B0604020202020204" pitchFamily="34" charset="0"/>
              </a:rPr>
              <a:t> e </a:t>
            </a:r>
            <a:r>
              <a:rPr lang="pt-BR" dirty="0">
                <a:solidFill>
                  <a:srgbClr val="0B0080"/>
                </a:solidFill>
                <a:latin typeface="Arial" panose="020B0604020202020204" pitchFamily="34" charset="0"/>
                <a:hlinkClick r:id="rId9" tooltip="Manila"/>
              </a:rPr>
              <a:t>Manila</a:t>
            </a:r>
            <a:r>
              <a:rPr lang="pt-BR" dirty="0">
                <a:solidFill>
                  <a:srgbClr val="202122"/>
                </a:solidFill>
                <a:latin typeface="Arial" panose="020B0604020202020204" pitchFamily="34" charset="0"/>
              </a:rPr>
              <a:t> na </a:t>
            </a:r>
            <a:r>
              <a:rPr lang="pt-BR" dirty="0">
                <a:solidFill>
                  <a:srgbClr val="0B0080"/>
                </a:solidFill>
                <a:latin typeface="Arial" panose="020B0604020202020204" pitchFamily="34" charset="0"/>
                <a:hlinkClick r:id="rId10" tooltip="Década de 1920"/>
              </a:rPr>
              <a:t>década de 1920</a:t>
            </a:r>
            <a:r>
              <a:rPr lang="pt-BR" dirty="0">
                <a:solidFill>
                  <a:srgbClr val="202122"/>
                </a:solidFill>
                <a:latin typeface="Arial" panose="020B0604020202020204" pitchFamily="34" charset="0"/>
              </a:rPr>
              <a:t>. A partir da instalação e aquisição de bancos nos Estados Unidos (como o Marine Midland Bank) e na Europa na </a:t>
            </a:r>
            <a:r>
              <a:rPr lang="pt-BR" dirty="0">
                <a:solidFill>
                  <a:srgbClr val="0B0080"/>
                </a:solidFill>
                <a:latin typeface="Arial" panose="020B0604020202020204" pitchFamily="34" charset="0"/>
                <a:hlinkClick r:id="rId11" tooltip="Década de 1980"/>
              </a:rPr>
              <a:t>década de 1980</a:t>
            </a:r>
            <a:r>
              <a:rPr lang="pt-BR" dirty="0">
                <a:solidFill>
                  <a:srgbClr val="202122"/>
                </a:solidFill>
                <a:latin typeface="Arial" panose="020B0604020202020204" pitchFamily="34" charset="0"/>
              </a:rPr>
              <a:t>, o HSBC deu um passo para se transformar em um dos maiores conglomerados financeiros do mundo. </a:t>
            </a:r>
            <a:r>
              <a:rPr lang="pt-BR" baseline="30000" dirty="0">
                <a:solidFill>
                  <a:srgbClr val="0B0080"/>
                </a:solidFill>
                <a:latin typeface="Arial" panose="020B0604020202020204" pitchFamily="34" charset="0"/>
              </a:rPr>
              <a:t>(</a:t>
            </a:r>
            <a:r>
              <a:rPr lang="pt-BR" dirty="0">
                <a:hlinkClick r:id="rId12"/>
              </a:rPr>
              <a:t>https://diplomatique.org.br/hsbc-origem-do-opio/</a:t>
            </a:r>
            <a:r>
              <a:rPr lang="pt-BR" dirty="0"/>
              <a:t>  e </a:t>
            </a:r>
            <a:r>
              <a:rPr lang="pt-BR" dirty="0">
                <a:hlinkClick r:id="rId13"/>
              </a:rPr>
              <a:t>https://pt.wikipedia.org/wiki/HSBC</a:t>
            </a:r>
            <a:r>
              <a:rPr lang="pt-BR" dirty="0"/>
              <a:t>)</a:t>
            </a:r>
          </a:p>
        </p:txBody>
      </p:sp>
      <p:pic>
        <p:nvPicPr>
          <p:cNvPr id="2050" name="Picture 2" descr="c_1850_sherwill_4_dryi679041">
            <a:extLst>
              <a:ext uri="{FF2B5EF4-FFF2-40B4-BE49-F238E27FC236}">
                <a16:creationId xmlns:a16="http://schemas.microsoft.com/office/drawing/2014/main" id="{C9477DA7-40FF-4A49-B214-44C08071994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12743" y="133188"/>
            <a:ext cx="3983832" cy="2901269"/>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a:extLst>
              <a:ext uri="{FF2B5EF4-FFF2-40B4-BE49-F238E27FC236}">
                <a16:creationId xmlns:a16="http://schemas.microsoft.com/office/drawing/2014/main" id="{B4601036-EF22-4622-84D7-9C4F8DEA0F66}"/>
              </a:ext>
            </a:extLst>
          </p:cNvPr>
          <p:cNvSpPr txBox="1"/>
          <p:nvPr/>
        </p:nvSpPr>
        <p:spPr>
          <a:xfrm>
            <a:off x="10853739" y="568448"/>
            <a:ext cx="1230512" cy="1446550"/>
          </a:xfrm>
          <a:prstGeom prst="rect">
            <a:avLst/>
          </a:prstGeom>
          <a:noFill/>
        </p:spPr>
        <p:txBody>
          <a:bodyPr wrap="square" rtlCol="0">
            <a:spAutoFit/>
          </a:bodyPr>
          <a:lstStyle/>
          <a:p>
            <a:r>
              <a:rPr lang="pt-BR" sz="1100" dirty="0">
                <a:hlinkClick r:id="rId15"/>
              </a:rPr>
              <a:t>https://auroraoriental.wordpress.com/2017/02/04/o-opio-e-a-legalizacao-das-drogas-uma-licao-da-historia-ou-nao/</a:t>
            </a:r>
            <a:endParaRPr lang="pt-BR" sz="1100" dirty="0"/>
          </a:p>
        </p:txBody>
      </p:sp>
      <p:sp>
        <p:nvSpPr>
          <p:cNvPr id="7" name="CaixaDeTexto 6">
            <a:extLst>
              <a:ext uri="{FF2B5EF4-FFF2-40B4-BE49-F238E27FC236}">
                <a16:creationId xmlns:a16="http://schemas.microsoft.com/office/drawing/2014/main" id="{405C7A5D-CBA5-4033-8BE4-AC24026814AF}"/>
              </a:ext>
            </a:extLst>
          </p:cNvPr>
          <p:cNvSpPr txBox="1"/>
          <p:nvPr/>
        </p:nvSpPr>
        <p:spPr>
          <a:xfrm>
            <a:off x="7129461" y="3011389"/>
            <a:ext cx="4076700" cy="369332"/>
          </a:xfrm>
          <a:prstGeom prst="rect">
            <a:avLst/>
          </a:prstGeom>
          <a:noFill/>
        </p:spPr>
        <p:txBody>
          <a:bodyPr wrap="square" rtlCol="0">
            <a:spAutoFit/>
          </a:bodyPr>
          <a:lstStyle/>
          <a:p>
            <a:r>
              <a:rPr lang="pt-BR" dirty="0">
                <a:solidFill>
                  <a:srgbClr val="FF0000"/>
                </a:solidFill>
                <a:latin typeface="Arial Black" panose="020B0A04020102020204" pitchFamily="34" charset="0"/>
              </a:rPr>
              <a:t>Armazém de Ópio na Índia</a:t>
            </a:r>
          </a:p>
        </p:txBody>
      </p:sp>
    </p:spTree>
    <p:extLst>
      <p:ext uri="{BB962C8B-B14F-4D97-AF65-F5344CB8AC3E}">
        <p14:creationId xmlns:p14="http://schemas.microsoft.com/office/powerpoint/2010/main" val="705353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F77F900-DAE1-46B5-9F6D-4BBFA07829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14" y="1723548"/>
            <a:ext cx="6655312" cy="4362927"/>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a:extLst>
              <a:ext uri="{FF2B5EF4-FFF2-40B4-BE49-F238E27FC236}">
                <a16:creationId xmlns:a16="http://schemas.microsoft.com/office/drawing/2014/main" id="{EAF92A01-E22D-42C0-9624-9E79FE0669CB}"/>
              </a:ext>
            </a:extLst>
          </p:cNvPr>
          <p:cNvSpPr/>
          <p:nvPr/>
        </p:nvSpPr>
        <p:spPr>
          <a:xfrm>
            <a:off x="189009" y="6215360"/>
            <a:ext cx="7572375" cy="461665"/>
          </a:xfrm>
          <a:prstGeom prst="rect">
            <a:avLst/>
          </a:prstGeom>
        </p:spPr>
        <p:txBody>
          <a:bodyPr wrap="square">
            <a:spAutoFit/>
          </a:bodyPr>
          <a:lstStyle/>
          <a:p>
            <a:r>
              <a:rPr lang="pt-BR" sz="1200" b="1" dirty="0">
                <a:solidFill>
                  <a:srgbClr val="757575"/>
                </a:solidFill>
                <a:latin typeface="Arial Black" panose="020B0A04020102020204" pitchFamily="34" charset="0"/>
              </a:rPr>
              <a:t>Animais que representam vários países como a Rússia (urso), França (galo), Império Alemão e EUA (águias) e a Inglaterra (leão) disputando o cadáver do dragão chinês</a:t>
            </a:r>
            <a:endParaRPr lang="pt-BR" sz="1200" b="1" dirty="0">
              <a:latin typeface="Arial Black" panose="020B0A04020102020204" pitchFamily="34" charset="0"/>
            </a:endParaRPr>
          </a:p>
        </p:txBody>
      </p:sp>
      <p:sp>
        <p:nvSpPr>
          <p:cNvPr id="4" name="CaixaDeTexto 3">
            <a:extLst>
              <a:ext uri="{FF2B5EF4-FFF2-40B4-BE49-F238E27FC236}">
                <a16:creationId xmlns:a16="http://schemas.microsoft.com/office/drawing/2014/main" id="{94CB3436-8C3F-45C4-AD3E-A1713EB3C35F}"/>
              </a:ext>
            </a:extLst>
          </p:cNvPr>
          <p:cNvSpPr txBox="1"/>
          <p:nvPr/>
        </p:nvSpPr>
        <p:spPr>
          <a:xfrm>
            <a:off x="696359" y="448359"/>
            <a:ext cx="3366125" cy="646331"/>
          </a:xfrm>
          <a:prstGeom prst="rect">
            <a:avLst/>
          </a:prstGeom>
          <a:noFill/>
        </p:spPr>
        <p:txBody>
          <a:bodyPr wrap="square" rtlCol="0">
            <a:spAutoFit/>
          </a:bodyPr>
          <a:lstStyle/>
          <a:p>
            <a:r>
              <a:rPr lang="pt-BR" dirty="0">
                <a:solidFill>
                  <a:srgbClr val="FF0000"/>
                </a:solidFill>
                <a:latin typeface="Arial Black" panose="020B0A04020102020204" pitchFamily="34" charset="0"/>
              </a:rPr>
              <a:t>OUTRAS IMPOSIÇÕES MILITARES-1895</a:t>
            </a:r>
          </a:p>
        </p:txBody>
      </p:sp>
      <p:pic>
        <p:nvPicPr>
          <p:cNvPr id="9218" name="Picture 2">
            <a:extLst>
              <a:ext uri="{FF2B5EF4-FFF2-40B4-BE49-F238E27FC236}">
                <a16:creationId xmlns:a16="http://schemas.microsoft.com/office/drawing/2014/main" id="{51965EFF-5564-4174-A801-3A053D5FE6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736" y="3221980"/>
            <a:ext cx="4447077" cy="2928937"/>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1A467A94-A349-4B32-974B-0856BFC318BB}"/>
              </a:ext>
            </a:extLst>
          </p:cNvPr>
          <p:cNvSpPr/>
          <p:nvPr/>
        </p:nvSpPr>
        <p:spPr>
          <a:xfrm>
            <a:off x="7591425" y="6273225"/>
            <a:ext cx="4600575" cy="584775"/>
          </a:xfrm>
          <a:prstGeom prst="rect">
            <a:avLst/>
          </a:prstGeom>
        </p:spPr>
        <p:txBody>
          <a:bodyPr wrap="square">
            <a:spAutoFit/>
          </a:bodyPr>
          <a:lstStyle/>
          <a:p>
            <a:r>
              <a:rPr lang="en-US" sz="1000" b="1" dirty="0">
                <a:solidFill>
                  <a:srgbClr val="202122"/>
                </a:solidFill>
                <a:latin typeface="Arial" panose="020B0604020202020204" pitchFamily="34" charset="0"/>
              </a:rPr>
              <a:t>US cartoon from 1899: Uncle Sam (US) demands Open Door access to trade with China while European powers plan to cut up China for themselves</a:t>
            </a:r>
            <a:r>
              <a:rPr lang="en-US" sz="1200" b="1" dirty="0">
                <a:solidFill>
                  <a:srgbClr val="202122"/>
                </a:solidFill>
                <a:latin typeface="Arial" panose="020B0604020202020204" pitchFamily="34" charset="0"/>
              </a:rPr>
              <a:t>.</a:t>
            </a:r>
            <a:endParaRPr lang="pt-BR" sz="1200" b="1" dirty="0"/>
          </a:p>
        </p:txBody>
      </p:sp>
      <p:pic>
        <p:nvPicPr>
          <p:cNvPr id="9220" name="Picture 4" descr="Political Cartoon Analysis: Open Door Policy Political Cartoon ...">
            <a:extLst>
              <a:ext uri="{FF2B5EF4-FFF2-40B4-BE49-F238E27FC236}">
                <a16:creationId xmlns:a16="http://schemas.microsoft.com/office/drawing/2014/main" id="{4F554D51-861A-4656-98B6-A31BDF619F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6400" y="36349"/>
            <a:ext cx="2190750" cy="3124477"/>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a:extLst>
              <a:ext uri="{FF2B5EF4-FFF2-40B4-BE49-F238E27FC236}">
                <a16:creationId xmlns:a16="http://schemas.microsoft.com/office/drawing/2014/main" id="{7A7553FC-20C2-4618-A043-368737FE4B2F}"/>
              </a:ext>
            </a:extLst>
          </p:cNvPr>
          <p:cNvSpPr txBox="1"/>
          <p:nvPr/>
        </p:nvSpPr>
        <p:spPr>
          <a:xfrm>
            <a:off x="4371975" y="208790"/>
            <a:ext cx="4614934" cy="1200329"/>
          </a:xfrm>
          <a:prstGeom prst="rect">
            <a:avLst/>
          </a:prstGeom>
          <a:noFill/>
        </p:spPr>
        <p:txBody>
          <a:bodyPr wrap="square" rtlCol="0">
            <a:spAutoFit/>
          </a:bodyPr>
          <a:lstStyle/>
          <a:p>
            <a:r>
              <a:rPr lang="pt-BR" b="1" dirty="0">
                <a:solidFill>
                  <a:srgbClr val="002060"/>
                </a:solidFill>
                <a:latin typeface="Arial Black" panose="020B0A04020102020204" pitchFamily="34" charset="0"/>
              </a:rPr>
              <a:t>Abertura de mais de cinquenta Portos e concessões...à Alemanha, Rússia, Japão, Estados Unidos além da França e Inglaterra</a:t>
            </a:r>
          </a:p>
        </p:txBody>
      </p:sp>
      <p:cxnSp>
        <p:nvCxnSpPr>
          <p:cNvPr id="8" name="Conector de Seta Reta 7">
            <a:extLst>
              <a:ext uri="{FF2B5EF4-FFF2-40B4-BE49-F238E27FC236}">
                <a16:creationId xmlns:a16="http://schemas.microsoft.com/office/drawing/2014/main" id="{6E5D492C-5CFE-45E3-A7FE-809DEE8965C9}"/>
              </a:ext>
            </a:extLst>
          </p:cNvPr>
          <p:cNvCxnSpPr/>
          <p:nvPr/>
        </p:nvCxnSpPr>
        <p:spPr>
          <a:xfrm>
            <a:off x="3790950" y="771524"/>
            <a:ext cx="4762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9">
            <a:extLst>
              <a:ext uri="{FF2B5EF4-FFF2-40B4-BE49-F238E27FC236}">
                <a16:creationId xmlns:a16="http://schemas.microsoft.com/office/drawing/2014/main" id="{F22FD2D5-8DF4-41E9-8F1E-DCF6846E06FF}"/>
              </a:ext>
            </a:extLst>
          </p:cNvPr>
          <p:cNvCxnSpPr/>
          <p:nvPr/>
        </p:nvCxnSpPr>
        <p:spPr>
          <a:xfrm flipH="1">
            <a:off x="6867525" y="1409119"/>
            <a:ext cx="419100" cy="705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de Seta Reta 11">
            <a:extLst>
              <a:ext uri="{FF2B5EF4-FFF2-40B4-BE49-F238E27FC236}">
                <a16:creationId xmlns:a16="http://schemas.microsoft.com/office/drawing/2014/main" id="{CFFA509A-40EC-41AA-8FA3-6BA2C6B7825B}"/>
              </a:ext>
            </a:extLst>
          </p:cNvPr>
          <p:cNvCxnSpPr/>
          <p:nvPr/>
        </p:nvCxnSpPr>
        <p:spPr>
          <a:xfrm>
            <a:off x="7324725" y="1473562"/>
            <a:ext cx="685800" cy="1574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13">
            <a:extLst>
              <a:ext uri="{FF2B5EF4-FFF2-40B4-BE49-F238E27FC236}">
                <a16:creationId xmlns:a16="http://schemas.microsoft.com/office/drawing/2014/main" id="{F17C6AD0-DBC6-4357-9D17-47627A003910}"/>
              </a:ext>
            </a:extLst>
          </p:cNvPr>
          <p:cNvCxnSpPr>
            <a:cxnSpLocks/>
          </p:cNvCxnSpPr>
          <p:nvPr/>
        </p:nvCxnSpPr>
        <p:spPr>
          <a:xfrm>
            <a:off x="7341919" y="1422197"/>
            <a:ext cx="1644990" cy="339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6434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E2B7274E-04CF-4ACD-A9A6-C334CE80731F}"/>
              </a:ext>
            </a:extLst>
          </p:cNvPr>
          <p:cNvSpPr/>
          <p:nvPr/>
        </p:nvSpPr>
        <p:spPr>
          <a:xfrm>
            <a:off x="286346" y="1209318"/>
            <a:ext cx="6096000" cy="5078313"/>
          </a:xfrm>
          <a:prstGeom prst="rect">
            <a:avLst/>
          </a:prstGeom>
        </p:spPr>
        <p:txBody>
          <a:bodyPr>
            <a:spAutoFit/>
          </a:bodyPr>
          <a:lstStyle/>
          <a:p>
            <a:r>
              <a:rPr lang="pt-BR" dirty="0">
                <a:solidFill>
                  <a:srgbClr val="202122"/>
                </a:solidFill>
                <a:latin typeface="Arial" panose="020B0604020202020204" pitchFamily="34" charset="0"/>
              </a:rPr>
              <a:t>“O movimento tinha uma </a:t>
            </a:r>
            <a:r>
              <a:rPr lang="pt-BR" dirty="0">
                <a:solidFill>
                  <a:srgbClr val="0B0080"/>
                </a:solidFill>
                <a:latin typeface="Arial" panose="020B0604020202020204" pitchFamily="34" charset="0"/>
                <a:hlinkClick r:id="rId2" tooltip="Ideologia"/>
              </a:rPr>
              <a:t>ideologia</a:t>
            </a:r>
            <a:r>
              <a:rPr lang="pt-BR" dirty="0">
                <a:solidFill>
                  <a:srgbClr val="202122"/>
                </a:solidFill>
                <a:latin typeface="Arial" panose="020B0604020202020204" pitchFamily="34" charset="0"/>
              </a:rPr>
              <a:t> </a:t>
            </a:r>
            <a:r>
              <a:rPr lang="pt-BR" dirty="0">
                <a:solidFill>
                  <a:srgbClr val="0B0080"/>
                </a:solidFill>
                <a:latin typeface="Arial" panose="020B0604020202020204" pitchFamily="34" charset="0"/>
                <a:hlinkClick r:id="rId3" tooltip="Ecletismo"/>
              </a:rPr>
              <a:t>eclética</a:t>
            </a:r>
            <a:r>
              <a:rPr lang="pt-BR" dirty="0">
                <a:solidFill>
                  <a:srgbClr val="202122"/>
                </a:solidFill>
                <a:latin typeface="Arial" panose="020B0604020202020204" pitchFamily="34" charset="0"/>
              </a:rPr>
              <a:t> que combinava elementos da antiga </a:t>
            </a:r>
            <a:r>
              <a:rPr lang="pt-BR" dirty="0">
                <a:solidFill>
                  <a:srgbClr val="0B0080"/>
                </a:solidFill>
                <a:latin typeface="Arial" panose="020B0604020202020204" pitchFamily="34" charset="0"/>
                <a:hlinkClick r:id="rId4" tooltip="Filosofia"/>
              </a:rPr>
              <a:t>filosofia</a:t>
            </a:r>
            <a:r>
              <a:rPr lang="pt-BR" dirty="0">
                <a:solidFill>
                  <a:srgbClr val="202122"/>
                </a:solidFill>
                <a:latin typeface="Arial" panose="020B0604020202020204" pitchFamily="34" charset="0"/>
              </a:rPr>
              <a:t> </a:t>
            </a:r>
            <a:r>
              <a:rPr lang="pt-BR" dirty="0">
                <a:solidFill>
                  <a:srgbClr val="0B0080"/>
                </a:solidFill>
                <a:latin typeface="Arial" panose="020B0604020202020204" pitchFamily="34" charset="0"/>
                <a:hlinkClick r:id="rId5" tooltip="Taoísmo"/>
              </a:rPr>
              <a:t>taoísta</a:t>
            </a:r>
            <a:r>
              <a:rPr lang="pt-BR" dirty="0">
                <a:solidFill>
                  <a:srgbClr val="202122"/>
                </a:solidFill>
                <a:latin typeface="Arial" panose="020B0604020202020204" pitchFamily="34" charset="0"/>
              </a:rPr>
              <a:t> (</a:t>
            </a:r>
            <a:r>
              <a:rPr lang="pt-BR" dirty="0" err="1">
                <a:solidFill>
                  <a:srgbClr val="202122"/>
                </a:solidFill>
                <a:latin typeface="Arial" panose="020B0604020202020204" pitchFamily="34" charset="0"/>
              </a:rPr>
              <a:t>pré</a:t>
            </a:r>
            <a:r>
              <a:rPr lang="pt-BR" dirty="0">
                <a:solidFill>
                  <a:srgbClr val="202122"/>
                </a:solidFill>
                <a:latin typeface="Arial" panose="020B0604020202020204" pitchFamily="34" charset="0"/>
              </a:rPr>
              <a:t>-</a:t>
            </a:r>
            <a:r>
              <a:rPr lang="pt-BR" dirty="0">
                <a:solidFill>
                  <a:srgbClr val="0B0080"/>
                </a:solidFill>
                <a:latin typeface="Arial" panose="020B0604020202020204" pitchFamily="34" charset="0"/>
                <a:hlinkClick r:id="rId6" tooltip="Confucionismo"/>
              </a:rPr>
              <a:t>confuciana</a:t>
            </a:r>
            <a:r>
              <a:rPr lang="pt-BR" dirty="0">
                <a:solidFill>
                  <a:srgbClr val="202122"/>
                </a:solidFill>
                <a:latin typeface="Arial" panose="020B0604020202020204" pitchFamily="34" charset="0"/>
              </a:rPr>
              <a:t>) com crenças herdadas do </a:t>
            </a:r>
            <a:r>
              <a:rPr lang="pt-BR" dirty="0">
                <a:solidFill>
                  <a:srgbClr val="0B0080"/>
                </a:solidFill>
                <a:latin typeface="Arial" panose="020B0604020202020204" pitchFamily="34" charset="0"/>
                <a:hlinkClick r:id="rId7" tooltip="Protestantismo"/>
              </a:rPr>
              <a:t>cristianismo protestante</a:t>
            </a:r>
            <a:r>
              <a:rPr lang="pt-BR" dirty="0">
                <a:solidFill>
                  <a:srgbClr val="202122"/>
                </a:solidFill>
                <a:latin typeface="Arial" panose="020B0604020202020204" pitchFamily="34" charset="0"/>
              </a:rPr>
              <a:t>. Defendiam uma sociedade na qual os </a:t>
            </a:r>
            <a:r>
              <a:rPr lang="pt-BR" dirty="0">
                <a:solidFill>
                  <a:srgbClr val="0B0080"/>
                </a:solidFill>
                <a:latin typeface="Arial" panose="020B0604020202020204" pitchFamily="34" charset="0"/>
                <a:hlinkClick r:id="rId8" tooltip="Camponeses"/>
              </a:rPr>
              <a:t>camponeses</a:t>
            </a:r>
            <a:r>
              <a:rPr lang="pt-BR" dirty="0">
                <a:solidFill>
                  <a:srgbClr val="202122"/>
                </a:solidFill>
                <a:latin typeface="Arial" panose="020B0604020202020204" pitchFamily="34" charset="0"/>
              </a:rPr>
              <a:t> possuiriam e trabalhariam a terra em comum e na qual a </a:t>
            </a:r>
            <a:r>
              <a:rPr lang="pt-BR" dirty="0">
                <a:solidFill>
                  <a:srgbClr val="0B0080"/>
                </a:solidFill>
                <a:latin typeface="Arial" panose="020B0604020202020204" pitchFamily="34" charset="0"/>
                <a:hlinkClick r:id="rId9" tooltip="Escravidão"/>
              </a:rPr>
              <a:t>escravidão</a:t>
            </a:r>
            <a:r>
              <a:rPr lang="pt-BR" dirty="0">
                <a:solidFill>
                  <a:srgbClr val="202122"/>
                </a:solidFill>
                <a:latin typeface="Arial" panose="020B0604020202020204" pitchFamily="34" charset="0"/>
              </a:rPr>
              <a:t>, a </a:t>
            </a:r>
            <a:r>
              <a:rPr lang="pt-BR" dirty="0">
                <a:solidFill>
                  <a:srgbClr val="0B0080"/>
                </a:solidFill>
                <a:latin typeface="Arial" panose="020B0604020202020204" pitchFamily="34" charset="0"/>
                <a:hlinkClick r:id="rId10" tooltip="Tortura"/>
              </a:rPr>
              <a:t>tortura</a:t>
            </a:r>
            <a:r>
              <a:rPr lang="pt-BR" dirty="0">
                <a:solidFill>
                  <a:srgbClr val="202122"/>
                </a:solidFill>
                <a:latin typeface="Arial" panose="020B0604020202020204" pitchFamily="34" charset="0"/>
              </a:rPr>
              <a:t> policial, os </a:t>
            </a:r>
            <a:r>
              <a:rPr lang="pt-BR" dirty="0">
                <a:solidFill>
                  <a:srgbClr val="0B0080"/>
                </a:solidFill>
                <a:latin typeface="Arial" panose="020B0604020202020204" pitchFamily="34" charset="0"/>
                <a:hlinkClick r:id="rId11" tooltip="Casamento por conveniência"/>
              </a:rPr>
              <a:t>casamentos arranjados</a:t>
            </a:r>
            <a:r>
              <a:rPr lang="pt-BR" dirty="0">
                <a:solidFill>
                  <a:srgbClr val="202122"/>
                </a:solidFill>
                <a:latin typeface="Arial" panose="020B0604020202020204" pitchFamily="34" charset="0"/>
              </a:rPr>
              <a:t>, o </a:t>
            </a:r>
            <a:r>
              <a:rPr lang="pt-BR" dirty="0">
                <a:solidFill>
                  <a:srgbClr val="0B0080"/>
                </a:solidFill>
                <a:latin typeface="Arial" panose="020B0604020202020204" pitchFamily="34" charset="0"/>
                <a:hlinkClick r:id="rId12" tooltip="Concubinato"/>
              </a:rPr>
              <a:t>concubinato</a:t>
            </a:r>
            <a:r>
              <a:rPr lang="pt-BR" dirty="0">
                <a:solidFill>
                  <a:srgbClr val="202122"/>
                </a:solidFill>
                <a:latin typeface="Arial" panose="020B0604020202020204" pitchFamily="34" charset="0"/>
              </a:rPr>
              <a:t>, o consumo de </a:t>
            </a:r>
            <a:r>
              <a:rPr lang="pt-BR" dirty="0">
                <a:solidFill>
                  <a:srgbClr val="0B0080"/>
                </a:solidFill>
                <a:latin typeface="Arial" panose="020B0604020202020204" pitchFamily="34" charset="0"/>
                <a:hlinkClick r:id="rId13" tooltip="Ópio"/>
              </a:rPr>
              <a:t>ópio</a:t>
            </a:r>
            <a:r>
              <a:rPr lang="pt-BR" dirty="0">
                <a:solidFill>
                  <a:srgbClr val="202122"/>
                </a:solidFill>
                <a:latin typeface="Arial" panose="020B0604020202020204" pitchFamily="34" charset="0"/>
              </a:rPr>
              <a:t>, a </a:t>
            </a:r>
            <a:r>
              <a:rPr lang="pt-BR" dirty="0">
                <a:solidFill>
                  <a:srgbClr val="0B0080"/>
                </a:solidFill>
                <a:latin typeface="Arial" panose="020B0604020202020204" pitchFamily="34" charset="0"/>
                <a:hlinkClick r:id="rId14" tooltip="Idolatria"/>
              </a:rPr>
              <a:t>idolatria</a:t>
            </a:r>
            <a:r>
              <a:rPr lang="pt-BR" dirty="0">
                <a:solidFill>
                  <a:srgbClr val="202122"/>
                </a:solidFill>
                <a:latin typeface="Arial" panose="020B0604020202020204" pitchFamily="34" charset="0"/>
              </a:rPr>
              <a:t> e outros costumes da </a:t>
            </a:r>
            <a:r>
              <a:rPr lang="pt-BR" dirty="0">
                <a:solidFill>
                  <a:srgbClr val="0B0080"/>
                </a:solidFill>
                <a:latin typeface="Arial" panose="020B0604020202020204" pitchFamily="34" charset="0"/>
                <a:hlinkClick r:id="rId15" tooltip="China Imperial"/>
              </a:rPr>
              <a:t>China Imperial</a:t>
            </a:r>
            <a:r>
              <a:rPr lang="pt-BR" dirty="0">
                <a:solidFill>
                  <a:srgbClr val="202122"/>
                </a:solidFill>
                <a:latin typeface="Arial" panose="020B0604020202020204" pitchFamily="34" charset="0"/>
              </a:rPr>
              <a:t>, como o hábito de enfaixar e comprimir os pés das mulheres, seriam abolidos.(...)</a:t>
            </a:r>
            <a:r>
              <a:rPr lang="pt-BR" dirty="0">
                <a:latin typeface="Arial" panose="020B0604020202020204" pitchFamily="34" charset="0"/>
                <a:cs typeface="Arial" panose="020B0604020202020204" pitchFamily="34" charset="0"/>
              </a:rPr>
              <a:t> O movimento defendia um programa radical de reformas econômicas na qual todas as riquezas seriam igualmente distribuídas a todos os membros da </a:t>
            </a:r>
            <a:r>
              <a:rPr lang="pt-BR" dirty="0">
                <a:latin typeface="Arial" panose="020B0604020202020204" pitchFamily="34" charset="0"/>
                <a:cs typeface="Arial" panose="020B0604020202020204" pitchFamily="34" charset="0"/>
                <a:hlinkClick r:id="rId16" tooltip="Sociedade"/>
              </a:rPr>
              <a:t>sociedade</a:t>
            </a:r>
            <a:r>
              <a:rPr lang="pt-BR" dirty="0">
                <a:latin typeface="Arial" panose="020B0604020202020204" pitchFamily="34" charset="0"/>
                <a:cs typeface="Arial" panose="020B0604020202020204" pitchFamily="34" charset="0"/>
              </a:rPr>
              <a:t>, que passaria a ser uma </a:t>
            </a:r>
            <a:r>
              <a:rPr lang="pt-BR" dirty="0">
                <a:latin typeface="Arial" panose="020B0604020202020204" pitchFamily="34" charset="0"/>
                <a:cs typeface="Arial" panose="020B0604020202020204" pitchFamily="34" charset="0"/>
                <a:hlinkClick r:id="rId17" tooltip="Sociedade sem classes"/>
              </a:rPr>
              <a:t>sociedade sem classes</a:t>
            </a:r>
            <a:r>
              <a:rPr lang="pt-BR" dirty="0">
                <a:latin typeface="Arial" panose="020B0604020202020204" pitchFamily="34" charset="0"/>
                <a:cs typeface="Arial" panose="020B0604020202020204" pitchFamily="34" charset="0"/>
              </a:rPr>
              <a:t>. Uma das consequências sociais e econômicas da igualdade entre homens e mulheres, foi que muitos postos de governo foram atribuídos às mulheres. (...)”</a:t>
            </a:r>
            <a:r>
              <a:rPr lang="pt-BR" dirty="0">
                <a:solidFill>
                  <a:srgbClr val="202122"/>
                </a:solidFill>
                <a:latin typeface="Arial" panose="020B0604020202020204" pitchFamily="34" charset="0"/>
                <a:cs typeface="Arial" panose="020B0604020202020204" pitchFamily="34" charset="0"/>
              </a:rPr>
              <a:t> </a:t>
            </a:r>
            <a:r>
              <a:rPr lang="pt-BR" dirty="0">
                <a:hlinkClick r:id="rId18"/>
              </a:rPr>
              <a:t>http://www.fsmitha.com/h3/h38china.htm</a:t>
            </a:r>
            <a:endParaRPr lang="pt-BR" sz="1400" dirty="0"/>
          </a:p>
        </p:txBody>
      </p:sp>
      <p:sp>
        <p:nvSpPr>
          <p:cNvPr id="3" name="CaixaDeTexto 2">
            <a:extLst>
              <a:ext uri="{FF2B5EF4-FFF2-40B4-BE49-F238E27FC236}">
                <a16:creationId xmlns:a16="http://schemas.microsoft.com/office/drawing/2014/main" id="{78C32B81-B178-4ADB-A52B-4638250A4BC7}"/>
              </a:ext>
            </a:extLst>
          </p:cNvPr>
          <p:cNvSpPr txBox="1"/>
          <p:nvPr/>
        </p:nvSpPr>
        <p:spPr>
          <a:xfrm>
            <a:off x="286346" y="809208"/>
            <a:ext cx="5038725" cy="400110"/>
          </a:xfrm>
          <a:prstGeom prst="rect">
            <a:avLst/>
          </a:prstGeom>
          <a:noFill/>
        </p:spPr>
        <p:txBody>
          <a:bodyPr wrap="square" rtlCol="0">
            <a:spAutoFit/>
          </a:bodyPr>
          <a:lstStyle/>
          <a:p>
            <a:r>
              <a:rPr lang="pt-BR" sz="2000" dirty="0">
                <a:latin typeface="Arial Black" panose="020B0A04020102020204" pitchFamily="34" charset="0"/>
              </a:rPr>
              <a:t>A Revolta de Taiping-1851/1864</a:t>
            </a:r>
          </a:p>
        </p:txBody>
      </p:sp>
      <p:pic>
        <p:nvPicPr>
          <p:cNvPr id="1026" name="Picture 2">
            <a:extLst>
              <a:ext uri="{FF2B5EF4-FFF2-40B4-BE49-F238E27FC236}">
                <a16:creationId xmlns:a16="http://schemas.microsoft.com/office/drawing/2014/main" id="{0B46C0AD-C273-478A-A728-469DE419398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934199" y="3577946"/>
            <a:ext cx="4628555" cy="2962275"/>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a:extLst>
              <a:ext uri="{FF2B5EF4-FFF2-40B4-BE49-F238E27FC236}">
                <a16:creationId xmlns:a16="http://schemas.microsoft.com/office/drawing/2014/main" id="{774970F9-198C-4959-84D4-5E4DF434F704}"/>
              </a:ext>
            </a:extLst>
          </p:cNvPr>
          <p:cNvSpPr/>
          <p:nvPr/>
        </p:nvSpPr>
        <p:spPr>
          <a:xfrm>
            <a:off x="8054474" y="6496048"/>
            <a:ext cx="2198102" cy="369332"/>
          </a:xfrm>
          <a:prstGeom prst="rect">
            <a:avLst/>
          </a:prstGeom>
        </p:spPr>
        <p:txBody>
          <a:bodyPr wrap="none">
            <a:spAutoFit/>
          </a:bodyPr>
          <a:lstStyle/>
          <a:p>
            <a:r>
              <a:rPr lang="pt-BR" dirty="0">
                <a:solidFill>
                  <a:srgbClr val="000000"/>
                </a:solidFill>
                <a:latin typeface="Arial" panose="020B0604020202020204" pitchFamily="34" charset="0"/>
              </a:rPr>
              <a:t>Batalha do Rio Azul</a:t>
            </a:r>
            <a:endParaRPr lang="pt-BR" dirty="0"/>
          </a:p>
        </p:txBody>
      </p:sp>
      <p:pic>
        <p:nvPicPr>
          <p:cNvPr id="1030" name="Picture 6">
            <a:extLst>
              <a:ext uri="{FF2B5EF4-FFF2-40B4-BE49-F238E27FC236}">
                <a16:creationId xmlns:a16="http://schemas.microsoft.com/office/drawing/2014/main" id="{00923131-1DEF-4A35-8B2A-C7084D3A8ED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76431" y="152043"/>
            <a:ext cx="4924425" cy="2857500"/>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4DE224B0-43D9-4E57-AD43-D9286D7828D1}"/>
              </a:ext>
            </a:extLst>
          </p:cNvPr>
          <p:cNvSpPr/>
          <p:nvPr/>
        </p:nvSpPr>
        <p:spPr>
          <a:xfrm>
            <a:off x="6765681" y="2980611"/>
            <a:ext cx="4965590" cy="369332"/>
          </a:xfrm>
          <a:prstGeom prst="rect">
            <a:avLst/>
          </a:prstGeom>
        </p:spPr>
        <p:txBody>
          <a:bodyPr wrap="none">
            <a:spAutoFit/>
          </a:bodyPr>
          <a:lstStyle/>
          <a:p>
            <a:r>
              <a:rPr lang="pt-BR" sz="1600" b="1" dirty="0">
                <a:solidFill>
                  <a:srgbClr val="202122"/>
                </a:solidFill>
                <a:latin typeface="Arial" panose="020B0604020202020204" pitchFamily="34" charset="0"/>
              </a:rPr>
              <a:t>Cena de uma batalha durante a Rebelião </a:t>
            </a:r>
            <a:r>
              <a:rPr lang="pt-BR" sz="1600" b="1" dirty="0" err="1">
                <a:solidFill>
                  <a:srgbClr val="202122"/>
                </a:solidFill>
                <a:latin typeface="Arial" panose="020B0604020202020204" pitchFamily="34" charset="0"/>
              </a:rPr>
              <a:t>Taiping</a:t>
            </a:r>
            <a:r>
              <a:rPr lang="pt-BR" b="1" dirty="0">
                <a:solidFill>
                  <a:srgbClr val="202122"/>
                </a:solidFill>
                <a:latin typeface="Arial" panose="020B0604020202020204" pitchFamily="34" charset="0"/>
              </a:rPr>
              <a:t>.</a:t>
            </a:r>
            <a:endParaRPr lang="pt-BR" dirty="0"/>
          </a:p>
        </p:txBody>
      </p:sp>
    </p:spTree>
    <p:extLst>
      <p:ext uri="{BB962C8B-B14F-4D97-AF65-F5344CB8AC3E}">
        <p14:creationId xmlns:p14="http://schemas.microsoft.com/office/powerpoint/2010/main" val="2903182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B62DC91-1553-4D9F-8357-053BA40EE677}"/>
              </a:ext>
            </a:extLst>
          </p:cNvPr>
          <p:cNvSpPr txBox="1"/>
          <p:nvPr/>
        </p:nvSpPr>
        <p:spPr>
          <a:xfrm>
            <a:off x="1106337" y="2459120"/>
            <a:ext cx="2733675" cy="646331"/>
          </a:xfrm>
          <a:prstGeom prst="rect">
            <a:avLst/>
          </a:prstGeom>
          <a:noFill/>
        </p:spPr>
        <p:txBody>
          <a:bodyPr wrap="square" rtlCol="0">
            <a:spAutoFit/>
          </a:bodyPr>
          <a:lstStyle/>
          <a:p>
            <a:r>
              <a:rPr lang="pt-BR" dirty="0">
                <a:latin typeface="Arial Black" panose="020B0A04020102020204" pitchFamily="34" charset="0"/>
              </a:rPr>
              <a:t>AS REAÇÕES  CHINESAS</a:t>
            </a:r>
          </a:p>
        </p:txBody>
      </p:sp>
      <p:sp>
        <p:nvSpPr>
          <p:cNvPr id="3" name="Retângulo 2">
            <a:extLst>
              <a:ext uri="{FF2B5EF4-FFF2-40B4-BE49-F238E27FC236}">
                <a16:creationId xmlns:a16="http://schemas.microsoft.com/office/drawing/2014/main" id="{60B261FC-8FEC-4E9B-AB02-ED7F93DE9005}"/>
              </a:ext>
            </a:extLst>
          </p:cNvPr>
          <p:cNvSpPr/>
          <p:nvPr/>
        </p:nvSpPr>
        <p:spPr>
          <a:xfrm>
            <a:off x="4818743" y="2060438"/>
            <a:ext cx="6096000" cy="369332"/>
          </a:xfrm>
          <a:prstGeom prst="rect">
            <a:avLst/>
          </a:prstGeom>
        </p:spPr>
        <p:txBody>
          <a:bodyPr>
            <a:spAutoFit/>
          </a:bodyPr>
          <a:lstStyle/>
          <a:p>
            <a:r>
              <a:rPr lang="pt-BR" altLang="pt-BR" b="1" dirty="0"/>
              <a:t>GUERRA DOS BOXERS (1900)</a:t>
            </a:r>
            <a:endParaRPr lang="pt-BR" b="1" dirty="0"/>
          </a:p>
        </p:txBody>
      </p:sp>
      <p:sp>
        <p:nvSpPr>
          <p:cNvPr id="4" name="Retângulo 3">
            <a:extLst>
              <a:ext uri="{FF2B5EF4-FFF2-40B4-BE49-F238E27FC236}">
                <a16:creationId xmlns:a16="http://schemas.microsoft.com/office/drawing/2014/main" id="{2C04231F-603F-4F9B-BA72-D14E69CB011C}"/>
              </a:ext>
            </a:extLst>
          </p:cNvPr>
          <p:cNvSpPr/>
          <p:nvPr/>
        </p:nvSpPr>
        <p:spPr>
          <a:xfrm>
            <a:off x="4559526" y="193639"/>
            <a:ext cx="3790951" cy="369332"/>
          </a:xfrm>
          <a:prstGeom prst="rect">
            <a:avLst/>
          </a:prstGeom>
        </p:spPr>
        <p:txBody>
          <a:bodyPr wrap="square">
            <a:spAutoFit/>
          </a:bodyPr>
          <a:lstStyle/>
          <a:p>
            <a:r>
              <a:rPr lang="pt-BR" altLang="pt-BR" b="1" dirty="0"/>
              <a:t>REVOLTA DE TAIPING </a:t>
            </a:r>
            <a:r>
              <a:rPr lang="pt-BR" b="1" dirty="0">
                <a:latin typeface="Arial Black" panose="020B0A04020102020204" pitchFamily="34" charset="0"/>
              </a:rPr>
              <a:t>1851/1864 </a:t>
            </a:r>
            <a:endParaRPr lang="pt-BR" b="1" dirty="0"/>
          </a:p>
        </p:txBody>
      </p:sp>
      <p:sp>
        <p:nvSpPr>
          <p:cNvPr id="5" name="CaixaDeTexto 4">
            <a:extLst>
              <a:ext uri="{FF2B5EF4-FFF2-40B4-BE49-F238E27FC236}">
                <a16:creationId xmlns:a16="http://schemas.microsoft.com/office/drawing/2014/main" id="{D7883AAA-EB6A-4813-9842-4B73B79E1884}"/>
              </a:ext>
            </a:extLst>
          </p:cNvPr>
          <p:cNvSpPr txBox="1"/>
          <p:nvPr/>
        </p:nvSpPr>
        <p:spPr>
          <a:xfrm>
            <a:off x="4385808" y="586642"/>
            <a:ext cx="6371319" cy="1477328"/>
          </a:xfrm>
          <a:prstGeom prst="rect">
            <a:avLst/>
          </a:prstGeom>
          <a:noFill/>
        </p:spPr>
        <p:txBody>
          <a:bodyPr wrap="square" rtlCol="0">
            <a:spAutoFit/>
          </a:bodyPr>
          <a:lstStyle/>
          <a:p>
            <a:r>
              <a:rPr lang="pt-BR" b="1" dirty="0">
                <a:solidFill>
                  <a:srgbClr val="FF0000"/>
                </a:solidFill>
                <a:latin typeface="Arial" panose="020B0604020202020204" pitchFamily="34" charset="0"/>
                <a:cs typeface="Arial" panose="020B0604020202020204" pitchFamily="34" charset="0"/>
              </a:rPr>
              <a:t>Por suas características, e por ser contra o Imperador e contra as concessões ao Ocidente, o Estado Chinês usa a “ajuda” militar de tropas inglesas e francesas para reprimi-los... ( entre 30 a 50 milhões de chineses teriam morrido nesse conflito)</a:t>
            </a:r>
          </a:p>
        </p:txBody>
      </p:sp>
      <p:sp>
        <p:nvSpPr>
          <p:cNvPr id="7" name="Retângulo 6">
            <a:extLst>
              <a:ext uri="{FF2B5EF4-FFF2-40B4-BE49-F238E27FC236}">
                <a16:creationId xmlns:a16="http://schemas.microsoft.com/office/drawing/2014/main" id="{9D0A1C6F-A9D8-4AC9-9822-40C66C887E7B}"/>
              </a:ext>
            </a:extLst>
          </p:cNvPr>
          <p:cNvSpPr/>
          <p:nvPr/>
        </p:nvSpPr>
        <p:spPr>
          <a:xfrm>
            <a:off x="5316764" y="2429464"/>
            <a:ext cx="6486525" cy="2862322"/>
          </a:xfrm>
          <a:prstGeom prst="rect">
            <a:avLst/>
          </a:prstGeom>
        </p:spPr>
        <p:txBody>
          <a:bodyPr wrap="square">
            <a:spAutoFit/>
          </a:bodyPr>
          <a:lstStyle/>
          <a:p>
            <a:r>
              <a:rPr lang="pt-BR" b="1" dirty="0">
                <a:latin typeface="Arial" panose="020B0604020202020204" pitchFamily="34" charset="0"/>
                <a:cs typeface="Arial" panose="020B0604020202020204" pitchFamily="34" charset="0"/>
              </a:rPr>
              <a:t>Uma sociedade secreta ligada à prática das artes marciais                (“Sociedade dos Punhos Harmoniosos e Justiceiros”), inicia uma série de atentados contra alvos ocidentais na China ( cortar linhas telegráficas, destruir ferrovias e perseguir os missionários cristãos)... Apoiados “discretamente” pelas autoridades locais... as ações se intensificam e geram uma nova guerra contra a China... Alemanha, Estados Unidos, Inglaterra, França, Japão, Itália e Rússia cederam soldados para tomar a cidade de Pequim, o principal foco dos conflitos. </a:t>
            </a:r>
          </a:p>
        </p:txBody>
      </p:sp>
      <p:pic>
        <p:nvPicPr>
          <p:cNvPr id="10242" name="Picture 2" descr="Guerra dos Boxers (1900-1901) - Enciclopédia Global™">
            <a:extLst>
              <a:ext uri="{FF2B5EF4-FFF2-40B4-BE49-F238E27FC236}">
                <a16:creationId xmlns:a16="http://schemas.microsoft.com/office/drawing/2014/main" id="{6BC8EB9F-4BD9-430E-9440-A9DABDF89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3615855"/>
            <a:ext cx="4482580" cy="2655503"/>
          </a:xfrm>
          <a:prstGeom prst="rect">
            <a:avLst/>
          </a:prstGeom>
          <a:noFill/>
          <a:extLst>
            <a:ext uri="{909E8E84-426E-40DD-AFC4-6F175D3DCCD1}">
              <a14:hiddenFill xmlns:a14="http://schemas.microsoft.com/office/drawing/2010/main">
                <a:solidFill>
                  <a:srgbClr val="FFFFFF"/>
                </a:solidFill>
              </a14:hiddenFill>
            </a:ext>
          </a:extLst>
        </p:spPr>
      </p:pic>
      <p:sp>
        <p:nvSpPr>
          <p:cNvPr id="8" name="Retângulo 7">
            <a:extLst>
              <a:ext uri="{FF2B5EF4-FFF2-40B4-BE49-F238E27FC236}">
                <a16:creationId xmlns:a16="http://schemas.microsoft.com/office/drawing/2014/main" id="{94ED9BD4-291E-4B87-82FF-3BB6A10CACD5}"/>
              </a:ext>
            </a:extLst>
          </p:cNvPr>
          <p:cNvSpPr/>
          <p:nvPr/>
        </p:nvSpPr>
        <p:spPr>
          <a:xfrm>
            <a:off x="603025" y="6275870"/>
            <a:ext cx="6096000" cy="276999"/>
          </a:xfrm>
          <a:prstGeom prst="rect">
            <a:avLst/>
          </a:prstGeom>
        </p:spPr>
        <p:txBody>
          <a:bodyPr>
            <a:spAutoFit/>
          </a:bodyPr>
          <a:lstStyle/>
          <a:p>
            <a:r>
              <a:rPr lang="pt-BR" sz="1200" dirty="0">
                <a:hlinkClick r:id="rId3"/>
              </a:rPr>
              <a:t>http://www.megatimes.com.br/2012/01/guerra-dos-boxers-1900-1901.html</a:t>
            </a:r>
            <a:endParaRPr lang="pt-BR" sz="1200" dirty="0"/>
          </a:p>
        </p:txBody>
      </p:sp>
      <p:pic>
        <p:nvPicPr>
          <p:cNvPr id="10244" name="Picture 4" descr="Taiping Rebellion - HISTORY">
            <a:extLst>
              <a:ext uri="{FF2B5EF4-FFF2-40B4-BE49-F238E27FC236}">
                <a16:creationId xmlns:a16="http://schemas.microsoft.com/office/drawing/2014/main" id="{4C6096CD-94E3-4128-B291-CF10FAD47C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063" y="138405"/>
            <a:ext cx="3231962" cy="1815952"/>
          </a:xfrm>
          <a:prstGeom prst="rect">
            <a:avLst/>
          </a:prstGeom>
          <a:noFill/>
          <a:extLst>
            <a:ext uri="{909E8E84-426E-40DD-AFC4-6F175D3DCCD1}">
              <a14:hiddenFill xmlns:a14="http://schemas.microsoft.com/office/drawing/2010/main">
                <a:solidFill>
                  <a:srgbClr val="FFFFFF"/>
                </a:solidFill>
              </a14:hiddenFill>
            </a:ext>
          </a:extLst>
        </p:spPr>
      </p:pic>
      <p:sp>
        <p:nvSpPr>
          <p:cNvPr id="9" name="Retângulo 8">
            <a:extLst>
              <a:ext uri="{FF2B5EF4-FFF2-40B4-BE49-F238E27FC236}">
                <a16:creationId xmlns:a16="http://schemas.microsoft.com/office/drawing/2014/main" id="{32A84A95-505F-49B4-8D85-E15463626255}"/>
              </a:ext>
            </a:extLst>
          </p:cNvPr>
          <p:cNvSpPr/>
          <p:nvPr/>
        </p:nvSpPr>
        <p:spPr>
          <a:xfrm>
            <a:off x="419063" y="1938497"/>
            <a:ext cx="3415618" cy="369332"/>
          </a:xfrm>
          <a:prstGeom prst="rect">
            <a:avLst/>
          </a:prstGeom>
        </p:spPr>
        <p:txBody>
          <a:bodyPr wrap="square">
            <a:spAutoFit/>
          </a:bodyPr>
          <a:lstStyle/>
          <a:p>
            <a:r>
              <a:rPr lang="pt-BR" sz="900" dirty="0">
                <a:hlinkClick r:id="rId5"/>
              </a:rPr>
              <a:t>https://thetaipingrebellion.weebly.com/what-were-the-events-that-happened-in-taiping-rebellion.html</a:t>
            </a:r>
            <a:endParaRPr lang="pt-BR" sz="900" dirty="0"/>
          </a:p>
        </p:txBody>
      </p:sp>
      <p:sp>
        <p:nvSpPr>
          <p:cNvPr id="10" name="CaixaDeTexto 9">
            <a:extLst>
              <a:ext uri="{FF2B5EF4-FFF2-40B4-BE49-F238E27FC236}">
                <a16:creationId xmlns:a16="http://schemas.microsoft.com/office/drawing/2014/main" id="{9CE8C388-C285-4F86-B42F-EED51F81F74C}"/>
              </a:ext>
            </a:extLst>
          </p:cNvPr>
          <p:cNvSpPr txBox="1"/>
          <p:nvPr/>
        </p:nvSpPr>
        <p:spPr>
          <a:xfrm>
            <a:off x="5342504" y="5397845"/>
            <a:ext cx="6015946" cy="369332"/>
          </a:xfrm>
          <a:prstGeom prst="rect">
            <a:avLst/>
          </a:prstGeom>
          <a:noFill/>
        </p:spPr>
        <p:txBody>
          <a:bodyPr wrap="square" rtlCol="0">
            <a:spAutoFit/>
          </a:bodyPr>
          <a:lstStyle/>
          <a:p>
            <a:r>
              <a:rPr lang="pt-BR" b="1" dirty="0"/>
              <a:t>CRIAÇÃO DO KUOMITANG- PARTIDO NACIONALISTA CHINÊS</a:t>
            </a:r>
          </a:p>
        </p:txBody>
      </p:sp>
      <p:sp>
        <p:nvSpPr>
          <p:cNvPr id="11" name="Retângulo 10">
            <a:extLst>
              <a:ext uri="{FF2B5EF4-FFF2-40B4-BE49-F238E27FC236}">
                <a16:creationId xmlns:a16="http://schemas.microsoft.com/office/drawing/2014/main" id="{EEB8A06A-C17C-42F2-B807-1EAA1DFCF00A}"/>
              </a:ext>
            </a:extLst>
          </p:cNvPr>
          <p:cNvSpPr/>
          <p:nvPr/>
        </p:nvSpPr>
        <p:spPr>
          <a:xfrm>
            <a:off x="5707289" y="5436806"/>
            <a:ext cx="6096000" cy="1200329"/>
          </a:xfrm>
          <a:prstGeom prst="rect">
            <a:avLst/>
          </a:prstGeom>
        </p:spPr>
        <p:txBody>
          <a:bodyPr>
            <a:spAutoFit/>
          </a:bodyPr>
          <a:lstStyle/>
          <a:p>
            <a:endParaRPr lang="pt-BR" dirty="0">
              <a:solidFill>
                <a:srgbClr val="202122"/>
              </a:solidFill>
              <a:latin typeface="Arial" panose="020B0604020202020204" pitchFamily="34" charset="0"/>
            </a:endParaRPr>
          </a:p>
          <a:p>
            <a:r>
              <a:rPr lang="pt-BR" b="1" dirty="0">
                <a:latin typeface="Arial" panose="020B0604020202020204" pitchFamily="34" charset="0"/>
              </a:rPr>
              <a:t>Fundado em </a:t>
            </a:r>
            <a:r>
              <a:rPr lang="pt-BR" b="1" dirty="0">
                <a:latin typeface="Arial" panose="020B0604020202020204" pitchFamily="34" charset="0"/>
                <a:hlinkClick r:id="rId6" tooltip="1911">
                  <a:extLst>
                    <a:ext uri="{A12FA001-AC4F-418D-AE19-62706E023703}">
                      <ahyp:hlinkClr xmlns:ahyp="http://schemas.microsoft.com/office/drawing/2018/hyperlinkcolor" val="tx"/>
                    </a:ext>
                  </a:extLst>
                </a:hlinkClick>
              </a:rPr>
              <a:t>1911</a:t>
            </a:r>
            <a:r>
              <a:rPr lang="pt-BR" b="1" dirty="0">
                <a:latin typeface="Arial" panose="020B0604020202020204" pitchFamily="34" charset="0"/>
              </a:rPr>
              <a:t>,  em um  movimento que vai depor a </a:t>
            </a:r>
            <a:r>
              <a:rPr lang="pt-BR" b="1" dirty="0">
                <a:latin typeface="Arial" panose="020B0604020202020204" pitchFamily="34" charset="0"/>
                <a:hlinkClick r:id="rId7" tooltip="Dinastia Qing">
                  <a:extLst>
                    <a:ext uri="{A12FA001-AC4F-418D-AE19-62706E023703}">
                      <ahyp:hlinkClr xmlns:ahyp="http://schemas.microsoft.com/office/drawing/2018/hyperlinkcolor" val="tx"/>
                    </a:ext>
                  </a:extLst>
                </a:hlinkClick>
              </a:rPr>
              <a:t>dinastia Qing</a:t>
            </a:r>
            <a:r>
              <a:rPr lang="pt-BR" b="1" dirty="0">
                <a:latin typeface="Arial" panose="020B0604020202020204" pitchFamily="34" charset="0"/>
              </a:rPr>
              <a:t> ou M</a:t>
            </a:r>
            <a:r>
              <a:rPr lang="pt-BR" b="1" dirty="0">
                <a:latin typeface="Arial" panose="020B0604020202020204" pitchFamily="34" charset="0"/>
                <a:hlinkClick r:id="rId8" tooltip="Manchu">
                  <a:extLst>
                    <a:ext uri="{A12FA001-AC4F-418D-AE19-62706E023703}">
                      <ahyp:hlinkClr xmlns:ahyp="http://schemas.microsoft.com/office/drawing/2018/hyperlinkcolor" val="tx"/>
                    </a:ext>
                  </a:extLst>
                </a:hlinkClick>
              </a:rPr>
              <a:t>anchu</a:t>
            </a:r>
            <a:r>
              <a:rPr lang="pt-BR" b="1" dirty="0">
                <a:latin typeface="Arial" panose="020B0604020202020204" pitchFamily="34" charset="0"/>
              </a:rPr>
              <a:t> e estabelecer uma república na Chinesa.</a:t>
            </a:r>
            <a:endParaRPr lang="pt-BR" b="1" dirty="0"/>
          </a:p>
        </p:txBody>
      </p:sp>
    </p:spTree>
    <p:extLst>
      <p:ext uri="{BB962C8B-B14F-4D97-AF65-F5344CB8AC3E}">
        <p14:creationId xmlns:p14="http://schemas.microsoft.com/office/powerpoint/2010/main" val="2842872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0A0E89AA-15F1-4026-B274-ECB755B0C0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 y="792628"/>
            <a:ext cx="8325655" cy="5484525"/>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26C11C8F-6D51-4F91-BD89-50D0449F3056}"/>
              </a:ext>
            </a:extLst>
          </p:cNvPr>
          <p:cNvSpPr/>
          <p:nvPr/>
        </p:nvSpPr>
        <p:spPr>
          <a:xfrm>
            <a:off x="8530039" y="0"/>
            <a:ext cx="3333750" cy="6186309"/>
          </a:xfrm>
          <a:prstGeom prst="rect">
            <a:avLst/>
          </a:prstGeom>
        </p:spPr>
        <p:txBody>
          <a:bodyPr wrap="square">
            <a:spAutoFit/>
          </a:bodyPr>
          <a:lstStyle/>
          <a:p>
            <a:br>
              <a:rPr lang="pt-BR" dirty="0"/>
            </a:br>
            <a:r>
              <a:rPr lang="pt-BR" dirty="0"/>
              <a:t>“(...)</a:t>
            </a:r>
            <a:r>
              <a:rPr lang="pt-BR" dirty="0">
                <a:solidFill>
                  <a:srgbClr val="212529"/>
                </a:solidFill>
                <a:latin typeface="Open Sans"/>
              </a:rPr>
              <a:t>Também publicada pela Judge, em 1900, essa charge apresenta o Tio Sam em perigosa situação: seu pequeno automóvel que carrega a "civilização, comércio e progresso" em um amontoado de trens, ferrovias, livros, algodão e postes de luz é surpreendido por um terrível dragão chinês com cores fortes e brilhantes, que carrega um "boxer" representando com sua bandeira "400 milhões de bárbaros". A imagem mostra que talvez ele precise usar a "força necessária" de um canhão de guerra contra o monstro para levar os benefícios à população chinesa.”</a:t>
            </a:r>
            <a:endParaRPr lang="pt-BR" dirty="0"/>
          </a:p>
        </p:txBody>
      </p:sp>
      <p:sp>
        <p:nvSpPr>
          <p:cNvPr id="3" name="Retângulo 2">
            <a:extLst>
              <a:ext uri="{FF2B5EF4-FFF2-40B4-BE49-F238E27FC236}">
                <a16:creationId xmlns:a16="http://schemas.microsoft.com/office/drawing/2014/main" id="{47EE7118-6A09-4B2B-BD3F-651824621A97}"/>
              </a:ext>
            </a:extLst>
          </p:cNvPr>
          <p:cNvSpPr/>
          <p:nvPr/>
        </p:nvSpPr>
        <p:spPr>
          <a:xfrm>
            <a:off x="8530039" y="6041171"/>
            <a:ext cx="3729439" cy="738664"/>
          </a:xfrm>
          <a:prstGeom prst="rect">
            <a:avLst/>
          </a:prstGeom>
        </p:spPr>
        <p:txBody>
          <a:bodyPr wrap="square">
            <a:spAutoFit/>
          </a:bodyPr>
          <a:lstStyle/>
          <a:p>
            <a:r>
              <a:rPr lang="pt-BR" sz="1400" dirty="0">
                <a:hlinkClick r:id="rId3"/>
              </a:rPr>
              <a:t>https://aventurasnahistoria.uol.com.br/noticias/reportagem/o-fardo-do-homem-branco-em-charges.phtml</a:t>
            </a:r>
            <a:endParaRPr lang="pt-BR" sz="1400" dirty="0"/>
          </a:p>
        </p:txBody>
      </p:sp>
      <p:sp>
        <p:nvSpPr>
          <p:cNvPr id="4" name="CaixaDeTexto 3">
            <a:extLst>
              <a:ext uri="{FF2B5EF4-FFF2-40B4-BE49-F238E27FC236}">
                <a16:creationId xmlns:a16="http://schemas.microsoft.com/office/drawing/2014/main" id="{2CDB6B78-60F4-4435-B50C-6B5CBD2ED80B}"/>
              </a:ext>
            </a:extLst>
          </p:cNvPr>
          <p:cNvSpPr txBox="1"/>
          <p:nvPr/>
        </p:nvSpPr>
        <p:spPr>
          <a:xfrm>
            <a:off x="1462489" y="352425"/>
            <a:ext cx="5400675" cy="369332"/>
          </a:xfrm>
          <a:prstGeom prst="rect">
            <a:avLst/>
          </a:prstGeom>
          <a:noFill/>
        </p:spPr>
        <p:txBody>
          <a:bodyPr wrap="square" rtlCol="0">
            <a:spAutoFit/>
          </a:bodyPr>
          <a:lstStyle/>
          <a:p>
            <a:r>
              <a:rPr lang="pt-BR" b="1" dirty="0">
                <a:latin typeface="Arial Black" panose="020B0A04020102020204" pitchFamily="34" charset="0"/>
              </a:rPr>
              <a:t>A GUERRA DOS BOXERS NAS CHARGES</a:t>
            </a:r>
          </a:p>
        </p:txBody>
      </p:sp>
    </p:spTree>
    <p:extLst>
      <p:ext uri="{BB962C8B-B14F-4D97-AF65-F5344CB8AC3E}">
        <p14:creationId xmlns:p14="http://schemas.microsoft.com/office/powerpoint/2010/main" val="3370435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3EFFE5C3-F210-45B5-A51F-E6C8FDD7E0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325" y="0"/>
            <a:ext cx="51943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896183EA-AF09-46E1-8ECF-C74298CE330A}"/>
              </a:ext>
            </a:extLst>
          </p:cNvPr>
          <p:cNvSpPr/>
          <p:nvPr/>
        </p:nvSpPr>
        <p:spPr>
          <a:xfrm>
            <a:off x="6191250" y="1007238"/>
            <a:ext cx="4343400" cy="3970318"/>
          </a:xfrm>
          <a:prstGeom prst="rect">
            <a:avLst/>
          </a:prstGeom>
        </p:spPr>
        <p:txBody>
          <a:bodyPr wrap="square">
            <a:spAutoFit/>
          </a:bodyPr>
          <a:lstStyle/>
          <a:p>
            <a:r>
              <a:rPr lang="pt-BR" dirty="0">
                <a:solidFill>
                  <a:srgbClr val="212529"/>
                </a:solidFill>
                <a:latin typeface="Open Sans"/>
              </a:rPr>
              <a:t>“Assim como os países dominantes e dominados tinham suas personificações, a Civilização também tinha. Loira, de olhos azuis e com uma estrela radiante na testa, ela aparecia frequentemente na revista satírica </a:t>
            </a:r>
            <a:r>
              <a:rPr lang="pt-BR" dirty="0" err="1">
                <a:solidFill>
                  <a:srgbClr val="212529"/>
                </a:solidFill>
                <a:latin typeface="Open Sans"/>
              </a:rPr>
              <a:t>Puck</a:t>
            </a:r>
            <a:r>
              <a:rPr lang="pt-BR" dirty="0">
                <a:solidFill>
                  <a:srgbClr val="212529"/>
                </a:solidFill>
                <a:latin typeface="Open Sans"/>
              </a:rPr>
              <a:t> dos </a:t>
            </a:r>
            <a:r>
              <a:rPr lang="pt-BR" dirty="0">
                <a:solidFill>
                  <a:srgbClr val="800080"/>
                </a:solidFill>
                <a:latin typeface="Open Sans"/>
                <a:hlinkClick r:id="rId3"/>
              </a:rPr>
              <a:t>Estados Unidos</a:t>
            </a:r>
            <a:r>
              <a:rPr lang="pt-BR" dirty="0">
                <a:solidFill>
                  <a:srgbClr val="212529"/>
                </a:solidFill>
                <a:latin typeface="Open Sans"/>
              </a:rPr>
              <a:t>.</a:t>
            </a:r>
          </a:p>
          <a:p>
            <a:r>
              <a:rPr lang="pt-BR" dirty="0">
                <a:solidFill>
                  <a:srgbClr val="212529"/>
                </a:solidFill>
                <a:latin typeface="Open Sans"/>
              </a:rPr>
              <a:t>Datada de 19 de outubro de 1898, esta charge mostra a figura escura e envelhecida da China fugindo e protegendo-se com um guarda-sol da civilização, que é inseparável do progresso -- representado por um trem e um telégrafo desenhados em suas vestes.” </a:t>
            </a:r>
            <a:endParaRPr lang="pt-BR" b="0" i="0" dirty="0">
              <a:solidFill>
                <a:srgbClr val="212529"/>
              </a:solidFill>
              <a:effectLst/>
              <a:latin typeface="Open Sans"/>
            </a:endParaRPr>
          </a:p>
        </p:txBody>
      </p:sp>
      <p:sp>
        <p:nvSpPr>
          <p:cNvPr id="3" name="Retângulo 2">
            <a:extLst>
              <a:ext uri="{FF2B5EF4-FFF2-40B4-BE49-F238E27FC236}">
                <a16:creationId xmlns:a16="http://schemas.microsoft.com/office/drawing/2014/main" id="{9FB3B7C7-6509-4AFD-A110-AAA4AA3A35C9}"/>
              </a:ext>
            </a:extLst>
          </p:cNvPr>
          <p:cNvSpPr/>
          <p:nvPr/>
        </p:nvSpPr>
        <p:spPr>
          <a:xfrm>
            <a:off x="6253162" y="4927432"/>
            <a:ext cx="4219575" cy="430887"/>
          </a:xfrm>
          <a:prstGeom prst="rect">
            <a:avLst/>
          </a:prstGeom>
        </p:spPr>
        <p:txBody>
          <a:bodyPr wrap="square">
            <a:spAutoFit/>
          </a:bodyPr>
          <a:lstStyle/>
          <a:p>
            <a:r>
              <a:rPr lang="pt-BR" sz="1100" dirty="0">
                <a:hlinkClick r:id="rId4"/>
              </a:rPr>
              <a:t>https://aventurasnahistoria.uol.com.br/noticias/reportagem/o-fardo-do-homem-branco-em-charges.phtml</a:t>
            </a:r>
            <a:endParaRPr lang="pt-BR" sz="1100" dirty="0"/>
          </a:p>
        </p:txBody>
      </p:sp>
    </p:spTree>
    <p:extLst>
      <p:ext uri="{BB962C8B-B14F-4D97-AF65-F5344CB8AC3E}">
        <p14:creationId xmlns:p14="http://schemas.microsoft.com/office/powerpoint/2010/main" val="434305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398A9780-742A-4E95-A3E8-0F550692C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120" y="1464482"/>
            <a:ext cx="7250043" cy="3699600"/>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9396D6A2-0F50-4526-9FDD-6D3BF7F3389E}"/>
              </a:ext>
            </a:extLst>
          </p:cNvPr>
          <p:cNvSpPr/>
          <p:nvPr/>
        </p:nvSpPr>
        <p:spPr>
          <a:xfrm>
            <a:off x="1291099" y="5393518"/>
            <a:ext cx="3431457" cy="461665"/>
          </a:xfrm>
          <a:prstGeom prst="rect">
            <a:avLst/>
          </a:prstGeom>
        </p:spPr>
        <p:txBody>
          <a:bodyPr wrap="square">
            <a:spAutoFit/>
          </a:bodyPr>
          <a:lstStyle/>
          <a:p>
            <a:r>
              <a:rPr lang="en-US" sz="1200" b="0" i="0" dirty="0">
                <a:solidFill>
                  <a:srgbClr val="888888"/>
                </a:solidFill>
                <a:effectLst/>
                <a:latin typeface="arial" panose="020B0604020202020204" pitchFamily="34" charset="0"/>
              </a:rPr>
              <a:t>Painting depicting the arrival of a Portuguese ship at Nagasaki.</a:t>
            </a:r>
            <a:endParaRPr lang="pt-BR" sz="1200" dirty="0"/>
          </a:p>
        </p:txBody>
      </p:sp>
      <p:sp>
        <p:nvSpPr>
          <p:cNvPr id="3" name="Retângulo 2">
            <a:extLst>
              <a:ext uri="{FF2B5EF4-FFF2-40B4-BE49-F238E27FC236}">
                <a16:creationId xmlns:a16="http://schemas.microsoft.com/office/drawing/2014/main" id="{226419FE-832D-464C-BA9B-A46EBD089769}"/>
              </a:ext>
            </a:extLst>
          </p:cNvPr>
          <p:cNvSpPr/>
          <p:nvPr/>
        </p:nvSpPr>
        <p:spPr>
          <a:xfrm>
            <a:off x="8583561" y="2774929"/>
            <a:ext cx="2802194" cy="923330"/>
          </a:xfrm>
          <a:prstGeom prst="rect">
            <a:avLst/>
          </a:prstGeom>
        </p:spPr>
        <p:txBody>
          <a:bodyPr wrap="square">
            <a:spAutoFit/>
          </a:bodyPr>
          <a:lstStyle/>
          <a:p>
            <a:r>
              <a:rPr lang="pt-BR" altLang="pt-BR" dirty="0"/>
              <a:t>Missionários portugueses (jesuítas) chegam no Japão no século XVI.</a:t>
            </a:r>
          </a:p>
        </p:txBody>
      </p:sp>
      <p:sp>
        <p:nvSpPr>
          <p:cNvPr id="4" name="CaixaDeTexto 3">
            <a:extLst>
              <a:ext uri="{FF2B5EF4-FFF2-40B4-BE49-F238E27FC236}">
                <a16:creationId xmlns:a16="http://schemas.microsoft.com/office/drawing/2014/main" id="{9835742F-98B7-482B-9581-2AF0891205AF}"/>
              </a:ext>
            </a:extLst>
          </p:cNvPr>
          <p:cNvSpPr txBox="1"/>
          <p:nvPr/>
        </p:nvSpPr>
        <p:spPr>
          <a:xfrm>
            <a:off x="3494122" y="512265"/>
            <a:ext cx="4227870" cy="667606"/>
          </a:xfrm>
          <a:prstGeom prst="rect">
            <a:avLst/>
          </a:prstGeom>
          <a:noFill/>
        </p:spPr>
        <p:txBody>
          <a:bodyPr wrap="square" rtlCol="0">
            <a:spAutoFit/>
          </a:bodyPr>
          <a:lstStyle/>
          <a:p>
            <a:r>
              <a:rPr lang="pt-BR" b="1" dirty="0"/>
              <a:t>O CONTATO ENTRE O OCIDENTE E O JAPÃO                                SÉCULO XVI</a:t>
            </a:r>
          </a:p>
        </p:txBody>
      </p:sp>
      <p:sp>
        <p:nvSpPr>
          <p:cNvPr id="5" name="CaixaDeTexto 4">
            <a:extLst>
              <a:ext uri="{FF2B5EF4-FFF2-40B4-BE49-F238E27FC236}">
                <a16:creationId xmlns:a16="http://schemas.microsoft.com/office/drawing/2014/main" id="{71DBBA4F-E6B4-4192-B276-94E046F8F79E}"/>
              </a:ext>
            </a:extLst>
          </p:cNvPr>
          <p:cNvSpPr txBox="1"/>
          <p:nvPr/>
        </p:nvSpPr>
        <p:spPr>
          <a:xfrm>
            <a:off x="219075" y="410039"/>
            <a:ext cx="2628900" cy="646331"/>
          </a:xfrm>
          <a:prstGeom prst="rect">
            <a:avLst/>
          </a:prstGeom>
          <a:noFill/>
        </p:spPr>
        <p:txBody>
          <a:bodyPr wrap="square" rtlCol="0">
            <a:spAutoFit/>
          </a:bodyPr>
          <a:lstStyle/>
          <a:p>
            <a:r>
              <a:rPr lang="pt-BR" sz="3600" dirty="0">
                <a:latin typeface="Arial Black" panose="020B0A04020102020204" pitchFamily="34" charset="0"/>
              </a:rPr>
              <a:t>O JAPÃO</a:t>
            </a:r>
          </a:p>
        </p:txBody>
      </p:sp>
      <p:sp>
        <p:nvSpPr>
          <p:cNvPr id="6" name="Seta: para a Direita 5">
            <a:extLst>
              <a:ext uri="{FF2B5EF4-FFF2-40B4-BE49-F238E27FC236}">
                <a16:creationId xmlns:a16="http://schemas.microsoft.com/office/drawing/2014/main" id="{04D1DE6A-19C3-4468-9D53-0E6305F6A828}"/>
              </a:ext>
            </a:extLst>
          </p:cNvPr>
          <p:cNvSpPr/>
          <p:nvPr/>
        </p:nvSpPr>
        <p:spPr>
          <a:xfrm>
            <a:off x="8162925" y="3190875"/>
            <a:ext cx="42063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353626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655E57F7-CCDE-40D3-8A0C-0ACA06AF5BFB}"/>
              </a:ext>
            </a:extLst>
          </p:cNvPr>
          <p:cNvSpPr/>
          <p:nvPr/>
        </p:nvSpPr>
        <p:spPr>
          <a:xfrm>
            <a:off x="629265" y="5768681"/>
            <a:ext cx="6096000" cy="369332"/>
          </a:xfrm>
          <a:prstGeom prst="rect">
            <a:avLst/>
          </a:prstGeom>
        </p:spPr>
        <p:txBody>
          <a:bodyPr>
            <a:spAutoFit/>
          </a:bodyPr>
          <a:lstStyle/>
          <a:p>
            <a:r>
              <a:rPr lang="pt-BR" sz="900" b="0" i="0" dirty="0">
                <a:solidFill>
                  <a:srgbClr val="666666"/>
                </a:solidFill>
                <a:effectLst/>
                <a:latin typeface="Arial" panose="020B0604020202020204" pitchFamily="34" charset="0"/>
                <a:cs typeface="Arial" panose="020B0604020202020204" pitchFamily="34" charset="0"/>
              </a:rPr>
              <a:t>The Tokugawa </a:t>
            </a:r>
            <a:r>
              <a:rPr lang="pt-BR" sz="900" b="0" i="0" dirty="0" err="1">
                <a:solidFill>
                  <a:srgbClr val="666666"/>
                </a:solidFill>
                <a:effectLst/>
                <a:latin typeface="Arial" panose="020B0604020202020204" pitchFamily="34" charset="0"/>
                <a:cs typeface="Arial" panose="020B0604020202020204" pitchFamily="34" charset="0"/>
              </a:rPr>
              <a:t>shogun</a:t>
            </a:r>
            <a:r>
              <a:rPr lang="pt-BR" sz="900" b="0" i="0" dirty="0">
                <a:solidFill>
                  <a:srgbClr val="666666"/>
                </a:solidFill>
                <a:effectLst/>
                <a:latin typeface="Arial" panose="020B0604020202020204" pitchFamily="34" charset="0"/>
                <a:cs typeface="Arial" panose="020B0604020202020204" pitchFamily="34" charset="0"/>
              </a:rPr>
              <a:t> </a:t>
            </a:r>
            <a:r>
              <a:rPr lang="pt-BR" sz="900" b="0" i="0" dirty="0" err="1">
                <a:solidFill>
                  <a:srgbClr val="666666"/>
                </a:solidFill>
                <a:effectLst/>
                <a:latin typeface="Arial" panose="020B0604020202020204" pitchFamily="34" charset="0"/>
                <a:cs typeface="Arial" panose="020B0604020202020204" pitchFamily="34" charset="0"/>
              </a:rPr>
              <a:t>Iemitsu</a:t>
            </a:r>
            <a:r>
              <a:rPr lang="pt-BR" sz="900" b="0" i="0" dirty="0">
                <a:solidFill>
                  <a:srgbClr val="666666"/>
                </a:solidFill>
                <a:effectLst/>
                <a:latin typeface="Arial" panose="020B0604020202020204" pitchFamily="34" charset="0"/>
                <a:cs typeface="Arial" panose="020B0604020202020204" pitchFamily="34" charset="0"/>
              </a:rPr>
              <a:t> </a:t>
            </a:r>
            <a:r>
              <a:rPr lang="pt-BR" sz="900" b="0" i="0" dirty="0" err="1">
                <a:solidFill>
                  <a:srgbClr val="666666"/>
                </a:solidFill>
                <a:effectLst/>
                <a:latin typeface="Arial" panose="020B0604020202020204" pitchFamily="34" charset="0"/>
                <a:cs typeface="Arial" panose="020B0604020202020204" pitchFamily="34" charset="0"/>
              </a:rPr>
              <a:t>receiving</a:t>
            </a:r>
            <a:r>
              <a:rPr lang="pt-BR" sz="900" b="0" i="0" dirty="0">
                <a:solidFill>
                  <a:srgbClr val="666666"/>
                </a:solidFill>
                <a:effectLst/>
                <a:latin typeface="Arial" panose="020B0604020202020204" pitchFamily="34" charset="0"/>
                <a:cs typeface="Arial" panose="020B0604020202020204" pitchFamily="34" charset="0"/>
              </a:rPr>
              <a:t> </a:t>
            </a:r>
            <a:r>
              <a:rPr lang="pt-BR" sz="900" b="0" i="0" dirty="0" err="1">
                <a:solidFill>
                  <a:srgbClr val="666666"/>
                </a:solidFill>
                <a:effectLst/>
                <a:latin typeface="Arial" panose="020B0604020202020204" pitchFamily="34" charset="0"/>
                <a:cs typeface="Arial" panose="020B0604020202020204" pitchFamily="34" charset="0"/>
              </a:rPr>
              <a:t>lords</a:t>
            </a:r>
            <a:r>
              <a:rPr lang="pt-BR" sz="900" b="0" i="0" dirty="0">
                <a:solidFill>
                  <a:srgbClr val="666666"/>
                </a:solidFill>
                <a:effectLst/>
                <a:latin typeface="Arial" panose="020B0604020202020204" pitchFamily="34" charset="0"/>
                <a:cs typeface="Arial" panose="020B0604020202020204" pitchFamily="34" charset="0"/>
              </a:rPr>
              <a:t> (</a:t>
            </a:r>
            <a:r>
              <a:rPr lang="pt-BR" sz="900" b="0" i="0" dirty="0" err="1">
                <a:solidFill>
                  <a:srgbClr val="666666"/>
                </a:solidFill>
                <a:effectLst/>
                <a:latin typeface="Arial" panose="020B0604020202020204" pitchFamily="34" charset="0"/>
                <a:cs typeface="Arial" panose="020B0604020202020204" pitchFamily="34" charset="0"/>
              </a:rPr>
              <a:t>daimyo</a:t>
            </a:r>
            <a:r>
              <a:rPr lang="pt-BR" sz="900" b="0" i="0" dirty="0">
                <a:solidFill>
                  <a:srgbClr val="666666"/>
                </a:solidFill>
                <a:effectLst/>
                <a:latin typeface="Arial" panose="020B0604020202020204" pitchFamily="34" charset="0"/>
                <a:cs typeface="Arial" panose="020B0604020202020204" pitchFamily="34" charset="0"/>
              </a:rPr>
              <a:t>) in </a:t>
            </a:r>
            <a:r>
              <a:rPr lang="pt-BR" sz="900" b="0" i="0" dirty="0" err="1">
                <a:solidFill>
                  <a:srgbClr val="666666"/>
                </a:solidFill>
                <a:effectLst/>
                <a:latin typeface="Arial" panose="020B0604020202020204" pitchFamily="34" charset="0"/>
                <a:cs typeface="Arial" panose="020B0604020202020204" pitchFamily="34" charset="0"/>
              </a:rPr>
              <a:t>an</a:t>
            </a:r>
            <a:r>
              <a:rPr lang="pt-BR" sz="900" b="0" i="0" dirty="0">
                <a:solidFill>
                  <a:srgbClr val="666666"/>
                </a:solidFill>
                <a:effectLst/>
                <a:latin typeface="Arial" panose="020B0604020202020204" pitchFamily="34" charset="0"/>
                <a:cs typeface="Arial" panose="020B0604020202020204" pitchFamily="34" charset="0"/>
              </a:rPr>
              <a:t> </a:t>
            </a:r>
            <a:r>
              <a:rPr lang="pt-BR" sz="900" b="0" i="0" dirty="0" err="1">
                <a:solidFill>
                  <a:srgbClr val="666666"/>
                </a:solidFill>
                <a:effectLst/>
                <a:latin typeface="Arial" panose="020B0604020202020204" pitchFamily="34" charset="0"/>
                <a:cs typeface="Arial" panose="020B0604020202020204" pitchFamily="34" charset="0"/>
              </a:rPr>
              <a:t>audience</a:t>
            </a:r>
            <a:r>
              <a:rPr lang="pt-BR" sz="900" b="0" i="0" dirty="0">
                <a:solidFill>
                  <a:srgbClr val="666666"/>
                </a:solidFill>
                <a:effectLst/>
                <a:latin typeface="Arial" panose="020B0604020202020204" pitchFamily="34" charset="0"/>
                <a:cs typeface="Arial" panose="020B0604020202020204" pitchFamily="34" charset="0"/>
              </a:rPr>
              <a:t>, </a:t>
            </a:r>
            <a:r>
              <a:rPr lang="pt-BR" sz="900" b="0" i="0" dirty="0" err="1">
                <a:solidFill>
                  <a:srgbClr val="666666"/>
                </a:solidFill>
                <a:effectLst/>
                <a:latin typeface="Arial" panose="020B0604020202020204" pitchFamily="34" charset="0"/>
                <a:cs typeface="Arial" panose="020B0604020202020204" pitchFamily="34" charset="0"/>
              </a:rPr>
              <a:t>colour</a:t>
            </a:r>
            <a:r>
              <a:rPr lang="pt-BR" sz="900" b="0" i="0" dirty="0">
                <a:solidFill>
                  <a:srgbClr val="666666"/>
                </a:solidFill>
                <a:effectLst/>
                <a:latin typeface="Arial" panose="020B0604020202020204" pitchFamily="34" charset="0"/>
                <a:cs typeface="Arial" panose="020B0604020202020204" pitchFamily="34" charset="0"/>
              </a:rPr>
              <a:t> </a:t>
            </a:r>
            <a:r>
              <a:rPr lang="pt-BR" sz="900" b="0" i="0" dirty="0" err="1">
                <a:solidFill>
                  <a:srgbClr val="666666"/>
                </a:solidFill>
                <a:effectLst/>
                <a:latin typeface="Arial" panose="020B0604020202020204" pitchFamily="34" charset="0"/>
                <a:cs typeface="Arial" panose="020B0604020202020204" pitchFamily="34" charset="0"/>
              </a:rPr>
              <a:t>woodblock</a:t>
            </a:r>
            <a:r>
              <a:rPr lang="pt-BR" sz="900" b="0" i="0" dirty="0">
                <a:solidFill>
                  <a:srgbClr val="666666"/>
                </a:solidFill>
                <a:effectLst/>
                <a:latin typeface="Arial" panose="020B0604020202020204" pitchFamily="34" charset="0"/>
                <a:cs typeface="Arial" panose="020B0604020202020204" pitchFamily="34" charset="0"/>
              </a:rPr>
              <a:t> print </a:t>
            </a:r>
            <a:r>
              <a:rPr lang="pt-BR" sz="900" b="0" i="0" dirty="0" err="1">
                <a:solidFill>
                  <a:srgbClr val="666666"/>
                </a:solidFill>
                <a:effectLst/>
                <a:latin typeface="Arial" panose="020B0604020202020204" pitchFamily="34" charset="0"/>
                <a:cs typeface="Arial" panose="020B0604020202020204" pitchFamily="34" charset="0"/>
              </a:rPr>
              <a:t>by</a:t>
            </a:r>
            <a:r>
              <a:rPr lang="pt-BR" sz="900" b="0" i="0" dirty="0">
                <a:solidFill>
                  <a:srgbClr val="666666"/>
                </a:solidFill>
                <a:effectLst/>
                <a:latin typeface="Arial" panose="020B0604020202020204" pitchFamily="34" charset="0"/>
                <a:cs typeface="Arial" panose="020B0604020202020204" pitchFamily="34" charset="0"/>
              </a:rPr>
              <a:t> </a:t>
            </a:r>
            <a:r>
              <a:rPr lang="pt-BR" sz="900" b="0" i="0" dirty="0" err="1">
                <a:solidFill>
                  <a:srgbClr val="666666"/>
                </a:solidFill>
                <a:effectLst/>
                <a:latin typeface="Arial" panose="020B0604020202020204" pitchFamily="34" charset="0"/>
                <a:cs typeface="Arial" panose="020B0604020202020204" pitchFamily="34" charset="0"/>
              </a:rPr>
              <a:t>Tsukioka</a:t>
            </a:r>
            <a:r>
              <a:rPr lang="pt-BR" sz="900" b="0" i="0" dirty="0">
                <a:solidFill>
                  <a:srgbClr val="666666"/>
                </a:solidFill>
                <a:effectLst/>
                <a:latin typeface="Arial" panose="020B0604020202020204" pitchFamily="34" charset="0"/>
                <a:cs typeface="Arial" panose="020B0604020202020204" pitchFamily="34" charset="0"/>
              </a:rPr>
              <a:t> </a:t>
            </a:r>
            <a:r>
              <a:rPr lang="pt-BR" sz="900" b="0" i="0" dirty="0" err="1">
                <a:solidFill>
                  <a:srgbClr val="666666"/>
                </a:solidFill>
                <a:effectLst/>
                <a:latin typeface="Arial" panose="020B0604020202020204" pitchFamily="34" charset="0"/>
                <a:cs typeface="Arial" panose="020B0604020202020204" pitchFamily="34" charset="0"/>
              </a:rPr>
              <a:t>Yoshitoshi</a:t>
            </a:r>
            <a:r>
              <a:rPr lang="pt-BR" sz="900" b="0" i="0" dirty="0">
                <a:solidFill>
                  <a:srgbClr val="666666"/>
                </a:solidFill>
                <a:effectLst/>
                <a:latin typeface="Arial" panose="020B0604020202020204" pitchFamily="34" charset="0"/>
                <a:cs typeface="Arial" panose="020B0604020202020204" pitchFamily="34" charset="0"/>
              </a:rPr>
              <a:t>, 1875.</a:t>
            </a:r>
            <a:r>
              <a:rPr lang="pt-BR" sz="900" b="0" i="1" dirty="0">
                <a:solidFill>
                  <a:srgbClr val="666666"/>
                </a:solidFill>
                <a:effectLst/>
                <a:latin typeface="Arial" panose="020B0604020202020204" pitchFamily="34" charset="0"/>
                <a:cs typeface="Arial" panose="020B0604020202020204" pitchFamily="34" charset="0"/>
              </a:rPr>
              <a:t>Los Angeles </a:t>
            </a:r>
            <a:r>
              <a:rPr lang="pt-BR" sz="900" b="0" i="1" dirty="0" err="1">
                <a:solidFill>
                  <a:srgbClr val="666666"/>
                </a:solidFill>
                <a:effectLst/>
                <a:latin typeface="Arial" panose="020B0604020202020204" pitchFamily="34" charset="0"/>
                <a:cs typeface="Arial" panose="020B0604020202020204" pitchFamily="34" charset="0"/>
              </a:rPr>
              <a:t>County</a:t>
            </a:r>
            <a:r>
              <a:rPr lang="pt-BR" sz="900" b="0" i="1" dirty="0">
                <a:solidFill>
                  <a:srgbClr val="666666"/>
                </a:solidFill>
                <a:effectLst/>
                <a:latin typeface="Arial" panose="020B0604020202020204" pitchFamily="34" charset="0"/>
                <a:cs typeface="Arial" panose="020B0604020202020204" pitchFamily="34" charset="0"/>
              </a:rPr>
              <a:t> </a:t>
            </a:r>
            <a:r>
              <a:rPr lang="pt-BR" sz="900" b="0" i="1" dirty="0" err="1">
                <a:solidFill>
                  <a:srgbClr val="666666"/>
                </a:solidFill>
                <a:effectLst/>
                <a:latin typeface="Arial" panose="020B0604020202020204" pitchFamily="34" charset="0"/>
                <a:cs typeface="Arial" panose="020B0604020202020204" pitchFamily="34" charset="0"/>
              </a:rPr>
              <a:t>Museum</a:t>
            </a:r>
            <a:r>
              <a:rPr lang="pt-BR" sz="900" b="0" i="1" dirty="0">
                <a:solidFill>
                  <a:srgbClr val="666666"/>
                </a:solidFill>
                <a:effectLst/>
                <a:latin typeface="Arial" panose="020B0604020202020204" pitchFamily="34" charset="0"/>
                <a:cs typeface="Arial" panose="020B0604020202020204" pitchFamily="34" charset="0"/>
              </a:rPr>
              <a:t> </a:t>
            </a:r>
            <a:r>
              <a:rPr lang="pt-BR" sz="900" b="0" i="1" dirty="0" err="1">
                <a:solidFill>
                  <a:srgbClr val="666666"/>
                </a:solidFill>
                <a:effectLst/>
                <a:latin typeface="Arial" panose="020B0604020202020204" pitchFamily="34" charset="0"/>
                <a:cs typeface="Arial" panose="020B0604020202020204" pitchFamily="34" charset="0"/>
              </a:rPr>
              <a:t>of</a:t>
            </a:r>
            <a:r>
              <a:rPr lang="pt-BR" sz="900" b="0" i="1" dirty="0">
                <a:solidFill>
                  <a:srgbClr val="666666"/>
                </a:solidFill>
                <a:effectLst/>
                <a:latin typeface="Arial" panose="020B0604020202020204" pitchFamily="34" charset="0"/>
                <a:cs typeface="Arial" panose="020B0604020202020204" pitchFamily="34" charset="0"/>
              </a:rPr>
              <a:t> </a:t>
            </a:r>
            <a:r>
              <a:rPr lang="pt-BR" sz="900" b="0" i="1" dirty="0" err="1">
                <a:solidFill>
                  <a:srgbClr val="666666"/>
                </a:solidFill>
                <a:effectLst/>
                <a:latin typeface="Arial" panose="020B0604020202020204" pitchFamily="34" charset="0"/>
                <a:cs typeface="Arial" panose="020B0604020202020204" pitchFamily="34" charset="0"/>
              </a:rPr>
              <a:t>Art</a:t>
            </a:r>
            <a:r>
              <a:rPr lang="pt-BR" sz="900" b="0" i="1" dirty="0">
                <a:solidFill>
                  <a:srgbClr val="666666"/>
                </a:solidFill>
                <a:effectLst/>
                <a:latin typeface="Arial" panose="020B0604020202020204" pitchFamily="34" charset="0"/>
                <a:cs typeface="Arial" panose="020B0604020202020204" pitchFamily="34" charset="0"/>
              </a:rPr>
              <a:t>, Herbert R. Cole </a:t>
            </a:r>
            <a:r>
              <a:rPr lang="pt-BR" sz="900" b="0" i="1" dirty="0" err="1">
                <a:solidFill>
                  <a:srgbClr val="666666"/>
                </a:solidFill>
                <a:effectLst/>
                <a:latin typeface="Arial" panose="020B0604020202020204" pitchFamily="34" charset="0"/>
                <a:cs typeface="Arial" panose="020B0604020202020204" pitchFamily="34" charset="0"/>
              </a:rPr>
              <a:t>Collection</a:t>
            </a:r>
            <a:r>
              <a:rPr lang="pt-BR" sz="900" b="0" i="1" dirty="0">
                <a:solidFill>
                  <a:srgbClr val="666666"/>
                </a:solidFill>
                <a:effectLst/>
                <a:latin typeface="Arial" panose="020B0604020202020204" pitchFamily="34" charset="0"/>
                <a:cs typeface="Arial" panose="020B0604020202020204" pitchFamily="34" charset="0"/>
              </a:rPr>
              <a:t> (M.84.31.332), www.lacma.org</a:t>
            </a:r>
            <a:endParaRPr lang="pt-BR" sz="900" dirty="0">
              <a:latin typeface="Arial" panose="020B0604020202020204" pitchFamily="34" charset="0"/>
              <a:cs typeface="Arial" panose="020B0604020202020204" pitchFamily="34" charset="0"/>
            </a:endParaRPr>
          </a:p>
        </p:txBody>
      </p:sp>
      <p:pic>
        <p:nvPicPr>
          <p:cNvPr id="7172" name="Picture 4" descr="Tokugawa Iemitsu">
            <a:extLst>
              <a:ext uri="{FF2B5EF4-FFF2-40B4-BE49-F238E27FC236}">
                <a16:creationId xmlns:a16="http://schemas.microsoft.com/office/drawing/2014/main" id="{59908977-FC55-430A-9927-FE5DF0D77A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514" y="1119187"/>
            <a:ext cx="6667500" cy="4619625"/>
          </a:xfrm>
          <a:prstGeom prst="rect">
            <a:avLst/>
          </a:prstGeom>
          <a:noFill/>
          <a:extLst>
            <a:ext uri="{909E8E84-426E-40DD-AFC4-6F175D3DCCD1}">
              <a14:hiddenFill xmlns:a14="http://schemas.microsoft.com/office/drawing/2010/main">
                <a:solidFill>
                  <a:srgbClr val="FFFFFF"/>
                </a:solidFill>
              </a14:hiddenFill>
            </a:ext>
          </a:extLst>
        </p:spPr>
      </p:pic>
      <p:sp>
        <p:nvSpPr>
          <p:cNvPr id="3" name="CaixaDeTexto 2">
            <a:extLst>
              <a:ext uri="{FF2B5EF4-FFF2-40B4-BE49-F238E27FC236}">
                <a16:creationId xmlns:a16="http://schemas.microsoft.com/office/drawing/2014/main" id="{5B900C0A-B7E4-4344-A784-4B59E39CAA79}"/>
              </a:ext>
            </a:extLst>
          </p:cNvPr>
          <p:cNvSpPr txBox="1"/>
          <p:nvPr/>
        </p:nvSpPr>
        <p:spPr>
          <a:xfrm>
            <a:off x="7351455" y="516014"/>
            <a:ext cx="3497520" cy="646331"/>
          </a:xfrm>
          <a:prstGeom prst="rect">
            <a:avLst/>
          </a:prstGeom>
          <a:noFill/>
        </p:spPr>
        <p:txBody>
          <a:bodyPr wrap="square" rtlCol="0">
            <a:spAutoFit/>
          </a:bodyPr>
          <a:lstStyle/>
          <a:p>
            <a:r>
              <a:rPr lang="pt-BR" dirty="0"/>
              <a:t>Aceitando a presença ocidental e missionária no início, ...</a:t>
            </a:r>
          </a:p>
        </p:txBody>
      </p:sp>
      <p:sp>
        <p:nvSpPr>
          <p:cNvPr id="4" name="Retângulo 3">
            <a:extLst>
              <a:ext uri="{FF2B5EF4-FFF2-40B4-BE49-F238E27FC236}">
                <a16:creationId xmlns:a16="http://schemas.microsoft.com/office/drawing/2014/main" id="{FA9D4119-28BD-47A2-B498-2C56BC098A84}"/>
              </a:ext>
            </a:extLst>
          </p:cNvPr>
          <p:cNvSpPr/>
          <p:nvPr/>
        </p:nvSpPr>
        <p:spPr>
          <a:xfrm>
            <a:off x="7694664" y="1547825"/>
            <a:ext cx="3154311" cy="923330"/>
          </a:xfrm>
          <a:prstGeom prst="rect">
            <a:avLst/>
          </a:prstGeom>
        </p:spPr>
        <p:txBody>
          <a:bodyPr wrap="square">
            <a:spAutoFit/>
          </a:bodyPr>
          <a:lstStyle/>
          <a:p>
            <a:r>
              <a:rPr lang="pt-BR" dirty="0"/>
              <a:t>...o </a:t>
            </a:r>
            <a:r>
              <a:rPr lang="pt-BR" dirty="0" err="1"/>
              <a:t>Xógun</a:t>
            </a:r>
            <a:r>
              <a:rPr lang="pt-BR" dirty="0"/>
              <a:t> (Shogun), nas mãos da Dinastia Tokugawa, muda sua postura...</a:t>
            </a:r>
          </a:p>
        </p:txBody>
      </p:sp>
      <p:sp>
        <p:nvSpPr>
          <p:cNvPr id="7" name="Retângulo 6">
            <a:extLst>
              <a:ext uri="{FF2B5EF4-FFF2-40B4-BE49-F238E27FC236}">
                <a16:creationId xmlns:a16="http://schemas.microsoft.com/office/drawing/2014/main" id="{5BCDC7CD-D87D-4338-B6A0-735D1A8EF9CE}"/>
              </a:ext>
            </a:extLst>
          </p:cNvPr>
          <p:cNvSpPr/>
          <p:nvPr/>
        </p:nvSpPr>
        <p:spPr>
          <a:xfrm>
            <a:off x="8155741" y="2912920"/>
            <a:ext cx="3746621" cy="646331"/>
          </a:xfrm>
          <a:prstGeom prst="rect">
            <a:avLst/>
          </a:prstGeom>
        </p:spPr>
        <p:txBody>
          <a:bodyPr wrap="square">
            <a:spAutoFit/>
          </a:bodyPr>
          <a:lstStyle/>
          <a:p>
            <a:r>
              <a:rPr lang="pt-BR" dirty="0"/>
              <a:t>...ao se sentir ameaçado em seu poder e influência, ... </a:t>
            </a:r>
          </a:p>
        </p:txBody>
      </p:sp>
      <p:sp>
        <p:nvSpPr>
          <p:cNvPr id="8" name="Retângulo 7">
            <a:extLst>
              <a:ext uri="{FF2B5EF4-FFF2-40B4-BE49-F238E27FC236}">
                <a16:creationId xmlns:a16="http://schemas.microsoft.com/office/drawing/2014/main" id="{00CC2477-9845-458B-A100-B6501AF89E77}"/>
              </a:ext>
            </a:extLst>
          </p:cNvPr>
          <p:cNvSpPr/>
          <p:nvPr/>
        </p:nvSpPr>
        <p:spPr>
          <a:xfrm>
            <a:off x="8450577" y="4176260"/>
            <a:ext cx="3908985" cy="646331"/>
          </a:xfrm>
          <a:prstGeom prst="rect">
            <a:avLst/>
          </a:prstGeom>
        </p:spPr>
        <p:txBody>
          <a:bodyPr wrap="square">
            <a:spAutoFit/>
          </a:bodyPr>
          <a:lstStyle/>
          <a:p>
            <a:r>
              <a:rPr lang="pt-BR" dirty="0"/>
              <a:t>...e passa a perseguir e expulsar estrangeiros e missionários cristãos...</a:t>
            </a:r>
          </a:p>
        </p:txBody>
      </p:sp>
    </p:spTree>
    <p:extLst>
      <p:ext uri="{BB962C8B-B14F-4D97-AF65-F5344CB8AC3E}">
        <p14:creationId xmlns:p14="http://schemas.microsoft.com/office/powerpoint/2010/main" val="2113303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6A35569A-8A55-469F-8D50-5EE00165C37F}"/>
              </a:ext>
            </a:extLst>
          </p:cNvPr>
          <p:cNvSpPr/>
          <p:nvPr/>
        </p:nvSpPr>
        <p:spPr>
          <a:xfrm>
            <a:off x="2805112" y="608686"/>
            <a:ext cx="8734425" cy="6143285"/>
          </a:xfrm>
          <a:prstGeom prst="rect">
            <a:avLst/>
          </a:prstGeom>
        </p:spPr>
        <p:txBody>
          <a:bodyPr wrap="square">
            <a:spAutoFit/>
          </a:bodyPr>
          <a:lstStyle/>
          <a:p>
            <a:pPr>
              <a:lnSpc>
                <a:spcPct val="107000"/>
              </a:lnSpc>
              <a:spcAft>
                <a:spcPts val="800"/>
              </a:spcAft>
            </a:pPr>
            <a:r>
              <a:rPr lang="pt-BR" dirty="0">
                <a:latin typeface="Calibri" panose="020F0502020204030204" pitchFamily="34" charset="0"/>
                <a:ea typeface="Calibri" panose="020F0502020204030204" pitchFamily="34" charset="0"/>
                <a:cs typeface="Times New Roman" panose="02020603050405020304" pitchFamily="18" charset="0"/>
              </a:rPr>
              <a:t>DECRETO DE 1634</a:t>
            </a:r>
          </a:p>
          <a:p>
            <a:pPr>
              <a:lnSpc>
                <a:spcPct val="107000"/>
              </a:lnSpc>
              <a:spcAft>
                <a:spcPts val="800"/>
              </a:spcAft>
            </a:pPr>
            <a:r>
              <a:rPr lang="pt-BR" dirty="0">
                <a:latin typeface="Calibri" panose="020F0502020204030204" pitchFamily="34" charset="0"/>
                <a:ea typeface="Calibri" panose="020F0502020204030204" pitchFamily="34" charset="0"/>
                <a:cs typeface="Times New Roman" panose="02020603050405020304" pitchFamily="18" charset="0"/>
              </a:rPr>
              <a:t>1– </a:t>
            </a:r>
            <a:r>
              <a:rPr lang="pt-BR" b="1" dirty="0">
                <a:latin typeface="Calibri" panose="020F0502020204030204" pitchFamily="34" charset="0"/>
                <a:ea typeface="Calibri" panose="020F0502020204030204" pitchFamily="34" charset="0"/>
                <a:cs typeface="Times New Roman" panose="02020603050405020304" pitchFamily="18" charset="0"/>
              </a:rPr>
              <a:t>Navios japoneses não serão enviados ao exterior </a:t>
            </a:r>
          </a:p>
          <a:p>
            <a:pPr>
              <a:lnSpc>
                <a:spcPct val="107000"/>
              </a:lnSpc>
              <a:spcAft>
                <a:spcPts val="800"/>
              </a:spcAft>
            </a:pPr>
            <a:r>
              <a:rPr lang="pt-BR" dirty="0">
                <a:latin typeface="Calibri" panose="020F0502020204030204" pitchFamily="34" charset="0"/>
                <a:ea typeface="Calibri" panose="020F0502020204030204" pitchFamily="34" charset="0"/>
                <a:cs typeface="Times New Roman" panose="02020603050405020304" pitchFamily="18" charset="0"/>
              </a:rPr>
              <a:t>2 - </a:t>
            </a:r>
            <a:r>
              <a:rPr lang="pt-BR" b="1" dirty="0">
                <a:latin typeface="Calibri" panose="020F0502020204030204" pitchFamily="34" charset="0"/>
                <a:ea typeface="Calibri" panose="020F0502020204030204" pitchFamily="34" charset="0"/>
                <a:cs typeface="Times New Roman" panose="02020603050405020304" pitchFamily="18" charset="0"/>
              </a:rPr>
              <a:t>Nenhum japonês será enviado ao exterior. Qualquer um que viole esta proibição sofrerá a pena de morte e o dono do navio e tripulação serão detidos, assim como o Navio</a:t>
            </a:r>
            <a:r>
              <a:rPr lang="pt-BR"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pt-BR" dirty="0">
                <a:latin typeface="Calibri" panose="020F0502020204030204" pitchFamily="34" charset="0"/>
                <a:ea typeface="Calibri" panose="020F0502020204030204" pitchFamily="34" charset="0"/>
                <a:cs typeface="Times New Roman" panose="02020603050405020304" pitchFamily="18" charset="0"/>
              </a:rPr>
              <a:t>3 -</a:t>
            </a:r>
            <a:r>
              <a:rPr lang="pt-BR" b="1" dirty="0">
                <a:latin typeface="Calibri" panose="020F0502020204030204" pitchFamily="34" charset="0"/>
                <a:ea typeface="Calibri" panose="020F0502020204030204" pitchFamily="34" charset="0"/>
                <a:cs typeface="Times New Roman" panose="02020603050405020304" pitchFamily="18" charset="0"/>
              </a:rPr>
              <a:t>Todos os japoneses residentes no exterior serão executados na volta ao lar.</a:t>
            </a:r>
          </a:p>
          <a:p>
            <a:pPr>
              <a:lnSpc>
                <a:spcPct val="107000"/>
              </a:lnSpc>
              <a:spcAft>
                <a:spcPts val="800"/>
              </a:spcAft>
            </a:pPr>
            <a:r>
              <a:rPr lang="pt-BR" dirty="0">
                <a:latin typeface="Calibri" panose="020F0502020204030204" pitchFamily="34" charset="0"/>
                <a:ea typeface="Calibri" panose="020F0502020204030204" pitchFamily="34" charset="0"/>
                <a:cs typeface="Times New Roman" panose="02020603050405020304" pitchFamily="18" charset="0"/>
              </a:rPr>
              <a:t>4- Todos os cristãos serão examinados pelos examinadores oficiais.</a:t>
            </a:r>
          </a:p>
          <a:p>
            <a:pPr>
              <a:lnSpc>
                <a:spcPct val="107000"/>
              </a:lnSpc>
              <a:spcAft>
                <a:spcPts val="800"/>
              </a:spcAft>
            </a:pPr>
            <a:r>
              <a:rPr lang="pt-BR" dirty="0">
                <a:latin typeface="Calibri" panose="020F0502020204030204" pitchFamily="34" charset="0"/>
                <a:ea typeface="Calibri" panose="020F0502020204030204" pitchFamily="34" charset="0"/>
                <a:cs typeface="Times New Roman" panose="02020603050405020304" pitchFamily="18" charset="0"/>
              </a:rPr>
              <a:t>5 – </a:t>
            </a:r>
            <a:r>
              <a:rPr lang="pt-BR" b="1" dirty="0">
                <a:latin typeface="Calibri" panose="020F0502020204030204" pitchFamily="34" charset="0"/>
                <a:ea typeface="Calibri" panose="020F0502020204030204" pitchFamily="34" charset="0"/>
                <a:cs typeface="Times New Roman" panose="02020603050405020304" pitchFamily="18" charset="0"/>
              </a:rPr>
              <a:t>Informantes contra os cristãos serão recompensados.</a:t>
            </a:r>
          </a:p>
          <a:p>
            <a:pPr>
              <a:lnSpc>
                <a:spcPct val="107000"/>
              </a:lnSpc>
              <a:spcAft>
                <a:spcPts val="800"/>
              </a:spcAft>
            </a:pPr>
            <a:r>
              <a:rPr lang="pt-BR" dirty="0">
                <a:latin typeface="Calibri" panose="020F0502020204030204" pitchFamily="34" charset="0"/>
                <a:ea typeface="Calibri" panose="020F0502020204030204" pitchFamily="34" charset="0"/>
                <a:cs typeface="Times New Roman" panose="02020603050405020304" pitchFamily="18" charset="0"/>
              </a:rPr>
              <a:t>6- A chegada de navios estrangeiros deverá ser informada à Edo e deverão ser vigiados.</a:t>
            </a:r>
          </a:p>
          <a:p>
            <a:pPr>
              <a:lnSpc>
                <a:spcPct val="107000"/>
              </a:lnSpc>
              <a:spcAft>
                <a:spcPts val="800"/>
              </a:spcAft>
            </a:pPr>
            <a:r>
              <a:rPr lang="pt-BR" dirty="0">
                <a:latin typeface="Calibri" panose="020F0502020204030204" pitchFamily="34" charset="0"/>
                <a:ea typeface="Calibri" panose="020F0502020204030204" pitchFamily="34" charset="0"/>
                <a:cs typeface="Times New Roman" panose="02020603050405020304" pitchFamily="18" charset="0"/>
              </a:rPr>
              <a:t>7-0 povo </a:t>
            </a:r>
            <a:r>
              <a:rPr lang="pt-BR" dirty="0" err="1">
                <a:latin typeface="Calibri" panose="020F0502020204030204" pitchFamily="34" charset="0"/>
                <a:ea typeface="Calibri" panose="020F0502020204030204" pitchFamily="34" charset="0"/>
                <a:cs typeface="Times New Roman" panose="02020603050405020304" pitchFamily="18" charset="0"/>
              </a:rPr>
              <a:t>Namban</a:t>
            </a:r>
            <a:r>
              <a:rPr lang="pt-BR" dirty="0">
                <a:latin typeface="Calibri" panose="020F0502020204030204" pitchFamily="34" charset="0"/>
                <a:ea typeface="Calibri" panose="020F0502020204030204" pitchFamily="34" charset="0"/>
                <a:cs typeface="Times New Roman" panose="02020603050405020304" pitchFamily="18" charset="0"/>
              </a:rPr>
              <a:t> (espanhóis e portugueses) e quaisquer outros povos com maus desígnios de propagar o cristianismo serão encarcerados na prisão de </a:t>
            </a:r>
            <a:r>
              <a:rPr lang="pt-BR" dirty="0" err="1">
                <a:latin typeface="Calibri" panose="020F0502020204030204" pitchFamily="34" charset="0"/>
                <a:ea typeface="Calibri" panose="020F0502020204030204" pitchFamily="34" charset="0"/>
                <a:cs typeface="Times New Roman" panose="02020603050405020304" pitchFamily="18" charset="0"/>
              </a:rPr>
              <a:t>Omura</a:t>
            </a:r>
            <a:r>
              <a:rPr lang="pt-BR" dirty="0">
                <a:latin typeface="Calibri" panose="020F0502020204030204" pitchFamily="34" charset="0"/>
                <a:ea typeface="Calibri" panose="020F0502020204030204" pitchFamily="34" charset="0"/>
                <a:cs typeface="Times New Roman" panose="02020603050405020304" pitchFamily="18" charset="0"/>
              </a:rPr>
              <a:t> como antes.</a:t>
            </a:r>
          </a:p>
          <a:p>
            <a:pPr>
              <a:lnSpc>
                <a:spcPct val="107000"/>
              </a:lnSpc>
              <a:spcAft>
                <a:spcPts val="800"/>
              </a:spcAft>
            </a:pPr>
            <a:r>
              <a:rPr lang="pt-BR" dirty="0">
                <a:latin typeface="Calibri" panose="020F0502020204030204" pitchFamily="34" charset="0"/>
                <a:ea typeface="Calibri" panose="020F0502020204030204" pitchFamily="34" charset="0"/>
                <a:cs typeface="Times New Roman" panose="02020603050405020304" pitchFamily="18" charset="0"/>
              </a:rPr>
              <a:t>8– Mesmo os navios não serão isentos no assunto do extermínio de cristãos.</a:t>
            </a:r>
          </a:p>
          <a:p>
            <a:pPr>
              <a:lnSpc>
                <a:spcPct val="107000"/>
              </a:lnSpc>
              <a:spcAft>
                <a:spcPts val="800"/>
              </a:spcAft>
            </a:pPr>
            <a:r>
              <a:rPr lang="pt-BR" dirty="0">
                <a:latin typeface="Calibri" panose="020F0502020204030204" pitchFamily="34" charset="0"/>
                <a:ea typeface="Calibri" panose="020F0502020204030204" pitchFamily="34" charset="0"/>
                <a:cs typeface="Times New Roman" panose="02020603050405020304" pitchFamily="18" charset="0"/>
              </a:rPr>
              <a:t>9- </a:t>
            </a:r>
            <a:r>
              <a:rPr lang="pt-BR" b="1" dirty="0">
                <a:latin typeface="Calibri" panose="020F0502020204030204" pitchFamily="34" charset="0"/>
                <a:ea typeface="Calibri" panose="020F0502020204030204" pitchFamily="34" charset="0"/>
                <a:cs typeface="Times New Roman" panose="02020603050405020304" pitchFamily="18" charset="0"/>
              </a:rPr>
              <a:t>Tudo deve ser feito para que nenhum cristão tenha descendentes sobreviventes e qualquer um que desobedecer esta ordem será condenado à morte, enquanto punição adequada será encontrada para os outros membros da família de acordo com os seus atos</a:t>
            </a:r>
            <a:r>
              <a:rPr lang="pt-BR"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pt-BR" dirty="0">
                <a:latin typeface="Calibri" panose="020F0502020204030204" pitchFamily="34" charset="0"/>
                <a:ea typeface="Calibri" panose="020F0502020204030204" pitchFamily="34" charset="0"/>
                <a:cs typeface="Times New Roman" panose="02020603050405020304" pitchFamily="18" charset="0"/>
              </a:rPr>
              <a:t>(Harry </a:t>
            </a:r>
            <a:r>
              <a:rPr lang="pt-BR" dirty="0" err="1">
                <a:latin typeface="Calibri" panose="020F0502020204030204" pitchFamily="34" charset="0"/>
                <a:ea typeface="Calibri" panose="020F0502020204030204" pitchFamily="34" charset="0"/>
                <a:cs typeface="Times New Roman" panose="02020603050405020304" pitchFamily="18" charset="0"/>
              </a:rPr>
              <a:t>Carrol</a:t>
            </a:r>
            <a:r>
              <a:rPr lang="pt-BR" dirty="0">
                <a:latin typeface="Calibri" panose="020F0502020204030204" pitchFamily="34" charset="0"/>
                <a:ea typeface="Calibri" panose="020F0502020204030204" pitchFamily="34" charset="0"/>
                <a:cs typeface="Times New Roman" panose="02020603050405020304" pitchFamily="18" charset="0"/>
              </a:rPr>
              <a:t> Jr. et alii, op. cit., p.345.)</a:t>
            </a:r>
          </a:p>
        </p:txBody>
      </p:sp>
      <p:sp>
        <p:nvSpPr>
          <p:cNvPr id="6" name="Chave Esquerda 5">
            <a:extLst>
              <a:ext uri="{FF2B5EF4-FFF2-40B4-BE49-F238E27FC236}">
                <a16:creationId xmlns:a16="http://schemas.microsoft.com/office/drawing/2014/main" id="{F7527740-F16F-462B-A097-5078527A07E4}"/>
              </a:ext>
            </a:extLst>
          </p:cNvPr>
          <p:cNvSpPr/>
          <p:nvPr/>
        </p:nvSpPr>
        <p:spPr>
          <a:xfrm>
            <a:off x="2310425" y="503446"/>
            <a:ext cx="924232" cy="624852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3" name="Retângulo 12">
            <a:extLst>
              <a:ext uri="{FF2B5EF4-FFF2-40B4-BE49-F238E27FC236}">
                <a16:creationId xmlns:a16="http://schemas.microsoft.com/office/drawing/2014/main" id="{6F3CBD83-7DA8-4D3B-B50E-664CB4910A8C}"/>
              </a:ext>
            </a:extLst>
          </p:cNvPr>
          <p:cNvSpPr/>
          <p:nvPr/>
        </p:nvSpPr>
        <p:spPr>
          <a:xfrm>
            <a:off x="4295775" y="106029"/>
            <a:ext cx="7162800" cy="892552"/>
          </a:xfrm>
          <a:prstGeom prst="rect">
            <a:avLst/>
          </a:prstGeom>
        </p:spPr>
        <p:txBody>
          <a:bodyPr wrap="square">
            <a:spAutoFit/>
          </a:bodyPr>
          <a:lstStyle/>
          <a:p>
            <a:pPr algn="ctr"/>
            <a:r>
              <a:rPr lang="pt-BR" altLang="pt-BR" b="1" dirty="0">
                <a:solidFill>
                  <a:srgbClr val="C00000"/>
                </a:solidFill>
                <a:latin typeface="Arial" panose="020B0604020202020204" pitchFamily="34" charset="0"/>
                <a:cs typeface="Arial" panose="020B0604020202020204" pitchFamily="34" charset="0"/>
              </a:rPr>
              <a:t>Isolamento em relação ao Ocidente- promovida pela dinastia Tokugawa </a:t>
            </a:r>
          </a:p>
          <a:p>
            <a:pPr algn="ctr"/>
            <a:r>
              <a:rPr lang="pt-BR" altLang="pt-BR" sz="1600" b="1" dirty="0">
                <a:solidFill>
                  <a:srgbClr val="C00000"/>
                </a:solidFill>
                <a:latin typeface="Arial" panose="020B0604020202020204" pitchFamily="34" charset="0"/>
                <a:cs typeface="Arial" panose="020B0604020202020204" pitchFamily="34" charset="0"/>
              </a:rPr>
              <a:t>(</a:t>
            </a:r>
            <a:r>
              <a:rPr lang="pt-BR" altLang="pt-BR" sz="1600" b="1" dirty="0" err="1">
                <a:solidFill>
                  <a:srgbClr val="C00000"/>
                </a:solidFill>
                <a:latin typeface="Arial" panose="020B0604020202020204" pitchFamily="34" charset="0"/>
                <a:cs typeface="Arial" panose="020B0604020202020204" pitchFamily="34" charset="0"/>
              </a:rPr>
              <a:t>Xógun</a:t>
            </a:r>
            <a:r>
              <a:rPr lang="pt-BR" altLang="pt-BR" sz="1600" b="1" dirty="0">
                <a:solidFill>
                  <a:srgbClr val="C00000"/>
                </a:solidFill>
                <a:latin typeface="Arial" panose="020B0604020202020204" pitchFamily="34" charset="0"/>
                <a:cs typeface="Arial" panose="020B0604020202020204" pitchFamily="34" charset="0"/>
              </a:rPr>
              <a:t> + </a:t>
            </a:r>
            <a:r>
              <a:rPr lang="pt-BR" altLang="pt-BR" sz="1600" b="1" dirty="0" err="1">
                <a:solidFill>
                  <a:srgbClr val="C00000"/>
                </a:solidFill>
                <a:latin typeface="Arial" panose="020B0604020202020204" pitchFamily="34" charset="0"/>
                <a:cs typeface="Arial" panose="020B0604020202020204" pitchFamily="34" charset="0"/>
              </a:rPr>
              <a:t>Daimios</a:t>
            </a:r>
            <a:r>
              <a:rPr lang="pt-BR" altLang="pt-BR" sz="1600" b="1" dirty="0">
                <a:solidFill>
                  <a:srgbClr val="C00000"/>
                </a:solidFill>
                <a:latin typeface="Arial" panose="020B0604020202020204" pitchFamily="34" charset="0"/>
                <a:cs typeface="Arial" panose="020B0604020202020204" pitchFamily="34" charset="0"/>
              </a:rPr>
              <a:t>/Samurais)  até o século XIX.</a:t>
            </a:r>
          </a:p>
        </p:txBody>
      </p:sp>
      <p:sp>
        <p:nvSpPr>
          <p:cNvPr id="14" name="CaixaDeTexto 13">
            <a:extLst>
              <a:ext uri="{FF2B5EF4-FFF2-40B4-BE49-F238E27FC236}">
                <a16:creationId xmlns:a16="http://schemas.microsoft.com/office/drawing/2014/main" id="{D9D83175-259D-47DE-AAB4-78F411D52D70}"/>
              </a:ext>
            </a:extLst>
          </p:cNvPr>
          <p:cNvSpPr txBox="1"/>
          <p:nvPr/>
        </p:nvSpPr>
        <p:spPr>
          <a:xfrm>
            <a:off x="378632" y="3122546"/>
            <a:ext cx="1581150" cy="1477328"/>
          </a:xfrm>
          <a:prstGeom prst="rect">
            <a:avLst/>
          </a:prstGeom>
          <a:noFill/>
        </p:spPr>
        <p:txBody>
          <a:bodyPr wrap="square" rtlCol="0">
            <a:spAutoFit/>
          </a:bodyPr>
          <a:lstStyle/>
          <a:p>
            <a:r>
              <a:rPr lang="pt-BR" dirty="0"/>
              <a:t>...Isolando  o Japão do contato ocidental até o século XIX</a:t>
            </a:r>
          </a:p>
        </p:txBody>
      </p:sp>
      <p:cxnSp>
        <p:nvCxnSpPr>
          <p:cNvPr id="16" name="Conector de Seta Reta 15">
            <a:extLst>
              <a:ext uri="{FF2B5EF4-FFF2-40B4-BE49-F238E27FC236}">
                <a16:creationId xmlns:a16="http://schemas.microsoft.com/office/drawing/2014/main" id="{FCC534F0-4FF9-4B3C-9B1D-4EEF676CC55A}"/>
              </a:ext>
            </a:extLst>
          </p:cNvPr>
          <p:cNvCxnSpPr/>
          <p:nvPr/>
        </p:nvCxnSpPr>
        <p:spPr>
          <a:xfrm flipV="1">
            <a:off x="1619250" y="3680328"/>
            <a:ext cx="552450" cy="210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6066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0699A117-389B-4B66-94B3-B6E92E9E1235}"/>
              </a:ext>
            </a:extLst>
          </p:cNvPr>
          <p:cNvSpPr/>
          <p:nvPr/>
        </p:nvSpPr>
        <p:spPr>
          <a:xfrm>
            <a:off x="198796" y="2709683"/>
            <a:ext cx="3333750" cy="1857624"/>
          </a:xfrm>
          <a:prstGeom prst="rect">
            <a:avLst/>
          </a:prstGeom>
        </p:spPr>
        <p:txBody>
          <a:bodyPr wrap="square">
            <a:spAutoFit/>
          </a:bodyPr>
          <a:lstStyle/>
          <a:p>
            <a:pPr>
              <a:lnSpc>
                <a:spcPct val="107000"/>
              </a:lnSpc>
              <a:spcAft>
                <a:spcPts val="800"/>
              </a:spcAft>
            </a:pPr>
            <a:r>
              <a:rPr lang="pt-BR" sz="1400" dirty="0">
                <a:effectLst/>
                <a:latin typeface="Arial Black" panose="020B0A04020102020204" pitchFamily="34" charset="0"/>
                <a:ea typeface="Calibri" panose="020F0502020204030204" pitchFamily="34" charset="0"/>
                <a:cs typeface="Times New Roman" panose="02020603050405020304" pitchFamily="18" charset="0"/>
              </a:rPr>
              <a:t>A abertura dos portos pela esquadra americana</a:t>
            </a:r>
            <a:endParaRPr lang="pt-BR"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pt-BR" sz="1400" dirty="0">
                <a:latin typeface="Arial" panose="020B0604020202020204" pitchFamily="34" charset="0"/>
                <a:ea typeface="Calibri" panose="020F0502020204030204" pitchFamily="34" charset="0"/>
                <a:cs typeface="Arial" panose="020B0604020202020204" pitchFamily="34" charset="0"/>
              </a:rPr>
              <a:t>Carta do presidente </a:t>
            </a:r>
            <a:r>
              <a:rPr lang="pt-BR" sz="1400" dirty="0" err="1">
                <a:latin typeface="Arial" panose="020B0604020202020204" pitchFamily="34" charset="0"/>
                <a:ea typeface="Calibri" panose="020F0502020204030204" pitchFamily="34" charset="0"/>
                <a:cs typeface="Arial" panose="020B0604020202020204" pitchFamily="34" charset="0"/>
              </a:rPr>
              <a:t>Millard</a:t>
            </a:r>
            <a:r>
              <a:rPr lang="pt-BR" sz="1400" dirty="0">
                <a:latin typeface="Arial" panose="020B0604020202020204" pitchFamily="34" charset="0"/>
                <a:ea typeface="Calibri" panose="020F0502020204030204" pitchFamily="34" charset="0"/>
                <a:cs typeface="Arial" panose="020B0604020202020204" pitchFamily="34" charset="0"/>
              </a:rPr>
              <a:t> </a:t>
            </a:r>
            <a:r>
              <a:rPr lang="pt-BR" sz="1400" dirty="0" err="1">
                <a:latin typeface="Arial" panose="020B0604020202020204" pitchFamily="34" charset="0"/>
                <a:ea typeface="Calibri" panose="020F0502020204030204" pitchFamily="34" charset="0"/>
                <a:cs typeface="Arial" panose="020B0604020202020204" pitchFamily="34" charset="0"/>
              </a:rPr>
              <a:t>Filmore</a:t>
            </a:r>
            <a:r>
              <a:rPr lang="pt-BR" sz="1400" dirty="0">
                <a:latin typeface="Arial" panose="020B0604020202020204" pitchFamily="34" charset="0"/>
                <a:ea typeface="Calibri" panose="020F0502020204030204" pitchFamily="34" charset="0"/>
                <a:cs typeface="Arial" panose="020B0604020202020204" pitchFamily="34" charset="0"/>
              </a:rPr>
              <a:t> ao imperador </a:t>
            </a:r>
            <a:r>
              <a:rPr lang="pt-BR" sz="1400" dirty="0" err="1">
                <a:latin typeface="Arial" panose="020B0604020202020204" pitchFamily="34" charset="0"/>
                <a:ea typeface="Calibri" panose="020F0502020204030204" pitchFamily="34" charset="0"/>
                <a:cs typeface="Arial" panose="020B0604020202020204" pitchFamily="34" charset="0"/>
              </a:rPr>
              <a:t>Komei</a:t>
            </a:r>
            <a:r>
              <a:rPr lang="pt-BR" sz="1400" dirty="0">
                <a:latin typeface="Arial" panose="020B0604020202020204" pitchFamily="34" charset="0"/>
                <a:ea typeface="Calibri" panose="020F0502020204030204" pitchFamily="34" charset="0"/>
                <a:cs typeface="Arial" panose="020B0604020202020204" pitchFamily="34" charset="0"/>
              </a:rPr>
              <a:t> do Japão (13/11/1852), entregue em 1853 pelo comodoro </a:t>
            </a:r>
            <a:r>
              <a:rPr lang="pt-BR" sz="1400" dirty="0" err="1">
                <a:latin typeface="Arial" panose="020B0604020202020204" pitchFamily="34" charset="0"/>
                <a:ea typeface="Calibri" panose="020F0502020204030204" pitchFamily="34" charset="0"/>
                <a:cs typeface="Arial" panose="020B0604020202020204" pitchFamily="34" charset="0"/>
              </a:rPr>
              <a:t>Mathew</a:t>
            </a:r>
            <a:r>
              <a:rPr lang="pt-BR" sz="1400" dirty="0">
                <a:latin typeface="Arial" panose="020B0604020202020204" pitchFamily="34" charset="0"/>
                <a:ea typeface="Calibri" panose="020F0502020204030204" pitchFamily="34" charset="0"/>
                <a:cs typeface="Arial" panose="020B0604020202020204" pitchFamily="34" charset="0"/>
              </a:rPr>
              <a:t> C. Perry (tratado assinado em 1854):</a:t>
            </a:r>
          </a:p>
        </p:txBody>
      </p:sp>
      <p:sp>
        <p:nvSpPr>
          <p:cNvPr id="3" name="Retângulo 2">
            <a:extLst>
              <a:ext uri="{FF2B5EF4-FFF2-40B4-BE49-F238E27FC236}">
                <a16:creationId xmlns:a16="http://schemas.microsoft.com/office/drawing/2014/main" id="{0923AA90-1736-4BEB-8220-40E0A2E61C96}"/>
              </a:ext>
            </a:extLst>
          </p:cNvPr>
          <p:cNvSpPr/>
          <p:nvPr/>
        </p:nvSpPr>
        <p:spPr>
          <a:xfrm>
            <a:off x="198796" y="4834398"/>
            <a:ext cx="5246941" cy="1791773"/>
          </a:xfrm>
          <a:prstGeom prst="rect">
            <a:avLst/>
          </a:prstGeom>
        </p:spPr>
        <p:txBody>
          <a:bodyPr wrap="square">
            <a:spAutoFit/>
          </a:bodyPr>
          <a:lstStyle/>
          <a:p>
            <a:pPr>
              <a:lnSpc>
                <a:spcPct val="107000"/>
              </a:lnSpc>
              <a:spcAft>
                <a:spcPts val="800"/>
              </a:spcAft>
            </a:pPr>
            <a:r>
              <a:rPr lang="pt-BR" sz="1400" dirty="0">
                <a:effectLst/>
                <a:latin typeface="Arial Black" panose="020B0A04020102020204" pitchFamily="34" charset="0"/>
                <a:ea typeface="Calibri" panose="020F0502020204030204" pitchFamily="34" charset="0"/>
                <a:cs typeface="Times New Roman" panose="02020603050405020304" pitchFamily="18" charset="0"/>
              </a:rPr>
              <a:t>(sobre carvão e provisões)</a:t>
            </a:r>
            <a:endParaRPr lang="pt-BR"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pt-BR" sz="1400" dirty="0">
                <a:latin typeface="Arial Black" panose="020B0A04020102020204" pitchFamily="34" charset="0"/>
                <a:ea typeface="Calibri" panose="020F0502020204030204" pitchFamily="34" charset="0"/>
                <a:cs typeface="Times New Roman" panose="02020603050405020304" pitchFamily="18" charset="0"/>
              </a:rPr>
              <a:t>“</a:t>
            </a:r>
            <a:r>
              <a:rPr lang="pt-BR" sz="1400" b="1" dirty="0">
                <a:solidFill>
                  <a:schemeClr val="accent1">
                    <a:lumMod val="75000"/>
                  </a:schemeClr>
                </a:solidFill>
                <a:latin typeface="Arial" panose="020B0604020202020204" pitchFamily="34" charset="0"/>
                <a:ea typeface="Calibri" panose="020F0502020204030204" pitchFamily="34" charset="0"/>
                <a:cs typeface="Arial" panose="020B0604020202020204" pitchFamily="34" charset="0"/>
              </a:rPr>
              <a:t>Nossos navios a vapor, no cruzamento do grande oceano, queimam muito carvão e não é conveniente trazê-lo todo da América. Nós queremos que nossos navios a vapor e outros barcos tenham permissão para pararem no Japão e abastecerem-se com carvão, provisões e água.” (Harry </a:t>
            </a:r>
            <a:r>
              <a:rPr lang="pt-BR" sz="1400" b="1" dirty="0" err="1">
                <a:solidFill>
                  <a:schemeClr val="accent1">
                    <a:lumMod val="75000"/>
                  </a:schemeClr>
                </a:solidFill>
                <a:latin typeface="Arial" panose="020B0604020202020204" pitchFamily="34" charset="0"/>
                <a:ea typeface="Calibri" panose="020F0502020204030204" pitchFamily="34" charset="0"/>
                <a:cs typeface="Arial" panose="020B0604020202020204" pitchFamily="34" charset="0"/>
              </a:rPr>
              <a:t>Carrol</a:t>
            </a:r>
            <a:r>
              <a:rPr lang="pt-BR" sz="1400" b="1" dirty="0">
                <a:solidFill>
                  <a:schemeClr val="accent1">
                    <a:lumMod val="75000"/>
                  </a:schemeClr>
                </a:solidFill>
                <a:latin typeface="Arial" panose="020B0604020202020204" pitchFamily="34" charset="0"/>
                <a:ea typeface="Calibri" panose="020F0502020204030204" pitchFamily="34" charset="0"/>
                <a:cs typeface="Arial" panose="020B0604020202020204" pitchFamily="34" charset="0"/>
              </a:rPr>
              <a:t> Jr. et alii, </a:t>
            </a:r>
            <a:r>
              <a:rPr lang="pt-BR" sz="1400" b="1" dirty="0" err="1">
                <a:solidFill>
                  <a:schemeClr val="accent1">
                    <a:lumMod val="75000"/>
                  </a:schemeClr>
                </a:solidFill>
                <a:latin typeface="Arial" panose="020B0604020202020204" pitchFamily="34" charset="0"/>
                <a:ea typeface="Calibri" panose="020F0502020204030204" pitchFamily="34" charset="0"/>
                <a:cs typeface="Arial" panose="020B0604020202020204" pitchFamily="34" charset="0"/>
              </a:rPr>
              <a:t>op</a:t>
            </a:r>
            <a:r>
              <a:rPr lang="pt-BR" sz="1400" b="1" dirty="0">
                <a:solidFill>
                  <a:schemeClr val="accent1">
                    <a:lumMod val="75000"/>
                  </a:schemeClr>
                </a:solidFill>
                <a:latin typeface="Arial" panose="020B0604020202020204" pitchFamily="34" charset="0"/>
                <a:ea typeface="Calibri" panose="020F0502020204030204" pitchFamily="34" charset="0"/>
                <a:cs typeface="Arial" panose="020B0604020202020204" pitchFamily="34" charset="0"/>
              </a:rPr>
              <a:t>, cit., p.346-7.)</a:t>
            </a:r>
          </a:p>
        </p:txBody>
      </p:sp>
      <p:pic>
        <p:nvPicPr>
          <p:cNvPr id="4" name="Picture 2" descr="Universidade de Brasília Instituto de Letras (IL) Departamento de ...">
            <a:extLst>
              <a:ext uri="{FF2B5EF4-FFF2-40B4-BE49-F238E27FC236}">
                <a16:creationId xmlns:a16="http://schemas.microsoft.com/office/drawing/2014/main" id="{CBE3F396-BE03-42F1-AEDD-29EB83EC9E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7232" y="2709683"/>
            <a:ext cx="2990340" cy="2124715"/>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3266B72B-8B4B-4620-BA7F-CBD71878A645}"/>
              </a:ext>
            </a:extLst>
          </p:cNvPr>
          <p:cNvSpPr/>
          <p:nvPr/>
        </p:nvSpPr>
        <p:spPr>
          <a:xfrm>
            <a:off x="7487160" y="1194042"/>
            <a:ext cx="4276215" cy="5355312"/>
          </a:xfrm>
          <a:prstGeom prst="rect">
            <a:avLst/>
          </a:prstGeom>
        </p:spPr>
        <p:txBody>
          <a:bodyPr wrap="square">
            <a:spAutoFit/>
          </a:bodyPr>
          <a:lstStyle/>
          <a:p>
            <a:r>
              <a:rPr lang="pt-BR" b="1" i="0" dirty="0">
                <a:solidFill>
                  <a:srgbClr val="54676D"/>
                </a:solidFill>
                <a:effectLst/>
                <a:latin typeface="Noto Serif"/>
              </a:rPr>
              <a:t>Baía de Edo, 1853: o Shogun se ajoelha aos bárbaros</a:t>
            </a:r>
          </a:p>
          <a:p>
            <a:pPr algn="just"/>
            <a:r>
              <a:rPr lang="pt-BR" b="0" i="0" dirty="0">
                <a:solidFill>
                  <a:srgbClr val="636363"/>
                </a:solidFill>
                <a:effectLst/>
                <a:latin typeface="inherit"/>
              </a:rPr>
              <a:t>“Em 8 de julho de 1853, os residentes de </a:t>
            </a:r>
            <a:r>
              <a:rPr lang="pt-BR" b="0" i="0" dirty="0" err="1">
                <a:solidFill>
                  <a:srgbClr val="636363"/>
                </a:solidFill>
                <a:effectLst/>
                <a:latin typeface="inherit"/>
              </a:rPr>
              <a:t>Uraga</a:t>
            </a:r>
            <a:r>
              <a:rPr lang="pt-BR" b="0" i="0" dirty="0">
                <a:solidFill>
                  <a:srgbClr val="636363"/>
                </a:solidFill>
                <a:effectLst/>
                <a:latin typeface="inherit"/>
              </a:rPr>
              <a:t>, nos arredores da sempre em expansão capital do Japão feudal, Edo (atual Tóquio), se depararam com uma visão assustadora, quatro navios de guerra estrangeiros entraram em seu porto natural sob uma pesada nuvem negra, em nenhum deles via-se velas, como em navios costumeiros. Eles eram duas fragatas movidas a vapor (tecnologia de ponta na época) rebocando duas outras corvetas, essa frota era comandada por um obstinado e tempestuoso americano, Matthew” Perry.</a:t>
            </a:r>
            <a:r>
              <a:rPr lang="pt-BR" dirty="0">
                <a:hlinkClick r:id="rId3"/>
              </a:rPr>
              <a:t> https://auroraoriental.wordpress.com/2017/01/30/34-baia-de-edo-1853-o-shogun-se-ajoelha-pela-primeira-vez/</a:t>
            </a:r>
            <a:endParaRPr lang="pt-BR" b="0" i="0" dirty="0">
              <a:solidFill>
                <a:srgbClr val="636363"/>
              </a:solidFill>
              <a:effectLst/>
              <a:latin typeface="inherit"/>
            </a:endParaRPr>
          </a:p>
        </p:txBody>
      </p:sp>
      <p:pic>
        <p:nvPicPr>
          <p:cNvPr id="6" name="Picture 4" descr="34 | Baía de Edo, 1853: o Shogun se ajoelha aos bárbaros – Aurora ...">
            <a:extLst>
              <a:ext uri="{FF2B5EF4-FFF2-40B4-BE49-F238E27FC236}">
                <a16:creationId xmlns:a16="http://schemas.microsoft.com/office/drawing/2014/main" id="{1614BB37-D54C-41D9-A257-401EAA6BBC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650" y="75963"/>
            <a:ext cx="3333750" cy="2157133"/>
          </a:xfrm>
          <a:prstGeom prst="rect">
            <a:avLst/>
          </a:prstGeom>
          <a:noFill/>
          <a:extLst>
            <a:ext uri="{909E8E84-426E-40DD-AFC4-6F175D3DCCD1}">
              <a14:hiddenFill xmlns:a14="http://schemas.microsoft.com/office/drawing/2010/main">
                <a:solidFill>
                  <a:srgbClr val="FFFFFF"/>
                </a:solidFill>
              </a14:hiddenFill>
            </a:ext>
          </a:extLst>
        </p:spPr>
      </p:pic>
      <p:sp>
        <p:nvSpPr>
          <p:cNvPr id="7" name="Retângulo 6">
            <a:extLst>
              <a:ext uri="{FF2B5EF4-FFF2-40B4-BE49-F238E27FC236}">
                <a16:creationId xmlns:a16="http://schemas.microsoft.com/office/drawing/2014/main" id="{946FF8C2-7F7D-469C-974F-97E6F5ADE532}"/>
              </a:ext>
            </a:extLst>
          </p:cNvPr>
          <p:cNvSpPr/>
          <p:nvPr/>
        </p:nvSpPr>
        <p:spPr>
          <a:xfrm>
            <a:off x="3936637" y="370099"/>
            <a:ext cx="6531337" cy="707886"/>
          </a:xfrm>
          <a:prstGeom prst="rect">
            <a:avLst/>
          </a:prstGeom>
        </p:spPr>
        <p:txBody>
          <a:bodyPr wrap="square">
            <a:spAutoFit/>
          </a:bodyPr>
          <a:lstStyle/>
          <a:p>
            <a:r>
              <a:rPr lang="pt-BR" altLang="pt-BR" sz="2000" b="1" dirty="0">
                <a:latin typeface="Arial" panose="020B0604020202020204" pitchFamily="34" charset="0"/>
                <a:cs typeface="Arial" panose="020B0604020202020204" pitchFamily="34" charset="0"/>
              </a:rPr>
              <a:t>Imposição da “Open </a:t>
            </a:r>
            <a:r>
              <a:rPr lang="pt-BR" altLang="pt-BR" sz="2000" b="1" dirty="0" err="1">
                <a:latin typeface="Arial" panose="020B0604020202020204" pitchFamily="34" charset="0"/>
                <a:cs typeface="Arial" panose="020B0604020202020204" pitchFamily="34" charset="0"/>
              </a:rPr>
              <a:t>Door</a:t>
            </a:r>
            <a:r>
              <a:rPr lang="pt-BR" altLang="pt-BR" sz="2000" b="1" dirty="0">
                <a:latin typeface="Arial" panose="020B0604020202020204" pitchFamily="34" charset="0"/>
                <a:cs typeface="Arial" panose="020B0604020202020204" pitchFamily="34" charset="0"/>
              </a:rPr>
              <a:t> </a:t>
            </a:r>
            <a:r>
              <a:rPr lang="pt-BR" altLang="pt-BR" sz="2000" b="1" dirty="0" err="1">
                <a:latin typeface="Arial" panose="020B0604020202020204" pitchFamily="34" charset="0"/>
                <a:cs typeface="Arial" panose="020B0604020202020204" pitchFamily="34" charset="0"/>
              </a:rPr>
              <a:t>Policy</a:t>
            </a:r>
            <a:r>
              <a:rPr lang="pt-BR" altLang="pt-BR" sz="2000" b="1" dirty="0">
                <a:latin typeface="Arial" panose="020B0604020202020204" pitchFamily="34" charset="0"/>
                <a:cs typeface="Arial" panose="020B0604020202020204" pitchFamily="34" charset="0"/>
              </a:rPr>
              <a:t>”- via ameaça militar (Comodoro Perry – 1854)</a:t>
            </a:r>
          </a:p>
        </p:txBody>
      </p:sp>
    </p:spTree>
    <p:extLst>
      <p:ext uri="{BB962C8B-B14F-4D97-AF65-F5344CB8AC3E}">
        <p14:creationId xmlns:p14="http://schemas.microsoft.com/office/powerpoint/2010/main" val="403552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464FEB13-8EBA-4025-91AE-A7D7370F22A3}"/>
              </a:ext>
            </a:extLst>
          </p:cNvPr>
          <p:cNvSpPr/>
          <p:nvPr/>
        </p:nvSpPr>
        <p:spPr>
          <a:xfrm>
            <a:off x="3658062" y="159577"/>
            <a:ext cx="6626942" cy="923330"/>
          </a:xfrm>
          <a:prstGeom prst="rect">
            <a:avLst/>
          </a:prstGeom>
        </p:spPr>
        <p:txBody>
          <a:bodyPr wrap="square">
            <a:spAutoFit/>
          </a:bodyPr>
          <a:lstStyle/>
          <a:p>
            <a:r>
              <a:rPr lang="pt-BR" b="1" dirty="0">
                <a:solidFill>
                  <a:srgbClr val="FF0000"/>
                </a:solidFill>
              </a:rPr>
              <a:t>Unificação Política (submissão dos </a:t>
            </a:r>
            <a:r>
              <a:rPr lang="pt-BR" b="1" dirty="0" err="1">
                <a:solidFill>
                  <a:srgbClr val="FF0000"/>
                </a:solidFill>
              </a:rPr>
              <a:t>Daimios</a:t>
            </a:r>
            <a:r>
              <a:rPr lang="pt-BR" b="1" dirty="0">
                <a:solidFill>
                  <a:srgbClr val="FF0000"/>
                </a:solidFill>
              </a:rPr>
              <a:t> ao poder do Imperador), programa de incorporação de tecnologias ocidentais via  exportação de estudantes para a Europa...</a:t>
            </a:r>
          </a:p>
        </p:txBody>
      </p:sp>
      <p:sp>
        <p:nvSpPr>
          <p:cNvPr id="3" name="Retângulo 2">
            <a:extLst>
              <a:ext uri="{FF2B5EF4-FFF2-40B4-BE49-F238E27FC236}">
                <a16:creationId xmlns:a16="http://schemas.microsoft.com/office/drawing/2014/main" id="{B6989764-0B32-44B8-A267-9B968DCC2CC8}"/>
              </a:ext>
            </a:extLst>
          </p:cNvPr>
          <p:cNvSpPr/>
          <p:nvPr/>
        </p:nvSpPr>
        <p:spPr>
          <a:xfrm>
            <a:off x="7580670" y="5398157"/>
            <a:ext cx="4488426" cy="646331"/>
          </a:xfrm>
          <a:prstGeom prst="rect">
            <a:avLst/>
          </a:prstGeom>
        </p:spPr>
        <p:txBody>
          <a:bodyPr wrap="square">
            <a:spAutoFit/>
          </a:bodyPr>
          <a:lstStyle/>
          <a:p>
            <a:r>
              <a:rPr lang="pt-BR" altLang="pt-BR" dirty="0"/>
              <a:t>Modernização industrial (</a:t>
            </a:r>
            <a:r>
              <a:rPr lang="pt-BR" altLang="pt-BR" dirty="0" err="1"/>
              <a:t>apoiada,em</a:t>
            </a:r>
            <a:r>
              <a:rPr lang="pt-BR" altLang="pt-BR" dirty="0"/>
              <a:t> certa escala ,pela Inglaterra)</a:t>
            </a:r>
          </a:p>
        </p:txBody>
      </p:sp>
      <p:sp>
        <p:nvSpPr>
          <p:cNvPr id="4" name="Retângulo 3">
            <a:extLst>
              <a:ext uri="{FF2B5EF4-FFF2-40B4-BE49-F238E27FC236}">
                <a16:creationId xmlns:a16="http://schemas.microsoft.com/office/drawing/2014/main" id="{3C2F3E17-EB73-41F1-AEBC-77936B7E6D40}"/>
              </a:ext>
            </a:extLst>
          </p:cNvPr>
          <p:cNvSpPr/>
          <p:nvPr/>
        </p:nvSpPr>
        <p:spPr>
          <a:xfrm>
            <a:off x="103884" y="4599614"/>
            <a:ext cx="6096000" cy="2215991"/>
          </a:xfrm>
          <a:prstGeom prst="rect">
            <a:avLst/>
          </a:prstGeom>
        </p:spPr>
        <p:txBody>
          <a:bodyPr>
            <a:spAutoFit/>
          </a:bodyPr>
          <a:lstStyle/>
          <a:p>
            <a:r>
              <a:rPr lang="pt-BR" dirty="0">
                <a:solidFill>
                  <a:srgbClr val="373737"/>
                </a:solidFill>
                <a:latin typeface="jaf-facitweb-1"/>
              </a:rPr>
              <a:t>“</a:t>
            </a:r>
            <a:r>
              <a:rPr lang="pt-BR" b="1" dirty="0">
                <a:solidFill>
                  <a:srgbClr val="0070C0"/>
                </a:solidFill>
                <a:latin typeface="jaf-facitweb-1"/>
              </a:rPr>
              <a:t>Para tirar o atraso histórico, técnicos japoneses foram enviados ao exterior para aprender com os europeus e norte-americanos. Isto implicou no desenvolvimento de um governo que encorajou a modernização diretamente através da construção da integração política, adotando o </a:t>
            </a:r>
            <a:r>
              <a:rPr lang="pt-BR" b="1" i="1" dirty="0">
                <a:solidFill>
                  <a:srgbClr val="0070C0"/>
                </a:solidFill>
                <a:latin typeface="inherit"/>
              </a:rPr>
              <a:t>nacionalismo</a:t>
            </a:r>
            <a:r>
              <a:rPr lang="pt-BR" b="1" dirty="0">
                <a:solidFill>
                  <a:srgbClr val="0070C0"/>
                </a:solidFill>
                <a:latin typeface="jaf-facitweb-1"/>
              </a:rPr>
              <a:t> e disseminando </a:t>
            </a:r>
            <a:r>
              <a:rPr lang="pt-BR" b="1" i="1" dirty="0">
                <a:solidFill>
                  <a:srgbClr val="0070C0"/>
                </a:solidFill>
                <a:latin typeface="inherit"/>
              </a:rPr>
              <a:t>benefícios</a:t>
            </a:r>
            <a:r>
              <a:rPr lang="pt-BR" b="1" dirty="0">
                <a:solidFill>
                  <a:srgbClr val="0070C0"/>
                </a:solidFill>
                <a:latin typeface="jaf-facitweb-1"/>
              </a:rPr>
              <a:t> </a:t>
            </a:r>
            <a:r>
              <a:rPr lang="pt-BR" b="1" i="1" dirty="0">
                <a:solidFill>
                  <a:srgbClr val="0070C0"/>
                </a:solidFill>
                <a:latin typeface="inherit"/>
              </a:rPr>
              <a:t>sociais</a:t>
            </a:r>
            <a:r>
              <a:rPr lang="pt-BR" b="1" dirty="0">
                <a:solidFill>
                  <a:srgbClr val="0070C0"/>
                </a:solidFill>
                <a:latin typeface="jaf-facitweb-1"/>
              </a:rPr>
              <a:t>, principalmente </a:t>
            </a:r>
            <a:r>
              <a:rPr lang="pt-BR" b="1" i="1" dirty="0">
                <a:solidFill>
                  <a:srgbClr val="0070C0"/>
                </a:solidFill>
                <a:latin typeface="inherit"/>
              </a:rPr>
              <a:t>educacionais</a:t>
            </a:r>
            <a:r>
              <a:rPr lang="pt-BR" b="1" dirty="0">
                <a:solidFill>
                  <a:srgbClr val="0070C0"/>
                </a:solidFill>
                <a:latin typeface="jaf-facitweb-1"/>
              </a:rPr>
              <a:t>, para a maior parte da população”</a:t>
            </a:r>
            <a:r>
              <a:rPr lang="pt-BR" dirty="0"/>
              <a:t> </a:t>
            </a:r>
            <a:r>
              <a:rPr lang="pt-BR" sz="1200" b="1" dirty="0"/>
              <a:t>Célia </a:t>
            </a:r>
            <a:r>
              <a:rPr lang="pt-BR" sz="1200" b="1" dirty="0" err="1"/>
              <a:t>Sakurai</a:t>
            </a:r>
            <a:r>
              <a:rPr lang="pt-BR" sz="1200" b="1" dirty="0"/>
              <a:t>, autora do livro </a:t>
            </a:r>
            <a:r>
              <a:rPr lang="pt-BR" sz="1200" b="1" i="1" dirty="0"/>
              <a:t>Os Japoneses</a:t>
            </a:r>
            <a:r>
              <a:rPr lang="pt-BR" sz="1200" b="1" dirty="0"/>
              <a:t> (Coleção “Povos e Civilizações”, publicado pela Editora Contexto em 2014)</a:t>
            </a:r>
          </a:p>
        </p:txBody>
      </p:sp>
      <p:sp>
        <p:nvSpPr>
          <p:cNvPr id="5" name="CaixaDeTexto 4">
            <a:extLst>
              <a:ext uri="{FF2B5EF4-FFF2-40B4-BE49-F238E27FC236}">
                <a16:creationId xmlns:a16="http://schemas.microsoft.com/office/drawing/2014/main" id="{0573F195-F4B6-44AA-947C-138BC8D7A22F}"/>
              </a:ext>
            </a:extLst>
          </p:cNvPr>
          <p:cNvSpPr txBox="1"/>
          <p:nvPr/>
        </p:nvSpPr>
        <p:spPr>
          <a:xfrm>
            <a:off x="4739794" y="1644615"/>
            <a:ext cx="2920181" cy="2308324"/>
          </a:xfrm>
          <a:prstGeom prst="rect">
            <a:avLst/>
          </a:prstGeom>
          <a:noFill/>
        </p:spPr>
        <p:txBody>
          <a:bodyPr wrap="square" rtlCol="0">
            <a:spAutoFit/>
          </a:bodyPr>
          <a:lstStyle/>
          <a:p>
            <a:r>
              <a:rPr lang="pt-BR" dirty="0"/>
              <a:t>Estado assume como promotor e indutor do processo de desenvolvimento econômico (Reforma Agrária, investimento estatal, parcerias, educação pública obrigatória...</a:t>
            </a:r>
          </a:p>
        </p:txBody>
      </p:sp>
      <p:sp>
        <p:nvSpPr>
          <p:cNvPr id="6" name="CaixaDeTexto 5">
            <a:extLst>
              <a:ext uri="{FF2B5EF4-FFF2-40B4-BE49-F238E27FC236}">
                <a16:creationId xmlns:a16="http://schemas.microsoft.com/office/drawing/2014/main" id="{1E442254-4436-46E8-84D5-FC5F7BC6CA85}"/>
              </a:ext>
            </a:extLst>
          </p:cNvPr>
          <p:cNvSpPr txBox="1"/>
          <p:nvPr/>
        </p:nvSpPr>
        <p:spPr>
          <a:xfrm>
            <a:off x="8340213" y="1078019"/>
            <a:ext cx="2969341" cy="369332"/>
          </a:xfrm>
          <a:prstGeom prst="rect">
            <a:avLst/>
          </a:prstGeom>
          <a:noFill/>
        </p:spPr>
        <p:txBody>
          <a:bodyPr wrap="square" rtlCol="0">
            <a:spAutoFit/>
          </a:bodyPr>
          <a:lstStyle/>
          <a:p>
            <a:r>
              <a:rPr lang="pt-BR" dirty="0"/>
              <a:t>Criação dos Zaibatsus</a:t>
            </a:r>
          </a:p>
        </p:txBody>
      </p:sp>
      <p:sp>
        <p:nvSpPr>
          <p:cNvPr id="9" name="Retângulo 8">
            <a:extLst>
              <a:ext uri="{FF2B5EF4-FFF2-40B4-BE49-F238E27FC236}">
                <a16:creationId xmlns:a16="http://schemas.microsoft.com/office/drawing/2014/main" id="{CF96484B-6BD8-47C7-B262-4F91F62D35F2}"/>
              </a:ext>
            </a:extLst>
          </p:cNvPr>
          <p:cNvSpPr/>
          <p:nvPr/>
        </p:nvSpPr>
        <p:spPr>
          <a:xfrm>
            <a:off x="8340213" y="1348536"/>
            <a:ext cx="3510117" cy="2585323"/>
          </a:xfrm>
          <a:prstGeom prst="rect">
            <a:avLst/>
          </a:prstGeom>
        </p:spPr>
        <p:txBody>
          <a:bodyPr wrap="square">
            <a:spAutoFit/>
          </a:bodyPr>
          <a:lstStyle/>
          <a:p>
            <a:pPr fontAlgn="base"/>
            <a:r>
              <a:rPr lang="pt-BR" b="1" i="0" dirty="0">
                <a:solidFill>
                  <a:srgbClr val="373737"/>
                </a:solidFill>
                <a:effectLst/>
                <a:latin typeface="inherit"/>
              </a:rPr>
              <a:t>Mitsui</a:t>
            </a:r>
            <a:r>
              <a:rPr lang="pt-BR" b="0" i="0" dirty="0">
                <a:solidFill>
                  <a:srgbClr val="373737"/>
                </a:solidFill>
                <a:effectLst/>
                <a:latin typeface="jaf-facitweb-1"/>
              </a:rPr>
              <a:t> </a:t>
            </a:r>
            <a:r>
              <a:rPr lang="pt-BR" dirty="0">
                <a:solidFill>
                  <a:srgbClr val="373737"/>
                </a:solidFill>
                <a:latin typeface="jaf-facitweb-1"/>
              </a:rPr>
              <a:t>, </a:t>
            </a:r>
            <a:r>
              <a:rPr lang="pt-BR" b="1" i="0" dirty="0" err="1">
                <a:solidFill>
                  <a:srgbClr val="373737"/>
                </a:solidFill>
                <a:effectLst/>
                <a:latin typeface="inherit"/>
              </a:rPr>
              <a:t>Misubishi,Yasuda</a:t>
            </a:r>
            <a:r>
              <a:rPr lang="pt-BR" b="0" i="0" dirty="0">
                <a:solidFill>
                  <a:srgbClr val="373737"/>
                </a:solidFill>
                <a:effectLst/>
                <a:latin typeface="jaf-facitweb-1"/>
              </a:rPr>
              <a:t>, </a:t>
            </a:r>
            <a:r>
              <a:rPr lang="pt-BR" b="1" i="0" dirty="0">
                <a:solidFill>
                  <a:srgbClr val="373737"/>
                </a:solidFill>
                <a:effectLst/>
                <a:latin typeface="inherit"/>
              </a:rPr>
              <a:t>Sumitomo</a:t>
            </a:r>
            <a:r>
              <a:rPr lang="pt-BR" b="0" i="0" dirty="0">
                <a:solidFill>
                  <a:srgbClr val="373737"/>
                </a:solidFill>
                <a:effectLst/>
                <a:latin typeface="jaf-facitweb-1"/>
              </a:rPr>
              <a:t> e </a:t>
            </a:r>
            <a:r>
              <a:rPr lang="pt-BR" b="1" i="0" dirty="0">
                <a:solidFill>
                  <a:srgbClr val="373737"/>
                </a:solidFill>
                <a:effectLst/>
                <a:latin typeface="inherit"/>
              </a:rPr>
              <a:t>Dai </a:t>
            </a:r>
            <a:r>
              <a:rPr lang="pt-BR" b="1" i="0" dirty="0" err="1">
                <a:solidFill>
                  <a:srgbClr val="373737"/>
                </a:solidFill>
                <a:effectLst/>
                <a:latin typeface="inherit"/>
              </a:rPr>
              <a:t>Ichi</a:t>
            </a:r>
            <a:r>
              <a:rPr lang="pt-BR" b="0" i="0" dirty="0">
                <a:solidFill>
                  <a:srgbClr val="373737"/>
                </a:solidFill>
                <a:effectLst/>
                <a:latin typeface="jaf-facitweb-1"/>
              </a:rPr>
              <a:t>. </a:t>
            </a:r>
            <a:r>
              <a:rPr lang="pt-BR" b="0" i="1" dirty="0">
                <a:solidFill>
                  <a:schemeClr val="accent1">
                    <a:lumMod val="75000"/>
                  </a:schemeClr>
                </a:solidFill>
                <a:effectLst/>
                <a:latin typeface="inherit"/>
              </a:rPr>
              <a:t>Liderados por membros da casta dos aristocratas e antigos “Samurais” </a:t>
            </a:r>
            <a:r>
              <a:rPr lang="pt-BR" i="1" dirty="0">
                <a:solidFill>
                  <a:schemeClr val="accent1">
                    <a:lumMod val="75000"/>
                  </a:schemeClr>
                </a:solidFill>
                <a:latin typeface="inherit"/>
              </a:rPr>
              <a:t>assumem o controle de várias </a:t>
            </a:r>
            <a:r>
              <a:rPr lang="pt-BR" b="0" i="1" dirty="0">
                <a:solidFill>
                  <a:schemeClr val="accent1">
                    <a:lumMod val="75000"/>
                  </a:schemeClr>
                </a:solidFill>
                <a:effectLst/>
                <a:latin typeface="inherit"/>
              </a:rPr>
              <a:t>atividades apoiadas pelo governo</a:t>
            </a:r>
            <a:r>
              <a:rPr lang="pt-BR" b="0" i="0" dirty="0">
                <a:solidFill>
                  <a:schemeClr val="accent1">
                    <a:lumMod val="75000"/>
                  </a:schemeClr>
                </a:solidFill>
                <a:effectLst/>
                <a:latin typeface="jaf-facitweb-1"/>
              </a:rPr>
              <a:t>: bancos, mineração, navegação para fins militares e comerciais, indústrias </a:t>
            </a:r>
            <a:r>
              <a:rPr lang="pt-BR" b="0" i="0" dirty="0" err="1">
                <a:solidFill>
                  <a:schemeClr val="accent1">
                    <a:lumMod val="75000"/>
                  </a:schemeClr>
                </a:solidFill>
                <a:effectLst/>
                <a:latin typeface="jaf-facitweb-1"/>
              </a:rPr>
              <a:t>têxteis</a:t>
            </a:r>
            <a:r>
              <a:rPr lang="pt-BR" dirty="0" err="1">
                <a:solidFill>
                  <a:srgbClr val="373737"/>
                </a:solidFill>
                <a:latin typeface="jaf-facitweb-1"/>
              </a:rPr>
              <a:t>,etc</a:t>
            </a:r>
            <a:endParaRPr lang="pt-BR" b="0" i="0" dirty="0">
              <a:solidFill>
                <a:srgbClr val="373737"/>
              </a:solidFill>
              <a:effectLst/>
              <a:latin typeface="jaf-facitweb-1"/>
            </a:endParaRPr>
          </a:p>
        </p:txBody>
      </p:sp>
      <p:pic>
        <p:nvPicPr>
          <p:cNvPr id="5126" name="Picture 6">
            <a:extLst>
              <a:ext uri="{FF2B5EF4-FFF2-40B4-BE49-F238E27FC236}">
                <a16:creationId xmlns:a16="http://schemas.microsoft.com/office/drawing/2014/main" id="{4E267387-7EE4-4443-B682-8633D3458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786" y="1595562"/>
            <a:ext cx="4109241" cy="2037640"/>
          </a:xfrm>
          <a:prstGeom prst="rect">
            <a:avLst/>
          </a:prstGeom>
          <a:noFill/>
          <a:extLst>
            <a:ext uri="{909E8E84-426E-40DD-AFC4-6F175D3DCCD1}">
              <a14:hiddenFill xmlns:a14="http://schemas.microsoft.com/office/drawing/2010/main">
                <a:solidFill>
                  <a:srgbClr val="FFFFFF"/>
                </a:solidFill>
              </a14:hiddenFill>
            </a:ext>
          </a:extLst>
        </p:spPr>
      </p:pic>
      <p:sp>
        <p:nvSpPr>
          <p:cNvPr id="10" name="Retângulo 9">
            <a:extLst>
              <a:ext uri="{FF2B5EF4-FFF2-40B4-BE49-F238E27FC236}">
                <a16:creationId xmlns:a16="http://schemas.microsoft.com/office/drawing/2014/main" id="{E7E3BC48-9940-41C7-87BF-F6B0E801C1FA}"/>
              </a:ext>
            </a:extLst>
          </p:cNvPr>
          <p:cNvSpPr/>
          <p:nvPr/>
        </p:nvSpPr>
        <p:spPr>
          <a:xfrm>
            <a:off x="422786" y="3560525"/>
            <a:ext cx="3834580" cy="507831"/>
          </a:xfrm>
          <a:prstGeom prst="rect">
            <a:avLst/>
          </a:prstGeom>
        </p:spPr>
        <p:txBody>
          <a:bodyPr wrap="square">
            <a:spAutoFit/>
          </a:bodyPr>
          <a:lstStyle/>
          <a:p>
            <a:r>
              <a:rPr lang="pt-BR" sz="900" dirty="0">
                <a:hlinkClick r:id="rId3"/>
              </a:rPr>
              <a:t>https://fernandonogueiracosta.wordpress.com/2016/03/28/era-meiji-1868-1912-no-japao-reformas-sociais</a:t>
            </a:r>
            <a:r>
              <a:rPr lang="pt-BR" dirty="0">
                <a:hlinkClick r:id="rId3"/>
              </a:rPr>
              <a:t>/</a:t>
            </a:r>
            <a:endParaRPr lang="pt-BR" dirty="0"/>
          </a:p>
        </p:txBody>
      </p:sp>
      <p:sp>
        <p:nvSpPr>
          <p:cNvPr id="11" name="CaixaDeTexto 10">
            <a:extLst>
              <a:ext uri="{FF2B5EF4-FFF2-40B4-BE49-F238E27FC236}">
                <a16:creationId xmlns:a16="http://schemas.microsoft.com/office/drawing/2014/main" id="{CB64965C-167C-4365-A4FB-8FB0D9671706}"/>
              </a:ext>
            </a:extLst>
          </p:cNvPr>
          <p:cNvSpPr txBox="1"/>
          <p:nvPr/>
        </p:nvSpPr>
        <p:spPr>
          <a:xfrm>
            <a:off x="6420464" y="4092898"/>
            <a:ext cx="4488426" cy="923330"/>
          </a:xfrm>
          <a:prstGeom prst="rect">
            <a:avLst/>
          </a:prstGeom>
          <a:noFill/>
        </p:spPr>
        <p:txBody>
          <a:bodyPr wrap="square" rtlCol="0">
            <a:spAutoFit/>
          </a:bodyPr>
          <a:lstStyle/>
          <a:p>
            <a:r>
              <a:rPr lang="pt-BR" dirty="0"/>
              <a:t>Uso de elementos tradicionais  como recurso estratégico...na valorização da disciplina , da ordem , do nacionalismo, etc.</a:t>
            </a:r>
          </a:p>
        </p:txBody>
      </p:sp>
      <p:cxnSp>
        <p:nvCxnSpPr>
          <p:cNvPr id="13" name="Conector de Seta Reta 12">
            <a:extLst>
              <a:ext uri="{FF2B5EF4-FFF2-40B4-BE49-F238E27FC236}">
                <a16:creationId xmlns:a16="http://schemas.microsoft.com/office/drawing/2014/main" id="{0B0B4102-5920-4844-955B-217BA07E7B45}"/>
              </a:ext>
            </a:extLst>
          </p:cNvPr>
          <p:cNvCxnSpPr/>
          <p:nvPr/>
        </p:nvCxnSpPr>
        <p:spPr>
          <a:xfrm>
            <a:off x="7413523" y="2202426"/>
            <a:ext cx="7767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3DD0CFF5-F2A3-4A46-8929-5DB09FA0468A}"/>
              </a:ext>
            </a:extLst>
          </p:cNvPr>
          <p:cNvCxnSpPr/>
          <p:nvPr/>
        </p:nvCxnSpPr>
        <p:spPr>
          <a:xfrm>
            <a:off x="5761703" y="3952939"/>
            <a:ext cx="438181" cy="3437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a:extLst>
              <a:ext uri="{FF2B5EF4-FFF2-40B4-BE49-F238E27FC236}">
                <a16:creationId xmlns:a16="http://schemas.microsoft.com/office/drawing/2014/main" id="{21E58EA7-CC30-4C26-B7A3-8B8D44AD4EA4}"/>
              </a:ext>
            </a:extLst>
          </p:cNvPr>
          <p:cNvCxnSpPr>
            <a:cxnSpLocks/>
          </p:cNvCxnSpPr>
          <p:nvPr/>
        </p:nvCxnSpPr>
        <p:spPr>
          <a:xfrm>
            <a:off x="7089058" y="5319252"/>
            <a:ext cx="508819" cy="471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tângulo 19">
            <a:extLst>
              <a:ext uri="{FF2B5EF4-FFF2-40B4-BE49-F238E27FC236}">
                <a16:creationId xmlns:a16="http://schemas.microsoft.com/office/drawing/2014/main" id="{29BC918F-F65D-4580-989B-9AF93391360A}"/>
              </a:ext>
            </a:extLst>
          </p:cNvPr>
          <p:cNvSpPr/>
          <p:nvPr/>
        </p:nvSpPr>
        <p:spPr>
          <a:xfrm>
            <a:off x="349690" y="159577"/>
            <a:ext cx="2969342" cy="954107"/>
          </a:xfrm>
          <a:prstGeom prst="rect">
            <a:avLst/>
          </a:prstGeom>
        </p:spPr>
        <p:txBody>
          <a:bodyPr wrap="square">
            <a:spAutoFit/>
          </a:bodyPr>
          <a:lstStyle/>
          <a:p>
            <a:r>
              <a:rPr lang="pt-BR" altLang="pt-BR" sz="2800" b="1" dirty="0">
                <a:solidFill>
                  <a:srgbClr val="FF0000"/>
                </a:solidFill>
                <a:latin typeface="Algerian" panose="04020705040A02060702" pitchFamily="82" charset="0"/>
                <a:cs typeface="Arial" panose="020B0604020202020204" pitchFamily="34" charset="0"/>
              </a:rPr>
              <a:t>Revolução </a:t>
            </a:r>
            <a:r>
              <a:rPr lang="pt-BR" altLang="pt-BR" sz="2800" b="1" dirty="0" err="1">
                <a:solidFill>
                  <a:srgbClr val="FF0000"/>
                </a:solidFill>
                <a:latin typeface="Algerian" panose="04020705040A02060702" pitchFamily="82" charset="0"/>
                <a:cs typeface="Arial" panose="020B0604020202020204" pitchFamily="34" charset="0"/>
              </a:rPr>
              <a:t>Meiji</a:t>
            </a:r>
            <a:r>
              <a:rPr lang="pt-BR" altLang="pt-BR" sz="2800" b="1" dirty="0">
                <a:solidFill>
                  <a:srgbClr val="FF0000"/>
                </a:solidFill>
                <a:latin typeface="Algerian" panose="04020705040A02060702" pitchFamily="82" charset="0"/>
                <a:cs typeface="Arial" panose="020B0604020202020204" pitchFamily="34" charset="0"/>
              </a:rPr>
              <a:t>  1868</a:t>
            </a:r>
          </a:p>
        </p:txBody>
      </p:sp>
      <p:cxnSp>
        <p:nvCxnSpPr>
          <p:cNvPr id="22" name="Conector de Seta Reta 21">
            <a:extLst>
              <a:ext uri="{FF2B5EF4-FFF2-40B4-BE49-F238E27FC236}">
                <a16:creationId xmlns:a16="http://schemas.microsoft.com/office/drawing/2014/main" id="{9410C6ED-537B-49ED-8F30-13346D8B063A}"/>
              </a:ext>
            </a:extLst>
          </p:cNvPr>
          <p:cNvCxnSpPr/>
          <p:nvPr/>
        </p:nvCxnSpPr>
        <p:spPr>
          <a:xfrm>
            <a:off x="2998839" y="621242"/>
            <a:ext cx="4719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a:extLst>
              <a:ext uri="{FF2B5EF4-FFF2-40B4-BE49-F238E27FC236}">
                <a16:creationId xmlns:a16="http://schemas.microsoft.com/office/drawing/2014/main" id="{05B57893-9494-42AF-B8D6-8D89191091EB}"/>
              </a:ext>
            </a:extLst>
          </p:cNvPr>
          <p:cNvCxnSpPr/>
          <p:nvPr/>
        </p:nvCxnSpPr>
        <p:spPr>
          <a:xfrm>
            <a:off x="2222090" y="1262685"/>
            <a:ext cx="117986" cy="261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1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58B1EEE0-4CDF-45DF-A992-9163DC93EF56}"/>
              </a:ext>
            </a:extLst>
          </p:cNvPr>
          <p:cNvSpPr/>
          <p:nvPr/>
        </p:nvSpPr>
        <p:spPr>
          <a:xfrm>
            <a:off x="726203" y="254475"/>
            <a:ext cx="3010055" cy="923330"/>
          </a:xfrm>
          <a:prstGeom prst="rect">
            <a:avLst/>
          </a:prstGeom>
        </p:spPr>
        <p:txBody>
          <a:bodyPr wrap="square">
            <a:spAutoFit/>
          </a:bodyPr>
          <a:lstStyle/>
          <a:p>
            <a:r>
              <a:rPr lang="pt-BR" altLang="pt-BR" b="1" dirty="0">
                <a:latin typeface="Arial" panose="020B0604020202020204" pitchFamily="34" charset="0"/>
                <a:cs typeface="Arial" panose="020B0604020202020204" pitchFamily="34" charset="0"/>
              </a:rPr>
              <a:t>MILITARIZAÇÃO E IMPERIALISMO REGIONAL </a:t>
            </a:r>
            <a:endParaRPr lang="pt-BR" altLang="pt-BR" dirty="0"/>
          </a:p>
        </p:txBody>
      </p:sp>
      <p:sp>
        <p:nvSpPr>
          <p:cNvPr id="4" name="Retângulo 3">
            <a:extLst>
              <a:ext uri="{FF2B5EF4-FFF2-40B4-BE49-F238E27FC236}">
                <a16:creationId xmlns:a16="http://schemas.microsoft.com/office/drawing/2014/main" id="{B5E2E37A-3E0A-49D3-8F7E-5F2B3E5222F7}"/>
              </a:ext>
            </a:extLst>
          </p:cNvPr>
          <p:cNvSpPr/>
          <p:nvPr/>
        </p:nvSpPr>
        <p:spPr>
          <a:xfrm>
            <a:off x="1029134" y="4919918"/>
            <a:ext cx="3972231" cy="369332"/>
          </a:xfrm>
          <a:prstGeom prst="rect">
            <a:avLst/>
          </a:prstGeom>
        </p:spPr>
        <p:txBody>
          <a:bodyPr wrap="square">
            <a:spAutoFit/>
          </a:bodyPr>
          <a:lstStyle/>
          <a:p>
            <a:r>
              <a:rPr lang="pt-BR" altLang="pt-BR" dirty="0"/>
              <a:t>...Ilhas </a:t>
            </a:r>
            <a:r>
              <a:rPr lang="pt-BR" altLang="pt-BR" dirty="0" err="1"/>
              <a:t>Kurilas</a:t>
            </a:r>
            <a:r>
              <a:rPr lang="pt-BR" altLang="pt-BR" dirty="0"/>
              <a:t>, </a:t>
            </a:r>
            <a:r>
              <a:rPr lang="pt-BR" altLang="pt-BR" dirty="0" err="1"/>
              <a:t>Sacalinas</a:t>
            </a:r>
            <a:r>
              <a:rPr lang="pt-BR" altLang="pt-BR" dirty="0"/>
              <a:t> e </a:t>
            </a:r>
            <a:r>
              <a:rPr lang="pt-BR" altLang="pt-BR" dirty="0" err="1"/>
              <a:t>Port</a:t>
            </a:r>
            <a:r>
              <a:rPr lang="pt-BR" altLang="pt-BR" dirty="0"/>
              <a:t> Arthur... </a:t>
            </a:r>
          </a:p>
        </p:txBody>
      </p:sp>
      <p:pic>
        <p:nvPicPr>
          <p:cNvPr id="3074" name="Picture 2">
            <a:extLst>
              <a:ext uri="{FF2B5EF4-FFF2-40B4-BE49-F238E27FC236}">
                <a16:creationId xmlns:a16="http://schemas.microsoft.com/office/drawing/2014/main" id="{EB70ABDB-837B-472A-B3E6-17D7FF10B2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8849" y="162721"/>
            <a:ext cx="2687488" cy="1952908"/>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DC5A7556-97A4-401C-ACEC-200B45B5D39E}"/>
              </a:ext>
            </a:extLst>
          </p:cNvPr>
          <p:cNvSpPr/>
          <p:nvPr/>
        </p:nvSpPr>
        <p:spPr>
          <a:xfrm>
            <a:off x="7511845" y="6418280"/>
            <a:ext cx="4283435" cy="276999"/>
          </a:xfrm>
          <a:prstGeom prst="rect">
            <a:avLst/>
          </a:prstGeom>
        </p:spPr>
        <p:txBody>
          <a:bodyPr wrap="square">
            <a:spAutoFit/>
          </a:bodyPr>
          <a:lstStyle/>
          <a:p>
            <a:r>
              <a:rPr lang="pt-BR" sz="1200" dirty="0">
                <a:hlinkClick r:id="rId3"/>
              </a:rPr>
              <a:t>https://pt.wikipedia.org/wiki/Batalha_de_Port_Arthur</a:t>
            </a:r>
            <a:endParaRPr lang="pt-BR" sz="1200" dirty="0"/>
          </a:p>
        </p:txBody>
      </p:sp>
      <p:sp>
        <p:nvSpPr>
          <p:cNvPr id="6" name="CaixaDeTexto 5">
            <a:extLst>
              <a:ext uri="{FF2B5EF4-FFF2-40B4-BE49-F238E27FC236}">
                <a16:creationId xmlns:a16="http://schemas.microsoft.com/office/drawing/2014/main" id="{E9D254FD-4AB2-47BD-9BA0-1AC27D49F32C}"/>
              </a:ext>
            </a:extLst>
          </p:cNvPr>
          <p:cNvSpPr txBox="1"/>
          <p:nvPr/>
        </p:nvSpPr>
        <p:spPr>
          <a:xfrm>
            <a:off x="726203" y="3985578"/>
            <a:ext cx="3018505" cy="923330"/>
          </a:xfrm>
          <a:prstGeom prst="rect">
            <a:avLst/>
          </a:prstGeom>
          <a:noFill/>
        </p:spPr>
        <p:txBody>
          <a:bodyPr wrap="square" rtlCol="0">
            <a:spAutoFit/>
          </a:bodyPr>
          <a:lstStyle/>
          <a:p>
            <a:r>
              <a:rPr lang="pt-BR" dirty="0"/>
              <a:t>Choques de imperialismos- Rússia vs. Japão disputando as...</a:t>
            </a:r>
          </a:p>
        </p:txBody>
      </p:sp>
      <p:sp>
        <p:nvSpPr>
          <p:cNvPr id="7" name="Retângulo 6">
            <a:extLst>
              <a:ext uri="{FF2B5EF4-FFF2-40B4-BE49-F238E27FC236}">
                <a16:creationId xmlns:a16="http://schemas.microsoft.com/office/drawing/2014/main" id="{B1E24147-1AA1-45BC-B1DF-757052846A54}"/>
              </a:ext>
            </a:extLst>
          </p:cNvPr>
          <p:cNvSpPr/>
          <p:nvPr/>
        </p:nvSpPr>
        <p:spPr>
          <a:xfrm>
            <a:off x="3701843" y="5530661"/>
            <a:ext cx="4227872" cy="461665"/>
          </a:xfrm>
          <a:prstGeom prst="rect">
            <a:avLst/>
          </a:prstGeom>
        </p:spPr>
        <p:txBody>
          <a:bodyPr wrap="square">
            <a:spAutoFit/>
          </a:bodyPr>
          <a:lstStyle/>
          <a:p>
            <a:r>
              <a:rPr lang="pt-BR" altLang="pt-BR" sz="2400" b="1" dirty="0"/>
              <a:t>1905 -  Guerra Russo Japonesa</a:t>
            </a:r>
            <a:endParaRPr lang="pt-BR" sz="2400" b="1" dirty="0"/>
          </a:p>
        </p:txBody>
      </p:sp>
      <p:pic>
        <p:nvPicPr>
          <p:cNvPr id="3076" name="Picture 4">
            <a:extLst>
              <a:ext uri="{FF2B5EF4-FFF2-40B4-BE49-F238E27FC236}">
                <a16:creationId xmlns:a16="http://schemas.microsoft.com/office/drawing/2014/main" id="{0AD2B63C-3BCD-47DF-A31D-CD484FAAAB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34516" y="2717617"/>
            <a:ext cx="3790961" cy="3459252"/>
          </a:xfrm>
          <a:prstGeom prst="rect">
            <a:avLst/>
          </a:prstGeom>
          <a:noFill/>
          <a:extLst>
            <a:ext uri="{909E8E84-426E-40DD-AFC4-6F175D3DCCD1}">
              <a14:hiddenFill xmlns:a14="http://schemas.microsoft.com/office/drawing/2010/main">
                <a:solidFill>
                  <a:srgbClr val="FFFFFF"/>
                </a:solidFill>
              </a14:hiddenFill>
            </a:ext>
          </a:extLst>
        </p:spPr>
      </p:pic>
      <p:sp>
        <p:nvSpPr>
          <p:cNvPr id="10" name="Retângulo 9">
            <a:extLst>
              <a:ext uri="{FF2B5EF4-FFF2-40B4-BE49-F238E27FC236}">
                <a16:creationId xmlns:a16="http://schemas.microsoft.com/office/drawing/2014/main" id="{060EF93D-7527-4A17-B95B-DC3728C2E49C}"/>
              </a:ext>
            </a:extLst>
          </p:cNvPr>
          <p:cNvSpPr/>
          <p:nvPr/>
        </p:nvSpPr>
        <p:spPr>
          <a:xfrm>
            <a:off x="979973" y="1931471"/>
            <a:ext cx="2440909" cy="646331"/>
          </a:xfrm>
          <a:prstGeom prst="rect">
            <a:avLst/>
          </a:prstGeom>
        </p:spPr>
        <p:txBody>
          <a:bodyPr wrap="square">
            <a:spAutoFit/>
          </a:bodyPr>
          <a:lstStyle/>
          <a:p>
            <a:r>
              <a:rPr lang="pt-BR" altLang="pt-BR" dirty="0"/>
              <a:t>ilhas do Pacífico, Coréia, territórios chineses)</a:t>
            </a:r>
            <a:endParaRPr lang="pt-BR" dirty="0"/>
          </a:p>
        </p:txBody>
      </p:sp>
      <p:sp>
        <p:nvSpPr>
          <p:cNvPr id="11" name="CaixaDeTexto 10">
            <a:extLst>
              <a:ext uri="{FF2B5EF4-FFF2-40B4-BE49-F238E27FC236}">
                <a16:creationId xmlns:a16="http://schemas.microsoft.com/office/drawing/2014/main" id="{5B8F25AB-7BA6-4241-A64C-D52C32DD7AFF}"/>
              </a:ext>
            </a:extLst>
          </p:cNvPr>
          <p:cNvSpPr txBox="1"/>
          <p:nvPr/>
        </p:nvSpPr>
        <p:spPr>
          <a:xfrm>
            <a:off x="1270870" y="1484630"/>
            <a:ext cx="1248697" cy="369332"/>
          </a:xfrm>
          <a:prstGeom prst="rect">
            <a:avLst/>
          </a:prstGeom>
          <a:noFill/>
        </p:spPr>
        <p:txBody>
          <a:bodyPr wrap="square" rtlCol="0">
            <a:spAutoFit/>
          </a:bodyPr>
          <a:lstStyle/>
          <a:p>
            <a:r>
              <a:rPr lang="pt-BR" dirty="0"/>
              <a:t>ALVOS</a:t>
            </a:r>
          </a:p>
        </p:txBody>
      </p:sp>
      <p:sp>
        <p:nvSpPr>
          <p:cNvPr id="13" name="AutoShape 8" descr="A era Meiji e a inserção à fase monopolista do imperialismo">
            <a:extLst>
              <a:ext uri="{FF2B5EF4-FFF2-40B4-BE49-F238E27FC236}">
                <a16:creationId xmlns:a16="http://schemas.microsoft.com/office/drawing/2014/main" id="{CA316272-7727-44D0-BD53-DAAF947CD82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15" name="Imagem 14">
            <a:extLst>
              <a:ext uri="{FF2B5EF4-FFF2-40B4-BE49-F238E27FC236}">
                <a16:creationId xmlns:a16="http://schemas.microsoft.com/office/drawing/2014/main" id="{7E5B6DD4-1431-44D4-AFE7-5D1624C6A1DE}"/>
              </a:ext>
            </a:extLst>
          </p:cNvPr>
          <p:cNvPicPr>
            <a:picLocks noChangeAspect="1"/>
          </p:cNvPicPr>
          <p:nvPr/>
        </p:nvPicPr>
        <p:blipFill>
          <a:blip r:embed="rId5"/>
          <a:stretch>
            <a:fillRect/>
          </a:stretch>
        </p:blipFill>
        <p:spPr>
          <a:xfrm>
            <a:off x="3868906" y="621397"/>
            <a:ext cx="3972231" cy="3789382"/>
          </a:xfrm>
          <a:prstGeom prst="rect">
            <a:avLst/>
          </a:prstGeom>
        </p:spPr>
      </p:pic>
      <p:sp>
        <p:nvSpPr>
          <p:cNvPr id="16" name="CaixaDeTexto 15">
            <a:extLst>
              <a:ext uri="{FF2B5EF4-FFF2-40B4-BE49-F238E27FC236}">
                <a16:creationId xmlns:a16="http://schemas.microsoft.com/office/drawing/2014/main" id="{E595CA75-F116-4CCA-B935-2EAC2F8D4F61}"/>
              </a:ext>
            </a:extLst>
          </p:cNvPr>
          <p:cNvSpPr txBox="1"/>
          <p:nvPr/>
        </p:nvSpPr>
        <p:spPr>
          <a:xfrm>
            <a:off x="8466317" y="2372370"/>
            <a:ext cx="3893574" cy="307777"/>
          </a:xfrm>
          <a:prstGeom prst="rect">
            <a:avLst/>
          </a:prstGeom>
          <a:noFill/>
        </p:spPr>
        <p:txBody>
          <a:bodyPr wrap="square" rtlCol="0">
            <a:spAutoFit/>
          </a:bodyPr>
          <a:lstStyle/>
          <a:p>
            <a:r>
              <a:rPr lang="pt-BR" sz="1400" b="1" dirty="0"/>
              <a:t>ÁREAS DE DISPUTA -  ENTRE JAPÃO E RÚSSIA</a:t>
            </a:r>
          </a:p>
        </p:txBody>
      </p:sp>
      <p:cxnSp>
        <p:nvCxnSpPr>
          <p:cNvPr id="18" name="Conector de Seta Reta 17">
            <a:extLst>
              <a:ext uri="{FF2B5EF4-FFF2-40B4-BE49-F238E27FC236}">
                <a16:creationId xmlns:a16="http://schemas.microsoft.com/office/drawing/2014/main" id="{8AEF5FB5-D8DA-4682-8F79-6F5F5E78A3C1}"/>
              </a:ext>
            </a:extLst>
          </p:cNvPr>
          <p:cNvCxnSpPr/>
          <p:nvPr/>
        </p:nvCxnSpPr>
        <p:spPr>
          <a:xfrm>
            <a:off x="1779639" y="2717617"/>
            <a:ext cx="0" cy="1116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285DB7C5-0453-4216-B3FD-7B8A00B4538F}"/>
              </a:ext>
            </a:extLst>
          </p:cNvPr>
          <p:cNvCxnSpPr/>
          <p:nvPr/>
        </p:nvCxnSpPr>
        <p:spPr>
          <a:xfrm>
            <a:off x="1592826" y="4699819"/>
            <a:ext cx="137651" cy="209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21">
            <a:extLst>
              <a:ext uri="{FF2B5EF4-FFF2-40B4-BE49-F238E27FC236}">
                <a16:creationId xmlns:a16="http://schemas.microsoft.com/office/drawing/2014/main" id="{BB935385-EA94-4504-A771-73789A052DDB}"/>
              </a:ext>
            </a:extLst>
          </p:cNvPr>
          <p:cNvCxnSpPr>
            <a:endCxn id="7" idx="1"/>
          </p:cNvCxnSpPr>
          <p:nvPr/>
        </p:nvCxnSpPr>
        <p:spPr>
          <a:xfrm>
            <a:off x="2939845" y="5418047"/>
            <a:ext cx="761998" cy="343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a:extLst>
              <a:ext uri="{FF2B5EF4-FFF2-40B4-BE49-F238E27FC236}">
                <a16:creationId xmlns:a16="http://schemas.microsoft.com/office/drawing/2014/main" id="{73ED48DF-D8AB-4C29-9D35-A83BBFB91B00}"/>
              </a:ext>
            </a:extLst>
          </p:cNvPr>
          <p:cNvCxnSpPr/>
          <p:nvPr/>
        </p:nvCxnSpPr>
        <p:spPr>
          <a:xfrm flipV="1">
            <a:off x="6322142" y="4919918"/>
            <a:ext cx="1681316" cy="610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25">
            <a:extLst>
              <a:ext uri="{FF2B5EF4-FFF2-40B4-BE49-F238E27FC236}">
                <a16:creationId xmlns:a16="http://schemas.microsoft.com/office/drawing/2014/main" id="{09334E77-4FDA-47C8-92F1-DDCE19EA0C56}"/>
              </a:ext>
            </a:extLst>
          </p:cNvPr>
          <p:cNvCxnSpPr/>
          <p:nvPr/>
        </p:nvCxnSpPr>
        <p:spPr>
          <a:xfrm>
            <a:off x="7929715" y="1931471"/>
            <a:ext cx="536602" cy="440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4742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S32P01">
            <a:extLst>
              <a:ext uri="{FF2B5EF4-FFF2-40B4-BE49-F238E27FC236}">
                <a16:creationId xmlns:a16="http://schemas.microsoft.com/office/drawing/2014/main" id="{F4C6C31B-9AFA-4113-B343-1E4ADE81D6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7760" y="314436"/>
            <a:ext cx="8304405" cy="6229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aixaDeTexto 3">
            <a:extLst>
              <a:ext uri="{FF2B5EF4-FFF2-40B4-BE49-F238E27FC236}">
                <a16:creationId xmlns:a16="http://schemas.microsoft.com/office/drawing/2014/main" id="{2FC51ECD-7429-4A49-9018-008504C2CA44}"/>
              </a:ext>
            </a:extLst>
          </p:cNvPr>
          <p:cNvSpPr txBox="1"/>
          <p:nvPr/>
        </p:nvSpPr>
        <p:spPr>
          <a:xfrm>
            <a:off x="685800" y="2806839"/>
            <a:ext cx="1737976" cy="707886"/>
          </a:xfrm>
          <a:prstGeom prst="rect">
            <a:avLst/>
          </a:prstGeom>
          <a:noFill/>
        </p:spPr>
        <p:txBody>
          <a:bodyPr wrap="none" rtlCol="0">
            <a:spAutoFit/>
          </a:bodyPr>
          <a:lstStyle/>
          <a:p>
            <a:r>
              <a:rPr lang="pt-BR" sz="4000" b="1" dirty="0">
                <a:solidFill>
                  <a:srgbClr val="FF0000"/>
                </a:solidFill>
              </a:rPr>
              <a:t>ÁFRICA</a:t>
            </a:r>
          </a:p>
        </p:txBody>
      </p:sp>
    </p:spTree>
    <p:extLst>
      <p:ext uri="{BB962C8B-B14F-4D97-AF65-F5344CB8AC3E}">
        <p14:creationId xmlns:p14="http://schemas.microsoft.com/office/powerpoint/2010/main" val="26052899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D855A0C9-DA25-4A5E-9E17-7A5B3DBAE071}"/>
              </a:ext>
            </a:extLst>
          </p:cNvPr>
          <p:cNvSpPr/>
          <p:nvPr/>
        </p:nvSpPr>
        <p:spPr>
          <a:xfrm>
            <a:off x="3046924" y="604631"/>
            <a:ext cx="3759754" cy="1754326"/>
          </a:xfrm>
          <a:prstGeom prst="rect">
            <a:avLst/>
          </a:prstGeom>
        </p:spPr>
        <p:txBody>
          <a:bodyPr wrap="square">
            <a:spAutoFit/>
          </a:bodyPr>
          <a:lstStyle/>
          <a:p>
            <a:r>
              <a:rPr lang="pt-BR" altLang="pt-BR" b="1" dirty="0">
                <a:solidFill>
                  <a:schemeClr val="accent1">
                    <a:lumMod val="75000"/>
                  </a:schemeClr>
                </a:solidFill>
                <a:latin typeface="Arial Black" panose="020B0A04020102020204" pitchFamily="34" charset="0"/>
              </a:rPr>
              <a:t>Na época moderna (século XV/XVIII) alvo do mercantilismo europeu (feitorias litorâneas, tráfico mercantil, tráfico de escravos, </a:t>
            </a:r>
            <a:r>
              <a:rPr lang="pt-BR" altLang="pt-BR" b="1" dirty="0" err="1">
                <a:solidFill>
                  <a:schemeClr val="accent1">
                    <a:lumMod val="75000"/>
                  </a:schemeClr>
                </a:solidFill>
                <a:latin typeface="Arial Black" panose="020B0A04020102020204" pitchFamily="34" charset="0"/>
              </a:rPr>
              <a:t>etc</a:t>
            </a:r>
            <a:r>
              <a:rPr lang="pt-BR" altLang="pt-BR" b="1" dirty="0">
                <a:solidFill>
                  <a:schemeClr val="accent1">
                    <a:lumMod val="75000"/>
                  </a:schemeClr>
                </a:solidFill>
                <a:latin typeface="Arial Black" panose="020B0A04020102020204" pitchFamily="34" charset="0"/>
              </a:rPr>
              <a:t>)</a:t>
            </a:r>
          </a:p>
        </p:txBody>
      </p:sp>
      <p:pic>
        <p:nvPicPr>
          <p:cNvPr id="1026" name="Picture 2" descr="O tráfico negreiro e a escravidão no Brasil colonial">
            <a:extLst>
              <a:ext uri="{FF2B5EF4-FFF2-40B4-BE49-F238E27FC236}">
                <a16:creationId xmlns:a16="http://schemas.microsoft.com/office/drawing/2014/main" id="{968566C3-6C98-47F2-A719-3662244E41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6678" y="1481794"/>
            <a:ext cx="5244564" cy="453800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BF5E75E-F311-4FFF-9A93-16F9B1F767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683" y="707437"/>
            <a:ext cx="2381250" cy="1924050"/>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0F60B232-6C7F-48FB-BC9C-07C4FC61C8AD}"/>
              </a:ext>
            </a:extLst>
          </p:cNvPr>
          <p:cNvSpPr/>
          <p:nvPr/>
        </p:nvSpPr>
        <p:spPr>
          <a:xfrm>
            <a:off x="383370" y="2631487"/>
            <a:ext cx="2453873" cy="430887"/>
          </a:xfrm>
          <a:prstGeom prst="rect">
            <a:avLst/>
          </a:prstGeom>
        </p:spPr>
        <p:txBody>
          <a:bodyPr wrap="square">
            <a:spAutoFit/>
          </a:bodyPr>
          <a:lstStyle/>
          <a:p>
            <a:r>
              <a:rPr lang="pt-BR" sz="1100" dirty="0">
                <a:hlinkClick r:id="rId4"/>
              </a:rPr>
              <a:t>https://cprepmauss.com.br/ud-viii-africa-das-feitorias/feitoria/</a:t>
            </a:r>
            <a:endParaRPr lang="pt-BR" sz="1100" dirty="0"/>
          </a:p>
        </p:txBody>
      </p:sp>
      <p:pic>
        <p:nvPicPr>
          <p:cNvPr id="1030" name="Picture 6" descr="São Jorge da Mina - Rui Pires">
            <a:extLst>
              <a:ext uri="{FF2B5EF4-FFF2-40B4-BE49-F238E27FC236}">
                <a16:creationId xmlns:a16="http://schemas.microsoft.com/office/drawing/2014/main" id="{D837DCBD-DC5D-4651-8C98-7549B53DAD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4374" y="3150354"/>
            <a:ext cx="3937466" cy="2810366"/>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5">
            <a:extLst>
              <a:ext uri="{FF2B5EF4-FFF2-40B4-BE49-F238E27FC236}">
                <a16:creationId xmlns:a16="http://schemas.microsoft.com/office/drawing/2014/main" id="{934CF5DE-A60F-4EE2-921B-7028E9F33DD0}"/>
              </a:ext>
            </a:extLst>
          </p:cNvPr>
          <p:cNvSpPr/>
          <p:nvPr/>
        </p:nvSpPr>
        <p:spPr>
          <a:xfrm>
            <a:off x="2282771" y="6150563"/>
            <a:ext cx="3392107" cy="738664"/>
          </a:xfrm>
          <a:prstGeom prst="rect">
            <a:avLst/>
          </a:prstGeom>
        </p:spPr>
        <p:txBody>
          <a:bodyPr wrap="square">
            <a:spAutoFit/>
          </a:bodyPr>
          <a:lstStyle/>
          <a:p>
            <a:r>
              <a:rPr lang="pt-BR" sz="1200" dirty="0">
                <a:hlinkClick r:id="rId6"/>
              </a:rPr>
              <a:t>https://www.ruipires-photography.com/PORTUGAL-HERITAGE/Sao-Jorge-da-Mina</a:t>
            </a:r>
            <a:r>
              <a:rPr lang="pt-BR" dirty="0">
                <a:hlinkClick r:id="rId6"/>
              </a:rPr>
              <a:t>/</a:t>
            </a:r>
            <a:endParaRPr lang="pt-BR" dirty="0"/>
          </a:p>
        </p:txBody>
      </p:sp>
      <p:sp>
        <p:nvSpPr>
          <p:cNvPr id="7" name="CaixaDeTexto 6">
            <a:extLst>
              <a:ext uri="{FF2B5EF4-FFF2-40B4-BE49-F238E27FC236}">
                <a16:creationId xmlns:a16="http://schemas.microsoft.com/office/drawing/2014/main" id="{954C9471-7FA1-4EB2-AF98-5F7AB2710AB3}"/>
              </a:ext>
            </a:extLst>
          </p:cNvPr>
          <p:cNvSpPr txBox="1"/>
          <p:nvPr/>
        </p:nvSpPr>
        <p:spPr>
          <a:xfrm>
            <a:off x="610869" y="148262"/>
            <a:ext cx="1283505" cy="369332"/>
          </a:xfrm>
          <a:prstGeom prst="rect">
            <a:avLst/>
          </a:prstGeom>
          <a:noFill/>
        </p:spPr>
        <p:txBody>
          <a:bodyPr wrap="square" rtlCol="0">
            <a:spAutoFit/>
          </a:bodyPr>
          <a:lstStyle/>
          <a:p>
            <a:r>
              <a:rPr lang="pt-BR" dirty="0">
                <a:solidFill>
                  <a:schemeClr val="accent1">
                    <a:lumMod val="75000"/>
                  </a:schemeClr>
                </a:solidFill>
              </a:rPr>
              <a:t>(ÁFRICA)</a:t>
            </a:r>
          </a:p>
        </p:txBody>
      </p:sp>
    </p:spTree>
    <p:extLst>
      <p:ext uri="{BB962C8B-B14F-4D97-AF65-F5344CB8AC3E}">
        <p14:creationId xmlns:p14="http://schemas.microsoft.com/office/powerpoint/2010/main" val="13269369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Charge francesa">
            <a:extLst>
              <a:ext uri="{FF2B5EF4-FFF2-40B4-BE49-F238E27FC236}">
                <a16:creationId xmlns:a16="http://schemas.microsoft.com/office/drawing/2014/main" id="{66888005-93CA-4D6F-BF0B-A3A1251169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4" y="333970"/>
            <a:ext cx="2886075" cy="2886075"/>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a:extLst>
              <a:ext uri="{FF2B5EF4-FFF2-40B4-BE49-F238E27FC236}">
                <a16:creationId xmlns:a16="http://schemas.microsoft.com/office/drawing/2014/main" id="{CEEA48CB-83F7-470F-959E-1A64FBE1DEFE}"/>
              </a:ext>
            </a:extLst>
          </p:cNvPr>
          <p:cNvSpPr/>
          <p:nvPr/>
        </p:nvSpPr>
        <p:spPr>
          <a:xfrm>
            <a:off x="561975" y="3220045"/>
            <a:ext cx="2314575" cy="553998"/>
          </a:xfrm>
          <a:prstGeom prst="rect">
            <a:avLst/>
          </a:prstGeom>
        </p:spPr>
        <p:txBody>
          <a:bodyPr wrap="square">
            <a:spAutoFit/>
          </a:bodyPr>
          <a:lstStyle/>
          <a:p>
            <a:r>
              <a:rPr lang="pt-BR" sz="1000" dirty="0">
                <a:hlinkClick r:id="rId3"/>
              </a:rPr>
              <a:t>https://ensinarhistoriajoelza.com.br/linha-do-tempo/encerrada-a-conferencia-de-berlim-sobre-a-africa/</a:t>
            </a:r>
            <a:endParaRPr lang="pt-BR" sz="1000" dirty="0"/>
          </a:p>
        </p:txBody>
      </p:sp>
      <p:sp>
        <p:nvSpPr>
          <p:cNvPr id="5" name="Retângulo 4">
            <a:extLst>
              <a:ext uri="{FF2B5EF4-FFF2-40B4-BE49-F238E27FC236}">
                <a16:creationId xmlns:a16="http://schemas.microsoft.com/office/drawing/2014/main" id="{72A65BA7-A206-4A93-AE5C-34079DAC6ED3}"/>
              </a:ext>
            </a:extLst>
          </p:cNvPr>
          <p:cNvSpPr/>
          <p:nvPr/>
        </p:nvSpPr>
        <p:spPr>
          <a:xfrm>
            <a:off x="1951979" y="6339364"/>
            <a:ext cx="352982" cy="369332"/>
          </a:xfrm>
          <a:prstGeom prst="rect">
            <a:avLst/>
          </a:prstGeom>
        </p:spPr>
        <p:txBody>
          <a:bodyPr wrap="none">
            <a:spAutoFit/>
          </a:bodyPr>
          <a:lstStyle/>
          <a:p>
            <a:r>
              <a:rPr lang="pt-BR" altLang="pt-BR" dirty="0"/>
              <a:t>– </a:t>
            </a:r>
            <a:endParaRPr lang="pt-BR" dirty="0"/>
          </a:p>
        </p:txBody>
      </p:sp>
      <p:sp>
        <p:nvSpPr>
          <p:cNvPr id="6" name="Retângulo 5">
            <a:extLst>
              <a:ext uri="{FF2B5EF4-FFF2-40B4-BE49-F238E27FC236}">
                <a16:creationId xmlns:a16="http://schemas.microsoft.com/office/drawing/2014/main" id="{CB8D2480-AC3F-4CD6-A0F3-C4ACF3838D18}"/>
              </a:ext>
            </a:extLst>
          </p:cNvPr>
          <p:cNvSpPr/>
          <p:nvPr/>
        </p:nvSpPr>
        <p:spPr>
          <a:xfrm>
            <a:off x="4346052" y="2166998"/>
            <a:ext cx="5869877" cy="523220"/>
          </a:xfrm>
          <a:prstGeom prst="rect">
            <a:avLst/>
          </a:prstGeom>
        </p:spPr>
        <p:txBody>
          <a:bodyPr wrap="none">
            <a:spAutoFit/>
          </a:bodyPr>
          <a:lstStyle/>
          <a:p>
            <a:r>
              <a:rPr lang="pt-BR" altLang="pt-BR" sz="2800" dirty="0">
                <a:latin typeface="Arial Black" panose="020B0A04020102020204" pitchFamily="34" charset="0"/>
              </a:rPr>
              <a:t>Conferência de Berlim - 1885</a:t>
            </a:r>
            <a:endParaRPr lang="pt-BR" sz="2800" dirty="0">
              <a:latin typeface="Arial Black" panose="020B0A04020102020204" pitchFamily="34" charset="0"/>
            </a:endParaRPr>
          </a:p>
        </p:txBody>
      </p:sp>
      <p:sp>
        <p:nvSpPr>
          <p:cNvPr id="7" name="Retângulo 6">
            <a:extLst>
              <a:ext uri="{FF2B5EF4-FFF2-40B4-BE49-F238E27FC236}">
                <a16:creationId xmlns:a16="http://schemas.microsoft.com/office/drawing/2014/main" id="{89B20A2C-546E-449F-B06C-ACD7DACC98F4}"/>
              </a:ext>
            </a:extLst>
          </p:cNvPr>
          <p:cNvSpPr/>
          <p:nvPr/>
        </p:nvSpPr>
        <p:spPr>
          <a:xfrm>
            <a:off x="280341" y="3984873"/>
            <a:ext cx="3343275" cy="2539157"/>
          </a:xfrm>
          <a:prstGeom prst="rect">
            <a:avLst/>
          </a:prstGeom>
        </p:spPr>
        <p:txBody>
          <a:bodyPr wrap="square">
            <a:spAutoFit/>
          </a:bodyPr>
          <a:lstStyle/>
          <a:p>
            <a:r>
              <a:rPr lang="pt-BR" sz="1400" b="1" dirty="0">
                <a:latin typeface="Oxygen"/>
              </a:rPr>
              <a:t>“Se na época da conferência, cerca de 80% da África estava sob controle de populações nativas tradicionais tendo apenas as áreas costeiras colonizadas por europeus, em 1902, a situação era outra: o interior do continente passara para o domínio europeu o que significava que 90% das terras africanas foram apossadas pelas nações europeias.” </a:t>
            </a:r>
            <a:r>
              <a:rPr lang="pt-BR" sz="1100" dirty="0">
                <a:solidFill>
                  <a:srgbClr val="000000"/>
                </a:solidFill>
                <a:latin typeface="Oxygen"/>
              </a:rPr>
              <a:t>https://ensinarhistoriajoelza.com.br/a-conferencia-de-berlim-e-o-destino-da-africa/ - Blog: Ensinar História - </a:t>
            </a:r>
            <a:r>
              <a:rPr lang="pt-BR" sz="1100" dirty="0" err="1">
                <a:solidFill>
                  <a:srgbClr val="000000"/>
                </a:solidFill>
                <a:latin typeface="Oxygen"/>
              </a:rPr>
              <a:t>Joelza</a:t>
            </a:r>
            <a:r>
              <a:rPr lang="pt-BR" sz="1100" dirty="0">
                <a:solidFill>
                  <a:srgbClr val="000000"/>
                </a:solidFill>
                <a:latin typeface="Oxygen"/>
              </a:rPr>
              <a:t> Ester Domingues</a:t>
            </a:r>
            <a:endParaRPr lang="pt-BR" sz="1100" dirty="0"/>
          </a:p>
        </p:txBody>
      </p:sp>
      <p:sp>
        <p:nvSpPr>
          <p:cNvPr id="8" name="CaixaDeTexto 7">
            <a:extLst>
              <a:ext uri="{FF2B5EF4-FFF2-40B4-BE49-F238E27FC236}">
                <a16:creationId xmlns:a16="http://schemas.microsoft.com/office/drawing/2014/main" id="{CEAD7715-C037-4F6B-A893-3EF8D05401F9}"/>
              </a:ext>
            </a:extLst>
          </p:cNvPr>
          <p:cNvSpPr txBox="1"/>
          <p:nvPr/>
        </p:nvSpPr>
        <p:spPr>
          <a:xfrm>
            <a:off x="4218231" y="581493"/>
            <a:ext cx="6514887" cy="523220"/>
          </a:xfrm>
          <a:prstGeom prst="rect">
            <a:avLst/>
          </a:prstGeom>
          <a:noFill/>
        </p:spPr>
        <p:txBody>
          <a:bodyPr wrap="square" rtlCol="0">
            <a:spAutoFit/>
          </a:bodyPr>
          <a:lstStyle/>
          <a:p>
            <a:r>
              <a:rPr lang="pt-BR" sz="2800" dirty="0"/>
              <a:t>A PARTILHA ‘NEGOCIADA’ NO SÉCULO XIX</a:t>
            </a:r>
          </a:p>
        </p:txBody>
      </p:sp>
      <p:sp>
        <p:nvSpPr>
          <p:cNvPr id="9" name="Retângulo 8">
            <a:extLst>
              <a:ext uri="{FF2B5EF4-FFF2-40B4-BE49-F238E27FC236}">
                <a16:creationId xmlns:a16="http://schemas.microsoft.com/office/drawing/2014/main" id="{8C8CF9A9-41CD-4138-81F9-477D2CA75324}"/>
              </a:ext>
            </a:extLst>
          </p:cNvPr>
          <p:cNvSpPr/>
          <p:nvPr/>
        </p:nvSpPr>
        <p:spPr>
          <a:xfrm>
            <a:off x="4015435" y="3337918"/>
            <a:ext cx="7896224" cy="3693319"/>
          </a:xfrm>
          <a:prstGeom prst="rect">
            <a:avLst/>
          </a:prstGeom>
        </p:spPr>
        <p:txBody>
          <a:bodyPr wrap="square">
            <a:spAutoFit/>
          </a:bodyPr>
          <a:lstStyle/>
          <a:p>
            <a:r>
              <a:rPr lang="pt-BR" b="1" dirty="0">
                <a:solidFill>
                  <a:srgbClr val="002060"/>
                </a:solidFill>
                <a:latin typeface="Oxygen"/>
              </a:rPr>
              <a:t>Algumas disposições:</a:t>
            </a:r>
          </a:p>
          <a:p>
            <a:r>
              <a:rPr lang="pt-BR" b="1" dirty="0">
                <a:solidFill>
                  <a:srgbClr val="002060"/>
                </a:solidFill>
                <a:latin typeface="Oxygen"/>
              </a:rPr>
              <a:t> </a:t>
            </a:r>
            <a:r>
              <a:rPr lang="pt-BR" b="1" u="sng" dirty="0">
                <a:solidFill>
                  <a:srgbClr val="002060"/>
                </a:solidFill>
                <a:latin typeface="Oxygen"/>
              </a:rPr>
              <a:t>- Liberdade de comércio</a:t>
            </a:r>
            <a:r>
              <a:rPr lang="pt-BR" b="1" dirty="0">
                <a:solidFill>
                  <a:srgbClr val="002060"/>
                </a:solidFill>
                <a:latin typeface="Oxygen"/>
              </a:rPr>
              <a:t> na bacia do Congo, suas embocaduras e regiões circunvizinhas. </a:t>
            </a:r>
          </a:p>
          <a:p>
            <a:r>
              <a:rPr lang="pt-BR" b="1" dirty="0">
                <a:solidFill>
                  <a:srgbClr val="002060"/>
                </a:solidFill>
                <a:latin typeface="Oxygen"/>
              </a:rPr>
              <a:t>- </a:t>
            </a:r>
            <a:r>
              <a:rPr lang="pt-BR" b="1" u="sng" dirty="0">
                <a:solidFill>
                  <a:srgbClr val="002060"/>
                </a:solidFill>
                <a:latin typeface="Oxygen"/>
              </a:rPr>
              <a:t>Liberdade de navegação nos rios Níger e Congo</a:t>
            </a:r>
            <a:r>
              <a:rPr lang="pt-BR" b="1" dirty="0">
                <a:solidFill>
                  <a:srgbClr val="002060"/>
                </a:solidFill>
                <a:latin typeface="Oxygen"/>
              </a:rPr>
              <a:t>, os principais rios africanos.</a:t>
            </a:r>
          </a:p>
          <a:p>
            <a:r>
              <a:rPr lang="pt-BR" b="1" dirty="0">
                <a:solidFill>
                  <a:srgbClr val="002060"/>
                </a:solidFill>
                <a:latin typeface="Oxygen"/>
              </a:rPr>
              <a:t> - </a:t>
            </a:r>
            <a:r>
              <a:rPr lang="pt-BR" b="1" u="sng" dirty="0">
                <a:solidFill>
                  <a:srgbClr val="002060"/>
                </a:solidFill>
                <a:latin typeface="Oxygen"/>
              </a:rPr>
              <a:t>Proibição do tráfico de escravos </a:t>
            </a:r>
            <a:r>
              <a:rPr lang="pt-BR" b="1" dirty="0">
                <a:solidFill>
                  <a:srgbClr val="002060"/>
                </a:solidFill>
                <a:latin typeface="Oxygen"/>
              </a:rPr>
              <a:t>e </a:t>
            </a:r>
            <a:r>
              <a:rPr lang="pt-BR" b="1" u="sng" dirty="0">
                <a:solidFill>
                  <a:srgbClr val="002060"/>
                </a:solidFill>
                <a:latin typeface="Oxygen"/>
              </a:rPr>
              <a:t>do comércio </a:t>
            </a:r>
            <a:r>
              <a:rPr lang="pt-BR" b="1" dirty="0">
                <a:solidFill>
                  <a:srgbClr val="002060"/>
                </a:solidFill>
                <a:latin typeface="Oxygen"/>
              </a:rPr>
              <a:t>de álcool e </a:t>
            </a:r>
            <a:r>
              <a:rPr lang="pt-BR" b="1" u="sng" dirty="0">
                <a:solidFill>
                  <a:srgbClr val="002060"/>
                </a:solidFill>
                <a:latin typeface="Oxygen"/>
              </a:rPr>
              <a:t>de armas de fogo entre as populações nativas. </a:t>
            </a:r>
          </a:p>
          <a:p>
            <a:r>
              <a:rPr lang="pt-BR" b="1" dirty="0">
                <a:solidFill>
                  <a:srgbClr val="002060"/>
                </a:solidFill>
                <a:latin typeface="Oxygen"/>
              </a:rPr>
              <a:t>-</a:t>
            </a:r>
            <a:r>
              <a:rPr lang="pt-BR" b="1" u="sng" dirty="0">
                <a:solidFill>
                  <a:srgbClr val="002060"/>
                </a:solidFill>
                <a:latin typeface="Oxygen"/>
              </a:rPr>
              <a:t>Definição de regiões em que cada potência europeia tinha o direito exclusivo de exercer a propriedade legal da terra</a:t>
            </a:r>
            <a:r>
              <a:rPr lang="pt-BR" b="1" dirty="0">
                <a:solidFill>
                  <a:srgbClr val="002060"/>
                </a:solidFill>
                <a:latin typeface="Oxygen"/>
              </a:rPr>
              <a:t>. </a:t>
            </a:r>
          </a:p>
          <a:p>
            <a:r>
              <a:rPr lang="pt-BR" b="1" dirty="0">
                <a:solidFill>
                  <a:srgbClr val="002060"/>
                </a:solidFill>
                <a:latin typeface="Oxygen"/>
              </a:rPr>
              <a:t>-Confirmação como propriedade privada de Leopoldo II, rei da Bélgica, de um vasto território no coração da África subsaariana, que passou a ser chamado de “Estado Livre do Congo”.</a:t>
            </a:r>
            <a:br>
              <a:rPr lang="pt-BR" b="1" dirty="0">
                <a:solidFill>
                  <a:srgbClr val="002060"/>
                </a:solidFill>
              </a:rPr>
            </a:br>
            <a:br>
              <a:rPr lang="pt-BR" dirty="0"/>
            </a:br>
            <a:endParaRPr lang="pt-BR" dirty="0"/>
          </a:p>
        </p:txBody>
      </p:sp>
      <p:sp>
        <p:nvSpPr>
          <p:cNvPr id="10" name="Seta: para Baixo 9">
            <a:extLst>
              <a:ext uri="{FF2B5EF4-FFF2-40B4-BE49-F238E27FC236}">
                <a16:creationId xmlns:a16="http://schemas.microsoft.com/office/drawing/2014/main" id="{30798604-7C40-49A1-9238-25A70148D17A}"/>
              </a:ext>
            </a:extLst>
          </p:cNvPr>
          <p:cNvSpPr/>
          <p:nvPr/>
        </p:nvSpPr>
        <p:spPr>
          <a:xfrm>
            <a:off x="7212164" y="1165156"/>
            <a:ext cx="137651" cy="70828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Seta: para Baixo 10">
            <a:extLst>
              <a:ext uri="{FF2B5EF4-FFF2-40B4-BE49-F238E27FC236}">
                <a16:creationId xmlns:a16="http://schemas.microsoft.com/office/drawing/2014/main" id="{F7043149-20CB-483B-BF14-B90A99A857E3}"/>
              </a:ext>
            </a:extLst>
          </p:cNvPr>
          <p:cNvSpPr/>
          <p:nvPr/>
        </p:nvSpPr>
        <p:spPr>
          <a:xfrm>
            <a:off x="7924218" y="2726541"/>
            <a:ext cx="78658" cy="57505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5450871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nferência de Berlim">
            <a:extLst>
              <a:ext uri="{FF2B5EF4-FFF2-40B4-BE49-F238E27FC236}">
                <a16:creationId xmlns:a16="http://schemas.microsoft.com/office/drawing/2014/main" id="{7BA4E32C-D50F-42F3-8434-B70B70DCC8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360" y="778907"/>
            <a:ext cx="6515101" cy="5016628"/>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D0B3CF5D-E70A-4705-9962-5478AECE46AF}"/>
              </a:ext>
            </a:extLst>
          </p:cNvPr>
          <p:cNvSpPr/>
          <p:nvPr/>
        </p:nvSpPr>
        <p:spPr>
          <a:xfrm>
            <a:off x="823910" y="5877178"/>
            <a:ext cx="6096000" cy="784830"/>
          </a:xfrm>
          <a:prstGeom prst="rect">
            <a:avLst/>
          </a:prstGeom>
        </p:spPr>
        <p:txBody>
          <a:bodyPr>
            <a:spAutoFit/>
          </a:bodyPr>
          <a:lstStyle/>
          <a:p>
            <a:r>
              <a:rPr lang="pt-BR" sz="1200" b="1" dirty="0">
                <a:solidFill>
                  <a:srgbClr val="FF0000"/>
                </a:solidFill>
                <a:latin typeface="Oxygen"/>
              </a:rPr>
              <a:t>A Conferência de Berlim, tendo ao centro o chanceler Bismarck (figura iluminada, com cabelo branco). Ilustração da revista alemã “</a:t>
            </a:r>
            <a:r>
              <a:rPr lang="pt-BR" sz="1200" b="1" dirty="0" err="1">
                <a:solidFill>
                  <a:srgbClr val="FF0000"/>
                </a:solidFill>
                <a:latin typeface="Oxygen"/>
              </a:rPr>
              <a:t>Illustrierte</a:t>
            </a:r>
            <a:r>
              <a:rPr lang="pt-BR" sz="1200" b="1" dirty="0">
                <a:solidFill>
                  <a:srgbClr val="FF0000"/>
                </a:solidFill>
                <a:latin typeface="Oxygen"/>
              </a:rPr>
              <a:t> Zeitung”, novembro de 1884.</a:t>
            </a:r>
            <a:br>
              <a:rPr lang="pt-BR" sz="1200" b="1" dirty="0">
                <a:solidFill>
                  <a:srgbClr val="FF0000"/>
                </a:solidFill>
              </a:rPr>
            </a:br>
            <a:r>
              <a:rPr lang="pt-BR" sz="1050" dirty="0">
                <a:solidFill>
                  <a:srgbClr val="000000"/>
                </a:solidFill>
                <a:latin typeface="Oxygen"/>
              </a:rPr>
              <a:t>https://ensinarhistoriajoelza.com.br/a-conferencia-de-berlim-e-o-destino-da-africa/ - Blog: Ensinar História - </a:t>
            </a:r>
            <a:r>
              <a:rPr lang="pt-BR" sz="1050" dirty="0" err="1">
                <a:solidFill>
                  <a:srgbClr val="000000"/>
                </a:solidFill>
                <a:latin typeface="Oxygen"/>
              </a:rPr>
              <a:t>Joelza</a:t>
            </a:r>
            <a:r>
              <a:rPr lang="pt-BR" sz="1050" dirty="0">
                <a:solidFill>
                  <a:srgbClr val="000000"/>
                </a:solidFill>
                <a:latin typeface="Oxygen"/>
              </a:rPr>
              <a:t> Ester Domingues</a:t>
            </a:r>
            <a:endParaRPr lang="pt-BR" sz="1050" dirty="0"/>
          </a:p>
        </p:txBody>
      </p:sp>
      <p:sp>
        <p:nvSpPr>
          <p:cNvPr id="3" name="Retângulo 2">
            <a:extLst>
              <a:ext uri="{FF2B5EF4-FFF2-40B4-BE49-F238E27FC236}">
                <a16:creationId xmlns:a16="http://schemas.microsoft.com/office/drawing/2014/main" id="{9E722D3A-12CB-4589-9BBA-4C41FF15B660}"/>
              </a:ext>
            </a:extLst>
          </p:cNvPr>
          <p:cNvSpPr/>
          <p:nvPr/>
        </p:nvSpPr>
        <p:spPr>
          <a:xfrm>
            <a:off x="7334324" y="906811"/>
            <a:ext cx="5157789" cy="2308324"/>
          </a:xfrm>
          <a:prstGeom prst="rect">
            <a:avLst/>
          </a:prstGeom>
        </p:spPr>
        <p:txBody>
          <a:bodyPr wrap="square">
            <a:spAutoFit/>
          </a:bodyPr>
          <a:lstStyle/>
          <a:p>
            <a:r>
              <a:rPr lang="pt-BR" dirty="0">
                <a:solidFill>
                  <a:srgbClr val="000000"/>
                </a:solidFill>
                <a:latin typeface="Oxygen"/>
              </a:rPr>
              <a:t>“(...)associar os nativos africanos à Civilização, abrindo o interior do continente ao comércio, facultando aos seus habitantes os meios de se instruir, fomentando as missões e empreendimentos que visassem </a:t>
            </a:r>
            <a:r>
              <a:rPr lang="pt-BR" b="1" dirty="0">
                <a:solidFill>
                  <a:srgbClr val="000000"/>
                </a:solidFill>
                <a:latin typeface="Oxygen"/>
              </a:rPr>
              <a:t>a propagar os conhecimentos úteis, preparando a supressão da escravatura</a:t>
            </a:r>
            <a:r>
              <a:rPr lang="pt-BR" dirty="0">
                <a:solidFill>
                  <a:srgbClr val="000000"/>
                </a:solidFill>
                <a:latin typeface="Oxygen"/>
              </a:rPr>
              <a:t>...”</a:t>
            </a:r>
            <a:br>
              <a:rPr lang="pt-BR" dirty="0"/>
            </a:br>
            <a:br>
              <a:rPr lang="pt-BR" dirty="0"/>
            </a:br>
            <a:endParaRPr lang="pt-BR" dirty="0"/>
          </a:p>
        </p:txBody>
      </p:sp>
      <p:sp>
        <p:nvSpPr>
          <p:cNvPr id="4" name="Retângulo 3">
            <a:extLst>
              <a:ext uri="{FF2B5EF4-FFF2-40B4-BE49-F238E27FC236}">
                <a16:creationId xmlns:a16="http://schemas.microsoft.com/office/drawing/2014/main" id="{0D8A2C21-8839-400F-8F03-CE7D6C7A9CCA}"/>
              </a:ext>
            </a:extLst>
          </p:cNvPr>
          <p:cNvSpPr/>
          <p:nvPr/>
        </p:nvSpPr>
        <p:spPr>
          <a:xfrm>
            <a:off x="7903444" y="3642865"/>
            <a:ext cx="4019550" cy="2723823"/>
          </a:xfrm>
          <a:prstGeom prst="rect">
            <a:avLst/>
          </a:prstGeom>
        </p:spPr>
        <p:txBody>
          <a:bodyPr wrap="square">
            <a:spAutoFit/>
          </a:bodyPr>
          <a:lstStyle/>
          <a:p>
            <a:r>
              <a:rPr lang="pt-BR" dirty="0">
                <a:solidFill>
                  <a:srgbClr val="000000"/>
                </a:solidFill>
                <a:latin typeface="Oxygen"/>
              </a:rPr>
              <a:t>“Estavam presente os representantes dos países diretamente envolvidos na disputa pelo Congo – </a:t>
            </a:r>
            <a:r>
              <a:rPr lang="pt-BR" dirty="0">
                <a:solidFill>
                  <a:srgbClr val="FF0000"/>
                </a:solidFill>
                <a:latin typeface="Oxygen"/>
              </a:rPr>
              <a:t>Bélgica, França, Portugal e Inglaterra – e também Alemanha, Holanda, Espanha, Áustria-Hungria, Suécia, Dinamarca, Itália, Rússia, Turquia otomana e Estados Unidos, </a:t>
            </a:r>
            <a:r>
              <a:rPr lang="pt-BR" dirty="0">
                <a:solidFill>
                  <a:srgbClr val="000000"/>
                </a:solidFill>
                <a:latin typeface="Oxygen"/>
              </a:rPr>
              <a:t>totalizando 14 países”.</a:t>
            </a:r>
            <a:br>
              <a:rPr lang="pt-BR" dirty="0"/>
            </a:br>
            <a:r>
              <a:rPr lang="pt-BR" dirty="0">
                <a:solidFill>
                  <a:srgbClr val="000000"/>
                </a:solidFill>
                <a:latin typeface="Oxygen"/>
              </a:rPr>
              <a:t> </a:t>
            </a:r>
            <a:r>
              <a:rPr lang="pt-BR" sz="900" dirty="0">
                <a:solidFill>
                  <a:srgbClr val="000000"/>
                </a:solidFill>
                <a:latin typeface="Oxygen"/>
              </a:rPr>
              <a:t>https://ensinarhistoriajoelza.com.br/a-conferencia-de-berlim-e-o-destino-da-africa/ - Blog: Ensinar História - </a:t>
            </a:r>
            <a:r>
              <a:rPr lang="pt-BR" sz="900" dirty="0" err="1">
                <a:solidFill>
                  <a:srgbClr val="000000"/>
                </a:solidFill>
                <a:latin typeface="Oxygen"/>
              </a:rPr>
              <a:t>Joelza</a:t>
            </a:r>
            <a:r>
              <a:rPr lang="pt-BR" sz="900" dirty="0">
                <a:solidFill>
                  <a:srgbClr val="000000"/>
                </a:solidFill>
                <a:latin typeface="Oxygen"/>
              </a:rPr>
              <a:t> Ester Domingues</a:t>
            </a:r>
            <a:endParaRPr lang="pt-BR" sz="900" dirty="0"/>
          </a:p>
        </p:txBody>
      </p:sp>
      <p:sp>
        <p:nvSpPr>
          <p:cNvPr id="5" name="CaixaDeTexto 4">
            <a:extLst>
              <a:ext uri="{FF2B5EF4-FFF2-40B4-BE49-F238E27FC236}">
                <a16:creationId xmlns:a16="http://schemas.microsoft.com/office/drawing/2014/main" id="{007D53CD-3DEA-47DA-93DB-CA2DC9890E6D}"/>
              </a:ext>
            </a:extLst>
          </p:cNvPr>
          <p:cNvSpPr txBox="1"/>
          <p:nvPr/>
        </p:nvSpPr>
        <p:spPr>
          <a:xfrm>
            <a:off x="1716880" y="107305"/>
            <a:ext cx="4826795" cy="461665"/>
          </a:xfrm>
          <a:prstGeom prst="rect">
            <a:avLst/>
          </a:prstGeom>
          <a:noFill/>
        </p:spPr>
        <p:txBody>
          <a:bodyPr wrap="square" rtlCol="0">
            <a:spAutoFit/>
          </a:bodyPr>
          <a:lstStyle/>
          <a:p>
            <a:r>
              <a:rPr lang="pt-BR" sz="2400" b="1" dirty="0"/>
              <a:t>CONFERÊNCIA DE BERLIM - 1885</a:t>
            </a:r>
          </a:p>
        </p:txBody>
      </p:sp>
      <p:sp>
        <p:nvSpPr>
          <p:cNvPr id="6" name="CaixaDeTexto 5">
            <a:extLst>
              <a:ext uri="{FF2B5EF4-FFF2-40B4-BE49-F238E27FC236}">
                <a16:creationId xmlns:a16="http://schemas.microsoft.com/office/drawing/2014/main" id="{B2AB547B-BE11-495C-A1E3-16066CC26B0F}"/>
              </a:ext>
            </a:extLst>
          </p:cNvPr>
          <p:cNvSpPr txBox="1"/>
          <p:nvPr/>
        </p:nvSpPr>
        <p:spPr>
          <a:xfrm>
            <a:off x="8141110" y="3215135"/>
            <a:ext cx="4237703" cy="369332"/>
          </a:xfrm>
          <a:prstGeom prst="rect">
            <a:avLst/>
          </a:prstGeom>
          <a:noFill/>
        </p:spPr>
        <p:txBody>
          <a:bodyPr wrap="square" rtlCol="0">
            <a:spAutoFit/>
          </a:bodyPr>
          <a:lstStyle/>
          <a:p>
            <a:r>
              <a:rPr lang="pt-BR" b="1" dirty="0">
                <a:solidFill>
                  <a:srgbClr val="FF0000"/>
                </a:solidFill>
              </a:rPr>
              <a:t>Os interessados...</a:t>
            </a:r>
          </a:p>
        </p:txBody>
      </p:sp>
      <p:sp>
        <p:nvSpPr>
          <p:cNvPr id="7" name="CaixaDeTexto 6">
            <a:extLst>
              <a:ext uri="{FF2B5EF4-FFF2-40B4-BE49-F238E27FC236}">
                <a16:creationId xmlns:a16="http://schemas.microsoft.com/office/drawing/2014/main" id="{BA19E6D3-8A08-4857-9FEB-C2E6B3537028}"/>
              </a:ext>
            </a:extLst>
          </p:cNvPr>
          <p:cNvSpPr txBox="1"/>
          <p:nvPr/>
        </p:nvSpPr>
        <p:spPr>
          <a:xfrm>
            <a:off x="7129461" y="255084"/>
            <a:ext cx="1828800" cy="369332"/>
          </a:xfrm>
          <a:prstGeom prst="rect">
            <a:avLst/>
          </a:prstGeom>
          <a:noFill/>
        </p:spPr>
        <p:txBody>
          <a:bodyPr wrap="square" rtlCol="0">
            <a:spAutoFit/>
          </a:bodyPr>
          <a:lstStyle/>
          <a:p>
            <a:r>
              <a:rPr lang="pt-BR" dirty="0">
                <a:solidFill>
                  <a:srgbClr val="FF0000"/>
                </a:solidFill>
              </a:rPr>
              <a:t>Os Motivos...</a:t>
            </a:r>
          </a:p>
        </p:txBody>
      </p:sp>
    </p:spTree>
    <p:extLst>
      <p:ext uri="{BB962C8B-B14F-4D97-AF65-F5344CB8AC3E}">
        <p14:creationId xmlns:p14="http://schemas.microsoft.com/office/powerpoint/2010/main" val="42076321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D2CB58B5-E4EF-482E-9D15-6E90C44041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5829" y="312353"/>
            <a:ext cx="5532284" cy="3001320"/>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507CFDD2-07D3-48A2-9E94-4536DC44AF3F}"/>
              </a:ext>
            </a:extLst>
          </p:cNvPr>
          <p:cNvSpPr/>
          <p:nvPr/>
        </p:nvSpPr>
        <p:spPr>
          <a:xfrm>
            <a:off x="6355829" y="3368152"/>
            <a:ext cx="4865124" cy="923330"/>
          </a:xfrm>
          <a:prstGeom prst="rect">
            <a:avLst/>
          </a:prstGeom>
        </p:spPr>
        <p:txBody>
          <a:bodyPr wrap="square">
            <a:spAutoFit/>
          </a:bodyPr>
          <a:lstStyle/>
          <a:p>
            <a:r>
              <a:rPr lang="pt-BR" dirty="0">
                <a:hlinkClick r:id="rId3"/>
              </a:rPr>
              <a:t>https://aventurasnahistoria.uol.com.br/noticias/reportagem/voce-sabe-quantas-etnias-existem-na-africa.phtml</a:t>
            </a:r>
            <a:endParaRPr lang="pt-BR" dirty="0"/>
          </a:p>
        </p:txBody>
      </p:sp>
      <p:sp>
        <p:nvSpPr>
          <p:cNvPr id="4" name="Retângulo 3">
            <a:extLst>
              <a:ext uri="{FF2B5EF4-FFF2-40B4-BE49-F238E27FC236}">
                <a16:creationId xmlns:a16="http://schemas.microsoft.com/office/drawing/2014/main" id="{932D3864-A7FA-402C-A787-13F7328AC608}"/>
              </a:ext>
            </a:extLst>
          </p:cNvPr>
          <p:cNvSpPr/>
          <p:nvPr/>
        </p:nvSpPr>
        <p:spPr>
          <a:xfrm>
            <a:off x="7529566" y="4696460"/>
            <a:ext cx="3923170" cy="923330"/>
          </a:xfrm>
          <a:prstGeom prst="rect">
            <a:avLst/>
          </a:prstGeom>
        </p:spPr>
        <p:txBody>
          <a:bodyPr wrap="square">
            <a:spAutoFit/>
          </a:bodyPr>
          <a:lstStyle/>
          <a:p>
            <a:r>
              <a:rPr lang="pt-BR" dirty="0">
                <a:solidFill>
                  <a:srgbClr val="212529"/>
                </a:solidFill>
                <a:latin typeface="Open Sans"/>
              </a:rPr>
              <a:t>“(...) 492 grupos étnicos no território Africano, que utilizam ao menos 36 línguas diferentes...”</a:t>
            </a:r>
            <a:endParaRPr lang="pt-BR" dirty="0"/>
          </a:p>
        </p:txBody>
      </p:sp>
      <p:pic>
        <p:nvPicPr>
          <p:cNvPr id="9" name="Picture 2" descr="AS32P01">
            <a:extLst>
              <a:ext uri="{FF2B5EF4-FFF2-40B4-BE49-F238E27FC236}">
                <a16:creationId xmlns:a16="http://schemas.microsoft.com/office/drawing/2014/main" id="{024F6D45-3547-4B99-B6A6-2E0C18EB9C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752" y="2621040"/>
            <a:ext cx="5433246" cy="4075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aixaDeTexto 4">
            <a:extLst>
              <a:ext uri="{FF2B5EF4-FFF2-40B4-BE49-F238E27FC236}">
                <a16:creationId xmlns:a16="http://schemas.microsoft.com/office/drawing/2014/main" id="{1E7B3D58-873C-4218-BD1A-19A901D47BD3}"/>
              </a:ext>
            </a:extLst>
          </p:cNvPr>
          <p:cNvSpPr txBox="1"/>
          <p:nvPr/>
        </p:nvSpPr>
        <p:spPr>
          <a:xfrm>
            <a:off x="471752" y="161486"/>
            <a:ext cx="4306529" cy="523220"/>
          </a:xfrm>
          <a:prstGeom prst="rect">
            <a:avLst/>
          </a:prstGeom>
          <a:noFill/>
        </p:spPr>
        <p:txBody>
          <a:bodyPr wrap="square" rtlCol="0">
            <a:spAutoFit/>
          </a:bodyPr>
          <a:lstStyle/>
          <a:p>
            <a:r>
              <a:rPr lang="pt-BR" sz="2800" dirty="0">
                <a:solidFill>
                  <a:srgbClr val="FF0000"/>
                </a:solidFill>
              </a:rPr>
              <a:t>A Partilha do continente...</a:t>
            </a:r>
          </a:p>
        </p:txBody>
      </p:sp>
      <p:sp>
        <p:nvSpPr>
          <p:cNvPr id="10" name="CaixaDeTexto 9">
            <a:extLst>
              <a:ext uri="{FF2B5EF4-FFF2-40B4-BE49-F238E27FC236}">
                <a16:creationId xmlns:a16="http://schemas.microsoft.com/office/drawing/2014/main" id="{F4FA1574-AA29-4CE7-99B3-32EEC0A3B75D}"/>
              </a:ext>
            </a:extLst>
          </p:cNvPr>
          <p:cNvSpPr txBox="1"/>
          <p:nvPr/>
        </p:nvSpPr>
        <p:spPr>
          <a:xfrm>
            <a:off x="1582895" y="673208"/>
            <a:ext cx="4036869" cy="646331"/>
          </a:xfrm>
          <a:prstGeom prst="rect">
            <a:avLst/>
          </a:prstGeom>
          <a:noFill/>
        </p:spPr>
        <p:txBody>
          <a:bodyPr wrap="square" rtlCol="0">
            <a:spAutoFit/>
          </a:bodyPr>
          <a:lstStyle/>
          <a:p>
            <a:r>
              <a:rPr lang="pt-BR" dirty="0"/>
              <a:t>...e o desrespeito aos  Reinos Africanos, às tribos, comunidades e etnias...</a:t>
            </a:r>
          </a:p>
        </p:txBody>
      </p:sp>
      <p:cxnSp>
        <p:nvCxnSpPr>
          <p:cNvPr id="12" name="Conector de Seta Reta 11">
            <a:extLst>
              <a:ext uri="{FF2B5EF4-FFF2-40B4-BE49-F238E27FC236}">
                <a16:creationId xmlns:a16="http://schemas.microsoft.com/office/drawing/2014/main" id="{CE332317-5A1E-48C3-997E-5D48526155A0}"/>
              </a:ext>
            </a:extLst>
          </p:cNvPr>
          <p:cNvCxnSpPr/>
          <p:nvPr/>
        </p:nvCxnSpPr>
        <p:spPr>
          <a:xfrm>
            <a:off x="3601330" y="2182345"/>
            <a:ext cx="0" cy="2320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CaixaDeTexto 14">
            <a:extLst>
              <a:ext uri="{FF2B5EF4-FFF2-40B4-BE49-F238E27FC236}">
                <a16:creationId xmlns:a16="http://schemas.microsoft.com/office/drawing/2014/main" id="{2BB6F9D6-A6F9-4159-BF3A-F71CCEC8BEA7}"/>
              </a:ext>
            </a:extLst>
          </p:cNvPr>
          <p:cNvSpPr txBox="1"/>
          <p:nvPr/>
        </p:nvSpPr>
        <p:spPr>
          <a:xfrm>
            <a:off x="1842727" y="1325051"/>
            <a:ext cx="4036866" cy="646331"/>
          </a:xfrm>
          <a:prstGeom prst="rect">
            <a:avLst/>
          </a:prstGeom>
          <a:noFill/>
        </p:spPr>
        <p:txBody>
          <a:bodyPr wrap="square" rtlCol="0">
            <a:spAutoFit/>
          </a:bodyPr>
          <a:lstStyle/>
          <a:p>
            <a:r>
              <a:rPr lang="pt-BR" dirty="0"/>
              <a:t>...criando fronteiras artificiais, adequadas às disputas geopolíticas e imperialistas</a:t>
            </a:r>
          </a:p>
        </p:txBody>
      </p:sp>
      <p:cxnSp>
        <p:nvCxnSpPr>
          <p:cNvPr id="20" name="Conector de Seta Reta 19">
            <a:extLst>
              <a:ext uri="{FF2B5EF4-FFF2-40B4-BE49-F238E27FC236}">
                <a16:creationId xmlns:a16="http://schemas.microsoft.com/office/drawing/2014/main" id="{0710A806-8569-435A-A69D-A8F3529B9CF6}"/>
              </a:ext>
            </a:extLst>
          </p:cNvPr>
          <p:cNvCxnSpPr>
            <a:stCxn id="15" idx="3"/>
          </p:cNvCxnSpPr>
          <p:nvPr/>
        </p:nvCxnSpPr>
        <p:spPr>
          <a:xfrm flipV="1">
            <a:off x="5879593" y="1648216"/>
            <a:ext cx="37372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520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29849F28-150A-4557-B0BB-399C058EB593}"/>
              </a:ext>
            </a:extLst>
          </p:cNvPr>
          <p:cNvSpPr/>
          <p:nvPr/>
        </p:nvSpPr>
        <p:spPr>
          <a:xfrm>
            <a:off x="501445" y="906035"/>
            <a:ext cx="4984955" cy="1200329"/>
          </a:xfrm>
          <a:prstGeom prst="rect">
            <a:avLst/>
          </a:prstGeom>
        </p:spPr>
        <p:txBody>
          <a:bodyPr wrap="square">
            <a:spAutoFit/>
          </a:bodyPr>
          <a:lstStyle/>
          <a:p>
            <a:r>
              <a:rPr lang="pt-BR" altLang="pt-BR" dirty="0"/>
              <a:t>Norte da África -área dominada pelo Império Turco Otomano (Argélia, Tunísia, Marrocos, Egito) será alvo de disputa entre a França, Inglaterra, Alemanha e Itália.</a:t>
            </a:r>
          </a:p>
        </p:txBody>
      </p:sp>
      <p:sp>
        <p:nvSpPr>
          <p:cNvPr id="3" name="CaixaDeTexto 2">
            <a:extLst>
              <a:ext uri="{FF2B5EF4-FFF2-40B4-BE49-F238E27FC236}">
                <a16:creationId xmlns:a16="http://schemas.microsoft.com/office/drawing/2014/main" id="{B83A5ED1-F62B-46D0-9F2E-4891E56FEBBF}"/>
              </a:ext>
            </a:extLst>
          </p:cNvPr>
          <p:cNvSpPr txBox="1"/>
          <p:nvPr/>
        </p:nvSpPr>
        <p:spPr>
          <a:xfrm>
            <a:off x="1317523" y="-1140"/>
            <a:ext cx="6499123" cy="523220"/>
          </a:xfrm>
          <a:prstGeom prst="rect">
            <a:avLst/>
          </a:prstGeom>
          <a:noFill/>
        </p:spPr>
        <p:txBody>
          <a:bodyPr wrap="square" rtlCol="0">
            <a:spAutoFit/>
          </a:bodyPr>
          <a:lstStyle/>
          <a:p>
            <a:r>
              <a:rPr lang="pt-BR" sz="2800" dirty="0"/>
              <a:t>Conflitos e áreas de tensão permanecem...</a:t>
            </a:r>
          </a:p>
        </p:txBody>
      </p:sp>
      <p:pic>
        <p:nvPicPr>
          <p:cNvPr id="8196" name="Picture 4" descr="Mapa da partilha da África.">
            <a:extLst>
              <a:ext uri="{FF2B5EF4-FFF2-40B4-BE49-F238E27FC236}">
                <a16:creationId xmlns:a16="http://schemas.microsoft.com/office/drawing/2014/main" id="{FCF481CD-2770-4829-A4F9-13AB1CFAF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032546"/>
            <a:ext cx="5200650" cy="5629275"/>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D82370DE-2171-4ABA-AF20-043EA8F601F8}"/>
              </a:ext>
            </a:extLst>
          </p:cNvPr>
          <p:cNvSpPr/>
          <p:nvPr/>
        </p:nvSpPr>
        <p:spPr>
          <a:xfrm>
            <a:off x="560440" y="5024288"/>
            <a:ext cx="3608437" cy="1477328"/>
          </a:xfrm>
          <a:prstGeom prst="rect">
            <a:avLst/>
          </a:prstGeom>
        </p:spPr>
        <p:txBody>
          <a:bodyPr wrap="square">
            <a:spAutoFit/>
          </a:bodyPr>
          <a:lstStyle/>
          <a:p>
            <a:r>
              <a:rPr lang="pt-BR" altLang="pt-BR" dirty="0"/>
              <a:t>Sul da África -  conflitos entre Ingleses ( colônias do Cabo e Natal) e Bôeres ( Transvaal e Orange) após a descoberta de ouro e diamantes... Guerra dos Bôeres ( 1899/1902)</a:t>
            </a:r>
          </a:p>
        </p:txBody>
      </p:sp>
      <p:sp>
        <p:nvSpPr>
          <p:cNvPr id="6" name="CaixaDeTexto 5">
            <a:extLst>
              <a:ext uri="{FF2B5EF4-FFF2-40B4-BE49-F238E27FC236}">
                <a16:creationId xmlns:a16="http://schemas.microsoft.com/office/drawing/2014/main" id="{AADC59C9-A941-4567-84DD-93770021B7FC}"/>
              </a:ext>
            </a:extLst>
          </p:cNvPr>
          <p:cNvSpPr txBox="1"/>
          <p:nvPr/>
        </p:nvSpPr>
        <p:spPr>
          <a:xfrm>
            <a:off x="3028337" y="2106364"/>
            <a:ext cx="1858296" cy="646331"/>
          </a:xfrm>
          <a:prstGeom prst="rect">
            <a:avLst/>
          </a:prstGeom>
          <a:noFill/>
        </p:spPr>
        <p:txBody>
          <a:bodyPr wrap="square" rtlCol="0">
            <a:spAutoFit/>
          </a:bodyPr>
          <a:lstStyle/>
          <a:p>
            <a:r>
              <a:rPr lang="pt-BR" b="1" dirty="0">
                <a:solidFill>
                  <a:schemeClr val="accent1">
                    <a:lumMod val="50000"/>
                  </a:schemeClr>
                </a:solidFill>
              </a:rPr>
              <a:t>A Questão Marroquina</a:t>
            </a:r>
          </a:p>
        </p:txBody>
      </p:sp>
      <p:sp>
        <p:nvSpPr>
          <p:cNvPr id="7" name="CaixaDeTexto 6">
            <a:extLst>
              <a:ext uri="{FF2B5EF4-FFF2-40B4-BE49-F238E27FC236}">
                <a16:creationId xmlns:a16="http://schemas.microsoft.com/office/drawing/2014/main" id="{C625C327-ADBC-4085-971E-064E412936ED}"/>
              </a:ext>
            </a:extLst>
          </p:cNvPr>
          <p:cNvSpPr txBox="1"/>
          <p:nvPr/>
        </p:nvSpPr>
        <p:spPr>
          <a:xfrm>
            <a:off x="723285" y="2890264"/>
            <a:ext cx="2054327" cy="584775"/>
          </a:xfrm>
          <a:prstGeom prst="rect">
            <a:avLst/>
          </a:prstGeom>
          <a:noFill/>
        </p:spPr>
        <p:txBody>
          <a:bodyPr wrap="square" rtlCol="0">
            <a:spAutoFit/>
          </a:bodyPr>
          <a:lstStyle/>
          <a:p>
            <a:r>
              <a:rPr lang="pt-BR" sz="3200" dirty="0">
                <a:solidFill>
                  <a:schemeClr val="accent1">
                    <a:lumMod val="50000"/>
                  </a:schemeClr>
                </a:solidFill>
              </a:rPr>
              <a:t>Exemplos</a:t>
            </a:r>
          </a:p>
        </p:txBody>
      </p:sp>
      <p:sp>
        <p:nvSpPr>
          <p:cNvPr id="8" name="CaixaDeTexto 7">
            <a:extLst>
              <a:ext uri="{FF2B5EF4-FFF2-40B4-BE49-F238E27FC236}">
                <a16:creationId xmlns:a16="http://schemas.microsoft.com/office/drawing/2014/main" id="{2E6F5326-C8FF-4FCF-B93E-1C60CC5344A3}"/>
              </a:ext>
            </a:extLst>
          </p:cNvPr>
          <p:cNvSpPr txBox="1"/>
          <p:nvPr/>
        </p:nvSpPr>
        <p:spPr>
          <a:xfrm>
            <a:off x="3382296" y="2965048"/>
            <a:ext cx="2551471" cy="646331"/>
          </a:xfrm>
          <a:prstGeom prst="rect">
            <a:avLst/>
          </a:prstGeom>
          <a:noFill/>
        </p:spPr>
        <p:txBody>
          <a:bodyPr wrap="square" rtlCol="0">
            <a:spAutoFit/>
          </a:bodyPr>
          <a:lstStyle/>
          <a:p>
            <a:r>
              <a:rPr lang="pt-BR" b="1" dirty="0">
                <a:solidFill>
                  <a:schemeClr val="accent1">
                    <a:lumMod val="50000"/>
                  </a:schemeClr>
                </a:solidFill>
              </a:rPr>
              <a:t>A Disputa Anglo Francesa pelo Egito</a:t>
            </a:r>
          </a:p>
        </p:txBody>
      </p:sp>
      <p:sp>
        <p:nvSpPr>
          <p:cNvPr id="9" name="CaixaDeTexto 8">
            <a:extLst>
              <a:ext uri="{FF2B5EF4-FFF2-40B4-BE49-F238E27FC236}">
                <a16:creationId xmlns:a16="http://schemas.microsoft.com/office/drawing/2014/main" id="{695FF0D6-D97B-4DA7-B512-FC74553A1E0A}"/>
              </a:ext>
            </a:extLst>
          </p:cNvPr>
          <p:cNvSpPr txBox="1"/>
          <p:nvPr/>
        </p:nvSpPr>
        <p:spPr>
          <a:xfrm>
            <a:off x="3824749" y="3980938"/>
            <a:ext cx="2123767" cy="369332"/>
          </a:xfrm>
          <a:prstGeom prst="rect">
            <a:avLst/>
          </a:prstGeom>
          <a:noFill/>
        </p:spPr>
        <p:txBody>
          <a:bodyPr wrap="square" rtlCol="0">
            <a:spAutoFit/>
          </a:bodyPr>
          <a:lstStyle/>
          <a:p>
            <a:r>
              <a:rPr lang="pt-BR" b="1" dirty="0">
                <a:solidFill>
                  <a:schemeClr val="accent1">
                    <a:lumMod val="50000"/>
                  </a:schemeClr>
                </a:solidFill>
              </a:rPr>
              <a:t>A Guerra dos Bôeres</a:t>
            </a:r>
          </a:p>
        </p:txBody>
      </p:sp>
      <p:cxnSp>
        <p:nvCxnSpPr>
          <p:cNvPr id="11" name="Conector de Seta Reta 10">
            <a:extLst>
              <a:ext uri="{FF2B5EF4-FFF2-40B4-BE49-F238E27FC236}">
                <a16:creationId xmlns:a16="http://schemas.microsoft.com/office/drawing/2014/main" id="{44C7E980-5522-4D18-AAAF-0ACA249DE51E}"/>
              </a:ext>
            </a:extLst>
          </p:cNvPr>
          <p:cNvCxnSpPr>
            <a:cxnSpLocks/>
            <a:endCxn id="6" idx="1"/>
          </p:cNvCxnSpPr>
          <p:nvPr/>
        </p:nvCxnSpPr>
        <p:spPr>
          <a:xfrm flipV="1">
            <a:off x="2364658" y="2429530"/>
            <a:ext cx="663679" cy="460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13">
            <a:extLst>
              <a:ext uri="{FF2B5EF4-FFF2-40B4-BE49-F238E27FC236}">
                <a16:creationId xmlns:a16="http://schemas.microsoft.com/office/drawing/2014/main" id="{0D4B3027-3F63-479E-9901-39F8425DD7A4}"/>
              </a:ext>
            </a:extLst>
          </p:cNvPr>
          <p:cNvCxnSpPr>
            <a:endCxn id="8" idx="1"/>
          </p:cNvCxnSpPr>
          <p:nvPr/>
        </p:nvCxnSpPr>
        <p:spPr>
          <a:xfrm flipV="1">
            <a:off x="2546555" y="3288214"/>
            <a:ext cx="835741" cy="184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8AAB4707-75E1-47F6-866A-674278687E70}"/>
              </a:ext>
            </a:extLst>
          </p:cNvPr>
          <p:cNvCxnSpPr/>
          <p:nvPr/>
        </p:nvCxnSpPr>
        <p:spPr>
          <a:xfrm>
            <a:off x="2662084" y="3518080"/>
            <a:ext cx="1025013" cy="587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Seta: para a Direita 18">
            <a:extLst>
              <a:ext uri="{FF2B5EF4-FFF2-40B4-BE49-F238E27FC236}">
                <a16:creationId xmlns:a16="http://schemas.microsoft.com/office/drawing/2014/main" id="{AF8EBCC1-1875-40E2-8B30-AA67EA23A289}"/>
              </a:ext>
            </a:extLst>
          </p:cNvPr>
          <p:cNvSpPr/>
          <p:nvPr/>
        </p:nvSpPr>
        <p:spPr>
          <a:xfrm rot="16200000">
            <a:off x="1317280" y="4137178"/>
            <a:ext cx="587226" cy="175259"/>
          </a:xfrm>
          <a:prstGeom prst="rightArrow">
            <a:avLst>
              <a:gd name="adj1" fmla="val 25831"/>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Seta: para Baixo 19">
            <a:extLst>
              <a:ext uri="{FF2B5EF4-FFF2-40B4-BE49-F238E27FC236}">
                <a16:creationId xmlns:a16="http://schemas.microsoft.com/office/drawing/2014/main" id="{123B0A0A-5A45-4B54-B2F9-CD01A4F37BFB}"/>
              </a:ext>
            </a:extLst>
          </p:cNvPr>
          <p:cNvSpPr/>
          <p:nvPr/>
        </p:nvSpPr>
        <p:spPr>
          <a:xfrm>
            <a:off x="1698523" y="2300748"/>
            <a:ext cx="66368" cy="5464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895045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harge sobre a colonização na África.">
            <a:extLst>
              <a:ext uri="{FF2B5EF4-FFF2-40B4-BE49-F238E27FC236}">
                <a16:creationId xmlns:a16="http://schemas.microsoft.com/office/drawing/2014/main" id="{0B063844-2196-4BBC-AB51-22155BFE57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843" y="247916"/>
            <a:ext cx="3223751" cy="4285230"/>
          </a:xfrm>
          <a:prstGeom prst="rect">
            <a:avLst/>
          </a:prstGeom>
          <a:noFill/>
          <a:extLst>
            <a:ext uri="{909E8E84-426E-40DD-AFC4-6F175D3DCCD1}">
              <a14:hiddenFill xmlns:a14="http://schemas.microsoft.com/office/drawing/2010/main">
                <a:solidFill>
                  <a:srgbClr val="FFFFFF"/>
                </a:solidFill>
              </a14:hiddenFill>
            </a:ext>
          </a:extLst>
        </p:spPr>
      </p:pic>
      <p:sp>
        <p:nvSpPr>
          <p:cNvPr id="3" name="Retângulo 2">
            <a:extLst>
              <a:ext uri="{FF2B5EF4-FFF2-40B4-BE49-F238E27FC236}">
                <a16:creationId xmlns:a16="http://schemas.microsoft.com/office/drawing/2014/main" id="{DE2CC13B-86CC-4E38-9FE5-C50CEC5E8B55}"/>
              </a:ext>
            </a:extLst>
          </p:cNvPr>
          <p:cNvSpPr/>
          <p:nvPr/>
        </p:nvSpPr>
        <p:spPr>
          <a:xfrm>
            <a:off x="492843" y="4630869"/>
            <a:ext cx="4315131" cy="924357"/>
          </a:xfrm>
          <a:prstGeom prst="rect">
            <a:avLst/>
          </a:prstGeom>
        </p:spPr>
        <p:txBody>
          <a:bodyPr wrap="square">
            <a:spAutoFit/>
          </a:bodyPr>
          <a:lstStyle/>
          <a:p>
            <a:r>
              <a:rPr lang="pt-BR" dirty="0">
                <a:solidFill>
                  <a:srgbClr val="000000"/>
                </a:solidFill>
                <a:latin typeface="open_sansregular"/>
              </a:rPr>
              <a:t>Charge de Cecil Rhodes esticando uma linha de telégrafo do Cabo da Boa Esperança (África do Sul) ao Cairo (Egito).</a:t>
            </a:r>
            <a:endParaRPr lang="pt-BR" dirty="0"/>
          </a:p>
        </p:txBody>
      </p:sp>
      <p:pic>
        <p:nvPicPr>
          <p:cNvPr id="6" name="Imagem 5">
            <a:extLst>
              <a:ext uri="{FF2B5EF4-FFF2-40B4-BE49-F238E27FC236}">
                <a16:creationId xmlns:a16="http://schemas.microsoft.com/office/drawing/2014/main" id="{489B3454-142A-4EC9-83BC-5CD320653D71}"/>
              </a:ext>
            </a:extLst>
          </p:cNvPr>
          <p:cNvPicPr>
            <a:picLocks noChangeAspect="1"/>
          </p:cNvPicPr>
          <p:nvPr/>
        </p:nvPicPr>
        <p:blipFill>
          <a:blip r:embed="rId3"/>
          <a:stretch>
            <a:fillRect/>
          </a:stretch>
        </p:blipFill>
        <p:spPr>
          <a:xfrm>
            <a:off x="5093109" y="247916"/>
            <a:ext cx="4012655" cy="2257118"/>
          </a:xfrm>
          <a:prstGeom prst="rect">
            <a:avLst/>
          </a:prstGeom>
        </p:spPr>
      </p:pic>
      <p:sp>
        <p:nvSpPr>
          <p:cNvPr id="7" name="Retângulo 6">
            <a:extLst>
              <a:ext uri="{FF2B5EF4-FFF2-40B4-BE49-F238E27FC236}">
                <a16:creationId xmlns:a16="http://schemas.microsoft.com/office/drawing/2014/main" id="{0FD28972-8432-4CFF-8064-D64817FAD305}"/>
              </a:ext>
            </a:extLst>
          </p:cNvPr>
          <p:cNvSpPr/>
          <p:nvPr/>
        </p:nvSpPr>
        <p:spPr>
          <a:xfrm>
            <a:off x="10264876" y="167149"/>
            <a:ext cx="1799304" cy="1815882"/>
          </a:xfrm>
          <a:prstGeom prst="rect">
            <a:avLst/>
          </a:prstGeom>
        </p:spPr>
        <p:txBody>
          <a:bodyPr wrap="square">
            <a:spAutoFit/>
          </a:bodyPr>
          <a:lstStyle/>
          <a:p>
            <a:r>
              <a:rPr lang="pt-BR" sz="1400" b="1" dirty="0">
                <a:solidFill>
                  <a:srgbClr val="000000"/>
                </a:solidFill>
                <a:latin typeface="Roboto"/>
              </a:rPr>
              <a:t>“A estátua do colonizador Cecil Rhodes, na tradicional Universidade de Oxford, na Inglaterra, será derrubada...”</a:t>
            </a:r>
            <a:endParaRPr lang="pt-BR" sz="1400" dirty="0"/>
          </a:p>
        </p:txBody>
      </p:sp>
      <p:sp>
        <p:nvSpPr>
          <p:cNvPr id="8" name="Retângulo 7">
            <a:extLst>
              <a:ext uri="{FF2B5EF4-FFF2-40B4-BE49-F238E27FC236}">
                <a16:creationId xmlns:a16="http://schemas.microsoft.com/office/drawing/2014/main" id="{CAA68E89-0C86-4302-8BD6-AC3BDC83A687}"/>
              </a:ext>
            </a:extLst>
          </p:cNvPr>
          <p:cNvSpPr/>
          <p:nvPr/>
        </p:nvSpPr>
        <p:spPr>
          <a:xfrm>
            <a:off x="4758814" y="2555245"/>
            <a:ext cx="7433186" cy="2585323"/>
          </a:xfrm>
          <a:prstGeom prst="rect">
            <a:avLst/>
          </a:prstGeom>
        </p:spPr>
        <p:txBody>
          <a:bodyPr wrap="square">
            <a:spAutoFit/>
          </a:bodyPr>
          <a:lstStyle/>
          <a:p>
            <a:r>
              <a:rPr lang="pt-BR" dirty="0">
                <a:solidFill>
                  <a:srgbClr val="202122"/>
                </a:solidFill>
                <a:latin typeface="Arial" panose="020B0604020202020204" pitchFamily="34" charset="0"/>
              </a:rPr>
              <a:t>"Considerei a existência de </a:t>
            </a:r>
            <a:r>
              <a:rPr lang="pt-BR" dirty="0">
                <a:solidFill>
                  <a:srgbClr val="0B0080"/>
                </a:solidFill>
                <a:latin typeface="Arial" panose="020B0604020202020204" pitchFamily="34" charset="0"/>
                <a:hlinkClick r:id="rId4" tooltip="Deus"/>
              </a:rPr>
              <a:t>Deus</a:t>
            </a:r>
            <a:r>
              <a:rPr lang="pt-BR" dirty="0">
                <a:solidFill>
                  <a:srgbClr val="202122"/>
                </a:solidFill>
                <a:latin typeface="Arial" panose="020B0604020202020204" pitchFamily="34" charset="0"/>
              </a:rPr>
              <a:t> e decidi que há uma boa chance de que ele exista. Se ele realmente existir, deve estar trabalhando em um plano. Portanto, se devo servir a Deus, preciso descobrir o plano e fazer o melhor possível para ajudá-lo em sua execução. Como descobrir o plano? Primeiramente, procurar a raça que Deus escolheu para ser o instrumento divino da futura </a:t>
            </a:r>
            <a:r>
              <a:rPr lang="pt-BR" dirty="0">
                <a:solidFill>
                  <a:srgbClr val="0B0080"/>
                </a:solidFill>
                <a:latin typeface="Arial" panose="020B0604020202020204" pitchFamily="34" charset="0"/>
                <a:hlinkClick r:id="rId5" tooltip="Evolução"/>
              </a:rPr>
              <a:t>evolução</a:t>
            </a:r>
            <a:r>
              <a:rPr lang="pt-BR" dirty="0">
                <a:solidFill>
                  <a:srgbClr val="202122"/>
                </a:solidFill>
                <a:latin typeface="Arial" panose="020B0604020202020204" pitchFamily="34" charset="0"/>
              </a:rPr>
              <a:t>. Inquestionavelmente, é a raça branca… Devotarei o restante de minha </a:t>
            </a:r>
            <a:r>
              <a:rPr lang="pt-BR" dirty="0">
                <a:solidFill>
                  <a:srgbClr val="0B0080"/>
                </a:solidFill>
                <a:latin typeface="Arial" panose="020B0604020202020204" pitchFamily="34" charset="0"/>
                <a:hlinkClick r:id="rId6" tooltip="Vida"/>
              </a:rPr>
              <a:t>vida</a:t>
            </a:r>
            <a:r>
              <a:rPr lang="pt-BR" dirty="0">
                <a:solidFill>
                  <a:srgbClr val="202122"/>
                </a:solidFill>
                <a:latin typeface="Arial" panose="020B0604020202020204" pitchFamily="34" charset="0"/>
              </a:rPr>
              <a:t> ao propósito de Deus e a ajudá-lo a tornar o mundo </a:t>
            </a:r>
            <a:r>
              <a:rPr lang="pt-BR" dirty="0" err="1">
                <a:solidFill>
                  <a:srgbClr val="0B0080"/>
                </a:solidFill>
                <a:latin typeface="Arial" panose="020B0604020202020204" pitchFamily="34" charset="0"/>
                <a:hlinkClick r:id="rId7" tooltip="Inglês"/>
              </a:rPr>
              <a:t>inglês</a:t>
            </a:r>
            <a:r>
              <a:rPr lang="pt-BR" dirty="0" err="1">
                <a:solidFill>
                  <a:srgbClr val="202122"/>
                </a:solidFill>
                <a:latin typeface="Arial" panose="020B0604020202020204" pitchFamily="34" charset="0"/>
              </a:rPr>
              <a:t>."</a:t>
            </a:r>
            <a:r>
              <a:rPr lang="pt-BR" dirty="0" err="1"/>
              <a:t>Relatório</a:t>
            </a:r>
            <a:r>
              <a:rPr lang="pt-BR" dirty="0"/>
              <a:t> da Diretoria da Companhia Britânica da África do Sul, 1897-1898</a:t>
            </a:r>
          </a:p>
        </p:txBody>
      </p:sp>
      <p:sp>
        <p:nvSpPr>
          <p:cNvPr id="9" name="Retângulo 8">
            <a:extLst>
              <a:ext uri="{FF2B5EF4-FFF2-40B4-BE49-F238E27FC236}">
                <a16:creationId xmlns:a16="http://schemas.microsoft.com/office/drawing/2014/main" id="{B9CE8555-2F46-4378-96D6-FBE3F765F1AE}"/>
              </a:ext>
            </a:extLst>
          </p:cNvPr>
          <p:cNvSpPr/>
          <p:nvPr/>
        </p:nvSpPr>
        <p:spPr>
          <a:xfrm>
            <a:off x="619432" y="5652949"/>
            <a:ext cx="10953136" cy="923330"/>
          </a:xfrm>
          <a:prstGeom prst="rect">
            <a:avLst/>
          </a:prstGeom>
        </p:spPr>
        <p:txBody>
          <a:bodyPr wrap="square">
            <a:spAutoFit/>
          </a:bodyPr>
          <a:lstStyle/>
          <a:p>
            <a:r>
              <a:rPr lang="pt-BR" b="1" dirty="0">
                <a:solidFill>
                  <a:srgbClr val="FF0000"/>
                </a:solidFill>
                <a:latin typeface="Arial" panose="020B0604020202020204" pitchFamily="34" charset="0"/>
              </a:rPr>
              <a:t>“...um dos principais fundadores da companhia </a:t>
            </a:r>
            <a:r>
              <a:rPr lang="pt-BR" b="1" dirty="0">
                <a:solidFill>
                  <a:srgbClr val="FF0000"/>
                </a:solidFill>
                <a:latin typeface="Arial" panose="020B0604020202020204" pitchFamily="34" charset="0"/>
                <a:hlinkClick r:id="rId8" tooltip="De Beers">
                  <a:extLst>
                    <a:ext uri="{A12FA001-AC4F-418D-AE19-62706E023703}">
                      <ahyp:hlinkClr xmlns:ahyp="http://schemas.microsoft.com/office/drawing/2018/hyperlinkcolor" val="tx"/>
                    </a:ext>
                  </a:extLst>
                </a:hlinkClick>
              </a:rPr>
              <a:t>De </a:t>
            </a:r>
            <a:r>
              <a:rPr lang="pt-BR" b="1" dirty="0" err="1">
                <a:solidFill>
                  <a:srgbClr val="FF0000"/>
                </a:solidFill>
                <a:latin typeface="Arial" panose="020B0604020202020204" pitchFamily="34" charset="0"/>
                <a:hlinkClick r:id="rId8" tooltip="De Beers">
                  <a:extLst>
                    <a:ext uri="{A12FA001-AC4F-418D-AE19-62706E023703}">
                      <ahyp:hlinkClr xmlns:ahyp="http://schemas.microsoft.com/office/drawing/2018/hyperlinkcolor" val="tx"/>
                    </a:ext>
                  </a:extLst>
                </a:hlinkClick>
              </a:rPr>
              <a:t>Beers</a:t>
            </a:r>
            <a:r>
              <a:rPr lang="pt-BR" b="1" dirty="0">
                <a:solidFill>
                  <a:srgbClr val="FF0000"/>
                </a:solidFill>
                <a:latin typeface="Arial" panose="020B0604020202020204" pitchFamily="34" charset="0"/>
              </a:rPr>
              <a:t>, que, na atualidade, detém aproximadamente 44% de todo o mercado mundial de </a:t>
            </a:r>
            <a:r>
              <a:rPr lang="pt-BR" b="1" dirty="0">
                <a:solidFill>
                  <a:srgbClr val="FF0000"/>
                </a:solidFill>
                <a:latin typeface="Arial" panose="020B0604020202020204" pitchFamily="34" charset="0"/>
                <a:hlinkClick r:id="rId9" tooltip="Diamante">
                  <a:extLst>
                    <a:ext uri="{A12FA001-AC4F-418D-AE19-62706E023703}">
                      <ahyp:hlinkClr xmlns:ahyp="http://schemas.microsoft.com/office/drawing/2018/hyperlinkcolor" val="tx"/>
                    </a:ext>
                  </a:extLst>
                </a:hlinkClick>
              </a:rPr>
              <a:t>diamantes</a:t>
            </a:r>
            <a:r>
              <a:rPr lang="pt-BR" b="1" dirty="0">
                <a:solidFill>
                  <a:srgbClr val="FF0000"/>
                </a:solidFill>
                <a:latin typeface="Arial" panose="020B0604020202020204" pitchFamily="34" charset="0"/>
              </a:rPr>
              <a:t>, mas que um dia foi responsável por 90% dele...”</a:t>
            </a:r>
            <a:r>
              <a:rPr lang="en-US" b="1" dirty="0">
                <a:solidFill>
                  <a:srgbClr val="FF0000"/>
                </a:solidFill>
              </a:rPr>
              <a:t> </a:t>
            </a:r>
            <a:r>
              <a:rPr lang="en-US" dirty="0"/>
              <a:t>(Martin Meredith, </a:t>
            </a:r>
            <a:r>
              <a:rPr lang="en-US" i="1" dirty="0"/>
              <a:t>Diamonds Gold and War</a:t>
            </a:r>
            <a:r>
              <a:rPr lang="en-US" dirty="0"/>
              <a:t>, New York: Public Affairs, 2007:162)</a:t>
            </a:r>
            <a:endParaRPr lang="pt-BR" dirty="0"/>
          </a:p>
        </p:txBody>
      </p:sp>
    </p:spTree>
    <p:extLst>
      <p:ext uri="{BB962C8B-B14F-4D97-AF65-F5344CB8AC3E}">
        <p14:creationId xmlns:p14="http://schemas.microsoft.com/office/powerpoint/2010/main" val="23795647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nternacional: África O continente que depende das exportações de ...">
            <a:extLst>
              <a:ext uri="{FF2B5EF4-FFF2-40B4-BE49-F238E27FC236}">
                <a16:creationId xmlns:a16="http://schemas.microsoft.com/office/drawing/2014/main" id="{C393118D-AD3B-4666-BF6C-FC6BDEFB67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0"/>
            <a:ext cx="8420100" cy="6572250"/>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D45758E1-9C89-438F-9658-574830C48FC3}"/>
              </a:ext>
            </a:extLst>
          </p:cNvPr>
          <p:cNvSpPr/>
          <p:nvPr/>
        </p:nvSpPr>
        <p:spPr>
          <a:xfrm>
            <a:off x="8724900" y="6134785"/>
            <a:ext cx="2781300" cy="646331"/>
          </a:xfrm>
          <a:prstGeom prst="rect">
            <a:avLst/>
          </a:prstGeom>
        </p:spPr>
        <p:txBody>
          <a:bodyPr wrap="square">
            <a:spAutoFit/>
          </a:bodyPr>
          <a:lstStyle/>
          <a:p>
            <a:r>
              <a:rPr lang="pt-BR" sz="1200" dirty="0">
                <a:hlinkClick r:id="rId3"/>
              </a:rPr>
              <a:t>https://guiadoestudante.abril.com.br/curso-enem-play/materia-primas-ditam-a-economia-da-africa/</a:t>
            </a:r>
            <a:endParaRPr lang="pt-BR" sz="1200" dirty="0"/>
          </a:p>
        </p:txBody>
      </p:sp>
      <p:pic>
        <p:nvPicPr>
          <p:cNvPr id="5" name="Picture 2" descr="Imperialismo na África - Toda Matéria">
            <a:extLst>
              <a:ext uri="{FF2B5EF4-FFF2-40B4-BE49-F238E27FC236}">
                <a16:creationId xmlns:a16="http://schemas.microsoft.com/office/drawing/2014/main" id="{AE96F2EE-6A40-4EDC-9B4F-BE60ACF17C1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3917" b="-5556"/>
          <a:stretch/>
        </p:blipFill>
        <p:spPr bwMode="auto">
          <a:xfrm>
            <a:off x="9184720" y="1973268"/>
            <a:ext cx="3007280" cy="2911463"/>
          </a:xfrm>
          <a:prstGeom prst="rect">
            <a:avLst/>
          </a:prstGeom>
          <a:noFill/>
          <a:extLst>
            <a:ext uri="{909E8E84-426E-40DD-AFC4-6F175D3DCCD1}">
              <a14:hiddenFill xmlns:a14="http://schemas.microsoft.com/office/drawing/2010/main">
                <a:solidFill>
                  <a:srgbClr val="FFFFFF"/>
                </a:solidFill>
              </a14:hiddenFill>
            </a:ext>
          </a:extLst>
        </p:spPr>
      </p:pic>
      <p:sp>
        <p:nvSpPr>
          <p:cNvPr id="3" name="CaixaDeTexto 2">
            <a:extLst>
              <a:ext uri="{FF2B5EF4-FFF2-40B4-BE49-F238E27FC236}">
                <a16:creationId xmlns:a16="http://schemas.microsoft.com/office/drawing/2014/main" id="{3AF4BC20-5201-4284-9DB4-92DA22949C7F}"/>
              </a:ext>
            </a:extLst>
          </p:cNvPr>
          <p:cNvSpPr txBox="1"/>
          <p:nvPr/>
        </p:nvSpPr>
        <p:spPr>
          <a:xfrm>
            <a:off x="10183666" y="138439"/>
            <a:ext cx="1151084" cy="584775"/>
          </a:xfrm>
          <a:prstGeom prst="rect">
            <a:avLst/>
          </a:prstGeom>
          <a:noFill/>
        </p:spPr>
        <p:txBody>
          <a:bodyPr wrap="none" rtlCol="0">
            <a:spAutoFit/>
          </a:bodyPr>
          <a:lstStyle/>
          <a:p>
            <a:r>
              <a:rPr lang="pt-BR" sz="3200" dirty="0"/>
              <a:t>África</a:t>
            </a:r>
          </a:p>
        </p:txBody>
      </p:sp>
      <p:sp>
        <p:nvSpPr>
          <p:cNvPr id="6" name="Retângulo 5">
            <a:extLst>
              <a:ext uri="{FF2B5EF4-FFF2-40B4-BE49-F238E27FC236}">
                <a16:creationId xmlns:a16="http://schemas.microsoft.com/office/drawing/2014/main" id="{A2D79805-88AA-481D-9077-2B3DEF4BC85E}"/>
              </a:ext>
            </a:extLst>
          </p:cNvPr>
          <p:cNvSpPr/>
          <p:nvPr/>
        </p:nvSpPr>
        <p:spPr>
          <a:xfrm>
            <a:off x="9217350" y="845574"/>
            <a:ext cx="766557" cy="461665"/>
          </a:xfrm>
          <a:prstGeom prst="rect">
            <a:avLst/>
          </a:prstGeom>
        </p:spPr>
        <p:txBody>
          <a:bodyPr wrap="none">
            <a:spAutoFit/>
          </a:bodyPr>
          <a:lstStyle/>
          <a:p>
            <a:r>
              <a:rPr lang="pt-BR" sz="2400" dirty="0"/>
              <a:t>Hoje</a:t>
            </a:r>
          </a:p>
        </p:txBody>
      </p:sp>
      <p:sp>
        <p:nvSpPr>
          <p:cNvPr id="7" name="CaixaDeTexto 6">
            <a:extLst>
              <a:ext uri="{FF2B5EF4-FFF2-40B4-BE49-F238E27FC236}">
                <a16:creationId xmlns:a16="http://schemas.microsoft.com/office/drawing/2014/main" id="{C19B29F4-E48C-496A-BE21-5D258FF0EBFF}"/>
              </a:ext>
            </a:extLst>
          </p:cNvPr>
          <p:cNvSpPr txBox="1"/>
          <p:nvPr/>
        </p:nvSpPr>
        <p:spPr>
          <a:xfrm>
            <a:off x="10530347" y="1356852"/>
            <a:ext cx="1151083" cy="461665"/>
          </a:xfrm>
          <a:prstGeom prst="rect">
            <a:avLst/>
          </a:prstGeom>
          <a:noFill/>
        </p:spPr>
        <p:txBody>
          <a:bodyPr wrap="square" rtlCol="0">
            <a:spAutoFit/>
          </a:bodyPr>
          <a:lstStyle/>
          <a:p>
            <a:r>
              <a:rPr lang="pt-BR" sz="2400" dirty="0"/>
              <a:t>Ontem</a:t>
            </a:r>
          </a:p>
        </p:txBody>
      </p:sp>
      <p:cxnSp>
        <p:nvCxnSpPr>
          <p:cNvPr id="9" name="Conector de Seta Reta 8">
            <a:extLst>
              <a:ext uri="{FF2B5EF4-FFF2-40B4-BE49-F238E27FC236}">
                <a16:creationId xmlns:a16="http://schemas.microsoft.com/office/drawing/2014/main" id="{C5E209CF-7ECA-4EE5-A873-F48425DD4E58}"/>
              </a:ext>
            </a:extLst>
          </p:cNvPr>
          <p:cNvCxnSpPr>
            <a:stCxn id="3" idx="1"/>
          </p:cNvCxnSpPr>
          <p:nvPr/>
        </p:nvCxnSpPr>
        <p:spPr>
          <a:xfrm flipH="1">
            <a:off x="9576619" y="430827"/>
            <a:ext cx="607047" cy="414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ector de Seta Reta 10">
            <a:extLst>
              <a:ext uri="{FF2B5EF4-FFF2-40B4-BE49-F238E27FC236}">
                <a16:creationId xmlns:a16="http://schemas.microsoft.com/office/drawing/2014/main" id="{03F4C9BB-DC67-41D4-ABCE-8D09B8CD54A2}"/>
              </a:ext>
            </a:extLst>
          </p:cNvPr>
          <p:cNvCxnSpPr>
            <a:stCxn id="3" idx="2"/>
          </p:cNvCxnSpPr>
          <p:nvPr/>
        </p:nvCxnSpPr>
        <p:spPr>
          <a:xfrm>
            <a:off x="10759208" y="723214"/>
            <a:ext cx="95605" cy="633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873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harge sobre a colonização da África.">
            <a:extLst>
              <a:ext uri="{FF2B5EF4-FFF2-40B4-BE49-F238E27FC236}">
                <a16:creationId xmlns:a16="http://schemas.microsoft.com/office/drawing/2014/main" id="{369F9F24-CB56-4671-8DCA-50AC8E0A7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633" y="-74203"/>
            <a:ext cx="5280690" cy="5067636"/>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3E905A95-5E59-4739-A65D-511C11DCF029}"/>
              </a:ext>
            </a:extLst>
          </p:cNvPr>
          <p:cNvSpPr/>
          <p:nvPr/>
        </p:nvSpPr>
        <p:spPr>
          <a:xfrm>
            <a:off x="1071716" y="5111616"/>
            <a:ext cx="6096000" cy="646331"/>
          </a:xfrm>
          <a:prstGeom prst="rect">
            <a:avLst/>
          </a:prstGeom>
        </p:spPr>
        <p:txBody>
          <a:bodyPr>
            <a:spAutoFit/>
          </a:bodyPr>
          <a:lstStyle/>
          <a:p>
            <a:r>
              <a:rPr lang="pt-BR" dirty="0">
                <a:solidFill>
                  <a:srgbClr val="000000"/>
                </a:solidFill>
                <a:latin typeface="open_sansregular"/>
              </a:rPr>
              <a:t>Negro carregando europeu em uma charge que satiriza o “fardo do homem branco”. Life, 16/3/1899.</a:t>
            </a:r>
            <a:endParaRPr lang="pt-BR" dirty="0"/>
          </a:p>
        </p:txBody>
      </p:sp>
      <p:sp>
        <p:nvSpPr>
          <p:cNvPr id="3" name="Retângulo 2">
            <a:extLst>
              <a:ext uri="{FF2B5EF4-FFF2-40B4-BE49-F238E27FC236}">
                <a16:creationId xmlns:a16="http://schemas.microsoft.com/office/drawing/2014/main" id="{582EF8C3-829E-4BE3-9206-C609BF84035E}"/>
              </a:ext>
            </a:extLst>
          </p:cNvPr>
          <p:cNvSpPr/>
          <p:nvPr/>
        </p:nvSpPr>
        <p:spPr>
          <a:xfrm>
            <a:off x="1744829" y="4980811"/>
            <a:ext cx="3618298" cy="261610"/>
          </a:xfrm>
          <a:prstGeom prst="rect">
            <a:avLst/>
          </a:prstGeom>
        </p:spPr>
        <p:txBody>
          <a:bodyPr wrap="none">
            <a:spAutoFit/>
          </a:bodyPr>
          <a:lstStyle/>
          <a:p>
            <a:r>
              <a:rPr lang="pt-BR" sz="1100" dirty="0">
                <a:hlinkClick r:id="rId3"/>
              </a:rPr>
              <a:t>https://www.coladaweb.com/historia/colonizacao-da-africa</a:t>
            </a:r>
            <a:endParaRPr lang="pt-BR" sz="1100" dirty="0"/>
          </a:p>
        </p:txBody>
      </p:sp>
    </p:spTree>
    <p:extLst>
      <p:ext uri="{BB962C8B-B14F-4D97-AF65-F5344CB8AC3E}">
        <p14:creationId xmlns:p14="http://schemas.microsoft.com/office/powerpoint/2010/main" val="24571396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DAACEDE5-E343-4525-826F-DA74123F34A0}"/>
              </a:ext>
            </a:extLst>
          </p:cNvPr>
          <p:cNvSpPr txBox="1"/>
          <p:nvPr/>
        </p:nvSpPr>
        <p:spPr>
          <a:xfrm>
            <a:off x="1219200" y="853440"/>
            <a:ext cx="9591040" cy="4247317"/>
          </a:xfrm>
          <a:prstGeom prst="rect">
            <a:avLst/>
          </a:prstGeom>
          <a:noFill/>
        </p:spPr>
        <p:txBody>
          <a:bodyPr wrap="square">
            <a:spAutoFit/>
          </a:bodyPr>
          <a:lstStyle/>
          <a:p>
            <a:r>
              <a:rPr lang="pt-BR" dirty="0"/>
              <a:t>(</a:t>
            </a:r>
            <a:r>
              <a:rPr lang="pt-BR" dirty="0" err="1"/>
              <a:t>Ufpr</a:t>
            </a:r>
            <a:r>
              <a:rPr lang="pt-BR" dirty="0"/>
              <a:t> 91) Na(s) questão(</a:t>
            </a:r>
            <a:r>
              <a:rPr lang="pt-BR" dirty="0" err="1"/>
              <a:t>ões</a:t>
            </a:r>
            <a:r>
              <a:rPr lang="pt-BR" dirty="0"/>
              <a:t>) a seguir, escreva no espaço apropriado a soma dos itens corretos. 3. "No tempo em que vivemos e na crise que atravessam todas as indústrias </a:t>
            </a:r>
            <a:r>
              <a:rPr lang="pt-BR" dirty="0" err="1"/>
              <a:t>européias</a:t>
            </a:r>
            <a:r>
              <a:rPr lang="pt-BR" dirty="0"/>
              <a:t>, a fundação de uma colônia é a criação de uma válvula de escape". (Jules Ferry, colonialista francês). Esse trecho de um discurso da segunda metade do século XIX refere-se ao imperialismo europeu e sobre o qual é correto afirmar que: </a:t>
            </a:r>
          </a:p>
          <a:p>
            <a:pPr marL="342900" indent="-342900">
              <a:buAutoNum type="arabicParenBoth"/>
            </a:pPr>
            <a:r>
              <a:rPr lang="pt-BR" dirty="0"/>
              <a:t>Uma das preocupações fundamentais dos colonizadores era propiciar o desenvolvimento integrado das suas colônias. </a:t>
            </a:r>
          </a:p>
          <a:p>
            <a:pPr marL="342900" indent="-342900">
              <a:buAutoNum type="arabicParenBoth"/>
            </a:pPr>
            <a:r>
              <a:rPr lang="pt-BR" dirty="0"/>
              <a:t> A expansão imperialista da Europa traduziu-se não só pela conquista de colônias, mas também pelo investimento de capitais em países independentes. </a:t>
            </a:r>
          </a:p>
          <a:p>
            <a:pPr marL="342900" indent="-342900">
              <a:buAutoNum type="arabicParenBoth"/>
            </a:pPr>
            <a:r>
              <a:rPr lang="pt-BR" dirty="0"/>
              <a:t>A corrida colonial visava a conquista de </a:t>
            </a:r>
            <a:r>
              <a:rPr lang="pt-BR" dirty="0" err="1"/>
              <a:t>matériasprimas</a:t>
            </a:r>
            <a:r>
              <a:rPr lang="pt-BR" dirty="0"/>
              <a:t> e de mercados consumidores para as metrópoles. </a:t>
            </a:r>
          </a:p>
          <a:p>
            <a:pPr marL="342900" indent="-342900">
              <a:buAutoNum type="arabicParenBoth"/>
            </a:pPr>
            <a:r>
              <a:rPr lang="pt-BR" dirty="0"/>
              <a:t>Entre as justificativas </a:t>
            </a:r>
            <a:r>
              <a:rPr lang="pt-BR" dirty="0" err="1"/>
              <a:t>européias</a:t>
            </a:r>
            <a:r>
              <a:rPr lang="pt-BR" dirty="0"/>
              <a:t> para as conquistas coloniais, havia também aquelas de ordem religiosa (converter os "pagãos") e de ordem cultural (era "dever" da Europa levar sua civilização para os povos que consideravam "atrasados"). </a:t>
            </a:r>
          </a:p>
          <a:p>
            <a:pPr marL="342900" indent="-342900">
              <a:buAutoNum type="arabicParenBoth"/>
            </a:pPr>
            <a:r>
              <a:rPr lang="pt-BR" dirty="0"/>
              <a:t>A expansão </a:t>
            </a:r>
            <a:r>
              <a:rPr lang="pt-BR" dirty="0" err="1"/>
              <a:t>européia</a:t>
            </a:r>
            <a:r>
              <a:rPr lang="pt-BR" dirty="0"/>
              <a:t> visando a conquista de novas colônias deu-se sobretudo na África e na Ásia.</a:t>
            </a:r>
          </a:p>
        </p:txBody>
      </p:sp>
    </p:spTree>
    <p:extLst>
      <p:ext uri="{BB962C8B-B14F-4D97-AF65-F5344CB8AC3E}">
        <p14:creationId xmlns:p14="http://schemas.microsoft.com/office/powerpoint/2010/main" val="4052281193"/>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3038</TotalTime>
  <Words>5268</Words>
  <Application>Microsoft Office PowerPoint</Application>
  <PresentationFormat>Widescreen</PresentationFormat>
  <Paragraphs>247</Paragraphs>
  <Slides>38</Slides>
  <Notes>0</Notes>
  <HiddenSlides>0</HiddenSlides>
  <MMClips>0</MMClips>
  <ScaleCrop>false</ScaleCrop>
  <HeadingPairs>
    <vt:vector size="6" baseType="variant">
      <vt:variant>
        <vt:lpstr>Fontes usadas</vt:lpstr>
      </vt:variant>
      <vt:variant>
        <vt:i4>18</vt:i4>
      </vt:variant>
      <vt:variant>
        <vt:lpstr>Tema</vt:lpstr>
      </vt:variant>
      <vt:variant>
        <vt:i4>1</vt:i4>
      </vt:variant>
      <vt:variant>
        <vt:lpstr>Títulos de slides</vt:lpstr>
      </vt:variant>
      <vt:variant>
        <vt:i4>38</vt:i4>
      </vt:variant>
    </vt:vector>
  </HeadingPairs>
  <TitlesOfParts>
    <vt:vector size="57" baseType="lpstr">
      <vt:lpstr>Algerian</vt:lpstr>
      <vt:lpstr>arial</vt:lpstr>
      <vt:lpstr>arial</vt:lpstr>
      <vt:lpstr>Arial Black</vt:lpstr>
      <vt:lpstr>Calibri</vt:lpstr>
      <vt:lpstr>Calibri Light</vt:lpstr>
      <vt:lpstr>inherit</vt:lpstr>
      <vt:lpstr>jaf-facitweb-1</vt:lpstr>
      <vt:lpstr>Lora</vt:lpstr>
      <vt:lpstr>Lucida Grande</vt:lpstr>
      <vt:lpstr>Noto Serif</vt:lpstr>
      <vt:lpstr>Open Sans</vt:lpstr>
      <vt:lpstr>open_sansregular</vt:lpstr>
      <vt:lpstr>OpenSans</vt:lpstr>
      <vt:lpstr>Oxygen</vt:lpstr>
      <vt:lpstr>Raleway</vt:lpstr>
      <vt:lpstr>Roboto</vt:lpstr>
      <vt:lpstr>Times New Roman</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Celso Siracusa</dc:creator>
  <cp:lastModifiedBy>Celso Aparecido Siracusa</cp:lastModifiedBy>
  <cp:revision>124</cp:revision>
  <dcterms:created xsi:type="dcterms:W3CDTF">2020-05-04T21:48:44Z</dcterms:created>
  <dcterms:modified xsi:type="dcterms:W3CDTF">2026-09-02T23:40:57Z</dcterms:modified>
</cp:coreProperties>
</file>