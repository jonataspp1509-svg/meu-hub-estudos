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0" r:id="rId5"/>
    <p:sldId id="256" r:id="rId6"/>
    <p:sldId id="267" r:id="rId7"/>
    <p:sldId id="268" r:id="rId8"/>
    <p:sldId id="269" r:id="rId9"/>
    <p:sldId id="261" r:id="rId10"/>
    <p:sldId id="257" r:id="rId11"/>
    <p:sldId id="258" r:id="rId12"/>
    <p:sldId id="260" r:id="rId13"/>
    <p:sldId id="262" r:id="rId14"/>
    <p:sldId id="263" r:id="rId15"/>
    <p:sldId id="259" r:id="rId16"/>
    <p:sldId id="271" r:id="rId17"/>
    <p:sldId id="272" r:id="rId18"/>
    <p:sldId id="273" r:id="rId19"/>
    <p:sldId id="274" r:id="rId20"/>
    <p:sldId id="275" r:id="rId21"/>
    <p:sldId id="282" r:id="rId22"/>
    <p:sldId id="277" r:id="rId23"/>
    <p:sldId id="278" r:id="rId24"/>
    <p:sldId id="279" r:id="rId25"/>
    <p:sldId id="284" r:id="rId26"/>
    <p:sldId id="285" r:id="rId27"/>
    <p:sldId id="289" r:id="rId28"/>
    <p:sldId id="288" r:id="rId29"/>
    <p:sldId id="286" r:id="rId30"/>
    <p:sldId id="264" r:id="rId31"/>
    <p:sldId id="265" r:id="rId32"/>
    <p:sldId id="266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60"/>
  </p:normalViewPr>
  <p:slideViewPr>
    <p:cSldViewPr snapToGrid="0">
      <p:cViewPr varScale="1">
        <p:scale>
          <a:sx n="85" d="100"/>
          <a:sy n="85" d="100"/>
        </p:scale>
        <p:origin x="33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4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6:37.4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6:40.5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1,'3841'0,"-3818"0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6:46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0,'6040'0,"-6015"0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6:50.1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0,'2166'0,"-2125"0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6:56.4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0,'2061'0,"-3719"0,2205 0,-1269 0,2331 0,-1912 0,274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6:59.5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05.7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0,'4213'0,"-4199"0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09.6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1,'3702'0,"-3662"0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17.0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0,'4376'0,"-4353"0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19.6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22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1,'4229'0,"-4201"0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28.3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0,'4351'0,"-4330"0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33.8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0,'4010'0,"-3986"0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37.6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0,'4615'0,"-4597"0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43.2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0,'4297'0,"-4275"0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48.9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1,'4590'0,"-4572"0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53.3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1,'4483'0,"-4451"0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55.2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7:57.1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0,'4180'0,"-4145"0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01.4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0,'4167'0,"-4139"0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27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0,'4'0,"3"0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28.9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0,'0'2,"1"0,-1-1,1 0,-1 1,1-1,0 1,0-1,-1 0,1 1,0-1,0 0,0 0,1 1,-1-1,0 0,0 0,3 1,27 17,-24-15,11 5,-1-2,1 1,37 8,-33-11,0 2,32 14,-29-10,0-2,0-1,1-1,49 7,43 11,236 51,-264-60,204 25,26 5,-265-37,1-1,91-1,-105-7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30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988 574,'-12'-9,"0"0,0 1,-1 0,-1 0,1 2,-30-11,0 0,0-4,19 9,-1 0,0 2,0 1,-1 0,-44-7,-6 8,23 2,1-1,-53-15,12-1,55 15,-63-22,97 28,-1 0,0 0,1 0,0-1,0 0,-1 1,2-2,-1 1,0 0,1-1,-1 0,1 0,-4-6,5 6,1 1,-1 0,1 0,0-1,0 1,0 0,1-1,-1 1,1-1,0 1,0-1,0 1,0-1,1 1,-1-1,1 1,0-1,0 1,0 0,3-5,0-1,2 1,0 0,0 0,0 0,1 0,0 1,0 0,1 1,0-1,0 2,17-10,-4 4,1 0,1 2,43-13,-23 13,0 2,0 2,1 2,0 2,0 1,54 9,-90-9,0 1,0 1,0-1,0 1,-1 1,1-1,-1 1,1 1,-1-1,0 1,0 0,-1 1,10 8,-15-13,-1 1,1-1,-1 1,0-1,1 1,-1-1,1 1,-1-1,0 1,0-1,1 1,-1-1,0 1,0 0,0-1,1 1,-1-1,0 1,0 0,0-1,0 1,0-1,0 1,0 0,0-1,-1 1,1-1,0 1,0 0,-1 0,0 0,0 0,0 0,0 0,0 0,-1 0,1 0,0-1,-1 1,1 0,0-1,-1 1,-1 0,-8 1,0 0,-19 1,27-3,-107 6,-128-11,118-8,105 10,0 0,0-1,1 0,0-1,-26-13,25 6,8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32.4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75,'132'-2,"145"4,-164 12,16 1,-108-15,-13 0,1 0,-1 0,0 1,0 0,9 2,-12 0,-15-2,-17-5,-60-20,49 13,1 1,-78-9,-49-5,160 23,-48-19,71 25,-1 0,0 1,0 1,29 16,8 3,-32-18,-17-7,0 1,0 0,-1 1,1-1,0 1,9 7,-13-7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34.2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1,'594'0,"-575"1,1 0,-1 2,0 0,0 1,32 12,85 43,-108-46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35.4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1,'130'-1,"149"3,-118 12,33 1,-168-14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36.9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29,'101'1,"-2"1,133-16,-142 5,107 1,-167 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37.9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0,'28'5,"49"1,49 1,27-2,-3-2,-17-1,-26 0,-28-2,-11 0,-4 0,-3 0,-2-1,-6 1,-8 0,-6 0,-6 0,-7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38.7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1,'46'3,"1"1,-1 3,69 19,60 10,51 9,-147-27,94 11,-146-27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40.2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1,'34'-1,"0"2,0 2,0 1,0 1,66 20,-46-10,0-2,1-3,73 5,55 10,-89-2,-60-14,-1-1,1-1,57 2,6-9,-71-1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8:59.2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3,'50'-1,"-26"0,1 0,-1 2,1 1,43 9,-30-3,2-2,-1-1,0-3,69-3,-43 0,320 0,-358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09T01:29:01.9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0,'4'1,"0"-1,1 1,-1 0,0 1,1-1,5 4,10 2,379 89,-281-71,39 5,-4-5,53 5,-169-27,0 1,0 2,0 1,-1 2,38 15,-74-24,0 0,0 0,0 0,0 0,0 0,0 0,0 0,0 0,0 0,0 0,-1 0,1 0,0 0,0 0,0 1,0-1,0 0,0 0,0 0,0 0,0 0,0 0,0 0,0 0,0 0,0 0,0 0,0 0,0 0,0 1,0-1,0 0,0 0,0 0,0 0,0 0,0 0,0 0,0 0,1 0,-1 0,0 0,0 0,0 0,0 0,0 0,0 0,0 1,0-1,0 0,0 0,0 0,0 0,0 0,0 0,0 0,1 0,-1 0,0 0,0 0,0 0,0 0,-10 2,-16-1,-369-1,148-1,225 2,0 2,0 1,0 0,-27 10,-30 6,76-19,-249 38,704-87,-165 16,-213 25,1 3,0 3,0 4,-1 3,1 3,102 27,-140-23,-37-13,1 0,-1 1,1-1,-1 0,1 0,-1 0,1 1,-1-1,0 0,1 1,-1-1,1 0,-1 1,0-1,1 0,-1 1,0-1,1 1,-1-1,0 0,0 1,1-1,-1 1,0-1,0 1,0 0,-10 6,-22-1,-278-2,186-6,-400 1,756 1,-189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9T15:37:15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1712 0 24575,'2'0'0,"0"1"0,0-1 0,0 1 0,0 0 0,0-1 0,0 1 0,0 0 0,0 0 0,0 0 0,-1 0 0,1 1 0,0-1 0,-1 0 0,1 1 0,-1-1 0,1 1 0,-1 0 0,1-1 0,-1 1 0,1 2 0,21 41 0,-22-41 0,17 41 0,-2 1 0,-2 0 0,14 84 0,-23-68 0,-4 112 0,-4-74 0,3-89 0,-1 0 0,0 0 0,0 0 0,-2-1 0,1 1 0,-6 12 0,-3 4 0,-15 26 0,14-32 0,-4 19 0,13-30 0,-1-1 0,0 1 0,-6 9 0,-8 10 0,-2-2 0,-37 40 0,19-23 0,24-26 0,-1-1 0,-1-1 0,0 0 0,-1-1 0,0-1 0,-1-1 0,-23 13 0,31-20 0,0 1 0,0 0 0,1 0 0,1 1 0,-1 1 0,1-1 0,0 1 0,-8 13 0,6-9 0,0-1 0,-1 0 0,-19 17 0,-107 68 0,110-78 0,-37 19 0,24-16 0,34-18 0,-1 0 0,1 0 0,0 0 0,1 0 0,-1 1 0,1 0 0,0 0 0,0 1 0,0-1 0,-6 11 0,4-6 0,-2 1 0,1-1 0,-2-1 0,-16 15 0,17-16 0,0-1 0,1 1 0,0 1 0,0 0 0,1 0 0,-9 13 0,8-5 0,0 0 0,2 0 0,-1 0 0,2 1 0,1 0 0,0 0 0,-2 21 0,-38 230 0,24-180 0,-28 153 0,44-221 0,-1 0 0,-1-1 0,-15 35 0,10-28 0,-8 33 0,13-30 0,1 0 0,0 62 0,2-24 0,-1-44 0,0-1 0,-1 0 0,-9 25 0,-8 38 0,15-44 0,-2-1 0,-20 56 0,19-64 0,1 1 0,1 0 0,-4 60 0,-7 34 0,12-89 0,1 1 0,0 48 0,7 83 0,1-59 0,-2-85 0,-1 1 0,-2-1 0,-9 43 0,7-41 0,1-1 0,2 2 0,3 55 0,0-52 0,-1-1 0,-7 55 0,3-69 0,-1-1 0,-14 31 0,-4 16 0,-5 48 0,9-33 0,-50 133 0,43-128 0,19-56 0,-2 0 0,-1 0 0,-1-1 0,-16 28 0,10-29 0,9-14 0,0 0 0,1 1 0,0-1 0,1 2 0,0-1 0,1 0 0,1 1 0,-5 21 0,5-13 0,-1 0 0,-2 0 0,0 0 0,-1-1 0,-14 28 0,9-22 0,11-22 0,1 1 0,-1 0 0,1 1 0,0-1 0,0 0 0,1 0 0,0 0 0,0 0 0,0 1 0,1-1 0,0 0 0,0 0 0,1 0 0,-1 0 0,1 0 0,1 0 0,-1-1 0,1 1 0,0-1 0,0 1 0,1-1 0,-1 0 0,1 0 0,0-1 0,1 1 0,-1-1 0,9 7 0,18 6 0,36 16 0,-3-3 0,-28-10 0,-17-9 0,1-1 0,0 0 0,39 12 0,-44-17 114,1 1-1,19 10 1,-20-9-967,33 12 0,-27-14-5973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4EFD6-44A5-46B2-9E6C-C587E5C31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975CA6-CDDF-4B58-8DA7-CF8E871D2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CAC40-6A11-4949-8754-66B9B4C0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4492B-0D69-43CE-B8DC-5AFF41351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05DDEF-20BC-4489-91B4-8224FA21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82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F4D03-888E-4A48-912C-F92053DD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A4DA48-C1FB-4A29-9327-772D38FDA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BB213E-DE85-48FA-BA71-EC930A6F6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A9CA3-582F-449A-8EDB-866885B9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667A66-E384-4308-BE94-257FA484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706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D585D-240B-4030-ACAA-FD57874B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5B1AD5-9D4F-48AF-8A71-0838A303D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F334DA-4AFF-4113-AA89-DFAB09AF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85304D-EFDF-473A-BF27-BCA5B55A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7516D2-5B67-4A90-A5C4-0FC31E88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15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53870-161F-454E-93C6-69C22A71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F1581E-02D2-4A1D-AAC5-9C967AF10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8117D-4A79-464C-A311-9CD31CE84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93CC69-95E7-4606-A373-5F5B869B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F1E939-C86E-4530-8309-655E3B58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441F7B-D54E-4E16-896C-91D141A4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03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C9BF1-AFE3-46EB-85AD-1061394B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D47901-B72C-4841-AE66-91DE419A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DF4E05-FE86-432D-A7AF-80905875B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6DDC755-1072-462C-8F27-9C5DEF627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8B16CF-0BF4-4E8F-97D1-82F7780CA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F81735-81A8-45D4-883E-86587B73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6587F0-E760-4252-B076-9B2C6107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1DE32FD-05DC-4824-9EC1-B2C0C73B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1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A1CDC-81A1-47B6-BA5A-45995FCB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557B0B-E4A8-42E1-8AC5-F51E7514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E42312-568E-464C-BDBD-8FF3ADA6A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76F9D5-EA18-494A-AD91-783A92E3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71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0977EB-3BA5-4DBC-B9AC-0B087DF1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DAD96EE-6654-4730-91E7-DE27B098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2AA606-9D92-43C4-8742-24DDBCDD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05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854FC-C12F-4363-838E-BE4CD32B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29C7DF-F6F8-41A0-88D3-D498E19DF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0362AB-6B42-4E4C-832B-455437EF8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BD4DD8-8F82-4B28-AA05-AF036BBB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554E4C-A711-4502-B534-4DB19D79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3D05F8-A72F-4BEC-8AE2-8F46C502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95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795F9-48A3-45FD-BFB9-937FE1E8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2F6BA3-C86B-4C46-AA72-B832E20F9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5F8559-12DC-4854-8BC8-52E1F11F4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82A724-88F3-4257-BC30-4A1138A9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ADFAA-1C6D-4501-8735-04AB308C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977115-4166-4A89-BDCE-4D696821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66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F7B4D-8D86-4D4A-90BF-0B0728D4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C2C79B-262B-40E4-991C-8EC819D2C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1C6540-0F34-4AEC-B961-67388BBA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F69E8B-A6AD-4234-AD20-67C3BC71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FE6C10-A87B-4AE5-B034-8653A3C6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258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9CAF23-E3A7-46D0-B4C2-57073CBDF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621FDC-7BCC-4685-8159-81ECD2645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19F3AB-9AED-40D0-A749-1A420744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A64D1A-7CCB-4E3E-88E1-9BE3B6BD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D266B1-4FC6-41D3-8409-A825EF0D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37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5A6C156-248F-4B3F-A70C-9EB47D0F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03DFBB-0539-46F2-B36E-EE2B035A1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FD712-B7A7-4510-B595-A0F9899FC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3CA2-A4EC-4D41-AF61-E752ED571DED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BCA05D-319D-45FB-9E64-D25570F9C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7FCCA5-C29E-4649-9CDA-B0D455653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E19A4-817A-48A9-9D14-92BEE3C39F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287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Victor_Meirelles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26" Type="http://schemas.openxmlformats.org/officeDocument/2006/relationships/image" Target="../media/image13.png"/><Relationship Id="rId39" Type="http://schemas.openxmlformats.org/officeDocument/2006/relationships/image" Target="../media/image19.png"/><Relationship Id="rId21" Type="http://schemas.openxmlformats.org/officeDocument/2006/relationships/customXml" Target="../ink/ink11.xml"/><Relationship Id="rId34" Type="http://schemas.openxmlformats.org/officeDocument/2006/relationships/image" Target="../media/image17.png"/><Relationship Id="rId42" Type="http://schemas.openxmlformats.org/officeDocument/2006/relationships/customXml" Target="../ink/ink22.xml"/><Relationship Id="rId47" Type="http://schemas.openxmlformats.org/officeDocument/2006/relationships/image" Target="../media/image23.png"/><Relationship Id="rId50" Type="http://schemas.openxmlformats.org/officeDocument/2006/relationships/customXml" Target="../ink/ink26.xml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6" Type="http://schemas.openxmlformats.org/officeDocument/2006/relationships/customXml" Target="../ink/ink8.xml"/><Relationship Id="rId29" Type="http://schemas.openxmlformats.org/officeDocument/2006/relationships/customXml" Target="../ink/ink15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image" Target="../media/image18.png"/><Relationship Id="rId40" Type="http://schemas.openxmlformats.org/officeDocument/2006/relationships/customXml" Target="../ink/ink21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30.xml"/><Relationship Id="rId5" Type="http://schemas.openxmlformats.org/officeDocument/2006/relationships/customXml" Target="../ink/ink2.xml"/><Relationship Id="rId61" Type="http://schemas.openxmlformats.org/officeDocument/2006/relationships/image" Target="../media/image30.png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22" Type="http://schemas.openxmlformats.org/officeDocument/2006/relationships/image" Target="../media/image11.png"/><Relationship Id="rId27" Type="http://schemas.openxmlformats.org/officeDocument/2006/relationships/customXml" Target="../ink/ink14.xml"/><Relationship Id="rId30" Type="http://schemas.openxmlformats.org/officeDocument/2006/relationships/image" Target="../media/image15.png"/><Relationship Id="rId35" Type="http://schemas.openxmlformats.org/officeDocument/2006/relationships/customXml" Target="../ink/ink18.xml"/><Relationship Id="rId43" Type="http://schemas.openxmlformats.org/officeDocument/2006/relationships/image" Target="../media/image21.png"/><Relationship Id="rId48" Type="http://schemas.openxmlformats.org/officeDocument/2006/relationships/customXml" Target="../ink/ink25.xml"/><Relationship Id="rId56" Type="http://schemas.openxmlformats.org/officeDocument/2006/relationships/customXml" Target="../ink/ink29.xml"/><Relationship Id="rId8" Type="http://schemas.openxmlformats.org/officeDocument/2006/relationships/image" Target="../media/image5.png"/><Relationship Id="rId51" Type="http://schemas.openxmlformats.org/officeDocument/2006/relationships/image" Target="../media/image25.png"/><Relationship Id="rId3" Type="http://schemas.openxmlformats.org/officeDocument/2006/relationships/customXml" Target="../ink/ink1.xml"/><Relationship Id="rId12" Type="http://schemas.openxmlformats.org/officeDocument/2006/relationships/image" Target="../media/image70.png"/><Relationship Id="rId17" Type="http://schemas.openxmlformats.org/officeDocument/2006/relationships/image" Target="../media/image9.png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29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8.xml"/><Relationship Id="rId62" Type="http://schemas.openxmlformats.org/officeDocument/2006/relationships/customXml" Target="../ink/ink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5" Type="http://schemas.openxmlformats.org/officeDocument/2006/relationships/image" Target="../media/image80.png"/><Relationship Id="rId23" Type="http://schemas.openxmlformats.org/officeDocument/2006/relationships/customXml" Target="../ink/ink12.xml"/><Relationship Id="rId28" Type="http://schemas.openxmlformats.org/officeDocument/2006/relationships/image" Target="../media/image14.png"/><Relationship Id="rId36" Type="http://schemas.openxmlformats.org/officeDocument/2006/relationships/customXml" Target="../ink/ink19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image" Target="../media/image60.png"/><Relationship Id="rId31" Type="http://schemas.openxmlformats.org/officeDocument/2006/relationships/customXml" Target="../ink/ink16.xml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4" Type="http://schemas.openxmlformats.org/officeDocument/2006/relationships/image" Target="../media/image33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7" Type="http://schemas.openxmlformats.org/officeDocument/2006/relationships/hyperlink" Target="https://pt.wikipedia.org/wiki/Presidente_do_Paraguai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t.wikipedia.org/wiki/Francisco_Solano_L%C3%B3pez" TargetMode="External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484A829-8F6D-BCBC-DA24-A964E732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90487"/>
            <a:ext cx="1205865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8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E4EA6D7-7021-4CDC-8409-A85FB6CE299E}"/>
              </a:ext>
            </a:extLst>
          </p:cNvPr>
          <p:cNvSpPr txBox="1"/>
          <p:nvPr/>
        </p:nvSpPr>
        <p:spPr>
          <a:xfrm>
            <a:off x="866775" y="421115"/>
            <a:ext cx="6096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BRASIL IMPÉRIO - 2º REINADO – 1840-1889</a:t>
            </a:r>
          </a:p>
          <a:p>
            <a:pPr algn="just"/>
            <a:r>
              <a:rPr lang="pt-BR" sz="11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pt-BR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9EE4CC-FCBA-4A80-9EF4-DE6C83B3AB9B}"/>
              </a:ext>
            </a:extLst>
          </p:cNvPr>
          <p:cNvSpPr txBox="1"/>
          <p:nvPr/>
        </p:nvSpPr>
        <p:spPr>
          <a:xfrm>
            <a:off x="3498056" y="1818147"/>
            <a:ext cx="6348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 golpe da maioridade (1840): 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8573E53-D7B4-44A9-869B-D6E63255A494}"/>
              </a:ext>
            </a:extLst>
          </p:cNvPr>
          <p:cNvSpPr txBox="1"/>
          <p:nvPr/>
        </p:nvSpPr>
        <p:spPr>
          <a:xfrm>
            <a:off x="3498056" y="2357467"/>
            <a:ext cx="6348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restauração da ordem e a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pacificação do Brasil (1840-48)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8F44A0B-66E5-4AC6-A202-BED558B616A2}"/>
              </a:ext>
            </a:extLst>
          </p:cNvPr>
          <p:cNvSpPr txBox="1"/>
          <p:nvPr/>
        </p:nvSpPr>
        <p:spPr>
          <a:xfrm>
            <a:off x="3498056" y="2936110"/>
            <a:ext cx="6348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ransação e conciliação política: a implantação do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parlamentarismo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no Brasil: a partir de 1848  as elites conservadoras e liberais se conciliam para garantir o trabalho escravo e o latifúndio no Brasil. A estabilidade foi garantida pelo </a:t>
            </a: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parlamentarismo </a:t>
            </a:r>
            <a:r>
              <a:rPr lang="pt-BR" sz="18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às avessas</a:t>
            </a:r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8E6022-4227-47EB-B51D-B32EC48FDD7D}"/>
              </a:ext>
            </a:extLst>
          </p:cNvPr>
          <p:cNvSpPr txBox="1"/>
          <p:nvPr/>
        </p:nvSpPr>
        <p:spPr>
          <a:xfrm>
            <a:off x="3498056" y="4622749"/>
            <a:ext cx="63484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Ao contrário do sistema inglês, no Brasil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cabia ao imperador nomear o ministério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Inicia-se, assim, 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 rodízio no poder já que quem reinava, governava e administrava era o rei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política era tratada agora nos gabinetes, não nas ruas.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12B1B7A-070B-46C4-A6D2-125BDFAC525D}"/>
              </a:ext>
            </a:extLst>
          </p:cNvPr>
          <p:cNvSpPr txBox="1"/>
          <p:nvPr/>
        </p:nvSpPr>
        <p:spPr>
          <a:xfrm>
            <a:off x="333376" y="1199263"/>
            <a:ext cx="2457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 POLÍTICAS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077D931-CE37-4E84-8816-2FAC2925BE26}"/>
              </a:ext>
            </a:extLst>
          </p:cNvPr>
          <p:cNvSpPr/>
          <p:nvPr/>
        </p:nvSpPr>
        <p:spPr>
          <a:xfrm>
            <a:off x="561975" y="3152775"/>
            <a:ext cx="1981200" cy="781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Pacificação e Conciliação</a:t>
            </a:r>
          </a:p>
        </p:txBody>
      </p:sp>
      <p:sp>
        <p:nvSpPr>
          <p:cNvPr id="16" name="Chave Esquerda 15">
            <a:extLst>
              <a:ext uri="{FF2B5EF4-FFF2-40B4-BE49-F238E27FC236}">
                <a16:creationId xmlns:a16="http://schemas.microsoft.com/office/drawing/2014/main" id="{FE785FFE-BE3E-4594-87FF-BE44551E77E3}"/>
              </a:ext>
            </a:extLst>
          </p:cNvPr>
          <p:cNvSpPr/>
          <p:nvPr/>
        </p:nvSpPr>
        <p:spPr>
          <a:xfrm>
            <a:off x="4019550" y="1790700"/>
            <a:ext cx="45719" cy="548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have Esquerda 16">
            <a:extLst>
              <a:ext uri="{FF2B5EF4-FFF2-40B4-BE49-F238E27FC236}">
                <a16:creationId xmlns:a16="http://schemas.microsoft.com/office/drawing/2014/main" id="{BE52A407-A3AC-4C5B-A05F-3383109EB438}"/>
              </a:ext>
            </a:extLst>
          </p:cNvPr>
          <p:cNvSpPr/>
          <p:nvPr/>
        </p:nvSpPr>
        <p:spPr>
          <a:xfrm>
            <a:off x="3093204" y="1622553"/>
            <a:ext cx="592456" cy="42005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A577597-99C8-46F6-95CB-E9CCE0F95142}"/>
              </a:ext>
            </a:extLst>
          </p:cNvPr>
          <p:cNvCxnSpPr>
            <a:cxnSpLocks/>
          </p:cNvCxnSpPr>
          <p:nvPr/>
        </p:nvCxnSpPr>
        <p:spPr>
          <a:xfrm>
            <a:off x="2543175" y="3752850"/>
            <a:ext cx="381000" cy="138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2° ano - Brasil Império: Segundo Reinado">
            <a:extLst>
              <a:ext uri="{FF2B5EF4-FFF2-40B4-BE49-F238E27FC236}">
                <a16:creationId xmlns:a16="http://schemas.microsoft.com/office/drawing/2014/main" id="{AB1D455C-943B-4418-8D18-ECAB329C2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4" b="22032"/>
          <a:stretch/>
        </p:blipFill>
        <p:spPr bwMode="auto">
          <a:xfrm>
            <a:off x="7839782" y="156197"/>
            <a:ext cx="3612686" cy="219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4C0A088-0F00-2C7E-9B34-7E7EB5BB4DEB}"/>
              </a:ext>
            </a:extLst>
          </p:cNvPr>
          <p:cNvSpPr txBox="1"/>
          <p:nvPr/>
        </p:nvSpPr>
        <p:spPr>
          <a:xfrm>
            <a:off x="-13970" y="5611504"/>
            <a:ext cx="40335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Últimas revoltas armadas 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➔ Revoltas Liberais em SP e MG (1842) 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➔ Revolução Farroupilha (RS e SC/ 1835 – 1845) 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➔ Revolução Praieira (PE/1848-1850)</a:t>
            </a:r>
          </a:p>
        </p:txBody>
      </p:sp>
    </p:spTree>
    <p:extLst>
      <p:ext uri="{BB962C8B-B14F-4D97-AF65-F5344CB8AC3E}">
        <p14:creationId xmlns:p14="http://schemas.microsoft.com/office/powerpoint/2010/main" val="1787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D73AAE3-82C4-D1A7-24BF-21EFA8B97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057" y="1191992"/>
            <a:ext cx="7533983" cy="502265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C6E3CFD-60DC-79CC-4ECA-B55DD863C6CE}"/>
              </a:ext>
            </a:extLst>
          </p:cNvPr>
          <p:cNvSpPr txBox="1"/>
          <p:nvPr/>
        </p:nvSpPr>
        <p:spPr>
          <a:xfrm>
            <a:off x="650240" y="4064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CONCILIAÇÃO</a:t>
            </a:r>
          </a:p>
        </p:txBody>
      </p:sp>
    </p:spTree>
    <p:extLst>
      <p:ext uri="{BB962C8B-B14F-4D97-AF65-F5344CB8AC3E}">
        <p14:creationId xmlns:p14="http://schemas.microsoft.com/office/powerpoint/2010/main" val="404451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2AA84ED-22E9-AF29-B1F4-FAE0320D3B9A}"/>
              </a:ext>
            </a:extLst>
          </p:cNvPr>
          <p:cNvSpPr txBox="1"/>
          <p:nvPr/>
        </p:nvSpPr>
        <p:spPr>
          <a:xfrm>
            <a:off x="833120" y="922496"/>
            <a:ext cx="1001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1838: Fundação do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Instituto Histórico e Geográfico Brasileiro (IHGB)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➔ Produção de uma História Nacional ➔ Carl Von Martius: harmonia das “três raças” OBS: “História Oficial” - Romantismo ➔ Indianismo (índio idealizado)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4E00E3-5D7A-F946-A989-185D19FC73FB}"/>
              </a:ext>
            </a:extLst>
          </p:cNvPr>
          <p:cNvSpPr txBox="1"/>
          <p:nvPr/>
        </p:nvSpPr>
        <p:spPr>
          <a:xfrm>
            <a:off x="111760" y="206494"/>
            <a:ext cx="7355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Construção de uma Identidade Nacional </a:t>
            </a:r>
            <a:r>
              <a:rPr lang="pt-BR" dirty="0"/>
              <a:t>-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C4DA639-A716-81DB-184A-1C0B505A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" y="2684938"/>
            <a:ext cx="6108602" cy="400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FE3CB45-DF17-E0BA-79CA-80B110CF5749}"/>
              </a:ext>
            </a:extLst>
          </p:cNvPr>
          <p:cNvSpPr txBox="1"/>
          <p:nvPr/>
        </p:nvSpPr>
        <p:spPr>
          <a:xfrm>
            <a:off x="347980" y="2782669"/>
            <a:ext cx="610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Moema” – Personagem do poema épico “Caramuru” - 1866 -  </a:t>
            </a:r>
            <a:r>
              <a:rPr lang="pt-BR" b="1" u="none" strike="noStrike" dirty="0">
                <a:solidFill>
                  <a:schemeClr val="bg1"/>
                </a:solidFill>
                <a:effectLst/>
                <a:hlinkClick r:id="rId3" tooltip="Victor Meirel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Victor Meirelles</a:t>
            </a:r>
            <a:endParaRPr lang="pt-BR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62D75AD-1620-6790-1486-5B11BFC86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185" y="2782669"/>
            <a:ext cx="5663456" cy="368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8D2132-BB61-F16C-25B9-925D1F1599AF}"/>
              </a:ext>
            </a:extLst>
          </p:cNvPr>
          <p:cNvSpPr txBox="1"/>
          <p:nvPr/>
        </p:nvSpPr>
        <p:spPr>
          <a:xfrm>
            <a:off x="6315185" y="2797651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1" dirty="0">
                <a:solidFill>
                  <a:srgbClr val="727272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José Maria de Medeiros – Iracema, 1884 óleo s/tela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6321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imeira missa brasil">
            <a:extLst>
              <a:ext uri="{FF2B5EF4-FFF2-40B4-BE49-F238E27FC236}">
                <a16:creationId xmlns:a16="http://schemas.microsoft.com/office/drawing/2014/main" id="{4C136643-AEE3-0826-481A-B751642DB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1" y="126252"/>
            <a:ext cx="8676639" cy="6623171"/>
          </a:xfrm>
          <a:prstGeom prst="rect">
            <a:avLst/>
          </a:prstGeom>
          <a:noFill/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A47E0A3-E2C6-959E-4255-FECCEEB87B99}"/>
              </a:ext>
            </a:extLst>
          </p:cNvPr>
          <p:cNvSpPr txBox="1"/>
          <p:nvPr/>
        </p:nvSpPr>
        <p:spPr>
          <a:xfrm>
            <a:off x="1127760" y="58372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</a:rPr>
              <a:t>A primeira missa no Brasil”- segundo o pintor Victor Meirelles-  Quadro pintado em 1861</a:t>
            </a:r>
            <a:endParaRPr lang="pt-B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04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3D34141-9BE6-4855-B316-95D47B7BD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283749"/>
            <a:ext cx="9061996" cy="58630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8A89C3A8-89EC-47AC-8A97-5EB8687930E2}"/>
                  </a:ext>
                </a:extLst>
              </p14:cNvPr>
              <p14:cNvContentPartPr/>
              <p14:nvPr/>
            </p14:nvContentPartPr>
            <p14:xfrm>
              <a:off x="721200" y="2001120"/>
              <a:ext cx="360" cy="36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8A89C3A8-89EC-47AC-8A97-5EB8687930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200" y="1893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0EABDA83-466B-46CD-AF36-8F25350A2A78}"/>
                  </a:ext>
                </a:extLst>
              </p14:cNvPr>
              <p14:cNvContentPartPr/>
              <p14:nvPr/>
            </p14:nvContentPartPr>
            <p14:xfrm>
              <a:off x="2051760" y="2615280"/>
              <a:ext cx="1391760" cy="36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0EABDA83-466B-46CD-AF36-8F25350A2A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8120" y="2507640"/>
                <a:ext cx="1499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1EAFA3EC-681D-4BF9-98E9-D87DE94EC53F}"/>
                  </a:ext>
                </a:extLst>
              </p14:cNvPr>
              <p14:cNvContentPartPr/>
              <p14:nvPr/>
            </p14:nvContentPartPr>
            <p14:xfrm>
              <a:off x="2163360" y="2241240"/>
              <a:ext cx="2183760" cy="36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1EAFA3EC-681D-4BF9-98E9-D87DE94EC5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9720" y="2133240"/>
                <a:ext cx="2291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D1EE5287-0D46-48E8-96D9-A1B509655293}"/>
                  </a:ext>
                </a:extLst>
              </p14:cNvPr>
              <p14:cNvContentPartPr/>
              <p14:nvPr/>
            </p14:nvContentPartPr>
            <p14:xfrm>
              <a:off x="2875080" y="2663160"/>
              <a:ext cx="794880" cy="36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D1EE5287-0D46-48E8-96D9-A1B5096552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21080" y="2555160"/>
                <a:ext cx="902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7614BF40-498A-4D4C-8FA3-64EE796604ED}"/>
                  </a:ext>
                </a:extLst>
              </p14:cNvPr>
              <p14:cNvContentPartPr/>
              <p14:nvPr/>
            </p14:nvContentPartPr>
            <p14:xfrm>
              <a:off x="3576000" y="2616360"/>
              <a:ext cx="74232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7614BF40-498A-4D4C-8FA3-64EE796604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22000" y="2508360"/>
                <a:ext cx="849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B843AF2D-36F9-4CA4-A122-5ABB5C0562F7}"/>
                  </a:ext>
                </a:extLst>
              </p14:cNvPr>
              <p14:cNvContentPartPr/>
              <p14:nvPr/>
            </p14:nvContentPartPr>
            <p14:xfrm>
              <a:off x="3728640" y="2849640"/>
              <a:ext cx="360" cy="36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B843AF2D-36F9-4CA4-A122-5ABB5C0562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4640" y="27416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3B33A2F3-2610-4F10-A7E1-637D462F52A3}"/>
                  </a:ext>
                </a:extLst>
              </p14:cNvPr>
              <p14:cNvContentPartPr/>
              <p14:nvPr/>
            </p14:nvContentPartPr>
            <p14:xfrm>
              <a:off x="2834040" y="2974560"/>
              <a:ext cx="1521720" cy="36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3B33A2F3-2610-4F10-A7E1-637D462F52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80040" y="2866560"/>
                <a:ext cx="1629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66FC20C6-C3DB-46D1-990F-69801563A583}"/>
                  </a:ext>
                </a:extLst>
              </p14:cNvPr>
              <p14:cNvContentPartPr/>
              <p14:nvPr/>
            </p14:nvContentPartPr>
            <p14:xfrm>
              <a:off x="2976240" y="3469200"/>
              <a:ext cx="1347840" cy="36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66FC20C6-C3DB-46D1-990F-69801563A5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22600" y="3361560"/>
                <a:ext cx="1455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9C0EF9DF-6C89-4015-8CBC-F7BB3D3749F4}"/>
                  </a:ext>
                </a:extLst>
              </p14:cNvPr>
              <p14:cNvContentPartPr/>
              <p14:nvPr/>
            </p14:nvContentPartPr>
            <p14:xfrm>
              <a:off x="2813880" y="2418720"/>
              <a:ext cx="1584000" cy="36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9C0EF9DF-6C89-4015-8CBC-F7BB3D3749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59880" y="2310720"/>
                <a:ext cx="1691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8C93107E-6017-49B6-BA96-531673BD8B57}"/>
                  </a:ext>
                </a:extLst>
              </p14:cNvPr>
              <p14:cNvContentPartPr/>
              <p14:nvPr/>
            </p14:nvContentPartPr>
            <p14:xfrm>
              <a:off x="2854920" y="2045040"/>
              <a:ext cx="360" cy="36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8C93107E-6017-49B6-BA96-531673BD8B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0920" y="19374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474FE265-A71F-4A06-9A7C-C4F8DD57B38C}"/>
                  </a:ext>
                </a:extLst>
              </p14:cNvPr>
              <p14:cNvContentPartPr/>
              <p14:nvPr/>
            </p14:nvContentPartPr>
            <p14:xfrm>
              <a:off x="2854920" y="2045040"/>
              <a:ext cx="1532880" cy="3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474FE265-A71F-4A06-9A7C-C4F8DD57B38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00920" y="1937400"/>
                <a:ext cx="1640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C0A107E3-C580-46F7-ACC5-0793F7ED827B}"/>
                  </a:ext>
                </a:extLst>
              </p14:cNvPr>
              <p14:cNvContentPartPr/>
              <p14:nvPr/>
            </p14:nvContentPartPr>
            <p14:xfrm>
              <a:off x="2763120" y="2794200"/>
              <a:ext cx="1574640" cy="36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C0A107E3-C580-46F7-ACC5-0793F7ED827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709480" y="2686200"/>
                <a:ext cx="1682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E5DD0B58-AF47-4224-ADBE-6A68F1F80EA3}"/>
                  </a:ext>
                </a:extLst>
              </p14:cNvPr>
              <p14:cNvContentPartPr/>
              <p14:nvPr/>
            </p14:nvContentPartPr>
            <p14:xfrm>
              <a:off x="2854920" y="3373800"/>
              <a:ext cx="1452600" cy="36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E5DD0B58-AF47-4224-ADBE-6A68F1F80EA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800920" y="3265800"/>
                <a:ext cx="1560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88E63077-7E7B-4760-B142-9094B6EF4E8A}"/>
                  </a:ext>
                </a:extLst>
              </p14:cNvPr>
              <p14:cNvContentPartPr/>
              <p14:nvPr/>
            </p14:nvContentPartPr>
            <p14:xfrm>
              <a:off x="2722080" y="3259680"/>
              <a:ext cx="1668240" cy="36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88E63077-7E7B-4760-B142-9094B6EF4E8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668440" y="3151680"/>
                <a:ext cx="1775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2199D28C-7BA5-43EC-B3AF-99A21BD998D6}"/>
                  </a:ext>
                </a:extLst>
              </p14:cNvPr>
              <p14:cNvContentPartPr/>
              <p14:nvPr/>
            </p14:nvContentPartPr>
            <p14:xfrm>
              <a:off x="2834040" y="3607800"/>
              <a:ext cx="1554840" cy="36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2199D28C-7BA5-43EC-B3AF-99A21BD998D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80040" y="3499800"/>
                <a:ext cx="1662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92268345-205C-456C-9555-7A10266D8E78}"/>
                  </a:ext>
                </a:extLst>
              </p14:cNvPr>
              <p14:cNvContentPartPr/>
              <p14:nvPr/>
            </p14:nvContentPartPr>
            <p14:xfrm>
              <a:off x="2773560" y="3667920"/>
              <a:ext cx="1658880" cy="36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92268345-205C-456C-9555-7A10266D8E7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19560" y="3560280"/>
                <a:ext cx="1766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BC17B6E6-D851-4C59-B18C-84C4D5F613DF}"/>
                  </a:ext>
                </a:extLst>
              </p14:cNvPr>
              <p14:cNvContentPartPr/>
              <p14:nvPr/>
            </p14:nvContentPartPr>
            <p14:xfrm>
              <a:off x="2793720" y="4080120"/>
              <a:ext cx="1625400" cy="360"/>
            </p14:xfrm>
          </p:contentPart>
        </mc:Choice>
        <mc:Fallback xmlns=""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BC17B6E6-D851-4C59-B18C-84C4D5F613D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39720" y="3972480"/>
                <a:ext cx="1733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782D2048-2CD4-4C35-AD00-987C37FDD9CA}"/>
                  </a:ext>
                </a:extLst>
              </p14:cNvPr>
              <p14:cNvContentPartPr/>
              <p14:nvPr/>
            </p14:nvContentPartPr>
            <p14:xfrm>
              <a:off x="2925480" y="3921000"/>
              <a:ext cx="360" cy="36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782D2048-2CD4-4C35-AD00-987C37FDD9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1840" y="38130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340411D2-797C-4DAD-92FB-1C200F868273}"/>
                  </a:ext>
                </a:extLst>
              </p14:cNvPr>
              <p14:cNvContentPartPr/>
              <p14:nvPr/>
            </p14:nvContentPartPr>
            <p14:xfrm>
              <a:off x="2844480" y="3921000"/>
              <a:ext cx="1517760" cy="36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340411D2-797C-4DAD-92FB-1C200F86827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90480" y="3813000"/>
                <a:ext cx="1625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9C267D04-6D14-4628-A272-2FBD7D849AAF}"/>
                  </a:ext>
                </a:extLst>
              </p14:cNvPr>
              <p14:cNvContentPartPr/>
              <p14:nvPr/>
            </p14:nvContentPartPr>
            <p14:xfrm>
              <a:off x="2813880" y="4387560"/>
              <a:ext cx="1510560" cy="360"/>
            </p14:xfrm>
          </p:contentPart>
        </mc:Choice>
        <mc:Fallback xmlns=""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9C267D04-6D14-4628-A272-2FBD7D849AA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59880" y="4279560"/>
                <a:ext cx="1618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8AE0EC0F-51A1-42E2-AA71-548D7EBAF42A}"/>
                  </a:ext>
                </a:extLst>
              </p14:cNvPr>
              <p14:cNvContentPartPr/>
              <p14:nvPr/>
            </p14:nvContentPartPr>
            <p14:xfrm>
              <a:off x="6105720" y="233520"/>
              <a:ext cx="4320" cy="360"/>
            </p14:xfrm>
          </p:contentPart>
        </mc:Choice>
        <mc:Fallback xmlns=""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8AE0EC0F-51A1-42E2-AA71-548D7EBAF4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52080" y="125520"/>
                <a:ext cx="111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EFDD85D5-1948-4788-B8AB-113CA3D938C7}"/>
                  </a:ext>
                </a:extLst>
              </p14:cNvPr>
              <p14:cNvContentPartPr/>
              <p14:nvPr/>
            </p14:nvContentPartPr>
            <p14:xfrm>
              <a:off x="8026320" y="1838400"/>
              <a:ext cx="689040" cy="14364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EFDD85D5-1948-4788-B8AB-113CA3D938C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972320" y="1730400"/>
                <a:ext cx="79668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F4DE7BD7-F63B-4B81-BC04-364E4FD72A32}"/>
                  </a:ext>
                </a:extLst>
              </p14:cNvPr>
              <p14:cNvContentPartPr/>
              <p14:nvPr/>
            </p14:nvContentPartPr>
            <p14:xfrm>
              <a:off x="8371560" y="1764240"/>
              <a:ext cx="356040" cy="20700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F4DE7BD7-F63B-4B81-BC04-364E4FD72A3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317920" y="1656600"/>
                <a:ext cx="4636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2F819A46-E3B1-4AC2-A14A-FECAB2B0FFC2}"/>
                  </a:ext>
                </a:extLst>
              </p14:cNvPr>
              <p14:cNvContentPartPr/>
              <p14:nvPr/>
            </p14:nvContentPartPr>
            <p14:xfrm>
              <a:off x="8320440" y="2126760"/>
              <a:ext cx="264960" cy="4068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2F819A46-E3B1-4AC2-A14A-FECAB2B0FFC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66800" y="2018760"/>
                <a:ext cx="3726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880A87ED-F291-4547-8AF2-3CAF1C843512}"/>
                  </a:ext>
                </a:extLst>
              </p14:cNvPr>
              <p14:cNvContentPartPr/>
              <p14:nvPr/>
            </p14:nvContentPartPr>
            <p14:xfrm>
              <a:off x="8280120" y="2508720"/>
              <a:ext cx="326520" cy="3636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880A87ED-F291-4547-8AF2-3CAF1C84351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226480" y="2401080"/>
                <a:ext cx="4341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02EA296E-72C5-419B-89FA-557C43534812}"/>
                  </a:ext>
                </a:extLst>
              </p14:cNvPr>
              <p14:cNvContentPartPr/>
              <p14:nvPr/>
            </p14:nvContentPartPr>
            <p14:xfrm>
              <a:off x="8341320" y="2935320"/>
              <a:ext cx="284760" cy="1152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02EA296E-72C5-419B-89FA-557C4353481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87320" y="2827320"/>
                <a:ext cx="3924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AA1BF0C1-60D5-446F-82A1-2A4206DC881E}"/>
                  </a:ext>
                </a:extLst>
              </p14:cNvPr>
              <p14:cNvContentPartPr/>
              <p14:nvPr/>
            </p14:nvContentPartPr>
            <p14:xfrm>
              <a:off x="8290560" y="3179400"/>
              <a:ext cx="270000" cy="1152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AA1BF0C1-60D5-446F-82A1-2A4206DC881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236920" y="3071760"/>
                <a:ext cx="3776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B7E2EF31-24CD-4748-B28F-01D66CA82D0F}"/>
                  </a:ext>
                </a:extLst>
              </p14:cNvPr>
              <p14:cNvContentPartPr/>
              <p14:nvPr/>
            </p14:nvContentPartPr>
            <p14:xfrm>
              <a:off x="8310720" y="3555600"/>
              <a:ext cx="468720" cy="1116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B7E2EF31-24CD-4748-B28F-01D66CA82D0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257080" y="3447600"/>
                <a:ext cx="5763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D79E9111-CF73-4A5E-B9C8-3F326583E7BB}"/>
                  </a:ext>
                </a:extLst>
              </p14:cNvPr>
              <p14:cNvContentPartPr/>
              <p14:nvPr/>
            </p14:nvContentPartPr>
            <p14:xfrm>
              <a:off x="8249520" y="3911280"/>
              <a:ext cx="336960" cy="6156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D79E9111-CF73-4A5E-B9C8-3F326583E7B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195880" y="3803640"/>
                <a:ext cx="4446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0C097F2F-5C6C-4F8B-8122-17DCCEEF11BA}"/>
                  </a:ext>
                </a:extLst>
              </p14:cNvPr>
              <p14:cNvContentPartPr/>
              <p14:nvPr/>
            </p14:nvContentPartPr>
            <p14:xfrm>
              <a:off x="8300280" y="4266600"/>
              <a:ext cx="415800" cy="62280"/>
            </p14:xfrm>
          </p:contentPart>
        </mc:Choice>
        <mc:Fallback xmlns=""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0C097F2F-5C6C-4F8B-8122-17DCCEEF11B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46640" y="4158600"/>
                <a:ext cx="5234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DA35FD11-BBCA-4334-9F03-80EA97D7190B}"/>
                  </a:ext>
                </a:extLst>
              </p14:cNvPr>
              <p14:cNvContentPartPr/>
              <p14:nvPr/>
            </p14:nvContentPartPr>
            <p14:xfrm>
              <a:off x="7284360" y="2853600"/>
              <a:ext cx="344520" cy="1296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DA35FD11-BBCA-4334-9F03-80EA97D7190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230360" y="2745600"/>
                <a:ext cx="4521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74240530-901E-4804-93FD-D98054B6125D}"/>
                  </a:ext>
                </a:extLst>
              </p14:cNvPr>
              <p14:cNvContentPartPr/>
              <p14:nvPr/>
            </p14:nvContentPartPr>
            <p14:xfrm>
              <a:off x="7182840" y="3139080"/>
              <a:ext cx="579960" cy="13356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74240530-901E-4804-93FD-D98054B6125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29200" y="3031080"/>
                <a:ext cx="687600" cy="34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965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2147299-84AA-41D6-A3E2-B3C9CFA2EE97}"/>
              </a:ext>
            </a:extLst>
          </p:cNvPr>
          <p:cNvSpPr/>
          <p:nvPr/>
        </p:nvSpPr>
        <p:spPr>
          <a:xfrm>
            <a:off x="786764" y="383739"/>
            <a:ext cx="3223261" cy="314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ECONOMIA  DO 2º REINADO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E85F9B-4DE0-4495-B437-5A34D363DBC0}"/>
              </a:ext>
            </a:extLst>
          </p:cNvPr>
          <p:cNvSpPr txBox="1"/>
          <p:nvPr/>
        </p:nvSpPr>
        <p:spPr>
          <a:xfrm>
            <a:off x="85725" y="1232534"/>
            <a:ext cx="335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CAFÉ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inicialmente plantado no 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Vale do Paraíba sob forma de PLANTATION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D75888-E1A0-4E18-B3EF-FBEA8E726283}"/>
              </a:ext>
            </a:extLst>
          </p:cNvPr>
          <p:cNvSpPr txBox="1"/>
          <p:nvPr/>
        </p:nvSpPr>
        <p:spPr>
          <a:xfrm>
            <a:off x="261620" y="2442209"/>
            <a:ext cx="4062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Cultivo  Predatório da região (o que vai gerar um esgotamento e uma diminuição produtiva no longo prazo), uso intenso do trabalho escravo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F74093-F7EF-42D8-9CA0-6BA02A7CC893}"/>
              </a:ext>
            </a:extLst>
          </p:cNvPr>
          <p:cNvSpPr txBox="1"/>
          <p:nvPr/>
        </p:nvSpPr>
        <p:spPr>
          <a:xfrm>
            <a:off x="447675" y="4442936"/>
            <a:ext cx="31527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Formação de uma elite econômica que, junto com as antigas elites proprietárias (Senhores de Engenho, etc.) servirão como base de apoio político do 2º Reinado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A4DDEF86-90C9-4ED5-A309-633132140DED}"/>
              </a:ext>
            </a:extLst>
          </p:cNvPr>
          <p:cNvCxnSpPr/>
          <p:nvPr/>
        </p:nvCxnSpPr>
        <p:spPr>
          <a:xfrm>
            <a:off x="1571625" y="2155864"/>
            <a:ext cx="0" cy="234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A6D382C-D0C3-4E8C-BD1A-0DB464ED0C74}"/>
              </a:ext>
            </a:extLst>
          </p:cNvPr>
          <p:cNvCxnSpPr/>
          <p:nvPr/>
        </p:nvCxnSpPr>
        <p:spPr>
          <a:xfrm>
            <a:off x="1990725" y="3714750"/>
            <a:ext cx="0" cy="409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90363D4-5B31-4CD6-9654-2153698477F5}"/>
              </a:ext>
            </a:extLst>
          </p:cNvPr>
          <p:cNvCxnSpPr>
            <a:cxnSpLocks/>
          </p:cNvCxnSpPr>
          <p:nvPr/>
        </p:nvCxnSpPr>
        <p:spPr>
          <a:xfrm>
            <a:off x="3496945" y="5701399"/>
            <a:ext cx="518159" cy="349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DA81647-20D0-4951-AE3C-47A1BFBEB43E}"/>
              </a:ext>
            </a:extLst>
          </p:cNvPr>
          <p:cNvSpPr txBox="1"/>
          <p:nvPr/>
        </p:nvSpPr>
        <p:spPr>
          <a:xfrm>
            <a:off x="3496945" y="6228179"/>
            <a:ext cx="2778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OS BARÕES DO CAFÉ</a:t>
            </a:r>
          </a:p>
        </p:txBody>
      </p:sp>
      <p:pic>
        <p:nvPicPr>
          <p:cNvPr id="2052" name="Picture 4" descr="Escravos em terreiro de uma fazenda de café na região do Vale do Paraíba">
            <a:extLst>
              <a:ext uri="{FF2B5EF4-FFF2-40B4-BE49-F238E27FC236}">
                <a16:creationId xmlns:a16="http://schemas.microsoft.com/office/drawing/2014/main" id="{33E5A368-447C-40CF-A1FC-1F995E957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512" y="698064"/>
            <a:ext cx="4677816" cy="352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Economia Cafeeira - História do Brasil - Cola da Web">
            <a:extLst>
              <a:ext uri="{FF2B5EF4-FFF2-40B4-BE49-F238E27FC236}">
                <a16:creationId xmlns:a16="http://schemas.microsoft.com/office/drawing/2014/main" id="{364CE7E9-C6E9-444E-98DE-ADDF46657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001" y="4310774"/>
            <a:ext cx="3950358" cy="254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4D5914B4-4CA0-4A22-90A8-DC2421E6DD85}"/>
              </a:ext>
            </a:extLst>
          </p:cNvPr>
          <p:cNvSpPr/>
          <p:nvPr/>
        </p:nvSpPr>
        <p:spPr>
          <a:xfrm>
            <a:off x="1571625" y="875188"/>
            <a:ext cx="2361278" cy="3143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1ª FASE 1840/1860</a:t>
            </a:r>
          </a:p>
        </p:txBody>
      </p:sp>
    </p:spTree>
    <p:extLst>
      <p:ext uri="{BB962C8B-B14F-4D97-AF65-F5344CB8AC3E}">
        <p14:creationId xmlns:p14="http://schemas.microsoft.com/office/powerpoint/2010/main" val="3242160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conomia Cafeeira - História do Brasil - Cola da Web">
            <a:extLst>
              <a:ext uri="{FF2B5EF4-FFF2-40B4-BE49-F238E27FC236}">
                <a16:creationId xmlns:a16="http://schemas.microsoft.com/office/drawing/2014/main" id="{FF180D8D-A26D-4B6B-96B7-3A9AC3A6D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530" y="522580"/>
            <a:ext cx="7591425" cy="489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8F82060-C4D2-4286-99BE-44958B245669}"/>
              </a:ext>
            </a:extLst>
          </p:cNvPr>
          <p:cNvSpPr/>
          <p:nvPr/>
        </p:nvSpPr>
        <p:spPr>
          <a:xfrm>
            <a:off x="578567" y="550723"/>
            <a:ext cx="2361278" cy="3143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2ª FASE 1860/1930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334C812-22B6-451D-BC4D-1EF0EDD1CE9A}"/>
              </a:ext>
            </a:extLst>
          </p:cNvPr>
          <p:cNvSpPr txBox="1"/>
          <p:nvPr/>
        </p:nvSpPr>
        <p:spPr>
          <a:xfrm>
            <a:off x="745715" y="1420390"/>
            <a:ext cx="219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OESTE PAULISTA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5C5060-7C36-4EB1-94C5-7C02DF6751B1}"/>
              </a:ext>
            </a:extLst>
          </p:cNvPr>
          <p:cNvSpPr txBox="1"/>
          <p:nvPr/>
        </p:nvSpPr>
        <p:spPr>
          <a:xfrm>
            <a:off x="204709" y="1860783"/>
            <a:ext cx="3993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Condições favoráveis para o plantio (a terra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rossa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relevo favorável); cultivo mais racional do solo,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993E529-8093-40BB-A781-AD81975D15E0}"/>
              </a:ext>
            </a:extLst>
          </p:cNvPr>
          <p:cNvSpPr txBox="1"/>
          <p:nvPr/>
        </p:nvSpPr>
        <p:spPr>
          <a:xfrm>
            <a:off x="936434" y="5648402"/>
            <a:ext cx="95516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Surgimento de uma nova elite, mais capitalista , conhecida como “burguesia cafeeira” ( essa </a:t>
            </a:r>
            <a:r>
              <a:rPr lang="pt-BR">
                <a:latin typeface="Arial" panose="020B0604020202020204" pitchFamily="34" charset="0"/>
                <a:cs typeface="Arial" panose="020B0604020202020204" pitchFamily="34" charset="0"/>
              </a:rPr>
              <a:t>elite estará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por trás do surgimento do Partido Republicano em 1873 e será uma base social importante para o golpe em 15/11/1889)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C4EA60-5BC9-4491-B7E4-53EAD02FADAA}"/>
              </a:ext>
            </a:extLst>
          </p:cNvPr>
          <p:cNvSpPr txBox="1"/>
          <p:nvPr/>
        </p:nvSpPr>
        <p:spPr>
          <a:xfrm>
            <a:off x="578567" y="3429000"/>
            <a:ext cx="35471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Uso do trabalho imigrante (“Sistema de Parceria” , no início; depois a “Imigração Subvencionada”), pouco uso de mão de obra escrava...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C157EC1-2879-4E8F-B21E-BEB21BFD3B5B}"/>
              </a:ext>
            </a:extLst>
          </p:cNvPr>
          <p:cNvCxnSpPr/>
          <p:nvPr/>
        </p:nvCxnSpPr>
        <p:spPr>
          <a:xfrm>
            <a:off x="1520328" y="2970088"/>
            <a:ext cx="0" cy="368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E9D5DA7-E5B3-4C33-9FBD-C929480B49CA}"/>
              </a:ext>
            </a:extLst>
          </p:cNvPr>
          <p:cNvCxnSpPr/>
          <p:nvPr/>
        </p:nvCxnSpPr>
        <p:spPr>
          <a:xfrm>
            <a:off x="2500829" y="5012675"/>
            <a:ext cx="0" cy="404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8E6A4691-87DB-4083-86E7-6A7A3E9ED8F7}"/>
              </a:ext>
            </a:extLst>
          </p:cNvPr>
          <p:cNvCxnSpPr/>
          <p:nvPr/>
        </p:nvCxnSpPr>
        <p:spPr>
          <a:xfrm flipV="1">
            <a:off x="5684704" y="5417597"/>
            <a:ext cx="220337" cy="182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31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9E181D2-912D-4D54-9C34-DC22B6485B04}"/>
              </a:ext>
            </a:extLst>
          </p:cNvPr>
          <p:cNvSpPr txBox="1"/>
          <p:nvPr/>
        </p:nvSpPr>
        <p:spPr>
          <a:xfrm>
            <a:off x="1127760" y="650240"/>
            <a:ext cx="546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A TRANSIÇÃO DO TRABALHO ESCRAVO PARA TRABALHO ASSALARIADO E LIVRE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4517B5-AC62-4DE2-AF7E-655F2E7FF971}"/>
              </a:ext>
            </a:extLst>
          </p:cNvPr>
          <p:cNvSpPr txBox="1"/>
          <p:nvPr/>
        </p:nvSpPr>
        <p:spPr>
          <a:xfrm>
            <a:off x="566156" y="1902373"/>
            <a:ext cx="4710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Pressão Inglesa ( desde os Tratados de 1810)- Brasil “finge” abolir o tráfico em 1831 ( “Lei para Inglês ver”)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BF051C-2F98-495A-880F-0A4BEB816E5B}"/>
              </a:ext>
            </a:extLst>
          </p:cNvPr>
          <p:cNvSpPr txBox="1"/>
          <p:nvPr/>
        </p:nvSpPr>
        <p:spPr>
          <a:xfrm>
            <a:off x="7020913" y="1488740"/>
            <a:ext cx="3289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 tarifas protecionistas “Alves Branco”(1844)  geram um posição mais agressiva da Inglaterra que adota a 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“Bill Aberdeen”( 1845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ED1165-40E0-4842-A48C-71722085740E}"/>
              </a:ext>
            </a:extLst>
          </p:cNvPr>
          <p:cNvSpPr txBox="1"/>
          <p:nvPr/>
        </p:nvSpPr>
        <p:spPr>
          <a:xfrm>
            <a:off x="6337741" y="3108968"/>
            <a:ext cx="53497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A marinha britânica passou a ter o direito de aprisionar  qualquer navio negreiro,,,</a:t>
            </a:r>
            <a:r>
              <a:rPr lang="pt-BR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circunlando</a:t>
            </a:r>
            <a:r>
              <a:rPr lang="pt-BR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 pelo Atlântico...</a:t>
            </a:r>
            <a:endParaRPr lang="pt-BR" dirty="0"/>
          </a:p>
        </p:txBody>
      </p:sp>
      <p:pic>
        <p:nvPicPr>
          <p:cNvPr id="1026" name="Picture 2" descr="Examine a seguinte tabela: A tabela apresenta dados que podem ser  explicados a) pela lei de - Brainly.com.br">
            <a:extLst>
              <a:ext uri="{FF2B5EF4-FFF2-40B4-BE49-F238E27FC236}">
                <a16:creationId xmlns:a16="http://schemas.microsoft.com/office/drawing/2014/main" id="{46F41F87-4A48-434B-BE31-41F6CCD5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45" y="3429000"/>
            <a:ext cx="5628615" cy="268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6E04667-4E49-4650-9F57-DA8E31073EA0}"/>
              </a:ext>
            </a:extLst>
          </p:cNvPr>
          <p:cNvCxnSpPr/>
          <p:nvPr/>
        </p:nvCxnSpPr>
        <p:spPr>
          <a:xfrm>
            <a:off x="7683062" y="2966068"/>
            <a:ext cx="0" cy="1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7B6408A-1572-4D11-AF5B-A45BB696AAD8}"/>
              </a:ext>
            </a:extLst>
          </p:cNvPr>
          <p:cNvCxnSpPr>
            <a:cxnSpLocks/>
          </p:cNvCxnSpPr>
          <p:nvPr/>
        </p:nvCxnSpPr>
        <p:spPr>
          <a:xfrm flipH="1">
            <a:off x="5990897" y="4175198"/>
            <a:ext cx="602943" cy="480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D16F92F5-DE71-4987-B335-8785E854F9AE}"/>
              </a:ext>
            </a:extLst>
          </p:cNvPr>
          <p:cNvSpPr/>
          <p:nvPr/>
        </p:nvSpPr>
        <p:spPr>
          <a:xfrm>
            <a:off x="7893269" y="4175198"/>
            <a:ext cx="126124" cy="4808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73DB01-FE74-4C7A-9FC4-3BEEED4B7143}"/>
              </a:ext>
            </a:extLst>
          </p:cNvPr>
          <p:cNvSpPr txBox="1"/>
          <p:nvPr/>
        </p:nvSpPr>
        <p:spPr>
          <a:xfrm>
            <a:off x="6445470" y="4682881"/>
            <a:ext cx="4674474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crescente repressão inglesa gera  a votação no Parlamento Brasileiro da “Lei Eusébio de Queiroz”- 1850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49C5BC2-E8DE-477C-B418-47CB8E083369}"/>
              </a:ext>
            </a:extLst>
          </p:cNvPr>
          <p:cNvSpPr txBox="1"/>
          <p:nvPr/>
        </p:nvSpPr>
        <p:spPr>
          <a:xfrm>
            <a:off x="7178565" y="5790250"/>
            <a:ext cx="4067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Lei que efetivamente elimina o Tráfico de escravos para o Brasil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7D0A061F-2FA8-4E40-BDF2-E39BA2B2D420}"/>
              </a:ext>
            </a:extLst>
          </p:cNvPr>
          <p:cNvCxnSpPr/>
          <p:nvPr/>
        </p:nvCxnSpPr>
        <p:spPr>
          <a:xfrm>
            <a:off x="7788166" y="5606211"/>
            <a:ext cx="105103" cy="184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82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mudança apresentada na tabela é reflexo da Lei Eusébio de Queioz que, em  1850 - Primeiro Dia - Enem 2015 Segunda Aplicação - Gabarito Enem">
            <a:extLst>
              <a:ext uri="{FF2B5EF4-FFF2-40B4-BE49-F238E27FC236}">
                <a16:creationId xmlns:a16="http://schemas.microsoft.com/office/drawing/2014/main" id="{665F238F-17E8-4C9F-B05D-B54592366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" y="956786"/>
            <a:ext cx="6064839" cy="494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D3DFE2A-3CAA-41C1-8077-C8EA808236CF}"/>
              </a:ext>
            </a:extLst>
          </p:cNvPr>
          <p:cNvSpPr txBox="1"/>
          <p:nvPr/>
        </p:nvSpPr>
        <p:spPr>
          <a:xfrm>
            <a:off x="7091680" y="1390192"/>
            <a:ext cx="30378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Consequências da extinção do tráfico</a:t>
            </a:r>
          </a:p>
          <a:p>
            <a:pPr algn="just" eaLnBrk="1" hangingPunct="1">
              <a:defRPr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9E3F86-84B5-4C26-BC04-2E0B22963505}"/>
              </a:ext>
            </a:extLst>
          </p:cNvPr>
          <p:cNvSpPr txBox="1"/>
          <p:nvPr/>
        </p:nvSpPr>
        <p:spPr>
          <a:xfrm>
            <a:off x="6766560" y="2783284"/>
            <a:ext cx="4947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sz="1800" b="1" dirty="0">
                <a:latin typeface="Comic Sans MS" pitchFamily="66" charset="0"/>
              </a:rPr>
              <a:t>Liberação de capital para aplicação em outros setores da economia</a:t>
            </a:r>
          </a:p>
          <a:p>
            <a:pPr algn="just" eaLnBrk="1" hangingPunct="1">
              <a:defRPr/>
            </a:pPr>
            <a:endParaRPr lang="pt-BR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4A3AA2-8611-41B2-95BE-1828036741F1}"/>
              </a:ext>
            </a:extLst>
          </p:cNvPr>
          <p:cNvSpPr txBox="1"/>
          <p:nvPr/>
        </p:nvSpPr>
        <p:spPr>
          <a:xfrm>
            <a:off x="6755718" y="3706002"/>
            <a:ext cx="44710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b="1" dirty="0">
                <a:latin typeface="Comic Sans MS" pitchFamily="66" charset="0"/>
              </a:rPr>
              <a:t>Início da entrada de imigrantes para algumas fazendas de Café (Sistema de Parceria)</a:t>
            </a:r>
            <a:endParaRPr lang="pt-BR" sz="1800" b="1" dirty="0">
              <a:latin typeface="Comic Sans MS" pitchFamily="66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E9E338-6ED9-4BFE-8C70-5B22E0456298}"/>
              </a:ext>
            </a:extLst>
          </p:cNvPr>
          <p:cNvSpPr txBox="1"/>
          <p:nvPr/>
        </p:nvSpPr>
        <p:spPr>
          <a:xfrm>
            <a:off x="6766560" y="4895276"/>
            <a:ext cx="336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sz="1800" b="1" dirty="0">
                <a:latin typeface="Comic Sans MS" pitchFamily="66" charset="0"/>
              </a:rPr>
              <a:t>Modernização econômica.</a:t>
            </a:r>
            <a:endParaRPr lang="pt-BR" dirty="0"/>
          </a:p>
        </p:txBody>
      </p:sp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C73EFE21-15BC-4975-871F-9D20AAF8082E}"/>
              </a:ext>
            </a:extLst>
          </p:cNvPr>
          <p:cNvSpPr/>
          <p:nvPr/>
        </p:nvSpPr>
        <p:spPr>
          <a:xfrm>
            <a:off x="8209280" y="2286000"/>
            <a:ext cx="162560" cy="406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59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D93DAA0-0779-45A2-9E6B-16466D922873}"/>
              </a:ext>
            </a:extLst>
          </p:cNvPr>
          <p:cNvSpPr txBox="1"/>
          <p:nvPr/>
        </p:nvSpPr>
        <p:spPr>
          <a:xfrm>
            <a:off x="848360" y="188278"/>
            <a:ext cx="8346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O comércio interno de escravos</a:t>
            </a:r>
            <a:endParaRPr lang="pt-BR" sz="3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250476-8162-446D-BDA4-57C66619348C}"/>
              </a:ext>
            </a:extLst>
          </p:cNvPr>
          <p:cNvSpPr txBox="1"/>
          <p:nvPr/>
        </p:nvSpPr>
        <p:spPr>
          <a:xfrm>
            <a:off x="5750560" y="1262349"/>
            <a:ext cx="62788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O fim do tráfico negreiro deixou aos escravistas do café uma ampla área de manobras. Não podendo contar com a participação de escravos, e, ao mesmo tempo, não podendo prescindir de seu trabalho, os fazendeiros do Sul começaram a comprar os escravos do Note.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CE25CE-F7A7-4715-B43A-0AB7A20158A5}"/>
              </a:ext>
            </a:extLst>
          </p:cNvPr>
          <p:cNvSpPr txBox="1"/>
          <p:nvPr/>
        </p:nvSpPr>
        <p:spPr>
          <a:xfrm>
            <a:off x="6149340" y="2954409"/>
            <a:ext cx="567944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 decadência econômica do Norte, aliada ao preço alto que o escravo atingia no Sul, facilitou esse comércio.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BB5C3A-F760-4A7B-A66E-61DB3E76DBE2}"/>
              </a:ext>
            </a:extLst>
          </p:cNvPr>
          <p:cNvSpPr txBox="1"/>
          <p:nvPr/>
        </p:nvSpPr>
        <p:spPr>
          <a:xfrm>
            <a:off x="6223000" y="4147871"/>
            <a:ext cx="53340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 transferência de escravo de uma região para outro trouxe dupla consequência: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B112E4E-D7CA-4C8F-B552-C823CA54D7EA}"/>
              </a:ext>
            </a:extLst>
          </p:cNvPr>
          <p:cNvSpPr txBox="1"/>
          <p:nvPr/>
        </p:nvSpPr>
        <p:spPr>
          <a:xfrm>
            <a:off x="6223000" y="5175536"/>
            <a:ext cx="505460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Agravou a situação econômica do norte e não resolveu as necessidades de mão-de-obra do Sul.</a:t>
            </a:r>
          </a:p>
        </p:txBody>
      </p:sp>
      <p:pic>
        <p:nvPicPr>
          <p:cNvPr id="1026" name="Picture 2" descr="Tráfico de pessoas | Escravo, Nem Pensar">
            <a:extLst>
              <a:ext uri="{FF2B5EF4-FFF2-40B4-BE49-F238E27FC236}">
                <a16:creationId xmlns:a16="http://schemas.microsoft.com/office/drawing/2014/main" id="{4C56423A-2A33-D6C6-CAC2-F82903003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4" r="12007"/>
          <a:stretch/>
        </p:blipFill>
        <p:spPr bwMode="auto">
          <a:xfrm>
            <a:off x="462280" y="1427421"/>
            <a:ext cx="5054600" cy="452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99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D51385B-68F2-472E-9507-4604E1A00D2D}"/>
              </a:ext>
            </a:extLst>
          </p:cNvPr>
          <p:cNvSpPr/>
          <p:nvPr/>
        </p:nvSpPr>
        <p:spPr>
          <a:xfrm>
            <a:off x="466724" y="285750"/>
            <a:ext cx="4333876" cy="419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SURTO INDUSTRIAL 1860/70- A ERA MAUÁ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2B2A5A9-E1D4-4439-8077-6B985F190FB6}"/>
              </a:ext>
            </a:extLst>
          </p:cNvPr>
          <p:cNvSpPr/>
          <p:nvPr/>
        </p:nvSpPr>
        <p:spPr>
          <a:xfrm>
            <a:off x="466724" y="2324100"/>
            <a:ext cx="2352676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FATORES FAVORÁVEIS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05D833-7AF6-45DE-8C80-B378BBDD827E}"/>
              </a:ext>
            </a:extLst>
          </p:cNvPr>
          <p:cNvSpPr txBox="1"/>
          <p:nvPr/>
        </p:nvSpPr>
        <p:spPr>
          <a:xfrm>
            <a:off x="3495675" y="1191309"/>
            <a:ext cx="8362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Afim de ampliar a arrecadação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 impostos, o governo imperial aumenta as tarifas de importação (T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arifas Alves Branco que aumentou para 60%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gerando um involuntário </a:t>
            </a:r>
            <a:r>
              <a:rPr lang="pt-BR" b="1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protecionismo alfandegário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e irritando a Inglaterra...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643FB8-9517-483D-A759-9B0067ABB1C6}"/>
              </a:ext>
            </a:extLst>
          </p:cNvPr>
          <p:cNvSpPr txBox="1"/>
          <p:nvPr/>
        </p:nvSpPr>
        <p:spPr>
          <a:xfrm>
            <a:off x="3771901" y="2306153"/>
            <a:ext cx="8486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...que passa, em represália, a aumentar as pressões inglesas contra o Tráfico Negreiro </a:t>
            </a:r>
          </a:p>
          <a:p>
            <a:r>
              <a:rPr lang="pt-BR" dirty="0"/>
              <a:t>(</a:t>
            </a:r>
            <a:r>
              <a:rPr lang="pt-BR"/>
              <a:t>Bill Aberdeen  </a:t>
            </a:r>
            <a:r>
              <a:rPr lang="pt-BR" dirty="0"/>
              <a:t>- 1845) ... Isto obriga o Estado Brasileiro a abolir o Tráfico Negreiro “de verdade” </a:t>
            </a:r>
            <a:r>
              <a:rPr lang="pt-BR" b="1" dirty="0"/>
              <a:t>( LEI EUSÉBIO DE QUEIRÓS-1850)...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8BF218-DAF2-43D1-9132-D34A3F69F9C5}"/>
              </a:ext>
            </a:extLst>
          </p:cNvPr>
          <p:cNvSpPr txBox="1"/>
          <p:nvPr/>
        </p:nvSpPr>
        <p:spPr>
          <a:xfrm>
            <a:off x="3695700" y="3571875"/>
            <a:ext cx="7981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fim do Tráfico estimula a busca por alternativas em mão de obra, o que leva a entrada das primeiras levas de </a:t>
            </a:r>
            <a:r>
              <a:rPr lang="pt-BR" b="1" dirty="0">
                <a:highlight>
                  <a:srgbClr val="FFFF00"/>
                </a:highlight>
              </a:rPr>
              <a:t>imigrantes </a:t>
            </a:r>
            <a:r>
              <a:rPr lang="pt-BR" dirty="0"/>
              <a:t>gerando um gradativo aumento do </a:t>
            </a:r>
            <a:r>
              <a:rPr lang="pt-BR" b="1" dirty="0">
                <a:highlight>
                  <a:srgbClr val="FFFF00"/>
                </a:highlight>
              </a:rPr>
              <a:t>mercado interno...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AED3551-29FB-4EF9-BA29-D0CFB1065A84}"/>
              </a:ext>
            </a:extLst>
          </p:cNvPr>
          <p:cNvSpPr txBox="1"/>
          <p:nvPr/>
        </p:nvSpPr>
        <p:spPr>
          <a:xfrm>
            <a:off x="466724" y="4587090"/>
            <a:ext cx="115347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Ao mesmo tempo, o fim do tráfico também foi importante para o surto industrial já que permitiu uma vultosa liberação de </a:t>
            </a:r>
            <a:r>
              <a:rPr lang="pt-BR" sz="18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capitais 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 comerciantes de escravos procuraram outras alternativas de ganho e investimentos) que vão ser empregadas em ferrovias e pequenas indústrias...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além das linhas férreas, iluminação a gás, cabo submarino para o telégrafo , etc.).</a:t>
            </a:r>
            <a:endParaRPr lang="pt-BR" dirty="0"/>
          </a:p>
        </p:txBody>
      </p:sp>
      <p:pic>
        <p:nvPicPr>
          <p:cNvPr id="1026" name="Picture 2" descr="Aventuras na História · Da infância turbulenta ao auge no Segundo Reinado:  A saga do Barão de Mauá">
            <a:extLst>
              <a:ext uri="{FF2B5EF4-FFF2-40B4-BE49-F238E27FC236}">
                <a16:creationId xmlns:a16="http://schemas.microsoft.com/office/drawing/2014/main" id="{182B5C57-9CDB-4B51-8DF0-8D3D1B458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825" y="5636502"/>
            <a:ext cx="2114550" cy="118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145722-1537-4E01-9079-8EB3F00DEA9F}"/>
              </a:ext>
            </a:extLst>
          </p:cNvPr>
          <p:cNvSpPr txBox="1"/>
          <p:nvPr/>
        </p:nvSpPr>
        <p:spPr>
          <a:xfrm>
            <a:off x="238125" y="5925919"/>
            <a:ext cx="8743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Um dos comerciantes que aproveitaram esses capitais, foi o Barão de Mauá... Empresário e banqueiro brasileiro  que comprou o Banco do Brasil ( na época , Banco Privado) e foi sócio de alguns empresário ingleses em várias ferrovias no Brasil e no Uruguai.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F8DC5F3-C675-48DE-9CC4-3D64A3F22F6E}"/>
              </a:ext>
            </a:extLst>
          </p:cNvPr>
          <p:cNvCxnSpPr>
            <a:endCxn id="14" idx="3"/>
          </p:cNvCxnSpPr>
          <p:nvPr/>
        </p:nvCxnSpPr>
        <p:spPr>
          <a:xfrm>
            <a:off x="8439150" y="6249084"/>
            <a:ext cx="542924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FAE372F8-4D9B-40AF-A214-5FFF23AD16B5}"/>
              </a:ext>
            </a:extLst>
          </p:cNvPr>
          <p:cNvCxnSpPr/>
          <p:nvPr/>
        </p:nvCxnSpPr>
        <p:spPr>
          <a:xfrm flipV="1">
            <a:off x="3009901" y="1868004"/>
            <a:ext cx="409574" cy="493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6A07B2A2-990A-49E3-9500-4B980400E8DC}"/>
              </a:ext>
            </a:extLst>
          </p:cNvPr>
          <p:cNvCxnSpPr/>
          <p:nvPr/>
        </p:nvCxnSpPr>
        <p:spPr>
          <a:xfrm>
            <a:off x="3024188" y="2443021"/>
            <a:ext cx="571500" cy="277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4FF4F32-1106-4817-A95A-7E8A272A75A4}"/>
              </a:ext>
            </a:extLst>
          </p:cNvPr>
          <p:cNvCxnSpPr>
            <a:cxnSpLocks/>
          </p:cNvCxnSpPr>
          <p:nvPr/>
        </p:nvCxnSpPr>
        <p:spPr>
          <a:xfrm>
            <a:off x="3009901" y="2581596"/>
            <a:ext cx="585787" cy="1131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556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9D0593C-D5B6-3CD9-C74F-E64F66822BF1}"/>
              </a:ext>
            </a:extLst>
          </p:cNvPr>
          <p:cNvSpPr/>
          <p:nvPr/>
        </p:nvSpPr>
        <p:spPr>
          <a:xfrm>
            <a:off x="670560" y="1193800"/>
            <a:ext cx="2316480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LEI DE TERRAS DE 1850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46D8408-FEA9-68A6-940C-90E8D6E8089D}"/>
              </a:ext>
            </a:extLst>
          </p:cNvPr>
          <p:cNvSpPr/>
          <p:nvPr/>
        </p:nvSpPr>
        <p:spPr>
          <a:xfrm>
            <a:off x="548640" y="2315845"/>
            <a:ext cx="5466080" cy="115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Dificulta a compra das terras “devolutas” (sem dono/ do Estado) por parte dos imigrantes obrigando-os a trabalhar para a economia cafeeira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97FA00-1C9F-E351-9B70-4141D56180B9}"/>
              </a:ext>
            </a:extLst>
          </p:cNvPr>
          <p:cNvSpPr/>
          <p:nvPr/>
        </p:nvSpPr>
        <p:spPr>
          <a:xfrm>
            <a:off x="3596640" y="145415"/>
            <a:ext cx="2966720" cy="548640"/>
          </a:xfrm>
          <a:prstGeom prst="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 Black" panose="020B0A04020102020204" pitchFamily="34" charset="0"/>
              </a:rPr>
              <a:t>O apoio do Estado à Economia Cafeeira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8AABA6-A7EB-3003-373D-EFEE72894347}"/>
              </a:ext>
            </a:extLst>
          </p:cNvPr>
          <p:cNvSpPr/>
          <p:nvPr/>
        </p:nvSpPr>
        <p:spPr>
          <a:xfrm>
            <a:off x="5821680" y="1008380"/>
            <a:ext cx="5384800" cy="1056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O fracasso do Sistema de Parceria... leva o Estado a patrocinar a imigração com a </a:t>
            </a:r>
            <a:r>
              <a:rPr lang="pt-BR" dirty="0">
                <a:solidFill>
                  <a:schemeClr val="tx1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Imigração Subvencionada... (a  partir de 1871)</a:t>
            </a:r>
          </a:p>
        </p:txBody>
      </p:sp>
      <p:pic>
        <p:nvPicPr>
          <p:cNvPr id="2050" name="Picture 2" descr="Imigração italiana no Brasil, razões e principais destinos | Oriundi.net">
            <a:extLst>
              <a:ext uri="{FF2B5EF4-FFF2-40B4-BE49-F238E27FC236}">
                <a16:creationId xmlns:a16="http://schemas.microsoft.com/office/drawing/2014/main" id="{790261A1-9BA2-4427-7270-E0B63A42C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570" y="2996565"/>
            <a:ext cx="4801870" cy="270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BGE | Brasil: 500 anos de povoamento | território brasileiro e povoamento  | italianos | razões da emigração italiana">
            <a:extLst>
              <a:ext uri="{FF2B5EF4-FFF2-40B4-BE49-F238E27FC236}">
                <a16:creationId xmlns:a16="http://schemas.microsoft.com/office/drawing/2014/main" id="{AB943963-CBCA-425C-9B02-1EAE64DD0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3686810"/>
            <a:ext cx="523875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6A6A134-B504-BDFB-643D-18EE10A14C7A}"/>
              </a:ext>
            </a:extLst>
          </p:cNvPr>
          <p:cNvSpPr txBox="1"/>
          <p:nvPr/>
        </p:nvSpPr>
        <p:spPr>
          <a:xfrm>
            <a:off x="762000" y="6312475"/>
            <a:ext cx="5059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FF0000"/>
                </a:solidFill>
                <a:latin typeface="Arial Black" panose="020B0A04020102020204" pitchFamily="34" charset="0"/>
              </a:rPr>
              <a:t>https://brasil500anos.ibge.gov.br/territorio-brasileiro-e-povoamento/italianos/razoes-da-emigracao-italiana.html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CAA4FB-05ED-42F8-359E-302992FF22DB}"/>
              </a:ext>
            </a:extLst>
          </p:cNvPr>
          <p:cNvSpPr txBox="1"/>
          <p:nvPr/>
        </p:nvSpPr>
        <p:spPr>
          <a:xfrm>
            <a:off x="7481572" y="5299443"/>
            <a:ext cx="3948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Família Boff. Caxias do Sul, 1904. Museu Municipal de Caxias do Sul</a:t>
            </a:r>
            <a:endParaRPr lang="pt-B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475FF28-4E5B-CF8A-C900-574B40DC3486}"/>
              </a:ext>
            </a:extLst>
          </p:cNvPr>
          <p:cNvCxnSpPr/>
          <p:nvPr/>
        </p:nvCxnSpPr>
        <p:spPr>
          <a:xfrm>
            <a:off x="2255520" y="18796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6B53755-CCE7-F24E-B34A-BA30E9854EA0}"/>
              </a:ext>
            </a:extLst>
          </p:cNvPr>
          <p:cNvCxnSpPr/>
          <p:nvPr/>
        </p:nvCxnSpPr>
        <p:spPr>
          <a:xfrm flipH="1">
            <a:off x="3281680" y="924560"/>
            <a:ext cx="802640" cy="612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A166D939-AFBD-257C-3CCC-0DBA35932837}"/>
              </a:ext>
            </a:extLst>
          </p:cNvPr>
          <p:cNvCxnSpPr/>
          <p:nvPr/>
        </p:nvCxnSpPr>
        <p:spPr>
          <a:xfrm>
            <a:off x="4947920" y="924560"/>
            <a:ext cx="741680" cy="612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56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07F1F43-F1CC-150E-FC0F-4A63182EE01B}"/>
              </a:ext>
            </a:extLst>
          </p:cNvPr>
          <p:cNvSpPr/>
          <p:nvPr/>
        </p:nvSpPr>
        <p:spPr>
          <a:xfrm>
            <a:off x="701040" y="568960"/>
            <a:ext cx="3342640" cy="812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POLÍTICA EXTERNA DO 2º REINADO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C0CF668-57DC-7914-1AD4-769CFFBF72D1}"/>
              </a:ext>
            </a:extLst>
          </p:cNvPr>
          <p:cNvSpPr/>
          <p:nvPr/>
        </p:nvSpPr>
        <p:spPr>
          <a:xfrm>
            <a:off x="5506720" y="264160"/>
            <a:ext cx="5598160" cy="13614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 Black" panose="020B0A04020102020204" pitchFamily="34" charset="0"/>
              </a:rPr>
              <a:t>Relações com a Inglaterra tensas devido a sua intensa pressão contra o Tráfico (A Bill Aberdeen, por exemplo)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586DA0-5A55-2BC6-AD91-633ABBB1AECC}"/>
              </a:ext>
            </a:extLst>
          </p:cNvPr>
          <p:cNvSpPr txBox="1"/>
          <p:nvPr/>
        </p:nvSpPr>
        <p:spPr>
          <a:xfrm>
            <a:off x="5659120" y="1805131"/>
            <a:ext cx="4917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 Black" panose="020B0A04020102020204" pitchFamily="34" charset="0"/>
              </a:rPr>
              <a:t>Relativa diversificação em nossas exportações e importações (EUA, França, </a:t>
            </a:r>
            <a:r>
              <a:rPr lang="pt-BR" sz="2000" dirty="0" err="1">
                <a:solidFill>
                  <a:schemeClr val="tx1"/>
                </a:solidFill>
                <a:latin typeface="Arial Black" panose="020B0A04020102020204" pitchFamily="34" charset="0"/>
              </a:rPr>
              <a:t>etc</a:t>
            </a:r>
            <a:r>
              <a:rPr lang="pt-BR" sz="2000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3611F96-47E7-664A-8D44-E03FA8A7290D}"/>
              </a:ext>
            </a:extLst>
          </p:cNvPr>
          <p:cNvSpPr txBox="1"/>
          <p:nvPr/>
        </p:nvSpPr>
        <p:spPr>
          <a:xfrm>
            <a:off x="1884680" y="3647440"/>
            <a:ext cx="9118600" cy="2254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n-ea"/>
                <a:cs typeface="Arial"/>
              </a:rPr>
              <a:t>1861 → incidente no RS - navio </a:t>
            </a:r>
            <a:r>
              <a:rPr kumimoji="0" lang="pt-BR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n-ea"/>
                <a:cs typeface="Arial"/>
              </a:rPr>
              <a:t>Prince </a:t>
            </a:r>
            <a:r>
              <a:rPr kumimoji="0" lang="pt-BR" sz="25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n-ea"/>
                <a:cs typeface="Arial"/>
              </a:rPr>
              <a:t>of</a:t>
            </a:r>
            <a:r>
              <a:rPr kumimoji="0" lang="pt-BR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n-ea"/>
                <a:cs typeface="Arial"/>
              </a:rPr>
              <a:t> Wales </a:t>
            </a:r>
            <a:endParaRPr kumimoji="0" lang="pt-BR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Black" pitchFamily="34" charset="0"/>
              <a:ea typeface="+mn-ea"/>
              <a:cs typeface="Arial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n-ea"/>
                <a:cs typeface="Arial"/>
              </a:rPr>
              <a:t>1862 → incidente no RJ – marinheiros ingleses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n-ea"/>
                <a:cs typeface="Arial"/>
              </a:rPr>
              <a:t>1863 – 1865 → ruptura de relações diplomáticas</a:t>
            </a:r>
          </a:p>
          <a:p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9404C82-1EA1-89AB-840C-E88120E563E6}"/>
              </a:ext>
            </a:extLst>
          </p:cNvPr>
          <p:cNvSpPr txBox="1"/>
          <p:nvPr/>
        </p:nvSpPr>
        <p:spPr>
          <a:xfrm>
            <a:off x="924560" y="3098577"/>
            <a:ext cx="264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FFFF00"/>
                </a:solidFill>
                <a:highlight>
                  <a:srgbClr val="FF0000"/>
                </a:highlight>
                <a:latin typeface="Arial Black" pitchFamily="34" charset="0"/>
              </a:rPr>
              <a:t>A Questão Christie 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07C4B00-826A-1DD5-211D-C506AFAD2CB6}"/>
              </a:ext>
            </a:extLst>
          </p:cNvPr>
          <p:cNvSpPr txBox="1"/>
          <p:nvPr/>
        </p:nvSpPr>
        <p:spPr>
          <a:xfrm>
            <a:off x="2753360" y="5642709"/>
            <a:ext cx="692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  <a:latin typeface="Arial Black" panose="020B0A04020102020204" pitchFamily="34" charset="0"/>
              </a:rPr>
              <a:t>Ruptura com não afeta às transações comerciais entre os dois países</a:t>
            </a:r>
          </a:p>
        </p:txBody>
      </p:sp>
    </p:spTree>
    <p:extLst>
      <p:ext uri="{BB962C8B-B14F-4D97-AF65-F5344CB8AC3E}">
        <p14:creationId xmlns:p14="http://schemas.microsoft.com/office/powerpoint/2010/main" val="2796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D6C990-8B3E-C047-D059-ED44D2C28108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Guerra do Paraguai – 1864 -1870</a:t>
            </a:r>
          </a:p>
        </p:txBody>
      </p:sp>
      <p:pic>
        <p:nvPicPr>
          <p:cNvPr id="3074" name="Picture 2" descr="Figura 1 Mapa das operações militares">
            <a:extLst>
              <a:ext uri="{FF2B5EF4-FFF2-40B4-BE49-F238E27FC236}">
                <a16:creationId xmlns:a16="http://schemas.microsoft.com/office/drawing/2014/main" id="{2544ABA4-1C9D-AD71-687C-A9C1BCF9D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7804" y="218440"/>
            <a:ext cx="7444776" cy="642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64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7" name="Rectangle 41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Ilustração de 1868 retrata os cenários de batalha durante a Guerra do Paraguai">
            <a:extLst>
              <a:ext uri="{FF2B5EF4-FFF2-40B4-BE49-F238E27FC236}">
                <a16:creationId xmlns:a16="http://schemas.microsoft.com/office/drawing/2014/main" id="{C2D63618-2278-FBDE-BACD-529F3D8D0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" r="870" b="1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9" name="Rectangle 41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532A8C-EBD0-8C56-8DBB-64A6E3869F7D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55629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0C4DFCAE-A683-076F-FA0C-A99609640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1" y="1180158"/>
            <a:ext cx="4348112" cy="481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Bacia Platina – arvoreagua">
            <a:extLst>
              <a:ext uri="{FF2B5EF4-FFF2-40B4-BE49-F238E27FC236}">
                <a16:creationId xmlns:a16="http://schemas.microsoft.com/office/drawing/2014/main" id="{5E5E6C31-A70D-2E6B-2A67-78AAD3C31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" y="238760"/>
            <a:ext cx="6619240" cy="661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81677B0-5574-007F-F8C5-DE1F5991A1A3}"/>
              </a:ext>
            </a:extLst>
          </p:cNvPr>
          <p:cNvSpPr/>
          <p:nvPr/>
        </p:nvSpPr>
        <p:spPr>
          <a:xfrm>
            <a:off x="7284720" y="101600"/>
            <a:ext cx="2844800" cy="76278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Arial Black" panose="020B0A04020102020204" pitchFamily="34" charset="0"/>
              </a:rPr>
              <a:t>A IMPORTÂNCIA DA BACIA PLATINA</a:t>
            </a:r>
          </a:p>
        </p:txBody>
      </p:sp>
    </p:spTree>
    <p:extLst>
      <p:ext uri="{BB962C8B-B14F-4D97-AF65-F5344CB8AC3E}">
        <p14:creationId xmlns:p14="http://schemas.microsoft.com/office/powerpoint/2010/main" val="4095891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B8995E7-1A32-2783-8F48-3EDE1F974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1" y="722709"/>
            <a:ext cx="4348112" cy="481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47A633D-D9F9-A638-8931-46B54E5AA148}"/>
              </a:ext>
            </a:extLst>
          </p:cNvPr>
          <p:cNvSpPr txBox="1"/>
          <p:nvPr/>
        </p:nvSpPr>
        <p:spPr>
          <a:xfrm>
            <a:off x="375737" y="206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INTERESSES NA BACIA PLATINA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8D1F64-A5B6-526B-1A83-F276D22E4F7A}"/>
              </a:ext>
            </a:extLst>
          </p:cNvPr>
          <p:cNvSpPr txBox="1"/>
          <p:nvPr/>
        </p:nvSpPr>
        <p:spPr>
          <a:xfrm>
            <a:off x="4888844" y="618208"/>
            <a:ext cx="70971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PARAGUAI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GOVERNADO POR VÁRIOS DITADORES, E POR ÚLTIMO, PELO CAUDILHO-DITADOR </a:t>
            </a:r>
            <a:r>
              <a:rPr lang="pt-BR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SOLANO LOPEZ,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TEM UM PLANO DE DESENVOLVIMENTO ECONÔMICO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EM QUE A 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SAÍDA PARA O ATLÂNTICO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VIA RIOS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SERIA FUNDAMENTAL (NÃO DEPENDERIA DA BOA VONTADE DA ARGENTINA E DO BRASIL...)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25C45B3E-B76F-E792-9408-81DAAED4B1E4}"/>
                  </a:ext>
                </a:extLst>
              </p14:cNvPr>
              <p14:cNvContentPartPr/>
              <p14:nvPr/>
            </p14:nvContentPartPr>
            <p14:xfrm>
              <a:off x="1984800" y="3129440"/>
              <a:ext cx="667800" cy="220428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25C45B3E-B76F-E792-9408-81DAAED4B1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6160" y="3120440"/>
                <a:ext cx="685440" cy="222192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01575FB-ABB2-7C89-F975-60ACF1F81D1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999924" y="1495371"/>
            <a:ext cx="1888920" cy="1278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771ED74-9E39-CFEA-20C4-EF10FF334690}"/>
              </a:ext>
            </a:extLst>
          </p:cNvPr>
          <p:cNvSpPr txBox="1"/>
          <p:nvPr/>
        </p:nvSpPr>
        <p:spPr>
          <a:xfrm>
            <a:off x="4888844" y="2401988"/>
            <a:ext cx="7183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INGLATERRA E BRASIL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QUERIAM GARANTIR A ‘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LIVRE NAVEGAÇÃO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’ NA BACIA PLATINA...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71506C6-A68D-CEA3-B8BD-7726AD3857CF}"/>
              </a:ext>
            </a:extLst>
          </p:cNvPr>
          <p:cNvSpPr txBox="1"/>
          <p:nvPr/>
        </p:nvSpPr>
        <p:spPr>
          <a:xfrm>
            <a:off x="4888844" y="3215917"/>
            <a:ext cx="6786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BRASIL E ARGENTINA INTERFEREM CONSTANTEMENTE NA POLÍTICA INTERNA DO URUGUAI (</a:t>
            </a:r>
            <a:r>
              <a:rPr lang="pt-BR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PARTIDO BLANCO X PARTIDO COLORADO</a:t>
            </a:r>
            <a:r>
              <a:rPr lang="pt-BR" sz="1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 APOIANDO OS PARTIDOS QUE DISPUTAM O PODER ALI...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261709-AE10-BC6D-9553-E632C9CB5A7C}"/>
              </a:ext>
            </a:extLst>
          </p:cNvPr>
          <p:cNvSpPr txBox="1"/>
          <p:nvPr/>
        </p:nvSpPr>
        <p:spPr>
          <a:xfrm>
            <a:off x="223521" y="5683054"/>
            <a:ext cx="5595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SOLANO LOPES SE ALIA AO PARTIDO BLANCO</a:t>
            </a:r>
            <a:r>
              <a:rPr lang="pt-BR" dirty="0"/>
              <a:t>,  QUE GOVERNAVA O URUGUAI-1863- PARA GARANTIR ACESSO AO PORTO DE MONTEVIDEU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F884347-416C-36C6-E944-3F274CB326A5}"/>
              </a:ext>
            </a:extLst>
          </p:cNvPr>
          <p:cNvSpPr txBox="1"/>
          <p:nvPr/>
        </p:nvSpPr>
        <p:spPr>
          <a:xfrm>
            <a:off x="7843520" y="4134857"/>
            <a:ext cx="38322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TER OS ‘COLORADOS’ NO PODER, GARANTEM OS INTERESSES DE PROPRIETÁRIOS BRASILEIROS DE TERRAS NO URUGUAI E PASSAGEM PELA BACIA PLATINA</a:t>
            </a:r>
            <a:endParaRPr lang="pt-BR" sz="1100" b="1" dirty="0"/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CA04C6CE-31F9-22C8-B0D5-C23D44664F55}"/>
              </a:ext>
            </a:extLst>
          </p:cNvPr>
          <p:cNvCxnSpPr>
            <a:stCxn id="10" idx="1"/>
          </p:cNvCxnSpPr>
          <p:nvPr/>
        </p:nvCxnSpPr>
        <p:spPr>
          <a:xfrm flipH="1">
            <a:off x="2999924" y="1495371"/>
            <a:ext cx="1888920" cy="4187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28874349-06A3-D7AD-6BAC-8F067FDC17D2}"/>
              </a:ext>
            </a:extLst>
          </p:cNvPr>
          <p:cNvSpPr/>
          <p:nvPr/>
        </p:nvSpPr>
        <p:spPr>
          <a:xfrm>
            <a:off x="6373044" y="5114819"/>
            <a:ext cx="5445760" cy="8427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“</a:t>
            </a:r>
            <a:r>
              <a:rPr lang="pt-BR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Blancos</a:t>
            </a: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são derrubados do governo pelos “Colorados” apoiados militarmente pelo Brasil e Argentina...1864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B606B7CA-6193-7F1F-7C43-50FB92BBA829}"/>
              </a:ext>
            </a:extLst>
          </p:cNvPr>
          <p:cNvCxnSpPr/>
          <p:nvPr/>
        </p:nvCxnSpPr>
        <p:spPr>
          <a:xfrm>
            <a:off x="6096000" y="4519577"/>
            <a:ext cx="277044" cy="479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Francisco Solano López">
            <a:extLst>
              <a:ext uri="{FF2B5EF4-FFF2-40B4-BE49-F238E27FC236}">
                <a16:creationId xmlns:a16="http://schemas.microsoft.com/office/drawing/2014/main" id="{CB2ED1A0-AC13-CB53-6B48-5C61EE0ED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77" y="3980953"/>
            <a:ext cx="1009911" cy="162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4AF05767-6C62-8CDA-7893-132C2434849C}"/>
              </a:ext>
            </a:extLst>
          </p:cNvPr>
          <p:cNvSpPr txBox="1"/>
          <p:nvPr/>
        </p:nvSpPr>
        <p:spPr>
          <a:xfrm>
            <a:off x="117177" y="4805162"/>
            <a:ext cx="1550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6" tooltip="Francisco Solano Lópe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Francisco Solano López</a:t>
            </a:r>
            <a:r>
              <a:rPr lang="pt-BR" sz="11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pt-BR" sz="11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7" tooltip="Presidente do Paragu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Presidente do Paraguai</a:t>
            </a:r>
            <a:r>
              <a:rPr lang="pt-BR" sz="11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de 1862 a 1870</a:t>
            </a:r>
            <a:endParaRPr lang="pt-B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170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19C97B0-7DD2-FD8B-0582-EEA893C6254F}"/>
              </a:ext>
            </a:extLst>
          </p:cNvPr>
          <p:cNvSpPr txBox="1"/>
          <p:nvPr/>
        </p:nvSpPr>
        <p:spPr>
          <a:xfrm>
            <a:off x="185268" y="1679361"/>
            <a:ext cx="66117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"Os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primeiros atos de agressão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relacionados ao início da Guerra do Paraguai foram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 aprisionamento de uma embarcação brasileira (Marquês de Olinda), que navegava pelo rio Paraguai em direção a Cuiabá, e a invasão do Mato Grosso (atual Mato Grosso do Sul), ocorrida em 26 de dezembro de 1864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O ataque paraguaio ao Brasil foi uma represália à invasão do território uruguaio, conduzida pelo governo brasileiro em favor dos colorados e contra os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blancos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(aliados de Solano López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).(</a:t>
            </a:r>
            <a:r>
              <a:rPr lang="pt-BR" b="1" dirty="0"/>
              <a:t>"Guerra do Paraguai" em: https://brasilescola.uol.com.br/</a:t>
            </a:r>
            <a:r>
              <a:rPr lang="pt-BR" b="1" dirty="0" err="1"/>
              <a:t>historiab</a:t>
            </a:r>
            <a:r>
              <a:rPr lang="pt-BR" b="1" dirty="0"/>
              <a:t>/guerra-paraguai.htm)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778FA49-DD18-E0A9-53D3-F4BC28ABF43F}"/>
              </a:ext>
            </a:extLst>
          </p:cNvPr>
          <p:cNvSpPr/>
          <p:nvPr/>
        </p:nvSpPr>
        <p:spPr>
          <a:xfrm>
            <a:off x="406400" y="325120"/>
            <a:ext cx="2021840" cy="985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ESTOPIM DA GUERRA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E1413A5-DEEC-BF65-07A7-44263ABB87AE}"/>
              </a:ext>
            </a:extLst>
          </p:cNvPr>
          <p:cNvCxnSpPr>
            <a:stCxn id="4" idx="6"/>
          </p:cNvCxnSpPr>
          <p:nvPr/>
        </p:nvCxnSpPr>
        <p:spPr>
          <a:xfrm>
            <a:off x="2428240" y="817880"/>
            <a:ext cx="548640" cy="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3599D8-4EB3-ED36-27DE-5F5C28780753}"/>
              </a:ext>
            </a:extLst>
          </p:cNvPr>
          <p:cNvSpPr txBox="1"/>
          <p:nvPr/>
        </p:nvSpPr>
        <p:spPr>
          <a:xfrm>
            <a:off x="3190240" y="494714"/>
            <a:ext cx="1808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reação do Paraguai</a:t>
            </a: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C34C88A8-31BD-C5BB-589F-9EA318D8BF0B}"/>
              </a:ext>
            </a:extLst>
          </p:cNvPr>
          <p:cNvSpPr/>
          <p:nvPr/>
        </p:nvSpPr>
        <p:spPr>
          <a:xfrm>
            <a:off x="3779520" y="1141045"/>
            <a:ext cx="111760" cy="410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FB900D6-5CAB-B237-6B3B-70126E7A4FC4}"/>
              </a:ext>
            </a:extLst>
          </p:cNvPr>
          <p:cNvCxnSpPr/>
          <p:nvPr/>
        </p:nvCxnSpPr>
        <p:spPr>
          <a:xfrm>
            <a:off x="2306320" y="3982754"/>
            <a:ext cx="0" cy="518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A4FCBD-927A-C229-96E2-70D6C6B9B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282" y="908645"/>
            <a:ext cx="4998717" cy="5265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71F03E2-AC44-36C7-F7E3-EBE26C0C34F4}"/>
              </a:ext>
            </a:extLst>
          </p:cNvPr>
          <p:cNvCxnSpPr>
            <a:cxnSpLocks/>
          </p:cNvCxnSpPr>
          <p:nvPr/>
        </p:nvCxnSpPr>
        <p:spPr>
          <a:xfrm flipV="1">
            <a:off x="6593840" y="4990514"/>
            <a:ext cx="40640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D2C9D09-A3C5-1CB4-12BB-A738F0FE4486}"/>
              </a:ext>
            </a:extLst>
          </p:cNvPr>
          <p:cNvSpPr txBox="1"/>
          <p:nvPr/>
        </p:nvSpPr>
        <p:spPr>
          <a:xfrm>
            <a:off x="181383" y="5309106"/>
            <a:ext cx="72963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"A ocupação paraguaia no Mato Grosso foi conduzida por </a:t>
            </a:r>
            <a:r>
              <a:rPr lang="pt-BR" b="1" u="sng" dirty="0">
                <a:latin typeface="Arial" panose="020B0604020202020204" pitchFamily="34" charset="0"/>
                <a:cs typeface="Arial" panose="020B0604020202020204" pitchFamily="34" charset="0"/>
              </a:rPr>
              <a:t>7.700 soldados, que derrotaram facilmente as fracas forças de defesa dessa região (875 militares do Exército e 3 mil membros da Guarda Nacional).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(https://brasilescola.uol.com.br/historiab/guerra-paraguai.htm)</a:t>
            </a:r>
          </a:p>
        </p:txBody>
      </p:sp>
    </p:spTree>
    <p:extLst>
      <p:ext uri="{BB962C8B-B14F-4D97-AF65-F5344CB8AC3E}">
        <p14:creationId xmlns:p14="http://schemas.microsoft.com/office/powerpoint/2010/main" val="922017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C97A120-B1D3-7379-479C-FAAE05AA8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567" y="558398"/>
            <a:ext cx="4202430" cy="532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4FDCC69-05A4-8F7F-BCF0-98D688A321CE}"/>
              </a:ext>
            </a:extLst>
          </p:cNvPr>
          <p:cNvSpPr/>
          <p:nvPr/>
        </p:nvSpPr>
        <p:spPr>
          <a:xfrm>
            <a:off x="8707120" y="1416744"/>
            <a:ext cx="2987040" cy="3606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Brasil, Argentina e Uruguai formam a </a:t>
            </a:r>
            <a:r>
              <a:rPr lang="pt-BR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Tríplice Aliança </a:t>
            </a:r>
            <a:r>
              <a:rPr lang="pt-B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entram em guerra em bloco contra o Paraguai (1865)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D2AC6FE-4824-EB02-8FA5-3403DE9746BF}"/>
              </a:ext>
            </a:extLst>
          </p:cNvPr>
          <p:cNvSpPr/>
          <p:nvPr/>
        </p:nvSpPr>
        <p:spPr>
          <a:xfrm>
            <a:off x="497840" y="1271954"/>
            <a:ext cx="2646682" cy="30155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 a invasão de Mato Grosso, Paraguai invade “Corrientes” e “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Entre-Rios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– províncias Argentinas – e parte do Rio Grande do Sul...colocando  Argentina no conflito...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8BD2A69-6F79-0FFB-095F-97B27B54856A}"/>
              </a:ext>
            </a:extLst>
          </p:cNvPr>
          <p:cNvCxnSpPr/>
          <p:nvPr/>
        </p:nvCxnSpPr>
        <p:spPr>
          <a:xfrm>
            <a:off x="3403600" y="2560320"/>
            <a:ext cx="223520" cy="142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40FBDC-716D-C750-851C-1066DE7D45CE}"/>
              </a:ext>
            </a:extLst>
          </p:cNvPr>
          <p:cNvCxnSpPr/>
          <p:nvPr/>
        </p:nvCxnSpPr>
        <p:spPr>
          <a:xfrm>
            <a:off x="8371840" y="2357120"/>
            <a:ext cx="162560" cy="20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D1A28911-BCB7-70E3-7219-94482C810D68}"/>
              </a:ext>
            </a:extLst>
          </p:cNvPr>
          <p:cNvSpPr/>
          <p:nvPr/>
        </p:nvSpPr>
        <p:spPr>
          <a:xfrm>
            <a:off x="1402079" y="5984240"/>
            <a:ext cx="10017761" cy="80264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OBJETIVO DE SOLANO LOPES... MANDAR TROPAS PARA O URUGUAI E AJUDAR OS ‘BLANCOS” A DERRUBAR OS “COLORADOS”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C0F4C73-4E8C-7C55-B301-5C02DC08BBBE}"/>
              </a:ext>
            </a:extLst>
          </p:cNvPr>
          <p:cNvCxnSpPr/>
          <p:nvPr/>
        </p:nvCxnSpPr>
        <p:spPr>
          <a:xfrm>
            <a:off x="1737360" y="4480560"/>
            <a:ext cx="538480" cy="121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550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731538-5588-0D14-E708-9CC6CA0A7E67}"/>
              </a:ext>
            </a:extLst>
          </p:cNvPr>
          <p:cNvSpPr txBox="1"/>
          <p:nvPr/>
        </p:nvSpPr>
        <p:spPr>
          <a:xfrm>
            <a:off x="1300480" y="568960"/>
            <a:ext cx="202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O CONFLITO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1490F8-E651-854E-8339-880D51BBC2B7}"/>
              </a:ext>
            </a:extLst>
          </p:cNvPr>
          <p:cNvSpPr txBox="1"/>
          <p:nvPr/>
        </p:nvSpPr>
        <p:spPr>
          <a:xfrm>
            <a:off x="1300480" y="1280160"/>
            <a:ext cx="1000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 Ofensiva  militar coube ao Paraguai... que tinha desenvolvido uma capacidade militar respeitável, com o investimento em ferrovias, manufaturas e produção de armas – metalurgia, etc., indicando uma certa preparação para um provável enfrentamento militar e pretensões imperialistas dos Ditadores Paraguaios.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F4D272-29C9-5130-43FA-459D0E4D2BEC}"/>
              </a:ext>
            </a:extLst>
          </p:cNvPr>
          <p:cNvSpPr/>
          <p:nvPr/>
        </p:nvSpPr>
        <p:spPr>
          <a:xfrm>
            <a:off x="1300480" y="2832517"/>
            <a:ext cx="10007600" cy="96520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NO INÍCIO DA GUERRA O EXÉRCITO PARAGUAIO ERA MAIOR DO QUE O EXÉRCITO DO BRASIL, DO URUGUAI E DA ARGENTINA SOMADOS...</a:t>
            </a:r>
          </a:p>
        </p:txBody>
      </p:sp>
      <p:sp>
        <p:nvSpPr>
          <p:cNvPr id="5" name="Seta: Curva para a Direita 4">
            <a:extLst>
              <a:ext uri="{FF2B5EF4-FFF2-40B4-BE49-F238E27FC236}">
                <a16:creationId xmlns:a16="http://schemas.microsoft.com/office/drawing/2014/main" id="{B37C1956-C4AC-C324-6A8C-8F3656399A72}"/>
              </a:ext>
            </a:extLst>
          </p:cNvPr>
          <p:cNvSpPr/>
          <p:nvPr/>
        </p:nvSpPr>
        <p:spPr>
          <a:xfrm>
            <a:off x="518160" y="1885404"/>
            <a:ext cx="690880" cy="154359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03E359-2CAA-96B2-7EDC-80078999F383}"/>
              </a:ext>
            </a:extLst>
          </p:cNvPr>
          <p:cNvSpPr/>
          <p:nvPr/>
        </p:nvSpPr>
        <p:spPr>
          <a:xfrm>
            <a:off x="1290320" y="4023360"/>
            <a:ext cx="10017760" cy="144718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BRASIL MOBILIZA 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A GUARDA NACIONAL 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E COMEÇA  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A FORMAR UM EXÉRCITO NACIONAL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COMPOSTO POR 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‘VOLUNTÁRIOS DA PÁTRIA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” E 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ESCRAVOS DO ESTADO OU ESCRAVOS ALISTADOS POR SEUS SENHORES 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PARA NÃO PRECISAREM IR PARA GUERRA...( A ‘LIBERDADADE’ ERA UM PROMESSA PARA OS ESCRAVOS MOBILIZADOS NO CONFLITO 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58A21A-C69E-E84D-EC54-97B4B32A0770}"/>
              </a:ext>
            </a:extLst>
          </p:cNvPr>
          <p:cNvSpPr/>
          <p:nvPr/>
        </p:nvSpPr>
        <p:spPr>
          <a:xfrm>
            <a:off x="1290320" y="5811520"/>
            <a:ext cx="10017760" cy="8289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accent1"/>
                </a:solidFill>
                <a:latin typeface="Arial Black" panose="020B0A04020102020204" pitchFamily="34" charset="0"/>
              </a:rPr>
              <a:t>INGLATERRA VIRA UMA GRANDE  FORNECEDORA DE ARMAS , RECURSOS E EMPRÉSTIMOS  PARA À TRÍPLICE ALIANÇA... EM ESPECIAL PARA O BRASIL...</a:t>
            </a:r>
          </a:p>
        </p:txBody>
      </p:sp>
    </p:spTree>
    <p:extLst>
      <p:ext uri="{BB962C8B-B14F-4D97-AF65-F5344CB8AC3E}">
        <p14:creationId xmlns:p14="http://schemas.microsoft.com/office/powerpoint/2010/main" val="4286831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20D3A59-9094-B422-C262-F1AD37FC432C}"/>
              </a:ext>
            </a:extLst>
          </p:cNvPr>
          <p:cNvSpPr/>
          <p:nvPr/>
        </p:nvSpPr>
        <p:spPr>
          <a:xfrm>
            <a:off x="318114" y="446690"/>
            <a:ext cx="4012149" cy="416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CONSEQUÊNCIAS DA GUERRA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B7916E-01BA-BE64-7B28-A90963F601C1}"/>
              </a:ext>
            </a:extLst>
          </p:cNvPr>
          <p:cNvSpPr/>
          <p:nvPr/>
        </p:nvSpPr>
        <p:spPr>
          <a:xfrm>
            <a:off x="462280" y="2274568"/>
            <a:ext cx="2570480" cy="4165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PARA O PARAGUAI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450BE7E-7ADF-B1D1-59A4-FFE214D27ADA}"/>
              </a:ext>
            </a:extLst>
          </p:cNvPr>
          <p:cNvSpPr/>
          <p:nvPr/>
        </p:nvSpPr>
        <p:spPr>
          <a:xfrm>
            <a:off x="3413760" y="1267457"/>
            <a:ext cx="8615680" cy="507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Perda de 40% do  território para o Brasil e para a Argentina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CD898A2-EA60-6577-7C3A-420FB2C1EBF3}"/>
              </a:ext>
            </a:extLst>
          </p:cNvPr>
          <p:cNvSpPr/>
          <p:nvPr/>
        </p:nvSpPr>
        <p:spPr>
          <a:xfrm>
            <a:off x="3378200" y="1971038"/>
            <a:ext cx="8686800" cy="102362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Perda de 60  a 69% da população  (de 420 mil para 166.351)... No campo de batalha e por doenças (sarampo, varíola, febre amarela e cólera)... Principalmente a população masculina...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894DFB0-5FF5-C89F-B5D5-6B4FC72FDEC1}"/>
              </a:ext>
            </a:extLst>
          </p:cNvPr>
          <p:cNvSpPr/>
          <p:nvPr/>
        </p:nvSpPr>
        <p:spPr>
          <a:xfrm>
            <a:off x="3413760" y="3203117"/>
            <a:ext cx="8686800" cy="7239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Economia, infraestrutura e base manufatureira destruídas...Além de indenizações a serem pagas para a Argentina e Brasil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B119EDD-25A0-74EB-B58C-A477E07DB904}"/>
              </a:ext>
            </a:extLst>
          </p:cNvPr>
          <p:cNvSpPr/>
          <p:nvPr/>
        </p:nvSpPr>
        <p:spPr>
          <a:xfrm>
            <a:off x="462280" y="4671145"/>
            <a:ext cx="2824480" cy="7567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Arial Black" panose="020B0A04020102020204" pitchFamily="34" charset="0"/>
              </a:rPr>
              <a:t>PARA A ARGENTINA E URUGUAI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E0DAB3B-8AB4-ECDF-259B-26429400B0EE}"/>
              </a:ext>
            </a:extLst>
          </p:cNvPr>
          <p:cNvSpPr txBox="1"/>
          <p:nvPr/>
        </p:nvSpPr>
        <p:spPr>
          <a:xfrm>
            <a:off x="0" y="6243499"/>
            <a:ext cx="11782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i="0" dirty="0">
                <a:solidFill>
                  <a:srgbClr val="7030A0"/>
                </a:solidFill>
                <a:effectLst/>
                <a:latin typeface="Arial Black" panose="020B0A04020102020204" pitchFamily="34" charset="0"/>
              </a:rPr>
              <a:t>DORATIOTO, Francisco. Maldita Guerra: nova história da Guerra do Paraguai. São Paulo: Companhia das Letras, 2002, p. 93.</a:t>
            </a:r>
            <a:endParaRPr lang="pt-BR" b="1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7419093-5F8C-A4E7-22AD-E54C1604C170}"/>
              </a:ext>
            </a:extLst>
          </p:cNvPr>
          <p:cNvSpPr/>
          <p:nvPr/>
        </p:nvSpPr>
        <p:spPr>
          <a:xfrm>
            <a:off x="3378200" y="4277360"/>
            <a:ext cx="8813800" cy="15443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Dos 30 mil mobilizados, a Argentina  perdeu 18 mil ( na Guerra e nas doenças)... Ganhou territórios e foi economicamente beneficiada por ser a principal base de abastecimento das tropas em guerra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Dos 5583 mobilizados pelo Uruguai, 3120 morreram...</a:t>
            </a:r>
          </a:p>
        </p:txBody>
      </p:sp>
    </p:spTree>
    <p:extLst>
      <p:ext uri="{BB962C8B-B14F-4D97-AF65-F5344CB8AC3E}">
        <p14:creationId xmlns:p14="http://schemas.microsoft.com/office/powerpoint/2010/main" val="2535299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196A212-CC73-6FCE-7272-FF9ECFAB8EDB}"/>
              </a:ext>
            </a:extLst>
          </p:cNvPr>
          <p:cNvSpPr/>
          <p:nvPr/>
        </p:nvSpPr>
        <p:spPr>
          <a:xfrm>
            <a:off x="937873" y="214613"/>
            <a:ext cx="2499360" cy="46736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PARA O BRASIL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C5F3FCA-E8FC-9A88-0F0D-3B49771A649C}"/>
              </a:ext>
            </a:extLst>
          </p:cNvPr>
          <p:cNvSpPr/>
          <p:nvPr/>
        </p:nvSpPr>
        <p:spPr>
          <a:xfrm>
            <a:off x="290961" y="1070303"/>
            <a:ext cx="5805039" cy="38744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Foram mobilizados 139.000 soldados... 50.000  morreram (2/3 por doenças)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Ganhou territórios no Mato Grosso.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Gastou 614 mil contos de reis na Guerra , o equivalente a 11 vezes o orçamento público nacional em 1864.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Teve  a organização e a modernização do exército, que tem seu “espírito corpo” fortalecido... (virando um protagonista político a partir daí)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O movimento abolicionista se fortalece 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(tendo o apoio explícito </a:t>
            </a:r>
            <a:r>
              <a:rPr lang="pt-BR">
                <a:solidFill>
                  <a:schemeClr val="tx1"/>
                </a:solidFill>
                <a:latin typeface="Arial Black" panose="020B0A04020102020204" pitchFamily="34" charset="0"/>
              </a:rPr>
              <a:t>do exército) </a:t>
            </a:r>
            <a:endParaRPr lang="pt-BR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F44C023-37AB-02F4-445D-E4A6888D72B8}"/>
              </a:ext>
            </a:extLst>
          </p:cNvPr>
          <p:cNvSpPr/>
          <p:nvPr/>
        </p:nvSpPr>
        <p:spPr>
          <a:xfrm>
            <a:off x="729680" y="5517230"/>
            <a:ext cx="4927600" cy="9347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Alguns desse fatores serão importantes na decadência e no fim do Império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9546A1-EC10-F282-54D0-53ADA4FF8C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7112"/>
          <a:stretch/>
        </p:blipFill>
        <p:spPr bwMode="auto">
          <a:xfrm>
            <a:off x="6757862" y="190527"/>
            <a:ext cx="5356304" cy="6476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E435713-598F-BADC-2453-9565E14DACF9}"/>
              </a:ext>
            </a:extLst>
          </p:cNvPr>
          <p:cNvSpPr txBox="1"/>
          <p:nvPr/>
        </p:nvSpPr>
        <p:spPr>
          <a:xfrm>
            <a:off x="7283028" y="358808"/>
            <a:ext cx="4067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PT Sans" panose="020B0503020203020204" pitchFamily="34" charset="0"/>
              </a:rPr>
              <a:t>C</a:t>
            </a:r>
            <a:r>
              <a:rPr lang="pt-BR" b="1" i="0" dirty="0">
                <a:solidFill>
                  <a:srgbClr val="FF0000"/>
                </a:solidFill>
                <a:effectLst/>
                <a:latin typeface="PT Sans" panose="020B0503020203020204" pitchFamily="34" charset="0"/>
              </a:rPr>
              <a:t>harges de </a:t>
            </a:r>
            <a:r>
              <a:rPr lang="pt-BR" b="1" i="0" dirty="0" err="1">
                <a:solidFill>
                  <a:srgbClr val="FF0000"/>
                </a:solidFill>
                <a:effectLst/>
                <a:latin typeface="PT Sans" panose="020B0503020203020204" pitchFamily="34" charset="0"/>
              </a:rPr>
              <a:t>Angelo</a:t>
            </a:r>
            <a:r>
              <a:rPr lang="pt-BR" b="1" i="0" dirty="0">
                <a:solidFill>
                  <a:srgbClr val="FF0000"/>
                </a:solidFill>
                <a:effectLst/>
                <a:latin typeface="PT Sans" panose="020B0503020203020204" pitchFamily="34" charset="0"/>
              </a:rPr>
              <a:t> Agostini publicada no periódico</a:t>
            </a:r>
            <a:r>
              <a:rPr lang="pt-BR" b="1" i="1" dirty="0">
                <a:solidFill>
                  <a:srgbClr val="FF0000"/>
                </a:solidFill>
                <a:effectLst/>
                <a:latin typeface="PT Sans" panose="020B0503020203020204" pitchFamily="34" charset="0"/>
              </a:rPr>
              <a:t> Vida Fluminense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Seta: Curva para a Direita 13">
            <a:extLst>
              <a:ext uri="{FF2B5EF4-FFF2-40B4-BE49-F238E27FC236}">
                <a16:creationId xmlns:a16="http://schemas.microsoft.com/office/drawing/2014/main" id="{C455B4B6-401B-C86D-927E-D65FA0A512C3}"/>
              </a:ext>
            </a:extLst>
          </p:cNvPr>
          <p:cNvSpPr/>
          <p:nvPr/>
        </p:nvSpPr>
        <p:spPr>
          <a:xfrm>
            <a:off x="77834" y="3678621"/>
            <a:ext cx="504787" cy="2490951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854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D981468-3A06-3BD0-377D-8ED9468B8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1" y="428263"/>
            <a:ext cx="11848341" cy="53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82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C4F67B-EE27-A279-062D-8939CB307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7" y="775504"/>
            <a:ext cx="12031663" cy="590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20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06559F0-30B9-AE78-F782-C5236365CA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97" b="386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25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0A8277F-D9FA-4E0C-BF1A-065731E793D2}"/>
              </a:ext>
            </a:extLst>
          </p:cNvPr>
          <p:cNvSpPr txBox="1"/>
          <p:nvPr/>
        </p:nvSpPr>
        <p:spPr>
          <a:xfrm>
            <a:off x="1005840" y="467360"/>
            <a:ext cx="9804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(Mackenzie) – Em relação ao Segundo Reinado e à economia cafeeira, é incorreto afirmar que:</a:t>
            </a:r>
          </a:p>
          <a:p>
            <a:pPr algn="l"/>
            <a: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o cultivo do café tornou-se o estabilizador da economia do império, reforçando o sistema de dominação dos senhores rurais.</a:t>
            </a:r>
            <a:b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a decretação do Bill Aberdeen ampliou o mercado consumidor de café no Oeste Paulista e região do Vale do Paraíba, consolidando o escravismo.</a:t>
            </a:r>
            <a:b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de 1830 a 1880, quase toda a energia econômica voltou-se para o cultivo do café, que se expandia consideravelmente.</a:t>
            </a:r>
            <a:b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as estradas de ferro foram aparecendo em decorrência do aumento das regiões cultivadas e da necessidade de solucionar a questão dos transportes.</a:t>
            </a:r>
            <a:b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a solução para a falta de mão de obra cafeeira após 1850 apoiou-se no incentivo à imigração, cujas primeiras iniciativas estavam ligadas à firma </a:t>
            </a:r>
            <a:r>
              <a:rPr lang="pt-BR" sz="2400" b="1" i="0" dirty="0" err="1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Vergueiro&amp;Cia</a:t>
            </a:r>
            <a:r>
              <a:rPr lang="pt-BR" sz="2400" b="1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9326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05912AE-885D-4864-B399-52023EDE47DF}"/>
              </a:ext>
            </a:extLst>
          </p:cNvPr>
          <p:cNvSpPr txBox="1"/>
          <p:nvPr/>
        </p:nvSpPr>
        <p:spPr>
          <a:xfrm>
            <a:off x="873760" y="142240"/>
            <a:ext cx="1067816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1E1E1E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Segundo Reinado foi um período que vivenciou um profundo investimento na produção cafeeira no país, fato que possibilitou o investimento em transportes, facilitando o escoamento do produto. Sendo assim:</a:t>
            </a:r>
          </a:p>
          <a:p>
            <a:pPr algn="l"/>
            <a: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houve a expansão das ferrovias que viabilizaram o crescimento e surgimento de novas cidades e o desenvolvimento do comércio e da indústria no Brasil.</a:t>
            </a:r>
            <a:b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houve a expansão das linhas de ônibus, que facilitou o transporte não somente dos produtos, mas dos trabalhadores.</a:t>
            </a:r>
            <a:b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houve a expansão das ferrovias que viabilizaram o crescimento e surgimento de novas fazendas e o desenvolvimento do comércio e da indústria no Brasil.</a:t>
            </a:r>
            <a:b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houve a expansão da quantidade de navios nos portos nacionais, fato que contribuiu para o fortalecimento das relações do país com outras nações do mundo.</a:t>
            </a:r>
          </a:p>
        </p:txBody>
      </p:sp>
    </p:spTree>
    <p:extLst>
      <p:ext uri="{BB962C8B-B14F-4D97-AF65-F5344CB8AC3E}">
        <p14:creationId xmlns:p14="http://schemas.microsoft.com/office/powerpoint/2010/main" val="21147941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73C1E1A-CDFB-49E6-83D1-64AFCF2DA63E}"/>
              </a:ext>
            </a:extLst>
          </p:cNvPr>
          <p:cNvSpPr txBox="1"/>
          <p:nvPr/>
        </p:nvSpPr>
        <p:spPr>
          <a:xfrm>
            <a:off x="365760" y="458956"/>
            <a:ext cx="1182624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(IFSP) – A partir da segunda metade do século XIX, o Brasil viu surgir gradativamente o declínio da mão de obra escrava e a introdução da mão de obra livre do imigrante, que se dirigiu à lavoura cafeeira.</a:t>
            </a:r>
          </a:p>
          <a:p>
            <a:pPr algn="l"/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Sobre a relação café – mão de obra, assinale a alternativa correta.</a:t>
            </a:r>
          </a:p>
          <a:p>
            <a:pPr algn="l"/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o café prosperou na Bahia, que já se destacava com o fumo e o cacau; a mão de obra utilizada era a do imigrante espanhol que logo se adaptou ao calor e costumes baianos, sendo assalariado.</a:t>
            </a:r>
            <a:b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a lavoura cafeeira se estendeu do norte do Paraná até o oeste de Santa Catarina, sendo os alemães e poloneses trazidos da Europa para trabalharem como meeiros ou terceiros.</a:t>
            </a:r>
            <a:b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o café se instalou desde o Pará até São Paulo. Foi o responsável pela chegada dos japoneses, que tiveram muita dificuldade de adaptação (dada a diferença da língua e dos costumes), logo superadas. São eles, os responsáveis pela instalação de sítios e chácaras no Brasil.</a:t>
            </a:r>
            <a:b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o café, produzido em latifúndios, se estendeu por todo o litoral brasileiro; a mão de obra escrava era responsável pelo plantio e a imigrante, alemã e italiana, pela secagem e </a:t>
            </a:r>
            <a:r>
              <a:rPr lang="pt-BR" sz="2000" b="0" i="0" dirty="0" err="1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descascagem</a:t>
            </a:r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havendo harmonia no convívio entre os trabalhadores e os patrões.</a:t>
            </a:r>
            <a:b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a lavoura cafeeira, por se adaptar melhor às áreas temperadas, encontrou na zona da Mata (MG) e na província de São Paulo as condições ideais. Na região do Vale do Paraíba, a produção ocorreu de maneira tradicional, sendo utilizada a mão de obra escrava. Estendendo-se para o interior paulista, a mão de obra do imigrante italiano substituiu a escrava, inicialmente através da parceria e, depois, através do sistema de colonato.</a:t>
            </a:r>
          </a:p>
        </p:txBody>
      </p:sp>
    </p:spTree>
    <p:extLst>
      <p:ext uri="{BB962C8B-B14F-4D97-AF65-F5344CB8AC3E}">
        <p14:creationId xmlns:p14="http://schemas.microsoft.com/office/powerpoint/2010/main" val="506530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CDB3766497464383C136DE8547F30E" ma:contentTypeVersion="11" ma:contentTypeDescription="Crie um novo documento." ma:contentTypeScope="" ma:versionID="a46cd6af75c90fd73ea683259385ccec">
  <xsd:schema xmlns:xsd="http://www.w3.org/2001/XMLSchema" xmlns:xs="http://www.w3.org/2001/XMLSchema" xmlns:p="http://schemas.microsoft.com/office/2006/metadata/properties" xmlns:ns3="1d0d693f-4244-4177-a687-7b583a634453" xmlns:ns4="bbc753fb-7766-4447-b209-f34e8607ec7f" targetNamespace="http://schemas.microsoft.com/office/2006/metadata/properties" ma:root="true" ma:fieldsID="b3e3af15ba6b20bd652f886430523dcd" ns3:_="" ns4:_="">
    <xsd:import namespace="1d0d693f-4244-4177-a687-7b583a634453"/>
    <xsd:import namespace="bbc753fb-7766-4447-b209-f34e8607ec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0d693f-4244-4177-a687-7b583a6344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753fb-7766-4447-b209-f34e8607ec7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0d693f-4244-4177-a687-7b583a63445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7F9B3A-7F3D-4CB7-A482-E89E4C2962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0d693f-4244-4177-a687-7b583a634453"/>
    <ds:schemaRef ds:uri="bbc753fb-7766-4447-b209-f34e8607ec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166244-E0A7-4289-B1B4-B35FB0F68E73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1d0d693f-4244-4177-a687-7b583a634453"/>
    <ds:schemaRef ds:uri="bbc753fb-7766-4447-b209-f34e8607ec7f"/>
    <ds:schemaRef ds:uri="http://purl.org/dc/elements/1.1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946C7DA-FFB0-474F-BE42-B2F082D61C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3856</TotalTime>
  <Words>2505</Words>
  <Application>Microsoft Office PowerPoint</Application>
  <PresentationFormat>Widescreen</PresentationFormat>
  <Paragraphs>113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Comic Sans MS</vt:lpstr>
      <vt:lpstr>Open Sans</vt:lpstr>
      <vt:lpstr>PT Sans</vt:lpstr>
      <vt:lpstr>roboto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Aparecido Siracusa</cp:lastModifiedBy>
  <cp:revision>29</cp:revision>
  <dcterms:created xsi:type="dcterms:W3CDTF">2021-11-04T00:30:23Z</dcterms:created>
  <dcterms:modified xsi:type="dcterms:W3CDTF">2026-09-08T23:13:48Z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0x010100A9CDB3766497464383C136DE8547F30E</vt:lpwstr>
  </property>
</Properties>
</file>