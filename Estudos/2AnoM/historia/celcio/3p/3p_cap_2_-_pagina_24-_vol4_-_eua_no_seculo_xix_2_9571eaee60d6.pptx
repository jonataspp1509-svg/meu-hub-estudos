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2" r:id="rId3"/>
    <p:sldId id="272" r:id="rId4"/>
    <p:sldId id="271" r:id="rId5"/>
    <p:sldId id="256" r:id="rId6"/>
    <p:sldId id="277" r:id="rId7"/>
    <p:sldId id="276" r:id="rId8"/>
    <p:sldId id="259" r:id="rId9"/>
    <p:sldId id="266" r:id="rId10"/>
    <p:sldId id="263" r:id="rId11"/>
    <p:sldId id="275" r:id="rId12"/>
    <p:sldId id="274" r:id="rId13"/>
    <p:sldId id="278" r:id="rId14"/>
    <p:sldId id="258" r:id="rId15"/>
    <p:sldId id="273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354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D75C2B-37D3-471C-902C-55C47F5148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D8E32B-0F13-4952-AF89-0A99FC17C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C473D3-91EE-4648-868E-92169A8F6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783C7-E6FA-4EB2-B4AF-EF70CF34EC9A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07B05B-3BCA-434E-81F7-9969A6AE1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7E7A33-E9C5-4FEF-BCFF-DACA24D8B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5F50B-9C0C-446A-9CE2-FC306AF493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0801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2EF8-51CB-46F6-8F9B-ABA34BE3F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49AF52-2FD5-4074-8C10-9E1D30E02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C7BCF6-4DE1-4C61-BD93-233DFF2D5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783C7-E6FA-4EB2-B4AF-EF70CF34EC9A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79480A-5976-41A4-AADC-85309B2C5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3B5DBF-0A40-4308-83F2-E80E83371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5F50B-9C0C-446A-9CE2-FC306AF493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4992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6A8D14-60B5-45F4-A798-8F56BA7B9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E6999BC-9887-488D-9AD3-2C8BF95EA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8C6E8A-BB15-41D8-9210-2F1B00550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783C7-E6FA-4EB2-B4AF-EF70CF34EC9A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637536-BE50-4E93-959B-F40247D19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3D2350-10D8-4737-9259-62F3303F3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5F50B-9C0C-446A-9CE2-FC306AF493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3292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E7F388-D7CB-49FF-B1BA-63BFAB275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85298F-DC31-403E-AC85-3BE8808EEE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F5BB0BB-EACF-45AE-9DCF-0F8333C799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3FF953-6D1A-4493-B18C-3FCDBE7FA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783C7-E6FA-4EB2-B4AF-EF70CF34EC9A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4FC678-FEB3-4427-8E9D-F6499FB64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DECBAAD-D5DA-4AF3-89E6-AA95B464F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5F50B-9C0C-446A-9CE2-FC306AF493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7289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084805-FECF-4797-9302-7096EC90F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11A2FA0-3258-447A-9D77-14B325E13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C502F27-A29B-4DEB-A06E-39972D790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829BEC3-FA29-4C18-B903-E08EDBE1EC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4221DBE-AA28-4572-8DCA-099BAA8E23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5C42BD2-C6EC-4167-92AA-9B4FDE0FB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783C7-E6FA-4EB2-B4AF-EF70CF34EC9A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9C96C86-A1EA-4D9B-B136-8F602BB0B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01CBD17-619E-42EF-BAA1-0B0DEC976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5F50B-9C0C-446A-9CE2-FC306AF493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9556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291FFF-A9E6-4231-A10D-B356EEF77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ECC0568-4D58-4315-8E20-04E46E112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783C7-E6FA-4EB2-B4AF-EF70CF34EC9A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E37E807-10F4-4123-A07E-0E63205D3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614A6C9-DF44-4D9F-857E-3788AF324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5F50B-9C0C-446A-9CE2-FC306AF493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4343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0C11A25-9DD7-4A1C-B229-4EE669E50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783C7-E6FA-4EB2-B4AF-EF70CF34EC9A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ABDACE6-5A04-4C97-9926-0B2A06F88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AF6A4F7-6A21-4C0F-8B88-CE09FC3BF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5F50B-9C0C-446A-9CE2-FC306AF493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3494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1A813A-F7C9-47C7-A791-FDB5EB1EA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068D31-4E1F-4A51-A4A1-6FC289D44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9185888-A4BB-45A8-A5CB-8D04D2B18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CB26E8C-A710-4E89-BF8A-42BA456B1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783C7-E6FA-4EB2-B4AF-EF70CF34EC9A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EA25071-4B53-4338-87C5-1C1659491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7DA5A27-3CEC-4F7C-98E7-5644E4AC1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5F50B-9C0C-446A-9CE2-FC306AF493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9214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767806-37D3-4087-A515-52D95D85D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8EBD7CE-26B4-4F6E-BEC5-961913E423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4DD1D4A-A1D8-4586-9EFB-F9DE2259D9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9976F2D-7FF5-4631-9B8E-6FDDBC6ED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783C7-E6FA-4EB2-B4AF-EF70CF34EC9A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10E4B70-34B7-4F10-AA5F-A11CD18BF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CCBFA22-1E97-453F-8846-FA0288AFA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5F50B-9C0C-446A-9CE2-FC306AF493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9060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876422-A767-4134-BF18-411EC0BEB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074147-EBC2-436A-A9FB-C893EF9E6B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A83947-4534-4144-B91C-8018E5627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783C7-E6FA-4EB2-B4AF-EF70CF34EC9A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373CAA-B66F-47F3-B453-45870154F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02107C-358D-4C24-9986-64051646A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5F50B-9C0C-446A-9CE2-FC306AF493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3968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73CED0F-26DA-45FD-B8D9-7D78BA582C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0B963EC-33A8-409C-BC82-00EA06608B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B8DA33-26E4-4DFD-BA45-7061AAFA6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783C7-E6FA-4EB2-B4AF-EF70CF34EC9A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0C42D0-95B7-45BF-83E1-54EB27C1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E5B513-9AB5-4ACF-8C8D-A17B5B4E0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5F50B-9C0C-446A-9CE2-FC306AF493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0252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EC0FBA-FF51-4FAD-83FD-60A29E001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5A7822-45A2-4D33-B904-17FFEE526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A813D2-1D57-4504-A857-E2223D105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783C7-E6FA-4EB2-B4AF-EF70CF34EC9A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FBFA80-3218-4861-A9B5-790B78BB8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B618E0-1AF7-4E6E-B274-C6296C3BB4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5F50B-9C0C-446A-9CE2-FC306AF4939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018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slideshare.net/IsabelAguiar1/eua-e-europa-no-sculo-xix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pt.wikipedia.org/wiki/John_Gast" TargetMode="External"/><Relationship Id="rId3" Type="http://schemas.openxmlformats.org/officeDocument/2006/relationships/image" Target="../media/image17.jpeg"/><Relationship Id="rId7" Type="http://schemas.openxmlformats.org/officeDocument/2006/relationships/hyperlink" Target="https://pt.wikipedia.org/wiki/Progresso_Americano" TargetMode="External"/><Relationship Id="rId2" Type="http://schemas.openxmlformats.org/officeDocument/2006/relationships/hyperlink" Target="https://www.youtube.com/watch?v=qyGZu0TKlc0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Relationship Id="rId9" Type="http://schemas.openxmlformats.org/officeDocument/2006/relationships/hyperlink" Target="https://pt.wikipedia.org/wiki/Alegoria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hyperlink" Target="http://www.ourdocuments.gov/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t.wikipedia.org/wiki/Progresso_Americano" TargetMode="Externa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pt.wikipedia.org/wiki/Alegoria" TargetMode="External"/><Relationship Id="rId4" Type="http://schemas.openxmlformats.org/officeDocument/2006/relationships/hyperlink" Target="https://pt.wikipedia.org/wiki/John_Gast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brasilescola.uol.com.br/historia-da-america/destino-manifesto.htm" TargetMode="Externa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1.folha.uol.com.br/mundo/2026/08/governo-trump-diz-que-domino-dos-eua-nas-americas-nao-sera-questionado.shtml?utm_source=sharenativo&amp;utm_medium=social&amp;utm_campaign=sharenativo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48EAFB7-0B1B-412C-AD1F-67A0A94AC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59" y="222162"/>
            <a:ext cx="9699766" cy="599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222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06AEB81-9672-4813-A560-76536809CEEF}"/>
              </a:ext>
            </a:extLst>
          </p:cNvPr>
          <p:cNvSpPr/>
          <p:nvPr/>
        </p:nvSpPr>
        <p:spPr>
          <a:xfrm>
            <a:off x="3304416" y="224909"/>
            <a:ext cx="51724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Capítulo 2 – página 24- EUA no século </a:t>
            </a:r>
            <a:r>
              <a:rPr lang="pt-BR"/>
              <a:t>XIX – volume 4</a:t>
            </a:r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CD7A806-6E31-4F8F-9F9A-266F4A1F61D1}"/>
              </a:ext>
            </a:extLst>
          </p:cNvPr>
          <p:cNvSpPr/>
          <p:nvPr/>
        </p:nvSpPr>
        <p:spPr>
          <a:xfrm>
            <a:off x="213851" y="6604084"/>
            <a:ext cx="453390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hlinkClick r:id="rId2"/>
              </a:rPr>
              <a:t>https://www.slideshare.net/IsabelAguiar1/eua-e-europa-no-sculo-xix</a:t>
            </a:r>
            <a:endParaRPr lang="pt-BR" sz="105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4C741C0-E8B9-4ADF-B03F-D23109FC2117}"/>
              </a:ext>
            </a:extLst>
          </p:cNvPr>
          <p:cNvSpPr/>
          <p:nvPr/>
        </p:nvSpPr>
        <p:spPr>
          <a:xfrm>
            <a:off x="3419782" y="4143095"/>
            <a:ext cx="41338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462907"/>
                </a:solidFill>
                <a:latin typeface="Roboto"/>
              </a:rPr>
              <a:t>.</a:t>
            </a:r>
            <a:endParaRPr lang="pt-BR" dirty="0"/>
          </a:p>
        </p:txBody>
      </p:sp>
      <p:pic>
        <p:nvPicPr>
          <p:cNvPr id="6" name="Picture 2" descr="http://www.operamundi.com.br/media/images/Emanuel_Leutze_-_Westward_the_Course_of_Empire_Takes_Its_Way_-_Smithsonian.jpg">
            <a:extLst>
              <a:ext uri="{FF2B5EF4-FFF2-40B4-BE49-F238E27FC236}">
                <a16:creationId xmlns:a16="http://schemas.microsoft.com/office/drawing/2014/main" id="{4D904AD9-C10A-44DD-877E-945E5048A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2489" y="4627580"/>
            <a:ext cx="2081287" cy="1607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1EF3C947-A41A-4B1C-9F94-A8AB1816F0CA}"/>
              </a:ext>
            </a:extLst>
          </p:cNvPr>
          <p:cNvSpPr/>
          <p:nvPr/>
        </p:nvSpPr>
        <p:spPr>
          <a:xfrm>
            <a:off x="8759806" y="6280919"/>
            <a:ext cx="334296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100" dirty="0"/>
              <a:t>Afresco no Capitólio mostrando a expansão para o Oeste (</a:t>
            </a:r>
            <a:r>
              <a:rPr lang="pt-BR" sz="1100" dirty="0" err="1"/>
              <a:t>Westward</a:t>
            </a:r>
            <a:r>
              <a:rPr lang="pt-BR" sz="1100" dirty="0"/>
              <a:t> </a:t>
            </a:r>
            <a:r>
              <a:rPr lang="pt-BR" sz="1100" dirty="0" err="1"/>
              <a:t>the</a:t>
            </a:r>
            <a:r>
              <a:rPr lang="pt-BR" sz="1100" dirty="0"/>
              <a:t> </a:t>
            </a:r>
            <a:r>
              <a:rPr lang="pt-BR" sz="1100" dirty="0" err="1"/>
              <a:t>Course</a:t>
            </a:r>
            <a:r>
              <a:rPr lang="pt-BR" sz="1100" dirty="0"/>
              <a:t> </a:t>
            </a:r>
            <a:r>
              <a:rPr lang="pt-BR" sz="1100" dirty="0" err="1"/>
              <a:t>of</a:t>
            </a:r>
            <a:r>
              <a:rPr lang="pt-BR" sz="1100" dirty="0"/>
              <a:t> Empire Takes Its Way), de Emanuel </a:t>
            </a:r>
            <a:r>
              <a:rPr lang="pt-BR" sz="1100" dirty="0" err="1"/>
              <a:t>Leutze</a:t>
            </a:r>
            <a:br>
              <a:rPr lang="pt-BR" sz="1400" dirty="0"/>
            </a:br>
            <a:br>
              <a:rPr lang="pt-BR" dirty="0"/>
            </a:b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7704C00-C4FC-48F6-8310-1F71E2187FF0}"/>
              </a:ext>
            </a:extLst>
          </p:cNvPr>
          <p:cNvSpPr txBox="1"/>
          <p:nvPr/>
        </p:nvSpPr>
        <p:spPr>
          <a:xfrm>
            <a:off x="6324464" y="1100302"/>
            <a:ext cx="2040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Crescimento demográfico intenso (imigração)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75CFD1B-61BE-4A48-93DA-9B131711F88F}"/>
              </a:ext>
            </a:extLst>
          </p:cNvPr>
          <p:cNvSpPr txBox="1"/>
          <p:nvPr/>
        </p:nvSpPr>
        <p:spPr>
          <a:xfrm>
            <a:off x="6449545" y="2688432"/>
            <a:ext cx="14972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necessidade de expansão territorial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4FEF806-EB65-4D00-B5F8-4DDF16E81127}"/>
              </a:ext>
            </a:extLst>
          </p:cNvPr>
          <p:cNvSpPr txBox="1"/>
          <p:nvPr/>
        </p:nvSpPr>
        <p:spPr>
          <a:xfrm>
            <a:off x="6207612" y="4701513"/>
            <a:ext cx="2199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Estímulos- Lei de Terras – </a:t>
            </a:r>
            <a:r>
              <a:rPr lang="pt-BR" dirty="0" err="1"/>
              <a:t>Homestead</a:t>
            </a:r>
            <a:r>
              <a:rPr lang="pt-BR" dirty="0"/>
              <a:t> </a:t>
            </a:r>
            <a:r>
              <a:rPr lang="pt-BR" dirty="0" err="1"/>
              <a:t>Act</a:t>
            </a:r>
            <a:r>
              <a:rPr lang="pt-BR" dirty="0"/>
              <a:t> de 1862</a:t>
            </a:r>
          </a:p>
        </p:txBody>
      </p:sp>
      <p:pic>
        <p:nvPicPr>
          <p:cNvPr id="14" name="Picture 2" descr="Fazendo História Nova: Estados Unidos e Japão no século XIX">
            <a:extLst>
              <a:ext uri="{FF2B5EF4-FFF2-40B4-BE49-F238E27FC236}">
                <a16:creationId xmlns:a16="http://schemas.microsoft.com/office/drawing/2014/main" id="{1EC0434D-3D0D-4B05-AA6A-75E469B02B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6" y="627882"/>
            <a:ext cx="5925720" cy="3590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EUA E EUROPA NO SÉCULO XIX">
            <a:extLst>
              <a:ext uri="{FF2B5EF4-FFF2-40B4-BE49-F238E27FC236}">
                <a16:creationId xmlns:a16="http://schemas.microsoft.com/office/drawing/2014/main" id="{17EA0E9F-8E49-424A-B220-E58AC09F46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34" t="8606" r="13636" b="59431"/>
          <a:stretch/>
        </p:blipFill>
        <p:spPr bwMode="auto">
          <a:xfrm>
            <a:off x="209550" y="4294169"/>
            <a:ext cx="5600699" cy="1738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44A65F93-50C5-4333-9657-8219021AC70C}"/>
              </a:ext>
            </a:extLst>
          </p:cNvPr>
          <p:cNvSpPr txBox="1"/>
          <p:nvPr/>
        </p:nvSpPr>
        <p:spPr>
          <a:xfrm>
            <a:off x="5486707" y="6234752"/>
            <a:ext cx="3054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  <a:latin typeface="Arial Black" panose="020B0A04020102020204" pitchFamily="34" charset="0"/>
              </a:rPr>
              <a:t>A Conquista do Oeste</a:t>
            </a:r>
          </a:p>
        </p:txBody>
      </p:sp>
      <p:sp>
        <p:nvSpPr>
          <p:cNvPr id="16" name="Seta: para Baixo 15">
            <a:extLst>
              <a:ext uri="{FF2B5EF4-FFF2-40B4-BE49-F238E27FC236}">
                <a16:creationId xmlns:a16="http://schemas.microsoft.com/office/drawing/2014/main" id="{1DF82F4C-4EC3-4890-8ABE-360CBDE76DD1}"/>
              </a:ext>
            </a:extLst>
          </p:cNvPr>
          <p:cNvSpPr/>
          <p:nvPr/>
        </p:nvSpPr>
        <p:spPr>
          <a:xfrm>
            <a:off x="7000568" y="2156487"/>
            <a:ext cx="45719" cy="3693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88C4159E-439A-4D4F-9F9F-DA4B4087FA5A}"/>
              </a:ext>
            </a:extLst>
          </p:cNvPr>
          <p:cNvCxnSpPr>
            <a:stCxn id="11" idx="1"/>
          </p:cNvCxnSpPr>
          <p:nvPr/>
        </p:nvCxnSpPr>
        <p:spPr>
          <a:xfrm flipH="1">
            <a:off x="6207612" y="3150097"/>
            <a:ext cx="241933" cy="60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829B9743-39D2-4666-905A-059B2521122B}"/>
              </a:ext>
            </a:extLst>
          </p:cNvPr>
          <p:cNvCxnSpPr>
            <a:cxnSpLocks/>
          </p:cNvCxnSpPr>
          <p:nvPr/>
        </p:nvCxnSpPr>
        <p:spPr>
          <a:xfrm>
            <a:off x="6828196" y="5744340"/>
            <a:ext cx="0" cy="386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eta: para Baixo 22">
            <a:extLst>
              <a:ext uri="{FF2B5EF4-FFF2-40B4-BE49-F238E27FC236}">
                <a16:creationId xmlns:a16="http://schemas.microsoft.com/office/drawing/2014/main" id="{885EA619-4385-4B5D-BD6B-266740470D98}"/>
              </a:ext>
            </a:extLst>
          </p:cNvPr>
          <p:cNvSpPr/>
          <p:nvPr/>
        </p:nvSpPr>
        <p:spPr>
          <a:xfrm>
            <a:off x="7000568" y="3611762"/>
            <a:ext cx="127819" cy="108975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A287B14F-247D-4BAC-A9B7-0DE4525B800C}"/>
              </a:ext>
            </a:extLst>
          </p:cNvPr>
          <p:cNvCxnSpPr>
            <a:cxnSpLocks/>
          </p:cNvCxnSpPr>
          <p:nvPr/>
        </p:nvCxnSpPr>
        <p:spPr>
          <a:xfrm flipV="1">
            <a:off x="10274710" y="4512427"/>
            <a:ext cx="0" cy="810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masin7">
            <a:extLst>
              <a:ext uri="{FF2B5EF4-FFF2-40B4-BE49-F238E27FC236}">
                <a16:creationId xmlns:a16="http://schemas.microsoft.com/office/drawing/2014/main" id="{2735B142-27FB-48A5-9661-5D9F1B271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8898" y="813558"/>
            <a:ext cx="3588467" cy="2786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846114B2-61E2-437B-BFF5-62E0740DF83B}"/>
              </a:ext>
            </a:extLst>
          </p:cNvPr>
          <p:cNvSpPr/>
          <p:nvPr/>
        </p:nvSpPr>
        <p:spPr>
          <a:xfrm>
            <a:off x="8582784" y="3593379"/>
            <a:ext cx="408038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333333"/>
                </a:solidFill>
                <a:latin typeface="Domine"/>
              </a:rPr>
              <a:t>Em 1890 não sobravam mais de 250.000 indivíduos, 80 % (cerca de 1 milhão) da população original foi simplesmente exterminado.</a:t>
            </a:r>
            <a:endParaRPr lang="pt-BR" sz="1400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5F855B4-5B09-4BEC-9FF2-3D24513F5ADB}"/>
              </a:ext>
            </a:extLst>
          </p:cNvPr>
          <p:cNvSpPr txBox="1"/>
          <p:nvPr/>
        </p:nvSpPr>
        <p:spPr>
          <a:xfrm>
            <a:off x="9328096" y="481124"/>
            <a:ext cx="2206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Os obstáculos</a:t>
            </a:r>
          </a:p>
        </p:txBody>
      </p:sp>
    </p:spTree>
    <p:extLst>
      <p:ext uri="{BB962C8B-B14F-4D97-AF65-F5344CB8AC3E}">
        <p14:creationId xmlns:p14="http://schemas.microsoft.com/office/powerpoint/2010/main" val="1393898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0DA4238-5681-4A18-BFFA-E6F2D05C52E6}"/>
              </a:ext>
            </a:extLst>
          </p:cNvPr>
          <p:cNvSpPr txBox="1"/>
          <p:nvPr/>
        </p:nvSpPr>
        <p:spPr>
          <a:xfrm>
            <a:off x="4714874" y="70108"/>
            <a:ext cx="6832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  <a:latin typeface="Arial Black" panose="020B0A04020102020204" pitchFamily="34" charset="0"/>
              </a:rPr>
              <a:t>O “Destino Manifesto” , a Doutrina </a:t>
            </a:r>
            <a:r>
              <a:rPr lang="pt-BR" dirty="0" err="1">
                <a:solidFill>
                  <a:srgbClr val="FF0000"/>
                </a:solidFill>
                <a:latin typeface="Arial Black" panose="020B0A04020102020204" pitchFamily="34" charset="0"/>
              </a:rPr>
              <a:t>Polk</a:t>
            </a:r>
            <a:r>
              <a:rPr lang="pt-BR" dirty="0">
                <a:solidFill>
                  <a:srgbClr val="FF0000"/>
                </a:solidFill>
                <a:latin typeface="Arial Black" panose="020B0A04020102020204" pitchFamily="34" charset="0"/>
              </a:rPr>
              <a:t> e o México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B64536D-B81C-4955-995E-17FE20C53DFA}"/>
              </a:ext>
            </a:extLst>
          </p:cNvPr>
          <p:cNvSpPr/>
          <p:nvPr/>
        </p:nvSpPr>
        <p:spPr>
          <a:xfrm>
            <a:off x="5403037" y="508609"/>
            <a:ext cx="5514976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solidFill>
                  <a:srgbClr val="FF0000"/>
                </a:solidFill>
                <a:latin typeface="Arial Black" panose="020B0A04020102020204" pitchFamily="34" charset="0"/>
              </a:rPr>
              <a:t>“</a:t>
            </a:r>
            <a:r>
              <a:rPr lang="pt-BR" sz="1400" dirty="0">
                <a:solidFill>
                  <a:srgbClr val="444444"/>
                </a:solidFill>
                <a:latin typeface="Arial Black" panose="020B0A04020102020204" pitchFamily="34" charset="0"/>
              </a:rPr>
              <a:t>Presidente James </a:t>
            </a:r>
            <a:r>
              <a:rPr lang="pt-BR" sz="1400" dirty="0" err="1">
                <a:solidFill>
                  <a:srgbClr val="444444"/>
                </a:solidFill>
                <a:latin typeface="Arial Black" panose="020B0A04020102020204" pitchFamily="34" charset="0"/>
              </a:rPr>
              <a:t>Polk</a:t>
            </a:r>
            <a:r>
              <a:rPr lang="pt-BR" sz="1400" dirty="0">
                <a:solidFill>
                  <a:srgbClr val="444444"/>
                </a:solidFill>
                <a:latin typeface="Arial Black" panose="020B0A04020102020204" pitchFamily="34" charset="0"/>
              </a:rPr>
              <a:t> (1844/48)  responsável pelas aquisições dos territórios do Oregon (adquirido mediante negociações com a Inglaterra), do Texas,  Novo México e da Califórnia  (após guerra com o México). Essa política de ampliação, conquistas  e ocupação de territórios a Oeste  seria justificada pela ideologia do </a:t>
            </a:r>
            <a:r>
              <a:rPr lang="pt-BR" sz="1400" dirty="0">
                <a:solidFill>
                  <a:srgbClr val="FF0000"/>
                </a:solidFill>
                <a:latin typeface="Arial Black" panose="020B0A04020102020204" pitchFamily="34" charset="0"/>
              </a:rPr>
              <a:t>“Destino Manifesto”.</a:t>
            </a:r>
            <a:br>
              <a:rPr lang="pt-BR" sz="1400" dirty="0">
                <a:latin typeface="Arial Black" panose="020B0A04020102020204" pitchFamily="34" charset="0"/>
              </a:rPr>
            </a:b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pic>
        <p:nvPicPr>
          <p:cNvPr id="5" name="Picture 2" descr="Resultado de imagem para james polk">
            <a:extLst>
              <a:ext uri="{FF2B5EF4-FFF2-40B4-BE49-F238E27FC236}">
                <a16:creationId xmlns:a16="http://schemas.microsoft.com/office/drawing/2014/main" id="{C0F70BDF-C45F-43F6-83DA-C2004A974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521" y="772603"/>
            <a:ext cx="769701" cy="925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masin7">
            <a:extLst>
              <a:ext uri="{FF2B5EF4-FFF2-40B4-BE49-F238E27FC236}">
                <a16:creationId xmlns:a16="http://schemas.microsoft.com/office/drawing/2014/main" id="{1259DE96-FC9E-4951-88DB-AE7F8E111C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289040"/>
            <a:ext cx="2437771" cy="1893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50CB5A3-357C-4C57-ADD2-441AF19D5779}"/>
              </a:ext>
            </a:extLst>
          </p:cNvPr>
          <p:cNvSpPr txBox="1"/>
          <p:nvPr/>
        </p:nvSpPr>
        <p:spPr>
          <a:xfrm>
            <a:off x="428683" y="2940044"/>
            <a:ext cx="3012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conquista de novos territórios gera um processo de “desocupação” desses territórios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A9236F9-FD30-4918-87C8-C4A08B94A3B0}"/>
              </a:ext>
            </a:extLst>
          </p:cNvPr>
          <p:cNvSpPr txBox="1"/>
          <p:nvPr/>
        </p:nvSpPr>
        <p:spPr>
          <a:xfrm>
            <a:off x="3872484" y="2821780"/>
            <a:ext cx="2628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extermínio indígena via guerras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F78DE67-EE6B-4847-9D21-DC3402253E3E}"/>
              </a:ext>
            </a:extLst>
          </p:cNvPr>
          <p:cNvSpPr txBox="1"/>
          <p:nvPr/>
        </p:nvSpPr>
        <p:spPr>
          <a:xfrm>
            <a:off x="6967538" y="2486796"/>
            <a:ext cx="522446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 Em 1830 o presidente Andrew Jackson foi o responsável por promulgar a chamada “</a:t>
            </a:r>
            <a:r>
              <a:rPr lang="pt-BR" u="sng" dirty="0"/>
              <a:t>Lei de Remoção dos Índios”</a:t>
            </a:r>
            <a:r>
              <a:rPr lang="pt-BR" dirty="0"/>
              <a:t>, meio pelo qual se estabelecia a criação de uma grande reserva indígena na região que hoje corresponde ao estado de Oklahoma. Do dia para a noite, milhares de homens e mulheres, das mais diferentes idades e culturas, se viram obrigados a realizar um deslocamento de mais de 1.500 quilômetros, rumo a um futuro completamente incerto.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65CC2C7-71F4-4990-BE60-FF8F775DD308}"/>
              </a:ext>
            </a:extLst>
          </p:cNvPr>
          <p:cNvSpPr txBox="1"/>
          <p:nvPr/>
        </p:nvSpPr>
        <p:spPr>
          <a:xfrm>
            <a:off x="4029647" y="4460546"/>
            <a:ext cx="24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A Trilha das Lágrimas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F2CAC0C-A7F3-4432-8AB9-5065B28C84EC}"/>
              </a:ext>
            </a:extLst>
          </p:cNvPr>
          <p:cNvSpPr txBox="1"/>
          <p:nvPr/>
        </p:nvSpPr>
        <p:spPr>
          <a:xfrm>
            <a:off x="3857620" y="3401025"/>
            <a:ext cx="2300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expulsão e deslocamento forçado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EA4F7107-E239-4406-8CB5-DC3A0A6E504A}"/>
              </a:ext>
            </a:extLst>
          </p:cNvPr>
          <p:cNvCxnSpPr>
            <a:cxnSpLocks/>
          </p:cNvCxnSpPr>
          <p:nvPr/>
        </p:nvCxnSpPr>
        <p:spPr>
          <a:xfrm flipV="1">
            <a:off x="5798453" y="3586375"/>
            <a:ext cx="1142244" cy="885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E7B9F34-60B5-4D54-A0C8-B247EBD0FA40}"/>
              </a:ext>
            </a:extLst>
          </p:cNvPr>
          <p:cNvSpPr txBox="1"/>
          <p:nvPr/>
        </p:nvSpPr>
        <p:spPr>
          <a:xfrm>
            <a:off x="371475" y="5616886"/>
            <a:ext cx="15335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  <a:latin typeface="Arial Black" panose="020B0A04020102020204" pitchFamily="34" charset="0"/>
              </a:rPr>
              <a:t>O Mito do “</a:t>
            </a:r>
            <a:r>
              <a:rPr lang="pt-BR" dirty="0" err="1">
                <a:solidFill>
                  <a:srgbClr val="FF0000"/>
                </a:solidFill>
                <a:latin typeface="Arial Black" panose="020B0A04020102020204" pitchFamily="34" charset="0"/>
              </a:rPr>
              <a:t>Far</a:t>
            </a:r>
            <a:r>
              <a:rPr lang="pt-BR" dirty="0">
                <a:solidFill>
                  <a:srgbClr val="FF0000"/>
                </a:solidFill>
                <a:latin typeface="Arial Black" panose="020B0A04020102020204" pitchFamily="34" charset="0"/>
              </a:rPr>
              <a:t> West”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2CBE11D-AFF0-4DA8-A355-726A53484610}"/>
              </a:ext>
            </a:extLst>
          </p:cNvPr>
          <p:cNvSpPr txBox="1"/>
          <p:nvPr/>
        </p:nvSpPr>
        <p:spPr>
          <a:xfrm>
            <a:off x="2325991" y="5369238"/>
            <a:ext cx="57832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via literatura  e , depois cinema, vai se constituir uma estória épica sobre a conquista do Oeste , como expressão da valentia, do empreendedorismo e do heroísmo dos pioneiros, uma espécie de síntese da alma e da identidade norte-americana</a:t>
            </a:r>
          </a:p>
        </p:txBody>
      </p:sp>
      <p:pic>
        <p:nvPicPr>
          <p:cNvPr id="2052" name="Picture 4" descr="O verdadeiro velho oeste | Superinteressante">
            <a:extLst>
              <a:ext uri="{FF2B5EF4-FFF2-40B4-BE49-F238E27FC236}">
                <a16:creationId xmlns:a16="http://schemas.microsoft.com/office/drawing/2014/main" id="{AF520E66-C46D-489B-9CF4-A42F8E3DEB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0210" y="5144481"/>
            <a:ext cx="1681161" cy="1118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Seta: para a Direita 16">
            <a:extLst>
              <a:ext uri="{FF2B5EF4-FFF2-40B4-BE49-F238E27FC236}">
                <a16:creationId xmlns:a16="http://schemas.microsoft.com/office/drawing/2014/main" id="{557A5F8C-1C79-4A92-8F02-98F661AEBA4C}"/>
              </a:ext>
            </a:extLst>
          </p:cNvPr>
          <p:cNvSpPr/>
          <p:nvPr/>
        </p:nvSpPr>
        <p:spPr>
          <a:xfrm>
            <a:off x="1935055" y="5873376"/>
            <a:ext cx="310163" cy="104775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03B23AD7-C03F-44EA-9E5E-99F09E905D72}"/>
              </a:ext>
            </a:extLst>
          </p:cNvPr>
          <p:cNvCxnSpPr/>
          <p:nvPr/>
        </p:nvCxnSpPr>
        <p:spPr>
          <a:xfrm flipV="1">
            <a:off x="8109219" y="5873376"/>
            <a:ext cx="320406" cy="52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B8604B74-FEF6-4F49-A455-C0AC7ED8AC12}"/>
              </a:ext>
            </a:extLst>
          </p:cNvPr>
          <p:cNvCxnSpPr>
            <a:cxnSpLocks/>
          </p:cNvCxnSpPr>
          <p:nvPr/>
        </p:nvCxnSpPr>
        <p:spPr>
          <a:xfrm flipV="1">
            <a:off x="3200400" y="3578641"/>
            <a:ext cx="205930" cy="7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have Esquerda 25">
            <a:extLst>
              <a:ext uri="{FF2B5EF4-FFF2-40B4-BE49-F238E27FC236}">
                <a16:creationId xmlns:a16="http://schemas.microsoft.com/office/drawing/2014/main" id="{98678F01-9F2A-46FC-9451-5399CEA26741}"/>
              </a:ext>
            </a:extLst>
          </p:cNvPr>
          <p:cNvSpPr/>
          <p:nvPr/>
        </p:nvSpPr>
        <p:spPr>
          <a:xfrm>
            <a:off x="3546239" y="2772962"/>
            <a:ext cx="571500" cy="151632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CCF5A1C-D97C-48B7-AFAC-113D15DF28F1}"/>
              </a:ext>
            </a:extLst>
          </p:cNvPr>
          <p:cNvSpPr txBox="1"/>
          <p:nvPr/>
        </p:nvSpPr>
        <p:spPr>
          <a:xfrm>
            <a:off x="393464" y="773921"/>
            <a:ext cx="201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 Black" panose="020B0A04020102020204" pitchFamily="34" charset="0"/>
              </a:rPr>
              <a:t>O Genocídio Indígena</a:t>
            </a:r>
          </a:p>
        </p:txBody>
      </p:sp>
    </p:spTree>
    <p:extLst>
      <p:ext uri="{BB962C8B-B14F-4D97-AF65-F5344CB8AC3E}">
        <p14:creationId xmlns:p14="http://schemas.microsoft.com/office/powerpoint/2010/main" val="691745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15B5FF1-AF06-48E7-9E03-F2FCBB7FFD1C}"/>
              </a:ext>
            </a:extLst>
          </p:cNvPr>
          <p:cNvSpPr/>
          <p:nvPr/>
        </p:nvSpPr>
        <p:spPr>
          <a:xfrm>
            <a:off x="3725615" y="96074"/>
            <a:ext cx="39121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FF0000"/>
                </a:solidFill>
                <a:latin typeface="Arial Black" panose="020B0A04020102020204" pitchFamily="34" charset="0"/>
              </a:rPr>
              <a:t>A Conquista do Oeste e os problemas</a:t>
            </a:r>
          </a:p>
        </p:txBody>
      </p:sp>
      <p:pic>
        <p:nvPicPr>
          <p:cNvPr id="4" name="Picture 2" descr="Resultado de imagem para eua no século xix">
            <a:extLst>
              <a:ext uri="{FF2B5EF4-FFF2-40B4-BE49-F238E27FC236}">
                <a16:creationId xmlns:a16="http://schemas.microsoft.com/office/drawing/2014/main" id="{B45ADC26-5490-4E02-B889-6A514B1C1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097" y="65647"/>
            <a:ext cx="3127659" cy="2348196"/>
          </a:xfrm>
          <a:prstGeom prst="rect">
            <a:avLst/>
          </a:prstGeom>
          <a:noFill/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6AFBFE5-E917-4589-83F9-7667D8107742}"/>
              </a:ext>
            </a:extLst>
          </p:cNvPr>
          <p:cNvSpPr txBox="1"/>
          <p:nvPr/>
        </p:nvSpPr>
        <p:spPr>
          <a:xfrm>
            <a:off x="3643162" y="898111"/>
            <a:ext cx="1962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Gera divergências e disputas políticas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3754415-AB61-4DA4-93E8-FCE7536782CE}"/>
              </a:ext>
            </a:extLst>
          </p:cNvPr>
          <p:cNvSpPr txBox="1"/>
          <p:nvPr/>
        </p:nvSpPr>
        <p:spPr>
          <a:xfrm>
            <a:off x="6025719" y="809769"/>
            <a:ext cx="1800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Como ocupar os novos territórios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1273CE1-BD6A-4088-ADD9-140BFA333FF7}"/>
              </a:ext>
            </a:extLst>
          </p:cNvPr>
          <p:cNvSpPr txBox="1"/>
          <p:nvPr/>
        </p:nvSpPr>
        <p:spPr>
          <a:xfrm>
            <a:off x="8328803" y="277380"/>
            <a:ext cx="34790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Dentro do modelo econômico nortista pequenas propriedades, policultura , trabalho livre) ou sulista ( grandes propriedades , trabalho escravo, </a:t>
            </a:r>
            <a:r>
              <a:rPr lang="pt-BR" dirty="0" err="1"/>
              <a:t>etc</a:t>
            </a:r>
            <a:r>
              <a:rPr lang="pt-BR" dirty="0"/>
              <a:t>)?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3E9A1B6-057A-42A0-BD4E-8A243E25E24E}"/>
              </a:ext>
            </a:extLst>
          </p:cNvPr>
          <p:cNvSpPr txBox="1"/>
          <p:nvPr/>
        </p:nvSpPr>
        <p:spPr>
          <a:xfrm>
            <a:off x="3571875" y="1850853"/>
            <a:ext cx="40862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Por trás dessas divergências, se escondia uma disputa política por hegemonia entre o </a:t>
            </a:r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Partido Republicano</a:t>
            </a:r>
            <a:r>
              <a:rPr lang="pt-BR" dirty="0"/>
              <a:t> ( ligado aos interesses da burguesia nortista) e o </a:t>
            </a:r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Partido Democrata </a:t>
            </a:r>
            <a:r>
              <a:rPr lang="pt-BR" dirty="0"/>
              <a:t>( ligado aos interesses agroexportadores da elite escravista do sul)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3757C38-0ED0-4370-914C-57CA769BC611}"/>
              </a:ext>
            </a:extLst>
          </p:cNvPr>
          <p:cNvSpPr txBox="1"/>
          <p:nvPr/>
        </p:nvSpPr>
        <p:spPr>
          <a:xfrm>
            <a:off x="7896225" y="2237158"/>
            <a:ext cx="32480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Uma Tentativa de Conciliação foi feita em 1820 com “Compromisso de Missouri” permitindo a escravidão ao sul do paralelo 36 e proibindo ao norte desse paralelo</a:t>
            </a:r>
          </a:p>
        </p:txBody>
      </p:sp>
      <p:pic>
        <p:nvPicPr>
          <p:cNvPr id="1030" name="Picture 6" descr="Comentários sobre questão de História (não classificadas) -">
            <a:extLst>
              <a:ext uri="{FF2B5EF4-FFF2-40B4-BE49-F238E27FC236}">
                <a16:creationId xmlns:a16="http://schemas.microsoft.com/office/drawing/2014/main" id="{9A3D4C12-1072-4D6E-AD5C-A3FB7BE36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0414" y="3991484"/>
            <a:ext cx="4521586" cy="2676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D8634328-6A54-45C2-9239-BE4B70C46928}"/>
              </a:ext>
            </a:extLst>
          </p:cNvPr>
          <p:cNvSpPr txBox="1"/>
          <p:nvPr/>
        </p:nvSpPr>
        <p:spPr>
          <a:xfrm>
            <a:off x="319121" y="3991484"/>
            <a:ext cx="588165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preponderância de imigrantes sem recursos e as “facilidades” de acesso dada a essas terras (“</a:t>
            </a:r>
            <a:r>
              <a:rPr lang="pt-BR" dirty="0" err="1"/>
              <a:t>Homestead</a:t>
            </a:r>
            <a:r>
              <a:rPr lang="pt-BR" dirty="0"/>
              <a:t> </a:t>
            </a:r>
            <a:r>
              <a:rPr lang="pt-BR" dirty="0" err="1"/>
              <a:t>Act</a:t>
            </a:r>
            <a:r>
              <a:rPr lang="pt-BR" dirty="0"/>
              <a:t>”, por exemplo), favorece um predomínio de pequenas propriedades familiares e do trabalho livre, gerando estados que rompem esse acordo e ganham autonomia para escolherem como se posicionar em relação ao quesito escravidão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407C111-2D5E-4163-951C-19552B1F0291}"/>
              </a:ext>
            </a:extLst>
          </p:cNvPr>
          <p:cNvSpPr txBox="1"/>
          <p:nvPr/>
        </p:nvSpPr>
        <p:spPr>
          <a:xfrm>
            <a:off x="2765857" y="5838596"/>
            <a:ext cx="49045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Isso gera um crescimento político do Partido  Republicano e um aumento do risco dele impor sua agenda industrial para todo o país</a:t>
            </a:r>
          </a:p>
        </p:txBody>
      </p: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88A489AF-5F36-4C0E-80AD-BE3CB2952666}"/>
              </a:ext>
            </a:extLst>
          </p:cNvPr>
          <p:cNvCxnSpPr>
            <a:stCxn id="9" idx="3"/>
          </p:cNvCxnSpPr>
          <p:nvPr/>
        </p:nvCxnSpPr>
        <p:spPr>
          <a:xfrm flipV="1">
            <a:off x="5605312" y="1206162"/>
            <a:ext cx="420407" cy="15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8E139CEE-FCB8-4A54-8B1D-DBBE011C1AFB}"/>
              </a:ext>
            </a:extLst>
          </p:cNvPr>
          <p:cNvCxnSpPr/>
          <p:nvPr/>
        </p:nvCxnSpPr>
        <p:spPr>
          <a:xfrm>
            <a:off x="4895850" y="1544442"/>
            <a:ext cx="0" cy="3064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eta: para a Direita 19">
            <a:extLst>
              <a:ext uri="{FF2B5EF4-FFF2-40B4-BE49-F238E27FC236}">
                <a16:creationId xmlns:a16="http://schemas.microsoft.com/office/drawing/2014/main" id="{3DC90DCB-CE8D-4F57-8AA5-2B316118EC61}"/>
              </a:ext>
            </a:extLst>
          </p:cNvPr>
          <p:cNvSpPr/>
          <p:nvPr/>
        </p:nvSpPr>
        <p:spPr>
          <a:xfrm>
            <a:off x="7825944" y="898111"/>
            <a:ext cx="502859" cy="1496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0F846C95-89B3-44E6-924B-FD7CE1CAB712}"/>
              </a:ext>
            </a:extLst>
          </p:cNvPr>
          <p:cNvCxnSpPr/>
          <p:nvPr/>
        </p:nvCxnSpPr>
        <p:spPr>
          <a:xfrm>
            <a:off x="9601200" y="1850853"/>
            <a:ext cx="0" cy="301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eta: para Baixo 22">
            <a:extLst>
              <a:ext uri="{FF2B5EF4-FFF2-40B4-BE49-F238E27FC236}">
                <a16:creationId xmlns:a16="http://schemas.microsoft.com/office/drawing/2014/main" id="{F2099709-356C-43FA-9977-B9690A9CCDB7}"/>
              </a:ext>
            </a:extLst>
          </p:cNvPr>
          <p:cNvSpPr/>
          <p:nvPr/>
        </p:nvSpPr>
        <p:spPr>
          <a:xfrm>
            <a:off x="1468756" y="2552700"/>
            <a:ext cx="45719" cy="132947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9BD820E1-E466-48AA-B2E3-60974096B54B}"/>
              </a:ext>
            </a:extLst>
          </p:cNvPr>
          <p:cNvCxnSpPr/>
          <p:nvPr/>
        </p:nvCxnSpPr>
        <p:spPr>
          <a:xfrm flipH="1">
            <a:off x="6200775" y="4772025"/>
            <a:ext cx="1543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90311967-59D6-40AF-892B-254783249DB0}"/>
              </a:ext>
            </a:extLst>
          </p:cNvPr>
          <p:cNvCxnSpPr/>
          <p:nvPr/>
        </p:nvCxnSpPr>
        <p:spPr>
          <a:xfrm>
            <a:off x="1876425" y="5838596"/>
            <a:ext cx="0" cy="3812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A5B0772D-4E89-454D-BA6B-0BE4B9A37E61}"/>
              </a:ext>
            </a:extLst>
          </p:cNvPr>
          <p:cNvCxnSpPr/>
          <p:nvPr/>
        </p:nvCxnSpPr>
        <p:spPr>
          <a:xfrm>
            <a:off x="1876425" y="6219825"/>
            <a:ext cx="8191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eta: Curva para a Esquerda 29">
            <a:extLst>
              <a:ext uri="{FF2B5EF4-FFF2-40B4-BE49-F238E27FC236}">
                <a16:creationId xmlns:a16="http://schemas.microsoft.com/office/drawing/2014/main" id="{26584E6A-EF30-4E80-81B0-7556DC6F0FA8}"/>
              </a:ext>
            </a:extLst>
          </p:cNvPr>
          <p:cNvSpPr/>
          <p:nvPr/>
        </p:nvSpPr>
        <p:spPr>
          <a:xfrm rot="19246746">
            <a:off x="11077719" y="2614938"/>
            <a:ext cx="235189" cy="1205001"/>
          </a:xfrm>
          <a:prstGeom prst="curvedLeftArrow">
            <a:avLst>
              <a:gd name="adj1" fmla="val 0"/>
              <a:gd name="adj2" fmla="val 63992"/>
              <a:gd name="adj3" fmla="val 836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829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ECCF32FD-4E75-4BA3-9E42-EEEFD23CDA43}"/>
              </a:ext>
            </a:extLst>
          </p:cNvPr>
          <p:cNvSpPr txBox="1"/>
          <p:nvPr/>
        </p:nvSpPr>
        <p:spPr>
          <a:xfrm>
            <a:off x="1073625" y="1369254"/>
            <a:ext cx="2019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Guerra de Secessão  1860/1865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672881A-6225-4465-81CC-F26FBD57FEAF}"/>
              </a:ext>
            </a:extLst>
          </p:cNvPr>
          <p:cNvSpPr txBox="1"/>
          <p:nvPr/>
        </p:nvSpPr>
        <p:spPr>
          <a:xfrm>
            <a:off x="3761105" y="2162175"/>
            <a:ext cx="119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Motivos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F5C3B70-D7A3-4DF8-BBB7-E872C10F2245}"/>
              </a:ext>
            </a:extLst>
          </p:cNvPr>
          <p:cNvSpPr txBox="1"/>
          <p:nvPr/>
        </p:nvSpPr>
        <p:spPr>
          <a:xfrm>
            <a:off x="5062539" y="1785212"/>
            <a:ext cx="1809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Projeto  industrial dos Estados do norte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0C87176-1CAD-4CC5-A018-9EAFD710AF9B}"/>
              </a:ext>
            </a:extLst>
          </p:cNvPr>
          <p:cNvSpPr txBox="1"/>
          <p:nvPr/>
        </p:nvSpPr>
        <p:spPr>
          <a:xfrm>
            <a:off x="7105650" y="961846"/>
            <a:ext cx="34385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Defesa de uma política protecionista (aumento nas tarifas alfandegárias válidas para toda a federação)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F253659-17E1-47B6-A415-616959524934}"/>
              </a:ext>
            </a:extLst>
          </p:cNvPr>
          <p:cNvSpPr txBox="1"/>
          <p:nvPr/>
        </p:nvSpPr>
        <p:spPr>
          <a:xfrm>
            <a:off x="7129462" y="2284977"/>
            <a:ext cx="4152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Tendências de apoiar grupos e ideais abolicionistas em relação à escravidão sulista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946FC11-6F0C-4740-8F87-5C1AB5995117}"/>
              </a:ext>
            </a:extLst>
          </p:cNvPr>
          <p:cNvSpPr txBox="1"/>
          <p:nvPr/>
        </p:nvSpPr>
        <p:spPr>
          <a:xfrm>
            <a:off x="4735951" y="3290265"/>
            <a:ext cx="28940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Encampado pelo Partido Republicano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B3194970-C710-444F-90B4-28D67E9B8A5B}"/>
              </a:ext>
            </a:extLst>
          </p:cNvPr>
          <p:cNvCxnSpPr/>
          <p:nvPr/>
        </p:nvCxnSpPr>
        <p:spPr>
          <a:xfrm>
            <a:off x="5686425" y="2831344"/>
            <a:ext cx="0" cy="4997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1EC66749-D9A1-4A75-BA7E-A058CF36EF6B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924164" y="2022488"/>
            <a:ext cx="836941" cy="324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F5C438C7-E4D7-4E2A-AF48-8BD6FA30A04D}"/>
              </a:ext>
            </a:extLst>
          </p:cNvPr>
          <p:cNvCxnSpPr/>
          <p:nvPr/>
        </p:nvCxnSpPr>
        <p:spPr>
          <a:xfrm>
            <a:off x="4762500" y="2346841"/>
            <a:ext cx="3000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have Esquerda 18">
            <a:extLst>
              <a:ext uri="{FF2B5EF4-FFF2-40B4-BE49-F238E27FC236}">
                <a16:creationId xmlns:a16="http://schemas.microsoft.com/office/drawing/2014/main" id="{D209E7EC-5287-4950-8EF1-1B9F6B08B625}"/>
              </a:ext>
            </a:extLst>
          </p:cNvPr>
          <p:cNvSpPr/>
          <p:nvPr/>
        </p:nvSpPr>
        <p:spPr>
          <a:xfrm>
            <a:off x="6717509" y="1004486"/>
            <a:ext cx="666747" cy="216297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28FD76A6-5C2C-4F44-BE9E-48251AAE38B0}"/>
              </a:ext>
            </a:extLst>
          </p:cNvPr>
          <p:cNvCxnSpPr/>
          <p:nvPr/>
        </p:nvCxnSpPr>
        <p:spPr>
          <a:xfrm>
            <a:off x="4200525" y="2531507"/>
            <a:ext cx="0" cy="1136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328803D7-3F5B-4EB5-B3B6-58093E71EB5A}"/>
              </a:ext>
            </a:extLst>
          </p:cNvPr>
          <p:cNvSpPr txBox="1"/>
          <p:nvPr/>
        </p:nvSpPr>
        <p:spPr>
          <a:xfrm>
            <a:off x="3341720" y="3915247"/>
            <a:ext cx="24955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Eleição de Abraham Lincoln candidato pelo Partido Republicano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6489CB4C-D71D-4243-8517-280F159669C1}"/>
              </a:ext>
            </a:extLst>
          </p:cNvPr>
          <p:cNvSpPr txBox="1"/>
          <p:nvPr/>
        </p:nvSpPr>
        <p:spPr>
          <a:xfrm>
            <a:off x="1397802" y="5295900"/>
            <a:ext cx="12287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Vitória dos Exércitos da União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42A19BF-621B-4E92-9210-D461CBA2A778}"/>
              </a:ext>
            </a:extLst>
          </p:cNvPr>
          <p:cNvSpPr txBox="1"/>
          <p:nvPr/>
        </p:nvSpPr>
        <p:spPr>
          <a:xfrm>
            <a:off x="1391369" y="2084575"/>
            <a:ext cx="16359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Yankees </a:t>
            </a:r>
            <a:r>
              <a:rPr lang="pt-BR" sz="1400" dirty="0" err="1">
                <a:solidFill>
                  <a:srgbClr val="FF0000"/>
                </a:solidFill>
              </a:rPr>
              <a:t>vs</a:t>
            </a:r>
            <a:r>
              <a:rPr lang="pt-BR" sz="1400" dirty="0">
                <a:solidFill>
                  <a:srgbClr val="FF0000"/>
                </a:solidFill>
              </a:rPr>
              <a:t> Confederados</a:t>
            </a:r>
          </a:p>
        </p:txBody>
      </p: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B7A9762A-5A84-4F2B-8F43-2F8805580FE8}"/>
              </a:ext>
            </a:extLst>
          </p:cNvPr>
          <p:cNvCxnSpPr/>
          <p:nvPr/>
        </p:nvCxnSpPr>
        <p:spPr>
          <a:xfrm>
            <a:off x="2638425" y="5757565"/>
            <a:ext cx="9090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98573421-4F01-42DA-8BBB-87E030863C74}"/>
              </a:ext>
            </a:extLst>
          </p:cNvPr>
          <p:cNvSpPr txBox="1"/>
          <p:nvPr/>
        </p:nvSpPr>
        <p:spPr>
          <a:xfrm>
            <a:off x="3895725" y="5295900"/>
            <a:ext cx="2821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Imposição do projeto industrial + abolição da escravidão ( 13a emenda na Constituição)</a:t>
            </a:r>
          </a:p>
        </p:txBody>
      </p:sp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BA79BCCB-BDFA-4F71-97A8-DEDF42AB07DA}"/>
              </a:ext>
            </a:extLst>
          </p:cNvPr>
          <p:cNvCxnSpPr>
            <a:cxnSpLocks/>
          </p:cNvCxnSpPr>
          <p:nvPr/>
        </p:nvCxnSpPr>
        <p:spPr>
          <a:xfrm flipV="1">
            <a:off x="6717509" y="4351833"/>
            <a:ext cx="1083466" cy="1200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4332BB40-8E05-4297-B77A-8718A1873079}"/>
              </a:ext>
            </a:extLst>
          </p:cNvPr>
          <p:cNvSpPr txBox="1"/>
          <p:nvPr/>
        </p:nvSpPr>
        <p:spPr>
          <a:xfrm>
            <a:off x="7800975" y="3429000"/>
            <a:ext cx="3924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Aristocracia Rural sulista tenta preservar sua hegemonia política através do terror  e da violência via criação da </a:t>
            </a:r>
            <a:r>
              <a:rPr lang="pt-BR" dirty="0" err="1"/>
              <a:t>Ku</a:t>
            </a:r>
            <a:r>
              <a:rPr lang="pt-BR" dirty="0"/>
              <a:t> </a:t>
            </a:r>
            <a:r>
              <a:rPr lang="pt-BR" dirty="0" err="1"/>
              <a:t>Klux</a:t>
            </a:r>
            <a:r>
              <a:rPr lang="pt-BR" dirty="0"/>
              <a:t> </a:t>
            </a:r>
            <a:r>
              <a:rPr lang="pt-BR" dirty="0" err="1"/>
              <a:t>Klan</a:t>
            </a:r>
            <a:endParaRPr lang="pt-BR" dirty="0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788DCDA8-DE98-4511-BD9D-1E3F7F2AFDE8}"/>
              </a:ext>
            </a:extLst>
          </p:cNvPr>
          <p:cNvSpPr txBox="1"/>
          <p:nvPr/>
        </p:nvSpPr>
        <p:spPr>
          <a:xfrm>
            <a:off x="7790820" y="4664364"/>
            <a:ext cx="43845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Constrange e impede a participação  eleitoral da maioria negra, fator que garante a criação de uma série de leis segregacionistas nesses estados, só eliminadas nos anos 60 </a:t>
            </a:r>
            <a:r>
              <a:rPr lang="pt-BR"/>
              <a:t>do século XX </a:t>
            </a:r>
            <a:r>
              <a:rPr lang="pt-BR" dirty="0"/>
              <a:t>com a luta pelos direitos civis conduzida por Martim Luther King.</a:t>
            </a:r>
          </a:p>
        </p:txBody>
      </p: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54B0B1CB-C92B-4D45-9F79-D07582D4CE13}"/>
              </a:ext>
            </a:extLst>
          </p:cNvPr>
          <p:cNvCxnSpPr>
            <a:cxnSpLocks/>
          </p:cNvCxnSpPr>
          <p:nvPr/>
        </p:nvCxnSpPr>
        <p:spPr>
          <a:xfrm flipV="1">
            <a:off x="6872289" y="5552163"/>
            <a:ext cx="842961" cy="2054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Seta: para Baixo 38">
            <a:extLst>
              <a:ext uri="{FF2B5EF4-FFF2-40B4-BE49-F238E27FC236}">
                <a16:creationId xmlns:a16="http://schemas.microsoft.com/office/drawing/2014/main" id="{6F4D5A99-EA86-4E51-8522-2128259310D9}"/>
              </a:ext>
            </a:extLst>
          </p:cNvPr>
          <p:cNvSpPr/>
          <p:nvPr/>
        </p:nvSpPr>
        <p:spPr>
          <a:xfrm>
            <a:off x="9410700" y="4311760"/>
            <a:ext cx="133350" cy="3526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098" name="Picture 2" descr="História Inteligente: Norte e Sul dos Estados Unidos: As ...">
            <a:extLst>
              <a:ext uri="{FF2B5EF4-FFF2-40B4-BE49-F238E27FC236}">
                <a16:creationId xmlns:a16="http://schemas.microsoft.com/office/drawing/2014/main" id="{F5FD0CEB-6039-4E7B-ADF0-F669AD3DA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55" y="3208307"/>
            <a:ext cx="3270280" cy="2090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F2485B3-B704-4DF2-8178-22453428FD49}"/>
              </a:ext>
            </a:extLst>
          </p:cNvPr>
          <p:cNvSpPr txBox="1"/>
          <p:nvPr/>
        </p:nvSpPr>
        <p:spPr>
          <a:xfrm>
            <a:off x="1183904" y="276065"/>
            <a:ext cx="9005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A Eleição de Lincoln e a Guerra  Civil ( a Guerra de Secessão</a:t>
            </a:r>
            <a:r>
              <a:rPr lang="pt-BR" b="1" dirty="0"/>
              <a:t>)</a:t>
            </a:r>
          </a:p>
        </p:txBody>
      </p:sp>
      <p:pic>
        <p:nvPicPr>
          <p:cNvPr id="3074" name="Picture 2" descr="Estudando a Guerra de Secessão (Estados Unidos)">
            <a:extLst>
              <a:ext uri="{FF2B5EF4-FFF2-40B4-BE49-F238E27FC236}">
                <a16:creationId xmlns:a16="http://schemas.microsoft.com/office/drawing/2014/main" id="{ABF0D060-D812-4AF8-9C3B-BAF08971A3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1171" y="0"/>
            <a:ext cx="1742381" cy="1308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Abraham Lincoln - Biografia - InfoEscola">
            <a:extLst>
              <a:ext uri="{FF2B5EF4-FFF2-40B4-BE49-F238E27FC236}">
                <a16:creationId xmlns:a16="http://schemas.microsoft.com/office/drawing/2014/main" id="{09D1CC03-411B-4DE0-BDEF-A136046F1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512" y="103417"/>
            <a:ext cx="871764" cy="1338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70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B184F35-E0C1-CEFA-A7B6-0771918E846B}"/>
              </a:ext>
            </a:extLst>
          </p:cNvPr>
          <p:cNvSpPr/>
          <p:nvPr/>
        </p:nvSpPr>
        <p:spPr>
          <a:xfrm>
            <a:off x="515067" y="243323"/>
            <a:ext cx="4368602" cy="9288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LEIS JIM CROW</a:t>
            </a:r>
          </a:p>
        </p:txBody>
      </p:sp>
      <p:sp>
        <p:nvSpPr>
          <p:cNvPr id="1036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2FD175E-EA1C-0328-6878-930A7E3919E5}"/>
              </a:ext>
            </a:extLst>
          </p:cNvPr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1026" name="Picture 2" descr="Foto em preto e branco de pessoas na frente de uma estação de trem&#10;&#10;Descrição gerada automaticamente">
            <a:extLst>
              <a:ext uri="{FF2B5EF4-FFF2-40B4-BE49-F238E27FC236}">
                <a16:creationId xmlns:a16="http://schemas.microsoft.com/office/drawing/2014/main" id="{6F380CC5-EBBB-506F-3C67-C9B05253A7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7" r="24871" b="2"/>
          <a:stretch/>
        </p:blipFill>
        <p:spPr bwMode="auto">
          <a:xfrm>
            <a:off x="5011333" y="13208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C4FE010-325A-B9EE-6526-D329CC64538B}"/>
              </a:ext>
            </a:extLst>
          </p:cNvPr>
          <p:cNvSpPr txBox="1"/>
          <p:nvPr/>
        </p:nvSpPr>
        <p:spPr>
          <a:xfrm>
            <a:off x="6042152" y="802889"/>
            <a:ext cx="614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1" dirty="0">
                <a:solidFill>
                  <a:schemeClr val="bg1"/>
                </a:solidFill>
                <a:effectLst/>
                <a:latin typeface="Aeonik"/>
              </a:rPr>
              <a:t>Estação de ônibus em Durham, Carolina do Norte. 1940.</a:t>
            </a:r>
            <a:r>
              <a:rPr lang="pt-BR" b="1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B1BB919-E4A6-DFE8-E30B-BDC455AE8C49}"/>
              </a:ext>
            </a:extLst>
          </p:cNvPr>
          <p:cNvSpPr txBox="1"/>
          <p:nvPr/>
        </p:nvSpPr>
        <p:spPr>
          <a:xfrm>
            <a:off x="185333" y="3113824"/>
            <a:ext cx="379738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000000"/>
                </a:solidFill>
                <a:effectLst/>
                <a:latin typeface="Aeonik"/>
              </a:rPr>
              <a:t>O nome </a:t>
            </a:r>
            <a:r>
              <a:rPr lang="pt-BR" b="0" i="0" u="sng" dirty="0">
                <a:solidFill>
                  <a:srgbClr val="000000"/>
                </a:solidFill>
                <a:effectLst/>
                <a:latin typeface="Aeonik"/>
              </a:rPr>
              <a:t>“Jim Crow” foi originado de um personagem de </a:t>
            </a:r>
            <a:r>
              <a:rPr lang="pt-BR" b="1" i="0" u="sng" dirty="0">
                <a:solidFill>
                  <a:srgbClr val="000000"/>
                </a:solidFill>
                <a:effectLst/>
                <a:latin typeface="Aeonik"/>
              </a:rPr>
              <a:t>performances racistas</a:t>
            </a:r>
            <a:r>
              <a:rPr lang="pt-BR" b="0" i="0" u="sng" dirty="0">
                <a:solidFill>
                  <a:srgbClr val="000000"/>
                </a:solidFill>
                <a:effectLst/>
                <a:latin typeface="Aeonik"/>
              </a:rPr>
              <a:t> do ator branco Thomas </a:t>
            </a:r>
            <a:r>
              <a:rPr lang="pt-BR" b="0" i="0" u="sng" dirty="0" err="1">
                <a:solidFill>
                  <a:srgbClr val="000000"/>
                </a:solidFill>
                <a:effectLst/>
                <a:latin typeface="Aeonik"/>
              </a:rPr>
              <a:t>Dartmouth</a:t>
            </a:r>
            <a:r>
              <a:rPr lang="pt-BR" b="0" i="0" u="sng" dirty="0">
                <a:solidFill>
                  <a:srgbClr val="000000"/>
                </a:solidFill>
                <a:effectLst/>
                <a:latin typeface="Aeonik"/>
              </a:rPr>
              <a:t> (</a:t>
            </a:r>
            <a:r>
              <a:rPr lang="pt-BR" b="0" i="0" dirty="0">
                <a:solidFill>
                  <a:srgbClr val="000000"/>
                </a:solidFill>
                <a:effectLst/>
                <a:latin typeface="Aeonik"/>
              </a:rPr>
              <a:t>1808-1860), por volta de 1832. Conhecido como “Daddy” Rice, ele fazia uso da </a:t>
            </a:r>
            <a:r>
              <a:rPr lang="pt-BR" b="1" i="1" dirty="0" err="1">
                <a:solidFill>
                  <a:srgbClr val="000000"/>
                </a:solidFill>
                <a:effectLst/>
                <a:latin typeface="Aeonik"/>
              </a:rPr>
              <a:t>blackface</a:t>
            </a:r>
            <a:r>
              <a:rPr lang="pt-BR" b="1" i="1" dirty="0">
                <a:solidFill>
                  <a:srgbClr val="000000"/>
                </a:solidFill>
                <a:effectLst/>
                <a:latin typeface="Aeonik"/>
              </a:rPr>
              <a:t> </a:t>
            </a:r>
            <a:r>
              <a:rPr lang="pt-BR" b="0" i="0" dirty="0">
                <a:solidFill>
                  <a:srgbClr val="000000"/>
                </a:solidFill>
                <a:effectLst/>
                <a:latin typeface="Aeonik"/>
              </a:rPr>
              <a:t>(pintar o rosto com tinta preta) em seus espetáculos, nos quais cantava e dançava, interpretando estereótipos de um escravo afro-americano e idoso. A palavra inglesa “</a:t>
            </a:r>
            <a:r>
              <a:rPr lang="pt-BR" b="0" i="0" dirty="0" err="1">
                <a:solidFill>
                  <a:srgbClr val="000000"/>
                </a:solidFill>
                <a:effectLst/>
                <a:latin typeface="Aeonik"/>
              </a:rPr>
              <a:t>crow</a:t>
            </a:r>
            <a:r>
              <a:rPr lang="pt-BR" b="0" i="0" dirty="0">
                <a:solidFill>
                  <a:srgbClr val="000000"/>
                </a:solidFill>
                <a:effectLst/>
                <a:latin typeface="Aeonik"/>
              </a:rPr>
              <a:t>” significa corvo, em alusão à cor escura.</a:t>
            </a:r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7B13348-F3CE-BFAF-718B-90D937914DA6}"/>
              </a:ext>
            </a:extLst>
          </p:cNvPr>
          <p:cNvSpPr txBox="1"/>
          <p:nvPr/>
        </p:nvSpPr>
        <p:spPr>
          <a:xfrm>
            <a:off x="515068" y="1334843"/>
            <a:ext cx="4243590" cy="1089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</a:rPr>
              <a:t>As </a:t>
            </a:r>
            <a:r>
              <a:rPr lang="en-US" sz="1800" b="0" i="0" dirty="0" err="1">
                <a:effectLst/>
              </a:rPr>
              <a:t>chamadas</a:t>
            </a:r>
            <a:r>
              <a:rPr lang="en-US" sz="1800" b="0" i="0" dirty="0">
                <a:effectLst/>
              </a:rPr>
              <a:t> </a:t>
            </a:r>
            <a:r>
              <a:rPr lang="en-US" sz="1800" b="1" i="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Leis Jim Crow</a:t>
            </a:r>
            <a:r>
              <a:rPr lang="en-US" sz="1800" b="0" i="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1800" b="0" i="0" dirty="0" err="1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levaram</a:t>
            </a:r>
            <a:r>
              <a:rPr lang="en-US" sz="1800" b="0" i="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à </a:t>
            </a:r>
            <a:r>
              <a:rPr lang="en-US" sz="1800" b="0" i="0" dirty="0" err="1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legalização</a:t>
            </a:r>
            <a:r>
              <a:rPr lang="en-US" sz="1800" b="0" i="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US" sz="1800" b="0" i="0" dirty="0" err="1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racismo</a:t>
            </a:r>
            <a:r>
              <a:rPr lang="en-US" sz="1800" b="0" i="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antinegro e da </a:t>
            </a:r>
            <a:r>
              <a:rPr lang="en-US" sz="1800" b="0" i="0" dirty="0" err="1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segregação</a:t>
            </a:r>
            <a:r>
              <a:rPr lang="en-US" sz="1800" b="0" i="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racial </a:t>
            </a:r>
            <a:r>
              <a:rPr lang="en-US" sz="1800" b="0" i="0" dirty="0" err="1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nos</a:t>
            </a:r>
            <a:r>
              <a:rPr lang="en-US" sz="1800" b="0" i="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Estados</a:t>
            </a:r>
            <a:r>
              <a:rPr lang="en-US" sz="1800" b="0" i="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Unidos, </a:t>
            </a:r>
            <a:r>
              <a:rPr lang="en-US" sz="1800" b="0" i="0" dirty="0" err="1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desde</a:t>
            </a:r>
            <a:r>
              <a:rPr lang="en-US" sz="1800" b="0" i="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1877 </a:t>
            </a:r>
            <a:r>
              <a:rPr lang="en-US" sz="1800" b="0" i="0" dirty="0" err="1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até</a:t>
            </a:r>
            <a:r>
              <a:rPr lang="en-US" sz="1800" b="0" i="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dirty="0" err="1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meados</a:t>
            </a:r>
            <a:r>
              <a:rPr lang="en-US" sz="1800" b="0" i="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dos </a:t>
            </a:r>
            <a:r>
              <a:rPr lang="en-US" sz="1800" b="0" i="0" dirty="0" err="1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anos</a:t>
            </a:r>
            <a:r>
              <a:rPr lang="en-US" sz="1800" b="0" i="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60.</a:t>
            </a:r>
            <a:endParaRPr lang="en-US" sz="1800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440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6" name="Rectangle 2065">
            <a:extLst>
              <a:ext uri="{FF2B5EF4-FFF2-40B4-BE49-F238E27FC236}">
                <a16:creationId xmlns:a16="http://schemas.microsoft.com/office/drawing/2014/main" id="{E8DC6FCD-811B-436E-9FEE-FC957486C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Imagem 8" descr="Grupo de pessoas fantasiadas andando na rua&#10;&#10;Descrição gerada automaticamente">
            <a:extLst>
              <a:ext uri="{FF2B5EF4-FFF2-40B4-BE49-F238E27FC236}">
                <a16:creationId xmlns:a16="http://schemas.microsoft.com/office/drawing/2014/main" id="{BD1C36AA-AFD2-4CED-8AD8-715D2DF01B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238" r="2" b="7828"/>
          <a:stretch/>
        </p:blipFill>
        <p:spPr>
          <a:xfrm>
            <a:off x="420293" y="3581980"/>
            <a:ext cx="5797883" cy="3167426"/>
          </a:xfrm>
          <a:prstGeom prst="rect">
            <a:avLst/>
          </a:prstGeom>
        </p:spPr>
      </p:pic>
      <p:pic>
        <p:nvPicPr>
          <p:cNvPr id="1028" name="Picture 4" descr="Aqui, um homem afro-americano bebe de um bebedouro marcado como &quot;colorido&quot; em um terminal de bonde em Oklahoma City, Oklahoma, em 1939.">
            <a:extLst>
              <a:ext uri="{FF2B5EF4-FFF2-40B4-BE49-F238E27FC236}">
                <a16:creationId xmlns:a16="http://schemas.microsoft.com/office/drawing/2014/main" id="{9979F31D-ECEE-568A-8ABB-C04D2F882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96" r="-2" b="11990"/>
          <a:stretch/>
        </p:blipFill>
        <p:spPr bwMode="auto">
          <a:xfrm>
            <a:off x="192523" y="360456"/>
            <a:ext cx="5804105" cy="2789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3" name="Picture 15" descr="Bandeira ligada a supremacia branca nos EUA é hasteada em evento em  Petrópolis">
            <a:extLst>
              <a:ext uri="{FF2B5EF4-FFF2-40B4-BE49-F238E27FC236}">
                <a16:creationId xmlns:a16="http://schemas.microsoft.com/office/drawing/2014/main" id="{4A48D13C-ED34-4352-002A-E576BE902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6513" y="658954"/>
            <a:ext cx="5392964" cy="3020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72728364-32A0-5F7A-C89F-4C9D9424FF6E}"/>
              </a:ext>
            </a:extLst>
          </p:cNvPr>
          <p:cNvSpPr txBox="1"/>
          <p:nvPr/>
        </p:nvSpPr>
        <p:spPr>
          <a:xfrm>
            <a:off x="7467600" y="1341924"/>
            <a:ext cx="289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Invasão do Capitólio- 2021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2097BA4-712D-3CE2-63F8-6101333D6F41}"/>
              </a:ext>
            </a:extLst>
          </p:cNvPr>
          <p:cNvSpPr txBox="1"/>
          <p:nvPr/>
        </p:nvSpPr>
        <p:spPr>
          <a:xfrm>
            <a:off x="518160" y="3679014"/>
            <a:ext cx="74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2017</a:t>
            </a:r>
          </a:p>
        </p:txBody>
      </p:sp>
    </p:spTree>
    <p:extLst>
      <p:ext uri="{BB962C8B-B14F-4D97-AF65-F5344CB8AC3E}">
        <p14:creationId xmlns:p14="http://schemas.microsoft.com/office/powerpoint/2010/main" val="2537948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5D0A3F0-7254-4B6A-ADEE-C9AD111DC43C}"/>
              </a:ext>
            </a:extLst>
          </p:cNvPr>
          <p:cNvSpPr txBox="1"/>
          <p:nvPr/>
        </p:nvSpPr>
        <p:spPr>
          <a:xfrm>
            <a:off x="1264443" y="894835"/>
            <a:ext cx="3686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Intenso desenvolvimento industrial- e início de um imperialismo regional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10FCD35-A554-413A-8AC3-D1CF20EE8A4F}"/>
              </a:ext>
            </a:extLst>
          </p:cNvPr>
          <p:cNvSpPr txBox="1"/>
          <p:nvPr/>
        </p:nvSpPr>
        <p:spPr>
          <a:xfrm>
            <a:off x="2324099" y="304800"/>
            <a:ext cx="221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hlinkClick r:id="rId2"/>
              </a:rPr>
              <a:t>EUA</a:t>
            </a:r>
            <a:r>
              <a:rPr lang="pt-BR" b="1" dirty="0"/>
              <a:t> no Pós -guerra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9FA1C99-74F7-4D2B-BAD5-93F6F47C12E6}"/>
              </a:ext>
            </a:extLst>
          </p:cNvPr>
          <p:cNvSpPr txBox="1"/>
          <p:nvPr/>
        </p:nvSpPr>
        <p:spPr>
          <a:xfrm>
            <a:off x="1009648" y="4454305"/>
            <a:ext cx="4195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Doutrinas Norte americanas no século XIX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6734738-7F46-4367-9F47-DAF38559D2D6}"/>
              </a:ext>
            </a:extLst>
          </p:cNvPr>
          <p:cNvSpPr txBox="1"/>
          <p:nvPr/>
        </p:nvSpPr>
        <p:spPr>
          <a:xfrm>
            <a:off x="2505074" y="5321339"/>
            <a:ext cx="2114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Doutrina Monroe 1823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AFEB012-E10E-44A9-AC86-95CF3D7DFFE3}"/>
              </a:ext>
            </a:extLst>
          </p:cNvPr>
          <p:cNvSpPr txBox="1"/>
          <p:nvPr/>
        </p:nvSpPr>
        <p:spPr>
          <a:xfrm>
            <a:off x="6096000" y="5471219"/>
            <a:ext cx="3505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Doutrina do Big Stick-ou Corolário Roosevelt-  1900 ( ‘Ajuda” na Independência do Panamá e criação do canal em 1904)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5884A58-F694-4305-8A41-613680E2D4EA}"/>
              </a:ext>
            </a:extLst>
          </p:cNvPr>
          <p:cNvSpPr txBox="1"/>
          <p:nvPr/>
        </p:nvSpPr>
        <p:spPr>
          <a:xfrm>
            <a:off x="6400799" y="4457147"/>
            <a:ext cx="20288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Doutrina do Destino Manifesto 1860 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88FE20C-8CD8-4E4A-A685-D760D1525647}"/>
              </a:ext>
            </a:extLst>
          </p:cNvPr>
          <p:cNvSpPr txBox="1"/>
          <p:nvPr/>
        </p:nvSpPr>
        <p:spPr>
          <a:xfrm>
            <a:off x="6424610" y="3803823"/>
            <a:ext cx="1981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Doutrina </a:t>
            </a:r>
            <a:r>
              <a:rPr lang="pt-BR" dirty="0" err="1"/>
              <a:t>Polk</a:t>
            </a:r>
            <a:r>
              <a:rPr lang="pt-BR" dirty="0"/>
              <a:t> -1848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0706E9F-DD3C-499E-B2C8-644D112735E7}"/>
              </a:ext>
            </a:extLst>
          </p:cNvPr>
          <p:cNvSpPr txBox="1"/>
          <p:nvPr/>
        </p:nvSpPr>
        <p:spPr>
          <a:xfrm>
            <a:off x="5895975" y="674132"/>
            <a:ext cx="23574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Na América Central e no Caribe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5D54DD8-A050-4294-A7A0-4190D1EA61A1}"/>
              </a:ext>
            </a:extLst>
          </p:cNvPr>
          <p:cNvSpPr txBox="1"/>
          <p:nvPr/>
        </p:nvSpPr>
        <p:spPr>
          <a:xfrm>
            <a:off x="8472487" y="27801"/>
            <a:ext cx="33956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“Ajuda” na Independência de Cuba -1898 – Prêmios: Emenda </a:t>
            </a:r>
            <a:r>
              <a:rPr lang="pt-BR" dirty="0" err="1"/>
              <a:t>Platt</a:t>
            </a:r>
            <a:r>
              <a:rPr lang="pt-BR" dirty="0"/>
              <a:t> ,Base de </a:t>
            </a:r>
            <a:r>
              <a:rPr lang="pt-BR" dirty="0" err="1"/>
              <a:t>Guantânamo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71659A4-5942-4FEA-B879-B0EE9DFB55D8}"/>
              </a:ext>
            </a:extLst>
          </p:cNvPr>
          <p:cNvSpPr txBox="1"/>
          <p:nvPr/>
        </p:nvSpPr>
        <p:spPr>
          <a:xfrm>
            <a:off x="8472487" y="2317620"/>
            <a:ext cx="2776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Filipinas / </a:t>
            </a:r>
            <a:r>
              <a:rPr lang="pt-BR" dirty="0" err="1"/>
              <a:t>Hawaí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C509B8A-F8F8-48FE-A1AB-8A930DD39F15}"/>
              </a:ext>
            </a:extLst>
          </p:cNvPr>
          <p:cNvSpPr txBox="1"/>
          <p:nvPr/>
        </p:nvSpPr>
        <p:spPr>
          <a:xfrm>
            <a:off x="6096000" y="1601060"/>
            <a:ext cx="123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 Pacífico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7F7E630-0904-4FA0-BE46-60F84448554E}"/>
              </a:ext>
            </a:extLst>
          </p:cNvPr>
          <p:cNvSpPr txBox="1"/>
          <p:nvPr/>
        </p:nvSpPr>
        <p:spPr>
          <a:xfrm>
            <a:off x="8472487" y="1082376"/>
            <a:ext cx="27765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Intervenções em vários países da   América Central-  como Honduras, Nicarágua, </a:t>
            </a:r>
            <a:r>
              <a:rPr lang="pt-BR" dirty="0" err="1"/>
              <a:t>etc</a:t>
            </a:r>
            <a:endParaRPr lang="pt-BR" dirty="0"/>
          </a:p>
        </p:txBody>
      </p:sp>
      <p:pic>
        <p:nvPicPr>
          <p:cNvPr id="1026" name="Picture 2" descr="O que foi a Política do Big Stick? - objetivos, contexto e implantação">
            <a:extLst>
              <a:ext uri="{FF2B5EF4-FFF2-40B4-BE49-F238E27FC236}">
                <a16:creationId xmlns:a16="http://schemas.microsoft.com/office/drawing/2014/main" id="{E973B70B-2BEE-44A1-BE4A-11E15CCED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50" y="5014198"/>
            <a:ext cx="2762250" cy="165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13A91EE5-6FAB-48D1-A669-CB83EFEA1B8E}"/>
              </a:ext>
            </a:extLst>
          </p:cNvPr>
          <p:cNvCxnSpPr/>
          <p:nvPr/>
        </p:nvCxnSpPr>
        <p:spPr>
          <a:xfrm>
            <a:off x="4957761" y="5692129"/>
            <a:ext cx="11715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Destino Manifesto, Corolário Roosevelt, Big Stick: O imperialismo ...">
            <a:extLst>
              <a:ext uri="{FF2B5EF4-FFF2-40B4-BE49-F238E27FC236}">
                <a16:creationId xmlns:a16="http://schemas.microsoft.com/office/drawing/2014/main" id="{98DB61D6-4553-43D3-AA11-E02F760A2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26" y="1561893"/>
            <a:ext cx="2776535" cy="2776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ig Stick – Wikipédia, a enciclopédia livre">
            <a:extLst>
              <a:ext uri="{FF2B5EF4-FFF2-40B4-BE49-F238E27FC236}">
                <a16:creationId xmlns:a16="http://schemas.microsoft.com/office/drawing/2014/main" id="{722D5444-63A3-4FE3-8C59-89B2FEB3BF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5862" y="2730072"/>
            <a:ext cx="2381250" cy="192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1FD28FEE-06D8-44F1-9BE3-181B44C571CB}"/>
              </a:ext>
            </a:extLst>
          </p:cNvPr>
          <p:cNvCxnSpPr>
            <a:cxnSpLocks/>
          </p:cNvCxnSpPr>
          <p:nvPr/>
        </p:nvCxnSpPr>
        <p:spPr>
          <a:xfrm flipV="1">
            <a:off x="4788693" y="4284716"/>
            <a:ext cx="1469231" cy="12665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406C337C-D6A2-4B14-9DF3-D37EE012CE9C}"/>
              </a:ext>
            </a:extLst>
          </p:cNvPr>
          <p:cNvCxnSpPr>
            <a:cxnSpLocks/>
          </p:cNvCxnSpPr>
          <p:nvPr/>
        </p:nvCxnSpPr>
        <p:spPr>
          <a:xfrm flipV="1">
            <a:off x="4881562" y="4981576"/>
            <a:ext cx="1247774" cy="605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33576570-9E73-46EB-9E1B-99ACA7EC7D23}"/>
              </a:ext>
            </a:extLst>
          </p:cNvPr>
          <p:cNvCxnSpPr/>
          <p:nvPr/>
        </p:nvCxnSpPr>
        <p:spPr>
          <a:xfrm flipV="1">
            <a:off x="7648575" y="674132"/>
            <a:ext cx="733426" cy="323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7FCD6374-1D23-48A8-9F32-89A99CAE13C5}"/>
              </a:ext>
            </a:extLst>
          </p:cNvPr>
          <p:cNvCxnSpPr/>
          <p:nvPr/>
        </p:nvCxnSpPr>
        <p:spPr>
          <a:xfrm flipV="1">
            <a:off x="7629525" y="1561893"/>
            <a:ext cx="752476" cy="218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3CF89710-F771-4D8C-9C5A-317720CC5953}"/>
              </a:ext>
            </a:extLst>
          </p:cNvPr>
          <p:cNvCxnSpPr/>
          <p:nvPr/>
        </p:nvCxnSpPr>
        <p:spPr>
          <a:xfrm>
            <a:off x="7648575" y="1988736"/>
            <a:ext cx="733426" cy="408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CF99C1E-12B6-47DE-8B3D-1F4930BB9D86}"/>
              </a:ext>
            </a:extLst>
          </p:cNvPr>
          <p:cNvSpPr txBox="1"/>
          <p:nvPr/>
        </p:nvSpPr>
        <p:spPr>
          <a:xfrm>
            <a:off x="6400799" y="3074474"/>
            <a:ext cx="1747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Doutrina Monroe - 1823</a:t>
            </a:r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147133E4-7481-4762-A227-7BE50ADD2C0B}"/>
              </a:ext>
            </a:extLst>
          </p:cNvPr>
          <p:cNvCxnSpPr>
            <a:cxnSpLocks/>
          </p:cNvCxnSpPr>
          <p:nvPr/>
        </p:nvCxnSpPr>
        <p:spPr>
          <a:xfrm flipV="1">
            <a:off x="4772022" y="3533775"/>
            <a:ext cx="1600203" cy="1937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Doutrina do destino manifesto – Wikipédia, a enciclopédia livre">
            <a:extLst>
              <a:ext uri="{FF2B5EF4-FFF2-40B4-BE49-F238E27FC236}">
                <a16:creationId xmlns:a16="http://schemas.microsoft.com/office/drawing/2014/main" id="{1D3EEC93-7B76-4425-99F0-DD7DDF1B8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4235" y="4853119"/>
            <a:ext cx="1970408" cy="1467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tângulo 27">
            <a:extLst>
              <a:ext uri="{FF2B5EF4-FFF2-40B4-BE49-F238E27FC236}">
                <a16:creationId xmlns:a16="http://schemas.microsoft.com/office/drawing/2014/main" id="{A0DD390B-B43A-43CF-A071-C9EA3BA53011}"/>
              </a:ext>
            </a:extLst>
          </p:cNvPr>
          <p:cNvSpPr/>
          <p:nvPr/>
        </p:nvSpPr>
        <p:spPr>
          <a:xfrm>
            <a:off x="8982710" y="6297944"/>
            <a:ext cx="3171825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100" i="1" dirty="0">
                <a:solidFill>
                  <a:srgbClr val="0B0080"/>
                </a:solidFill>
                <a:latin typeface="Arial" panose="020B0604020202020204" pitchFamily="34" charset="0"/>
                <a:hlinkClick r:id="rId7" tooltip="Progresso Americano"/>
              </a:rPr>
              <a:t>Progresso Americano</a:t>
            </a:r>
            <a:r>
              <a:rPr lang="pt-BR" sz="1100" i="1" dirty="0">
                <a:solidFill>
                  <a:srgbClr val="222222"/>
                </a:solidFill>
                <a:latin typeface="Arial" panose="020B0604020202020204" pitchFamily="34" charset="0"/>
              </a:rPr>
              <a:t>,</a:t>
            </a:r>
            <a:r>
              <a:rPr lang="pt-BR" sz="1100" dirty="0">
                <a:solidFill>
                  <a:srgbClr val="222222"/>
                </a:solidFill>
                <a:latin typeface="Arial" panose="020B0604020202020204" pitchFamily="34" charset="0"/>
              </a:rPr>
              <a:t> 1872, de </a:t>
            </a:r>
            <a:r>
              <a:rPr lang="pt-BR" sz="1100" dirty="0">
                <a:solidFill>
                  <a:srgbClr val="0B0080"/>
                </a:solidFill>
                <a:latin typeface="Arial" panose="020B0604020202020204" pitchFamily="34" charset="0"/>
                <a:hlinkClick r:id="rId8" tooltip="John Gast"/>
              </a:rPr>
              <a:t>John </a:t>
            </a:r>
            <a:r>
              <a:rPr lang="pt-BR" sz="1100" dirty="0" err="1">
                <a:solidFill>
                  <a:srgbClr val="0B0080"/>
                </a:solidFill>
                <a:latin typeface="Arial" panose="020B0604020202020204" pitchFamily="34" charset="0"/>
                <a:hlinkClick r:id="rId8" tooltip="John Gast"/>
              </a:rPr>
              <a:t>Gast</a:t>
            </a:r>
            <a:r>
              <a:rPr lang="pt-BR" sz="1100" dirty="0">
                <a:solidFill>
                  <a:srgbClr val="222222"/>
                </a:solidFill>
                <a:latin typeface="Arial" panose="020B0604020202020204" pitchFamily="34" charset="0"/>
              </a:rPr>
              <a:t>. Esta pintura é uma representação </a:t>
            </a:r>
            <a:r>
              <a:rPr lang="pt-BR" sz="1100" dirty="0">
                <a:solidFill>
                  <a:srgbClr val="0B0080"/>
                </a:solidFill>
                <a:latin typeface="Arial" panose="020B0604020202020204" pitchFamily="34" charset="0"/>
                <a:hlinkClick r:id="rId9" tooltip="Alegoria"/>
              </a:rPr>
              <a:t>alegórica</a:t>
            </a:r>
            <a:r>
              <a:rPr lang="pt-BR" sz="1100" dirty="0">
                <a:solidFill>
                  <a:srgbClr val="222222"/>
                </a:solidFill>
                <a:latin typeface="Arial" panose="020B0604020202020204" pitchFamily="34" charset="0"/>
              </a:rPr>
              <a:t> do Destino Manifesto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3611134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22D080F-8CC4-4A3D-BF83-F6F98AEC9F5D}"/>
              </a:ext>
            </a:extLst>
          </p:cNvPr>
          <p:cNvSpPr/>
          <p:nvPr/>
        </p:nvSpPr>
        <p:spPr>
          <a:xfrm>
            <a:off x="7019925" y="170974"/>
            <a:ext cx="4619625" cy="597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pt-BR" dirty="0"/>
            </a:br>
            <a:r>
              <a:rPr lang="pt-BR" dirty="0"/>
              <a:t>Um dos exemplos mais claros da influência do Destino Manifesto foi dada pelo presidente Theodore Roosevelt em sua “Mensagem à Nação” de 1904: </a:t>
            </a:r>
            <a:r>
              <a:rPr lang="pt-BR" dirty="0">
                <a:solidFill>
                  <a:srgbClr val="FF0000"/>
                </a:solidFill>
              </a:rPr>
              <a:t>Se uma nação demonstra que sabe como agir com adequada eficiência e decência em assuntos políticos e sociais, se mantiver a ordem e respeitar suas obrigações, não precisará temer uma interferência norte-americana. </a:t>
            </a:r>
            <a:r>
              <a:rPr lang="pt-BR" dirty="0">
                <a:solidFill>
                  <a:srgbClr val="222222"/>
                </a:solidFill>
              </a:rPr>
              <a:t>A injustiça crônica ou a impotência que resultam de </a:t>
            </a:r>
            <a:r>
              <a:rPr lang="pt-BR" dirty="0">
                <a:solidFill>
                  <a:srgbClr val="FF0000"/>
                </a:solidFill>
              </a:rPr>
              <a:t>um afrouxamento geral das regras de uma sociedade civilizada podem exigir, afinal de contas, na América ou em outro continente, a intervenção de uma nação civilizada ocidental, a adesão dos Estados Unidos à Doutrina Monroe poderá vir a forçar os Estados Unidos, embora contra a sua vontade, em casos flagrantes de injustiça ou de impotência, a exercer um poder de polícia internacional.</a:t>
            </a:r>
            <a:br>
              <a:rPr lang="pt-BR" dirty="0">
                <a:solidFill>
                  <a:srgbClr val="FF0000"/>
                </a:solidFill>
              </a:rPr>
            </a:br>
            <a:r>
              <a:rPr lang="pt-BR" sz="1100" dirty="0">
                <a:solidFill>
                  <a:srgbClr val="222222"/>
                </a:solidFill>
                <a:latin typeface="Arial" panose="020B0604020202020204" pitchFamily="34" charset="0"/>
              </a:rPr>
              <a:t>Disponível em: &lt;</a:t>
            </a:r>
            <a:r>
              <a:rPr lang="pt-BR" sz="1100" dirty="0">
                <a:solidFill>
                  <a:srgbClr val="1155CC"/>
                </a:solidFill>
                <a:latin typeface="Arial" panose="020B0604020202020204" pitchFamily="34" charset="0"/>
                <a:hlinkClick r:id="rId2"/>
              </a:rPr>
              <a:t>www.ourdocuments.gov/</a:t>
            </a:r>
            <a:br>
              <a:rPr lang="pt-BR" sz="1100" dirty="0"/>
            </a:br>
            <a:r>
              <a:rPr lang="pt-BR" sz="1100" dirty="0" err="1">
                <a:solidFill>
                  <a:srgbClr val="222222"/>
                </a:solidFill>
                <a:latin typeface="Arial" panose="020B0604020202020204" pitchFamily="34" charset="0"/>
              </a:rPr>
              <a:t>doc.php?flash</a:t>
            </a:r>
            <a:r>
              <a:rPr lang="pt-BR" sz="1100" dirty="0">
                <a:solidFill>
                  <a:srgbClr val="222222"/>
                </a:solidFill>
                <a:latin typeface="Arial" panose="020B0604020202020204" pitchFamily="34" charset="0"/>
              </a:rPr>
              <a:t>=old&amp;doc%3D56&gt;. Acesso em: 31 mar. 2014.</a:t>
            </a:r>
            <a:endParaRPr lang="pt-BR" sz="1100" dirty="0"/>
          </a:p>
        </p:txBody>
      </p:sp>
      <p:pic>
        <p:nvPicPr>
          <p:cNvPr id="6" name="Picture 2" descr="O que foi a Política do Big Stick? - objetivos, contexto e implantação">
            <a:extLst>
              <a:ext uri="{FF2B5EF4-FFF2-40B4-BE49-F238E27FC236}">
                <a16:creationId xmlns:a16="http://schemas.microsoft.com/office/drawing/2014/main" id="{B8B59F17-6963-4651-AF52-A4F647671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33" y="2081612"/>
            <a:ext cx="6261100" cy="3756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55792DC-E271-4E2D-A532-5E57E27AAA73}"/>
              </a:ext>
            </a:extLst>
          </p:cNvPr>
          <p:cNvSpPr txBox="1"/>
          <p:nvPr/>
        </p:nvSpPr>
        <p:spPr>
          <a:xfrm>
            <a:off x="1527994" y="712838"/>
            <a:ext cx="3810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2"/>
                </a:solidFill>
                <a:latin typeface="Arial Black" panose="020B0A04020102020204" pitchFamily="34" charset="0"/>
              </a:rPr>
              <a:t>A Doutrina do “Big Stick”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7CBDC95E-E554-473E-B6FB-D81EDC448C6D}"/>
              </a:ext>
            </a:extLst>
          </p:cNvPr>
          <p:cNvCxnSpPr/>
          <p:nvPr/>
        </p:nvCxnSpPr>
        <p:spPr>
          <a:xfrm>
            <a:off x="4483510" y="1268361"/>
            <a:ext cx="0" cy="521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14C5A424-8B10-46DC-86B9-D2B0B5731236}"/>
              </a:ext>
            </a:extLst>
          </p:cNvPr>
          <p:cNvCxnSpPr/>
          <p:nvPr/>
        </p:nvCxnSpPr>
        <p:spPr>
          <a:xfrm>
            <a:off x="5447071" y="1012723"/>
            <a:ext cx="1327355" cy="629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902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AE2B705-D4B2-473A-B80F-8BEBADFD58C9}"/>
              </a:ext>
            </a:extLst>
          </p:cNvPr>
          <p:cNvSpPr/>
          <p:nvPr/>
        </p:nvSpPr>
        <p:spPr>
          <a:xfrm>
            <a:off x="9152910" y="412955"/>
            <a:ext cx="2871941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A expressão “Destino Manifesto” aparece pela primeira vez num artigo do jornalista John </a:t>
            </a:r>
            <a:r>
              <a:rPr lang="pt-BR" dirty="0" err="1"/>
              <a:t>O’Sullivan</a:t>
            </a:r>
            <a:r>
              <a:rPr lang="pt-BR" dirty="0"/>
              <a:t> publicado na revista </a:t>
            </a:r>
            <a:r>
              <a:rPr lang="pt-BR" dirty="0" err="1"/>
              <a:t>Democratic</a:t>
            </a:r>
            <a:r>
              <a:rPr lang="pt-BR" dirty="0"/>
              <a:t> Review de Nova York em 1845: “</a:t>
            </a:r>
            <a:r>
              <a:rPr lang="pt-BR" dirty="0">
                <a:solidFill>
                  <a:srgbClr val="C00000"/>
                </a:solidFill>
              </a:rPr>
              <a:t>O cumprimento de nosso destino manifesto é estender-nos por todo o continente que nos foi confiado pela Providência, para o desenvolvimento da grande experiência de liberdade e </a:t>
            </a:r>
            <a:r>
              <a:rPr lang="pt-BR" dirty="0" err="1">
                <a:solidFill>
                  <a:srgbClr val="C00000"/>
                </a:solidFill>
              </a:rPr>
              <a:t>auto-governo</a:t>
            </a:r>
            <a:r>
              <a:rPr lang="pt-BR" dirty="0"/>
              <a:t>. É um direito como a que uma árvore tem de obter o ar e a terra…”.</a:t>
            </a:r>
          </a:p>
        </p:txBody>
      </p:sp>
      <p:pic>
        <p:nvPicPr>
          <p:cNvPr id="3" name="Picture 2" descr="Doutrina do destino manifesto – Wikipédia, a enciclopédia livre">
            <a:extLst>
              <a:ext uri="{FF2B5EF4-FFF2-40B4-BE49-F238E27FC236}">
                <a16:creationId xmlns:a16="http://schemas.microsoft.com/office/drawing/2014/main" id="{0E7C8149-BED2-4870-A64A-1F94BD4B7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67" y="487319"/>
            <a:ext cx="7871197" cy="5864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3C8F8487-996A-4250-9C06-225F4996EC80}"/>
              </a:ext>
            </a:extLst>
          </p:cNvPr>
          <p:cNvSpPr/>
          <p:nvPr/>
        </p:nvSpPr>
        <p:spPr>
          <a:xfrm>
            <a:off x="649563" y="6273225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i="1" dirty="0">
                <a:solidFill>
                  <a:srgbClr val="0B0080"/>
                </a:solidFill>
                <a:latin typeface="Arial" panose="020B0604020202020204" pitchFamily="34" charset="0"/>
                <a:hlinkClick r:id="rId3" tooltip="Progresso Americano"/>
              </a:rPr>
              <a:t>Progresso Americano</a:t>
            </a:r>
            <a:r>
              <a:rPr lang="pt-BR" sz="1600" i="1" dirty="0">
                <a:solidFill>
                  <a:srgbClr val="222222"/>
                </a:solidFill>
                <a:latin typeface="Arial" panose="020B0604020202020204" pitchFamily="34" charset="0"/>
              </a:rPr>
              <a:t>,</a:t>
            </a:r>
            <a:r>
              <a:rPr lang="pt-BR" sz="1600" dirty="0">
                <a:solidFill>
                  <a:srgbClr val="222222"/>
                </a:solidFill>
                <a:latin typeface="Arial" panose="020B0604020202020204" pitchFamily="34" charset="0"/>
              </a:rPr>
              <a:t> 1872, de </a:t>
            </a:r>
            <a:r>
              <a:rPr lang="pt-BR" sz="1600" dirty="0">
                <a:solidFill>
                  <a:srgbClr val="0B0080"/>
                </a:solidFill>
                <a:latin typeface="Arial" panose="020B0604020202020204" pitchFamily="34" charset="0"/>
                <a:hlinkClick r:id="rId4" tooltip="John Gast"/>
              </a:rPr>
              <a:t>John </a:t>
            </a:r>
            <a:r>
              <a:rPr lang="pt-BR" sz="1600" dirty="0" err="1">
                <a:solidFill>
                  <a:srgbClr val="0B0080"/>
                </a:solidFill>
                <a:latin typeface="Arial" panose="020B0604020202020204" pitchFamily="34" charset="0"/>
                <a:hlinkClick r:id="rId4" tooltip="John Gast"/>
              </a:rPr>
              <a:t>Gast</a:t>
            </a:r>
            <a:r>
              <a:rPr lang="pt-BR" sz="1600" dirty="0">
                <a:solidFill>
                  <a:srgbClr val="222222"/>
                </a:solidFill>
                <a:latin typeface="Arial" panose="020B0604020202020204" pitchFamily="34" charset="0"/>
              </a:rPr>
              <a:t>. Esta pintura é uma representação </a:t>
            </a:r>
            <a:r>
              <a:rPr lang="pt-BR" sz="1600" dirty="0">
                <a:solidFill>
                  <a:srgbClr val="0B0080"/>
                </a:solidFill>
                <a:latin typeface="Arial" panose="020B0604020202020204" pitchFamily="34" charset="0"/>
                <a:hlinkClick r:id="rId5" tooltip="Alegoria"/>
              </a:rPr>
              <a:t>alegórica</a:t>
            </a:r>
            <a:r>
              <a:rPr lang="pt-BR" sz="1600" dirty="0">
                <a:solidFill>
                  <a:srgbClr val="222222"/>
                </a:solidFill>
                <a:latin typeface="Arial" panose="020B0604020202020204" pitchFamily="34" charset="0"/>
              </a:rPr>
              <a:t> do Destino Manifesto</a:t>
            </a:r>
            <a:endParaRPr lang="pt-BR" sz="16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E70A299-7462-4BF2-A7C3-ABFEF78B95E3}"/>
              </a:ext>
            </a:extLst>
          </p:cNvPr>
          <p:cNvSpPr txBox="1"/>
          <p:nvPr/>
        </p:nvSpPr>
        <p:spPr>
          <a:xfrm>
            <a:off x="2163096" y="117987"/>
            <a:ext cx="4395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2"/>
                </a:solidFill>
                <a:latin typeface="Arial Black" panose="020B0A04020102020204" pitchFamily="34" charset="0"/>
              </a:rPr>
              <a:t>Doutrina do “Destino Manifesto”</a:t>
            </a:r>
          </a:p>
        </p:txBody>
      </p:sp>
    </p:spTree>
    <p:extLst>
      <p:ext uri="{BB962C8B-B14F-4D97-AF65-F5344CB8AC3E}">
        <p14:creationId xmlns:p14="http://schemas.microsoft.com/office/powerpoint/2010/main" val="4029869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B150CB2-A4A3-266A-86B3-C58A5F4BD245}"/>
              </a:ext>
            </a:extLst>
          </p:cNvPr>
          <p:cNvSpPr txBox="1"/>
          <p:nvPr/>
        </p:nvSpPr>
        <p:spPr>
          <a:xfrm>
            <a:off x="198120" y="908050"/>
            <a:ext cx="1165352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Discurso de Posse de Ronald Reagan (1981): 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Nós, os americanos, temos um encontro marcado com o destino. Nenhum povo que já viveu nesta terra lutou mais, pagou um preço mais alto pela liberdade ou fez mais para avançar a dignidade do homem do que os americanos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</a:p>
          <a:p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Discurso ao Parlamento Britânico (1982): "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Com nossos olhos fixos no futuro, mas reconhecendo as realidades de hoje, alcançaremos nosso destino de ser como uma cidade brilhante sobre uma colina para toda a humanidade ver“</a:t>
            </a:r>
          </a:p>
          <a:p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Discurso de Despedida (1989): "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A tarefa que nos foi dada como americanos é mover a consciência do mundo, manter viva a esperança e o sonho de liberdade. Pois, se falharmos ou vacilarmos, não haverá lugar para os oprimidos do mundo fugirem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".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2EA580C-8163-B292-E663-6FB3F28CE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090" y="5115560"/>
            <a:ext cx="1169670" cy="116967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702E890-BC90-5DBC-7CE9-BFA86689F2BB}"/>
              </a:ext>
            </a:extLst>
          </p:cNvPr>
          <p:cNvSpPr txBox="1"/>
          <p:nvPr/>
        </p:nvSpPr>
        <p:spPr>
          <a:xfrm>
            <a:off x="1026160" y="193040"/>
            <a:ext cx="646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Exemplos de discursos envolvendo o Destino Manifesto</a:t>
            </a:r>
          </a:p>
        </p:txBody>
      </p:sp>
    </p:spTree>
    <p:extLst>
      <p:ext uri="{BB962C8B-B14F-4D97-AF65-F5344CB8AC3E}">
        <p14:creationId xmlns:p14="http://schemas.microsoft.com/office/powerpoint/2010/main" val="4072892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317B7366-37C8-497F-8B24-C0D854C71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Barack Obama">
            <a:extLst>
              <a:ext uri="{FF2B5EF4-FFF2-40B4-BE49-F238E27FC236}">
                <a16:creationId xmlns:a16="http://schemas.microsoft.com/office/drawing/2014/main" id="{274DB569-D203-C6D9-AB16-D5CE6E939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58"/>
          <a:stretch/>
        </p:blipFill>
        <p:spPr bwMode="auto">
          <a:xfrm>
            <a:off x="1129323" y="2013626"/>
            <a:ext cx="4488714" cy="3576825"/>
          </a:xfrm>
          <a:custGeom>
            <a:avLst/>
            <a:gdLst/>
            <a:ahLst/>
            <a:cxnLst/>
            <a:rect l="l" t="t" r="r" b="b"/>
            <a:pathLst>
              <a:path w="4488714" h="3576825">
                <a:moveTo>
                  <a:pt x="713492" y="15"/>
                </a:moveTo>
                <a:cubicBezTo>
                  <a:pt x="723739" y="278"/>
                  <a:pt x="734339" y="3967"/>
                  <a:pt x="743942" y="5139"/>
                </a:cubicBezTo>
                <a:cubicBezTo>
                  <a:pt x="955929" y="31374"/>
                  <a:pt x="1167914" y="59717"/>
                  <a:pt x="1380134" y="84780"/>
                </a:cubicBezTo>
                <a:cubicBezTo>
                  <a:pt x="1578535" y="108204"/>
                  <a:pt x="1778340" y="113591"/>
                  <a:pt x="1977677" y="125771"/>
                </a:cubicBezTo>
                <a:cubicBezTo>
                  <a:pt x="2218942" y="140529"/>
                  <a:pt x="2459740" y="161377"/>
                  <a:pt x="2699600" y="194169"/>
                </a:cubicBezTo>
                <a:cubicBezTo>
                  <a:pt x="2866144" y="217126"/>
                  <a:pt x="3034328" y="233053"/>
                  <a:pt x="3203214" y="214783"/>
                </a:cubicBezTo>
                <a:cubicBezTo>
                  <a:pt x="3211646" y="213845"/>
                  <a:pt x="3221250" y="210801"/>
                  <a:pt x="3228277" y="213845"/>
                </a:cubicBezTo>
                <a:cubicBezTo>
                  <a:pt x="3310262" y="248045"/>
                  <a:pt x="3399740" y="223449"/>
                  <a:pt x="3484768" y="244999"/>
                </a:cubicBezTo>
                <a:cubicBezTo>
                  <a:pt x="3462984" y="328154"/>
                  <a:pt x="3369523" y="321361"/>
                  <a:pt x="3316820" y="378984"/>
                </a:cubicBezTo>
                <a:cubicBezTo>
                  <a:pt x="3402785" y="401939"/>
                  <a:pt x="3480084" y="425129"/>
                  <a:pt x="3558554" y="442462"/>
                </a:cubicBezTo>
                <a:cubicBezTo>
                  <a:pt x="3641709" y="460733"/>
                  <a:pt x="3712214" y="510158"/>
                  <a:pt x="3793494" y="532176"/>
                </a:cubicBezTo>
                <a:cubicBezTo>
                  <a:pt x="3810829" y="536861"/>
                  <a:pt x="3831676" y="553257"/>
                  <a:pt x="3837766" y="569186"/>
                </a:cubicBezTo>
                <a:cubicBezTo>
                  <a:pt x="3857442" y="620719"/>
                  <a:pt x="4250260" y="765244"/>
                  <a:pt x="4203881" y="811154"/>
                </a:cubicBezTo>
                <a:cubicBezTo>
                  <a:pt x="4184673" y="830128"/>
                  <a:pt x="4159844" y="843714"/>
                  <a:pt x="4133843" y="862453"/>
                </a:cubicBezTo>
                <a:cubicBezTo>
                  <a:pt x="4172962" y="897823"/>
                  <a:pt x="4216998" y="913283"/>
                  <a:pt x="4263846" y="923823"/>
                </a:cubicBezTo>
                <a:cubicBezTo>
                  <a:pt x="4277901" y="927103"/>
                  <a:pt x="4291721" y="933661"/>
                  <a:pt x="4293126" y="949590"/>
                </a:cubicBezTo>
                <a:cubicBezTo>
                  <a:pt x="4294531" y="966220"/>
                  <a:pt x="4280242" y="972778"/>
                  <a:pt x="4268297" y="980509"/>
                </a:cubicBezTo>
                <a:cubicBezTo>
                  <a:pt x="4251666" y="991283"/>
                  <a:pt x="4235503" y="1000654"/>
                  <a:pt x="4214422" y="1002059"/>
                </a:cubicBezTo>
                <a:cubicBezTo>
                  <a:pt x="4179754" y="1004167"/>
                  <a:pt x="4163124" y="1034149"/>
                  <a:pt x="4142980" y="1056636"/>
                </a:cubicBezTo>
                <a:cubicBezTo>
                  <a:pt x="4131736" y="1069286"/>
                  <a:pt x="4126114" y="1094817"/>
                  <a:pt x="4145790" y="1099268"/>
                </a:cubicBezTo>
                <a:cubicBezTo>
                  <a:pt x="4193106" y="1110043"/>
                  <a:pt x="4189358" y="1141197"/>
                  <a:pt x="4188188" y="1176567"/>
                </a:cubicBezTo>
                <a:cubicBezTo>
                  <a:pt x="4186548" y="1220370"/>
                  <a:pt x="4158673" y="1240514"/>
                  <a:pt x="4124474" y="1257380"/>
                </a:cubicBezTo>
                <a:cubicBezTo>
                  <a:pt x="4112762" y="1263235"/>
                  <a:pt x="4096132" y="1263000"/>
                  <a:pt x="4091680" y="1281271"/>
                </a:cubicBezTo>
                <a:cubicBezTo>
                  <a:pt x="4110888" y="1298606"/>
                  <a:pt x="4134312" y="1284551"/>
                  <a:pt x="4154926" y="1289469"/>
                </a:cubicBezTo>
                <a:cubicBezTo>
                  <a:pt x="4172025" y="1293452"/>
                  <a:pt x="4200368" y="1291344"/>
                  <a:pt x="4176944" y="1323200"/>
                </a:cubicBezTo>
                <a:cubicBezTo>
                  <a:pt x="4170150" y="1332335"/>
                  <a:pt x="4178114" y="1339363"/>
                  <a:pt x="4186782" y="1340066"/>
                </a:cubicBezTo>
                <a:cubicBezTo>
                  <a:pt x="4256117" y="1347327"/>
                  <a:pt x="4224260" y="1411743"/>
                  <a:pt x="4246513" y="1445708"/>
                </a:cubicBezTo>
                <a:cubicBezTo>
                  <a:pt x="4252602" y="1455076"/>
                  <a:pt x="4246044" y="1471239"/>
                  <a:pt x="4236440" y="1475221"/>
                </a:cubicBezTo>
                <a:cubicBezTo>
                  <a:pt x="4175069" y="1501456"/>
                  <a:pt x="4166637" y="1563998"/>
                  <a:pt x="4136888" y="1617873"/>
                </a:cubicBezTo>
                <a:cubicBezTo>
                  <a:pt x="4169214" y="1639188"/>
                  <a:pt x="4207863" y="1643873"/>
                  <a:pt x="4242764" y="1657693"/>
                </a:cubicBezTo>
                <a:cubicBezTo>
                  <a:pt x="4279072" y="1672216"/>
                  <a:pt x="4279072" y="1682991"/>
                  <a:pt x="4249089" y="1725153"/>
                </a:cubicBezTo>
                <a:cubicBezTo>
                  <a:pt x="4327090" y="1734290"/>
                  <a:pt x="4327090" y="1734290"/>
                  <a:pt x="4302964" y="1800579"/>
                </a:cubicBezTo>
                <a:cubicBezTo>
                  <a:pt x="4368318" y="1806669"/>
                  <a:pt x="4411417" y="1838057"/>
                  <a:pt x="4421488" y="1906689"/>
                </a:cubicBezTo>
                <a:cubicBezTo>
                  <a:pt x="4426408" y="1939951"/>
                  <a:pt x="4455922" y="1955644"/>
                  <a:pt x="4488714" y="1977897"/>
                </a:cubicBezTo>
                <a:cubicBezTo>
                  <a:pt x="4447958" y="1999448"/>
                  <a:pt x="4420318" y="2044421"/>
                  <a:pt x="4372767" y="1996870"/>
                </a:cubicBezTo>
                <a:cubicBezTo>
                  <a:pt x="4355434" y="1979537"/>
                  <a:pt x="4357072" y="2001555"/>
                  <a:pt x="4354731" y="2007880"/>
                </a:cubicBezTo>
                <a:cubicBezTo>
                  <a:pt x="4349110" y="2023339"/>
                  <a:pt x="4360820" y="2033646"/>
                  <a:pt x="4368551" y="2045357"/>
                </a:cubicBezTo>
                <a:cubicBezTo>
                  <a:pt x="4376046" y="2057070"/>
                  <a:pt x="4384948" y="2069484"/>
                  <a:pt x="4387056" y="2082603"/>
                </a:cubicBezTo>
                <a:cubicBezTo>
                  <a:pt x="4388460" y="2091738"/>
                  <a:pt x="4381668" y="2105088"/>
                  <a:pt x="4374173" y="2111882"/>
                </a:cubicBezTo>
                <a:cubicBezTo>
                  <a:pt x="4334820" y="2147720"/>
                  <a:pt x="4358244" y="2228299"/>
                  <a:pt x="4283756" y="2238606"/>
                </a:cubicBezTo>
                <a:cubicBezTo>
                  <a:pt x="4250260" y="2243289"/>
                  <a:pt x="4234098" y="2272804"/>
                  <a:pt x="4209503" y="2288966"/>
                </a:cubicBezTo>
                <a:cubicBezTo>
                  <a:pt x="4124006" y="2345418"/>
                  <a:pt x="4066851" y="2418032"/>
                  <a:pt x="4040383" y="2517817"/>
                </a:cubicBezTo>
                <a:cubicBezTo>
                  <a:pt x="4033122" y="2545457"/>
                  <a:pt x="4005246" y="2567711"/>
                  <a:pt x="3987210" y="2592071"/>
                </a:cubicBezTo>
                <a:cubicBezTo>
                  <a:pt x="3995878" y="2609873"/>
                  <a:pt x="4043193" y="2571458"/>
                  <a:pt x="4026563" y="2618305"/>
                </a:cubicBezTo>
                <a:cubicBezTo>
                  <a:pt x="4013914" y="2653442"/>
                  <a:pt x="3981588" y="2675226"/>
                  <a:pt x="3951137" y="2696074"/>
                </a:cubicBezTo>
                <a:cubicBezTo>
                  <a:pt x="3916470" y="2719731"/>
                  <a:pt x="3878055" y="2738704"/>
                  <a:pt x="3862360" y="2782506"/>
                </a:cubicBezTo>
                <a:cubicBezTo>
                  <a:pt x="3859081" y="2791877"/>
                  <a:pt x="3848540" y="2801714"/>
                  <a:pt x="3839172" y="2805463"/>
                </a:cubicBezTo>
                <a:cubicBezTo>
                  <a:pt x="3350549" y="3576343"/>
                  <a:pt x="2147734" y="3581495"/>
                  <a:pt x="2009066" y="3576107"/>
                </a:cubicBezTo>
                <a:cubicBezTo>
                  <a:pt x="1841116" y="3569315"/>
                  <a:pt x="1682302" y="3521764"/>
                  <a:pt x="1526534" y="3462502"/>
                </a:cubicBezTo>
                <a:cubicBezTo>
                  <a:pt x="1460712" y="3437439"/>
                  <a:pt x="1399577" y="3401835"/>
                  <a:pt x="1335628" y="3374195"/>
                </a:cubicBezTo>
                <a:cubicBezTo>
                  <a:pt x="1247321" y="3336013"/>
                  <a:pt x="1179158" y="3263165"/>
                  <a:pt x="1091084" y="3232479"/>
                </a:cubicBezTo>
                <a:cubicBezTo>
                  <a:pt x="1000434" y="3200857"/>
                  <a:pt x="922901" y="3143000"/>
                  <a:pt x="829673" y="3118405"/>
                </a:cubicBezTo>
                <a:cubicBezTo>
                  <a:pt x="780484" y="3105288"/>
                  <a:pt x="732933" y="3081631"/>
                  <a:pt x="740662" y="3013935"/>
                </a:cubicBezTo>
                <a:cubicBezTo>
                  <a:pt x="742771" y="2994727"/>
                  <a:pt x="729888" y="2979034"/>
                  <a:pt x="709509" y="2984656"/>
                </a:cubicBezTo>
                <a:cubicBezTo>
                  <a:pt x="670626" y="2995196"/>
                  <a:pt x="653058" y="2967321"/>
                  <a:pt x="631507" y="2946474"/>
                </a:cubicBezTo>
                <a:cubicBezTo>
                  <a:pt x="593093" y="2909465"/>
                  <a:pt x="556552" y="2870113"/>
                  <a:pt x="495415" y="2864022"/>
                </a:cubicBezTo>
                <a:cubicBezTo>
                  <a:pt x="507126" y="2834976"/>
                  <a:pt x="527037" y="2839193"/>
                  <a:pt x="545308" y="2845283"/>
                </a:cubicBezTo>
                <a:cubicBezTo>
                  <a:pt x="593327" y="2861212"/>
                  <a:pt x="640877" y="2879248"/>
                  <a:pt x="688896" y="2895176"/>
                </a:cubicBezTo>
                <a:cubicBezTo>
                  <a:pt x="720284" y="2905483"/>
                  <a:pt x="751438" y="2920006"/>
                  <a:pt x="793367" y="2908527"/>
                </a:cubicBezTo>
                <a:cubicBezTo>
                  <a:pt x="757294" y="2849968"/>
                  <a:pt x="695923" y="2839427"/>
                  <a:pt x="646265" y="2821391"/>
                </a:cubicBezTo>
                <a:cubicBezTo>
                  <a:pt x="584192" y="2798670"/>
                  <a:pt x="547651" y="2755803"/>
                  <a:pt x="503847" y="2708019"/>
                </a:cubicBezTo>
                <a:cubicBezTo>
                  <a:pt x="549524" y="2696541"/>
                  <a:pt x="577867" y="2731678"/>
                  <a:pt x="613705" y="2729803"/>
                </a:cubicBezTo>
                <a:cubicBezTo>
                  <a:pt x="615580" y="2723714"/>
                  <a:pt x="618859" y="2714813"/>
                  <a:pt x="618390" y="2714577"/>
                </a:cubicBezTo>
                <a:cubicBezTo>
                  <a:pt x="559831" y="2688343"/>
                  <a:pt x="532425" y="2639153"/>
                  <a:pt x="523289" y="2579656"/>
                </a:cubicBezTo>
                <a:cubicBezTo>
                  <a:pt x="518605" y="2548972"/>
                  <a:pt x="497289" y="2539368"/>
                  <a:pt x="476207" y="2525313"/>
                </a:cubicBezTo>
                <a:cubicBezTo>
                  <a:pt x="402656" y="2475421"/>
                  <a:pt x="324889" y="2430213"/>
                  <a:pt x="264455" y="2361581"/>
                </a:cubicBezTo>
                <a:cubicBezTo>
                  <a:pt x="334259" y="2370716"/>
                  <a:pt x="390242" y="2415455"/>
                  <a:pt x="465433" y="2434663"/>
                </a:cubicBezTo>
                <a:cubicBezTo>
                  <a:pt x="405702" y="2359238"/>
                  <a:pt x="328402" y="2321058"/>
                  <a:pt x="257897" y="2275380"/>
                </a:cubicBezTo>
                <a:cubicBezTo>
                  <a:pt x="225806" y="2254533"/>
                  <a:pt x="196059" y="2227830"/>
                  <a:pt x="157174" y="2216586"/>
                </a:cubicBezTo>
                <a:cubicBezTo>
                  <a:pt x="143354" y="2212604"/>
                  <a:pt x="120633" y="2204172"/>
                  <a:pt x="131643" y="2181919"/>
                </a:cubicBezTo>
                <a:cubicBezTo>
                  <a:pt x="141011" y="2163415"/>
                  <a:pt x="159516" y="2169035"/>
                  <a:pt x="176382" y="2174423"/>
                </a:cubicBezTo>
                <a:cubicBezTo>
                  <a:pt x="216905" y="2187776"/>
                  <a:pt x="258834" y="2188009"/>
                  <a:pt x="313646" y="2187776"/>
                </a:cubicBezTo>
                <a:cubicBezTo>
                  <a:pt x="267735" y="2126639"/>
                  <a:pt x="183643" y="2144910"/>
                  <a:pt x="144292" y="2080728"/>
                </a:cubicBezTo>
                <a:cubicBezTo>
                  <a:pt x="193481" y="2069484"/>
                  <a:pt x="231428" y="2092674"/>
                  <a:pt x="271249" y="2097124"/>
                </a:cubicBezTo>
                <a:cubicBezTo>
                  <a:pt x="307321" y="2101106"/>
                  <a:pt x="316222" y="2090332"/>
                  <a:pt x="307790" y="2054961"/>
                </a:cubicBezTo>
                <a:cubicBezTo>
                  <a:pt x="294673" y="1999915"/>
                  <a:pt x="314349" y="1971806"/>
                  <a:pt x="366818" y="1986798"/>
                </a:cubicBezTo>
                <a:cubicBezTo>
                  <a:pt x="415539" y="2000852"/>
                  <a:pt x="420692" y="1980240"/>
                  <a:pt x="407575" y="1948852"/>
                </a:cubicBezTo>
                <a:cubicBezTo>
                  <a:pt x="388836" y="1903176"/>
                  <a:pt x="410151" y="1867805"/>
                  <a:pt x="424674" y="1829390"/>
                </a:cubicBezTo>
                <a:cubicBezTo>
                  <a:pt x="446928" y="1770831"/>
                  <a:pt x="437558" y="1742253"/>
                  <a:pt x="389539" y="1698685"/>
                </a:cubicBezTo>
                <a:cubicBezTo>
                  <a:pt x="362602" y="1674323"/>
                  <a:pt x="333557" y="1653711"/>
                  <a:pt x="294438" y="1632630"/>
                </a:cubicBezTo>
                <a:cubicBezTo>
                  <a:pt x="384620" y="1621152"/>
                  <a:pt x="289988" y="1582503"/>
                  <a:pt x="321844" y="1558376"/>
                </a:cubicBezTo>
                <a:cubicBezTo>
                  <a:pt x="385557" y="1548538"/>
                  <a:pt x="437558" y="1625368"/>
                  <a:pt x="524227" y="1603350"/>
                </a:cubicBezTo>
                <a:cubicBezTo>
                  <a:pt x="417179" y="1536825"/>
                  <a:pt x="298889" y="1515041"/>
                  <a:pt x="221356" y="1426500"/>
                </a:cubicBezTo>
                <a:cubicBezTo>
                  <a:pt x="239158" y="1406355"/>
                  <a:pt x="256960" y="1425094"/>
                  <a:pt x="272186" y="1417599"/>
                </a:cubicBezTo>
                <a:cubicBezTo>
                  <a:pt x="271717" y="1412914"/>
                  <a:pt x="272889" y="1405886"/>
                  <a:pt x="270077" y="1403779"/>
                </a:cubicBezTo>
                <a:cubicBezTo>
                  <a:pt x="212221" y="1355525"/>
                  <a:pt x="211283" y="1354355"/>
                  <a:pt x="273356" y="1318749"/>
                </a:cubicBezTo>
                <a:cubicBezTo>
                  <a:pt x="295141" y="1306335"/>
                  <a:pt x="293267" y="1295325"/>
                  <a:pt x="281790" y="1279632"/>
                </a:cubicBezTo>
                <a:cubicBezTo>
                  <a:pt x="273590" y="1268622"/>
                  <a:pt x="263753" y="1258784"/>
                  <a:pt x="268438" y="1234657"/>
                </a:cubicBezTo>
                <a:cubicBezTo>
                  <a:pt x="302402" y="1265578"/>
                  <a:pt x="466603" y="1255505"/>
                  <a:pt x="495649" y="1252226"/>
                </a:cubicBezTo>
                <a:cubicBezTo>
                  <a:pt x="528208" y="1248713"/>
                  <a:pt x="560299" y="1233721"/>
                  <a:pt x="594497" y="1241919"/>
                </a:cubicBezTo>
                <a:cubicBezTo>
                  <a:pt x="621903" y="1248479"/>
                  <a:pt x="748860" y="1311957"/>
                  <a:pt x="766898" y="1239109"/>
                </a:cubicBezTo>
                <a:cubicBezTo>
                  <a:pt x="767835" y="1235595"/>
                  <a:pt x="819132" y="1243794"/>
                  <a:pt x="846773" y="1247776"/>
                </a:cubicBezTo>
                <a:cubicBezTo>
                  <a:pt x="871134" y="1251055"/>
                  <a:pt x="898540" y="1265578"/>
                  <a:pt x="914936" y="1236532"/>
                </a:cubicBezTo>
                <a:cubicBezTo>
                  <a:pt x="924540" y="1219433"/>
                  <a:pt x="884954" y="1186405"/>
                  <a:pt x="849584" y="1183594"/>
                </a:cubicBezTo>
                <a:cubicBezTo>
                  <a:pt x="818898" y="1181017"/>
                  <a:pt x="786807" y="1177269"/>
                  <a:pt x="757528" y="1184296"/>
                </a:cubicBezTo>
                <a:cubicBezTo>
                  <a:pt x="721456" y="1192730"/>
                  <a:pt x="702014" y="1179144"/>
                  <a:pt x="691941" y="1149864"/>
                </a:cubicBezTo>
                <a:cubicBezTo>
                  <a:pt x="680698" y="1117539"/>
                  <a:pt x="659147" y="1102547"/>
                  <a:pt x="629400" y="1087555"/>
                </a:cubicBezTo>
                <a:cubicBezTo>
                  <a:pt x="557253" y="1051250"/>
                  <a:pt x="487920" y="1009321"/>
                  <a:pt x="408747" y="988239"/>
                </a:cubicBezTo>
                <a:cubicBezTo>
                  <a:pt x="393052" y="984022"/>
                  <a:pt x="375719" y="978400"/>
                  <a:pt x="368458" y="950527"/>
                </a:cubicBezTo>
                <a:cubicBezTo>
                  <a:pt x="582786" y="992220"/>
                  <a:pt x="778141" y="1100908"/>
                  <a:pt x="999262" y="1094583"/>
                </a:cubicBezTo>
                <a:cubicBezTo>
                  <a:pt x="938829" y="1060149"/>
                  <a:pt x="868792" y="1058276"/>
                  <a:pt x="804376" y="1034149"/>
                </a:cubicBezTo>
                <a:cubicBezTo>
                  <a:pt x="850053" y="1016113"/>
                  <a:pt x="892918" y="1034852"/>
                  <a:pt x="936252" y="1045159"/>
                </a:cubicBezTo>
                <a:cubicBezTo>
                  <a:pt x="972559" y="1053591"/>
                  <a:pt x="1005353" y="1054997"/>
                  <a:pt x="1009335" y="1004636"/>
                </a:cubicBezTo>
                <a:cubicBezTo>
                  <a:pt x="1007929" y="1001356"/>
                  <a:pt x="1008163" y="997141"/>
                  <a:pt x="1008398" y="993158"/>
                </a:cubicBezTo>
                <a:cubicBezTo>
                  <a:pt x="996216" y="972311"/>
                  <a:pt x="977244" y="961536"/>
                  <a:pt x="954757" y="955445"/>
                </a:cubicBezTo>
                <a:cubicBezTo>
                  <a:pt x="941171" y="951697"/>
                  <a:pt x="923135" y="946075"/>
                  <a:pt x="923368" y="931085"/>
                </a:cubicBezTo>
                <a:cubicBezTo>
                  <a:pt x="924071" y="875570"/>
                  <a:pt x="880738" y="859407"/>
                  <a:pt x="837403" y="843245"/>
                </a:cubicBezTo>
                <a:cubicBezTo>
                  <a:pt x="861530" y="815605"/>
                  <a:pt x="880503" y="835983"/>
                  <a:pt x="898774" y="833876"/>
                </a:cubicBezTo>
                <a:cubicBezTo>
                  <a:pt x="910720" y="832470"/>
                  <a:pt x="921495" y="829894"/>
                  <a:pt x="921495" y="815605"/>
                </a:cubicBezTo>
                <a:cubicBezTo>
                  <a:pt x="921729" y="803658"/>
                  <a:pt x="916107" y="790072"/>
                  <a:pt x="904396" y="789839"/>
                </a:cubicBezTo>
                <a:cubicBezTo>
                  <a:pt x="831079" y="787730"/>
                  <a:pt x="790556" y="710900"/>
                  <a:pt x="714428" y="710666"/>
                </a:cubicBezTo>
                <a:cubicBezTo>
                  <a:pt x="668986" y="710666"/>
                  <a:pt x="738086" y="667332"/>
                  <a:pt x="699672" y="649295"/>
                </a:cubicBezTo>
                <a:cubicBezTo>
                  <a:pt x="691238" y="645313"/>
                  <a:pt x="721690" y="639224"/>
                  <a:pt x="735276" y="640160"/>
                </a:cubicBezTo>
                <a:cubicBezTo>
                  <a:pt x="748627" y="641097"/>
                  <a:pt x="760573" y="652574"/>
                  <a:pt x="776736" y="644376"/>
                </a:cubicBezTo>
                <a:cubicBezTo>
                  <a:pt x="785637" y="615097"/>
                  <a:pt x="762682" y="604322"/>
                  <a:pt x="743708" y="596123"/>
                </a:cubicBezTo>
                <a:cubicBezTo>
                  <a:pt x="699905" y="577150"/>
                  <a:pt x="657274" y="554195"/>
                  <a:pt x="609255" y="547401"/>
                </a:cubicBezTo>
                <a:cubicBezTo>
                  <a:pt x="592156" y="545059"/>
                  <a:pt x="633850" y="513671"/>
                  <a:pt x="642048" y="502662"/>
                </a:cubicBezTo>
                <a:cubicBezTo>
                  <a:pt x="448801" y="386949"/>
                  <a:pt x="216437" y="392804"/>
                  <a:pt x="0" y="299342"/>
                </a:cubicBezTo>
                <a:cubicBezTo>
                  <a:pt x="47785" y="281073"/>
                  <a:pt x="82921" y="294424"/>
                  <a:pt x="115480" y="297235"/>
                </a:cubicBezTo>
                <a:cubicBezTo>
                  <a:pt x="196760" y="304261"/>
                  <a:pt x="277105" y="318784"/>
                  <a:pt x="358151" y="327451"/>
                </a:cubicBezTo>
                <a:cubicBezTo>
                  <a:pt x="397971" y="331667"/>
                  <a:pt x="434981" y="347596"/>
                  <a:pt x="479486" y="322299"/>
                </a:cubicBezTo>
                <a:cubicBezTo>
                  <a:pt x="509235" y="305433"/>
                  <a:pt x="556786" y="323703"/>
                  <a:pt x="593327" y="338695"/>
                </a:cubicBezTo>
                <a:cubicBezTo>
                  <a:pt x="623543" y="351109"/>
                  <a:pt x="652355" y="354388"/>
                  <a:pt x="692410" y="338695"/>
                </a:cubicBezTo>
                <a:cubicBezTo>
                  <a:pt x="656103" y="329091"/>
                  <a:pt x="628228" y="320659"/>
                  <a:pt x="599651" y="314802"/>
                </a:cubicBezTo>
                <a:cubicBezTo>
                  <a:pt x="576930" y="310118"/>
                  <a:pt x="631040" y="291144"/>
                  <a:pt x="658679" y="293487"/>
                </a:cubicBezTo>
                <a:cubicBezTo>
                  <a:pt x="697329" y="296766"/>
                  <a:pt x="675545" y="284586"/>
                  <a:pt x="668986" y="267720"/>
                </a:cubicBezTo>
                <a:cubicBezTo>
                  <a:pt x="661959" y="249684"/>
                  <a:pt x="682806" y="244063"/>
                  <a:pt x="695923" y="247810"/>
                </a:cubicBezTo>
                <a:cubicBezTo>
                  <a:pt x="746284" y="262568"/>
                  <a:pt x="796411" y="236567"/>
                  <a:pt x="848413" y="257649"/>
                </a:cubicBezTo>
                <a:cubicBezTo>
                  <a:pt x="835295" y="205647"/>
                  <a:pt x="806952" y="182926"/>
                  <a:pt x="747690" y="175664"/>
                </a:cubicBezTo>
                <a:cubicBezTo>
                  <a:pt x="725437" y="172854"/>
                  <a:pt x="702248" y="177070"/>
                  <a:pt x="683040" y="162078"/>
                </a:cubicBezTo>
                <a:cubicBezTo>
                  <a:pt x="672030" y="153413"/>
                  <a:pt x="659616" y="143106"/>
                  <a:pt x="668283" y="127177"/>
                </a:cubicBezTo>
                <a:cubicBezTo>
                  <a:pt x="674373" y="115933"/>
                  <a:pt x="687491" y="115933"/>
                  <a:pt x="698266" y="119682"/>
                </a:cubicBezTo>
                <a:cubicBezTo>
                  <a:pt x="746519" y="136313"/>
                  <a:pt x="796880" y="142403"/>
                  <a:pt x="847241" y="148494"/>
                </a:cubicBezTo>
                <a:cubicBezTo>
                  <a:pt x="854972" y="149430"/>
                  <a:pt x="863637" y="152476"/>
                  <a:pt x="872305" y="137015"/>
                </a:cubicBezTo>
                <a:cubicBezTo>
                  <a:pt x="778141" y="111951"/>
                  <a:pt x="688662" y="76347"/>
                  <a:pt x="591921" y="62527"/>
                </a:cubicBezTo>
                <a:cubicBezTo>
                  <a:pt x="593327" y="55969"/>
                  <a:pt x="594732" y="49410"/>
                  <a:pt x="596138" y="42852"/>
                </a:cubicBezTo>
                <a:cubicBezTo>
                  <a:pt x="671796" y="52220"/>
                  <a:pt x="747456" y="61590"/>
                  <a:pt x="843025" y="73303"/>
                </a:cubicBezTo>
                <a:cubicBezTo>
                  <a:pt x="784231" y="36058"/>
                  <a:pt x="728717" y="48473"/>
                  <a:pt x="685149" y="15446"/>
                </a:cubicBezTo>
                <a:cubicBezTo>
                  <a:pt x="693347" y="2914"/>
                  <a:pt x="703244" y="-249"/>
                  <a:pt x="713492" y="1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D2A6B52-D167-8DB5-37F8-F757533F6316}"/>
              </a:ext>
            </a:extLst>
          </p:cNvPr>
          <p:cNvSpPr txBox="1"/>
          <p:nvPr/>
        </p:nvSpPr>
        <p:spPr>
          <a:xfrm>
            <a:off x="6119528" y="2013625"/>
            <a:ext cx="5234271" cy="4163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</a:rPr>
              <a:t>Barack Obama</a:t>
            </a:r>
            <a:r>
              <a:rPr lang="en-US" sz="2000" b="0" i="0" dirty="0">
                <a:effectLst/>
              </a:rPr>
              <a:t> (2009): Em </a:t>
            </a:r>
            <a:r>
              <a:rPr lang="en-US" sz="2000" b="0" i="0" dirty="0" err="1">
                <a:effectLst/>
              </a:rPr>
              <a:t>seu</a:t>
            </a:r>
            <a:r>
              <a:rPr lang="en-US" sz="2000" b="0" i="0" dirty="0">
                <a:effectLst/>
              </a:rPr>
              <a:t> </a:t>
            </a:r>
            <a:r>
              <a:rPr lang="en-US" sz="2000" b="0" i="0" dirty="0" err="1">
                <a:effectLst/>
              </a:rPr>
              <a:t>discurso</a:t>
            </a:r>
            <a:r>
              <a:rPr lang="en-US" sz="2000" b="0" i="0" dirty="0">
                <a:effectLst/>
              </a:rPr>
              <a:t> de posse, Obama </a:t>
            </a:r>
            <a:r>
              <a:rPr lang="en-US" sz="2000" b="0" i="0" dirty="0" err="1">
                <a:effectLst/>
              </a:rPr>
              <a:t>disse</a:t>
            </a:r>
            <a:r>
              <a:rPr lang="en-US" sz="2000" b="0" i="0" dirty="0">
                <a:effectLst/>
              </a:rPr>
              <a:t>: "</a:t>
            </a:r>
            <a:r>
              <a:rPr lang="en-US" sz="20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Nós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somos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guardiões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desse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legado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  <a:r>
              <a:rPr lang="en-US" sz="20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Guiados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0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por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esses </a:t>
            </a:r>
            <a:r>
              <a:rPr lang="en-US" sz="20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princípios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0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mais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0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uma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0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vez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</a:t>
            </a:r>
            <a:r>
              <a:rPr lang="en-US" sz="20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podemos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0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enfrentar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0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essas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0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novas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0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ameaças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que </a:t>
            </a:r>
            <a:r>
              <a:rPr lang="en-US" sz="20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exigem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0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uma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0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resposta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0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ainda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0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maior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– </a:t>
            </a:r>
            <a:r>
              <a:rPr lang="en-US" sz="20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uma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0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resposta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que </a:t>
            </a:r>
            <a:r>
              <a:rPr lang="en-US" sz="20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seja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forte, </a:t>
            </a:r>
            <a:r>
              <a:rPr lang="en-US" sz="20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sábia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e justa"</a:t>
            </a:r>
            <a:r>
              <a:rPr lang="en-US" sz="2000" b="0" i="0" baseline="3000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r>
              <a:rPr lang="en-US" sz="2000" b="0" i="0" dirty="0">
                <a:effectLst/>
              </a:rPr>
              <a:t>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7708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A9E58A3-8AD3-735E-65C3-56C53D68CEE5}"/>
              </a:ext>
            </a:extLst>
          </p:cNvPr>
          <p:cNvSpPr txBox="1"/>
          <p:nvPr/>
        </p:nvSpPr>
        <p:spPr>
          <a:xfrm>
            <a:off x="3142900" y="2828835"/>
            <a:ext cx="6095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2"/>
              </a:rPr>
              <a:t>Doutrina</a:t>
            </a:r>
            <a:r>
              <a:rPr lang="pt-BR" dirty="0"/>
              <a:t> Monroe/</a:t>
            </a:r>
            <a:r>
              <a:rPr lang="pt-BR" dirty="0" err="1"/>
              <a:t>Donroe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41297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D229E3B-F235-4A66-87D6-0F7A736DF015}"/>
              </a:ext>
            </a:extLst>
          </p:cNvPr>
          <p:cNvSpPr/>
          <p:nvPr/>
        </p:nvSpPr>
        <p:spPr>
          <a:xfrm>
            <a:off x="1581149" y="2588197"/>
            <a:ext cx="8010525" cy="3060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b="1">
                <a:latin typeface="Arial" panose="020B0604020202020204" pitchFamily="34" charset="0"/>
                <a:ea typeface="Times New Roman" panose="02020603050405020304" pitchFamily="18" charset="0"/>
              </a:rPr>
              <a:t>(</a:t>
            </a:r>
            <a:r>
              <a:rPr lang="pt-BR" b="1" dirty="0">
                <a:latin typeface="Arial" panose="020B0604020202020204" pitchFamily="34" charset="0"/>
                <a:ea typeface="Times New Roman" panose="02020603050405020304" pitchFamily="18" charset="0"/>
              </a:rPr>
              <a:t>EUA no século XIX) (Média). "</a:t>
            </a:r>
            <a:r>
              <a:rPr lang="pt-BR" dirty="0">
                <a:latin typeface="Arial" panose="020B0604020202020204" pitchFamily="34" charset="0"/>
                <a:ea typeface="Times New Roman" panose="02020603050405020304" pitchFamily="18" charset="0"/>
              </a:rPr>
              <a:t>Tinha que haver uma luta. Talvez não fosse necessário uma guerra... O país se chamava Estados Unidos, mas só no nome, não na realidade.  Os Estados do Sul e os do Norte trabalhavam de maneira diferente, pensavam diferente, viviam diferente</a:t>
            </a:r>
            <a:r>
              <a:rPr lang="pt-BR" sz="1200" dirty="0">
                <a:latin typeface="Arial" panose="020B0604020202020204" pitchFamily="34" charset="0"/>
                <a:ea typeface="Times New Roman" panose="02020603050405020304" pitchFamily="18" charset="0"/>
              </a:rPr>
              <a:t>”.(Leo </a:t>
            </a:r>
            <a:r>
              <a:rPr lang="pt-BR" sz="1200" dirty="0" err="1">
                <a:latin typeface="Arial" panose="020B0604020202020204" pitchFamily="34" charset="0"/>
                <a:ea typeface="Times New Roman" panose="02020603050405020304" pitchFamily="18" charset="0"/>
              </a:rPr>
              <a:t>Huberman</a:t>
            </a:r>
            <a:r>
              <a:rPr lang="pt-BR" sz="1200" dirty="0">
                <a:latin typeface="Arial" panose="020B0604020202020204" pitchFamily="34" charset="0"/>
                <a:ea typeface="Times New Roman" panose="02020603050405020304" pitchFamily="18" charset="0"/>
              </a:rPr>
              <a:t> - HISTÓRIA DA RIQUEZA DOS EUA).</a:t>
            </a:r>
            <a:endParaRPr lang="pt-BR" sz="12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dirty="0">
                <a:latin typeface="Arial" panose="020B0604020202020204" pitchFamily="34" charset="0"/>
                <a:ea typeface="Times New Roman" panose="02020603050405020304" pitchFamily="18" charset="0"/>
              </a:rPr>
              <a:t>Considerando os conflitos mencionados pelo texto no ambiente norte-americano do </a:t>
            </a:r>
            <a:r>
              <a:rPr lang="pt-BR" dirty="0" err="1">
                <a:latin typeface="Arial" panose="020B0604020202020204" pitchFamily="34" charset="0"/>
                <a:ea typeface="Times New Roman" panose="02020603050405020304" pitchFamily="18" charset="0"/>
              </a:rPr>
              <a:t>sécuIo</a:t>
            </a:r>
            <a:r>
              <a:rPr lang="pt-BR" dirty="0">
                <a:latin typeface="Arial" panose="020B0604020202020204" pitchFamily="34" charset="0"/>
                <a:ea typeface="Times New Roman" panose="02020603050405020304" pitchFamily="18" charset="0"/>
              </a:rPr>
              <a:t> XIX, identifique as principais divergências entre os Estados do Norte e do Sul, geradoras  da Guerra de Secessão. (seis linhas) (1,0)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398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20CFA97-12D1-4708-932D-F38F7B96A0F7}"/>
              </a:ext>
            </a:extLst>
          </p:cNvPr>
          <p:cNvSpPr/>
          <p:nvPr/>
        </p:nvSpPr>
        <p:spPr>
          <a:xfrm>
            <a:off x="1495424" y="1485070"/>
            <a:ext cx="8582025" cy="3887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Gabarito : Os Estados do Norte, representados pelo Partido Republicano, defendiam uma política protecionista, que poderia garantir o domínio sobre o mercado interno ampliado com as imigrações e, com isso, ser um estímulo para o desenvolvimento de suas indústrias. A defesa de um eventual abolicionismo da escravidão entraria como mais um elemento dentro dessa lógica. Os Estados do Sul, agrários e escravistas, pretendiam preservar suas exportações  de gêneros primários para a Inglaterra e não incomodá-la com tarifas de importação; ao mesmo tempo temia algum questionamento mais sério em relação à escravidão. A eleição de Abraham Lincoln e uma circunstância de hegemonia do Partido Republicano, colocam o  protecionismo e a abolição ( em menor escala)  como temas prováveis de discussão , voto e implementação. Diante disso ,os Estados do Sul resolvem romper com a União gerando a guerra civil americana.</a:t>
            </a:r>
            <a:endParaRPr lang="pt-BR" sz="2400" dirty="0"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19191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711</TotalTime>
  <Words>1660</Words>
  <Application>Microsoft Office PowerPoint</Application>
  <PresentationFormat>Widescreen</PresentationFormat>
  <Paragraphs>77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3" baseType="lpstr">
      <vt:lpstr>Aeonik</vt:lpstr>
      <vt:lpstr>Arial</vt:lpstr>
      <vt:lpstr>Arial Black</vt:lpstr>
      <vt:lpstr>Calibri</vt:lpstr>
      <vt:lpstr>Calibri Light</vt:lpstr>
      <vt:lpstr>Domine</vt:lpstr>
      <vt:lpstr>Roboto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Celso Siracusa</dc:creator>
  <cp:lastModifiedBy>Celso Aparecido Siracusa</cp:lastModifiedBy>
  <cp:revision>42</cp:revision>
  <dcterms:created xsi:type="dcterms:W3CDTF">2020-04-16T22:28:26Z</dcterms:created>
  <dcterms:modified xsi:type="dcterms:W3CDTF">2026-08-14T00:11:28Z</dcterms:modified>
</cp:coreProperties>
</file>