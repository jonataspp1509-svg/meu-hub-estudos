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7" r:id="rId2"/>
    <p:sldId id="282" r:id="rId3"/>
    <p:sldId id="28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lso Siracusa" initials="CS" lastIdx="1" clrIdx="0">
    <p:extLst>
      <p:ext uri="{19B8F6BF-5375-455C-9EA6-DF929625EA0E}">
        <p15:presenceInfo xmlns:p15="http://schemas.microsoft.com/office/powerpoint/2012/main" userId="d3b199931b4cca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08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23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64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95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11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790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61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2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68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34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01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8406E-445A-4EFE-B42E-D4ADC293AA2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D1D7C-794F-4710-8C80-5F7D13B3B2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56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5934A5F-155C-438A-BFC6-6B731591072C}"/>
              </a:ext>
            </a:extLst>
          </p:cNvPr>
          <p:cNvSpPr txBox="1"/>
          <p:nvPr/>
        </p:nvSpPr>
        <p:spPr>
          <a:xfrm>
            <a:off x="2316480" y="145416"/>
            <a:ext cx="6471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/>
                </a:solidFill>
              </a:rPr>
              <a:t>LIBERALISMO , SOCIALISMO E LUTAS TRABALHISTAS Capítulo 1 – página 16 Unidade 1- Contexto Europeu no século XIX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60B49C-BA05-4D33-A57F-1C631CBFAE6E}"/>
              </a:ext>
            </a:extLst>
          </p:cNvPr>
          <p:cNvSpPr txBox="1"/>
          <p:nvPr/>
        </p:nvSpPr>
        <p:spPr>
          <a:xfrm>
            <a:off x="910016" y="1428256"/>
            <a:ext cx="1285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Liberalismo Econômico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97C279-DF32-4191-B995-FF3097BD5573}"/>
              </a:ext>
            </a:extLst>
          </p:cNvPr>
          <p:cNvSpPr txBox="1"/>
          <p:nvPr/>
        </p:nvSpPr>
        <p:spPr>
          <a:xfrm>
            <a:off x="2674772" y="923732"/>
            <a:ext cx="383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Adam Smith </a:t>
            </a:r>
            <a:r>
              <a:rPr lang="pt-BR" dirty="0"/>
              <a:t>( “A Riqueza das Nações”)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98B7F79-F155-4746-AA7F-82AE5D05FDD4}"/>
              </a:ext>
            </a:extLst>
          </p:cNvPr>
          <p:cNvSpPr txBox="1"/>
          <p:nvPr/>
        </p:nvSpPr>
        <p:spPr>
          <a:xfrm>
            <a:off x="991469" y="3494248"/>
            <a:ext cx="142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Socialismo</a:t>
            </a:r>
            <a:r>
              <a:rPr lang="pt-BR" dirty="0"/>
              <a:t>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47B575B-D97E-4377-8EC1-FA1B5AFCF43B}"/>
              </a:ext>
            </a:extLst>
          </p:cNvPr>
          <p:cNvSpPr txBox="1"/>
          <p:nvPr/>
        </p:nvSpPr>
        <p:spPr>
          <a:xfrm>
            <a:off x="2338913" y="3154442"/>
            <a:ext cx="2708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“</a:t>
            </a:r>
            <a:r>
              <a:rPr lang="pt-BR" b="1" dirty="0">
                <a:solidFill>
                  <a:schemeClr val="tx2"/>
                </a:solidFill>
              </a:rPr>
              <a:t>Utópico” ou “Romântico</a:t>
            </a:r>
            <a:r>
              <a:rPr lang="pt-BR" dirty="0"/>
              <a:t>”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21791D6-A883-41B0-AF6B-2DD773A4EA71}"/>
              </a:ext>
            </a:extLst>
          </p:cNvPr>
          <p:cNvSpPr txBox="1"/>
          <p:nvPr/>
        </p:nvSpPr>
        <p:spPr>
          <a:xfrm>
            <a:off x="5332140" y="2861576"/>
            <a:ext cx="2054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Louis Blanc,  Saint Simon, Robert Fourier, </a:t>
            </a:r>
            <a:r>
              <a:rPr lang="pt-BR" dirty="0" err="1"/>
              <a:t>etc</a:t>
            </a:r>
            <a:r>
              <a:rPr lang="pt-BR" dirty="0"/>
              <a:t>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4A63E14-5E1F-48E0-9F70-8A86FDAD56E2}"/>
              </a:ext>
            </a:extLst>
          </p:cNvPr>
          <p:cNvSpPr txBox="1"/>
          <p:nvPr/>
        </p:nvSpPr>
        <p:spPr>
          <a:xfrm>
            <a:off x="2331605" y="3777349"/>
            <a:ext cx="247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“</a:t>
            </a:r>
            <a:r>
              <a:rPr lang="pt-BR" b="1" dirty="0">
                <a:solidFill>
                  <a:schemeClr val="tx2"/>
                </a:solidFill>
              </a:rPr>
              <a:t>Científico” ou Marxista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7027667-623B-464E-8EBE-4D8F49147963}"/>
              </a:ext>
            </a:extLst>
          </p:cNvPr>
          <p:cNvSpPr txBox="1"/>
          <p:nvPr/>
        </p:nvSpPr>
        <p:spPr>
          <a:xfrm>
            <a:off x="2804960" y="4426659"/>
            <a:ext cx="3055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Karl Marx. Engels, </a:t>
            </a:r>
            <a:r>
              <a:rPr lang="pt-BR" dirty="0" err="1"/>
              <a:t>etc</a:t>
            </a:r>
            <a:r>
              <a:rPr lang="pt-BR" dirty="0"/>
              <a:t> </a:t>
            </a:r>
          </a:p>
          <a:p>
            <a:r>
              <a:rPr lang="pt-BR" dirty="0"/>
              <a:t>(“O Manifesto  Comunista”; “O Capital”, </a:t>
            </a:r>
            <a:r>
              <a:rPr lang="pt-BR" dirty="0" err="1"/>
              <a:t>etc</a:t>
            </a:r>
            <a:r>
              <a:rPr lang="pt-BR" dirty="0"/>
              <a:t>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8DFDEF6-84A0-44ED-B712-016C7F0F4D51}"/>
              </a:ext>
            </a:extLst>
          </p:cNvPr>
          <p:cNvSpPr/>
          <p:nvPr/>
        </p:nvSpPr>
        <p:spPr>
          <a:xfrm>
            <a:off x="7671626" y="3754958"/>
            <a:ext cx="3407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Materialismo histórico e dialético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E790D04-F325-4761-8C72-593B3660CD36}"/>
              </a:ext>
            </a:extLst>
          </p:cNvPr>
          <p:cNvSpPr/>
          <p:nvPr/>
        </p:nvSpPr>
        <p:spPr>
          <a:xfrm>
            <a:off x="7682294" y="4075117"/>
            <a:ext cx="2468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Conceito de “mais valia”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C530F62-F4CB-453F-AFC3-D2E21D6302CE}"/>
              </a:ext>
            </a:extLst>
          </p:cNvPr>
          <p:cNvSpPr/>
          <p:nvPr/>
        </p:nvSpPr>
        <p:spPr>
          <a:xfrm>
            <a:off x="7729899" y="4669688"/>
            <a:ext cx="3330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Conceito de ideologia e alienação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B7055E3-9D6E-4221-AE09-26C6BCF85CAD}"/>
              </a:ext>
            </a:extLst>
          </p:cNvPr>
          <p:cNvSpPr/>
          <p:nvPr/>
        </p:nvSpPr>
        <p:spPr>
          <a:xfrm>
            <a:off x="7753724" y="4965894"/>
            <a:ext cx="35727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Conceito de Revolução e Ditadura do proletariado gerador do </a:t>
            </a:r>
            <a:r>
              <a:rPr lang="pt-BR" dirty="0">
                <a:solidFill>
                  <a:srgbClr val="FF0000"/>
                </a:solidFill>
              </a:rPr>
              <a:t>Socialismo</a:t>
            </a:r>
            <a:r>
              <a:rPr lang="pt-BR" dirty="0"/>
              <a:t> como etapa anterior ao </a:t>
            </a:r>
            <a:r>
              <a:rPr lang="pt-BR" dirty="0">
                <a:solidFill>
                  <a:srgbClr val="FF0000"/>
                </a:solidFill>
              </a:rPr>
              <a:t>Comunismo</a:t>
            </a:r>
          </a:p>
        </p:txBody>
      </p:sp>
      <p:sp>
        <p:nvSpPr>
          <p:cNvPr id="8" name="Chave Esquerda 7">
            <a:extLst>
              <a:ext uri="{FF2B5EF4-FFF2-40B4-BE49-F238E27FC236}">
                <a16:creationId xmlns:a16="http://schemas.microsoft.com/office/drawing/2014/main" id="{FC339FB1-D3DC-400A-B0FA-D56D73909308}"/>
              </a:ext>
            </a:extLst>
          </p:cNvPr>
          <p:cNvSpPr/>
          <p:nvPr/>
        </p:nvSpPr>
        <p:spPr>
          <a:xfrm>
            <a:off x="7619590" y="3584556"/>
            <a:ext cx="167692" cy="25739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5B9334-B41B-47E2-9BF4-0740692FCFCB}"/>
              </a:ext>
            </a:extLst>
          </p:cNvPr>
          <p:cNvSpPr txBox="1"/>
          <p:nvPr/>
        </p:nvSpPr>
        <p:spPr>
          <a:xfrm>
            <a:off x="6455545" y="4344056"/>
            <a:ext cx="121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/>
                </a:solidFill>
              </a:rPr>
              <a:t>Alguns conceitos marxistas</a:t>
            </a:r>
          </a:p>
          <a:p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D6C0EB7-EEF3-4850-9AD6-B02A5FBC8EA0}"/>
              </a:ext>
            </a:extLst>
          </p:cNvPr>
          <p:cNvSpPr/>
          <p:nvPr/>
        </p:nvSpPr>
        <p:spPr>
          <a:xfrm>
            <a:off x="725250" y="5735023"/>
            <a:ext cx="24444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Anarquismo (Comunismo Libertário)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8473A1A-1750-4D8E-9CA8-1BC641D141E0}"/>
              </a:ext>
            </a:extLst>
          </p:cNvPr>
          <p:cNvSpPr/>
          <p:nvPr/>
        </p:nvSpPr>
        <p:spPr>
          <a:xfrm>
            <a:off x="3525892" y="5934268"/>
            <a:ext cx="1501128" cy="646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Proudhon, Bakunin, </a:t>
            </a:r>
            <a:r>
              <a:rPr lang="pt-BR" dirty="0" err="1"/>
              <a:t>etc</a:t>
            </a:r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2039A53-10EB-4603-9FC6-4C700634A439}"/>
              </a:ext>
            </a:extLst>
          </p:cNvPr>
          <p:cNvSpPr txBox="1"/>
          <p:nvPr/>
        </p:nvSpPr>
        <p:spPr>
          <a:xfrm>
            <a:off x="5530112" y="6125209"/>
            <a:ext cx="598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Revolução operária deveria ser contra o capitalismo e contra o Estado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D5101B5-7B29-4A32-B40D-228F02FA7226}"/>
              </a:ext>
            </a:extLst>
          </p:cNvPr>
          <p:cNvSpPr/>
          <p:nvPr/>
        </p:nvSpPr>
        <p:spPr>
          <a:xfrm>
            <a:off x="2664113" y="1280778"/>
            <a:ext cx="8546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Malthus</a:t>
            </a:r>
            <a:r>
              <a:rPr lang="pt-BR" dirty="0"/>
              <a:t> ( explica a miséria social  devido ao descompasso entre o crescimento populacional – P.G. - e o crescimento da produção econômica- P.A.)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5802C9C-FBCD-48FB-B133-1B4A15F70A0A}"/>
              </a:ext>
            </a:extLst>
          </p:cNvPr>
          <p:cNvSpPr/>
          <p:nvPr/>
        </p:nvSpPr>
        <p:spPr>
          <a:xfrm>
            <a:off x="2593542" y="1869284"/>
            <a:ext cx="4095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 </a:t>
            </a:r>
            <a:r>
              <a:rPr lang="pt-BR" b="1" dirty="0"/>
              <a:t>David Ricardo </a:t>
            </a:r>
            <a:r>
              <a:rPr lang="pt-BR" dirty="0"/>
              <a:t>) (“Lei férrea dos salários”)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66D974C-DC45-4060-B6B3-18EFAFDCBC36}"/>
              </a:ext>
            </a:extLst>
          </p:cNvPr>
          <p:cNvSpPr/>
          <p:nvPr/>
        </p:nvSpPr>
        <p:spPr>
          <a:xfrm>
            <a:off x="2648208" y="2200147"/>
            <a:ext cx="7646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Nassau </a:t>
            </a:r>
            <a:r>
              <a:rPr lang="pt-BR" b="1" dirty="0" err="1"/>
              <a:t>Senior</a:t>
            </a:r>
            <a:r>
              <a:rPr lang="pt-BR" b="1" dirty="0"/>
              <a:t> </a:t>
            </a:r>
            <a:r>
              <a:rPr lang="pt-BR" dirty="0"/>
              <a:t>( explica por que não se pode reduzir a jornada de trabalho dos operários)</a:t>
            </a:r>
          </a:p>
        </p:txBody>
      </p:sp>
      <p:sp>
        <p:nvSpPr>
          <p:cNvPr id="30" name="Chave Esquerda 29">
            <a:extLst>
              <a:ext uri="{FF2B5EF4-FFF2-40B4-BE49-F238E27FC236}">
                <a16:creationId xmlns:a16="http://schemas.microsoft.com/office/drawing/2014/main" id="{1357E9E7-CD56-40A0-BBAD-DAB7AFECE9B7}"/>
              </a:ext>
            </a:extLst>
          </p:cNvPr>
          <p:cNvSpPr/>
          <p:nvPr/>
        </p:nvSpPr>
        <p:spPr>
          <a:xfrm>
            <a:off x="2498394" y="973009"/>
            <a:ext cx="117797" cy="15842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have Esquerda 30">
            <a:extLst>
              <a:ext uri="{FF2B5EF4-FFF2-40B4-BE49-F238E27FC236}">
                <a16:creationId xmlns:a16="http://schemas.microsoft.com/office/drawing/2014/main" id="{17B27790-A84B-4ACD-B335-29269AE6E02D}"/>
              </a:ext>
            </a:extLst>
          </p:cNvPr>
          <p:cNvSpPr/>
          <p:nvPr/>
        </p:nvSpPr>
        <p:spPr>
          <a:xfrm>
            <a:off x="2178903" y="3044192"/>
            <a:ext cx="414639" cy="122532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22510E0C-09C8-4FF6-AEA9-73F081AC02A3}"/>
              </a:ext>
            </a:extLst>
          </p:cNvPr>
          <p:cNvCxnSpPr>
            <a:stCxn id="16" idx="3"/>
            <a:endCxn id="19" idx="1"/>
          </p:cNvCxnSpPr>
          <p:nvPr/>
        </p:nvCxnSpPr>
        <p:spPr>
          <a:xfrm flipV="1">
            <a:off x="5047219" y="3323241"/>
            <a:ext cx="284921" cy="15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BC513798-7B15-421B-B8FF-FBF97AB740C2}"/>
              </a:ext>
            </a:extLst>
          </p:cNvPr>
          <p:cNvCxnSpPr/>
          <p:nvPr/>
        </p:nvCxnSpPr>
        <p:spPr>
          <a:xfrm>
            <a:off x="3169715" y="4146681"/>
            <a:ext cx="181482" cy="297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897859D-2E4C-4956-869F-2FEFB26CC521}"/>
              </a:ext>
            </a:extLst>
          </p:cNvPr>
          <p:cNvCxnSpPr/>
          <p:nvPr/>
        </p:nvCxnSpPr>
        <p:spPr>
          <a:xfrm>
            <a:off x="4933192" y="4059216"/>
            <a:ext cx="1372884" cy="652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724CE71D-3467-4336-98D5-2A124E5F9112}"/>
              </a:ext>
            </a:extLst>
          </p:cNvPr>
          <p:cNvCxnSpPr>
            <a:stCxn id="20" idx="3"/>
          </p:cNvCxnSpPr>
          <p:nvPr/>
        </p:nvCxnSpPr>
        <p:spPr>
          <a:xfrm>
            <a:off x="5027020" y="6257433"/>
            <a:ext cx="503092" cy="123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3097B1AE-AE01-4D8D-96D7-58C910D722E6}"/>
              </a:ext>
            </a:extLst>
          </p:cNvPr>
          <p:cNvCxnSpPr>
            <a:cxnSpLocks/>
          </p:cNvCxnSpPr>
          <p:nvPr/>
        </p:nvCxnSpPr>
        <p:spPr>
          <a:xfrm>
            <a:off x="3168112" y="6202683"/>
            <a:ext cx="356177" cy="50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98AAC719-890D-4AB6-86D1-F394AC571059}"/>
              </a:ext>
            </a:extLst>
          </p:cNvPr>
          <p:cNvSpPr txBox="1"/>
          <p:nvPr/>
        </p:nvSpPr>
        <p:spPr>
          <a:xfrm>
            <a:off x="7714979" y="4377775"/>
            <a:ext cx="340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Teoria da “Luta de Classes”</a:t>
            </a:r>
          </a:p>
        </p:txBody>
      </p:sp>
    </p:spTree>
    <p:extLst>
      <p:ext uri="{BB962C8B-B14F-4D97-AF65-F5344CB8AC3E}">
        <p14:creationId xmlns:p14="http://schemas.microsoft.com/office/powerpoint/2010/main" val="267120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6838678-1054-4397-80BB-869081FACA38}"/>
              </a:ext>
            </a:extLst>
          </p:cNvPr>
          <p:cNvSpPr/>
          <p:nvPr/>
        </p:nvSpPr>
        <p:spPr>
          <a:xfrm>
            <a:off x="785764" y="898699"/>
            <a:ext cx="1893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Catolicismo Social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0BF4A3C-564D-4C18-AA73-B62AA7EDDC70}"/>
              </a:ext>
            </a:extLst>
          </p:cNvPr>
          <p:cNvSpPr/>
          <p:nvPr/>
        </p:nvSpPr>
        <p:spPr>
          <a:xfrm>
            <a:off x="3516307" y="898699"/>
            <a:ext cx="3429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Encíclica “</a:t>
            </a:r>
            <a:r>
              <a:rPr lang="pt-BR" dirty="0" err="1"/>
              <a:t>Rerum</a:t>
            </a:r>
            <a:r>
              <a:rPr lang="pt-BR" dirty="0"/>
              <a:t> </a:t>
            </a:r>
            <a:r>
              <a:rPr lang="pt-BR" dirty="0" err="1"/>
              <a:t>Novarum</a:t>
            </a:r>
            <a:r>
              <a:rPr lang="pt-BR" dirty="0"/>
              <a:t>”- 1891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99A0C1C-4A72-4D0A-AC7A-D322067D44A6}"/>
              </a:ext>
            </a:extLst>
          </p:cNvPr>
          <p:cNvCxnSpPr>
            <a:cxnSpLocks/>
          </p:cNvCxnSpPr>
          <p:nvPr/>
        </p:nvCxnSpPr>
        <p:spPr>
          <a:xfrm>
            <a:off x="2884647" y="1117057"/>
            <a:ext cx="435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5654A2-38DD-47B8-8C18-106F6AF76F9C}"/>
              </a:ext>
            </a:extLst>
          </p:cNvPr>
          <p:cNvSpPr txBox="1"/>
          <p:nvPr/>
        </p:nvSpPr>
        <p:spPr>
          <a:xfrm>
            <a:off x="3687416" y="1268031"/>
            <a:ext cx="43135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Obs. : Nos anos 70 do século XX, surgirá dentro da igreja católica a partir da América Latina, a chamada “teologia da Libertação”-  alguns membros da igreja tentam incorporar o marxismo com o cristianismo . Serão perseguidos e neutralizados pelo Papa João Paulo II , em fins dos anos 80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001F69-EA7E-489A-A5AA-B763D583650F}"/>
              </a:ext>
            </a:extLst>
          </p:cNvPr>
          <p:cNvSpPr/>
          <p:nvPr/>
        </p:nvSpPr>
        <p:spPr>
          <a:xfrm>
            <a:off x="830022" y="3101008"/>
            <a:ext cx="2053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Lutas trabalhistas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2AB6E1-61AF-48CF-A242-7F358FCE422E}"/>
              </a:ext>
            </a:extLst>
          </p:cNvPr>
          <p:cNvSpPr/>
          <p:nvPr/>
        </p:nvSpPr>
        <p:spPr>
          <a:xfrm>
            <a:off x="3889755" y="2793359"/>
            <a:ext cx="7711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Ludismo – início do século XIX ( destruição de máquinas, vistas como responsáveis pelo desemprego e pela </a:t>
            </a:r>
            <a:r>
              <a:rPr lang="pt-BR" dirty="0" err="1"/>
              <a:t>miséra</a:t>
            </a:r>
            <a:r>
              <a:rPr lang="pt-BR" dirty="0"/>
              <a:t> do trabalhador)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C42B4C5-EB9F-4542-9211-E46AF6C4308B}"/>
              </a:ext>
            </a:extLst>
          </p:cNvPr>
          <p:cNvSpPr/>
          <p:nvPr/>
        </p:nvSpPr>
        <p:spPr>
          <a:xfrm>
            <a:off x="3889755" y="3449642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Cartismo - 1838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CDACDB7-BB1E-4C18-B5D9-61AC0EAAB6AD}"/>
              </a:ext>
            </a:extLst>
          </p:cNvPr>
          <p:cNvSpPr/>
          <p:nvPr/>
        </p:nvSpPr>
        <p:spPr>
          <a:xfrm>
            <a:off x="3853492" y="3931619"/>
            <a:ext cx="2773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Sindicalismo / Trade </a:t>
            </a:r>
            <a:r>
              <a:rPr lang="pt-BR" dirty="0" err="1"/>
              <a:t>Unions</a:t>
            </a:r>
            <a:endParaRPr lang="pt-BR" dirty="0"/>
          </a:p>
        </p:txBody>
      </p:sp>
      <p:sp>
        <p:nvSpPr>
          <p:cNvPr id="10" name="Chave Esquerda 9">
            <a:extLst>
              <a:ext uri="{FF2B5EF4-FFF2-40B4-BE49-F238E27FC236}">
                <a16:creationId xmlns:a16="http://schemas.microsoft.com/office/drawing/2014/main" id="{B4A55430-08B7-4F57-8C53-3CF786308145}"/>
              </a:ext>
            </a:extLst>
          </p:cNvPr>
          <p:cNvSpPr/>
          <p:nvPr/>
        </p:nvSpPr>
        <p:spPr>
          <a:xfrm rot="10800000" flipH="1">
            <a:off x="3767375" y="2765671"/>
            <a:ext cx="253480" cy="1562693"/>
          </a:xfrm>
          <a:prstGeom prst="leftBrace">
            <a:avLst>
              <a:gd name="adj1" fmla="val 8333"/>
              <a:gd name="adj2" fmla="val 510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3A4A01E-8E07-47D3-B75E-54B909D7BB34}"/>
              </a:ext>
            </a:extLst>
          </p:cNvPr>
          <p:cNvCxnSpPr/>
          <p:nvPr/>
        </p:nvCxnSpPr>
        <p:spPr>
          <a:xfrm>
            <a:off x="2102188" y="2765671"/>
            <a:ext cx="8287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8B6E12EC-4B9A-4C92-BAB9-D1CBFCADEC1A}"/>
              </a:ext>
            </a:extLst>
          </p:cNvPr>
          <p:cNvSpPr/>
          <p:nvPr/>
        </p:nvSpPr>
        <p:spPr>
          <a:xfrm>
            <a:off x="7607686" y="3497367"/>
            <a:ext cx="3993997" cy="166199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rgbClr val="FF0000"/>
                </a:solidFill>
                <a:latin typeface="Lucida Grande"/>
              </a:rPr>
              <a:t>Reivindicações: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FF0000"/>
                </a:solidFill>
                <a:latin typeface="Lucida Grande"/>
              </a:rPr>
              <a:t>voto universal;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FF0000"/>
                </a:solidFill>
                <a:latin typeface="Lucida Grande"/>
              </a:rPr>
              <a:t>voto secreto por meio de cédula;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FF0000"/>
                </a:solidFill>
                <a:latin typeface="Lucida Grande"/>
              </a:rPr>
              <a:t>eleição anual;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FF0000"/>
                </a:solidFill>
                <a:latin typeface="Lucida Grande"/>
              </a:rPr>
              <a:t>pagamento aos membros do Parlamento;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FF0000"/>
                </a:solidFill>
                <a:latin typeface="Lucida Grande"/>
              </a:rPr>
              <a:t>abolição da qualificação segundo as posses para a participação no Parlamento</a:t>
            </a:r>
            <a:r>
              <a:rPr lang="pt-BR" dirty="0">
                <a:solidFill>
                  <a:srgbClr val="FF0000"/>
                </a:solidFill>
                <a:latin typeface="Lucida Grande"/>
              </a:rPr>
              <a:t>;</a:t>
            </a:r>
            <a:endParaRPr lang="pt-BR" b="0" i="0" dirty="0">
              <a:solidFill>
                <a:srgbClr val="FF0000"/>
              </a:solidFill>
              <a:effectLst/>
              <a:latin typeface="Lucida Grande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CB02D1B-0A28-4EAC-BE91-BE933DAAC729}"/>
              </a:ext>
            </a:extLst>
          </p:cNvPr>
          <p:cNvSpPr/>
          <p:nvPr/>
        </p:nvSpPr>
        <p:spPr>
          <a:xfrm>
            <a:off x="1477393" y="5623503"/>
            <a:ext cx="2053933" cy="671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Internacionais Socialistas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5D3FD1E-E040-4F87-8EA5-6D927792F84D}"/>
              </a:ext>
            </a:extLst>
          </p:cNvPr>
          <p:cNvSpPr/>
          <p:nvPr/>
        </p:nvSpPr>
        <p:spPr>
          <a:xfrm>
            <a:off x="3949952" y="5368500"/>
            <a:ext cx="127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1ª AIT 1864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8777D96-5423-4A7B-ACB7-853FBA168839}"/>
              </a:ext>
            </a:extLst>
          </p:cNvPr>
          <p:cNvSpPr/>
          <p:nvPr/>
        </p:nvSpPr>
        <p:spPr>
          <a:xfrm>
            <a:off x="3942654" y="5699660"/>
            <a:ext cx="2153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2ª Internacional1891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8F4E112-1ABC-4DCD-9E7C-7C6A3093C459}"/>
              </a:ext>
            </a:extLst>
          </p:cNvPr>
          <p:cNvSpPr/>
          <p:nvPr/>
        </p:nvSpPr>
        <p:spPr>
          <a:xfrm>
            <a:off x="3942654" y="6030820"/>
            <a:ext cx="2206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3ª Internacional 1919</a:t>
            </a:r>
          </a:p>
        </p:txBody>
      </p:sp>
      <p:sp>
        <p:nvSpPr>
          <p:cNvPr id="21" name="Chave Esquerda 20">
            <a:extLst>
              <a:ext uri="{FF2B5EF4-FFF2-40B4-BE49-F238E27FC236}">
                <a16:creationId xmlns:a16="http://schemas.microsoft.com/office/drawing/2014/main" id="{9BD99409-9918-4F1F-8427-55B50B6DE335}"/>
              </a:ext>
            </a:extLst>
          </p:cNvPr>
          <p:cNvSpPr/>
          <p:nvPr/>
        </p:nvSpPr>
        <p:spPr>
          <a:xfrm>
            <a:off x="3775285" y="5368500"/>
            <a:ext cx="228940" cy="11503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6E606D29-66E4-42E1-BFAE-6E5A10D5A37B}"/>
              </a:ext>
            </a:extLst>
          </p:cNvPr>
          <p:cNvCxnSpPr/>
          <p:nvPr/>
        </p:nvCxnSpPr>
        <p:spPr>
          <a:xfrm>
            <a:off x="3175565" y="5923415"/>
            <a:ext cx="2882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DA8EFBE-5AF0-4330-AE7B-D60E2D05D53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946285" y="898699"/>
            <a:ext cx="1740515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D5EEF93-DEC6-40FA-B216-EAD6BB7AAD61}"/>
              </a:ext>
            </a:extLst>
          </p:cNvPr>
          <p:cNvSpPr txBox="1"/>
          <p:nvPr/>
        </p:nvSpPr>
        <p:spPr>
          <a:xfrm>
            <a:off x="8772525" y="206202"/>
            <a:ext cx="2889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Defende concessões ao movimento operário ( alguns direitos trabalhistas) como forma de conter o crescimento dos grupos políticos de esquerda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AD4FEE03-5AE9-46AE-9424-05AFCFE7579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558802" y="3634308"/>
            <a:ext cx="1854721" cy="297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33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19D759E-178E-44F5-9302-35684743F172}"/>
              </a:ext>
            </a:extLst>
          </p:cNvPr>
          <p:cNvSpPr/>
          <p:nvPr/>
        </p:nvSpPr>
        <p:spPr>
          <a:xfrm>
            <a:off x="1476374" y="1798588"/>
            <a:ext cx="951547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/>
              <a:t> </a:t>
            </a:r>
            <a:r>
              <a:rPr lang="pt-BR" sz="3200" dirty="0"/>
              <a:t>(Unicamp)  "Tens que combater três inimigos: a sacristia, o capital e o quartel. O primeiro é a noite, o segundo é a fome, o terceiro é a morte."</a:t>
            </a:r>
          </a:p>
          <a:p>
            <a:r>
              <a:rPr lang="pt-BR" sz="3200" dirty="0"/>
              <a:t>		(Jornal A QUESTÃO SOCIAL, publicado em Santos em 1896.)</a:t>
            </a:r>
          </a:p>
          <a:p>
            <a:r>
              <a:rPr lang="pt-BR" sz="3200" dirty="0"/>
              <a:t>             </a:t>
            </a:r>
          </a:p>
          <a:p>
            <a:r>
              <a:rPr lang="pt-BR" sz="3200" dirty="0"/>
              <a:t>Explique esta afirmação dos operários socialistas brasileiros do final do século XIX. </a:t>
            </a:r>
          </a:p>
        </p:txBody>
      </p:sp>
    </p:spTree>
    <p:extLst>
      <p:ext uri="{BB962C8B-B14F-4D97-AF65-F5344CB8AC3E}">
        <p14:creationId xmlns:p14="http://schemas.microsoft.com/office/powerpoint/2010/main" val="111259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</TotalTime>
  <Words>410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Lucida Grande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Aparecido Siracusa</cp:lastModifiedBy>
  <cp:revision>23</cp:revision>
  <dcterms:created xsi:type="dcterms:W3CDTF">2020-04-13T21:09:21Z</dcterms:created>
  <dcterms:modified xsi:type="dcterms:W3CDTF">2026-05-12T23:13:21Z</dcterms:modified>
</cp:coreProperties>
</file>