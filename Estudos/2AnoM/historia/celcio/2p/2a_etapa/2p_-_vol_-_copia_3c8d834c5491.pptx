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60" r:id="rId4"/>
    <p:sldId id="261" r:id="rId5"/>
    <p:sldId id="264" r:id="rId6"/>
    <p:sldId id="269" r:id="rId7"/>
    <p:sldId id="270" r:id="rId8"/>
    <p:sldId id="271" r:id="rId9"/>
    <p:sldId id="272" r:id="rId10"/>
    <p:sldId id="273" r:id="rId11"/>
    <p:sldId id="258" r:id="rId12"/>
    <p:sldId id="262" r:id="rId13"/>
    <p:sldId id="274" r:id="rId14"/>
    <p:sldId id="275" r:id="rId15"/>
    <p:sldId id="277" r:id="rId16"/>
    <p:sldId id="278" r:id="rId17"/>
    <p:sldId id="266" r:id="rId18"/>
    <p:sldId id="265" r:id="rId19"/>
    <p:sldId id="267" r:id="rId2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293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78A917-709C-4289-A805-E82261F07BC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A08D4B6E-D1E7-401F-A90E-710AF5F45C68}">
      <dgm:prSet/>
      <dgm:spPr/>
      <dgm:t>
        <a:bodyPr/>
        <a:lstStyle/>
        <a:p>
          <a:r>
            <a:rPr lang="pt-BR" dirty="0"/>
            <a:t>RISORGIMENTO Projeto liberal burguês , conduzido pelo Reino Sardo Piemontês-Norte industrial</a:t>
          </a:r>
        </a:p>
      </dgm:t>
    </dgm:pt>
    <dgm:pt modelId="{76B6EC2E-9A1C-4791-82F4-6D0334452301}" type="parTrans" cxnId="{6EDC37B8-A70E-42AD-A6CB-61D79AB591CF}">
      <dgm:prSet/>
      <dgm:spPr/>
      <dgm:t>
        <a:bodyPr/>
        <a:lstStyle/>
        <a:p>
          <a:endParaRPr lang="pt-BR"/>
        </a:p>
      </dgm:t>
    </dgm:pt>
    <dgm:pt modelId="{028B39AF-4AAC-4C12-A196-A27C43D091BA}" type="sibTrans" cxnId="{6EDC37B8-A70E-42AD-A6CB-61D79AB591CF}">
      <dgm:prSet/>
      <dgm:spPr/>
      <dgm:t>
        <a:bodyPr/>
        <a:lstStyle/>
        <a:p>
          <a:endParaRPr lang="pt-BR"/>
        </a:p>
      </dgm:t>
    </dgm:pt>
    <dgm:pt modelId="{325D2EEF-E836-47F6-872A-A61F44D91EB5}" type="pres">
      <dgm:prSet presAssocID="{2978A917-709C-4289-A805-E82261F07BC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0334B3D-1E2E-415F-8C15-8D1AA81EDA57}" type="pres">
      <dgm:prSet presAssocID="{A08D4B6E-D1E7-401F-A90E-710AF5F45C68}" presName="hierRoot1" presStyleCnt="0">
        <dgm:presLayoutVars>
          <dgm:hierBranch val="init"/>
        </dgm:presLayoutVars>
      </dgm:prSet>
      <dgm:spPr/>
    </dgm:pt>
    <dgm:pt modelId="{446CB09B-9C54-4903-885C-75A3EC5B2851}" type="pres">
      <dgm:prSet presAssocID="{A08D4B6E-D1E7-401F-A90E-710AF5F45C68}" presName="rootComposite1" presStyleCnt="0"/>
      <dgm:spPr/>
    </dgm:pt>
    <dgm:pt modelId="{AAE4B340-FF91-4E5C-AA52-05DAC13B65A6}" type="pres">
      <dgm:prSet presAssocID="{A08D4B6E-D1E7-401F-A90E-710AF5F45C68}" presName="rootText1" presStyleLbl="node0" presStyleIdx="0" presStyleCnt="1" custScaleY="155202">
        <dgm:presLayoutVars>
          <dgm:chPref val="3"/>
        </dgm:presLayoutVars>
      </dgm:prSet>
      <dgm:spPr/>
    </dgm:pt>
    <dgm:pt modelId="{BF2F4D88-01EB-4C05-93CC-5F9FF787AF3E}" type="pres">
      <dgm:prSet presAssocID="{A08D4B6E-D1E7-401F-A90E-710AF5F45C68}" presName="rootConnector1" presStyleLbl="node1" presStyleIdx="0" presStyleCnt="0"/>
      <dgm:spPr/>
    </dgm:pt>
    <dgm:pt modelId="{6517C59C-725C-42DB-9736-8B5FF3F3B5C5}" type="pres">
      <dgm:prSet presAssocID="{A08D4B6E-D1E7-401F-A90E-710AF5F45C68}" presName="hierChild2" presStyleCnt="0"/>
      <dgm:spPr/>
    </dgm:pt>
    <dgm:pt modelId="{CA4DC13B-5F39-4E90-9F64-0C54FAA91E57}" type="pres">
      <dgm:prSet presAssocID="{A08D4B6E-D1E7-401F-A90E-710AF5F45C68}" presName="hierChild3" presStyleCnt="0"/>
      <dgm:spPr/>
    </dgm:pt>
  </dgm:ptLst>
  <dgm:cxnLst>
    <dgm:cxn modelId="{6EDC37B8-A70E-42AD-A6CB-61D79AB591CF}" srcId="{2978A917-709C-4289-A805-E82261F07BC4}" destId="{A08D4B6E-D1E7-401F-A90E-710AF5F45C68}" srcOrd="0" destOrd="0" parTransId="{76B6EC2E-9A1C-4791-82F4-6D0334452301}" sibTransId="{028B39AF-4AAC-4C12-A196-A27C43D091BA}"/>
    <dgm:cxn modelId="{B299D3C7-3F54-4F4F-ACB4-3A2EB631433D}" type="presOf" srcId="{A08D4B6E-D1E7-401F-A90E-710AF5F45C68}" destId="{BF2F4D88-01EB-4C05-93CC-5F9FF787AF3E}" srcOrd="1" destOrd="0" presId="urn:microsoft.com/office/officeart/2005/8/layout/orgChart1"/>
    <dgm:cxn modelId="{93AD04DA-D4D9-4893-B81B-CE0031296C26}" type="presOf" srcId="{2978A917-709C-4289-A805-E82261F07BC4}" destId="{325D2EEF-E836-47F6-872A-A61F44D91EB5}" srcOrd="0" destOrd="0" presId="urn:microsoft.com/office/officeart/2005/8/layout/orgChart1"/>
    <dgm:cxn modelId="{A077C6E6-1185-4FA4-9964-8A99BF8C9EF8}" type="presOf" srcId="{A08D4B6E-D1E7-401F-A90E-710AF5F45C68}" destId="{AAE4B340-FF91-4E5C-AA52-05DAC13B65A6}" srcOrd="0" destOrd="0" presId="urn:microsoft.com/office/officeart/2005/8/layout/orgChart1"/>
    <dgm:cxn modelId="{4FF1ED3E-E1BF-4702-8EED-747AC6361546}" type="presParOf" srcId="{325D2EEF-E836-47F6-872A-A61F44D91EB5}" destId="{30334B3D-1E2E-415F-8C15-8D1AA81EDA57}" srcOrd="0" destOrd="0" presId="urn:microsoft.com/office/officeart/2005/8/layout/orgChart1"/>
    <dgm:cxn modelId="{10D84ED3-DAB3-411C-9421-089FFBCC355C}" type="presParOf" srcId="{30334B3D-1E2E-415F-8C15-8D1AA81EDA57}" destId="{446CB09B-9C54-4903-885C-75A3EC5B2851}" srcOrd="0" destOrd="0" presId="urn:microsoft.com/office/officeart/2005/8/layout/orgChart1"/>
    <dgm:cxn modelId="{65331D3E-48F4-4824-BFB8-F2E23DD91B75}" type="presParOf" srcId="{446CB09B-9C54-4903-885C-75A3EC5B2851}" destId="{AAE4B340-FF91-4E5C-AA52-05DAC13B65A6}" srcOrd="0" destOrd="0" presId="urn:microsoft.com/office/officeart/2005/8/layout/orgChart1"/>
    <dgm:cxn modelId="{44528766-D54D-4E8C-BF40-E3C4FC5F1E04}" type="presParOf" srcId="{446CB09B-9C54-4903-885C-75A3EC5B2851}" destId="{BF2F4D88-01EB-4C05-93CC-5F9FF787AF3E}" srcOrd="1" destOrd="0" presId="urn:microsoft.com/office/officeart/2005/8/layout/orgChart1"/>
    <dgm:cxn modelId="{DC5AA1A1-B79E-4FF9-BD97-DC94AA631951}" type="presParOf" srcId="{30334B3D-1E2E-415F-8C15-8D1AA81EDA57}" destId="{6517C59C-725C-42DB-9736-8B5FF3F3B5C5}" srcOrd="1" destOrd="0" presId="urn:microsoft.com/office/officeart/2005/8/layout/orgChart1"/>
    <dgm:cxn modelId="{62279B04-FE30-452F-AC64-592E92A6ABA0}" type="presParOf" srcId="{30334B3D-1E2E-415F-8C15-8D1AA81EDA57}" destId="{CA4DC13B-5F39-4E90-9F64-0C54FAA91E5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BDDA93-D778-4072-8B47-54C7BE78F81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8123148-01AB-49B9-92B4-CF3D7F0B16D1}">
      <dgm:prSet/>
      <dgm:spPr/>
      <dgm:t>
        <a:bodyPr/>
        <a:lstStyle/>
        <a:p>
          <a:r>
            <a:rPr lang="pt-BR" dirty="0"/>
            <a:t>Camisas Vermelhas- Projeto Republicano democrático conduzido por Giuseppe Garibaldi </a:t>
          </a:r>
        </a:p>
        <a:p>
          <a:r>
            <a:rPr lang="pt-BR" dirty="0"/>
            <a:t>Sul da Itália</a:t>
          </a:r>
        </a:p>
      </dgm:t>
    </dgm:pt>
    <dgm:pt modelId="{E8125406-DB00-4EE4-AC3B-218383E5D675}" type="parTrans" cxnId="{5AD78AF5-B9CA-4176-BB10-13BC03DFD76E}">
      <dgm:prSet/>
      <dgm:spPr/>
      <dgm:t>
        <a:bodyPr/>
        <a:lstStyle/>
        <a:p>
          <a:endParaRPr lang="pt-BR"/>
        </a:p>
      </dgm:t>
    </dgm:pt>
    <dgm:pt modelId="{7E71FF27-8A39-436C-86E2-60E11A194E80}" type="sibTrans" cxnId="{5AD78AF5-B9CA-4176-BB10-13BC03DFD76E}">
      <dgm:prSet/>
      <dgm:spPr/>
      <dgm:t>
        <a:bodyPr/>
        <a:lstStyle/>
        <a:p>
          <a:endParaRPr lang="pt-BR"/>
        </a:p>
      </dgm:t>
    </dgm:pt>
    <dgm:pt modelId="{A502E09C-7A01-4837-9039-B20322298866}" type="pres">
      <dgm:prSet presAssocID="{CFBDDA93-D778-4072-8B47-54C7BE78F81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71CC948-58FA-4CD4-B17A-E9D0EBEE63C3}" type="pres">
      <dgm:prSet presAssocID="{E8123148-01AB-49B9-92B4-CF3D7F0B16D1}" presName="hierRoot1" presStyleCnt="0">
        <dgm:presLayoutVars>
          <dgm:hierBranch val="init"/>
        </dgm:presLayoutVars>
      </dgm:prSet>
      <dgm:spPr/>
    </dgm:pt>
    <dgm:pt modelId="{3D7B7332-9AB2-42DE-B4F1-9D6C3E722AFB}" type="pres">
      <dgm:prSet presAssocID="{E8123148-01AB-49B9-92B4-CF3D7F0B16D1}" presName="rootComposite1" presStyleCnt="0"/>
      <dgm:spPr/>
    </dgm:pt>
    <dgm:pt modelId="{57F86761-CDE0-4F05-AFA9-F067DFBEBCE8}" type="pres">
      <dgm:prSet presAssocID="{E8123148-01AB-49B9-92B4-CF3D7F0B16D1}" presName="rootText1" presStyleLbl="node0" presStyleIdx="0" presStyleCnt="1">
        <dgm:presLayoutVars>
          <dgm:chPref val="3"/>
        </dgm:presLayoutVars>
      </dgm:prSet>
      <dgm:spPr/>
    </dgm:pt>
    <dgm:pt modelId="{39067EC9-6E2A-456C-BB0F-31DD2F45767E}" type="pres">
      <dgm:prSet presAssocID="{E8123148-01AB-49B9-92B4-CF3D7F0B16D1}" presName="rootConnector1" presStyleLbl="node1" presStyleIdx="0" presStyleCnt="0"/>
      <dgm:spPr/>
    </dgm:pt>
    <dgm:pt modelId="{6B1396AB-2123-416E-9394-7E07FA5BDC78}" type="pres">
      <dgm:prSet presAssocID="{E8123148-01AB-49B9-92B4-CF3D7F0B16D1}" presName="hierChild2" presStyleCnt="0"/>
      <dgm:spPr/>
    </dgm:pt>
    <dgm:pt modelId="{FB1E28ED-B579-4FA2-AD56-643C144E64D2}" type="pres">
      <dgm:prSet presAssocID="{E8123148-01AB-49B9-92B4-CF3D7F0B16D1}" presName="hierChild3" presStyleCnt="0"/>
      <dgm:spPr/>
    </dgm:pt>
  </dgm:ptLst>
  <dgm:cxnLst>
    <dgm:cxn modelId="{02DE321F-D38A-4299-9854-748A23B12C73}" type="presOf" srcId="{E8123148-01AB-49B9-92B4-CF3D7F0B16D1}" destId="{57F86761-CDE0-4F05-AFA9-F067DFBEBCE8}" srcOrd="0" destOrd="0" presId="urn:microsoft.com/office/officeart/2005/8/layout/orgChart1"/>
    <dgm:cxn modelId="{2DFB8149-146A-4696-A7F2-C2E8B4BEABEA}" type="presOf" srcId="{E8123148-01AB-49B9-92B4-CF3D7F0B16D1}" destId="{39067EC9-6E2A-456C-BB0F-31DD2F45767E}" srcOrd="1" destOrd="0" presId="urn:microsoft.com/office/officeart/2005/8/layout/orgChart1"/>
    <dgm:cxn modelId="{DD6201BE-2C34-414A-9C53-2B82A992C796}" type="presOf" srcId="{CFBDDA93-D778-4072-8B47-54C7BE78F819}" destId="{A502E09C-7A01-4837-9039-B20322298866}" srcOrd="0" destOrd="0" presId="urn:microsoft.com/office/officeart/2005/8/layout/orgChart1"/>
    <dgm:cxn modelId="{5AD78AF5-B9CA-4176-BB10-13BC03DFD76E}" srcId="{CFBDDA93-D778-4072-8B47-54C7BE78F819}" destId="{E8123148-01AB-49B9-92B4-CF3D7F0B16D1}" srcOrd="0" destOrd="0" parTransId="{E8125406-DB00-4EE4-AC3B-218383E5D675}" sibTransId="{7E71FF27-8A39-436C-86E2-60E11A194E80}"/>
    <dgm:cxn modelId="{38DF2CC5-7D2C-49AE-A2B0-EB034181BDC0}" type="presParOf" srcId="{A502E09C-7A01-4837-9039-B20322298866}" destId="{671CC948-58FA-4CD4-B17A-E9D0EBEE63C3}" srcOrd="0" destOrd="0" presId="urn:microsoft.com/office/officeart/2005/8/layout/orgChart1"/>
    <dgm:cxn modelId="{FAA67FA7-AEC4-4A12-AEE4-F57E451E3EA4}" type="presParOf" srcId="{671CC948-58FA-4CD4-B17A-E9D0EBEE63C3}" destId="{3D7B7332-9AB2-42DE-B4F1-9D6C3E722AFB}" srcOrd="0" destOrd="0" presId="urn:microsoft.com/office/officeart/2005/8/layout/orgChart1"/>
    <dgm:cxn modelId="{9AF03069-F2F5-4CA3-9EF1-CE2F11B1B10B}" type="presParOf" srcId="{3D7B7332-9AB2-42DE-B4F1-9D6C3E722AFB}" destId="{57F86761-CDE0-4F05-AFA9-F067DFBEBCE8}" srcOrd="0" destOrd="0" presId="urn:microsoft.com/office/officeart/2005/8/layout/orgChart1"/>
    <dgm:cxn modelId="{90C06785-CA2F-46BE-9904-AEEE9E64C6F2}" type="presParOf" srcId="{3D7B7332-9AB2-42DE-B4F1-9D6C3E722AFB}" destId="{39067EC9-6E2A-456C-BB0F-31DD2F45767E}" srcOrd="1" destOrd="0" presId="urn:microsoft.com/office/officeart/2005/8/layout/orgChart1"/>
    <dgm:cxn modelId="{11FFA9BF-3710-443F-971B-CDEAA7BF5755}" type="presParOf" srcId="{671CC948-58FA-4CD4-B17A-E9D0EBEE63C3}" destId="{6B1396AB-2123-416E-9394-7E07FA5BDC78}" srcOrd="1" destOrd="0" presId="urn:microsoft.com/office/officeart/2005/8/layout/orgChart1"/>
    <dgm:cxn modelId="{D171DF4D-2F28-48AB-8508-AEB9CB11AAF5}" type="presParOf" srcId="{671CC948-58FA-4CD4-B17A-E9D0EBEE63C3}" destId="{FB1E28ED-B579-4FA2-AD56-643C144E64D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83F6AE-004B-4909-BB3C-2120077D991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EE06355-A377-4D07-98CC-04FFB7956ED9}">
      <dgm:prSet/>
      <dgm:spPr/>
      <dgm:t>
        <a:bodyPr/>
        <a:lstStyle/>
        <a:p>
          <a:r>
            <a:rPr lang="pt-BR" dirty="0"/>
            <a:t>Jovem Itália – Movimento republicano-democrático- Veneza</a:t>
          </a:r>
        </a:p>
      </dgm:t>
    </dgm:pt>
    <dgm:pt modelId="{E4285A9D-BA3C-4C8B-A007-98ECE4616681}" type="parTrans" cxnId="{8CE7C9AE-E033-4A8E-B2BD-46ABD211BCA4}">
      <dgm:prSet/>
      <dgm:spPr/>
      <dgm:t>
        <a:bodyPr/>
        <a:lstStyle/>
        <a:p>
          <a:endParaRPr lang="pt-BR"/>
        </a:p>
      </dgm:t>
    </dgm:pt>
    <dgm:pt modelId="{F2196E3B-B9F1-4D66-B5F8-64AD6BF31EC4}" type="sibTrans" cxnId="{8CE7C9AE-E033-4A8E-B2BD-46ABD211BCA4}">
      <dgm:prSet/>
      <dgm:spPr/>
      <dgm:t>
        <a:bodyPr/>
        <a:lstStyle/>
        <a:p>
          <a:endParaRPr lang="pt-BR"/>
        </a:p>
      </dgm:t>
    </dgm:pt>
    <dgm:pt modelId="{C0503EB0-5B56-4D7D-94E3-38D8D2ACB7B1}" type="pres">
      <dgm:prSet presAssocID="{7583F6AE-004B-4909-BB3C-2120077D991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3F8238C-489F-40F6-8561-085DE901C65D}" type="pres">
      <dgm:prSet presAssocID="{0EE06355-A377-4D07-98CC-04FFB7956ED9}" presName="hierRoot1" presStyleCnt="0">
        <dgm:presLayoutVars>
          <dgm:hierBranch val="init"/>
        </dgm:presLayoutVars>
      </dgm:prSet>
      <dgm:spPr/>
    </dgm:pt>
    <dgm:pt modelId="{DB95F9CF-5985-4A0D-918C-64C78099A993}" type="pres">
      <dgm:prSet presAssocID="{0EE06355-A377-4D07-98CC-04FFB7956ED9}" presName="rootComposite1" presStyleCnt="0"/>
      <dgm:spPr/>
    </dgm:pt>
    <dgm:pt modelId="{036B27F5-7449-40CD-B6F1-11AD60C64933}" type="pres">
      <dgm:prSet presAssocID="{0EE06355-A377-4D07-98CC-04FFB7956ED9}" presName="rootText1" presStyleLbl="node0" presStyleIdx="0" presStyleCnt="1" custAng="0" custScaleX="117001" custScaleY="97309" custLinFactNeighborX="7901" custLinFactNeighborY="12642">
        <dgm:presLayoutVars>
          <dgm:chPref val="3"/>
        </dgm:presLayoutVars>
      </dgm:prSet>
      <dgm:spPr/>
    </dgm:pt>
    <dgm:pt modelId="{C836CC3F-0BF8-4627-B25D-C7C02A18851C}" type="pres">
      <dgm:prSet presAssocID="{0EE06355-A377-4D07-98CC-04FFB7956ED9}" presName="rootConnector1" presStyleLbl="node1" presStyleIdx="0" presStyleCnt="0"/>
      <dgm:spPr/>
    </dgm:pt>
    <dgm:pt modelId="{34FFE8FB-54BA-49F0-A3B6-5B1433C6F1CA}" type="pres">
      <dgm:prSet presAssocID="{0EE06355-A377-4D07-98CC-04FFB7956ED9}" presName="hierChild2" presStyleCnt="0"/>
      <dgm:spPr/>
    </dgm:pt>
    <dgm:pt modelId="{F6FDD84F-7D3C-4FD6-97B5-EC8CF18D8612}" type="pres">
      <dgm:prSet presAssocID="{0EE06355-A377-4D07-98CC-04FFB7956ED9}" presName="hierChild3" presStyleCnt="0"/>
      <dgm:spPr/>
    </dgm:pt>
  </dgm:ptLst>
  <dgm:cxnLst>
    <dgm:cxn modelId="{1DDF700E-7EA1-4ABF-B103-64A80F3E85C4}" type="presOf" srcId="{0EE06355-A377-4D07-98CC-04FFB7956ED9}" destId="{C836CC3F-0BF8-4627-B25D-C7C02A18851C}" srcOrd="1" destOrd="0" presId="urn:microsoft.com/office/officeart/2005/8/layout/orgChart1"/>
    <dgm:cxn modelId="{E6F23435-9220-423A-ADA9-6AB2CC35FFD5}" type="presOf" srcId="{7583F6AE-004B-4909-BB3C-2120077D9911}" destId="{C0503EB0-5B56-4D7D-94E3-38D8D2ACB7B1}" srcOrd="0" destOrd="0" presId="urn:microsoft.com/office/officeart/2005/8/layout/orgChart1"/>
    <dgm:cxn modelId="{B13C964D-D6FE-4467-A1B3-8EEFBA7143E8}" type="presOf" srcId="{0EE06355-A377-4D07-98CC-04FFB7956ED9}" destId="{036B27F5-7449-40CD-B6F1-11AD60C64933}" srcOrd="0" destOrd="0" presId="urn:microsoft.com/office/officeart/2005/8/layout/orgChart1"/>
    <dgm:cxn modelId="{8CE7C9AE-E033-4A8E-B2BD-46ABD211BCA4}" srcId="{7583F6AE-004B-4909-BB3C-2120077D9911}" destId="{0EE06355-A377-4D07-98CC-04FFB7956ED9}" srcOrd="0" destOrd="0" parTransId="{E4285A9D-BA3C-4C8B-A007-98ECE4616681}" sibTransId="{F2196E3B-B9F1-4D66-B5F8-64AD6BF31EC4}"/>
    <dgm:cxn modelId="{B06DAEF8-E9A4-4230-AF7E-63FEA24821AC}" type="presParOf" srcId="{C0503EB0-5B56-4D7D-94E3-38D8D2ACB7B1}" destId="{23F8238C-489F-40F6-8561-085DE901C65D}" srcOrd="0" destOrd="0" presId="urn:microsoft.com/office/officeart/2005/8/layout/orgChart1"/>
    <dgm:cxn modelId="{3037216F-F6B5-47AA-86F9-54B11025C465}" type="presParOf" srcId="{23F8238C-489F-40F6-8561-085DE901C65D}" destId="{DB95F9CF-5985-4A0D-918C-64C78099A993}" srcOrd="0" destOrd="0" presId="urn:microsoft.com/office/officeart/2005/8/layout/orgChart1"/>
    <dgm:cxn modelId="{F2D8F7C3-A88E-4976-BB04-948E275ADD12}" type="presParOf" srcId="{DB95F9CF-5985-4A0D-918C-64C78099A993}" destId="{036B27F5-7449-40CD-B6F1-11AD60C64933}" srcOrd="0" destOrd="0" presId="urn:microsoft.com/office/officeart/2005/8/layout/orgChart1"/>
    <dgm:cxn modelId="{BF092D83-9125-496A-8243-DE272E0C8111}" type="presParOf" srcId="{DB95F9CF-5985-4A0D-918C-64C78099A993}" destId="{C836CC3F-0BF8-4627-B25D-C7C02A18851C}" srcOrd="1" destOrd="0" presId="urn:microsoft.com/office/officeart/2005/8/layout/orgChart1"/>
    <dgm:cxn modelId="{C8078513-4143-44CA-B7A2-D2508717AB84}" type="presParOf" srcId="{23F8238C-489F-40F6-8561-085DE901C65D}" destId="{34FFE8FB-54BA-49F0-A3B6-5B1433C6F1CA}" srcOrd="1" destOrd="0" presId="urn:microsoft.com/office/officeart/2005/8/layout/orgChart1"/>
    <dgm:cxn modelId="{BB488B1C-1D0D-4D6B-BB90-EC72ECD85300}" type="presParOf" srcId="{23F8238C-489F-40F6-8561-085DE901C65D}" destId="{F6FDD84F-7D3C-4FD6-97B5-EC8CF18D861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1AEC06C-DC89-4710-B181-B98C3D35162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31F6A30-161A-4A5A-91C1-499E488C73C9}">
      <dgm:prSet/>
      <dgm:spPr/>
      <dgm:t>
        <a:bodyPr/>
        <a:lstStyle/>
        <a:p>
          <a:r>
            <a:rPr lang="pt-BR" dirty="0"/>
            <a:t>Carbonários – militantes, intelectuais promotores e defensores da unificação italiana</a:t>
          </a:r>
        </a:p>
      </dgm:t>
    </dgm:pt>
    <dgm:pt modelId="{B9015105-1AF7-4C0B-8B50-825071353728}" type="parTrans" cxnId="{CAC9BAFD-D2F3-40C7-9AB0-5A7FAAED364C}">
      <dgm:prSet/>
      <dgm:spPr/>
      <dgm:t>
        <a:bodyPr/>
        <a:lstStyle/>
        <a:p>
          <a:endParaRPr lang="pt-BR"/>
        </a:p>
      </dgm:t>
    </dgm:pt>
    <dgm:pt modelId="{A45AE1B9-B0A1-40D8-B517-F3F3BAFA7625}" type="sibTrans" cxnId="{CAC9BAFD-D2F3-40C7-9AB0-5A7FAAED364C}">
      <dgm:prSet/>
      <dgm:spPr/>
      <dgm:t>
        <a:bodyPr/>
        <a:lstStyle/>
        <a:p>
          <a:endParaRPr lang="pt-BR"/>
        </a:p>
      </dgm:t>
    </dgm:pt>
    <dgm:pt modelId="{427C4F76-FCFE-4D12-9E4C-D330B1F5A25E}" type="pres">
      <dgm:prSet presAssocID="{C1AEC06C-DC89-4710-B181-B98C3D35162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391BE93-3322-4571-B0A0-EF65410949D4}" type="pres">
      <dgm:prSet presAssocID="{831F6A30-161A-4A5A-91C1-499E488C73C9}" presName="hierRoot1" presStyleCnt="0">
        <dgm:presLayoutVars>
          <dgm:hierBranch val="init"/>
        </dgm:presLayoutVars>
      </dgm:prSet>
      <dgm:spPr/>
    </dgm:pt>
    <dgm:pt modelId="{94595DE0-B86A-4E58-9C90-43205E28496A}" type="pres">
      <dgm:prSet presAssocID="{831F6A30-161A-4A5A-91C1-499E488C73C9}" presName="rootComposite1" presStyleCnt="0"/>
      <dgm:spPr/>
    </dgm:pt>
    <dgm:pt modelId="{8626F997-91ED-411B-82D2-5FAA63DFF188}" type="pres">
      <dgm:prSet presAssocID="{831F6A30-161A-4A5A-91C1-499E488C73C9}" presName="rootText1" presStyleLbl="node0" presStyleIdx="0" presStyleCnt="1" custScaleX="93023" custScaleY="100184" custLinFactNeighborX="2641" custLinFactNeighborY="30919">
        <dgm:presLayoutVars>
          <dgm:chPref val="3"/>
        </dgm:presLayoutVars>
      </dgm:prSet>
      <dgm:spPr/>
    </dgm:pt>
    <dgm:pt modelId="{38CCA3EC-2115-45A3-A777-FF3488DD00DF}" type="pres">
      <dgm:prSet presAssocID="{831F6A30-161A-4A5A-91C1-499E488C73C9}" presName="rootConnector1" presStyleLbl="node1" presStyleIdx="0" presStyleCnt="0"/>
      <dgm:spPr/>
    </dgm:pt>
    <dgm:pt modelId="{A511C275-B8F9-4A9D-B960-8B0C87B0BA86}" type="pres">
      <dgm:prSet presAssocID="{831F6A30-161A-4A5A-91C1-499E488C73C9}" presName="hierChild2" presStyleCnt="0"/>
      <dgm:spPr/>
    </dgm:pt>
    <dgm:pt modelId="{84122405-A020-44B3-80E8-49F61D77856B}" type="pres">
      <dgm:prSet presAssocID="{831F6A30-161A-4A5A-91C1-499E488C73C9}" presName="hierChild3" presStyleCnt="0"/>
      <dgm:spPr/>
    </dgm:pt>
  </dgm:ptLst>
  <dgm:cxnLst>
    <dgm:cxn modelId="{1B5A2377-C4CC-4B38-9908-F5D86DB2E3ED}" type="presOf" srcId="{C1AEC06C-DC89-4710-B181-B98C3D351623}" destId="{427C4F76-FCFE-4D12-9E4C-D330B1F5A25E}" srcOrd="0" destOrd="0" presId="urn:microsoft.com/office/officeart/2005/8/layout/orgChart1"/>
    <dgm:cxn modelId="{9C56F0BD-F621-4BCD-A276-EE8E5967A8C0}" type="presOf" srcId="{831F6A30-161A-4A5A-91C1-499E488C73C9}" destId="{8626F997-91ED-411B-82D2-5FAA63DFF188}" srcOrd="0" destOrd="0" presId="urn:microsoft.com/office/officeart/2005/8/layout/orgChart1"/>
    <dgm:cxn modelId="{8482E0E0-55E9-461F-9E81-2E35B5AB9460}" type="presOf" srcId="{831F6A30-161A-4A5A-91C1-499E488C73C9}" destId="{38CCA3EC-2115-45A3-A777-FF3488DD00DF}" srcOrd="1" destOrd="0" presId="urn:microsoft.com/office/officeart/2005/8/layout/orgChart1"/>
    <dgm:cxn modelId="{CAC9BAFD-D2F3-40C7-9AB0-5A7FAAED364C}" srcId="{C1AEC06C-DC89-4710-B181-B98C3D351623}" destId="{831F6A30-161A-4A5A-91C1-499E488C73C9}" srcOrd="0" destOrd="0" parTransId="{B9015105-1AF7-4C0B-8B50-825071353728}" sibTransId="{A45AE1B9-B0A1-40D8-B517-F3F3BAFA7625}"/>
    <dgm:cxn modelId="{64BCD1DD-BB62-4C5F-964E-76C6A2C5F71F}" type="presParOf" srcId="{427C4F76-FCFE-4D12-9E4C-D330B1F5A25E}" destId="{C391BE93-3322-4571-B0A0-EF65410949D4}" srcOrd="0" destOrd="0" presId="urn:microsoft.com/office/officeart/2005/8/layout/orgChart1"/>
    <dgm:cxn modelId="{28CFC155-6A06-495A-8DDD-590D1A4C5636}" type="presParOf" srcId="{C391BE93-3322-4571-B0A0-EF65410949D4}" destId="{94595DE0-B86A-4E58-9C90-43205E28496A}" srcOrd="0" destOrd="0" presId="urn:microsoft.com/office/officeart/2005/8/layout/orgChart1"/>
    <dgm:cxn modelId="{EA5D5664-934A-4773-A330-C80FEC461725}" type="presParOf" srcId="{94595DE0-B86A-4E58-9C90-43205E28496A}" destId="{8626F997-91ED-411B-82D2-5FAA63DFF188}" srcOrd="0" destOrd="0" presId="urn:microsoft.com/office/officeart/2005/8/layout/orgChart1"/>
    <dgm:cxn modelId="{3575C9AE-72BA-4A2F-9682-0509CD4B9B05}" type="presParOf" srcId="{94595DE0-B86A-4E58-9C90-43205E28496A}" destId="{38CCA3EC-2115-45A3-A777-FF3488DD00DF}" srcOrd="1" destOrd="0" presId="urn:microsoft.com/office/officeart/2005/8/layout/orgChart1"/>
    <dgm:cxn modelId="{6E03EDE6-7365-4505-8FF5-9B8BF68F9652}" type="presParOf" srcId="{C391BE93-3322-4571-B0A0-EF65410949D4}" destId="{A511C275-B8F9-4A9D-B960-8B0C87B0BA86}" srcOrd="1" destOrd="0" presId="urn:microsoft.com/office/officeart/2005/8/layout/orgChart1"/>
    <dgm:cxn modelId="{164B6586-8C1F-45AE-BC46-5CC022E0B91F}" type="presParOf" srcId="{C391BE93-3322-4571-B0A0-EF65410949D4}" destId="{84122405-A020-44B3-80E8-49F61D7785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4B340-FF91-4E5C-AA52-05DAC13B65A6}">
      <dsp:nvSpPr>
        <dsp:cNvPr id="0" name=""/>
        <dsp:cNvSpPr/>
      </dsp:nvSpPr>
      <dsp:spPr>
        <a:xfrm>
          <a:off x="332" y="23810"/>
          <a:ext cx="2722031" cy="21123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RISORGIMENTO Projeto liberal burguês , conduzido pelo Reino Sardo Piemontês-Norte industrial</a:t>
          </a:r>
        </a:p>
      </dsp:txBody>
      <dsp:txXfrm>
        <a:off x="332" y="23810"/>
        <a:ext cx="2722031" cy="21123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F86761-CDE0-4F05-AFA9-F067DFBEBCE8}">
      <dsp:nvSpPr>
        <dsp:cNvPr id="0" name=""/>
        <dsp:cNvSpPr/>
      </dsp:nvSpPr>
      <dsp:spPr>
        <a:xfrm>
          <a:off x="439" y="219"/>
          <a:ext cx="3599520" cy="17997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Camisas Vermelhas- Projeto Republicano democrático conduzido por Giuseppe Garibaldi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Sul da Itália</a:t>
          </a:r>
        </a:p>
      </dsp:txBody>
      <dsp:txXfrm>
        <a:off x="439" y="219"/>
        <a:ext cx="3599520" cy="1799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6B27F5-7449-40CD-B6F1-11AD60C64933}">
      <dsp:nvSpPr>
        <dsp:cNvPr id="0" name=""/>
        <dsp:cNvSpPr/>
      </dsp:nvSpPr>
      <dsp:spPr>
        <a:xfrm>
          <a:off x="576076" y="2349"/>
          <a:ext cx="3246795" cy="13501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Jovem Itália – Movimento republicano-democrático- Veneza</a:t>
          </a:r>
        </a:p>
      </dsp:txBody>
      <dsp:txXfrm>
        <a:off x="576076" y="2349"/>
        <a:ext cx="3246795" cy="13501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6F997-91ED-411B-82D2-5FAA63DFF188}">
      <dsp:nvSpPr>
        <dsp:cNvPr id="0" name=""/>
        <dsp:cNvSpPr/>
      </dsp:nvSpPr>
      <dsp:spPr>
        <a:xfrm>
          <a:off x="2285" y="210801"/>
          <a:ext cx="3130060" cy="16855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Carbonários – militantes, intelectuais promotores e defensores da unificação italiana</a:t>
          </a:r>
        </a:p>
      </dsp:txBody>
      <dsp:txXfrm>
        <a:off x="2285" y="210801"/>
        <a:ext cx="3130060" cy="16855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576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25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993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4787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8359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786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456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19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205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754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167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D29CE-EA0F-4FBF-B859-5A1C65B5A7BB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EC3B0-8482-4268-8977-909BAFB82D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194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Berlim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pt.wikipedia.org/wiki/Schleswig-Holstein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pt.wikipedia.org/wiki/Rio_Lahn" TargetMode="External"/><Relationship Id="rId3" Type="http://schemas.openxmlformats.org/officeDocument/2006/relationships/hyperlink" Target="https://pt.wikipedia.org/wiki/1870" TargetMode="External"/><Relationship Id="rId7" Type="http://schemas.openxmlformats.org/officeDocument/2006/relationships/hyperlink" Target="https://pt.wikipedia.org/wiki/Bad_Ems" TargetMode="External"/><Relationship Id="rId2" Type="http://schemas.openxmlformats.org/officeDocument/2006/relationships/hyperlink" Target="https://pt.wikipedia.org/wiki/13_de_Julho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t.wikipedia.org/wiki/Fran%C3%A7a" TargetMode="External"/><Relationship Id="rId5" Type="http://schemas.openxmlformats.org/officeDocument/2006/relationships/hyperlink" Target="https://pt.wikipedia.org/wiki/Guilherme_I_da_Alemanha" TargetMode="External"/><Relationship Id="rId4" Type="http://schemas.openxmlformats.org/officeDocument/2006/relationships/hyperlink" Target="https://pt.wikipedia.org/wiki/Reino_da_Pr%C3%BAssia" TargetMode="External"/><Relationship Id="rId9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pt.wikipedia.org/wiki/Terceira_Rep%C3%BAblica_Francesa" TargetMode="External"/><Relationship Id="rId3" Type="http://schemas.openxmlformats.org/officeDocument/2006/relationships/image" Target="../media/image13.jpeg"/><Relationship Id="rId7" Type="http://schemas.openxmlformats.org/officeDocument/2006/relationships/hyperlink" Target="https://pt.wikipedia.org/wiki/Pal%C3%A1cio_de_Versalhes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t.wikipedia.org/wiki/Wilhelm_Camphausen" TargetMode="External"/><Relationship Id="rId5" Type="http://schemas.openxmlformats.org/officeDocument/2006/relationships/hyperlink" Target="https://pt.wikipedia.org/wiki/%C3%93leo_sobre_tela" TargetMode="External"/><Relationship Id="rId4" Type="http://schemas.openxmlformats.org/officeDocument/2006/relationships/hyperlink" Target="https://pt.wikipedia.org/wiki/Batalha_de_Sedan" TargetMode="External"/><Relationship Id="rId9" Type="http://schemas.openxmlformats.org/officeDocument/2006/relationships/hyperlink" Target="https://pt.wikipedia.org/wiki/Anton_von_Werner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historiacem01.weebly.com/uploads/9/9/1/7/9917924/4389016_orig.jpg">
            <a:extLst>
              <a:ext uri="{FF2B5EF4-FFF2-40B4-BE49-F238E27FC236}">
                <a16:creationId xmlns:a16="http://schemas.microsoft.com/office/drawing/2014/main" id="{24158339-7B7C-410F-BBE3-7349E8CDA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069" y="1340768"/>
            <a:ext cx="5945486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://1.bp.blogspot.com/-f1-K-YDLMo4/U2gtSmnDsjI/AAAAAAAAAdA/Nuqg5hC6DfI/s1600/italia.jpg">
            <a:extLst>
              <a:ext uri="{FF2B5EF4-FFF2-40B4-BE49-F238E27FC236}">
                <a16:creationId xmlns:a16="http://schemas.microsoft.com/office/drawing/2014/main" id="{B2314BF1-E7E2-4E70-A85B-E85445A83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7824" y="1196752"/>
            <a:ext cx="4481893" cy="415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A6B68B9-40AD-4C85-845B-3E5C20618D5D}"/>
              </a:ext>
            </a:extLst>
          </p:cNvPr>
          <p:cNvSpPr txBox="1"/>
          <p:nvPr/>
        </p:nvSpPr>
        <p:spPr>
          <a:xfrm>
            <a:off x="647056" y="120462"/>
            <a:ext cx="8496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Considerações sobre as lutas pela Unificação Italiana e Alemã</a:t>
            </a:r>
          </a:p>
        </p:txBody>
      </p:sp>
    </p:spTree>
    <p:extLst>
      <p:ext uri="{BB962C8B-B14F-4D97-AF65-F5344CB8AC3E}">
        <p14:creationId xmlns:p14="http://schemas.microsoft.com/office/powerpoint/2010/main" val="266411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1.bp.blogspot.com/-f1-K-YDLMo4/U2gtSmnDsjI/AAAAAAAAAdA/Nuqg5hC6DfI/s1600/itali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76672"/>
            <a:ext cx="6696744" cy="6210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8938200-9341-4DF2-8433-9EA1DEE91F86}"/>
              </a:ext>
            </a:extLst>
          </p:cNvPr>
          <p:cNvSpPr txBox="1"/>
          <p:nvPr/>
        </p:nvSpPr>
        <p:spPr>
          <a:xfrm>
            <a:off x="1547664" y="188640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 Unificação Italiana – 1848/1870</a:t>
            </a:r>
          </a:p>
        </p:txBody>
      </p:sp>
    </p:spTree>
    <p:extLst>
      <p:ext uri="{BB962C8B-B14F-4D97-AF65-F5344CB8AC3E}">
        <p14:creationId xmlns:p14="http://schemas.microsoft.com/office/powerpoint/2010/main" val="3497889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01F65193-0CA3-49A1-AF38-AA1434EA87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6416672"/>
              </p:ext>
            </p:extLst>
          </p:nvPr>
        </p:nvGraphicFramePr>
        <p:xfrm>
          <a:off x="769184" y="668888"/>
          <a:ext cx="2722696" cy="2159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AFBF3900-9527-4BE6-BABD-6C930255A1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6983998"/>
              </p:ext>
            </p:extLst>
          </p:nvPr>
        </p:nvGraphicFramePr>
        <p:xfrm>
          <a:off x="360040" y="2924944"/>
          <a:ext cx="3600400" cy="180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6A6218D2-8AD8-4178-B7C1-5DCCB1EC80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4649496"/>
              </p:ext>
            </p:extLst>
          </p:nvPr>
        </p:nvGraphicFramePr>
        <p:xfrm>
          <a:off x="0" y="5013176"/>
          <a:ext cx="3960440" cy="1352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C88B58F5-52E7-4CDD-AFD9-3FDC1F0A7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4013353"/>
              </p:ext>
            </p:extLst>
          </p:nvPr>
        </p:nvGraphicFramePr>
        <p:xfrm>
          <a:off x="5022048" y="4725144"/>
          <a:ext cx="3132346" cy="1896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pic>
        <p:nvPicPr>
          <p:cNvPr id="10" name="Picture 2" descr="http://2.bp.blogspot.com/-y6PqKce1Z1Q/UDk9Vw5z_GI/AAAAAAAAArU/uA1942h5_V4/s1600/Unifica%C3%A7%C3%A3o+Italiana+01.jpg">
            <a:extLst>
              <a:ext uri="{FF2B5EF4-FFF2-40B4-BE49-F238E27FC236}">
                <a16:creationId xmlns:a16="http://schemas.microsoft.com/office/drawing/2014/main" id="{308C08DC-62BE-4406-A699-EBC88DA14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048" y="116632"/>
            <a:ext cx="2952329" cy="431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4276F60A-F15B-48DE-AB91-3255F9F36BAF}"/>
              </a:ext>
            </a:extLst>
          </p:cNvPr>
          <p:cNvSpPr/>
          <p:nvPr/>
        </p:nvSpPr>
        <p:spPr>
          <a:xfrm>
            <a:off x="4067944" y="1484784"/>
            <a:ext cx="50405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E4B61566-9FC0-4A3F-83DC-45E90CE79999}"/>
              </a:ext>
            </a:extLst>
          </p:cNvPr>
          <p:cNvSpPr/>
          <p:nvPr/>
        </p:nvSpPr>
        <p:spPr>
          <a:xfrm>
            <a:off x="4139952" y="3573016"/>
            <a:ext cx="64807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17EE33FE-C48C-4004-BA65-3B0D85CA6AC8}"/>
              </a:ext>
            </a:extLst>
          </p:cNvPr>
          <p:cNvCxnSpPr>
            <a:cxnSpLocks/>
          </p:cNvCxnSpPr>
          <p:nvPr/>
        </p:nvCxnSpPr>
        <p:spPr>
          <a:xfrm flipV="1">
            <a:off x="3402375" y="4293096"/>
            <a:ext cx="1457657" cy="13963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86111DE9-1FE4-43DD-9069-474FB2044F5C}"/>
              </a:ext>
            </a:extLst>
          </p:cNvPr>
          <p:cNvCxnSpPr/>
          <p:nvPr/>
        </p:nvCxnSpPr>
        <p:spPr>
          <a:xfrm flipV="1">
            <a:off x="6516216" y="4599129"/>
            <a:ext cx="0" cy="252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84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0A028C3-F664-4516-85EE-62ED73C5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pt-BR" dirty="0"/>
              <a:t>2º Tempo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42EC31-ECB7-4F2F-BD96-6DF38FF43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616" y="1166018"/>
            <a:ext cx="4542656" cy="6120680"/>
          </a:xfrm>
        </p:spPr>
        <p:txBody>
          <a:bodyPr>
            <a:normAutofit/>
          </a:bodyPr>
          <a:lstStyle/>
          <a:p>
            <a:r>
              <a:rPr lang="pt-BR" sz="3200" dirty="0"/>
              <a:t>Houve vários confrontos militares entre 1830/48, com tropas austríacas; foram derrotados.</a:t>
            </a:r>
          </a:p>
          <a:p>
            <a:r>
              <a:rPr lang="pt-BR" sz="3200" dirty="0"/>
              <a:t>Pós -1850, com apoio militar francês, o reino Sardo Piemontês e os Camisas Vermelhas retomam a luta.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34CB587-C748-4A2D-80D5-EDF91E0E8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8024" y="1166018"/>
            <a:ext cx="4038600" cy="4525963"/>
          </a:xfrm>
        </p:spPr>
        <p:txBody>
          <a:bodyPr>
            <a:noAutofit/>
          </a:bodyPr>
          <a:lstStyle/>
          <a:p>
            <a:r>
              <a:rPr lang="pt-BR" sz="3200" dirty="0"/>
              <a:t>O apoio militar de Napoleão III a Piemonte, em troca de territórios ( Nice e </a:t>
            </a:r>
            <a:r>
              <a:rPr lang="pt-BR" sz="3200" dirty="0" err="1"/>
              <a:t>Sabóia</a:t>
            </a:r>
            <a:r>
              <a:rPr lang="pt-BR" sz="3200" dirty="0"/>
              <a:t>), gera uma ajuda involuntária ao projeto nacionalista Prussiano ( que também tinha na Áustria seu inimigo político).</a:t>
            </a:r>
          </a:p>
        </p:txBody>
      </p:sp>
    </p:spTree>
    <p:extLst>
      <p:ext uri="{BB962C8B-B14F-4D97-AF65-F5344CB8AC3E}">
        <p14:creationId xmlns:p14="http://schemas.microsoft.com/office/powerpoint/2010/main" val="797873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BB4BD9-DB54-4744-A3EE-E01FD31348F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5496" y="476672"/>
            <a:ext cx="4176464" cy="6116638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Vitórias militares de Piemonte e dos Camisas Vermelhas no sul Italiano formam uma Itália temporariamente dividida em Monarquista (Norte) e Republicana (Sul)  em 1860- plebiscitos (aceitos por Garibaldi) resolveram esse problema.</a:t>
            </a:r>
          </a:p>
          <a:p>
            <a:r>
              <a:rPr lang="pt-BR" dirty="0"/>
              <a:t>Napoleão III ( 1870) que havia mandado tropas para proteger a integridade do Papa , diante da pressão católica na França, abandona Roma diante de um novo conflito militar entre a França e a Prússia.</a:t>
            </a:r>
          </a:p>
        </p:txBody>
      </p:sp>
      <p:pic>
        <p:nvPicPr>
          <p:cNvPr id="1026" name="Picture 2" descr="Cavour e Garibaldi: personagens da unificação italiana munidos de diferentes concepções políticas.">
            <a:extLst>
              <a:ext uri="{FF2B5EF4-FFF2-40B4-BE49-F238E27FC236}">
                <a16:creationId xmlns:a16="http://schemas.microsoft.com/office/drawing/2014/main" id="{37B66986-F362-4C1D-B571-38A6C48D1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76672"/>
            <a:ext cx="3552825" cy="280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D2925F7-BBC1-4405-BF4E-BFC9781B232A}"/>
              </a:ext>
            </a:extLst>
          </p:cNvPr>
          <p:cNvSpPr txBox="1"/>
          <p:nvPr/>
        </p:nvSpPr>
        <p:spPr>
          <a:xfrm>
            <a:off x="4211960" y="3571454"/>
            <a:ext cx="5112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Cavour</a:t>
            </a:r>
            <a:r>
              <a:rPr lang="pt-BR" dirty="0"/>
              <a:t> ( 1º Ministro do Rei Vítor Emanuel II)  e Garibaldi: personagens da unificação italiana munidos de diferentes concepções políticas.</a:t>
            </a:r>
          </a:p>
        </p:txBody>
      </p:sp>
      <p:pic>
        <p:nvPicPr>
          <p:cNvPr id="1028" name="Picture 4" descr="Resultado de imagem para unificação italiana">
            <a:extLst>
              <a:ext uri="{FF2B5EF4-FFF2-40B4-BE49-F238E27FC236}">
                <a16:creationId xmlns:a16="http://schemas.microsoft.com/office/drawing/2014/main" id="{794C9A1F-DDE7-47DD-B419-B88E712D2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5002635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65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CAA74-37C4-4B4A-9892-279DCD07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27168" cy="634082"/>
          </a:xfrm>
        </p:spPr>
        <p:txBody>
          <a:bodyPr>
            <a:normAutofit fontScale="90000"/>
          </a:bodyPr>
          <a:lstStyle/>
          <a:p>
            <a:r>
              <a:rPr lang="pt-BR" dirty="0"/>
              <a:t>Problemas não resolvidos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21A46E-0037-4A44-B160-03CA0B285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Tropas de Piemonte invadem Roma gerando um problema político com o Papa e os católicos ( </a:t>
            </a:r>
            <a:r>
              <a:rPr lang="pt-BR" dirty="0">
                <a:solidFill>
                  <a:srgbClr val="FF0000"/>
                </a:solidFill>
              </a:rPr>
              <a:t>A Questão Romana</a:t>
            </a:r>
            <a:r>
              <a:rPr lang="pt-BR" dirty="0"/>
              <a:t>).Roma vira capital da Monarquia Italiana (1870). Esse impasse político entre Estado Italiano e a Igreja Católica só será resolvido com o Tratado de </a:t>
            </a:r>
            <a:r>
              <a:rPr lang="pt-BR" dirty="0" err="1"/>
              <a:t>Latrão</a:t>
            </a:r>
            <a:r>
              <a:rPr lang="pt-BR" dirty="0"/>
              <a:t> ( entre Mussolini e Pio XI – 1929)</a:t>
            </a:r>
          </a:p>
          <a:p>
            <a:r>
              <a:rPr lang="pt-BR" dirty="0"/>
              <a:t>Alguns territórios com população italiana permaneceram sob o domínio Austríaco ( as “</a:t>
            </a:r>
            <a:r>
              <a:rPr lang="pt-BR" dirty="0">
                <a:solidFill>
                  <a:srgbClr val="FF0000"/>
                </a:solidFill>
              </a:rPr>
              <a:t>províncias </a:t>
            </a:r>
            <a:r>
              <a:rPr lang="pt-BR" dirty="0" err="1">
                <a:solidFill>
                  <a:srgbClr val="FF0000"/>
                </a:solidFill>
              </a:rPr>
              <a:t>irredentas</a:t>
            </a:r>
            <a:r>
              <a:rPr lang="pt-BR" dirty="0"/>
              <a:t>”- gerando o “Irredentismo”). Problema resolvido nos tratados pós -1ª Guerra Mundial.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DF43BE-7866-44FA-816A-F573538B80EC}"/>
              </a:ext>
            </a:extLst>
          </p:cNvPr>
          <p:cNvSpPr txBox="1"/>
          <p:nvPr/>
        </p:nvSpPr>
        <p:spPr>
          <a:xfrm>
            <a:off x="827584" y="6214030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rgbClr val="FF0000"/>
                </a:solidFill>
              </a:rPr>
              <a:t>Irredentas</a:t>
            </a:r>
            <a:r>
              <a:rPr lang="pt-BR" dirty="0">
                <a:solidFill>
                  <a:srgbClr val="FF0000"/>
                </a:solidFill>
              </a:rPr>
              <a:t>: terras não salvas, não libertadas</a:t>
            </a:r>
          </a:p>
        </p:txBody>
      </p:sp>
    </p:spTree>
    <p:extLst>
      <p:ext uri="{BB962C8B-B14F-4D97-AF65-F5344CB8AC3E}">
        <p14:creationId xmlns:p14="http://schemas.microsoft.com/office/powerpoint/2010/main" val="296508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55D0DED-E1BC-42EB-B59B-79BC9AC22BD4}"/>
              </a:ext>
            </a:extLst>
          </p:cNvPr>
          <p:cNvSpPr/>
          <p:nvPr/>
        </p:nvSpPr>
        <p:spPr>
          <a:xfrm>
            <a:off x="224517" y="769325"/>
            <a:ext cx="2016224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Sacro Império Romano Germânico</a:t>
            </a:r>
            <a:endParaRPr lang="pt-BR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482B2F2B-BB8F-4881-A2A0-94D542EE2FDF}"/>
              </a:ext>
            </a:extLst>
          </p:cNvPr>
          <p:cNvCxnSpPr/>
          <p:nvPr/>
        </p:nvCxnSpPr>
        <p:spPr>
          <a:xfrm>
            <a:off x="2465766" y="1298873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B740133B-D838-423D-B1E5-0DCBF0F71ECE}"/>
              </a:ext>
            </a:extLst>
          </p:cNvPr>
          <p:cNvSpPr/>
          <p:nvPr/>
        </p:nvSpPr>
        <p:spPr>
          <a:xfrm>
            <a:off x="3131840" y="769325"/>
            <a:ext cx="2016224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Transformado por Napoleão I em </a:t>
            </a:r>
            <a:r>
              <a:rPr lang="pt-BR" dirty="0">
                <a:solidFill>
                  <a:srgbClr val="FF0000"/>
                </a:solidFill>
              </a:rPr>
              <a:t>Confederação do Reno(1806)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B5DA16D-EFCE-4816-9DE1-D0E1F588EFE2}"/>
              </a:ext>
            </a:extLst>
          </p:cNvPr>
          <p:cNvSpPr/>
          <p:nvPr/>
        </p:nvSpPr>
        <p:spPr>
          <a:xfrm>
            <a:off x="5868144" y="147594"/>
            <a:ext cx="2520276" cy="21292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Transformada em </a:t>
            </a:r>
            <a:r>
              <a:rPr lang="pt-BR" dirty="0">
                <a:solidFill>
                  <a:srgbClr val="FF0000"/>
                </a:solidFill>
              </a:rPr>
              <a:t>Confederação Germânica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(</a:t>
            </a:r>
            <a:r>
              <a:rPr lang="pt-BR" dirty="0" err="1">
                <a:solidFill>
                  <a:schemeClr val="tx1"/>
                </a:solidFill>
              </a:rPr>
              <a:t>Deutscher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Bund</a:t>
            </a:r>
            <a:r>
              <a:rPr lang="pt-BR" dirty="0">
                <a:solidFill>
                  <a:schemeClr val="tx1"/>
                </a:solidFill>
              </a:rPr>
              <a:t>) pelo Congresso de Viena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(1815)</a:t>
            </a:r>
            <a:endParaRPr lang="pt-BR" dirty="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56493F3E-66E4-45D0-A8D4-5F43B457E4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EB223B5A-E075-450A-847D-CAAAFE8015F2}"/>
              </a:ext>
            </a:extLst>
          </p:cNvPr>
          <p:cNvCxnSpPr/>
          <p:nvPr/>
        </p:nvCxnSpPr>
        <p:spPr>
          <a:xfrm>
            <a:off x="5418094" y="1340768"/>
            <a:ext cx="2880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80D5E87-7719-4F82-8F49-A2DCBCFB41C3}"/>
              </a:ext>
            </a:extLst>
          </p:cNvPr>
          <p:cNvSpPr txBox="1"/>
          <p:nvPr/>
        </p:nvSpPr>
        <p:spPr>
          <a:xfrm>
            <a:off x="2465766" y="196715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/>
              <a:t>UNIFICAÇÃO ALEMÃ</a:t>
            </a:r>
          </a:p>
        </p:txBody>
      </p:sp>
      <p:pic>
        <p:nvPicPr>
          <p:cNvPr id="20" name="Picture 2" descr="Zollverein">
            <a:extLst>
              <a:ext uri="{FF2B5EF4-FFF2-40B4-BE49-F238E27FC236}">
                <a16:creationId xmlns:a16="http://schemas.microsoft.com/office/drawing/2014/main" id="{4D14C8CB-0BFD-4D83-AC1E-1E1A12E70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26" y="2167879"/>
            <a:ext cx="5112568" cy="442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FDCA30B6-F39B-4A78-B261-E5EC2028C300}"/>
              </a:ext>
            </a:extLst>
          </p:cNvPr>
          <p:cNvCxnSpPr>
            <a:cxnSpLocks/>
          </p:cNvCxnSpPr>
          <p:nvPr/>
        </p:nvCxnSpPr>
        <p:spPr>
          <a:xfrm flipH="1">
            <a:off x="5671310" y="2431977"/>
            <a:ext cx="1132938" cy="1149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8FE485AD-57B8-42E3-AA22-CB68AE426207}"/>
              </a:ext>
            </a:extLst>
          </p:cNvPr>
          <p:cNvSpPr/>
          <p:nvPr/>
        </p:nvSpPr>
        <p:spPr>
          <a:xfrm>
            <a:off x="6125408" y="3742249"/>
            <a:ext cx="2232244" cy="18607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39</a:t>
            </a:r>
            <a:r>
              <a:rPr lang="pt-BR" dirty="0">
                <a:solidFill>
                  <a:schemeClr val="tx1"/>
                </a:solidFill>
              </a:rPr>
              <a:t>Região  dividida em 39 estados soberanos liderados pelo Império Austríaco</a:t>
            </a:r>
            <a:endParaRPr lang="pt-BR" dirty="0"/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0017009C-86FE-4AF5-9BD0-DDF6EDB2EF49}"/>
              </a:ext>
            </a:extLst>
          </p:cNvPr>
          <p:cNvSpPr/>
          <p:nvPr/>
        </p:nvSpPr>
        <p:spPr>
          <a:xfrm>
            <a:off x="5508104" y="4293096"/>
            <a:ext cx="360040" cy="3795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417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A26E07C-F707-4247-977A-1E7C758AD1C0}"/>
              </a:ext>
            </a:extLst>
          </p:cNvPr>
          <p:cNvSpPr/>
          <p:nvPr/>
        </p:nvSpPr>
        <p:spPr>
          <a:xfrm>
            <a:off x="328006" y="899323"/>
            <a:ext cx="3096344" cy="9361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 Primavera dos Povos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9807184-B06D-46C0-B4B5-F8BEA560135A}"/>
              </a:ext>
            </a:extLst>
          </p:cNvPr>
          <p:cNvSpPr/>
          <p:nvPr/>
        </p:nvSpPr>
        <p:spPr>
          <a:xfrm>
            <a:off x="596775" y="2554873"/>
            <a:ext cx="3096344" cy="9361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Rebeliões liberais na Áustria- </a:t>
            </a:r>
            <a:r>
              <a:rPr lang="pt-BR" dirty="0" err="1">
                <a:solidFill>
                  <a:schemeClr val="tx1"/>
                </a:solidFill>
              </a:rPr>
              <a:t>Metternich</a:t>
            </a:r>
            <a:r>
              <a:rPr lang="pt-BR" dirty="0">
                <a:solidFill>
                  <a:schemeClr val="tx1"/>
                </a:solidFill>
              </a:rPr>
              <a:t> (1º ministro) é derrubado </a:t>
            </a:r>
            <a:r>
              <a:rPr lang="pt-BR" dirty="0">
                <a:solidFill>
                  <a:srgbClr val="FF0000"/>
                </a:solidFill>
              </a:rPr>
              <a:t>(1848)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AC05A08-FAE6-4DD6-AEFB-905CD94D8AE3}"/>
              </a:ext>
            </a:extLst>
          </p:cNvPr>
          <p:cNvSpPr/>
          <p:nvPr/>
        </p:nvSpPr>
        <p:spPr>
          <a:xfrm>
            <a:off x="1063435" y="4345816"/>
            <a:ext cx="3238088" cy="16921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Crise interna na Áustria estimula movimentos  nacionalistas na Itália e na Alemanha- que fracassam diante da reação militar Austríaca</a:t>
            </a:r>
            <a:endParaRPr lang="pt-BR" dirty="0">
              <a:solidFill>
                <a:srgbClr val="FF0000"/>
              </a:solidFill>
            </a:endParaRP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DF429DD-55ED-40FF-AD74-1CB2610CCD39}"/>
              </a:ext>
            </a:extLst>
          </p:cNvPr>
          <p:cNvCxnSpPr>
            <a:cxnSpLocks/>
          </p:cNvCxnSpPr>
          <p:nvPr/>
        </p:nvCxnSpPr>
        <p:spPr>
          <a:xfrm>
            <a:off x="1628108" y="2074726"/>
            <a:ext cx="36004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940EC30B-B0F4-41B9-AFEE-A66BA12743AB}"/>
              </a:ext>
            </a:extLst>
          </p:cNvPr>
          <p:cNvCxnSpPr>
            <a:cxnSpLocks/>
          </p:cNvCxnSpPr>
          <p:nvPr/>
        </p:nvCxnSpPr>
        <p:spPr>
          <a:xfrm>
            <a:off x="2126691" y="3719540"/>
            <a:ext cx="413112" cy="319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>
            <a:extLst>
              <a:ext uri="{FF2B5EF4-FFF2-40B4-BE49-F238E27FC236}">
                <a16:creationId xmlns:a16="http://schemas.microsoft.com/office/drawing/2014/main" id="{EFAA705E-35A8-4255-9AF9-D09500FC8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350" y="418641"/>
            <a:ext cx="3624336" cy="283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72D2E23C-9C97-4A8C-B7F5-A4F001F16EAE}"/>
              </a:ext>
            </a:extLst>
          </p:cNvPr>
          <p:cNvCxnSpPr>
            <a:cxnSpLocks/>
          </p:cNvCxnSpPr>
          <p:nvPr/>
        </p:nvCxnSpPr>
        <p:spPr>
          <a:xfrm>
            <a:off x="3851920" y="1400853"/>
            <a:ext cx="1152128" cy="299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9A0AEC0-9AC0-41E3-9336-F10291294DA1}"/>
              </a:ext>
            </a:extLst>
          </p:cNvPr>
          <p:cNvSpPr txBox="1"/>
          <p:nvPr/>
        </p:nvSpPr>
        <p:spPr>
          <a:xfrm>
            <a:off x="5375344" y="3290890"/>
            <a:ext cx="3779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Revolucionários comemorando em </a:t>
            </a:r>
            <a:r>
              <a:rPr lang="pt-BR" sz="1200" dirty="0">
                <a:hlinkClick r:id="rId3" tooltip="Berlim"/>
              </a:rPr>
              <a:t>Berlim</a:t>
            </a:r>
            <a:r>
              <a:rPr lang="pt-BR" sz="1200" dirty="0"/>
              <a:t>, em 19 de março de 1848 Pintura anônima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757A95E-C773-4632-97FF-696858A56B3E}"/>
              </a:ext>
            </a:extLst>
          </p:cNvPr>
          <p:cNvSpPr txBox="1"/>
          <p:nvPr/>
        </p:nvSpPr>
        <p:spPr>
          <a:xfrm>
            <a:off x="5031968" y="642963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Germania</a:t>
            </a:r>
            <a:r>
              <a:rPr lang="en-US" sz="1400" dirty="0"/>
              <a:t>, painted by Philipp </a:t>
            </a:r>
            <a:r>
              <a:rPr lang="en-US" sz="1400" dirty="0" err="1"/>
              <a:t>Veit</a:t>
            </a:r>
            <a:r>
              <a:rPr lang="en-US" sz="1400" dirty="0"/>
              <a:t> in 1848</a:t>
            </a:r>
            <a:r>
              <a:rPr lang="en-US" dirty="0"/>
              <a:t>, </a:t>
            </a:r>
            <a:endParaRPr lang="pt-BR" dirty="0"/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BE6BF1E7-F556-4ABF-8F8C-2231B52C3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823" y="3791232"/>
            <a:ext cx="1792752" cy="272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CB6F7E4F-C72A-4EEB-B597-E76EA9D24E93}"/>
              </a:ext>
            </a:extLst>
          </p:cNvPr>
          <p:cNvSpPr txBox="1"/>
          <p:nvPr/>
        </p:nvSpPr>
        <p:spPr>
          <a:xfrm>
            <a:off x="1628108" y="116632"/>
            <a:ext cx="251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Os desejos Nacionalistas</a:t>
            </a:r>
          </a:p>
        </p:txBody>
      </p:sp>
    </p:spTree>
    <p:extLst>
      <p:ext uri="{BB962C8B-B14F-4D97-AF65-F5344CB8AC3E}">
        <p14:creationId xmlns:p14="http://schemas.microsoft.com/office/powerpoint/2010/main" val="491931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52B1DFF-78E9-4450-B82A-D87DC5ED6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48" y="2636912"/>
            <a:ext cx="681990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61AD325-E5DD-4EFB-962B-A8FCB78EAA01}"/>
              </a:ext>
            </a:extLst>
          </p:cNvPr>
          <p:cNvSpPr txBox="1"/>
          <p:nvPr/>
        </p:nvSpPr>
        <p:spPr>
          <a:xfrm>
            <a:off x="251520" y="873586"/>
            <a:ext cx="2808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Zollverein</a:t>
            </a:r>
            <a:r>
              <a:rPr lang="pt-BR" dirty="0"/>
              <a:t> –1834 -  a união aduaneira/alfandegária nos estados germânicos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D72E9F7-FB83-4E59-916B-C0A8ACDBB8B5}"/>
              </a:ext>
            </a:extLst>
          </p:cNvPr>
          <p:cNvSpPr/>
          <p:nvPr/>
        </p:nvSpPr>
        <p:spPr>
          <a:xfrm>
            <a:off x="3347864" y="798974"/>
            <a:ext cx="4680519" cy="16219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Otto Von Bismarck, 1º Ministro do Reino da Prússia-1860- inicia um projeto de militarização sinalizando pretensões imperialistas regionais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8A1026-3C7A-4CF3-B350-EB009AAA4809}"/>
              </a:ext>
            </a:extLst>
          </p:cNvPr>
          <p:cNvSpPr txBox="1"/>
          <p:nvPr/>
        </p:nvSpPr>
        <p:spPr>
          <a:xfrm>
            <a:off x="3882896" y="152643"/>
            <a:ext cx="3940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Fortalecimento econômico da Prússia em processo de industrialização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6D19EFB-2F3A-4F24-8BA8-6DEA94395771}"/>
              </a:ext>
            </a:extLst>
          </p:cNvPr>
          <p:cNvCxnSpPr/>
          <p:nvPr/>
        </p:nvCxnSpPr>
        <p:spPr>
          <a:xfrm flipV="1">
            <a:off x="3059832" y="548680"/>
            <a:ext cx="64807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93995FE-0B5E-4C78-B613-CFECF6F83EA5}"/>
              </a:ext>
            </a:extLst>
          </p:cNvPr>
          <p:cNvCxnSpPr>
            <a:stCxn id="3" idx="3"/>
          </p:cNvCxnSpPr>
          <p:nvPr/>
        </p:nvCxnSpPr>
        <p:spPr>
          <a:xfrm>
            <a:off x="3059832" y="1335251"/>
            <a:ext cx="72008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BBA01B1-BAA5-45EB-B849-93B0D209E98D}"/>
              </a:ext>
            </a:extLst>
          </p:cNvPr>
          <p:cNvSpPr txBox="1"/>
          <p:nvPr/>
        </p:nvSpPr>
        <p:spPr>
          <a:xfrm>
            <a:off x="7274376" y="2636912"/>
            <a:ext cx="15841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“A diplomacia sem as armas é como a música sem os instrumentos.”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00599C-37E5-4A40-A885-E0F0580E4E93}"/>
              </a:ext>
            </a:extLst>
          </p:cNvPr>
          <p:cNvSpPr txBox="1"/>
          <p:nvPr/>
        </p:nvSpPr>
        <p:spPr>
          <a:xfrm>
            <a:off x="7213360" y="4448409"/>
            <a:ext cx="19442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“A política não se faz com discursos, festas populares e canções; ela faz-se apenas com sangue e ferro.”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B4CBC24-03A3-46B9-90A7-EF838FC9D937}"/>
              </a:ext>
            </a:extLst>
          </p:cNvPr>
          <p:cNvCxnSpPr/>
          <p:nvPr/>
        </p:nvCxnSpPr>
        <p:spPr>
          <a:xfrm>
            <a:off x="7105348" y="2060848"/>
            <a:ext cx="41898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F2DF5839-05E5-4D9F-97D0-DF4341328318}"/>
              </a:ext>
            </a:extLst>
          </p:cNvPr>
          <p:cNvSpPr/>
          <p:nvPr/>
        </p:nvSpPr>
        <p:spPr>
          <a:xfrm>
            <a:off x="7884368" y="4114240"/>
            <a:ext cx="45719" cy="1901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Picture 2" descr="Resultado de imagem para O NACIONALISMO DE BISMARCK">
            <a:extLst>
              <a:ext uri="{FF2B5EF4-FFF2-40B4-BE49-F238E27FC236}">
                <a16:creationId xmlns:a16="http://schemas.microsoft.com/office/drawing/2014/main" id="{C503271E-99F9-419A-BFF9-A4EE99E94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979" y="665395"/>
            <a:ext cx="1319287" cy="17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001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0A650AA-80B4-410C-A56E-7AF2192EBD76}"/>
              </a:ext>
            </a:extLst>
          </p:cNvPr>
          <p:cNvSpPr/>
          <p:nvPr/>
        </p:nvSpPr>
        <p:spPr>
          <a:xfrm>
            <a:off x="971600" y="764704"/>
            <a:ext cx="2088232" cy="1296144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O expansionismo Prussiano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FD7813-A853-4A29-B6A2-AD74107A9AC1}"/>
              </a:ext>
            </a:extLst>
          </p:cNvPr>
          <p:cNvSpPr txBox="1"/>
          <p:nvPr/>
        </p:nvSpPr>
        <p:spPr>
          <a:xfrm>
            <a:off x="4860032" y="266147"/>
            <a:ext cx="324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Guerra dos Ducados- contra a Dinamarca- anexação dos </a:t>
            </a:r>
            <a:r>
              <a:rPr lang="pt-BR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ducados do Schleswig e do Holstein</a:t>
            </a:r>
            <a:r>
              <a:rPr lang="pt-BR" u="sng" dirty="0"/>
              <a:t>-1864.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480475-0520-4B1F-B41D-86D6FC0AB5DC}"/>
              </a:ext>
            </a:extLst>
          </p:cNvPr>
          <p:cNvSpPr txBox="1"/>
          <p:nvPr/>
        </p:nvSpPr>
        <p:spPr>
          <a:xfrm>
            <a:off x="4860032" y="1772816"/>
            <a:ext cx="36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Guerra das Seis Semanas- contra a Áustria – 1866- Prússia assume o controle de todo o norte da Alemanha Confederação Germânica do Norte. </a:t>
            </a:r>
          </a:p>
        </p:txBody>
      </p:sp>
      <p:pic>
        <p:nvPicPr>
          <p:cNvPr id="6" name="Picture 2" descr="http://historiacem01.weebly.com/uploads/9/9/1/7/9917924/4389016_orig.jpg">
            <a:extLst>
              <a:ext uri="{FF2B5EF4-FFF2-40B4-BE49-F238E27FC236}">
                <a16:creationId xmlns:a16="http://schemas.microsoft.com/office/drawing/2014/main" id="{C62A418C-B44B-48D8-94EE-66F52A488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7" y="3250094"/>
            <a:ext cx="5832648" cy="353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83B419A-0507-4C04-B161-13658E20966D}"/>
              </a:ext>
            </a:extLst>
          </p:cNvPr>
          <p:cNvCxnSpPr/>
          <p:nvPr/>
        </p:nvCxnSpPr>
        <p:spPr>
          <a:xfrm>
            <a:off x="3419872" y="1916832"/>
            <a:ext cx="792088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B00668FE-B777-433D-B9FB-8371569C9FE3}"/>
              </a:ext>
            </a:extLst>
          </p:cNvPr>
          <p:cNvCxnSpPr/>
          <p:nvPr/>
        </p:nvCxnSpPr>
        <p:spPr>
          <a:xfrm flipV="1">
            <a:off x="3563888" y="908720"/>
            <a:ext cx="1008112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eta: para Baixo 12">
            <a:extLst>
              <a:ext uri="{FF2B5EF4-FFF2-40B4-BE49-F238E27FC236}">
                <a16:creationId xmlns:a16="http://schemas.microsoft.com/office/drawing/2014/main" id="{54466A49-FD4F-41A8-8C67-38FE5D057F80}"/>
              </a:ext>
            </a:extLst>
          </p:cNvPr>
          <p:cNvSpPr/>
          <p:nvPr/>
        </p:nvSpPr>
        <p:spPr>
          <a:xfrm>
            <a:off x="2051720" y="2265110"/>
            <a:ext cx="45719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96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historiacem01.weebly.com/uploads/9/9/1/7/9917924/4389016_ori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5" y="450920"/>
            <a:ext cx="9079666" cy="549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B96D00F-C6C7-478E-8276-F01C1CDA44EA}"/>
              </a:ext>
            </a:extLst>
          </p:cNvPr>
          <p:cNvSpPr txBox="1"/>
          <p:nvPr/>
        </p:nvSpPr>
        <p:spPr>
          <a:xfrm>
            <a:off x="2915816" y="8350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UNIFICAÇÃO ALEMÃ</a:t>
            </a:r>
          </a:p>
        </p:txBody>
      </p:sp>
      <p:pic>
        <p:nvPicPr>
          <p:cNvPr id="1026" name="Picture 2" descr="Resultado de imagem para O NACIONALISMO DE BISMARCK">
            <a:extLst>
              <a:ext uri="{FF2B5EF4-FFF2-40B4-BE49-F238E27FC236}">
                <a16:creationId xmlns:a16="http://schemas.microsoft.com/office/drawing/2014/main" id="{88D7E356-6AC9-4FEF-9576-86700FDEA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307517"/>
            <a:ext cx="184785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3278BE1-8A86-4842-A982-D14ED0EDC9D3}"/>
              </a:ext>
            </a:extLst>
          </p:cNvPr>
          <p:cNvSpPr/>
          <p:nvPr/>
        </p:nvSpPr>
        <p:spPr>
          <a:xfrm>
            <a:off x="5940152" y="620688"/>
            <a:ext cx="3480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4A1C6500-ABE2-4484-8714-6A8676ACFEDB}"/>
              </a:ext>
            </a:extLst>
          </p:cNvPr>
          <p:cNvCxnSpPr>
            <a:cxnSpLocks/>
          </p:cNvCxnSpPr>
          <p:nvPr/>
        </p:nvCxnSpPr>
        <p:spPr>
          <a:xfrm flipV="1">
            <a:off x="5076056" y="2372968"/>
            <a:ext cx="1080120" cy="1776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0FCDD100-98A8-4DAD-9FF3-2E1527B3C49C}"/>
              </a:ext>
            </a:extLst>
          </p:cNvPr>
          <p:cNvSpPr/>
          <p:nvPr/>
        </p:nvSpPr>
        <p:spPr>
          <a:xfrm>
            <a:off x="6300192" y="594688"/>
            <a:ext cx="2304256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Aliança entre os </a:t>
            </a:r>
            <a:r>
              <a:rPr lang="pt-BR" dirty="0" err="1">
                <a:solidFill>
                  <a:schemeClr val="tx1"/>
                </a:solidFill>
              </a:rPr>
              <a:t>Junkers</a:t>
            </a:r>
            <a:r>
              <a:rPr lang="pt-BR" dirty="0">
                <a:solidFill>
                  <a:schemeClr val="tx1"/>
                </a:solidFill>
              </a:rPr>
              <a:t> (nobreza prussiana ligada ao exército) e a burguesia prussiana  no processo expansionista</a:t>
            </a:r>
          </a:p>
        </p:txBody>
      </p:sp>
    </p:spTree>
    <p:extLst>
      <p:ext uri="{BB962C8B-B14F-4D97-AF65-F5344CB8AC3E}">
        <p14:creationId xmlns:p14="http://schemas.microsoft.com/office/powerpoint/2010/main" val="730996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4C8D392-FC51-40DF-A61F-C43835EBCBF7}"/>
              </a:ext>
            </a:extLst>
          </p:cNvPr>
          <p:cNvSpPr txBox="1"/>
          <p:nvPr/>
        </p:nvSpPr>
        <p:spPr>
          <a:xfrm>
            <a:off x="58265" y="1363000"/>
            <a:ext cx="4800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Telegrama de EMS- Foi o telegrama que relatava o encontro, em </a:t>
            </a:r>
            <a:r>
              <a:rPr lang="pt-BR" dirty="0">
                <a:hlinkClick r:id="rId2" tooltip="13 de Julho"/>
              </a:rPr>
              <a:t>13 de Julho</a:t>
            </a:r>
            <a:r>
              <a:rPr lang="pt-BR" dirty="0"/>
              <a:t> de </a:t>
            </a:r>
            <a:r>
              <a:rPr lang="pt-BR" dirty="0">
                <a:hlinkClick r:id="rId3" tooltip="1870"/>
              </a:rPr>
              <a:t>1870</a:t>
            </a:r>
            <a:r>
              <a:rPr lang="pt-BR" dirty="0"/>
              <a:t> entre o Rei da </a:t>
            </a:r>
            <a:r>
              <a:rPr lang="pt-BR" dirty="0">
                <a:hlinkClick r:id="rId4" tooltip="Reino da Prússia"/>
              </a:rPr>
              <a:t>Prússia</a:t>
            </a:r>
            <a:r>
              <a:rPr lang="pt-BR" dirty="0"/>
              <a:t> </a:t>
            </a:r>
            <a:r>
              <a:rPr lang="pt-BR" dirty="0">
                <a:hlinkClick r:id="rId5" tooltip="Guilherme I da Alemanha"/>
              </a:rPr>
              <a:t>Guilherme I </a:t>
            </a:r>
            <a:r>
              <a:rPr lang="pt-BR" dirty="0"/>
              <a:t>e o embaixador da </a:t>
            </a:r>
            <a:r>
              <a:rPr lang="pt-BR" dirty="0">
                <a:hlinkClick r:id="rId6" tooltip="França"/>
              </a:rPr>
              <a:t>França</a:t>
            </a:r>
            <a:r>
              <a:rPr lang="pt-BR" dirty="0"/>
              <a:t> na Prússia em </a:t>
            </a:r>
            <a:r>
              <a:rPr lang="pt-BR" dirty="0" err="1">
                <a:hlinkClick r:id="rId7" tooltip="Bad Ems"/>
              </a:rPr>
              <a:t>Bad</a:t>
            </a:r>
            <a:r>
              <a:rPr lang="pt-BR" dirty="0">
                <a:hlinkClick r:id="rId7" tooltip="Bad Ems"/>
              </a:rPr>
              <a:t> </a:t>
            </a:r>
            <a:r>
              <a:rPr lang="pt-BR" dirty="0" err="1">
                <a:hlinkClick r:id="rId7" tooltip="Bad Ems"/>
              </a:rPr>
              <a:t>Ems</a:t>
            </a:r>
            <a:r>
              <a:rPr lang="pt-BR" dirty="0"/>
              <a:t> no </a:t>
            </a:r>
            <a:r>
              <a:rPr lang="pt-BR" dirty="0">
                <a:hlinkClick r:id="rId8" tooltip="Rio Lahn"/>
              </a:rPr>
              <a:t>rio </a:t>
            </a:r>
            <a:r>
              <a:rPr lang="pt-BR" dirty="0" err="1">
                <a:hlinkClick r:id="rId8" tooltip="Rio Lahn"/>
              </a:rPr>
              <a:t>Lahn</a:t>
            </a:r>
            <a:r>
              <a:rPr lang="pt-BR" dirty="0"/>
              <a:t>.</a:t>
            </a:r>
          </a:p>
        </p:txBody>
      </p:sp>
      <p:pic>
        <p:nvPicPr>
          <p:cNvPr id="5" name="Picture 2" descr="Resultado de imagem para telegrama de ems">
            <a:extLst>
              <a:ext uri="{FF2B5EF4-FFF2-40B4-BE49-F238E27FC236}">
                <a16:creationId xmlns:a16="http://schemas.microsoft.com/office/drawing/2014/main" id="{FE131450-CED8-442A-83BB-24EA8383E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090058"/>
            <a:ext cx="4800533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5F6A3B9-6D63-4CAD-859A-DC2669034F04}"/>
              </a:ext>
            </a:extLst>
          </p:cNvPr>
          <p:cNvSpPr txBox="1"/>
          <p:nvPr/>
        </p:nvSpPr>
        <p:spPr>
          <a:xfrm>
            <a:off x="1475656" y="472427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Guerra Franco Prussiana-1870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E68A92B-9044-475F-9C70-D7209F173886}"/>
              </a:ext>
            </a:extLst>
          </p:cNvPr>
          <p:cNvSpPr txBox="1"/>
          <p:nvPr/>
        </p:nvSpPr>
        <p:spPr>
          <a:xfrm>
            <a:off x="5134456" y="353512"/>
            <a:ext cx="38164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Napoleão III incomodado com o expansionismo Prussiano veta  a ascensão do primo do rei da Prússia  ao trono espanhol como medo de ficar cercado por inimigos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380726E2-6256-4412-A43B-A5BD77C132C6}"/>
              </a:ext>
            </a:extLst>
          </p:cNvPr>
          <p:cNvCxnSpPr>
            <a:cxnSpLocks/>
          </p:cNvCxnSpPr>
          <p:nvPr/>
        </p:nvCxnSpPr>
        <p:spPr>
          <a:xfrm flipH="1">
            <a:off x="4716016" y="1684926"/>
            <a:ext cx="372549" cy="375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8A4712C9-458B-4074-A448-515BEA8AFEFA}"/>
              </a:ext>
            </a:extLst>
          </p:cNvPr>
          <p:cNvSpPr/>
          <p:nvPr/>
        </p:nvSpPr>
        <p:spPr>
          <a:xfrm>
            <a:off x="5124061" y="3861048"/>
            <a:ext cx="1032115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60DEC2D-0D2A-4FC6-81E4-875CE13BB985}"/>
              </a:ext>
            </a:extLst>
          </p:cNvPr>
          <p:cNvSpPr/>
          <p:nvPr/>
        </p:nvSpPr>
        <p:spPr>
          <a:xfrm>
            <a:off x="6624736" y="2161741"/>
            <a:ext cx="2195736" cy="4318915"/>
          </a:xfrm>
          <a:prstGeom prst="roundRect">
            <a:avLst>
              <a:gd name="adj" fmla="val 820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Napoleão III, se julgando insultado pelo telegrama, declara guerra contra a Prússia. A guerra contra a França faz com que os estados germânicos do sul se mobilizem sob o o comando de Bismarck</a:t>
            </a:r>
            <a:endParaRPr lang="pt-BR" dirty="0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EFFD11F-EDD1-4E54-9DB4-A455723D641B}"/>
              </a:ext>
            </a:extLst>
          </p:cNvPr>
          <p:cNvCxnSpPr/>
          <p:nvPr/>
        </p:nvCxnSpPr>
        <p:spPr>
          <a:xfrm>
            <a:off x="4572000" y="4653136"/>
            <a:ext cx="408045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CB456B2-5EB2-4738-9093-782EDEEA67B0}"/>
              </a:ext>
            </a:extLst>
          </p:cNvPr>
          <p:cNvSpPr txBox="1"/>
          <p:nvPr/>
        </p:nvSpPr>
        <p:spPr>
          <a:xfrm>
            <a:off x="5053633" y="4797152"/>
            <a:ext cx="1174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Inimigo externo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C54C7D78-80AB-4E1F-AF5C-93EFBD2123A2}"/>
              </a:ext>
            </a:extLst>
          </p:cNvPr>
          <p:cNvCxnSpPr/>
          <p:nvPr/>
        </p:nvCxnSpPr>
        <p:spPr>
          <a:xfrm>
            <a:off x="5508104" y="5443483"/>
            <a:ext cx="0" cy="289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C014ACB-677A-49E7-A59B-D0BA49D13053}"/>
              </a:ext>
            </a:extLst>
          </p:cNvPr>
          <p:cNvSpPr txBox="1"/>
          <p:nvPr/>
        </p:nvSpPr>
        <p:spPr>
          <a:xfrm>
            <a:off x="4801607" y="5766648"/>
            <a:ext cx="196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união patriótica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4BA20D8-E4E6-42FC-A3F6-F798E33117F0}"/>
              </a:ext>
            </a:extLst>
          </p:cNvPr>
          <p:cNvCxnSpPr/>
          <p:nvPr/>
        </p:nvCxnSpPr>
        <p:spPr>
          <a:xfrm flipV="1">
            <a:off x="5940152" y="4653136"/>
            <a:ext cx="576064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ângulo 21">
            <a:extLst>
              <a:ext uri="{FF2B5EF4-FFF2-40B4-BE49-F238E27FC236}">
                <a16:creationId xmlns:a16="http://schemas.microsoft.com/office/drawing/2014/main" id="{B01A67BE-5F27-4FC1-9BEA-B4D5948B7B4E}"/>
              </a:ext>
            </a:extLst>
          </p:cNvPr>
          <p:cNvSpPr/>
          <p:nvPr/>
        </p:nvSpPr>
        <p:spPr>
          <a:xfrm>
            <a:off x="4795950" y="2174016"/>
            <a:ext cx="183594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pt-BR" sz="1200" b="1" dirty="0">
                <a:solidFill>
                  <a:srgbClr val="FF0000"/>
                </a:solidFill>
                <a:latin typeface="arial" panose="020B0604020202020204" pitchFamily="34" charset="0"/>
              </a:rPr>
              <a:t>Os tolos dizem que aprendem com os seus próprios erros; eu prefiro aprender com os erros dos outros” (Bismarck)</a:t>
            </a:r>
            <a:endParaRPr lang="pt-BR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641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9CB4F78-5AAD-4905-9326-C6A8BC12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360" y="836712"/>
            <a:ext cx="4179115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a derrota de napoleão III">
            <a:extLst>
              <a:ext uri="{FF2B5EF4-FFF2-40B4-BE49-F238E27FC236}">
                <a16:creationId xmlns:a16="http://schemas.microsoft.com/office/drawing/2014/main" id="{E7557E11-A8C3-4EFC-8C8B-3CE9D70BF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72" y="1016732"/>
            <a:ext cx="4350416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4698BB9-9A97-4662-9CE6-C44E2E8A8B6B}"/>
              </a:ext>
            </a:extLst>
          </p:cNvPr>
          <p:cNvSpPr txBox="1"/>
          <p:nvPr/>
        </p:nvSpPr>
        <p:spPr>
          <a:xfrm>
            <a:off x="221584" y="4119463"/>
            <a:ext cx="4350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Napoleão III e Otto von Bismarck na manhã seguinte à </a:t>
            </a:r>
            <a:r>
              <a:rPr lang="pt-BR" b="1" dirty="0">
                <a:hlinkClick r:id="rId4" tooltip="Batalha de Sedan"/>
              </a:rPr>
              <a:t>Batalha de Sedan</a:t>
            </a:r>
            <a:r>
              <a:rPr lang="pt-BR" b="1" dirty="0"/>
              <a:t>, </a:t>
            </a:r>
            <a:r>
              <a:rPr lang="pt-BR" b="1" dirty="0">
                <a:hlinkClick r:id="rId5" tooltip="Óleo sobre tela"/>
              </a:rPr>
              <a:t>óleo sobre tela</a:t>
            </a:r>
            <a:r>
              <a:rPr lang="pt-BR" b="1" dirty="0"/>
              <a:t> de </a:t>
            </a:r>
            <a:r>
              <a:rPr lang="pt-BR" b="1" dirty="0">
                <a:hlinkClick r:id="rId6" tooltip="Wilhelm Camphausen"/>
              </a:rPr>
              <a:t>Wilhelm </a:t>
            </a:r>
            <a:r>
              <a:rPr lang="pt-BR" b="1" dirty="0" err="1">
                <a:hlinkClick r:id="rId6" tooltip="Wilhelm Camphausen"/>
              </a:rPr>
              <a:t>Camphausen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C3C3D3-4444-4C58-8443-206BCA9A5D19}"/>
              </a:ext>
            </a:extLst>
          </p:cNvPr>
          <p:cNvSpPr txBox="1"/>
          <p:nvPr/>
        </p:nvSpPr>
        <p:spPr>
          <a:xfrm>
            <a:off x="4829496" y="3980963"/>
            <a:ext cx="4350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Proclamação de Guilherme como Imperador Alemão no </a:t>
            </a:r>
            <a:r>
              <a:rPr lang="pt-BR" dirty="0">
                <a:hlinkClick r:id="rId7" tooltip="Palácio de Versalhes"/>
              </a:rPr>
              <a:t>Palácio de Versalhes</a:t>
            </a:r>
            <a:r>
              <a:rPr lang="pt-BR" dirty="0"/>
              <a:t>, dentro da </a:t>
            </a:r>
            <a:r>
              <a:rPr lang="pt-BR" dirty="0">
                <a:hlinkClick r:id="rId8" tooltip="Terceira República Francesa"/>
              </a:rPr>
              <a:t>República Francesa</a:t>
            </a:r>
            <a:r>
              <a:rPr lang="pt-BR" dirty="0"/>
              <a:t> por </a:t>
            </a:r>
            <a:r>
              <a:rPr lang="pt-BR" dirty="0">
                <a:hlinkClick r:id="rId9" tooltip="Anton von Werner"/>
              </a:rPr>
              <a:t>Anton von Werner</a:t>
            </a:r>
            <a:r>
              <a:rPr lang="pt-BR" dirty="0"/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90920E-2C46-4EA1-B3A9-40477A6A0976}"/>
              </a:ext>
            </a:extLst>
          </p:cNvPr>
          <p:cNvSpPr txBox="1"/>
          <p:nvPr/>
        </p:nvSpPr>
        <p:spPr>
          <a:xfrm>
            <a:off x="2224128" y="95473"/>
            <a:ext cx="4680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Formação do  II Reich- Coroação do rei da Prússia como Kaiser, imperador alemão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91058D35-7F68-4A64-9857-F851CDEDF892}"/>
              </a:ext>
            </a:extLst>
          </p:cNvPr>
          <p:cNvCxnSpPr>
            <a:cxnSpLocks/>
          </p:cNvCxnSpPr>
          <p:nvPr/>
        </p:nvCxnSpPr>
        <p:spPr>
          <a:xfrm>
            <a:off x="899592" y="5042793"/>
            <a:ext cx="432048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6D298AE-9606-494B-B188-96B35B3AD9B6}"/>
              </a:ext>
            </a:extLst>
          </p:cNvPr>
          <p:cNvSpPr txBox="1"/>
          <p:nvPr/>
        </p:nvSpPr>
        <p:spPr>
          <a:xfrm>
            <a:off x="1475656" y="5194066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fim do Império de Napoleão III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6204C4A-C79E-4AAE-B328-D546434AE517}"/>
              </a:ext>
            </a:extLst>
          </p:cNvPr>
          <p:cNvCxnSpPr>
            <a:cxnSpLocks/>
          </p:cNvCxnSpPr>
          <p:nvPr/>
        </p:nvCxnSpPr>
        <p:spPr>
          <a:xfrm flipV="1">
            <a:off x="3538730" y="5642725"/>
            <a:ext cx="1177286" cy="197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9A9EF-A02A-4BC7-9E86-33B00312EAC8}"/>
              </a:ext>
            </a:extLst>
          </p:cNvPr>
          <p:cNvSpPr txBox="1"/>
          <p:nvPr/>
        </p:nvSpPr>
        <p:spPr>
          <a:xfrm>
            <a:off x="4938978" y="5284284"/>
            <a:ext cx="413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Indenização em dinheiro para a Alemanha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C2948D3-F55A-4238-AE75-DEED221162DC}"/>
              </a:ext>
            </a:extLst>
          </p:cNvPr>
          <p:cNvSpPr txBox="1"/>
          <p:nvPr/>
        </p:nvSpPr>
        <p:spPr>
          <a:xfrm>
            <a:off x="4948354" y="5756608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Anexação da Alsácia e Lorena ( áreas ricas em minérios de ferro e carvão) 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D2CD7AC6-718E-4510-AC86-83D837CAFB12}"/>
              </a:ext>
            </a:extLst>
          </p:cNvPr>
          <p:cNvCxnSpPr>
            <a:cxnSpLocks/>
          </p:cNvCxnSpPr>
          <p:nvPr/>
        </p:nvCxnSpPr>
        <p:spPr>
          <a:xfrm>
            <a:off x="3538730" y="5949280"/>
            <a:ext cx="1290766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896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CA60AD6-8BE5-42FD-8D2F-7836BC1CA7D4}"/>
              </a:ext>
            </a:extLst>
          </p:cNvPr>
          <p:cNvSpPr txBox="1"/>
          <p:nvPr/>
        </p:nvSpPr>
        <p:spPr>
          <a:xfrm>
            <a:off x="611560" y="288055"/>
            <a:ext cx="15841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humilhação Francesa- ocupada militarmente e com um novo governo Republicano submetido às diretrizes da Prússia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C5F64A6E-E028-4D90-8582-F888101E93FE}"/>
              </a:ext>
            </a:extLst>
          </p:cNvPr>
          <p:cNvCxnSpPr>
            <a:cxnSpLocks/>
          </p:cNvCxnSpPr>
          <p:nvPr/>
        </p:nvCxnSpPr>
        <p:spPr>
          <a:xfrm flipV="1">
            <a:off x="2831751" y="998592"/>
            <a:ext cx="1614235" cy="40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B10D6-D054-4818-8D86-D585E5F51580}"/>
              </a:ext>
            </a:extLst>
          </p:cNvPr>
          <p:cNvSpPr txBox="1"/>
          <p:nvPr/>
        </p:nvSpPr>
        <p:spPr>
          <a:xfrm>
            <a:off x="5069944" y="288055"/>
            <a:ext cx="3240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Operários socialistas e outras correntes de esquerda tomam o governo da cidade de Paris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0F373B9-8427-4C5F-A9EE-FCFC67CA9936}"/>
              </a:ext>
            </a:extLst>
          </p:cNvPr>
          <p:cNvSpPr/>
          <p:nvPr/>
        </p:nvSpPr>
        <p:spPr>
          <a:xfrm>
            <a:off x="3242876" y="2035118"/>
            <a:ext cx="1728192" cy="11599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A COMUNA DE PARIS -1871</a:t>
            </a:r>
          </a:p>
        </p:txBody>
      </p:sp>
      <p:pic>
        <p:nvPicPr>
          <p:cNvPr id="3074" name="Picture 2" descr="Ver a imagem de origem">
            <a:extLst>
              <a:ext uri="{FF2B5EF4-FFF2-40B4-BE49-F238E27FC236}">
                <a16:creationId xmlns:a16="http://schemas.microsoft.com/office/drawing/2014/main" id="{685FF951-CC5F-4CD1-9A13-47C508A98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239" y="4946598"/>
            <a:ext cx="2485668" cy="158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Ver a imagem de origem">
            <a:extLst>
              <a:ext uri="{FF2B5EF4-FFF2-40B4-BE49-F238E27FC236}">
                <a16:creationId xmlns:a16="http://schemas.microsoft.com/office/drawing/2014/main" id="{D41E84AF-666A-4451-9D2A-4FF41FC0F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75" y="3805941"/>
            <a:ext cx="2729620" cy="171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FAAE412-19B9-48FE-A99D-C7ADAB138758}"/>
              </a:ext>
            </a:extLst>
          </p:cNvPr>
          <p:cNvCxnSpPr>
            <a:cxnSpLocks/>
          </p:cNvCxnSpPr>
          <p:nvPr/>
        </p:nvCxnSpPr>
        <p:spPr>
          <a:xfrm flipH="1">
            <a:off x="3023828" y="3303326"/>
            <a:ext cx="202822" cy="305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B4B0B6C0-36E2-4943-9057-CE551D95E9F9}"/>
              </a:ext>
            </a:extLst>
          </p:cNvPr>
          <p:cNvCxnSpPr>
            <a:cxnSpLocks/>
          </p:cNvCxnSpPr>
          <p:nvPr/>
        </p:nvCxnSpPr>
        <p:spPr>
          <a:xfrm>
            <a:off x="4211960" y="3456169"/>
            <a:ext cx="0" cy="720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44500FD-A7A9-4237-95EF-550B19C9C433}"/>
              </a:ext>
            </a:extLst>
          </p:cNvPr>
          <p:cNvCxnSpPr>
            <a:cxnSpLocks/>
          </p:cNvCxnSpPr>
          <p:nvPr/>
        </p:nvCxnSpPr>
        <p:spPr>
          <a:xfrm flipH="1">
            <a:off x="4368073" y="1404120"/>
            <a:ext cx="425935" cy="384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" descr="Resultado de imagem para comuna de paris resumo">
            <a:extLst>
              <a:ext uri="{FF2B5EF4-FFF2-40B4-BE49-F238E27FC236}">
                <a16:creationId xmlns:a16="http://schemas.microsoft.com/office/drawing/2014/main" id="{1E5E9DEF-4780-4F70-8BDC-4F207A2EE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217" y="1303392"/>
            <a:ext cx="2066926" cy="262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8EB7DB53-6E2C-4ACA-BA8A-36439745398A}"/>
              </a:ext>
            </a:extLst>
          </p:cNvPr>
          <p:cNvCxnSpPr/>
          <p:nvPr/>
        </p:nvCxnSpPr>
        <p:spPr>
          <a:xfrm>
            <a:off x="5069944" y="2492896"/>
            <a:ext cx="361352" cy="12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C5243EC3-8043-289F-3BB3-09FCA9684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6041" y="4080915"/>
            <a:ext cx="1778988" cy="262339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3A14AE-857A-515E-A2FA-76F18074A59A}"/>
              </a:ext>
            </a:extLst>
          </p:cNvPr>
          <p:cNvSpPr txBox="1"/>
          <p:nvPr/>
        </p:nvSpPr>
        <p:spPr>
          <a:xfrm>
            <a:off x="7961617" y="4538531"/>
            <a:ext cx="102645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/>
              <a:t>Gravura de </a:t>
            </a:r>
            <a:r>
              <a:rPr lang="pt-BR" sz="1050" dirty="0" err="1"/>
              <a:t>Frédréric</a:t>
            </a:r>
            <a:r>
              <a:rPr lang="pt-BR" sz="1050" dirty="0"/>
              <a:t> </a:t>
            </a:r>
            <a:r>
              <a:rPr lang="pt-BR" sz="1050" dirty="0" err="1"/>
              <a:t>Lix</a:t>
            </a:r>
            <a:r>
              <a:rPr lang="pt-BR" sz="1050" dirty="0"/>
              <a:t> (1830-1897) que retrata uma reunião do Clube das Mulheres durante a Comuna de Paris</a:t>
            </a:r>
          </a:p>
        </p:txBody>
      </p:sp>
    </p:spTree>
    <p:extLst>
      <p:ext uri="{BB962C8B-B14F-4D97-AF65-F5344CB8AC3E}">
        <p14:creationId xmlns:p14="http://schemas.microsoft.com/office/powerpoint/2010/main" val="1755342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FCB6B12-3181-4546-BD25-D24756E3DE3A}"/>
              </a:ext>
            </a:extLst>
          </p:cNvPr>
          <p:cNvSpPr/>
          <p:nvPr/>
        </p:nvSpPr>
        <p:spPr>
          <a:xfrm>
            <a:off x="3995936" y="1358295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Igualdade civil entre homens e mulheres;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Pensão para órfãos e viúvas;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Abolição do trabalho noturno em padarias;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Separação entre Igreja e Estado;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Jornada de trabalho de 10 horas;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dos salários;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Imposto justo que taxasse principalmente os mais ricos;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Educação gratuita;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laica e compulsória. Escolas noturnas foram criadas e todas as escolas passaram a ser de frequência mista;</a:t>
            </a:r>
            <a:endParaRPr lang="pt-BR" sz="16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Aplicação dos </a:t>
            </a:r>
            <a:r>
              <a:rPr lang="pt-BR" sz="160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impostoS</a:t>
            </a:r>
            <a:r>
              <a:rPr lang="pt-BR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 serviços públicos.</a:t>
            </a:r>
            <a:endParaRPr lang="pt-BR" sz="1600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F86E9E7-6472-4347-9E1D-D56D3EA34F85}"/>
              </a:ext>
            </a:extLst>
          </p:cNvPr>
          <p:cNvSpPr txBox="1"/>
          <p:nvPr/>
        </p:nvSpPr>
        <p:spPr>
          <a:xfrm>
            <a:off x="1691680" y="62068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90EC54-1E5C-436D-B5BB-3DD10E52DDDC}"/>
              </a:ext>
            </a:extLst>
          </p:cNvPr>
          <p:cNvSpPr txBox="1"/>
          <p:nvPr/>
        </p:nvSpPr>
        <p:spPr>
          <a:xfrm>
            <a:off x="1678360" y="20524"/>
            <a:ext cx="37444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Paris sob o domínio operário por 71 dias  - primeiro governo socialista da  história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FBEBB58-3F4D-4911-9E86-35EF08CD9BE2}"/>
              </a:ext>
            </a:extLst>
          </p:cNvPr>
          <p:cNvSpPr txBox="1"/>
          <p:nvPr/>
        </p:nvSpPr>
        <p:spPr>
          <a:xfrm>
            <a:off x="128295" y="4709466"/>
            <a:ext cx="4134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Burguesia Francesa associada às tropas prussianas retomam o controle da cidade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6FE716F-39D9-448D-B493-25230F773150}"/>
              </a:ext>
            </a:extLst>
          </p:cNvPr>
          <p:cNvSpPr txBox="1"/>
          <p:nvPr/>
        </p:nvSpPr>
        <p:spPr>
          <a:xfrm>
            <a:off x="4473793" y="4885709"/>
            <a:ext cx="457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444444"/>
                </a:solidFill>
                <a:latin typeface="arial" panose="020B0604020202020204" pitchFamily="34" charset="0"/>
              </a:rPr>
              <a:t>Não são conhecidos ao certo os dados sobre a repressão à Comuna de Paris. Mas estima-se que houve cerca de 20 mil execuções, mais de 43 mil prisioneiros e 10 mil sentenciados.</a:t>
            </a:r>
            <a:endParaRPr lang="pt-BR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A7FEF403-2239-4321-A0A1-AAA370D6D3A2}"/>
              </a:ext>
            </a:extLst>
          </p:cNvPr>
          <p:cNvCxnSpPr/>
          <p:nvPr/>
        </p:nvCxnSpPr>
        <p:spPr>
          <a:xfrm>
            <a:off x="2965094" y="1648146"/>
            <a:ext cx="97333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3EB7851-F9BC-42D1-A2AA-C0483E7EB162}"/>
              </a:ext>
            </a:extLst>
          </p:cNvPr>
          <p:cNvCxnSpPr/>
          <p:nvPr/>
        </p:nvCxnSpPr>
        <p:spPr>
          <a:xfrm flipH="1">
            <a:off x="2220783" y="1588090"/>
            <a:ext cx="144016" cy="1298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3393521D-327C-4729-98B2-1C8B9C180DA1}"/>
              </a:ext>
            </a:extLst>
          </p:cNvPr>
          <p:cNvSpPr/>
          <p:nvPr/>
        </p:nvSpPr>
        <p:spPr>
          <a:xfrm>
            <a:off x="1168480" y="2954952"/>
            <a:ext cx="1656184" cy="8850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 Repressão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856587F-B3C4-4DD0-9551-6ED6508A76BE}"/>
              </a:ext>
            </a:extLst>
          </p:cNvPr>
          <p:cNvCxnSpPr/>
          <p:nvPr/>
        </p:nvCxnSpPr>
        <p:spPr>
          <a:xfrm>
            <a:off x="1944930" y="4090520"/>
            <a:ext cx="0" cy="363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3C14C6F-EEB7-4307-9677-BA807195B51E}"/>
              </a:ext>
            </a:extLst>
          </p:cNvPr>
          <p:cNvCxnSpPr/>
          <p:nvPr/>
        </p:nvCxnSpPr>
        <p:spPr>
          <a:xfrm>
            <a:off x="3203848" y="5355797"/>
            <a:ext cx="1059328" cy="16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181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84927C-25E6-6899-FD32-5887716FFC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43" r="25073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6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C2AB73-1E18-82DD-0051-AF54C85012D5}"/>
              </a:ext>
            </a:extLst>
          </p:cNvPr>
          <p:cNvSpPr txBox="1"/>
          <p:nvPr/>
        </p:nvSpPr>
        <p:spPr>
          <a:xfrm>
            <a:off x="5648707" y="365125"/>
            <a:ext cx="2866642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>
                <a:highlight>
                  <a:srgbClr val="FFFF00"/>
                </a:highlight>
                <a:latin typeface="+mj-lt"/>
                <a:ea typeface="+mj-ea"/>
                <a:cs typeface="+mj-cs"/>
              </a:rPr>
              <a:t>Lideranças Femininas ativas na Comuna de Paris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504464-EEC0-6747-5263-199DA7CECDFD}"/>
              </a:ext>
            </a:extLst>
          </p:cNvPr>
          <p:cNvSpPr txBox="1"/>
          <p:nvPr/>
        </p:nvSpPr>
        <p:spPr>
          <a:xfrm>
            <a:off x="5650570" y="2060848"/>
            <a:ext cx="2866642" cy="3742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Louise Michel- </a:t>
            </a:r>
            <a:r>
              <a:rPr lang="en-US" sz="1600" dirty="0"/>
              <a:t>A </a:t>
            </a:r>
            <a:r>
              <a:rPr lang="en-US" sz="1600" dirty="0" err="1"/>
              <a:t>mais</a:t>
            </a:r>
            <a:r>
              <a:rPr lang="en-US" sz="1600" dirty="0"/>
              <a:t> </a:t>
            </a:r>
            <a:r>
              <a:rPr lang="en-US" sz="1600" dirty="0" err="1"/>
              <a:t>famosa</a:t>
            </a:r>
            <a:r>
              <a:rPr lang="en-US" sz="1600" dirty="0"/>
              <a:t> </a:t>
            </a:r>
            <a:r>
              <a:rPr lang="en-US" sz="1600" dirty="0" err="1"/>
              <a:t>communarde</a:t>
            </a:r>
            <a:r>
              <a:rPr lang="en-US" sz="1600" dirty="0"/>
              <a:t>. </a:t>
            </a:r>
            <a:r>
              <a:rPr lang="en-US" sz="1600" dirty="0" err="1"/>
              <a:t>Professora</a:t>
            </a:r>
            <a:r>
              <a:rPr lang="en-US" sz="1600" dirty="0"/>
              <a:t>, </a:t>
            </a:r>
            <a:r>
              <a:rPr lang="en-US" sz="1600" dirty="0" err="1"/>
              <a:t>anarquista</a:t>
            </a:r>
            <a:r>
              <a:rPr lang="en-US" sz="1600" dirty="0"/>
              <a:t>, </a:t>
            </a:r>
            <a:r>
              <a:rPr lang="en-US" sz="1600" dirty="0" err="1"/>
              <a:t>combatente</a:t>
            </a:r>
            <a:r>
              <a:rPr lang="en-US" sz="1600" dirty="0"/>
              <a:t>. </a:t>
            </a:r>
            <a:r>
              <a:rPr lang="en-US" sz="1600" dirty="0" err="1"/>
              <a:t>Recusou</a:t>
            </a:r>
            <a:r>
              <a:rPr lang="en-US" sz="1600" dirty="0"/>
              <a:t>-se a </a:t>
            </a:r>
            <a:r>
              <a:rPr lang="en-US" sz="1600" dirty="0" err="1"/>
              <a:t>fugir</a:t>
            </a:r>
            <a:r>
              <a:rPr lang="en-US" sz="1600" dirty="0"/>
              <a:t>, </a:t>
            </a:r>
            <a:r>
              <a:rPr lang="en-US" sz="1600" dirty="0" err="1"/>
              <a:t>foi</a:t>
            </a:r>
            <a:r>
              <a:rPr lang="en-US" sz="1600" dirty="0"/>
              <a:t> </a:t>
            </a:r>
            <a:r>
              <a:rPr lang="en-US" sz="1600" dirty="0" err="1"/>
              <a:t>deportada</a:t>
            </a:r>
            <a:r>
              <a:rPr lang="en-US" sz="1600" dirty="0"/>
              <a:t> para a Nova </a:t>
            </a:r>
            <a:r>
              <a:rPr lang="en-US" sz="1600" dirty="0" err="1"/>
              <a:t>Caledônia</a:t>
            </a:r>
            <a:r>
              <a:rPr lang="en-US" sz="1600" dirty="0"/>
              <a:t> e </a:t>
            </a:r>
            <a:r>
              <a:rPr lang="en-US" sz="1600" dirty="0" err="1"/>
              <a:t>virou</a:t>
            </a:r>
            <a:r>
              <a:rPr lang="en-US" sz="1600" dirty="0"/>
              <a:t> </a:t>
            </a:r>
            <a:r>
              <a:rPr lang="en-US" sz="1600" dirty="0" err="1"/>
              <a:t>símbolo</a:t>
            </a:r>
            <a:r>
              <a:rPr lang="en-US" sz="1600" dirty="0"/>
              <a:t> da </a:t>
            </a:r>
            <a:r>
              <a:rPr lang="en-US" sz="1600" dirty="0" err="1"/>
              <a:t>resistência</a:t>
            </a:r>
            <a:r>
              <a:rPr lang="en-US" sz="16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Élisabeth </a:t>
            </a:r>
            <a:r>
              <a:rPr lang="en-US" sz="1600" b="1" dirty="0" err="1"/>
              <a:t>Dmitrieff</a:t>
            </a:r>
            <a:r>
              <a:rPr lang="en-US" sz="1600" b="1" dirty="0"/>
              <a:t> - </a:t>
            </a:r>
            <a:r>
              <a:rPr lang="en-US" sz="1600" dirty="0" err="1"/>
              <a:t>Fundadora</a:t>
            </a:r>
            <a:r>
              <a:rPr lang="en-US" sz="1600" dirty="0"/>
              <a:t> da </a:t>
            </a:r>
            <a:r>
              <a:rPr lang="en-US" sz="1600" dirty="0" err="1"/>
              <a:t>União</a:t>
            </a:r>
            <a:r>
              <a:rPr lang="en-US" sz="1600" dirty="0"/>
              <a:t> das </a:t>
            </a:r>
            <a:r>
              <a:rPr lang="en-US" sz="1600" dirty="0" err="1"/>
              <a:t>Mulheres</a:t>
            </a:r>
            <a:r>
              <a:rPr lang="en-US" sz="1600" dirty="0"/>
              <a:t>. </a:t>
            </a:r>
            <a:r>
              <a:rPr lang="en-US" sz="1600" dirty="0" err="1"/>
              <a:t>Articuladora</a:t>
            </a:r>
            <a:r>
              <a:rPr lang="en-US" sz="1600" dirty="0"/>
              <a:t> </a:t>
            </a:r>
            <a:r>
              <a:rPr lang="en-US" sz="1600" dirty="0" err="1"/>
              <a:t>política</a:t>
            </a:r>
            <a:r>
              <a:rPr lang="en-US" sz="1600" dirty="0"/>
              <a:t> </a:t>
            </a:r>
            <a:r>
              <a:rPr lang="en-US" sz="1600" dirty="0" err="1"/>
              <a:t>brilhante</a:t>
            </a:r>
            <a:r>
              <a:rPr lang="en-US" sz="1600" dirty="0"/>
              <a:t>, com </a:t>
            </a:r>
            <a:r>
              <a:rPr lang="en-US" sz="1600" dirty="0" err="1"/>
              <a:t>apenas</a:t>
            </a:r>
            <a:r>
              <a:rPr lang="en-US" sz="1600" dirty="0"/>
              <a:t> 20 anos.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Nathalie Lemel - </a:t>
            </a:r>
            <a:r>
              <a:rPr lang="en-US" sz="1600" dirty="0" err="1"/>
              <a:t>Tipógrafa</a:t>
            </a:r>
            <a:r>
              <a:rPr lang="en-US" sz="1600" dirty="0"/>
              <a:t>, </a:t>
            </a:r>
            <a:r>
              <a:rPr lang="en-US" sz="1600" dirty="0" err="1"/>
              <a:t>sindicalista</a:t>
            </a:r>
            <a:r>
              <a:rPr lang="en-US" sz="1600" dirty="0"/>
              <a:t>, </a:t>
            </a:r>
            <a:r>
              <a:rPr lang="en-US" sz="1600" dirty="0" err="1"/>
              <a:t>cofundadora</a:t>
            </a:r>
            <a:r>
              <a:rPr lang="en-US" sz="1600" dirty="0"/>
              <a:t> da </a:t>
            </a:r>
            <a:r>
              <a:rPr lang="en-US" sz="1600" dirty="0" err="1"/>
              <a:t>União</a:t>
            </a:r>
            <a:r>
              <a:rPr lang="en-US" sz="1600" dirty="0"/>
              <a:t> das </a:t>
            </a:r>
            <a:r>
              <a:rPr lang="en-US" sz="1600" dirty="0" err="1"/>
              <a:t>Mulheres</a:t>
            </a:r>
            <a:r>
              <a:rPr lang="en-US" sz="1600" dirty="0"/>
              <a:t>. </a:t>
            </a:r>
            <a:r>
              <a:rPr lang="en-US" sz="1600" dirty="0" err="1"/>
              <a:t>Defensora</a:t>
            </a:r>
            <a:r>
              <a:rPr lang="en-US" sz="1600" dirty="0"/>
              <a:t> da </a:t>
            </a:r>
            <a:r>
              <a:rPr lang="en-US" sz="1600" dirty="0" err="1"/>
              <a:t>igualdade</a:t>
            </a:r>
            <a:r>
              <a:rPr lang="en-US" sz="1600" dirty="0"/>
              <a:t> </a:t>
            </a:r>
            <a:r>
              <a:rPr lang="en-US" sz="1600" dirty="0" err="1"/>
              <a:t>salarial</a:t>
            </a:r>
            <a:r>
              <a:rPr lang="en-US" sz="1600" dirty="0"/>
              <a:t> e da </a:t>
            </a:r>
            <a:r>
              <a:rPr lang="en-US" sz="1600" dirty="0" err="1"/>
              <a:t>autogestão</a:t>
            </a:r>
            <a:r>
              <a:rPr lang="en-US" sz="16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André Léo - </a:t>
            </a:r>
            <a:r>
              <a:rPr lang="en-US" sz="1600" dirty="0" err="1"/>
              <a:t>Jornalista</a:t>
            </a:r>
            <a:r>
              <a:rPr lang="en-US" sz="1600" dirty="0"/>
              <a:t> e </a:t>
            </a:r>
            <a:r>
              <a:rPr lang="en-US" sz="1600" dirty="0" err="1"/>
              <a:t>feminista</a:t>
            </a:r>
            <a:r>
              <a:rPr lang="en-US" sz="1600" dirty="0"/>
              <a:t>. </a:t>
            </a:r>
            <a:r>
              <a:rPr lang="en-US" sz="1600" dirty="0" err="1"/>
              <a:t>Escreveu</a:t>
            </a:r>
            <a:r>
              <a:rPr lang="en-US" sz="1600" dirty="0"/>
              <a:t> </a:t>
            </a:r>
            <a:r>
              <a:rPr lang="en-US" sz="1600" dirty="0" err="1"/>
              <a:t>textos</a:t>
            </a:r>
            <a:r>
              <a:rPr lang="en-US" sz="1600" dirty="0"/>
              <a:t> </a:t>
            </a:r>
            <a:r>
              <a:rPr lang="en-US" sz="1600" dirty="0" err="1"/>
              <a:t>fundamentais</a:t>
            </a:r>
            <a:r>
              <a:rPr lang="en-US" sz="1600" dirty="0"/>
              <a:t> </a:t>
            </a:r>
            <a:r>
              <a:rPr lang="en-US" sz="1600" dirty="0" err="1"/>
              <a:t>defendendo</a:t>
            </a:r>
            <a:r>
              <a:rPr lang="en-US" sz="1600" dirty="0"/>
              <a:t> </a:t>
            </a:r>
            <a:r>
              <a:rPr lang="en-US" sz="1600" dirty="0" err="1"/>
              <a:t>direitos</a:t>
            </a:r>
            <a:r>
              <a:rPr lang="en-US" sz="1600" dirty="0"/>
              <a:t> </a:t>
            </a:r>
            <a:r>
              <a:rPr lang="en-US" sz="1600" dirty="0" err="1"/>
              <a:t>civis</a:t>
            </a:r>
            <a:r>
              <a:rPr lang="en-US" sz="1600" dirty="0"/>
              <a:t> para </a:t>
            </a:r>
            <a:r>
              <a:rPr lang="en-US" sz="1600" dirty="0" err="1"/>
              <a:t>mulheres</a:t>
            </a:r>
            <a:r>
              <a:rPr lang="en-US" sz="1600" dirty="0"/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5BEB76-9C02-E3A8-F104-D47F4F5BE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327" y="1268760"/>
            <a:ext cx="753166" cy="116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3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az armada">
            <a:extLst>
              <a:ext uri="{FF2B5EF4-FFF2-40B4-BE49-F238E27FC236}">
                <a16:creationId xmlns:a16="http://schemas.microsoft.com/office/drawing/2014/main" id="{91F662AD-474F-409B-88EF-EBF042076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548680"/>
            <a:ext cx="4800600" cy="53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CA9B90F-E574-4C67-AE7B-E3BA407FF2BF}"/>
              </a:ext>
            </a:extLst>
          </p:cNvPr>
          <p:cNvSpPr txBox="1"/>
          <p:nvPr/>
        </p:nvSpPr>
        <p:spPr>
          <a:xfrm>
            <a:off x="323528" y="2305615"/>
            <a:ext cx="2808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 surgimento da Alemanha e as novas tensões geopolíticas</a:t>
            </a:r>
          </a:p>
        </p:txBody>
      </p:sp>
    </p:spTree>
    <p:extLst>
      <p:ext uri="{BB962C8B-B14F-4D97-AF65-F5344CB8AC3E}">
        <p14:creationId xmlns:p14="http://schemas.microsoft.com/office/powerpoint/2010/main" val="114244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m para O NACIONALISMO DE BISMARCK">
            <a:extLst>
              <a:ext uri="{FF2B5EF4-FFF2-40B4-BE49-F238E27FC236}">
                <a16:creationId xmlns:a16="http://schemas.microsoft.com/office/drawing/2014/main" id="{333E474F-FEBA-4B67-8F80-84452438B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834" y="692696"/>
            <a:ext cx="3695700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m para primavera dos povos 1848">
            <a:extLst>
              <a:ext uri="{FF2B5EF4-FFF2-40B4-BE49-F238E27FC236}">
                <a16:creationId xmlns:a16="http://schemas.microsoft.com/office/drawing/2014/main" id="{A16217AA-CC30-41A0-969F-FEB161C21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5" y="476672"/>
            <a:ext cx="5350659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5AFE84A-3893-4CFB-B174-944962256597}"/>
              </a:ext>
            </a:extLst>
          </p:cNvPr>
          <p:cNvSpPr txBox="1"/>
          <p:nvPr/>
        </p:nvSpPr>
        <p:spPr>
          <a:xfrm>
            <a:off x="611560" y="4293096"/>
            <a:ext cx="410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Fig. 1 - Fraternidade (</a:t>
            </a:r>
            <a:r>
              <a:rPr lang="pt-BR" dirty="0" err="1"/>
              <a:t>Fraternité</a:t>
            </a:r>
            <a:r>
              <a:rPr lang="pt-BR" dirty="0"/>
              <a:t>). Litogravura de F. </a:t>
            </a:r>
            <a:r>
              <a:rPr lang="pt-BR" dirty="0" err="1"/>
              <a:t>Sorrieu</a:t>
            </a:r>
            <a:r>
              <a:rPr lang="pt-BR" dirty="0"/>
              <a:t>, 1848, França. Fig. 2 - O Guloso (</a:t>
            </a:r>
            <a:r>
              <a:rPr lang="pt-BR" dirty="0" err="1"/>
              <a:t>L´Ingordo</a:t>
            </a:r>
            <a:r>
              <a:rPr lang="pt-BR" dirty="0"/>
              <a:t>). Charge, 1915, Itália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5EEEBED-127F-432B-B622-7BE6B2B56F2D}"/>
              </a:ext>
            </a:extLst>
          </p:cNvPr>
          <p:cNvSpPr txBox="1"/>
          <p:nvPr/>
        </p:nvSpPr>
        <p:spPr>
          <a:xfrm>
            <a:off x="2483768" y="75982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Exercício de Fixação</a:t>
            </a:r>
          </a:p>
        </p:txBody>
      </p:sp>
    </p:spTree>
    <p:extLst>
      <p:ext uri="{BB962C8B-B14F-4D97-AF65-F5344CB8AC3E}">
        <p14:creationId xmlns:p14="http://schemas.microsoft.com/office/powerpoint/2010/main" val="3997377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83BBFAD-CC66-4995-B067-BC8A11F90C39}"/>
              </a:ext>
            </a:extLst>
          </p:cNvPr>
          <p:cNvSpPr txBox="1"/>
          <p:nvPr/>
        </p:nvSpPr>
        <p:spPr>
          <a:xfrm>
            <a:off x="179512" y="1196752"/>
            <a:ext cx="921702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 primeira imagem representa o sonho de construir repúblicas democráticas por toda Europa, em 1848. A marcha fraterna dos povos, cada qual com sua bandeira, simboliza os ideais nacionalistas em voga na primeira metade do século XIX. A segunda imagem retrata o Kaiser Guilherme II e caracteriza o nacionalismo exacerbado que alimentou todas as potências europeias entre 1890 e 1914, contribuindo para a eclosão da Primeira Grande Guerra. Com base nessas imagens e em seus conhecimentos: </a:t>
            </a:r>
          </a:p>
          <a:p>
            <a:pPr marL="342900" indent="-342900">
              <a:buAutoNum type="alphaLcParenR"/>
            </a:pPr>
            <a:r>
              <a:rPr lang="pt-BR" sz="2400" dirty="0"/>
              <a:t>INDIQUE duas diferenças entre o nacionalismo que caracterizou a "Primavera dos Povos" e o que conduziu à Primeira Guerra.</a:t>
            </a:r>
          </a:p>
          <a:p>
            <a:pPr marL="342900" indent="-342900">
              <a:buAutoNum type="alphaLcParenR"/>
            </a:pPr>
            <a:r>
              <a:rPr lang="pt-BR" sz="2400" dirty="0"/>
              <a:t> b) CITE duas rivalidades nacionalistas que ocorreram em solo europeu e que exemplifiquem o nacionalismo exacerbado caracterizado na segunda imagem.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1954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1238</Words>
  <Application>Microsoft Office PowerPoint</Application>
  <PresentationFormat>Apresentação na tela (4:3)</PresentationFormat>
  <Paragraphs>82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2º Tempo</vt:lpstr>
      <vt:lpstr>Apresentação do PowerPoint</vt:lpstr>
      <vt:lpstr>Problemas não resolvidos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</dc:creator>
  <cp:lastModifiedBy>Celso Aparecido Siracusa</cp:lastModifiedBy>
  <cp:revision>45</cp:revision>
  <dcterms:created xsi:type="dcterms:W3CDTF">2015-03-12T02:19:46Z</dcterms:created>
  <dcterms:modified xsi:type="dcterms:W3CDTF">2026-06-17T00:03:32Z</dcterms:modified>
</cp:coreProperties>
</file>