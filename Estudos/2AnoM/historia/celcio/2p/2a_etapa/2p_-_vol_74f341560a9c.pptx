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1" r:id="rId3"/>
    <p:sldId id="273" r:id="rId4"/>
    <p:sldId id="260" r:id="rId5"/>
    <p:sldId id="258" r:id="rId6"/>
    <p:sldId id="266" r:id="rId7"/>
    <p:sldId id="274" r:id="rId8"/>
    <p:sldId id="275" r:id="rId9"/>
    <p:sldId id="267" r:id="rId10"/>
    <p:sldId id="259" r:id="rId11"/>
    <p:sldId id="265" r:id="rId12"/>
    <p:sldId id="264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6E7D3-4653-4345-A7AA-44D903A8F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5F07D9-A028-4349-A173-0000E0B96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145D46-13B0-46E4-B25A-DE18CE6DF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54F1-5C20-4CEE-9536-D0F2BB1B453B}" type="datetimeFigureOut">
              <a:rPr lang="pt-BR" smtClean="0"/>
              <a:t>19/08/2024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2DD9AC-C54A-476F-A8F0-C97C89BC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3F25FC-8B5B-4DA9-B519-B96CDBF11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735B3-5A69-4984-85FC-90690ED688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536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6653C-C03D-401B-98B4-A69327CB9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733298-D905-4CB2-93E5-874FF5214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867AB5-70E8-4380-B489-A3290072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54F1-5C20-4CEE-9536-D0F2BB1B453B}" type="datetimeFigureOut">
              <a:rPr lang="pt-BR" smtClean="0"/>
              <a:t>19/08/2024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2EE4CC-DE46-4792-8CEE-9C1189440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667E8B-D513-466E-8A5D-B3C962D8E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735B3-5A69-4984-85FC-90690ED688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119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69A7EC-D777-4E5B-A272-6DD0403E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F81188-0AED-4E30-A523-A1FF87AE0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D75FBE-0552-45D4-9624-10C671A08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54F1-5C20-4CEE-9536-D0F2BB1B453B}" type="datetimeFigureOut">
              <a:rPr lang="pt-BR" smtClean="0"/>
              <a:t>19/08/2024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C21122-4A33-4DDB-9F86-E003104B7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8D496A-101E-476F-91F4-3CE26261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735B3-5A69-4984-85FC-90690ED688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552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97EB44-B44F-43B3-BB23-3631F3300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5D79F7-7F3F-40C0-909D-F67D5ABD4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8D3BC3-3D9A-4680-A8EE-12F39BCFD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2D9FED-B688-40CF-88BF-A360FAB0E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54F1-5C20-4CEE-9536-D0F2BB1B453B}" type="datetimeFigureOut">
              <a:rPr lang="pt-BR" smtClean="0"/>
              <a:t>19/08/2024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85F449-6731-4460-A3F1-2FAC47066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CFDE84-72E4-4313-A93D-A855550B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735B3-5A69-4984-85FC-90690ED688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0601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05E91-CB14-47BE-A270-6A8A5C65B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E535A2-2CE8-41F7-BB32-F83D614E0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C8577F-8F37-48D3-B82A-B02A8725B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055BC98-7132-441D-AB46-093FDCC85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7E24CFF-BCB1-4FCB-8201-81482342DA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3832187-C5B5-4EAE-8486-6A897EEE8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54F1-5C20-4CEE-9536-D0F2BB1B453B}" type="datetimeFigureOut">
              <a:rPr lang="pt-BR" smtClean="0"/>
              <a:t>19/08/2024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074103-45BD-4C44-B99E-314179A17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2D0B62D-A247-45D1-8476-A7B0FC57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735B3-5A69-4984-85FC-90690ED688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6229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08298-FE20-4092-A5E0-86E746066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5AE595D-373D-4445-9F7D-BB5181B78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54F1-5C20-4CEE-9536-D0F2BB1B453B}" type="datetimeFigureOut">
              <a:rPr lang="pt-BR" smtClean="0"/>
              <a:t>19/08/2024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81CF89A-3126-495E-89C6-AE78A2A92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D8DD6DB-0935-4EA0-8ECB-D108E50F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735B3-5A69-4984-85FC-90690ED688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55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16061F2-7509-4F22-ADA9-12DB71D01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54F1-5C20-4CEE-9536-D0F2BB1B453B}" type="datetimeFigureOut">
              <a:rPr lang="pt-BR" smtClean="0"/>
              <a:t>19/08/2024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3B0AA87-850B-4D9B-82AB-82AD93A3A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5EBA9A-B922-43A9-8EDA-FBED34BFE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735B3-5A69-4984-85FC-90690ED688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0191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B7A02-86F5-45A1-9791-8A15558CB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E6AB45-89C1-437D-BE22-ECC0C71CE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945F14-F3BD-4CA6-A3AA-2CB45867B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B206FC-856C-4526-93AC-9BDFA11BC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54F1-5C20-4CEE-9536-D0F2BB1B453B}" type="datetimeFigureOut">
              <a:rPr lang="pt-BR" smtClean="0"/>
              <a:t>19/08/2024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BDCA7C-3B0B-462E-AFD4-59D31C89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EEEB2A-2AB8-4AE5-919D-F82C0768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735B3-5A69-4984-85FC-90690ED688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4646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ADF741-72A4-42D7-AA0D-A4340144A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4D2A0BA-89AB-42E2-BDDE-3152154BF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28CC5D-20A8-445B-8003-709BC0B4F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B15DC1-0002-4962-9711-A9E9D3F36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54F1-5C20-4CEE-9536-D0F2BB1B453B}" type="datetimeFigureOut">
              <a:rPr lang="pt-BR" smtClean="0"/>
              <a:t>19/08/2024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4CABCD-CEFA-4C6A-A3EF-9A172DBCF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97DD20-D36C-4C58-B1B5-1E98715C3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735B3-5A69-4984-85FC-90690ED688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9765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7B0F2-F7A2-472A-A86A-12F94D738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7518637-F68C-415E-B018-9EBC5A4E8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941D00-E60E-43D5-9624-E0B081E1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54F1-5C20-4CEE-9536-D0F2BB1B453B}" type="datetimeFigureOut">
              <a:rPr lang="pt-BR" smtClean="0"/>
              <a:t>19/08/2024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59F7CB-7F46-404D-905E-E8BA7A19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A15218-3F06-4A2C-A34D-7760D090E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735B3-5A69-4984-85FC-90690ED688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817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73AE9E-D74A-4D7B-BA94-8A8D66FF48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A5F3BB-0565-438C-A945-BA52D2C3F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26C114-5224-42B1-9294-21E1595B6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D54F1-5C20-4CEE-9536-D0F2BB1B453B}" type="datetimeFigureOut">
              <a:rPr lang="pt-BR" smtClean="0"/>
              <a:t>19/08/2024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1BB065-4CEB-4B01-8247-249FE6A61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3E6E88-90C5-4CCB-89D3-B219AA132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735B3-5A69-4984-85FC-90690ED688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4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EF792CC-94CC-4140-B5C4-A600CE56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F17562-4ED9-4502-B707-732B46C9B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06E9E8-A251-4500-869F-9C4569BC3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D54F1-5C20-4CEE-9536-D0F2BB1B453B}" type="datetimeFigureOut">
              <a:rPr lang="pt-BR" smtClean="0"/>
              <a:t>19/08/2024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832D6F-9D98-4E0E-9EAB-390E6E404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7571FA-DE38-4181-B010-FBD49547B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735B3-5A69-4984-85FC-90690ED688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107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t:Eug%C3%A8ne_Delacroix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pt:Eug%C3%A8ne_Delacroix" TargetMode="External"/><Relationship Id="rId3" Type="http://schemas.openxmlformats.org/officeDocument/2006/relationships/hyperlink" Target="https://pt.wikipedia.org/wiki/Fran%C3%A7ois_G%C3%A9rard" TargetMode="External"/><Relationship Id="rId7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useodelprado.es/imagen/alta_resolucion/P03221.jpg" TargetMode="External"/><Relationship Id="rId5" Type="http://schemas.openxmlformats.org/officeDocument/2006/relationships/hyperlink" Target="https://en.wikipedia.org/wiki/pt:Fran%C3%A7ois_G%C3%A9rard" TargetMode="External"/><Relationship Id="rId4" Type="http://schemas.openxmlformats.org/officeDocument/2006/relationships/image" Target="../media/image3.jpeg"/><Relationship Id="rId9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hyperlink" Target="https://pt.wikipedia.org/wiki/Berlim" TargetMode="External"/><Relationship Id="rId7" Type="http://schemas.openxmlformats.org/officeDocument/2006/relationships/hyperlink" Target="https://pt.wikipedia.org/w/index.php?title=Henri_F%C3%A9lix_Emmanuel_Philippoteaux&amp;action=edit&amp;redlink=1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hyperlink" Target="https://pt.wikipedia.org/wiki/Hungria" TargetMode="External"/><Relationship Id="rId4" Type="http://schemas.openxmlformats.org/officeDocument/2006/relationships/hyperlink" Target="https://pt.wikipedia.org/w/index.php?title=Gyongyos&amp;action=edit&amp;redlink=1" TargetMode="External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hyperlink" Target="https://pt.wikipedia.org/wiki/Horace_Vernet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t.wikipedia.org/wiki/Revolu%C3%A7%C3%B5es_de_1848#cite_note-1" TargetMode="External"/><Relationship Id="rId5" Type="http://schemas.openxmlformats.org/officeDocument/2006/relationships/hyperlink" Target="https://pt.wikipedia.org/wiki/Pante%C3%A3o_(Paris)" TargetMode="Externa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Pante%C3%A3o_(Paris)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t.wikipedia.org/wiki/Horace_Vernet" TargetMode="External"/><Relationship Id="rId4" Type="http://schemas.openxmlformats.org/officeDocument/2006/relationships/hyperlink" Target="https://pt.wikipedia.org/wiki/Revolu%C3%A7%C3%B5es_de_1848#cite_note-1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Pante%C3%A3o_(Paris)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hyperlink" Target="https://pt.wikipedia.org/wiki/Horace_Vernet" TargetMode="External"/><Relationship Id="rId4" Type="http://schemas.openxmlformats.org/officeDocument/2006/relationships/hyperlink" Target="https://pt.wikipedia.org/wiki/Revolu%C3%A7%C3%B5es_de_1848#cite_note-1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Batalha_de_Sedan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veja.abril.com.br/ciencia/exame-de-dna-revela-que-napoleao-iii-nao-era-sobrinho-de-napoleao-bonaparte/" TargetMode="External"/><Relationship Id="rId5" Type="http://schemas.openxmlformats.org/officeDocument/2006/relationships/hyperlink" Target="https://pt.wikipedia.org/wiki/Wilhelm_Camphausen" TargetMode="External"/><Relationship Id="rId4" Type="http://schemas.openxmlformats.org/officeDocument/2006/relationships/hyperlink" Target="https://pt.wikipedia.org/wiki/%C3%93leo_sobre_tela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F265EF92-98CC-4844-BDCA-FA53024D8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24842"/>
            <a:ext cx="8953500" cy="610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3EAFE5F-B94B-4F60-B4C3-8730F4606E73}"/>
              </a:ext>
            </a:extLst>
          </p:cNvPr>
          <p:cNvSpPr/>
          <p:nvPr/>
        </p:nvSpPr>
        <p:spPr>
          <a:xfrm>
            <a:off x="1176444" y="6316201"/>
            <a:ext cx="56605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202122"/>
                </a:solidFill>
                <a:latin typeface="Arial" panose="020B0604020202020204" pitchFamily="34" charset="0"/>
              </a:rPr>
              <a:t>A Liberdade guiando o povo -</a:t>
            </a:r>
            <a:r>
              <a:rPr lang="pt-BR" dirty="0" err="1">
                <a:solidFill>
                  <a:srgbClr val="0B0080"/>
                </a:solidFill>
                <a:latin typeface="Arial" panose="020B0604020202020204" pitchFamily="34" charset="0"/>
                <a:hlinkClick r:id="rId3" tooltip="w:pt:Eugène Delacroix"/>
              </a:rPr>
              <a:t>Eugène</a:t>
            </a:r>
            <a:r>
              <a:rPr lang="pt-BR" dirty="0">
                <a:solidFill>
                  <a:srgbClr val="0B0080"/>
                </a:solidFill>
                <a:latin typeface="Arial" panose="020B0604020202020204" pitchFamily="34" charset="0"/>
                <a:hlinkClick r:id="rId3" tooltip="w:pt:Eugène Delacroix"/>
              </a:rPr>
              <a:t> </a:t>
            </a:r>
            <a:r>
              <a:rPr lang="pt-BR" dirty="0" err="1">
                <a:solidFill>
                  <a:srgbClr val="0B0080"/>
                </a:solidFill>
                <a:latin typeface="Arial" panose="020B0604020202020204" pitchFamily="34" charset="0"/>
                <a:hlinkClick r:id="rId3" tooltip="w:pt:Eugène Delacroix"/>
              </a:rPr>
              <a:t>Delacroix</a:t>
            </a:r>
            <a:r>
              <a:rPr lang="pt-BR" dirty="0">
                <a:solidFill>
                  <a:srgbClr val="54595D"/>
                </a:solidFill>
                <a:latin typeface="Arial" panose="020B0604020202020204" pitchFamily="34" charset="0"/>
              </a:rPr>
              <a:t>  1830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6074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8D2287E-ACAA-4CE3-ABE6-5C48C60B457D}"/>
              </a:ext>
            </a:extLst>
          </p:cNvPr>
          <p:cNvSpPr/>
          <p:nvPr/>
        </p:nvSpPr>
        <p:spPr>
          <a:xfrm>
            <a:off x="110395" y="66675"/>
            <a:ext cx="4185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  Capítulo 26 (Item 4 do livro)- página 590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C3DCBE-6AAC-47DA-93AD-2EECB98164A7}"/>
              </a:ext>
            </a:extLst>
          </p:cNvPr>
          <p:cNvSpPr txBox="1"/>
          <p:nvPr/>
        </p:nvSpPr>
        <p:spPr>
          <a:xfrm>
            <a:off x="3410524" y="436007"/>
            <a:ext cx="4047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FRANÇA NO SÉCULO XIX – (PÓS – NAPOLEÃO)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04F5155-60D4-437A-836E-4E4513A1787D}"/>
              </a:ext>
            </a:extLst>
          </p:cNvPr>
          <p:cNvSpPr txBox="1"/>
          <p:nvPr/>
        </p:nvSpPr>
        <p:spPr>
          <a:xfrm>
            <a:off x="374544" y="1439644"/>
            <a:ext cx="2162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1"/>
                </a:solidFill>
              </a:rPr>
              <a:t>Congresso de Viena (1815) restaura a Monarquia Bourbon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640FB9-99F9-4658-B43D-EFA833DC5AFD}"/>
              </a:ext>
            </a:extLst>
          </p:cNvPr>
          <p:cNvSpPr txBox="1"/>
          <p:nvPr/>
        </p:nvSpPr>
        <p:spPr>
          <a:xfrm>
            <a:off x="3017735" y="1348323"/>
            <a:ext cx="5553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Luís XVIII (1815/1824)- conciliação Monarquia e Liberalismo para evitar revoltas internas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C52AF98-E533-4F34-B8AD-A46F11D5E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496" y="69979"/>
            <a:ext cx="1272504" cy="183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FDF442E5-2511-4716-98F4-A3D33867662A}"/>
              </a:ext>
            </a:extLst>
          </p:cNvPr>
          <p:cNvSpPr/>
          <p:nvPr/>
        </p:nvSpPr>
        <p:spPr>
          <a:xfrm>
            <a:off x="8737496" y="1901309"/>
            <a:ext cx="17178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>
                <a:solidFill>
                  <a:srgbClr val="202122"/>
                </a:solidFill>
                <a:latin typeface="Arial" panose="020B0604020202020204" pitchFamily="34" charset="0"/>
              </a:rPr>
              <a:t>Luís XVIII -  1817, por </a:t>
            </a:r>
            <a:r>
              <a:rPr lang="pt-BR" sz="1000" dirty="0">
                <a:solidFill>
                  <a:srgbClr val="0B0080"/>
                </a:solidFill>
                <a:latin typeface="Arial" panose="020B0604020202020204" pitchFamily="34" charset="0"/>
                <a:hlinkClick r:id="rId3" tooltip="François Gérard"/>
              </a:rPr>
              <a:t>François Gérard</a:t>
            </a:r>
            <a:r>
              <a:rPr lang="pt-BR" sz="1000" dirty="0">
                <a:solidFill>
                  <a:srgbClr val="202122"/>
                </a:solidFill>
                <a:latin typeface="Arial" panose="020B0604020202020204" pitchFamily="34" charset="0"/>
              </a:rPr>
              <a:t>. no </a:t>
            </a:r>
            <a:r>
              <a:rPr lang="pt-BR" sz="1000" dirty="0" err="1">
                <a:solidFill>
                  <a:srgbClr val="202122"/>
                </a:solidFill>
                <a:latin typeface="Arial" panose="020B0604020202020204" pitchFamily="34" charset="0"/>
              </a:rPr>
              <a:t>Hôtel</a:t>
            </a:r>
            <a:r>
              <a:rPr lang="pt-BR" sz="1000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pt-BR" sz="1000" dirty="0" err="1">
                <a:solidFill>
                  <a:srgbClr val="202122"/>
                </a:solidFill>
                <a:latin typeface="Arial" panose="020B0604020202020204" pitchFamily="34" charset="0"/>
              </a:rPr>
              <a:t>Beauharnais</a:t>
            </a:r>
            <a:r>
              <a:rPr lang="pt-BR" sz="1200" dirty="0">
                <a:solidFill>
                  <a:srgbClr val="202122"/>
                </a:solidFill>
                <a:latin typeface="Arial" panose="020B0604020202020204" pitchFamily="34" charset="0"/>
              </a:rPr>
              <a:t>.</a:t>
            </a:r>
            <a:endParaRPr lang="pt-BR" sz="1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FD3D0C9-0993-4521-8B9D-3B093F02A695}"/>
              </a:ext>
            </a:extLst>
          </p:cNvPr>
          <p:cNvSpPr txBox="1"/>
          <p:nvPr/>
        </p:nvSpPr>
        <p:spPr>
          <a:xfrm>
            <a:off x="3028949" y="1967270"/>
            <a:ext cx="4829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1"/>
                </a:solidFill>
              </a:rPr>
              <a:t>Carlos X (1824/</a:t>
            </a:r>
            <a:r>
              <a:rPr lang="pt-BR" dirty="0">
                <a:solidFill>
                  <a:srgbClr val="FF0000"/>
                </a:solidFill>
              </a:rPr>
              <a:t>1830</a:t>
            </a:r>
            <a:r>
              <a:rPr lang="pt-BR" dirty="0">
                <a:solidFill>
                  <a:schemeClr val="accent1"/>
                </a:solidFill>
              </a:rPr>
              <a:t>) – tentativas de impor novamente uma Monarquia Absolutista, resgatando privilégios de nobreza, censurando a imprensa, </a:t>
            </a:r>
            <a:r>
              <a:rPr lang="pt-BR" dirty="0" err="1">
                <a:solidFill>
                  <a:schemeClr val="accent1"/>
                </a:solidFill>
              </a:rPr>
              <a:t>etc</a:t>
            </a:r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9" name="Chave Esquerda 8">
            <a:extLst>
              <a:ext uri="{FF2B5EF4-FFF2-40B4-BE49-F238E27FC236}">
                <a16:creationId xmlns:a16="http://schemas.microsoft.com/office/drawing/2014/main" id="{15A80627-99F8-4611-A59C-D736A7734AEC}"/>
              </a:ext>
            </a:extLst>
          </p:cNvPr>
          <p:cNvSpPr/>
          <p:nvPr/>
        </p:nvSpPr>
        <p:spPr>
          <a:xfrm>
            <a:off x="2992754" y="1355943"/>
            <a:ext cx="45719" cy="18116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E145BFC6-DEE6-4476-8A29-15D294D86EDF}"/>
              </a:ext>
            </a:extLst>
          </p:cNvPr>
          <p:cNvSpPr/>
          <p:nvPr/>
        </p:nvSpPr>
        <p:spPr>
          <a:xfrm>
            <a:off x="2536161" y="1994654"/>
            <a:ext cx="289908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974EDD6-29A7-4B88-9D19-9463A4885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5379" y="120864"/>
            <a:ext cx="1207243" cy="1729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08A2855A-C52D-47E7-88E1-6AE690E2887E}"/>
              </a:ext>
            </a:extLst>
          </p:cNvPr>
          <p:cNvSpPr/>
          <p:nvPr/>
        </p:nvSpPr>
        <p:spPr>
          <a:xfrm>
            <a:off x="10455379" y="1872169"/>
            <a:ext cx="1495425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000" dirty="0">
                <a:latin typeface="Arial" panose="020B0604020202020204" pitchFamily="34" charset="0"/>
                <a:hlinkClick r:id="rId5" tooltip="w:pt:François Gér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Carlos X – por </a:t>
            </a:r>
            <a:r>
              <a:rPr lang="fr-FR" sz="1000" dirty="0">
                <a:solidFill>
                  <a:schemeClr val="tx2"/>
                </a:solidFill>
                <a:latin typeface="Arial" panose="020B0604020202020204" pitchFamily="34" charset="0"/>
                <a:hlinkClick r:id="rId5" tooltip="w:pt:François Gér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François Gérard</a:t>
            </a:r>
            <a:r>
              <a:rPr lang="fr-FR" sz="1000" dirty="0">
                <a:solidFill>
                  <a:schemeClr val="tx2"/>
                </a:solidFill>
                <a:latin typeface="Arial" panose="020B0604020202020204" pitchFamily="34" charset="0"/>
              </a:rPr>
              <a:t> </a:t>
            </a:r>
            <a:r>
              <a:rPr lang="fr-FR" sz="1000" dirty="0">
                <a:latin typeface="Arial" panose="020B0604020202020204" pitchFamily="34" charset="0"/>
              </a:rPr>
              <a:t>- </a:t>
            </a:r>
            <a:r>
              <a:rPr lang="fr-FR" sz="1000" dirty="0">
                <a:latin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https://www.museodelprado.es/imagen/alta_resolucion/P03221.jpg</a:t>
            </a:r>
            <a:endParaRPr lang="pt-BR" sz="1000" dirty="0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22A2FF59-9825-4A4E-AF62-52F32927FF4C}"/>
              </a:ext>
            </a:extLst>
          </p:cNvPr>
          <p:cNvCxnSpPr>
            <a:cxnSpLocks/>
          </p:cNvCxnSpPr>
          <p:nvPr/>
        </p:nvCxnSpPr>
        <p:spPr>
          <a:xfrm>
            <a:off x="5112275" y="3428496"/>
            <a:ext cx="11464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9F5E87C-F50D-495A-A0B1-AA8D63D82BAF}"/>
              </a:ext>
            </a:extLst>
          </p:cNvPr>
          <p:cNvSpPr txBox="1"/>
          <p:nvPr/>
        </p:nvSpPr>
        <p:spPr>
          <a:xfrm>
            <a:off x="6294336" y="3121107"/>
            <a:ext cx="33021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Enfrenta uma nova reação revolucionária liberal/burguesa que  derruba seu governo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7C02B44-C323-4753-8728-341C8CC63AA5}"/>
              </a:ext>
            </a:extLst>
          </p:cNvPr>
          <p:cNvSpPr txBox="1"/>
          <p:nvPr/>
        </p:nvSpPr>
        <p:spPr>
          <a:xfrm>
            <a:off x="7334250" y="4387850"/>
            <a:ext cx="2727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>
                <a:solidFill>
                  <a:srgbClr val="FF0000"/>
                </a:solidFill>
              </a:rPr>
              <a:t>A REVOLUÇÃO DE 1830</a:t>
            </a:r>
            <a:endParaRPr lang="pt-BR" dirty="0">
              <a:solidFill>
                <a:srgbClr val="FF0000"/>
              </a:solidFill>
            </a:endParaRP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95AEB03-3681-414B-9E9A-1E213D82680F}"/>
              </a:ext>
            </a:extLst>
          </p:cNvPr>
          <p:cNvCxnSpPr/>
          <p:nvPr/>
        </p:nvCxnSpPr>
        <p:spPr>
          <a:xfrm>
            <a:off x="5112275" y="2960459"/>
            <a:ext cx="0" cy="4685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96310592-A91A-4FE1-B9DC-61F9A0EC9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61" y="3199896"/>
            <a:ext cx="4175762" cy="335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4C648EFA-0B24-4694-8E72-A7472F8624B3}"/>
              </a:ext>
            </a:extLst>
          </p:cNvPr>
          <p:cNvSpPr/>
          <p:nvPr/>
        </p:nvSpPr>
        <p:spPr>
          <a:xfrm>
            <a:off x="4448388" y="4921275"/>
            <a:ext cx="3216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202122"/>
                </a:solidFill>
                <a:latin typeface="Arial" panose="020B0604020202020204" pitchFamily="34" charset="0"/>
              </a:rPr>
              <a:t>“A Liberdade guiando o povo”</a:t>
            </a:r>
            <a:endParaRPr lang="pt-BR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D23EA56-BB24-4315-8EA7-868C4F86F17C}"/>
              </a:ext>
            </a:extLst>
          </p:cNvPr>
          <p:cNvSpPr/>
          <p:nvPr/>
        </p:nvSpPr>
        <p:spPr>
          <a:xfrm>
            <a:off x="4687372" y="5181600"/>
            <a:ext cx="2646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solidFill>
                  <a:srgbClr val="0B0080"/>
                </a:solidFill>
                <a:latin typeface="Arial" panose="020B0604020202020204" pitchFamily="34" charset="0"/>
                <a:hlinkClick r:id="rId8" tooltip="w:pt:Eugène Delacroix"/>
              </a:rPr>
              <a:t>Eugène</a:t>
            </a:r>
            <a:r>
              <a:rPr lang="pt-BR" dirty="0">
                <a:solidFill>
                  <a:srgbClr val="0B0080"/>
                </a:solidFill>
                <a:latin typeface="Arial" panose="020B0604020202020204" pitchFamily="34" charset="0"/>
                <a:hlinkClick r:id="rId8" tooltip="w:pt:Eugène Delacroix"/>
              </a:rPr>
              <a:t> </a:t>
            </a:r>
            <a:r>
              <a:rPr lang="pt-BR" dirty="0" err="1">
                <a:solidFill>
                  <a:srgbClr val="0B0080"/>
                </a:solidFill>
                <a:latin typeface="Arial" panose="020B0604020202020204" pitchFamily="34" charset="0"/>
                <a:hlinkClick r:id="rId8" tooltip="w:pt:Eugène Delacroix"/>
              </a:rPr>
              <a:t>Delacroix</a:t>
            </a:r>
            <a:r>
              <a:rPr lang="pt-BR" dirty="0">
                <a:solidFill>
                  <a:srgbClr val="54595D"/>
                </a:solidFill>
                <a:latin typeface="Arial" panose="020B0604020202020204" pitchFamily="34" charset="0"/>
              </a:rPr>
              <a:t>  1830</a:t>
            </a:r>
            <a:endParaRPr lang="pt-BR" dirty="0"/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7F313976-56BD-42BB-8FDB-28646E4B1252}"/>
              </a:ext>
            </a:extLst>
          </p:cNvPr>
          <p:cNvCxnSpPr/>
          <p:nvPr/>
        </p:nvCxnSpPr>
        <p:spPr>
          <a:xfrm flipV="1">
            <a:off x="6096000" y="4552950"/>
            <a:ext cx="1114425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7A780C8C-113C-4D0E-964F-FFCB2324564C}"/>
              </a:ext>
            </a:extLst>
          </p:cNvPr>
          <p:cNvCxnSpPr/>
          <p:nvPr/>
        </p:nvCxnSpPr>
        <p:spPr>
          <a:xfrm>
            <a:off x="7210425" y="4044437"/>
            <a:ext cx="247650" cy="340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CCD371E-57B7-4B41-9DF5-DFE025C8C40B}"/>
              </a:ext>
            </a:extLst>
          </p:cNvPr>
          <p:cNvSpPr txBox="1"/>
          <p:nvPr/>
        </p:nvSpPr>
        <p:spPr>
          <a:xfrm>
            <a:off x="7806776" y="5118460"/>
            <a:ext cx="2727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Governo Luís Filipe, </a:t>
            </a:r>
            <a:r>
              <a:rPr lang="pt-BR" b="1" u="sng" dirty="0"/>
              <a:t>o Rei Burguês</a:t>
            </a:r>
            <a:r>
              <a:rPr lang="pt-BR" dirty="0"/>
              <a:t> ( 1830/</a:t>
            </a:r>
            <a:r>
              <a:rPr lang="pt-BR" dirty="0">
                <a:solidFill>
                  <a:srgbClr val="FF0000"/>
                </a:solidFill>
              </a:rPr>
              <a:t>1848</a:t>
            </a:r>
            <a:r>
              <a:rPr lang="pt-BR" dirty="0"/>
              <a:t>) 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DF8599D-9387-4FF7-B552-316D349FD40D}"/>
              </a:ext>
            </a:extLst>
          </p:cNvPr>
          <p:cNvSpPr txBox="1"/>
          <p:nvPr/>
        </p:nvSpPr>
        <p:spPr>
          <a:xfrm>
            <a:off x="9833696" y="4233962"/>
            <a:ext cx="15869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Fim da dinastia Bourbon- Ascensão da Dinastia Orleans</a:t>
            </a:r>
          </a:p>
        </p:txBody>
      </p:sp>
      <p:pic>
        <p:nvPicPr>
          <p:cNvPr id="1032" name="Picture 8" descr="Revolução francesa de 1848 - Wikiwand">
            <a:extLst>
              <a:ext uri="{FF2B5EF4-FFF2-40B4-BE49-F238E27FC236}">
                <a16:creationId xmlns:a16="http://schemas.microsoft.com/office/drawing/2014/main" id="{37297303-7622-4D6B-88F5-0F8EDBDAF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6377" y="5001643"/>
            <a:ext cx="1274849" cy="1274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tângulo 28">
            <a:extLst>
              <a:ext uri="{FF2B5EF4-FFF2-40B4-BE49-F238E27FC236}">
                <a16:creationId xmlns:a16="http://schemas.microsoft.com/office/drawing/2014/main" id="{FFB54F2C-4F9D-49B7-BD19-A1A0C4FD662A}"/>
              </a:ext>
            </a:extLst>
          </p:cNvPr>
          <p:cNvSpPr/>
          <p:nvPr/>
        </p:nvSpPr>
        <p:spPr>
          <a:xfrm>
            <a:off x="10745080" y="6276492"/>
            <a:ext cx="158692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544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rei Luís Filipe I.</a:t>
            </a:r>
            <a:endParaRPr lang="pt-BR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BA5D569C-C8F5-4601-A20A-D8C26142673F}"/>
              </a:ext>
            </a:extLst>
          </p:cNvPr>
          <p:cNvCxnSpPr/>
          <p:nvPr/>
        </p:nvCxnSpPr>
        <p:spPr>
          <a:xfrm>
            <a:off x="7945386" y="4743450"/>
            <a:ext cx="427089" cy="362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63D6F53-58EE-4CA2-A5AA-7A1B9A61BC8F}"/>
              </a:ext>
            </a:extLst>
          </p:cNvPr>
          <p:cNvSpPr txBox="1"/>
          <p:nvPr/>
        </p:nvSpPr>
        <p:spPr>
          <a:xfrm>
            <a:off x="6863501" y="5885184"/>
            <a:ext cx="3456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Medidas liberais pró burguesia... Fortalece o Poder Legislativo baseado no voto censitário...</a:t>
            </a:r>
            <a:r>
              <a:rPr lang="pt-BR" dirty="0" err="1"/>
              <a:t>etc</a:t>
            </a:r>
            <a:endParaRPr lang="pt-BR" dirty="0"/>
          </a:p>
        </p:txBody>
      </p:sp>
      <p:sp>
        <p:nvSpPr>
          <p:cNvPr id="33" name="Seta: para Baixo 32">
            <a:extLst>
              <a:ext uri="{FF2B5EF4-FFF2-40B4-BE49-F238E27FC236}">
                <a16:creationId xmlns:a16="http://schemas.microsoft.com/office/drawing/2014/main" id="{4ADE4965-B8FC-4BD6-A55A-6FF3DB20AE54}"/>
              </a:ext>
            </a:extLst>
          </p:cNvPr>
          <p:cNvSpPr/>
          <p:nvPr/>
        </p:nvSpPr>
        <p:spPr>
          <a:xfrm>
            <a:off x="8503919" y="5712801"/>
            <a:ext cx="45719" cy="3071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08E9FDD-BF18-47AB-99E5-436BFA9F1041}"/>
              </a:ext>
            </a:extLst>
          </p:cNvPr>
          <p:cNvSpPr txBox="1"/>
          <p:nvPr/>
        </p:nvSpPr>
        <p:spPr>
          <a:xfrm>
            <a:off x="8120032" y="4757182"/>
            <a:ext cx="18852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/>
              <a:t>Instaura uma novo governo</a:t>
            </a:r>
          </a:p>
        </p:txBody>
      </p:sp>
    </p:spTree>
    <p:extLst>
      <p:ext uri="{BB962C8B-B14F-4D97-AF65-F5344CB8AC3E}">
        <p14:creationId xmlns:p14="http://schemas.microsoft.com/office/powerpoint/2010/main" val="1186694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9CA8BA8-DA35-4630-A145-9159E97D9712}"/>
              </a:ext>
            </a:extLst>
          </p:cNvPr>
          <p:cNvSpPr/>
          <p:nvPr/>
        </p:nvSpPr>
        <p:spPr>
          <a:xfrm>
            <a:off x="305391" y="1600454"/>
            <a:ext cx="34920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Algerian" panose="04020705040A02060702" pitchFamily="82" charset="0"/>
              </a:rPr>
              <a:t>PRIMAVERA DOS POVOS</a:t>
            </a:r>
            <a:endParaRPr lang="pt-BR" dirty="0">
              <a:latin typeface="Algerian" panose="04020705040A02060702" pitchFamily="82" charset="0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D5BA8F0F-A289-45F8-B874-0D1959CD5EC8}"/>
              </a:ext>
            </a:extLst>
          </p:cNvPr>
          <p:cNvCxnSpPr>
            <a:cxnSpLocks/>
          </p:cNvCxnSpPr>
          <p:nvPr/>
        </p:nvCxnSpPr>
        <p:spPr>
          <a:xfrm flipV="1">
            <a:off x="3552825" y="1308566"/>
            <a:ext cx="1431086" cy="695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8C3FD355-C67D-48D8-B617-EAAC7639C4F5}"/>
              </a:ext>
            </a:extLst>
          </p:cNvPr>
          <p:cNvSpPr txBox="1"/>
          <p:nvPr/>
        </p:nvSpPr>
        <p:spPr>
          <a:xfrm>
            <a:off x="5195886" y="574372"/>
            <a:ext cx="5010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A “Esquina do Mundo”</a:t>
            </a:r>
          </a:p>
          <a:p>
            <a:r>
              <a:rPr lang="pt-BR" dirty="0">
                <a:latin typeface="Arial Black" panose="020B0A04020102020204" pitchFamily="34" charset="0"/>
              </a:rPr>
              <a:t>A “Brecha no sistema de </a:t>
            </a:r>
            <a:r>
              <a:rPr lang="pt-BR" dirty="0" err="1">
                <a:latin typeface="Arial Black" panose="020B0A04020102020204" pitchFamily="34" charset="0"/>
              </a:rPr>
              <a:t>Metternich</a:t>
            </a:r>
            <a:r>
              <a:rPr lang="pt-BR" dirty="0">
                <a:latin typeface="Arial Black" panose="020B0A04020102020204" pitchFamily="34" charset="0"/>
              </a:rPr>
              <a:t>”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D5F177B-B10B-4102-A62B-95870FED7B21}"/>
              </a:ext>
            </a:extLst>
          </p:cNvPr>
          <p:cNvSpPr txBox="1"/>
          <p:nvPr/>
        </p:nvSpPr>
        <p:spPr>
          <a:xfrm>
            <a:off x="5347781" y="2526652"/>
            <a:ext cx="790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FF0000"/>
                </a:solidFill>
                <a:latin typeface="Arial Black" panose="020B0A04020102020204" pitchFamily="34" charset="0"/>
              </a:rPr>
              <a:t>ou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D97D22F-3001-4521-A10B-392E40E24A53}"/>
              </a:ext>
            </a:extLst>
          </p:cNvPr>
          <p:cNvSpPr txBox="1"/>
          <p:nvPr/>
        </p:nvSpPr>
        <p:spPr>
          <a:xfrm>
            <a:off x="4560048" y="2003957"/>
            <a:ext cx="154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rial Black" panose="020B0A04020102020204" pitchFamily="34" charset="0"/>
              </a:rPr>
              <a:t>1848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B3CD004-4F51-4C24-BC16-9F121E2FCAD7}"/>
              </a:ext>
            </a:extLst>
          </p:cNvPr>
          <p:cNvSpPr txBox="1"/>
          <p:nvPr/>
        </p:nvSpPr>
        <p:spPr>
          <a:xfrm>
            <a:off x="6572158" y="1708129"/>
            <a:ext cx="49434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Vários movimentos revolucionários explodem na Europa reagindo contra  a “ordem” imposta pelo Congresso de Viena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F6659ED-F0E3-4C75-ACBC-56179ED91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2606" y="3007609"/>
            <a:ext cx="2762250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A14BF671-A184-468C-83D6-8A74E1D7DC2E}"/>
              </a:ext>
            </a:extLst>
          </p:cNvPr>
          <p:cNvSpPr/>
          <p:nvPr/>
        </p:nvSpPr>
        <p:spPr>
          <a:xfrm>
            <a:off x="8316406" y="5205593"/>
            <a:ext cx="2762250" cy="5365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202122"/>
                </a:solidFill>
                <a:latin typeface="Arial" panose="020B0604020202020204" pitchFamily="34" charset="0"/>
              </a:rPr>
              <a:t>Revolta de 19 de março de 1848 em </a:t>
            </a:r>
            <a:r>
              <a:rPr lang="pt-BR" sz="1400" dirty="0">
                <a:solidFill>
                  <a:srgbClr val="0B0080"/>
                </a:solidFill>
                <a:latin typeface="Arial" panose="020B0604020202020204" pitchFamily="34" charset="0"/>
                <a:hlinkClick r:id="rId3" tooltip="Berlim"/>
              </a:rPr>
              <a:t>Berlim</a:t>
            </a:r>
            <a:endParaRPr lang="pt-BR" sz="1400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EFF333A-6079-4E2A-AF76-046298D6597B}"/>
              </a:ext>
            </a:extLst>
          </p:cNvPr>
          <p:cNvSpPr/>
          <p:nvPr/>
        </p:nvSpPr>
        <p:spPr>
          <a:xfrm>
            <a:off x="4417759" y="5577185"/>
            <a:ext cx="33564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202122"/>
                </a:solidFill>
                <a:latin typeface="Arial" panose="020B0604020202020204" pitchFamily="34" charset="0"/>
              </a:rPr>
              <a:t>Memorial da revolução de 1848 em </a:t>
            </a:r>
            <a:r>
              <a:rPr lang="pt-BR" sz="1400" dirty="0" err="1">
                <a:solidFill>
                  <a:srgbClr val="A55858"/>
                </a:solidFill>
                <a:latin typeface="Arial" panose="020B0604020202020204" pitchFamily="34" charset="0"/>
                <a:hlinkClick r:id="rId4" tooltip="Gyongyos (página não existe)"/>
              </a:rPr>
              <a:t>Gyongyos</a:t>
            </a:r>
            <a:r>
              <a:rPr lang="pt-BR" sz="1400" dirty="0">
                <a:solidFill>
                  <a:srgbClr val="202122"/>
                </a:solidFill>
                <a:latin typeface="Arial" panose="020B0604020202020204" pitchFamily="34" charset="0"/>
              </a:rPr>
              <a:t>, na </a:t>
            </a:r>
            <a:r>
              <a:rPr lang="pt-BR" sz="1400" u="sng" dirty="0">
                <a:solidFill>
                  <a:srgbClr val="FAA700"/>
                </a:solidFill>
                <a:latin typeface="Arial" panose="020B0604020202020204" pitchFamily="34" charset="0"/>
                <a:hlinkClick r:id="rId5" tooltip="Hungria"/>
              </a:rPr>
              <a:t>Hungria</a:t>
            </a:r>
            <a:endParaRPr lang="pt-BR" sz="14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42D40A2-3037-4D36-8EF0-5F1BD48C0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650" y="3159500"/>
            <a:ext cx="2969021" cy="2226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E7DCAD6D-C0DB-4C81-AE58-10E2CDC1A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583" y="6358108"/>
            <a:ext cx="4758553" cy="492443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900" b="0" i="1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Lamartine, em frente à Câmara Municipal de Paris, rejeita a bandeira vermelha em 25 de fevereiro de 1848</a:t>
            </a:r>
            <a:br>
              <a:rPr kumimoji="0" lang="pt-BR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pt-BR" altLang="pt-BR" sz="700" b="0" i="0" u="none" strike="noStrike" cap="none" normalizeH="0" baseline="0" dirty="0">
                <a:ln>
                  <a:noFill/>
                </a:ln>
                <a:solidFill>
                  <a:srgbClr val="A558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7" tooltip="Henri Félix Emmanuel Philippoteaux (página não existe)"/>
              </a:rPr>
              <a:t>Henri Félix Emmanuel </a:t>
            </a:r>
            <a:r>
              <a:rPr kumimoji="0" lang="pt-BR" altLang="pt-BR" sz="700" b="0" i="0" u="none" strike="noStrike" cap="none" normalizeH="0" baseline="0" dirty="0" err="1">
                <a:ln>
                  <a:noFill/>
                </a:ln>
                <a:solidFill>
                  <a:srgbClr val="A558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7" tooltip="Henri Félix Emmanuel Philippoteaux (página não existe)"/>
              </a:rPr>
              <a:t>Philippoteaux</a:t>
            </a:r>
            <a:r>
              <a:rPr kumimoji="0" lang="pt-BR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9" name="Picture 7">
            <a:extLst>
              <a:ext uri="{FF2B5EF4-FFF2-40B4-BE49-F238E27FC236}">
                <a16:creationId xmlns:a16="http://schemas.microsoft.com/office/drawing/2014/main" id="{AB876236-429E-43AC-A140-C35522144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90885"/>
            <a:ext cx="4210718" cy="213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9AC1A0D6-2E47-4101-8686-A2ADF226E976}"/>
              </a:ext>
            </a:extLst>
          </p:cNvPr>
          <p:cNvCxnSpPr>
            <a:cxnSpLocks/>
          </p:cNvCxnSpPr>
          <p:nvPr/>
        </p:nvCxnSpPr>
        <p:spPr>
          <a:xfrm>
            <a:off x="3974328" y="2262262"/>
            <a:ext cx="34770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BF3DEF9B-288A-4EEF-B00D-BCAA99DB730F}"/>
              </a:ext>
            </a:extLst>
          </p:cNvPr>
          <p:cNvSpPr/>
          <p:nvPr/>
        </p:nvSpPr>
        <p:spPr>
          <a:xfrm>
            <a:off x="5772168" y="2211929"/>
            <a:ext cx="276226" cy="45719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FFCED16-1269-42F6-9374-6DC62EA376CF}"/>
              </a:ext>
            </a:extLst>
          </p:cNvPr>
          <p:cNvSpPr/>
          <p:nvPr/>
        </p:nvSpPr>
        <p:spPr>
          <a:xfrm>
            <a:off x="-19050" y="147490"/>
            <a:ext cx="45790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 governo de Luís Filipe, após 18 anos à frente do Estado Francês,  é uma das vítimas  de uma onde revolucionária avassaladora que atinge vários países da Europa ao mesmo tempo</a:t>
            </a:r>
          </a:p>
        </p:txBody>
      </p:sp>
      <p:sp>
        <p:nvSpPr>
          <p:cNvPr id="13" name="Seta: para Baixo 12">
            <a:extLst>
              <a:ext uri="{FF2B5EF4-FFF2-40B4-BE49-F238E27FC236}">
                <a16:creationId xmlns:a16="http://schemas.microsoft.com/office/drawing/2014/main" id="{CA7FBD12-D824-492B-A4E3-96C4F48C215A}"/>
              </a:ext>
            </a:extLst>
          </p:cNvPr>
          <p:cNvSpPr/>
          <p:nvPr/>
        </p:nvSpPr>
        <p:spPr>
          <a:xfrm>
            <a:off x="1916685" y="1355117"/>
            <a:ext cx="45719" cy="223335"/>
          </a:xfrm>
          <a:prstGeom prst="downArrow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B43B83FE-8936-438E-B406-4479C7FEAF2B}"/>
              </a:ext>
            </a:extLst>
          </p:cNvPr>
          <p:cNvCxnSpPr>
            <a:cxnSpLocks/>
          </p:cNvCxnSpPr>
          <p:nvPr/>
        </p:nvCxnSpPr>
        <p:spPr>
          <a:xfrm>
            <a:off x="7407671" y="1448775"/>
            <a:ext cx="174229" cy="259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0965DB7D-F244-499F-83B7-A5640EB4ABD2}"/>
              </a:ext>
            </a:extLst>
          </p:cNvPr>
          <p:cNvSpPr/>
          <p:nvPr/>
        </p:nvSpPr>
        <p:spPr>
          <a:xfrm>
            <a:off x="1962404" y="2201458"/>
            <a:ext cx="45719" cy="2398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B56D948-D2F9-49CF-8EF2-2DED662AF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70" y="2007053"/>
            <a:ext cx="3227235" cy="212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7971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D90808-1A4A-4842-8C9B-BEC1A7DB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853440"/>
            <a:ext cx="1533467" cy="835025"/>
          </a:xfrm>
        </p:spPr>
        <p:txBody>
          <a:bodyPr>
            <a:normAutofit/>
          </a:bodyPr>
          <a:lstStyle/>
          <a:p>
            <a:r>
              <a:rPr lang="pt-BR" sz="2000" dirty="0">
                <a:solidFill>
                  <a:srgbClr val="FF0000"/>
                </a:solidFill>
              </a:rPr>
              <a:t>Motivos para essa sintonia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2AE0B7-6252-476D-8806-8E19EB4C8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9918" y="1007730"/>
            <a:ext cx="7105656" cy="1732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Crise  na produção agrária (a praga das batatas e uma sequência de colheitas comprometidas e prejudicadas)...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C2CE08AF-A2EA-47FD-9CF3-77424387DC60}"/>
              </a:ext>
            </a:extLst>
          </p:cNvPr>
          <p:cNvCxnSpPr/>
          <p:nvPr/>
        </p:nvCxnSpPr>
        <p:spPr>
          <a:xfrm>
            <a:off x="1019174" y="1659014"/>
            <a:ext cx="0" cy="552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3F070B96-D112-4CEE-9003-FD79333796D6}"/>
              </a:ext>
            </a:extLst>
          </p:cNvPr>
          <p:cNvSpPr txBox="1"/>
          <p:nvPr/>
        </p:nvSpPr>
        <p:spPr>
          <a:xfrm>
            <a:off x="70174" y="2275750"/>
            <a:ext cx="2705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/>
                </a:solidFill>
              </a:rPr>
              <a:t>Crise econômica e social </a:t>
            </a:r>
            <a:r>
              <a:rPr lang="pt-BR" dirty="0"/>
              <a:t>atinge em intensidades variadas várias economias ao mesmo tempo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AAFA3B2-4366-4A9E-8838-96058772B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13" y="4126263"/>
            <a:ext cx="2418436" cy="160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6F3D18E-4970-4AAC-AE0E-AB53870DF519}"/>
              </a:ext>
            </a:extLst>
          </p:cNvPr>
          <p:cNvSpPr txBox="1"/>
          <p:nvPr/>
        </p:nvSpPr>
        <p:spPr>
          <a:xfrm>
            <a:off x="35585" y="5782219"/>
            <a:ext cx="32471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tx2"/>
                </a:solidFill>
                <a:latin typeface="Arial Black" panose="020B0A04020102020204" pitchFamily="34" charset="0"/>
              </a:rPr>
              <a:t>A Fome na Irlanda gerada pela praga das batatas , gera mais de um milhão de mortos e milhões de imigrantes para os EUA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DDEB92D-9359-42C5-A579-1D3D9D9704DE}"/>
              </a:ext>
            </a:extLst>
          </p:cNvPr>
          <p:cNvSpPr txBox="1"/>
          <p:nvPr/>
        </p:nvSpPr>
        <p:spPr>
          <a:xfrm>
            <a:off x="333375" y="3417581"/>
            <a:ext cx="1557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1846-1848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D69788F-5E34-4F8D-809E-82D00A1EF61F}"/>
              </a:ext>
            </a:extLst>
          </p:cNvPr>
          <p:cNvSpPr/>
          <p:nvPr/>
        </p:nvSpPr>
        <p:spPr>
          <a:xfrm>
            <a:off x="3295643" y="258977"/>
            <a:ext cx="60452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rgbClr val="FF0000"/>
                </a:solidFill>
                <a:latin typeface="Arial Black" panose="020B0A04020102020204" pitchFamily="34" charset="0"/>
              </a:rPr>
              <a:t>A Crise dos anos 40  do século XIX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FDCE5C2-FA97-45D8-902C-7027D2DA4F71}"/>
              </a:ext>
            </a:extLst>
          </p:cNvPr>
          <p:cNvSpPr/>
          <p:nvPr/>
        </p:nvSpPr>
        <p:spPr>
          <a:xfrm>
            <a:off x="3538562" y="1796654"/>
            <a:ext cx="631028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/>
              <a:t>...gera surtos de fome e um processo inflacionário (</a:t>
            </a:r>
            <a:r>
              <a:rPr lang="pt-BR" sz="2000" b="1" dirty="0"/>
              <a:t>crise econômica </a:t>
            </a:r>
            <a:r>
              <a:rPr lang="pt-BR" sz="2000" dirty="0"/>
              <a:t>- retração na produção econômica) e </a:t>
            </a:r>
            <a:r>
              <a:rPr lang="pt-BR" sz="2000" b="1" dirty="0"/>
              <a:t>social</a:t>
            </a:r>
            <a:r>
              <a:rPr lang="pt-BR" sz="2000" dirty="0"/>
              <a:t> (fome, desemprego nas áreas urbanas com algumas falências nas manufaturas industriais).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DC31EE0-6A7E-4D14-9E32-7AB1EEAFD2C7}"/>
              </a:ext>
            </a:extLst>
          </p:cNvPr>
          <p:cNvSpPr txBox="1"/>
          <p:nvPr/>
        </p:nvSpPr>
        <p:spPr>
          <a:xfrm>
            <a:off x="4322088" y="3211888"/>
            <a:ext cx="56791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Reações sociais viram movimentos revolucionários animados por ideologias que surgiam nesse período (ideias socialistas, democráticas, liberais) , em alguns casos específicos, nacionalistas ( contexto italiano, </a:t>
            </a:r>
            <a:r>
              <a:rPr lang="pt-BR" sz="2000" dirty="0" err="1"/>
              <a:t>alemão,etc</a:t>
            </a:r>
            <a:r>
              <a:rPr lang="pt-BR" sz="2000" dirty="0"/>
              <a:t>). 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B264E092-9BD6-4F04-8D24-BF5D389B0E86}"/>
              </a:ext>
            </a:extLst>
          </p:cNvPr>
          <p:cNvCxnSpPr/>
          <p:nvPr/>
        </p:nvCxnSpPr>
        <p:spPr>
          <a:xfrm>
            <a:off x="4533900" y="1600200"/>
            <a:ext cx="171450" cy="196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15D94EE3-14BC-4565-AB2F-59DD0EACB299}"/>
              </a:ext>
            </a:extLst>
          </p:cNvPr>
          <p:cNvCxnSpPr/>
          <p:nvPr/>
        </p:nvCxnSpPr>
        <p:spPr>
          <a:xfrm>
            <a:off x="5724525" y="3067172"/>
            <a:ext cx="257175" cy="249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5444C1A7-70AB-449F-BEEA-D6C783DFB100}"/>
              </a:ext>
            </a:extLst>
          </p:cNvPr>
          <p:cNvCxnSpPr/>
          <p:nvPr/>
        </p:nvCxnSpPr>
        <p:spPr>
          <a:xfrm>
            <a:off x="6234125" y="4493041"/>
            <a:ext cx="542925" cy="44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C486411-8E61-4B01-A20E-FCB89C9DCC7E}"/>
              </a:ext>
            </a:extLst>
          </p:cNvPr>
          <p:cNvSpPr txBox="1"/>
          <p:nvPr/>
        </p:nvSpPr>
        <p:spPr>
          <a:xfrm>
            <a:off x="6686999" y="4976333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 Black" panose="020B0A04020102020204" pitchFamily="34" charset="0"/>
              </a:rPr>
              <a:t>Primavera dos Povos</a:t>
            </a:r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C2767A10-D1B4-446F-B5D5-F73E7FB9A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196" y="4562603"/>
            <a:ext cx="2375307" cy="1854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Ver a imagem de origem">
            <a:extLst>
              <a:ext uri="{FF2B5EF4-FFF2-40B4-BE49-F238E27FC236}">
                <a16:creationId xmlns:a16="http://schemas.microsoft.com/office/drawing/2014/main" id="{6AD3B641-933C-419A-AC6A-8D7A4705BB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89" b="214"/>
          <a:stretch/>
        </p:blipFill>
        <p:spPr bwMode="auto">
          <a:xfrm>
            <a:off x="3437970" y="4843104"/>
            <a:ext cx="3036957" cy="1973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5EBC0D5-EAE5-4BDB-9B1C-C497E6AB3A68}"/>
              </a:ext>
            </a:extLst>
          </p:cNvPr>
          <p:cNvSpPr txBox="1"/>
          <p:nvPr/>
        </p:nvSpPr>
        <p:spPr>
          <a:xfrm>
            <a:off x="333375" y="148231"/>
            <a:ext cx="17855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O “porquê” desses movimentos revolucionários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7DB3B1CD-9C6E-4ABB-9F47-E5743D1E2FD4}"/>
              </a:ext>
            </a:extLst>
          </p:cNvPr>
          <p:cNvCxnSpPr/>
          <p:nvPr/>
        </p:nvCxnSpPr>
        <p:spPr>
          <a:xfrm>
            <a:off x="1019174" y="853440"/>
            <a:ext cx="0" cy="15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232AC1C-5CBB-4AC9-8F49-142E7FD3AAFA}"/>
              </a:ext>
            </a:extLst>
          </p:cNvPr>
          <p:cNvCxnSpPr/>
          <p:nvPr/>
        </p:nvCxnSpPr>
        <p:spPr>
          <a:xfrm>
            <a:off x="1342531" y="3867150"/>
            <a:ext cx="0" cy="181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41308125-56F2-4C16-AE34-43AD07D98632}"/>
              </a:ext>
            </a:extLst>
          </p:cNvPr>
          <p:cNvCxnSpPr>
            <a:cxnSpLocks/>
          </p:cNvCxnSpPr>
          <p:nvPr/>
        </p:nvCxnSpPr>
        <p:spPr>
          <a:xfrm flipV="1">
            <a:off x="2551749" y="1514476"/>
            <a:ext cx="658169" cy="696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E9C8EB0E-FCF0-40B2-B3F1-2CC5B7990789}"/>
              </a:ext>
            </a:extLst>
          </p:cNvPr>
          <p:cNvCxnSpPr>
            <a:cxnSpLocks/>
          </p:cNvCxnSpPr>
          <p:nvPr/>
        </p:nvCxnSpPr>
        <p:spPr>
          <a:xfrm>
            <a:off x="2614579" y="2457670"/>
            <a:ext cx="9084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8C705FE1-9FE6-464A-8CA9-EDD0DF31B7E3}"/>
              </a:ext>
            </a:extLst>
          </p:cNvPr>
          <p:cNvCxnSpPr>
            <a:cxnSpLocks/>
          </p:cNvCxnSpPr>
          <p:nvPr/>
        </p:nvCxnSpPr>
        <p:spPr>
          <a:xfrm>
            <a:off x="2585980" y="2690397"/>
            <a:ext cx="1338320" cy="1291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 30">
            <a:extLst>
              <a:ext uri="{FF2B5EF4-FFF2-40B4-BE49-F238E27FC236}">
                <a16:creationId xmlns:a16="http://schemas.microsoft.com/office/drawing/2014/main" id="{385DF657-26FD-4432-B2F3-F91027F452BB}"/>
              </a:ext>
            </a:extLst>
          </p:cNvPr>
          <p:cNvSpPr/>
          <p:nvPr/>
        </p:nvSpPr>
        <p:spPr>
          <a:xfrm>
            <a:off x="8563873" y="6398968"/>
            <a:ext cx="3161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i="1" dirty="0"/>
              <a:t>Barricada na rua </a:t>
            </a:r>
            <a:r>
              <a:rPr lang="pt-BR" sz="1000" i="1" dirty="0" err="1"/>
              <a:t>Soufflot</a:t>
            </a:r>
            <a:r>
              <a:rPr lang="pt-BR" sz="1000" i="1" dirty="0"/>
              <a:t>.</a:t>
            </a:r>
            <a:r>
              <a:rPr lang="pt-BR" sz="1000" dirty="0"/>
              <a:t> O </a:t>
            </a:r>
            <a:r>
              <a:rPr lang="pt-BR" sz="1000" dirty="0">
                <a:hlinkClick r:id="rId5" tooltip="Panteão (Paris)"/>
              </a:rPr>
              <a:t>Panteão</a:t>
            </a:r>
            <a:r>
              <a:rPr lang="pt-BR" sz="1000" dirty="0"/>
              <a:t> é mostrado em segundo plano.</a:t>
            </a:r>
            <a:r>
              <a:rPr lang="pt-BR" sz="1000" baseline="30000" dirty="0">
                <a:hlinkClick r:id="rId6"/>
              </a:rPr>
              <a:t>[1]</a:t>
            </a:r>
            <a:r>
              <a:rPr lang="pt-BR" sz="1000" dirty="0"/>
              <a:t> </a:t>
            </a:r>
            <a:r>
              <a:rPr lang="pt-BR" sz="1000" dirty="0" err="1">
                <a:hlinkClick r:id="rId7" tooltip="Horace Vernet"/>
              </a:rPr>
              <a:t>Horace</a:t>
            </a:r>
            <a:r>
              <a:rPr lang="pt-BR" sz="1000" dirty="0">
                <a:hlinkClick r:id="rId7" tooltip="Horace Vernet"/>
              </a:rPr>
              <a:t> </a:t>
            </a:r>
            <a:r>
              <a:rPr lang="pt-BR" sz="1000" dirty="0" err="1">
                <a:hlinkClick r:id="rId7" tooltip="Horace Vernet"/>
              </a:rPr>
              <a:t>Vernet</a:t>
            </a:r>
            <a:r>
              <a:rPr lang="pt-BR" sz="1000" dirty="0"/>
              <a:t>, 1848</a:t>
            </a:r>
          </a:p>
        </p:txBody>
      </p:sp>
    </p:spTree>
    <p:extLst>
      <p:ext uri="{BB962C8B-B14F-4D97-AF65-F5344CB8AC3E}">
        <p14:creationId xmlns:p14="http://schemas.microsoft.com/office/powerpoint/2010/main" val="2190132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er a imagem de origem">
            <a:extLst>
              <a:ext uri="{FF2B5EF4-FFF2-40B4-BE49-F238E27FC236}">
                <a16:creationId xmlns:a16="http://schemas.microsoft.com/office/drawing/2014/main" id="{6060B379-CD85-4A2B-9972-930C91D4C9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89" b="214"/>
          <a:stretch/>
        </p:blipFill>
        <p:spPr bwMode="auto">
          <a:xfrm>
            <a:off x="9525" y="278192"/>
            <a:ext cx="9697692" cy="6301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A02CD4D-3F5C-4733-8DCC-BE28FFD1ACA2}"/>
              </a:ext>
            </a:extLst>
          </p:cNvPr>
          <p:cNvSpPr/>
          <p:nvPr/>
        </p:nvSpPr>
        <p:spPr>
          <a:xfrm>
            <a:off x="9972405" y="2072758"/>
            <a:ext cx="23434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</a:rPr>
              <a:t>République universelle, démocratique et sociale. Le pacte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2A6B722-AB6E-4693-9739-2D8C18D8CBED}"/>
              </a:ext>
            </a:extLst>
          </p:cNvPr>
          <p:cNvSpPr/>
          <p:nvPr/>
        </p:nvSpPr>
        <p:spPr>
          <a:xfrm>
            <a:off x="8040514" y="6591063"/>
            <a:ext cx="12843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</a:rPr>
              <a:t>Frédéric </a:t>
            </a:r>
            <a:r>
              <a:rPr lang="pt-BR" sz="1200" dirty="0" err="1">
                <a:latin typeface="Arial" panose="020B0604020202020204" pitchFamily="34" charset="0"/>
              </a:rPr>
              <a:t>Sorrieu</a:t>
            </a:r>
            <a:endParaRPr lang="pt-BR" sz="120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92F9382-FADB-4D03-9F2E-410D34F09D07}"/>
              </a:ext>
            </a:extLst>
          </p:cNvPr>
          <p:cNvSpPr/>
          <p:nvPr/>
        </p:nvSpPr>
        <p:spPr>
          <a:xfrm>
            <a:off x="1102979" y="6553737"/>
            <a:ext cx="75107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>
                <a:latin typeface="Arial" panose="020B0604020202020204" pitchFamily="34" charset="0"/>
              </a:rPr>
              <a:t>Lithographie en camaïeu gouachée. Paris, Imprimerie Lemercier, 1848</a:t>
            </a:r>
            <a:endParaRPr lang="pt-BR" sz="1600" dirty="0"/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38895BE6-A1DD-445F-BDC4-4C77512B1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C68089DB-410C-4D4E-BF00-B362A1A6A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715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BEA699F-7697-4940-9A3F-79D9502BD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6" y="334419"/>
            <a:ext cx="7305674" cy="5704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8D65554-AF9E-4CB3-9FDF-67CF802CE966}"/>
              </a:ext>
            </a:extLst>
          </p:cNvPr>
          <p:cNvSpPr txBox="1"/>
          <p:nvPr/>
        </p:nvSpPr>
        <p:spPr>
          <a:xfrm>
            <a:off x="320748" y="6106120"/>
            <a:ext cx="66134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Barricada na rua </a:t>
            </a:r>
            <a:r>
              <a:rPr lang="pt-BR" i="1" dirty="0" err="1"/>
              <a:t>Soufflot</a:t>
            </a:r>
            <a:r>
              <a:rPr lang="pt-BR" i="1" dirty="0"/>
              <a:t>.</a:t>
            </a:r>
            <a:r>
              <a:rPr lang="pt-BR" dirty="0"/>
              <a:t> O </a:t>
            </a:r>
            <a:r>
              <a:rPr lang="pt-BR" dirty="0">
                <a:hlinkClick r:id="rId3" tooltip="Panteão (Paris)"/>
              </a:rPr>
              <a:t>Panteão</a:t>
            </a:r>
            <a:r>
              <a:rPr lang="pt-BR" dirty="0"/>
              <a:t> é mostrado em segundo plano.</a:t>
            </a:r>
            <a:r>
              <a:rPr lang="pt-BR" baseline="30000" dirty="0">
                <a:hlinkClick r:id="rId4"/>
              </a:rPr>
              <a:t>[1]</a:t>
            </a:r>
            <a:r>
              <a:rPr lang="pt-BR" dirty="0"/>
              <a:t> </a:t>
            </a:r>
            <a:r>
              <a:rPr lang="pt-BR" dirty="0" err="1">
                <a:hlinkClick r:id="rId5" tooltip="Horace Vernet"/>
              </a:rPr>
              <a:t>Horace</a:t>
            </a:r>
            <a:r>
              <a:rPr lang="pt-BR" dirty="0">
                <a:hlinkClick r:id="rId5" tooltip="Horace Vernet"/>
              </a:rPr>
              <a:t> </a:t>
            </a:r>
            <a:r>
              <a:rPr lang="pt-BR" dirty="0" err="1">
                <a:hlinkClick r:id="rId5" tooltip="Horace Vernet"/>
              </a:rPr>
              <a:t>Vernet</a:t>
            </a:r>
            <a:r>
              <a:rPr lang="pt-BR" dirty="0"/>
              <a:t>, 1848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F7AE7F1-0626-46B9-8D11-73998D9313C5}"/>
              </a:ext>
            </a:extLst>
          </p:cNvPr>
          <p:cNvSpPr/>
          <p:nvPr/>
        </p:nvSpPr>
        <p:spPr>
          <a:xfrm>
            <a:off x="7448550" y="802123"/>
            <a:ext cx="45890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Na França, governo liberal burguês ( produto da revolução de 1830) de Luís Filipe é  derrubado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99D45C4-C613-4869-84FC-6094A7BFADBA}"/>
              </a:ext>
            </a:extLst>
          </p:cNvPr>
          <p:cNvSpPr/>
          <p:nvPr/>
        </p:nvSpPr>
        <p:spPr>
          <a:xfrm>
            <a:off x="7905751" y="1846659"/>
            <a:ext cx="353377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 Um governo provisório revolucionário, congregando várias forças políticas e ideológicas ( coalizão de socialistas, democratas, liberais) é gerado...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530F7A4-5EC5-4EC6-B66A-63CAE578E49D}"/>
              </a:ext>
            </a:extLst>
          </p:cNvPr>
          <p:cNvSpPr/>
          <p:nvPr/>
        </p:nvSpPr>
        <p:spPr>
          <a:xfrm>
            <a:off x="7833317" y="3831609"/>
            <a:ext cx="421580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Principais medidas : instauração do sufrágio universal masculino; criação das Oficinas Nacionais; permissão para a organização de sindicatos; redução da jornada de trabalho; direito à greve; eleição de uma Assembleia Constituinte; eleição para  Presidência da República, </a:t>
            </a:r>
            <a:r>
              <a:rPr lang="pt-BR" dirty="0" err="1"/>
              <a:t>etc</a:t>
            </a:r>
            <a:r>
              <a:rPr lang="pt-BR" dirty="0"/>
              <a:t>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31514DD-0281-4555-B591-E10C9C9E395F}"/>
              </a:ext>
            </a:extLst>
          </p:cNvPr>
          <p:cNvSpPr txBox="1"/>
          <p:nvPr/>
        </p:nvSpPr>
        <p:spPr>
          <a:xfrm>
            <a:off x="2419350" y="0"/>
            <a:ext cx="438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A Revolução em Paris - 1848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69FE5FED-D2A1-4F17-915D-06903BDB2B04}"/>
              </a:ext>
            </a:extLst>
          </p:cNvPr>
          <p:cNvCxnSpPr/>
          <p:nvPr/>
        </p:nvCxnSpPr>
        <p:spPr>
          <a:xfrm>
            <a:off x="8439150" y="1725453"/>
            <a:ext cx="114300" cy="189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60BC4CD2-8C5B-4AC8-BC88-A67766D2FE14}"/>
              </a:ext>
            </a:extLst>
          </p:cNvPr>
          <p:cNvCxnSpPr>
            <a:cxnSpLocks/>
          </p:cNvCxnSpPr>
          <p:nvPr/>
        </p:nvCxnSpPr>
        <p:spPr>
          <a:xfrm>
            <a:off x="9267825" y="3343276"/>
            <a:ext cx="200025" cy="407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78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92ACCCC-AF68-4FF3-BB79-9E51844F48B7}"/>
              </a:ext>
            </a:extLst>
          </p:cNvPr>
          <p:cNvSpPr txBox="1"/>
          <p:nvPr/>
        </p:nvSpPr>
        <p:spPr>
          <a:xfrm>
            <a:off x="161925" y="821590"/>
            <a:ext cx="3143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Liberais burgueses ampliam seu poder nessa “coalizão” política...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6893A73-67F7-4C52-AD0E-CC3CEF0D9EF7}"/>
              </a:ext>
            </a:extLst>
          </p:cNvPr>
          <p:cNvSpPr txBox="1"/>
          <p:nvPr/>
        </p:nvSpPr>
        <p:spPr>
          <a:xfrm>
            <a:off x="3933822" y="734109"/>
            <a:ext cx="3267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...ao serem maioria dos eleitos na Assembleia Constituinte...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96A2653-152F-465A-B4BF-9877C663082B}"/>
              </a:ext>
            </a:extLst>
          </p:cNvPr>
          <p:cNvSpPr/>
          <p:nvPr/>
        </p:nvSpPr>
        <p:spPr>
          <a:xfrm>
            <a:off x="3609971" y="1770786"/>
            <a:ext cx="65532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 </a:t>
            </a:r>
            <a:r>
              <a:rPr lang="pt-BR" b="1" dirty="0">
                <a:solidFill>
                  <a:schemeClr val="accent1"/>
                </a:solidFill>
              </a:rPr>
              <a:t>a maioria dos eleitores (voto universal masculino) são camponeses... sem lideranças, despolitizados (na leitura crítica de Marx) ... Possivelmente candidatos com mais recursos teriam mais chance de alcançá-los e , de alguma forma, envolvê-los...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C7B1431-8F69-4435-B26A-68A493E71B4C}"/>
              </a:ext>
            </a:extLst>
          </p:cNvPr>
          <p:cNvSpPr/>
          <p:nvPr/>
        </p:nvSpPr>
        <p:spPr>
          <a:xfrm>
            <a:off x="4067174" y="310583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O Domínio político de Liberais conservadores na Assembleia Constituinte gera uma “guinada” no governo... 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DDBE910-5CFE-4BBB-A125-DC0080FDAE7D}"/>
              </a:ext>
            </a:extLst>
          </p:cNvPr>
          <p:cNvSpPr txBox="1"/>
          <p:nvPr/>
        </p:nvSpPr>
        <p:spPr>
          <a:xfrm>
            <a:off x="4619624" y="1401070"/>
            <a:ext cx="2152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Possíveis  motivos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4402A05-1F6D-406C-9FB2-CD4ACAFB9296}"/>
              </a:ext>
            </a:extLst>
          </p:cNvPr>
          <p:cNvSpPr txBox="1"/>
          <p:nvPr/>
        </p:nvSpPr>
        <p:spPr>
          <a:xfrm>
            <a:off x="4276724" y="3897089"/>
            <a:ext cx="4991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...as “</a:t>
            </a:r>
            <a:r>
              <a:rPr lang="pt-BR" u="sng" dirty="0"/>
              <a:t>Oficinas Nacionais” são fechadas </a:t>
            </a:r>
            <a:r>
              <a:rPr lang="pt-BR" dirty="0"/>
              <a:t>e  algumas conquistas operárias são questionadas e ameaçadas...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310915D-8C3E-439C-925F-F6AD99766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1940677"/>
            <a:ext cx="2984435" cy="233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BBDC09FE-37E4-473E-9A78-E469271E283E}"/>
              </a:ext>
            </a:extLst>
          </p:cNvPr>
          <p:cNvSpPr txBox="1"/>
          <p:nvPr/>
        </p:nvSpPr>
        <p:spPr>
          <a:xfrm>
            <a:off x="3781420" y="136371"/>
            <a:ext cx="2486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FRANÇA EM CHAMAS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F0781D1-A67A-4AB1-A57B-2488778EEE93}"/>
              </a:ext>
            </a:extLst>
          </p:cNvPr>
          <p:cNvSpPr/>
          <p:nvPr/>
        </p:nvSpPr>
        <p:spPr>
          <a:xfrm>
            <a:off x="433383" y="545693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...gerando reações operárias em Paris (barricadas, tentativas de tomadas de prédios públicos, </a:t>
            </a:r>
            <a:r>
              <a:rPr lang="pt-BR" dirty="0" err="1"/>
              <a:t>etc</a:t>
            </a:r>
            <a:r>
              <a:rPr lang="pt-BR" dirty="0"/>
              <a:t>). A repressão</a:t>
            </a:r>
            <a:r>
              <a:rPr lang="pt-BR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pt-BR" sz="1200" b="1" dirty="0">
                <a:solidFill>
                  <a:srgbClr val="202122"/>
                </a:solidFill>
                <a:latin typeface="Arial" panose="020B0604020202020204" pitchFamily="34" charset="0"/>
              </a:rPr>
              <a:t>(General </a:t>
            </a:r>
            <a:r>
              <a:rPr lang="pt-BR" sz="1200" b="1" dirty="0" err="1">
                <a:solidFill>
                  <a:srgbClr val="202122"/>
                </a:solidFill>
                <a:latin typeface="Arial" panose="020B0604020202020204" pitchFamily="34" charset="0"/>
              </a:rPr>
              <a:t>Cavaignac</a:t>
            </a:r>
            <a:r>
              <a:rPr lang="pt-BR" sz="1200" b="1" dirty="0">
                <a:solidFill>
                  <a:srgbClr val="202122"/>
                </a:solidFill>
                <a:latin typeface="Arial" panose="020B0604020202020204" pitchFamily="34" charset="0"/>
              </a:rPr>
              <a:t>)</a:t>
            </a:r>
            <a:r>
              <a:rPr lang="pt-BR" dirty="0"/>
              <a:t> é implacável: três mil fuzilamentos e  cerca de quinze mil deportações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7752A50-6472-469A-9934-6DF99256A59F}"/>
              </a:ext>
            </a:extLst>
          </p:cNvPr>
          <p:cNvSpPr/>
          <p:nvPr/>
        </p:nvSpPr>
        <p:spPr>
          <a:xfrm>
            <a:off x="271459" y="4270990"/>
            <a:ext cx="2509841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b="1" i="1" dirty="0"/>
              <a:t>Barricada na rua </a:t>
            </a:r>
            <a:r>
              <a:rPr lang="pt-BR" sz="1050" b="1" i="1" dirty="0" err="1"/>
              <a:t>Soufflot</a:t>
            </a:r>
            <a:r>
              <a:rPr lang="pt-BR" sz="1050" b="1" i="1" dirty="0"/>
              <a:t>.</a:t>
            </a:r>
            <a:r>
              <a:rPr lang="pt-BR" sz="1050" b="1" dirty="0"/>
              <a:t> O </a:t>
            </a:r>
            <a:r>
              <a:rPr lang="pt-BR" sz="1050" b="1" dirty="0">
                <a:hlinkClick r:id="rId3" tooltip="Panteão (Paris)"/>
              </a:rPr>
              <a:t>Panteão</a:t>
            </a:r>
            <a:r>
              <a:rPr lang="pt-BR" sz="1050" b="1" dirty="0"/>
              <a:t> é mostrado em segundo plano.</a:t>
            </a:r>
            <a:r>
              <a:rPr lang="pt-BR" sz="1050" b="1" baseline="30000" dirty="0">
                <a:hlinkClick r:id="rId4"/>
              </a:rPr>
              <a:t>[1]</a:t>
            </a:r>
            <a:r>
              <a:rPr lang="pt-BR" sz="1050" b="1" dirty="0"/>
              <a:t> </a:t>
            </a:r>
            <a:r>
              <a:rPr lang="pt-BR" sz="1050" b="1" dirty="0" err="1">
                <a:hlinkClick r:id="rId5" tooltip="Horace Vernet"/>
              </a:rPr>
              <a:t>Horace</a:t>
            </a:r>
            <a:r>
              <a:rPr lang="pt-BR" sz="1050" b="1" dirty="0">
                <a:hlinkClick r:id="rId5" tooltip="Horace Vernet"/>
              </a:rPr>
              <a:t> </a:t>
            </a:r>
            <a:r>
              <a:rPr lang="pt-BR" sz="1050" b="1" dirty="0" err="1">
                <a:hlinkClick r:id="rId5" tooltip="Horace Vernet"/>
              </a:rPr>
              <a:t>Vernet</a:t>
            </a:r>
            <a:r>
              <a:rPr lang="pt-BR" sz="1050" b="1" dirty="0"/>
              <a:t>, 1848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964588B-E61A-4643-8C8A-9986E4EFBD01}"/>
              </a:ext>
            </a:extLst>
          </p:cNvPr>
          <p:cNvSpPr/>
          <p:nvPr/>
        </p:nvSpPr>
        <p:spPr>
          <a:xfrm>
            <a:off x="7115174" y="4987315"/>
            <a:ext cx="46005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Durante esse ambiente repressivo, ocorre a eleição presidencial ( fins de 1948). Luís Bonaparte, candidato do Partido da Ordem, apoiado pela alta burguesia e pelo voto camponês, é eleito.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1B63A269-2ABD-438B-9199-945517D0C25E}"/>
              </a:ext>
            </a:extLst>
          </p:cNvPr>
          <p:cNvCxnSpPr/>
          <p:nvPr/>
        </p:nvCxnSpPr>
        <p:spPr>
          <a:xfrm>
            <a:off x="3390900" y="1124068"/>
            <a:ext cx="3905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27F1986B-25AC-4FAD-9600-092D29A2439C}"/>
              </a:ext>
            </a:extLst>
          </p:cNvPr>
          <p:cNvCxnSpPr/>
          <p:nvPr/>
        </p:nvCxnSpPr>
        <p:spPr>
          <a:xfrm>
            <a:off x="6096000" y="1401070"/>
            <a:ext cx="0" cy="343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9CB5EBA9-E7D0-4A3E-8DCC-DDB5DFB2712E}"/>
              </a:ext>
            </a:extLst>
          </p:cNvPr>
          <p:cNvCxnSpPr/>
          <p:nvPr/>
        </p:nvCxnSpPr>
        <p:spPr>
          <a:xfrm>
            <a:off x="5334000" y="2971115"/>
            <a:ext cx="0" cy="134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9351C521-B894-4291-A06F-F27A4DE74075}"/>
              </a:ext>
            </a:extLst>
          </p:cNvPr>
          <p:cNvCxnSpPr/>
          <p:nvPr/>
        </p:nvCxnSpPr>
        <p:spPr>
          <a:xfrm>
            <a:off x="5438775" y="3752164"/>
            <a:ext cx="0" cy="144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F415A9F3-9D50-4738-ADF4-8782054251EF}"/>
              </a:ext>
            </a:extLst>
          </p:cNvPr>
          <p:cNvCxnSpPr/>
          <p:nvPr/>
        </p:nvCxnSpPr>
        <p:spPr>
          <a:xfrm flipH="1">
            <a:off x="4362450" y="4848071"/>
            <a:ext cx="400050" cy="4954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5D964CCA-4E10-47C0-9021-FB2F868E0B48}"/>
              </a:ext>
            </a:extLst>
          </p:cNvPr>
          <p:cNvCxnSpPr/>
          <p:nvPr/>
        </p:nvCxnSpPr>
        <p:spPr>
          <a:xfrm flipV="1">
            <a:off x="1654142" y="4848071"/>
            <a:ext cx="0" cy="6088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664C1DF3-3B2C-4C12-B7EB-DA002FF740F1}"/>
              </a:ext>
            </a:extLst>
          </p:cNvPr>
          <p:cNvCxnSpPr/>
          <p:nvPr/>
        </p:nvCxnSpPr>
        <p:spPr>
          <a:xfrm>
            <a:off x="6886572" y="4676775"/>
            <a:ext cx="314323" cy="310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>
            <a:extLst>
              <a:ext uri="{FF2B5EF4-FFF2-40B4-BE49-F238E27FC236}">
                <a16:creationId xmlns:a16="http://schemas.microsoft.com/office/drawing/2014/main" id="{1D9D4E9E-649C-483B-BCB3-D9C9E11E7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0166" y="1572221"/>
            <a:ext cx="1991332" cy="2163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tângulo 30">
            <a:extLst>
              <a:ext uri="{FF2B5EF4-FFF2-40B4-BE49-F238E27FC236}">
                <a16:creationId xmlns:a16="http://schemas.microsoft.com/office/drawing/2014/main" id="{C83DB9EE-A6DC-4325-9CE5-89FE2129F151}"/>
              </a:ext>
            </a:extLst>
          </p:cNvPr>
          <p:cNvSpPr/>
          <p:nvPr/>
        </p:nvSpPr>
        <p:spPr>
          <a:xfrm>
            <a:off x="10048562" y="3735532"/>
            <a:ext cx="19913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rgbClr val="202122"/>
                </a:solidFill>
                <a:latin typeface="Arial" panose="020B0604020202020204" pitchFamily="34" charset="0"/>
              </a:rPr>
              <a:t>Xilogravura publicada na </a:t>
            </a:r>
            <a:r>
              <a:rPr lang="pt-BR" sz="900" i="1" dirty="0" err="1">
                <a:solidFill>
                  <a:srgbClr val="202122"/>
                </a:solidFill>
                <a:latin typeface="Arial" panose="020B0604020202020204" pitchFamily="34" charset="0"/>
              </a:rPr>
              <a:t>Illustrierte</a:t>
            </a:r>
            <a:r>
              <a:rPr lang="pt-BR" sz="900" i="1" dirty="0">
                <a:solidFill>
                  <a:srgbClr val="202122"/>
                </a:solidFill>
                <a:latin typeface="Arial" panose="020B0604020202020204" pitchFamily="34" charset="0"/>
              </a:rPr>
              <a:t> Zeitung</a:t>
            </a:r>
            <a:r>
              <a:rPr lang="pt-BR" sz="900" dirty="0">
                <a:solidFill>
                  <a:srgbClr val="202122"/>
                </a:solidFill>
                <a:latin typeface="Arial" panose="020B0604020202020204" pitchFamily="34" charset="0"/>
              </a:rPr>
              <a:t> mostrando as eleições de 1848 na França. Dois meninos lutam, um por Luís Napoleão e o outro, por </a:t>
            </a:r>
            <a:r>
              <a:rPr lang="pt-BR" sz="900" dirty="0" err="1">
                <a:solidFill>
                  <a:srgbClr val="202122"/>
                </a:solidFill>
                <a:latin typeface="Arial" panose="020B0604020202020204" pitchFamily="34" charset="0"/>
              </a:rPr>
              <a:t>Cavaignac</a:t>
            </a:r>
            <a:r>
              <a:rPr lang="pt-BR" dirty="0">
                <a:solidFill>
                  <a:srgbClr val="202122"/>
                </a:solidFill>
                <a:latin typeface="Arial" panose="020B0604020202020204" pitchFamily="34" charset="0"/>
              </a:rPr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4578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3DCE4F1-4F75-46F4-AB17-D4ED70A7B04E}"/>
              </a:ext>
            </a:extLst>
          </p:cNvPr>
          <p:cNvSpPr/>
          <p:nvPr/>
        </p:nvSpPr>
        <p:spPr>
          <a:xfrm>
            <a:off x="4157662" y="1414696"/>
            <a:ext cx="593883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Baseado na retórica de resgate da grandeza imperial, imita os passos do tio e , no fim do mandato, fecha o Parlamento legitimando seu ato via plebiscito( 1851). Em 1852, via novo plebiscito, reinstaura o Império como Napoleão III. </a:t>
            </a:r>
          </a:p>
          <a:p>
            <a:r>
              <a:rPr lang="pt-BR" sz="2400" dirty="0"/>
              <a:t>Esses eventos serão conhecidos como o “</a:t>
            </a:r>
            <a:r>
              <a:rPr lang="pt-BR" sz="2400" dirty="0">
                <a:solidFill>
                  <a:srgbClr val="FF0000"/>
                </a:solidFill>
              </a:rPr>
              <a:t>18 Brumário de Luís Bonaparte”</a:t>
            </a:r>
          </a:p>
        </p:txBody>
      </p:sp>
      <p:pic>
        <p:nvPicPr>
          <p:cNvPr id="6146" name="Picture 2" descr="PROJETO HISTÓRIA: História Contemporânea: 0 18 BRUMÁRIO DE LUIS ...">
            <a:extLst>
              <a:ext uri="{FF2B5EF4-FFF2-40B4-BE49-F238E27FC236}">
                <a16:creationId xmlns:a16="http://schemas.microsoft.com/office/drawing/2014/main" id="{0B8DB647-F2C7-4726-9D2A-5BE63E6F0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3006778"/>
            <a:ext cx="2466975" cy="385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A2F2EBE-ADFC-4501-8CDE-C408C057DDB1}"/>
              </a:ext>
            </a:extLst>
          </p:cNvPr>
          <p:cNvSpPr txBox="1"/>
          <p:nvPr/>
        </p:nvSpPr>
        <p:spPr>
          <a:xfrm>
            <a:off x="3805237" y="296137"/>
            <a:ext cx="4362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Da  2ª República  para o 2º Império</a:t>
            </a:r>
          </a:p>
        </p:txBody>
      </p:sp>
      <p:pic>
        <p:nvPicPr>
          <p:cNvPr id="6148" name="Picture 4" descr="Napoleão III de França – Wikipédia, a enciclopédia livre">
            <a:extLst>
              <a:ext uri="{FF2B5EF4-FFF2-40B4-BE49-F238E27FC236}">
                <a16:creationId xmlns:a16="http://schemas.microsoft.com/office/drawing/2014/main" id="{64111FE5-7AE0-4455-9495-FEA72297A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52634"/>
            <a:ext cx="1754949" cy="244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F928FDF-3911-4037-BCC8-83C175C0CA23}"/>
              </a:ext>
            </a:extLst>
          </p:cNvPr>
          <p:cNvSpPr txBox="1"/>
          <p:nvPr/>
        </p:nvSpPr>
        <p:spPr>
          <a:xfrm>
            <a:off x="2374074" y="787946"/>
            <a:ext cx="1783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Presidente Luís Bonaparte(1848)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673914-7379-46C9-809F-F69094A31287}"/>
              </a:ext>
            </a:extLst>
          </p:cNvPr>
          <p:cNvSpPr txBox="1"/>
          <p:nvPr/>
        </p:nvSpPr>
        <p:spPr>
          <a:xfrm>
            <a:off x="3135486" y="5120138"/>
            <a:ext cx="1912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Imperador Luís Bonaparte (1851)</a:t>
            </a:r>
          </a:p>
        </p:txBody>
      </p:sp>
    </p:spTree>
    <p:extLst>
      <p:ext uri="{BB962C8B-B14F-4D97-AF65-F5344CB8AC3E}">
        <p14:creationId xmlns:p14="http://schemas.microsoft.com/office/powerpoint/2010/main" val="2026029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1CAD486-BABB-4D37-959A-698FA0A18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831" y="1376364"/>
            <a:ext cx="3985843" cy="250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B4458AB-D681-4209-B472-5CAEF9BDBBC8}"/>
              </a:ext>
            </a:extLst>
          </p:cNvPr>
          <p:cNvSpPr txBox="1"/>
          <p:nvPr/>
        </p:nvSpPr>
        <p:spPr>
          <a:xfrm>
            <a:off x="8448675" y="4281307"/>
            <a:ext cx="316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Napoleão III e Otto von Bismarck na manhã seguinte à </a:t>
            </a:r>
            <a:r>
              <a:rPr lang="pt-BR" b="1" dirty="0">
                <a:hlinkClick r:id="rId3" tooltip="Batalha de Sedan"/>
              </a:rPr>
              <a:t>Batalha de Sedan</a:t>
            </a:r>
            <a:r>
              <a:rPr lang="pt-BR" b="1" dirty="0"/>
              <a:t>, </a:t>
            </a:r>
            <a:r>
              <a:rPr lang="pt-BR" b="1" dirty="0">
                <a:hlinkClick r:id="rId4" tooltip="Óleo sobre tela"/>
              </a:rPr>
              <a:t>óleo sobre tela</a:t>
            </a:r>
            <a:r>
              <a:rPr lang="pt-BR" b="1" dirty="0"/>
              <a:t> de </a:t>
            </a:r>
            <a:r>
              <a:rPr lang="pt-BR" b="1" dirty="0">
                <a:hlinkClick r:id="rId5" tooltip="Wilhelm Camphausen"/>
              </a:rPr>
              <a:t>Wilhelm </a:t>
            </a:r>
            <a:r>
              <a:rPr lang="pt-BR" b="1" dirty="0" err="1">
                <a:hlinkClick r:id="rId5" tooltip="Wilhelm Camphausen"/>
              </a:rPr>
              <a:t>Camphausen</a:t>
            </a:r>
            <a:r>
              <a:rPr lang="pt-BR" b="1" dirty="0"/>
              <a:t>.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EE4ECF-A57B-4391-8DEC-B5431D6C2BC6}"/>
              </a:ext>
            </a:extLst>
          </p:cNvPr>
          <p:cNvSpPr txBox="1"/>
          <p:nvPr/>
        </p:nvSpPr>
        <p:spPr>
          <a:xfrm>
            <a:off x="386131" y="928689"/>
            <a:ext cx="75057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- Governo de Napoleão III adotará um governo favorável ao desenvolvimento capitalista industrial, atendendo aos interesses da alta burguesia.</a:t>
            </a:r>
          </a:p>
          <a:p>
            <a:r>
              <a:rPr lang="pt-BR" sz="2400" dirty="0"/>
              <a:t>- No plano externo, adotará uma política imperialista e de apoio ambíguo às iniciativas nacionalistas ( apoia Piemonte em seu projeto expansionista na Itália, mas também , sob pressão, apoia e protege o Papa , ameaçado pelos conflitos; é contra o expansionismo prussiano, principal condutor da unificação alemã).</a:t>
            </a:r>
          </a:p>
          <a:p>
            <a:r>
              <a:rPr lang="pt-BR" sz="2400" dirty="0"/>
              <a:t>- Derrotado na Guerra Franco-Prussiana (1871), onde tentava impedir a formação do Império Alemão, é deposto.  - A França é invadida e humilhada, com várias imposições alemãs. Em Paris, operários assumem temporariamente o poder na Comuna de Paris (1871). (Maiores detalhes na próxima aula sobre Unificações)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A375218-4EC8-4B3F-9A83-97E6CE78C534}"/>
              </a:ext>
            </a:extLst>
          </p:cNvPr>
          <p:cNvSpPr txBox="1"/>
          <p:nvPr/>
        </p:nvSpPr>
        <p:spPr>
          <a:xfrm>
            <a:off x="1543050" y="495300"/>
            <a:ext cx="476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FF0000"/>
                </a:solidFill>
              </a:rPr>
              <a:t>Da 2ª República para o 2º Império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FDC7152-804A-4AAE-AEF5-9E3672FE8093}"/>
              </a:ext>
            </a:extLst>
          </p:cNvPr>
          <p:cNvSpPr txBox="1"/>
          <p:nvPr/>
        </p:nvSpPr>
        <p:spPr>
          <a:xfrm>
            <a:off x="78657" y="6442894"/>
            <a:ext cx="14120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Fake News ...</a:t>
            </a:r>
            <a:r>
              <a:rPr lang="pt-BR" dirty="0">
                <a:hlinkClick r:id="rId6"/>
              </a:rPr>
              <a:t> https://veja.abril.com.br/ciencia/exame-de-dna-revela-que-napoleao-iii-nao-era-sobrinho-de-napoleao-bonaparte/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4415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1650"/>
          </a:xfrm>
        </p:spPr>
        <p:txBody>
          <a:bodyPr>
            <a:normAutofit fontScale="90000"/>
          </a:bodyPr>
          <a:lstStyle/>
          <a:p>
            <a:r>
              <a:rPr lang="pt-BR" dirty="0"/>
              <a:t>Exercícios de Fixação -  Primavera dos Povos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104900"/>
            <a:ext cx="10515600" cy="5219700"/>
          </a:xfrm>
        </p:spPr>
        <p:txBody>
          <a:bodyPr>
            <a:normAutofit lnSpcReduction="10000"/>
          </a:bodyPr>
          <a:lstStyle/>
          <a:p>
            <a:r>
              <a:rPr lang="pt-BR" dirty="0" err="1"/>
              <a:t>Pucrj</a:t>
            </a:r>
            <a:r>
              <a:rPr lang="pt-BR" dirty="0"/>
              <a:t>)  No texto </a:t>
            </a:r>
            <a:r>
              <a:rPr lang="pt-BR" i="1" dirty="0"/>
              <a:t>Lembranças de 1848</a:t>
            </a:r>
            <a:r>
              <a:rPr lang="pt-BR" dirty="0"/>
              <a:t>, o escritor e parlamentar francês Alexis de </a:t>
            </a:r>
            <a:r>
              <a:rPr lang="pt-BR" dirty="0" err="1"/>
              <a:t>Tocqueville</a:t>
            </a:r>
            <a:r>
              <a:rPr lang="pt-BR" dirty="0"/>
              <a:t> observava sobre as insurreições parisienses de junho de 1848:</a:t>
            </a:r>
          </a:p>
          <a:p>
            <a:r>
              <a:rPr lang="pt-BR" dirty="0"/>
              <a:t>“[...] o que a distinguia ainda, entre todos os acontecimentos do gênero que se sucederam nos últimos sessenta anos na França, foi que ela não teve por objetivo mudar a forma de governo, mas alterar a ordem da sociedade. Não foi, para dizer a verdade, uma luta política (no sentido que até então tínhamos dado à palavra), mas um combate de classe”.</a:t>
            </a:r>
          </a:p>
          <a:p>
            <a:r>
              <a:rPr lang="pt-BR" b="1" dirty="0"/>
              <a:t> </a:t>
            </a:r>
            <a:r>
              <a:rPr lang="pt-BR" dirty="0"/>
              <a:t>a)</a:t>
            </a:r>
            <a:r>
              <a:rPr lang="pt-BR" b="1" dirty="0"/>
              <a:t> Identifique </a:t>
            </a:r>
            <a:r>
              <a:rPr lang="pt-BR" dirty="0"/>
              <a:t>as forças que protagonizaram o “combate de classe” a que se refere Tocqueville.</a:t>
            </a:r>
          </a:p>
          <a:p>
            <a:r>
              <a:rPr lang="pt-BR" dirty="0"/>
              <a:t>b)</a:t>
            </a:r>
            <a:r>
              <a:rPr lang="pt-BR" b="1" dirty="0"/>
              <a:t> Explique </a:t>
            </a:r>
            <a:r>
              <a:rPr lang="pt-BR" dirty="0"/>
              <a:t>duas demandas políticas e sociais que distinguiam a Revolução de 1848 da Revolução de 1789. 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568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346050"/>
          </a:xfrm>
        </p:spPr>
        <p:txBody>
          <a:bodyPr>
            <a:normAutofit fontScale="90000"/>
          </a:bodyPr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3825" y="752475"/>
            <a:ext cx="11915775" cy="663696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(</a:t>
            </a:r>
            <a:r>
              <a:rPr lang="pt-BR" dirty="0" err="1"/>
              <a:t>Fgv</a:t>
            </a:r>
            <a:r>
              <a:rPr lang="pt-BR" dirty="0"/>
              <a:t>)  “(...) os homens que naquele momento estavam encarregados de pôr termo à Revolução de 1848 eram precisamente os mesmos que fizeram a de 30. (...)</a:t>
            </a:r>
          </a:p>
          <a:p>
            <a:r>
              <a:rPr lang="pt-BR" dirty="0"/>
              <a:t>O que a distinguia ainda, entre todos os acontecimentos que se sucederam nos últimos sessenta anos na França, foi que ela não teve por objetivo mudar a forma, mas alterar a ordem da sociedade. Não foi, para dizer a verdade, uma luta política (...), mas um embate de classe (...).</a:t>
            </a:r>
          </a:p>
          <a:p>
            <a:r>
              <a:rPr lang="pt-BR" dirty="0"/>
              <a:t>Havia se assegurado às pessoas pobres que o bem dos ricos era de alguma maneira o produto de um roubo cujas vítimas eram elas (...).</a:t>
            </a:r>
          </a:p>
          <a:p>
            <a:r>
              <a:rPr lang="pt-BR" dirty="0"/>
              <a:t>É preciso assinalar ainda que essa insurreição terrível não foi fruto da ação de certo número de conspiradores, mas a sublevação de toda uma população contra outra (...).”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(Alexis de </a:t>
            </a:r>
            <a:r>
              <a:rPr lang="pt-BR" dirty="0" err="1"/>
              <a:t>Tocqueville</a:t>
            </a:r>
            <a:r>
              <a:rPr lang="pt-BR" dirty="0"/>
              <a:t>, </a:t>
            </a:r>
            <a:r>
              <a:rPr lang="pt-BR" i="1" dirty="0"/>
              <a:t>Lembranças de 1848</a:t>
            </a:r>
            <a:r>
              <a:rPr lang="pt-BR" dirty="0"/>
              <a:t>. 1991)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49065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27C462C-E565-4A5D-9622-5E434EF959E8}"/>
              </a:ext>
            </a:extLst>
          </p:cNvPr>
          <p:cNvSpPr/>
          <p:nvPr/>
        </p:nvSpPr>
        <p:spPr>
          <a:xfrm>
            <a:off x="123825" y="809626"/>
            <a:ext cx="12068175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A partir do texto, é correto afirmar que </a:t>
            </a:r>
          </a:p>
          <a:p>
            <a:r>
              <a:rPr lang="pt-BR" sz="2400" dirty="0"/>
              <a:t>a) a revolução limitou-se, em 1848, a apelos políticos, no sentido de a classe burguesa, líder do movimento, atrair as classes populares para a luta, contra o absolutismo de Carlos X, usando as ideias liberais como combustível para a implantação do Estado liberal.   </a:t>
            </a:r>
          </a:p>
          <a:p>
            <a:r>
              <a:rPr lang="pt-BR" sz="2400" dirty="0"/>
              <a:t>b) a revolução de 1848, liderada pelos homens de 1830, isto é, a classe burguesa, tinha como maiores objetivos a queda de Luís Bonaparte e a vitória das ideias socialistas, pregadas nos banquetes e nas barricadas contra o rei e contra a nobreza.   </a:t>
            </a:r>
          </a:p>
          <a:p>
            <a:r>
              <a:rPr lang="pt-BR" sz="2400" dirty="0"/>
              <a:t>c) a revolução de 1848, influenciada pelo socialismo utópico, significou a luta entre a classe burguesa, líder da revolução de 1830, e as classes populares que, cada vez mais organizadas na campanha dos banquetes e nas barricadas, forçaram a queda do rei Luís Felipe.   </a:t>
            </a:r>
          </a:p>
          <a:p>
            <a:r>
              <a:rPr lang="pt-BR" sz="2400" dirty="0"/>
              <a:t>d) os líderes revolucionários de 1848, os mesmos da revolução de 1830, sob forte propaganda das ideias liberais e influenciados pela luta política, convocaram e obtiveram o apoio das classes populares, no Parlamento, contra o rei Luís Felipe.   </a:t>
            </a:r>
          </a:p>
          <a:p>
            <a:r>
              <a:rPr lang="pt-BR" sz="2400" dirty="0"/>
              <a:t>e) o rei Luís Felipe, no trono francês entre 1830 e 1848, foi derrubado por uma bem orquestrada luta política no Parlamento, que uniu liberais e socialistas, vitoriosa para essa aliança, que formou o governo provisório e elegeu o presidente Luís Bonaparte.   </a:t>
            </a:r>
          </a:p>
        </p:txBody>
      </p:sp>
    </p:spTree>
    <p:extLst>
      <p:ext uri="{BB962C8B-B14F-4D97-AF65-F5344CB8AC3E}">
        <p14:creationId xmlns:p14="http://schemas.microsoft.com/office/powerpoint/2010/main" val="7335528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1625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Algerian</vt:lpstr>
      <vt:lpstr>Arial</vt:lpstr>
      <vt:lpstr>Arial Black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Motivos para essa sintonia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Exercícios de Fixação -  Primavera dos Povos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Celso Siracusa</dc:creator>
  <cp:lastModifiedBy>Celso A. Siracusa</cp:lastModifiedBy>
  <cp:revision>44</cp:revision>
  <dcterms:created xsi:type="dcterms:W3CDTF">2020-03-19T15:04:01Z</dcterms:created>
  <dcterms:modified xsi:type="dcterms:W3CDTF">2024-08-20T02:28:16Z</dcterms:modified>
</cp:coreProperties>
</file>