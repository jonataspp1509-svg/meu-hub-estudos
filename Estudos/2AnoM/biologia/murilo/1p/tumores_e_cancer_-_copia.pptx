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5"/>
  </p:notesMasterIdLst>
  <p:sldIdLst>
    <p:sldId id="256" r:id="rId2"/>
    <p:sldId id="259" r:id="rId3"/>
    <p:sldId id="265" r:id="rId4"/>
    <p:sldId id="266" r:id="rId5"/>
    <p:sldId id="267" r:id="rId6"/>
    <p:sldId id="281" r:id="rId7"/>
    <p:sldId id="268" r:id="rId8"/>
    <p:sldId id="277" r:id="rId9"/>
    <p:sldId id="287" r:id="rId10"/>
    <p:sldId id="289" r:id="rId11"/>
    <p:sldId id="288" r:id="rId12"/>
    <p:sldId id="290" r:id="rId13"/>
    <p:sldId id="29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5A7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9451" autoAdjust="0"/>
  </p:normalViewPr>
  <p:slideViewPr>
    <p:cSldViewPr snapToGrid="0" snapToObjects="1">
      <p:cViewPr varScale="1">
        <p:scale>
          <a:sx n="62" d="100"/>
          <a:sy n="62" d="100"/>
        </p:scale>
        <p:origin x="1626" y="2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55326A-4FAD-48E2-AA32-67C192560C3E}" type="datetimeFigureOut">
              <a:rPr lang="pt-BR" smtClean="0"/>
              <a:t>17/02/2026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02C721-227A-42B8-B195-FD74DD4FBA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754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57319"/>
            <a:ext cx="8915400" cy="877824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034553"/>
            <a:ext cx="8001000" cy="3823447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292608" tIns="91440" rIns="274320" bIns="91440" rtlCol="0" anchor="t" anchorCtr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1CFD-BFF0-48BC-9BA5-4974D7A6AB15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A694-00EB-4F4B-AABB-6F50FB17891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1CFD-BFF0-48BC-9BA5-4974D7A6AB15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A694-00EB-4F4B-AABB-6F50FB17891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025435"/>
            <a:ext cx="8915400" cy="914400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943600"/>
            <a:ext cx="8001000" cy="914400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91440" rIns="274320" bIns="91440" rtlCol="0" anchor="t" anchorCtr="0"/>
          <a:lstStyle>
            <a:lvl1pPr marL="0" indent="0" algn="l" defTabSz="914400" rtl="0" eaLnBrk="1" latinLnBrk="0" hangingPunct="1">
              <a:spcBef>
                <a:spcPts val="300"/>
              </a:spcBef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1CFD-BFF0-48BC-9BA5-4974D7A6AB15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27100" y="1129553"/>
            <a:ext cx="7988300" cy="38862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x-none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399"/>
            <a:ext cx="8915400" cy="2286000"/>
          </a:xfrm>
          <a:solidFill>
            <a:schemeClr val="tx2"/>
          </a:solidFill>
        </p:spPr>
        <p:txBody>
          <a:bodyPr vert="horz" lIns="1188720" tIns="45720" rIns="274320" bIns="45720" rtlCol="0" anchor="b" anchorCtr="0">
            <a:norm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5484607"/>
            <a:ext cx="8001000" cy="777240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292608" tIns="91440" rIns="274320" bIns="9144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1CFD-BFF0-48BC-9BA5-4974D7A6AB15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A694-00EB-4F4B-AABB-6F50FB17891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2595563"/>
            <a:ext cx="3566160" cy="368141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055813" indent="-344488">
              <a:defRPr sz="1800"/>
            </a:lvl6pPr>
            <a:lvl7pPr marL="2055813" indent="-344488">
              <a:defRPr sz="1800"/>
            </a:lvl7pPr>
            <a:lvl8pPr marL="2055813" indent="-344488">
              <a:defRPr sz="1800"/>
            </a:lvl8pPr>
            <a:lvl9pPr marL="2055813" indent="-344488"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7534" y="2595563"/>
            <a:ext cx="3566160" cy="368141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055813" indent="-344488">
              <a:defRPr sz="1800"/>
            </a:lvl6pPr>
            <a:lvl7pPr marL="2055813" indent="-344488">
              <a:defRPr sz="1800"/>
            </a:lvl7pPr>
            <a:lvl8pPr marL="2055813" indent="-344488">
              <a:defRPr sz="1800"/>
            </a:lvl8pPr>
            <a:lvl9pPr marL="2055813" indent="-344488"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80094" y="188259"/>
            <a:ext cx="2133600" cy="365125"/>
          </a:xfrm>
        </p:spPr>
        <p:txBody>
          <a:bodyPr/>
          <a:lstStyle/>
          <a:p>
            <a:fld id="{70BA1CFD-BFF0-48BC-9BA5-4974D7A6AB15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A694-00EB-4F4B-AABB-6F50FB17891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588" y="2017713"/>
            <a:ext cx="3566160" cy="877887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588" y="3065929"/>
            <a:ext cx="3566160" cy="321104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055813" indent="-344488">
              <a:defRPr sz="1600"/>
            </a:lvl6pPr>
            <a:lvl7pPr marL="2055813" indent="-344488">
              <a:defRPr sz="1600"/>
            </a:lvl7pPr>
            <a:lvl8pPr marL="2055813" indent="-344488">
              <a:defRPr sz="1600"/>
            </a:lvl8pPr>
            <a:lvl9pPr marL="2055813" indent="-344488"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47534" y="2017713"/>
            <a:ext cx="3566160" cy="877887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47534" y="3065929"/>
            <a:ext cx="3566160" cy="321104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055813" indent="-344488">
              <a:defRPr sz="1600"/>
            </a:lvl6pPr>
            <a:lvl7pPr marL="2055813" indent="-344488">
              <a:defRPr sz="1600"/>
            </a:lvl7pPr>
            <a:lvl8pPr marL="2055813" indent="-344488">
              <a:defRPr sz="1600"/>
            </a:lvl8pPr>
            <a:lvl9pPr marL="2055813" indent="-344488"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580094" y="188259"/>
            <a:ext cx="2133600" cy="365125"/>
          </a:xfrm>
        </p:spPr>
        <p:txBody>
          <a:bodyPr/>
          <a:lstStyle/>
          <a:p>
            <a:fld id="{70BA1CFD-BFF0-48BC-9BA5-4974D7A6AB15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20588" y="188259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A694-00EB-4F4B-AABB-6F50FB178914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212028" y="2904565"/>
            <a:ext cx="3383280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238974" y="2904565"/>
            <a:ext cx="3383280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212028" y="2904565"/>
            <a:ext cx="3383280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5238974" y="2904565"/>
            <a:ext cx="3383280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212028" y="2904565"/>
            <a:ext cx="3383280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238974" y="2904565"/>
            <a:ext cx="3383280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1CFD-BFF0-48BC-9BA5-4974D7A6AB15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A694-00EB-4F4B-AABB-6F50FB17891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1CFD-BFF0-48BC-9BA5-4974D7A6AB15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A694-00EB-4F4B-AABB-6F50FB17891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4712"/>
            <a:ext cx="8915400" cy="914400"/>
          </a:xfrm>
          <a:solidFill>
            <a:schemeClr val="tx2"/>
          </a:solidFill>
        </p:spPr>
        <p:txBody>
          <a:bodyPr vert="horz" lIns="1188720" tIns="45720" rIns="274320" bIns="45720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7534" y="2590800"/>
            <a:ext cx="3566160" cy="368617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055813" indent="-344488">
              <a:defRPr sz="2000"/>
            </a:lvl6pPr>
            <a:lvl7pPr marL="2055813" indent="-344488">
              <a:defRPr sz="2000"/>
            </a:lvl7pPr>
            <a:lvl8pPr marL="2055813" indent="-344488">
              <a:defRPr sz="2000"/>
            </a:lvl8pPr>
            <a:lvl9pPr marL="2055813" indent="-344488"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0952" y="2039111"/>
            <a:ext cx="3566160" cy="4224528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292608" tIns="274320" rIns="274320" bIns="274320" rtlCol="0" anchor="t" anchorCtr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80094" y="188259"/>
            <a:ext cx="2133600" cy="365125"/>
          </a:xfrm>
        </p:spPr>
        <p:txBody>
          <a:bodyPr/>
          <a:lstStyle/>
          <a:p>
            <a:fld id="{70BA1CFD-BFF0-48BC-9BA5-4974D7A6AB15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A694-00EB-4F4B-AABB-6F50FB17891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4712"/>
            <a:ext cx="8915400" cy="914400"/>
          </a:xfrm>
          <a:solidFill>
            <a:schemeClr val="tx2"/>
          </a:solidFill>
        </p:spPr>
        <p:txBody>
          <a:bodyPr vert="horz" lIns="1188720" tIns="45720" rIns="274320" bIns="45720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487987" y="2048256"/>
            <a:ext cx="3427413" cy="420624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039112"/>
            <a:ext cx="4572000" cy="4224528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292608" tIns="274320" rIns="274320" bIns="274320" rtlCol="0" anchor="t" anchorCtr="0">
            <a:normAutofit/>
          </a:bodyPr>
          <a:lstStyle>
            <a:lvl1pPr marL="0" indent="0"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None/>
            </a:pPr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80094" y="188259"/>
            <a:ext cx="2133600" cy="365125"/>
          </a:xfrm>
        </p:spPr>
        <p:txBody>
          <a:bodyPr/>
          <a:lstStyle/>
          <a:p>
            <a:fld id="{70BA1CFD-BFF0-48BC-9BA5-4974D7A6AB15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A694-00EB-4F4B-AABB-6F50FB17891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114800"/>
            <a:ext cx="8915400" cy="877824"/>
          </a:xfrm>
        </p:spPr>
        <p:txBody>
          <a:bodyPr tIns="137160" bIns="137160" anchor="b" anchorCtr="0">
            <a:normAutofit/>
          </a:bodyPr>
          <a:lstStyle>
            <a:lvl1pPr>
              <a:defRPr sz="2400"/>
            </a:lvl1pPr>
          </a:lstStyle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002305"/>
            <a:ext cx="8001000" cy="1855695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137160" rIns="274320" bIns="137160" rtlCol="0" anchor="t" anchorCtr="0">
            <a:normAutofit/>
          </a:bodyPr>
          <a:lstStyle>
            <a:lvl1pPr marL="0" indent="0" algn="l" defTabSz="914400" rtl="0" eaLnBrk="1" latinLnBrk="0" hangingPunct="1">
              <a:spcBef>
                <a:spcPts val="300"/>
              </a:spcBef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1CFD-BFF0-48BC-9BA5-4974D7A6AB15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27100" y="1129553"/>
            <a:ext cx="7988300" cy="29809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x-none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114800"/>
            <a:ext cx="8915400" cy="877824"/>
          </a:xfrm>
        </p:spPr>
        <p:txBody>
          <a:bodyPr tIns="137160" bIns="137160" anchor="b" anchorCtr="0">
            <a:normAutofit/>
          </a:bodyPr>
          <a:lstStyle>
            <a:lvl1pPr>
              <a:defRPr sz="2400"/>
            </a:lvl1pPr>
          </a:lstStyle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002305"/>
            <a:ext cx="8001000" cy="1855695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137160" rIns="274320" bIns="137160" rtlCol="0" anchor="t" anchorCtr="0">
            <a:normAutofit/>
          </a:bodyPr>
          <a:lstStyle>
            <a:lvl1pPr marL="0" indent="0" algn="l" defTabSz="914400" rtl="0" eaLnBrk="1" latinLnBrk="0" hangingPunct="1">
              <a:spcBef>
                <a:spcPts val="300"/>
              </a:spcBef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0094" y="188259"/>
            <a:ext cx="2133600" cy="365125"/>
          </a:xfrm>
        </p:spPr>
        <p:txBody>
          <a:bodyPr/>
          <a:lstStyle/>
          <a:p>
            <a:fld id="{70BA1CFD-BFF0-48BC-9BA5-4974D7A6AB15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27100" y="1129553"/>
            <a:ext cx="3986784" cy="29809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x-none"/>
              <a:t>Drag picture to placeholder or click icon to add</a:t>
            </a:r>
            <a:endParaRPr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928616" y="1129553"/>
            <a:ext cx="3986784" cy="29809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x-none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114800"/>
            <a:ext cx="8915400" cy="877824"/>
          </a:xfrm>
        </p:spPr>
        <p:txBody>
          <a:bodyPr tIns="137160" bIns="137160" anchor="b" anchorCtr="0">
            <a:normAutofit/>
          </a:bodyPr>
          <a:lstStyle>
            <a:lvl1pPr>
              <a:defRPr sz="2400"/>
            </a:lvl1pPr>
          </a:lstStyle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002305"/>
            <a:ext cx="8001000" cy="1855695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137160" rIns="274320" bIns="137160" rtlCol="0" anchor="t" anchorCtr="0">
            <a:normAutofit/>
          </a:bodyPr>
          <a:lstStyle>
            <a:lvl1pPr marL="0" indent="0" algn="l" defTabSz="914400" rtl="0" eaLnBrk="1" latinLnBrk="0" hangingPunct="1">
              <a:spcBef>
                <a:spcPts val="300"/>
              </a:spcBef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0094" y="188259"/>
            <a:ext cx="2133600" cy="365125"/>
          </a:xfrm>
        </p:spPr>
        <p:txBody>
          <a:bodyPr/>
          <a:lstStyle/>
          <a:p>
            <a:fld id="{70BA1CFD-BFF0-48BC-9BA5-4974D7A6AB15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27100" y="1129553"/>
            <a:ext cx="6601968" cy="29809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x-none"/>
              <a:t>Drag picture to placeholder or click icon to add</a:t>
            </a:r>
            <a:endParaRPr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7543800" y="1129553"/>
            <a:ext cx="1371600" cy="148132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x-none"/>
              <a:t>Drag picture to placeholder or click icon to add</a:t>
            </a:r>
            <a:endParaRPr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7543800" y="2629169"/>
            <a:ext cx="1371600" cy="148132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x-none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1CFD-BFF0-48BC-9BA5-4974D7A6AB15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A694-00EB-4F4B-AABB-6F50FB17891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87553" y="1129554"/>
            <a:ext cx="914400" cy="5533278"/>
          </a:xfrm>
        </p:spPr>
        <p:txBody>
          <a:bodyPr vert="eaVert" lIns="274320" tIns="685800" bIns="685800"/>
          <a:lstStyle/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0" y="1734671"/>
            <a:ext cx="6426200" cy="4542304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A1CFD-BFF0-48BC-9BA5-4974D7A6AB15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AA694-00EB-4F4B-AABB-6F50FB17891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123856"/>
            <a:ext cx="8913813" cy="914400"/>
          </a:xfrm>
          <a:prstGeom prst="rect">
            <a:avLst/>
          </a:prstGeom>
          <a:solidFill>
            <a:schemeClr val="tx2"/>
          </a:solidFill>
        </p:spPr>
        <p:txBody>
          <a:bodyPr vert="horz" lIns="1188720" tIns="45720" rIns="27432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4424" y="2595562"/>
            <a:ext cx="7610476" cy="3670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80094" y="188259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0BA1CFD-BFF0-48BC-9BA5-4974D7A6AB15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0588" y="18825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89894" y="6569075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12AA694-00EB-4F4B-AABB-6F50FB178914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0"/>
            <a:ext cx="7999413" cy="18288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6675120"/>
            <a:ext cx="7999413" cy="18288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</p:sldLayoutIdLst>
  <p:txStyles>
    <p:titleStyle>
      <a:lvl1pPr marL="0" indent="0" algn="l" defTabSz="914400" rtl="0" eaLnBrk="1" latinLnBrk="0" hangingPunct="1"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2000"/>
        </a:spcBef>
        <a:buClr>
          <a:schemeClr val="accent1"/>
        </a:buClr>
        <a:buFont typeface="Wingdings 2" pitchFamily="18" charset="2"/>
        <a:buChar char="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Font typeface="Wingdings 2" pitchFamily="18" charset="2"/>
        <a:buChar char="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035050" indent="-349250" algn="l" defTabSz="914400" rtl="0" eaLnBrk="1" latinLnBrk="0" hangingPunct="1">
        <a:spcBef>
          <a:spcPts val="600"/>
        </a:spcBef>
        <a:buClr>
          <a:schemeClr val="accent1"/>
        </a:buClr>
        <a:buFont typeface="Wingdings 2" pitchFamily="18" charset="2"/>
        <a:buChar char="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371600" indent="-33655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Font typeface="Wingdings 2" pitchFamily="18" charset="2"/>
        <a:buChar char="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720850" indent="-349250" algn="l" defTabSz="914400" rtl="0" eaLnBrk="1" latinLnBrk="0" hangingPunct="1">
        <a:spcBef>
          <a:spcPts val="600"/>
        </a:spcBef>
        <a:buClr>
          <a:schemeClr val="accent1"/>
        </a:buClr>
        <a:buFont typeface="Wingdings 2" pitchFamily="18" charset="2"/>
        <a:buChar char="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055813" indent="-344488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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398713" indent="-344488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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743200" indent="-344488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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087688" indent="-344488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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s7KrvYK4yaY&amp;t=8s" TargetMode="Externa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NYnWOyTbs3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Ciclo </a:t>
            </a:r>
            <a:r>
              <a:rPr lang="en-US" dirty="0" err="1"/>
              <a:t>Celular</a:t>
            </a:r>
            <a:r>
              <a:rPr lang="en-US" dirty="0"/>
              <a:t> e Tumor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Disfunção</a:t>
            </a:r>
            <a:r>
              <a:rPr lang="en-US" dirty="0"/>
              <a:t> dos checkpoints</a:t>
            </a:r>
          </a:p>
        </p:txBody>
      </p:sp>
    </p:spTree>
    <p:extLst>
      <p:ext uri="{BB962C8B-B14F-4D97-AF65-F5344CB8AC3E}">
        <p14:creationId xmlns:p14="http://schemas.microsoft.com/office/powerpoint/2010/main" val="2546321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Sistema</a:t>
            </a:r>
            <a:r>
              <a:rPr lang="en-US" dirty="0"/>
              <a:t> de </a:t>
            </a:r>
            <a:r>
              <a:rPr lang="en-US" dirty="0" err="1"/>
              <a:t>Controle</a:t>
            </a:r>
            <a:r>
              <a:rPr lang="en-US" dirty="0"/>
              <a:t> do </a:t>
            </a:r>
            <a:r>
              <a:rPr lang="en-US" dirty="0" err="1"/>
              <a:t>Ciclo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A </a:t>
            </a:r>
            <a:r>
              <a:rPr lang="en-US" sz="1800" dirty="0" err="1"/>
              <a:t>progressão</a:t>
            </a:r>
            <a:r>
              <a:rPr lang="en-US" sz="1800" dirty="0"/>
              <a:t> do </a:t>
            </a:r>
            <a:r>
              <a:rPr lang="en-US" sz="1800" dirty="0" err="1"/>
              <a:t>ciclo</a:t>
            </a:r>
            <a:r>
              <a:rPr lang="en-US" sz="1800" dirty="0"/>
              <a:t> </a:t>
            </a:r>
            <a:r>
              <a:rPr lang="en-US" sz="1800" dirty="0" err="1"/>
              <a:t>celular</a:t>
            </a:r>
            <a:r>
              <a:rPr lang="en-US" sz="1800" dirty="0"/>
              <a:t> </a:t>
            </a:r>
            <a:r>
              <a:rPr lang="en-US" sz="1800" dirty="0" err="1"/>
              <a:t>é</a:t>
            </a:r>
            <a:r>
              <a:rPr lang="en-US" sz="1800" dirty="0"/>
              <a:t> </a:t>
            </a:r>
            <a:r>
              <a:rPr lang="en-US" sz="1800" dirty="0" err="1"/>
              <a:t>resultado</a:t>
            </a:r>
            <a:r>
              <a:rPr lang="en-US" sz="1800" dirty="0"/>
              <a:t> da </a:t>
            </a:r>
            <a:r>
              <a:rPr lang="en-US" sz="1800" dirty="0" err="1"/>
              <a:t>ativação</a:t>
            </a:r>
            <a:r>
              <a:rPr lang="en-US" sz="1800" dirty="0"/>
              <a:t> e </a:t>
            </a:r>
            <a:r>
              <a:rPr lang="en-US" sz="1800" dirty="0" err="1"/>
              <a:t>desativação</a:t>
            </a:r>
            <a:r>
              <a:rPr lang="en-US" sz="1800" dirty="0"/>
              <a:t> </a:t>
            </a:r>
            <a:r>
              <a:rPr lang="en-US" sz="1800" dirty="0" err="1"/>
              <a:t>cíclica</a:t>
            </a:r>
            <a:r>
              <a:rPr lang="en-US" sz="1800" dirty="0"/>
              <a:t> de </a:t>
            </a:r>
            <a:r>
              <a:rPr lang="en-US" sz="1800" b="1" dirty="0" err="1"/>
              <a:t>quinases</a:t>
            </a:r>
            <a:r>
              <a:rPr lang="en-US" sz="1800" b="1" dirty="0"/>
              <a:t> </a:t>
            </a:r>
            <a:r>
              <a:rPr lang="en-US" sz="1800" b="1" dirty="0" err="1"/>
              <a:t>dependentes</a:t>
            </a:r>
            <a:r>
              <a:rPr lang="en-US" sz="1800" b="1" dirty="0"/>
              <a:t> de </a:t>
            </a:r>
            <a:r>
              <a:rPr lang="en-US" sz="1800" b="1" dirty="0" err="1"/>
              <a:t>ciclina</a:t>
            </a:r>
            <a:r>
              <a:rPr lang="en-US" sz="1800" b="1" dirty="0"/>
              <a:t> (</a:t>
            </a:r>
            <a:r>
              <a:rPr lang="en-US" sz="1800" b="1" dirty="0" err="1"/>
              <a:t>Cdk</a:t>
            </a:r>
            <a:r>
              <a:rPr lang="en-US" sz="1800" b="1" dirty="0"/>
              <a:t>)</a:t>
            </a:r>
            <a:r>
              <a:rPr lang="en-US" sz="1800" dirty="0"/>
              <a:t>.</a:t>
            </a:r>
          </a:p>
          <a:p>
            <a:pPr lvl="1"/>
            <a:r>
              <a:rPr lang="en-US" sz="1600" dirty="0" err="1"/>
              <a:t>Proteínas-quinase</a:t>
            </a:r>
            <a:r>
              <a:rPr lang="en-US" sz="1600" dirty="0"/>
              <a:t> (</a:t>
            </a:r>
            <a:r>
              <a:rPr lang="en-US" sz="1600" dirty="0" err="1"/>
              <a:t>sempre</a:t>
            </a:r>
            <a:r>
              <a:rPr lang="en-US" sz="1600" dirty="0"/>
              <a:t> </a:t>
            </a:r>
            <a:r>
              <a:rPr lang="en-US" sz="1600" dirty="0" err="1"/>
              <a:t>presentes</a:t>
            </a:r>
            <a:r>
              <a:rPr lang="en-US" sz="1600" dirty="0"/>
              <a:t>) </a:t>
            </a:r>
            <a:r>
              <a:rPr lang="en-US" sz="1600" dirty="0" err="1"/>
              <a:t>são</a:t>
            </a:r>
            <a:r>
              <a:rPr lang="en-US" sz="1600" dirty="0"/>
              <a:t> </a:t>
            </a:r>
            <a:r>
              <a:rPr lang="en-US" sz="1600" dirty="0" err="1"/>
              <a:t>ativadas</a:t>
            </a:r>
            <a:r>
              <a:rPr lang="en-US" sz="1600" dirty="0"/>
              <a:t> </a:t>
            </a:r>
            <a:r>
              <a:rPr lang="en-US" sz="1600" dirty="0" err="1"/>
              <a:t>por</a:t>
            </a:r>
            <a:r>
              <a:rPr lang="en-US" sz="1600" dirty="0"/>
              <a:t> </a:t>
            </a:r>
            <a:r>
              <a:rPr lang="en-US" sz="1600" dirty="0" err="1"/>
              <a:t>ciclinas</a:t>
            </a:r>
            <a:r>
              <a:rPr lang="en-US" sz="1600" dirty="0"/>
              <a:t> (</a:t>
            </a:r>
            <a:r>
              <a:rPr lang="en-US" sz="1600" dirty="0" err="1"/>
              <a:t>concentração</a:t>
            </a:r>
            <a:r>
              <a:rPr lang="en-US" sz="1600" dirty="0"/>
              <a:t> </a:t>
            </a:r>
            <a:r>
              <a:rPr lang="en-US" sz="1600" dirty="0" err="1"/>
              <a:t>variável</a:t>
            </a:r>
            <a:r>
              <a:rPr lang="en-US" sz="1600" dirty="0"/>
              <a:t>), </a:t>
            </a:r>
            <a:r>
              <a:rPr lang="en-US" sz="1600" dirty="0" err="1"/>
              <a:t>resultando</a:t>
            </a:r>
            <a:r>
              <a:rPr lang="en-US" sz="1600" dirty="0"/>
              <a:t> </a:t>
            </a:r>
            <a:r>
              <a:rPr lang="en-US" sz="1600" dirty="0" err="1"/>
              <a:t>em</a:t>
            </a:r>
            <a:r>
              <a:rPr lang="en-US" sz="1600" dirty="0"/>
              <a:t> </a:t>
            </a:r>
            <a:r>
              <a:rPr lang="en-US" sz="1600" dirty="0" err="1"/>
              <a:t>uma</a:t>
            </a:r>
            <a:r>
              <a:rPr lang="en-US" sz="1600" dirty="0"/>
              <a:t> </a:t>
            </a:r>
            <a:r>
              <a:rPr lang="en-US" sz="1600" dirty="0" err="1"/>
              <a:t>cascata</a:t>
            </a:r>
            <a:r>
              <a:rPr lang="en-US" sz="1600" dirty="0"/>
              <a:t> de </a:t>
            </a:r>
            <a:r>
              <a:rPr lang="en-US" sz="1600" dirty="0" err="1"/>
              <a:t>fosforilações</a:t>
            </a:r>
            <a:r>
              <a:rPr lang="en-US" sz="1600" dirty="0"/>
              <a:t>. </a:t>
            </a:r>
          </a:p>
        </p:txBody>
      </p:sp>
      <p:pic>
        <p:nvPicPr>
          <p:cNvPr id="4" name="Picture 3" descr="figure_18_05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488" y="4500979"/>
            <a:ext cx="3861266" cy="1966488"/>
          </a:xfrm>
          <a:prstGeom prst="rect">
            <a:avLst/>
          </a:prstGeom>
        </p:spPr>
      </p:pic>
      <p:pic>
        <p:nvPicPr>
          <p:cNvPr id="5" name="Picture 4" descr="ciclinas ciclo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362" y="4181156"/>
            <a:ext cx="3039488" cy="2471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641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Pontos</a:t>
            </a:r>
            <a:r>
              <a:rPr lang="en-US" dirty="0"/>
              <a:t> de </a:t>
            </a:r>
            <a:r>
              <a:rPr lang="en-US" dirty="0" err="1"/>
              <a:t>Verificação</a:t>
            </a:r>
            <a:r>
              <a:rPr lang="en-US" dirty="0"/>
              <a:t> (Checkpoints)</a:t>
            </a:r>
          </a:p>
        </p:txBody>
      </p:sp>
      <p:pic>
        <p:nvPicPr>
          <p:cNvPr id="4" name="Content Placeholder 3" descr="figure_18_03.jpg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589" r="-46589"/>
          <a:stretch>
            <a:fillRect/>
          </a:stretch>
        </p:blipFill>
        <p:spPr>
          <a:xfrm>
            <a:off x="807869" y="2257989"/>
            <a:ext cx="8310356" cy="4008341"/>
          </a:xfrm>
        </p:spPr>
      </p:pic>
    </p:spTree>
    <p:extLst>
      <p:ext uri="{BB962C8B-B14F-4D97-AF65-F5344CB8AC3E}">
        <p14:creationId xmlns:p14="http://schemas.microsoft.com/office/powerpoint/2010/main" val="3319290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Checkpoint G1/S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err="1"/>
              <a:t>Condições</a:t>
            </a:r>
            <a:r>
              <a:rPr lang="en-US" sz="1800" dirty="0"/>
              <a:t> </a:t>
            </a:r>
            <a:r>
              <a:rPr lang="en-US" sz="1800" dirty="0" err="1"/>
              <a:t>ambientais</a:t>
            </a:r>
            <a:r>
              <a:rPr lang="en-US" sz="1800" dirty="0"/>
              <a:t> </a:t>
            </a:r>
            <a:r>
              <a:rPr lang="en-US" sz="1800" dirty="0" err="1"/>
              <a:t>estão</a:t>
            </a:r>
            <a:r>
              <a:rPr lang="en-US" sz="1800" dirty="0"/>
              <a:t> </a:t>
            </a:r>
            <a:r>
              <a:rPr lang="en-US" sz="1800" dirty="0" err="1"/>
              <a:t>favoráveis</a:t>
            </a:r>
            <a:r>
              <a:rPr lang="en-US" sz="1800" dirty="0"/>
              <a:t>?</a:t>
            </a:r>
          </a:p>
        </p:txBody>
      </p:sp>
      <p:pic>
        <p:nvPicPr>
          <p:cNvPr id="4" name="Picture 3" descr="figure_18_12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284" y="3086042"/>
            <a:ext cx="4401081" cy="352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035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Checkpoint 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O DNA </a:t>
            </a:r>
            <a:r>
              <a:rPr lang="en-US" sz="1800" dirty="0" err="1"/>
              <a:t>foi</a:t>
            </a:r>
            <a:r>
              <a:rPr lang="en-US" sz="1800" dirty="0"/>
              <a:t> </a:t>
            </a:r>
            <a:r>
              <a:rPr lang="en-US" sz="1800" dirty="0" err="1"/>
              <a:t>duplicado</a:t>
            </a:r>
            <a:r>
              <a:rPr lang="en-US" sz="1800" dirty="0"/>
              <a:t> </a:t>
            </a:r>
            <a:r>
              <a:rPr lang="en-US" sz="1800" dirty="0" err="1"/>
              <a:t>corretamente</a:t>
            </a:r>
            <a:r>
              <a:rPr lang="en-US" sz="1800" dirty="0"/>
              <a:t>?</a:t>
            </a:r>
          </a:p>
          <a:p>
            <a:r>
              <a:rPr lang="en-US" sz="1800" dirty="0" err="1"/>
              <a:t>Há</a:t>
            </a:r>
            <a:r>
              <a:rPr lang="en-US" sz="1800" dirty="0"/>
              <a:t> </a:t>
            </a:r>
            <a:r>
              <a:rPr lang="en-US" sz="1800" dirty="0" err="1"/>
              <a:t>danos</a:t>
            </a:r>
            <a:r>
              <a:rPr lang="en-US" sz="1800" dirty="0"/>
              <a:t> no DNA?</a:t>
            </a:r>
          </a:p>
        </p:txBody>
      </p:sp>
      <p:pic>
        <p:nvPicPr>
          <p:cNvPr id="4" name="Picture 3" descr="dna-replicattion-ugjx9y.jp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8" t="32406" r="2162" b="5809"/>
          <a:stretch/>
        </p:blipFill>
        <p:spPr>
          <a:xfrm>
            <a:off x="2167368" y="3675475"/>
            <a:ext cx="5129839" cy="289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43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Checkpoint G2/M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err="1"/>
              <a:t>Há</a:t>
            </a:r>
            <a:r>
              <a:rPr lang="en-US" sz="1800" dirty="0"/>
              <a:t> </a:t>
            </a:r>
            <a:r>
              <a:rPr lang="en-US" sz="1800" dirty="0" err="1"/>
              <a:t>danos</a:t>
            </a:r>
            <a:r>
              <a:rPr lang="en-US" sz="1800" dirty="0"/>
              <a:t> </a:t>
            </a:r>
            <a:r>
              <a:rPr lang="en-US" sz="1800" dirty="0" err="1"/>
              <a:t>não</a:t>
            </a:r>
            <a:r>
              <a:rPr lang="en-US" sz="1800" dirty="0"/>
              <a:t> </a:t>
            </a:r>
            <a:r>
              <a:rPr lang="en-US" sz="1800" dirty="0" err="1"/>
              <a:t>reparados</a:t>
            </a:r>
            <a:r>
              <a:rPr lang="en-US" sz="1800" dirty="0"/>
              <a:t> no DNA </a:t>
            </a:r>
            <a:r>
              <a:rPr lang="en-US" sz="1800" dirty="0" err="1"/>
              <a:t>na</a:t>
            </a:r>
            <a:r>
              <a:rPr lang="en-US" sz="1800" dirty="0"/>
              <a:t> </a:t>
            </a:r>
            <a:r>
              <a:rPr lang="en-US" sz="1800" dirty="0" err="1"/>
              <a:t>fase</a:t>
            </a:r>
            <a:r>
              <a:rPr lang="en-US" sz="1800" dirty="0"/>
              <a:t> S?</a:t>
            </a:r>
          </a:p>
        </p:txBody>
      </p:sp>
      <p:pic>
        <p:nvPicPr>
          <p:cNvPr id="4" name="Picture 3" descr="dna-replicattion-ugjx9y.jp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8" t="32406" r="2162" b="5809"/>
          <a:stretch/>
        </p:blipFill>
        <p:spPr>
          <a:xfrm>
            <a:off x="2167368" y="3675475"/>
            <a:ext cx="5129839" cy="289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889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Checkpoint </a:t>
            </a:r>
            <a:r>
              <a:rPr lang="en-US" dirty="0" err="1"/>
              <a:t>Metáfase</a:t>
            </a:r>
            <a:r>
              <a:rPr lang="en-US" dirty="0"/>
              <a:t>/</a:t>
            </a:r>
            <a:r>
              <a:rPr lang="en-US" dirty="0" err="1"/>
              <a:t>Anáfase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err="1"/>
              <a:t>Todos</a:t>
            </a:r>
            <a:r>
              <a:rPr lang="en-US" sz="1800" dirty="0"/>
              <a:t> </a:t>
            </a:r>
            <a:r>
              <a:rPr lang="en-US" sz="1800" dirty="0" err="1"/>
              <a:t>os</a:t>
            </a:r>
            <a:r>
              <a:rPr lang="en-US" sz="1800" dirty="0"/>
              <a:t> </a:t>
            </a:r>
            <a:r>
              <a:rPr lang="en-US" sz="1800" dirty="0" err="1"/>
              <a:t>cromossomos</a:t>
            </a:r>
            <a:r>
              <a:rPr lang="en-US" sz="1800" dirty="0"/>
              <a:t> </a:t>
            </a:r>
            <a:r>
              <a:rPr lang="en-US" sz="1800" dirty="0" err="1"/>
              <a:t>estão</a:t>
            </a:r>
            <a:r>
              <a:rPr lang="en-US" sz="1800" dirty="0"/>
              <a:t> </a:t>
            </a:r>
            <a:r>
              <a:rPr lang="en-US" sz="1800" dirty="0" err="1"/>
              <a:t>ligados</a:t>
            </a:r>
            <a:r>
              <a:rPr lang="en-US" sz="1800" dirty="0"/>
              <a:t> </a:t>
            </a:r>
            <a:r>
              <a:rPr lang="en-US" sz="1800" dirty="0" err="1"/>
              <a:t>aos</a:t>
            </a:r>
            <a:r>
              <a:rPr lang="en-US" sz="1800" dirty="0"/>
              <a:t> </a:t>
            </a:r>
            <a:r>
              <a:rPr lang="en-US" sz="1800" dirty="0" err="1"/>
              <a:t>fusos</a:t>
            </a:r>
            <a:r>
              <a:rPr lang="en-US" sz="1800" dirty="0"/>
              <a:t> </a:t>
            </a:r>
            <a:r>
              <a:rPr lang="en-US" sz="1800" dirty="0" err="1"/>
              <a:t>mitóticos</a:t>
            </a:r>
            <a:r>
              <a:rPr lang="en-US" sz="1800" dirty="0"/>
              <a:t>?</a:t>
            </a:r>
          </a:p>
        </p:txBody>
      </p:sp>
      <p:pic>
        <p:nvPicPr>
          <p:cNvPr id="4" name="Picture 3" descr="figure_18_25b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70" y="3401530"/>
            <a:ext cx="3741341" cy="320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059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Checkpoint </a:t>
            </a:r>
            <a:r>
              <a:rPr lang="en-US" dirty="0" err="1"/>
              <a:t>Metáfase</a:t>
            </a:r>
            <a:r>
              <a:rPr lang="en-US" dirty="0"/>
              <a:t>/</a:t>
            </a:r>
            <a:r>
              <a:rPr lang="en-US" dirty="0" err="1"/>
              <a:t>Anáfase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err="1"/>
              <a:t>Ativação</a:t>
            </a:r>
            <a:r>
              <a:rPr lang="en-US" sz="1800" dirty="0"/>
              <a:t> do </a:t>
            </a:r>
            <a:r>
              <a:rPr lang="en-US" sz="1800" dirty="0" err="1"/>
              <a:t>Complexo</a:t>
            </a:r>
            <a:r>
              <a:rPr lang="en-US" sz="1800" dirty="0"/>
              <a:t> </a:t>
            </a:r>
            <a:r>
              <a:rPr lang="en-US" sz="1800" dirty="0" err="1"/>
              <a:t>Promotor</a:t>
            </a:r>
            <a:r>
              <a:rPr lang="en-US" sz="1800" dirty="0"/>
              <a:t> da </a:t>
            </a:r>
            <a:r>
              <a:rPr lang="en-US" sz="1800" dirty="0" err="1"/>
              <a:t>Anáfase</a:t>
            </a:r>
            <a:r>
              <a:rPr lang="en-US" sz="1800" dirty="0"/>
              <a:t> (APC): </a:t>
            </a:r>
            <a:r>
              <a:rPr lang="en-US" sz="1800" dirty="0" err="1"/>
              <a:t>clivagem</a:t>
            </a:r>
            <a:r>
              <a:rPr lang="en-US" sz="1800" dirty="0"/>
              <a:t> das </a:t>
            </a:r>
            <a:r>
              <a:rPr lang="en-US" sz="1800" dirty="0" err="1"/>
              <a:t>coesinas</a:t>
            </a:r>
            <a:r>
              <a:rPr lang="en-US" sz="1800" dirty="0"/>
              <a:t>.</a:t>
            </a:r>
          </a:p>
        </p:txBody>
      </p:sp>
      <p:pic>
        <p:nvPicPr>
          <p:cNvPr id="4" name="Picture 3" descr="figure_18_29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2104" y="3387315"/>
            <a:ext cx="3065648" cy="320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0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Disfunção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/>
              <a:t>Tumor benigno:</a:t>
            </a:r>
          </a:p>
          <a:p>
            <a:pPr marL="0" indent="0">
              <a:buNone/>
            </a:pPr>
            <a:r>
              <a:rPr lang="pt-BR" dirty="0"/>
              <a:t>Proliferação descontrolada de células</a:t>
            </a:r>
          </a:p>
          <a:p>
            <a:pPr marL="0" indent="0">
              <a:buNone/>
            </a:pPr>
            <a:r>
              <a:rPr lang="pt-BR" dirty="0"/>
              <a:t>Exemplo: verruga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 dirty="0"/>
              <a:t>Tumor maligno:</a:t>
            </a:r>
          </a:p>
          <a:p>
            <a:pPr marL="0" indent="0">
              <a:buNone/>
            </a:pPr>
            <a:r>
              <a:rPr lang="pt-BR" dirty="0"/>
              <a:t>Proliferação descontrolada de células</a:t>
            </a:r>
          </a:p>
          <a:p>
            <a:pPr marL="0" indent="0">
              <a:buNone/>
            </a:pPr>
            <a:r>
              <a:rPr lang="pt-BR" dirty="0"/>
              <a:t>Metástase</a:t>
            </a:r>
          </a:p>
          <a:p>
            <a:pPr marL="0" indent="0">
              <a:buNone/>
            </a:pPr>
            <a:r>
              <a:rPr lang="pt-BR" dirty="0">
                <a:hlinkClick r:id="rId2"/>
              </a:rPr>
              <a:t>https://www.youtube.com/watch?v=s7KrvYK4yaY&amp;t=8s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3870E1B-F5F9-4C87-AB51-3891B6B96052}"/>
              </a:ext>
            </a:extLst>
          </p:cNvPr>
          <p:cNvSpPr txBox="1"/>
          <p:nvPr/>
        </p:nvSpPr>
        <p:spPr>
          <a:xfrm>
            <a:off x="5147534" y="5654631"/>
            <a:ext cx="3339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95A75D"/>
                </a:solidFill>
              </a:rPr>
              <a:t>https://www.cancer.gov/types/common-cancers</a:t>
            </a:r>
          </a:p>
        </p:txBody>
      </p:sp>
    </p:spTree>
    <p:extLst>
      <p:ext uri="{BB962C8B-B14F-4D97-AF65-F5344CB8AC3E}">
        <p14:creationId xmlns:p14="http://schemas.microsoft.com/office/powerpoint/2010/main" val="744925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CDA495-01F5-F874-E71E-37DB5D6E9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Mutações nos genes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3B516E-D24C-38D4-8AE5-69002A9CA9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Genes que estimulam a proliferação celular → Mutações aceleram as divisões celulares</a:t>
            </a:r>
          </a:p>
          <a:p>
            <a:r>
              <a:rPr lang="pt-BR" dirty="0"/>
              <a:t>Genes que levam células “velhas” à morte por apoptose→ Mutações deixam de permitir o “suicídio celular”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0AEB794-18D7-01BF-E65A-5161A335C2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Genes que restringem as divisões celulares→ Mutações deixam de controlar</a:t>
            </a:r>
          </a:p>
          <a:p>
            <a:pPr marL="0" indent="0">
              <a:buNone/>
            </a:pPr>
            <a:r>
              <a:rPr lang="pt-BR" dirty="0"/>
              <a:t>Exemplo: gene p53 → oncogene relacionado ao câncer de mama</a:t>
            </a:r>
          </a:p>
          <a:p>
            <a:r>
              <a:rPr lang="pt-BR" dirty="0"/>
              <a:t>Genes que corrigem defeitos no DNA→ mutações permitem o acúmulo de defeitos genéticos</a:t>
            </a:r>
          </a:p>
        </p:txBody>
      </p:sp>
    </p:spTree>
    <p:extLst>
      <p:ext uri="{BB962C8B-B14F-4D97-AF65-F5344CB8AC3E}">
        <p14:creationId xmlns:p14="http://schemas.microsoft.com/office/powerpoint/2010/main" val="1880717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Possíveis tratamentos para o câncer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D78590-A1DB-00D7-1E89-84EBF4325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6461" y="2386739"/>
            <a:ext cx="8357233" cy="3890236"/>
          </a:xfrm>
        </p:spPr>
        <p:txBody>
          <a:bodyPr/>
          <a:lstStyle/>
          <a:p>
            <a:r>
              <a:rPr lang="pt-BR" dirty="0"/>
              <a:t>Quimioterapia: Medicamentos específicos contra os tumores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CE0F24B-E140-8E9E-5446-2DFD2C0AC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250" y="3229587"/>
            <a:ext cx="5096915" cy="304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913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3EBDFB-0341-9DEA-E8FB-7DA3DBE79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Possíveis tratamentos para o câncer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5710D2-0789-87DA-C055-9C9D9462B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Radioterapia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E95C6D7-EEC0-5032-FE08-894B4FB3F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183" y="2985823"/>
            <a:ext cx="4379645" cy="328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62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8BC019-C972-A336-E936-F4A74FD1E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Possíveis tratamentos para o câncer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3975A6-EABC-C8D4-3A03-BD2233972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Imunoterapia: uso de </a:t>
            </a:r>
            <a:r>
              <a:rPr lang="pt-BR" dirty="0" err="1"/>
              <a:t>Car-T</a:t>
            </a:r>
            <a:r>
              <a:rPr lang="pt-BR" dirty="0"/>
              <a:t> </a:t>
            </a:r>
            <a:r>
              <a:rPr lang="pt-BR" dirty="0" err="1"/>
              <a:t>cells</a:t>
            </a:r>
            <a:endParaRPr lang="pt-BR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Vídeo: </a:t>
            </a:r>
            <a:r>
              <a:rPr lang="pt-BR" dirty="0">
                <a:hlinkClick r:id="rId2"/>
              </a:rPr>
              <a:t>https://www.youtube.com/watch?v=NYnWOyTbs3E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98040162"/>
      </p:ext>
    </p:extLst>
  </p:cSld>
  <p:clrMapOvr>
    <a:masterClrMapping/>
  </p:clrMapOvr>
</p:sld>
</file>

<file path=ppt/theme/theme1.xml><?xml version="1.0" encoding="utf-8"?>
<a:theme xmlns:a="http://schemas.openxmlformats.org/drawingml/2006/main" name="Perception">
  <a:themeElements>
    <a:clrScheme name="Perception">
      <a:dk1>
        <a:sysClr val="windowText" lastClr="000000"/>
      </a:dk1>
      <a:lt1>
        <a:sysClr val="window" lastClr="FFFFFF"/>
      </a:lt1>
      <a:dk2>
        <a:srgbClr val="333333"/>
      </a:dk2>
      <a:lt2>
        <a:srgbClr val="BBC0AC"/>
      </a:lt2>
      <a:accent1>
        <a:srgbClr val="A2C816"/>
      </a:accent1>
      <a:accent2>
        <a:srgbClr val="E07602"/>
      </a:accent2>
      <a:accent3>
        <a:srgbClr val="E4C402"/>
      </a:accent3>
      <a:accent4>
        <a:srgbClr val="7DC1EF"/>
      </a:accent4>
      <a:accent5>
        <a:srgbClr val="21449B"/>
      </a:accent5>
      <a:accent6>
        <a:srgbClr val="A2B170"/>
      </a:accent6>
      <a:hlink>
        <a:srgbClr val="8DA440"/>
      </a:hlink>
      <a:folHlink>
        <a:srgbClr val="4C4F3F"/>
      </a:folHlink>
    </a:clrScheme>
    <a:fontScheme name="Perception">
      <a:majorFont>
        <a:latin typeface="Century Gothic"/>
        <a:ea typeface=""/>
        <a:cs typeface=""/>
        <a:font script="Jpan" typeface="メイリオ"/>
        <a:font script="Hans" typeface="宋体"/>
        <a:font script="Hant" typeface="新細明體"/>
      </a:majorFont>
      <a:minorFont>
        <a:latin typeface="Century Gothic"/>
        <a:ea typeface=""/>
        <a:cs typeface=""/>
        <a:font script="Jpan" typeface="メイリオ"/>
        <a:font script="Hans" typeface="宋体"/>
        <a:font script="Hant" typeface="新細明體"/>
      </a:minorFont>
    </a:fontScheme>
    <a:fmtScheme name="Perception">
      <a:fillStyleLst>
        <a:solidFill>
          <a:schemeClr val="phClr"/>
        </a:solidFill>
        <a:solidFill>
          <a:schemeClr val="phClr">
            <a:shade val="90000"/>
          </a:schemeClr>
        </a:solidFill>
        <a:solidFill>
          <a:schemeClr val="phClr">
            <a:shade val="80000"/>
          </a:schemeClr>
        </a:soli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>
              <a:alpha val="8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bliqueTopRight"/>
            <a:lightRig rig="threePt" dir="tl"/>
          </a:scene3d>
          <a:sp3d>
            <a:bevelT w="25400" h="25400"/>
          </a:sp3d>
        </a:effectStyle>
        <a:effectStyle>
          <a:effectLst/>
          <a:scene3d>
            <a:camera prst="perspectiveFront" fov="4200000"/>
            <a:lightRig rig="balanced" dir="tl">
              <a:rot lat="0" lon="0" rev="18600000"/>
            </a:lightRig>
          </a:scene3d>
          <a:sp3d prstMaterial="metal">
            <a:bevelT w="63500" h="50800" prst="angle"/>
          </a:sp3d>
        </a:effectStyle>
      </a:effectStyleLst>
      <a:bgFillStyleLst>
        <a:solidFill>
          <a:schemeClr val="phClr">
            <a:tint val="90000"/>
          </a:schemeClr>
        </a:solidFill>
        <a:solidFill>
          <a:schemeClr val="phClr">
            <a:tint val="50000"/>
          </a:schemeClr>
        </a:solidFill>
        <a:solidFill>
          <a:schemeClr val="phClr">
            <a:shade val="60000"/>
          </a:schemeClr>
        </a:soli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Perception.thmx</Template>
  <TotalTime>628</TotalTime>
  <Words>287</Words>
  <Application>Microsoft Office PowerPoint</Application>
  <PresentationFormat>Apresentação na tela (4:3)</PresentationFormat>
  <Paragraphs>40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Calibri</vt:lpstr>
      <vt:lpstr>Century Gothic</vt:lpstr>
      <vt:lpstr>Wingdings 2</vt:lpstr>
      <vt:lpstr>Perception</vt:lpstr>
      <vt:lpstr>Ciclo Celular e Tumor</vt:lpstr>
      <vt:lpstr>Sistema de Controle do Ciclo</vt:lpstr>
      <vt:lpstr>Pontos de Verificação (Checkpoints)</vt:lpstr>
      <vt:lpstr>Checkpoint G1/S</vt:lpstr>
      <vt:lpstr>Checkpoint S</vt:lpstr>
      <vt:lpstr>Checkpoint G2/M</vt:lpstr>
      <vt:lpstr>Checkpoint Metáfase/Anáfase</vt:lpstr>
      <vt:lpstr>Checkpoint Metáfase/Anáfase</vt:lpstr>
      <vt:lpstr>Disfunção</vt:lpstr>
      <vt:lpstr>Mutações nos genes</vt:lpstr>
      <vt:lpstr>Possíveis tratamentos para o câncer</vt:lpstr>
      <vt:lpstr>Possíveis tratamentos para o câncer</vt:lpstr>
      <vt:lpstr>Possíveis tratamentos para o câncer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Ciclo Celular e Mitose</dc:title>
  <dc:creator>Alexandre Utiyama</dc:creator>
  <cp:lastModifiedBy>Carmen Rita Santos de Andrade</cp:lastModifiedBy>
  <cp:revision>45</cp:revision>
  <dcterms:created xsi:type="dcterms:W3CDTF">2013-08-05T23:31:23Z</dcterms:created>
  <dcterms:modified xsi:type="dcterms:W3CDTF">2026-02-18T00:34:54Z</dcterms:modified>
</cp:coreProperties>
</file>