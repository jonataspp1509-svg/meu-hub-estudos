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lvl="0">
      <a:defRPr lang="pt-BR"/>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0AAE7681-2046-478D-A928-731D673DA7C8}" type="datetimeFigureOut">
              <a:rPr lang="pt-BR" smtClean="0"/>
              <a:t>22/09/2026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3121752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0AAE7681-2046-478D-A928-731D673DA7C8}" type="datetimeFigureOut">
              <a:rPr lang="pt-BR" smtClean="0"/>
              <a:t>22/09/2026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2531865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0AAE7681-2046-478D-A928-731D673DA7C8}" type="datetimeFigureOut">
              <a:rPr lang="pt-BR" smtClean="0"/>
              <a:t>22/09/2026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1431669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0AAE7681-2046-478D-A928-731D673DA7C8}" type="datetimeFigureOut">
              <a:rPr lang="pt-BR" smtClean="0"/>
              <a:t>22/09/2026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1079521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0AAE7681-2046-478D-A928-731D673DA7C8}" type="datetimeFigureOut">
              <a:rPr lang="pt-BR" smtClean="0"/>
              <a:t>22/09/2026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1356790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0AAE7681-2046-478D-A928-731D673DA7C8}" type="datetimeFigureOut">
              <a:rPr lang="pt-BR" smtClean="0"/>
              <a:t>22/09/2026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2021811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AAE7681-2046-478D-A928-731D673DA7C8}" type="datetimeFigureOut">
              <a:rPr lang="pt-BR" smtClean="0"/>
              <a:t>22/09/2026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1348891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0AAE7681-2046-478D-A928-731D673DA7C8}" type="datetimeFigureOut">
              <a:rPr lang="pt-BR" smtClean="0"/>
              <a:t>22/09/2026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1950269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0AAE7681-2046-478D-A928-731D673DA7C8}" type="datetimeFigureOut">
              <a:rPr lang="pt-BR" smtClean="0"/>
              <a:t>22/09/2026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3383035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0AAE7681-2046-478D-A928-731D673DA7C8}" type="datetimeFigureOut">
              <a:rPr lang="pt-BR" smtClean="0"/>
              <a:t>22/09/2026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950922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0AAE7681-2046-478D-A928-731D673DA7C8}" type="datetimeFigureOut">
              <a:rPr lang="pt-BR" smtClean="0"/>
              <a:t>22/09/2026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9F6C4FF-45B5-4323-86F3-FB9057A952C0}" type="slidenum">
              <a:rPr lang="pt-BR" smtClean="0"/>
              <a:t>‹nº›</a:t>
            </a:fld>
            <a:endParaRPr lang="pt-BR"/>
          </a:p>
        </p:txBody>
      </p:sp>
    </p:spTree>
    <p:extLst>
      <p:ext uri="{BB962C8B-B14F-4D97-AF65-F5344CB8AC3E}">
        <p14:creationId xmlns:p14="http://schemas.microsoft.com/office/powerpoint/2010/main" val="700040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ítulo, clip-art e texto">
    <p:spTree>
      <p:nvGrpSpPr>
        <p:cNvPr id="1" name=""/>
        <p:cNvGrpSpPr/>
        <p:nvPr/>
      </p:nvGrpSpPr>
      <p:grpSpPr>
        <a:xfrm>
          <a:off x="0" y="0"/>
          <a:ext cx="0" cy="0"/>
          <a:chOff x="0" y="0"/>
          <a:chExt cx="0" cy="0"/>
        </a:xfrm>
      </p:grpSpPr>
      <p:sp>
        <p:nvSpPr>
          <p:cNvPr id="2" name="Título 1"/>
          <p:cNvSpPr>
            <a:spLocks noGrp="1"/>
          </p:cNvSpPr>
          <p:nvPr>
            <p:ph type="title"/>
          </p:nvPr>
        </p:nvSpPr>
        <p:spPr>
          <a:xfrm>
            <a:off x="914400" y="609600"/>
            <a:ext cx="10363200" cy="1143000"/>
          </a:xfrm>
        </p:spPr>
        <p:txBody>
          <a:bodyPr/>
          <a:lstStyle/>
          <a:p>
            <a:r>
              <a:rPr lang="pt-BR"/>
              <a:t>Clique para editar o estilo do título mestre</a:t>
            </a:r>
          </a:p>
        </p:txBody>
      </p:sp>
      <p:sp>
        <p:nvSpPr>
          <p:cNvPr id="3" name="Espaço Reservado para Clip-art 2"/>
          <p:cNvSpPr>
            <a:spLocks noGrp="1"/>
          </p:cNvSpPr>
          <p:nvPr>
            <p:ph type="clipArt" sz="half" idx="1"/>
          </p:nvPr>
        </p:nvSpPr>
        <p:spPr>
          <a:xfrm>
            <a:off x="914400" y="1981200"/>
            <a:ext cx="5080000" cy="4114800"/>
          </a:xfrm>
        </p:spPr>
        <p:txBody>
          <a:bodyPr/>
          <a:lstStyle/>
          <a:p>
            <a:endParaRPr lang="pt-BR"/>
          </a:p>
        </p:txBody>
      </p:sp>
      <p:sp>
        <p:nvSpPr>
          <p:cNvPr id="4" name="Espaço Reservado para Texto 3"/>
          <p:cNvSpPr>
            <a:spLocks noGrp="1"/>
          </p:cNvSpPr>
          <p:nvPr>
            <p:ph type="body" sz="half" idx="2"/>
          </p:nvPr>
        </p:nvSpPr>
        <p:spPr>
          <a:xfrm>
            <a:off x="6197600" y="1981200"/>
            <a:ext cx="5080000" cy="4114800"/>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a:xfrm>
            <a:off x="914400" y="6248400"/>
            <a:ext cx="2540000" cy="457200"/>
          </a:xfrm>
        </p:spPr>
        <p:txBody>
          <a:bodyPr/>
          <a:lstStyle>
            <a:lvl1pPr>
              <a:defRPr/>
            </a:lvl1pPr>
          </a:lstStyle>
          <a:p>
            <a:endParaRPr lang="pt-BR"/>
          </a:p>
        </p:txBody>
      </p:sp>
      <p:sp>
        <p:nvSpPr>
          <p:cNvPr id="6" name="Espaço Reservado para Rodapé 5"/>
          <p:cNvSpPr>
            <a:spLocks noGrp="1"/>
          </p:cNvSpPr>
          <p:nvPr>
            <p:ph type="ftr" sz="quarter" idx="11"/>
          </p:nvPr>
        </p:nvSpPr>
        <p:spPr>
          <a:xfrm>
            <a:off x="4165600" y="6248400"/>
            <a:ext cx="3860800" cy="457200"/>
          </a:xfrm>
        </p:spPr>
        <p:txBody>
          <a:bodyPr/>
          <a:lstStyle>
            <a:lvl1pPr>
              <a:defRPr/>
            </a:lvl1pPr>
          </a:lstStyle>
          <a:p>
            <a:endParaRPr lang="pt-BR"/>
          </a:p>
        </p:txBody>
      </p:sp>
      <p:sp>
        <p:nvSpPr>
          <p:cNvPr id="7" name="Espaço Reservado para Número de Slide 6"/>
          <p:cNvSpPr>
            <a:spLocks noGrp="1"/>
          </p:cNvSpPr>
          <p:nvPr>
            <p:ph type="sldNum" sz="quarter" idx="12"/>
          </p:nvPr>
        </p:nvSpPr>
        <p:spPr>
          <a:xfrm>
            <a:off x="8737600" y="6248400"/>
            <a:ext cx="2540000" cy="457200"/>
          </a:xfrm>
        </p:spPr>
        <p:txBody>
          <a:bodyPr/>
          <a:lstStyle>
            <a:lvl1pPr>
              <a:defRPr/>
            </a:lvl1pPr>
          </a:lstStyle>
          <a:p>
            <a:fld id="{965ADB87-7B0A-4053-88FA-40AE39B1CE20}" type="slidenum">
              <a:rPr lang="pt-BR"/>
              <a:pPr/>
              <a:t>‹nº›</a:t>
            </a:fld>
            <a:endParaRPr lang="pt-BR"/>
          </a:p>
        </p:txBody>
      </p:sp>
    </p:spTree>
    <p:extLst>
      <p:ext uri="{BB962C8B-B14F-4D97-AF65-F5344CB8AC3E}">
        <p14:creationId xmlns:p14="http://schemas.microsoft.com/office/powerpoint/2010/main" val="1811091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ítulo, texto e clip-art">
    <p:spTree>
      <p:nvGrpSpPr>
        <p:cNvPr id="1" name=""/>
        <p:cNvGrpSpPr/>
        <p:nvPr/>
      </p:nvGrpSpPr>
      <p:grpSpPr>
        <a:xfrm>
          <a:off x="0" y="0"/>
          <a:ext cx="0" cy="0"/>
          <a:chOff x="0" y="0"/>
          <a:chExt cx="0" cy="0"/>
        </a:xfrm>
      </p:grpSpPr>
      <p:sp>
        <p:nvSpPr>
          <p:cNvPr id="2" name="Título 1"/>
          <p:cNvSpPr>
            <a:spLocks noGrp="1"/>
          </p:cNvSpPr>
          <p:nvPr>
            <p:ph type="title"/>
          </p:nvPr>
        </p:nvSpPr>
        <p:spPr>
          <a:xfrm>
            <a:off x="914400" y="609600"/>
            <a:ext cx="10363200" cy="1143000"/>
          </a:xfrm>
        </p:spPr>
        <p:txBody>
          <a:bodyPr/>
          <a:lstStyle/>
          <a:p>
            <a:r>
              <a:rPr lang="pt-BR"/>
              <a:t>Clique para editar o estilo do título mestre</a:t>
            </a:r>
          </a:p>
        </p:txBody>
      </p:sp>
      <p:sp>
        <p:nvSpPr>
          <p:cNvPr id="3" name="Espaço Reservado para Texto 2"/>
          <p:cNvSpPr>
            <a:spLocks noGrp="1"/>
          </p:cNvSpPr>
          <p:nvPr>
            <p:ph type="body" sz="half" idx="1"/>
          </p:nvPr>
        </p:nvSpPr>
        <p:spPr>
          <a:xfrm>
            <a:off x="914400" y="1981200"/>
            <a:ext cx="5080000" cy="4114800"/>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lip-art 3"/>
          <p:cNvSpPr>
            <a:spLocks noGrp="1"/>
          </p:cNvSpPr>
          <p:nvPr>
            <p:ph type="clipArt" sz="half" idx="2"/>
          </p:nvPr>
        </p:nvSpPr>
        <p:spPr>
          <a:xfrm>
            <a:off x="6197600" y="1981200"/>
            <a:ext cx="5080000" cy="4114800"/>
          </a:xfrm>
        </p:spPr>
        <p:txBody>
          <a:bodyPr/>
          <a:lstStyle/>
          <a:p>
            <a:endParaRPr lang="pt-BR"/>
          </a:p>
        </p:txBody>
      </p:sp>
      <p:sp>
        <p:nvSpPr>
          <p:cNvPr id="5" name="Espaço Reservado para Data 4"/>
          <p:cNvSpPr>
            <a:spLocks noGrp="1"/>
          </p:cNvSpPr>
          <p:nvPr>
            <p:ph type="dt" sz="half" idx="10"/>
          </p:nvPr>
        </p:nvSpPr>
        <p:spPr>
          <a:xfrm>
            <a:off x="914400" y="6248400"/>
            <a:ext cx="2540000" cy="457200"/>
          </a:xfrm>
        </p:spPr>
        <p:txBody>
          <a:bodyPr/>
          <a:lstStyle>
            <a:lvl1pPr>
              <a:defRPr/>
            </a:lvl1pPr>
          </a:lstStyle>
          <a:p>
            <a:endParaRPr lang="pt-BR"/>
          </a:p>
        </p:txBody>
      </p:sp>
      <p:sp>
        <p:nvSpPr>
          <p:cNvPr id="6" name="Espaço Reservado para Rodapé 5"/>
          <p:cNvSpPr>
            <a:spLocks noGrp="1"/>
          </p:cNvSpPr>
          <p:nvPr>
            <p:ph type="ftr" sz="quarter" idx="11"/>
          </p:nvPr>
        </p:nvSpPr>
        <p:spPr>
          <a:xfrm>
            <a:off x="4165600" y="6248400"/>
            <a:ext cx="3860800" cy="457200"/>
          </a:xfrm>
        </p:spPr>
        <p:txBody>
          <a:bodyPr/>
          <a:lstStyle>
            <a:lvl1pPr>
              <a:defRPr/>
            </a:lvl1pPr>
          </a:lstStyle>
          <a:p>
            <a:endParaRPr lang="pt-BR"/>
          </a:p>
        </p:txBody>
      </p:sp>
      <p:sp>
        <p:nvSpPr>
          <p:cNvPr id="7" name="Espaço Reservado para Número de Slide 6"/>
          <p:cNvSpPr>
            <a:spLocks noGrp="1"/>
          </p:cNvSpPr>
          <p:nvPr>
            <p:ph type="sldNum" sz="quarter" idx="12"/>
          </p:nvPr>
        </p:nvSpPr>
        <p:spPr>
          <a:xfrm>
            <a:off x="8737600" y="6248400"/>
            <a:ext cx="2540000" cy="457200"/>
          </a:xfrm>
        </p:spPr>
        <p:txBody>
          <a:bodyPr/>
          <a:lstStyle>
            <a:lvl1pPr>
              <a:defRPr/>
            </a:lvl1pPr>
          </a:lstStyle>
          <a:p>
            <a:fld id="{08D75B06-0245-455F-B38B-22D95E170CEE}" type="slidenum">
              <a:rPr lang="pt-BR"/>
              <a:pPr/>
              <a:t>‹nº›</a:t>
            </a:fld>
            <a:endParaRPr lang="pt-BR"/>
          </a:p>
        </p:txBody>
      </p:sp>
    </p:spTree>
    <p:extLst>
      <p:ext uri="{BB962C8B-B14F-4D97-AF65-F5344CB8AC3E}">
        <p14:creationId xmlns:p14="http://schemas.microsoft.com/office/powerpoint/2010/main" val="360806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AE7681-2046-478D-A928-731D673DA7C8}" type="datetimeFigureOut">
              <a:rPr lang="pt-BR" smtClean="0"/>
              <a:t>22/09/2026</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6C4FF-45B5-4323-86F3-FB9057A952C0}" type="slidenum">
              <a:rPr lang="pt-BR" smtClean="0"/>
              <a:t>‹nº›</a:t>
            </a:fld>
            <a:endParaRPr lang="pt-BR"/>
          </a:p>
        </p:txBody>
      </p:sp>
    </p:spTree>
    <p:extLst>
      <p:ext uri="{BB962C8B-B14F-4D97-AF65-F5344CB8AC3E}">
        <p14:creationId xmlns:p14="http://schemas.microsoft.com/office/powerpoint/2010/main" val="1235525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lucindamorais.blogspot.com/2017/04/1-lei-de-mendel.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36879" y="259479"/>
            <a:ext cx="9144000" cy="2387600"/>
          </a:xfrm>
        </p:spPr>
        <p:txBody>
          <a:bodyPr/>
          <a:lstStyle/>
          <a:p>
            <a:r>
              <a:rPr lang="pt-BR" dirty="0"/>
              <a:t>INTERAÇÃO GÊNICA x PLEIOTROPIA</a:t>
            </a:r>
          </a:p>
        </p:txBody>
      </p:sp>
      <p:pic>
        <p:nvPicPr>
          <p:cNvPr id="4" name="Imagem 3"/>
          <p:cNvPicPr>
            <a:picLocks noChangeAspect="1"/>
          </p:cNvPicPr>
          <p:nvPr/>
        </p:nvPicPr>
        <p:blipFill>
          <a:blip r:embed="rId2"/>
          <a:stretch>
            <a:fillRect/>
          </a:stretch>
        </p:blipFill>
        <p:spPr>
          <a:xfrm>
            <a:off x="3496077" y="2942420"/>
            <a:ext cx="5715000" cy="3600450"/>
          </a:xfrm>
          <a:prstGeom prst="rect">
            <a:avLst/>
          </a:prstGeom>
        </p:spPr>
      </p:pic>
    </p:spTree>
    <p:extLst>
      <p:ext uri="{BB962C8B-B14F-4D97-AF65-F5344CB8AC3E}">
        <p14:creationId xmlns:p14="http://schemas.microsoft.com/office/powerpoint/2010/main" val="3317218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Mendel</a:t>
            </a:r>
          </a:p>
        </p:txBody>
      </p:sp>
      <p:sp>
        <p:nvSpPr>
          <p:cNvPr id="3" name="Espaço Reservado para Conteúdo 2"/>
          <p:cNvSpPr>
            <a:spLocks noGrp="1"/>
          </p:cNvSpPr>
          <p:nvPr>
            <p:ph idx="1"/>
          </p:nvPr>
        </p:nvSpPr>
        <p:spPr/>
        <p:txBody>
          <a:bodyPr/>
          <a:lstStyle/>
          <a:p>
            <a:pPr marL="0" indent="0">
              <a:buNone/>
            </a:pPr>
            <a:r>
              <a:rPr lang="pt-BR" dirty="0"/>
              <a:t>1ª Lei de Mendel: 1 par de genes            1 característica fenotípica </a:t>
            </a:r>
          </a:p>
          <a:p>
            <a:pPr marL="0" indent="0">
              <a:buNone/>
            </a:pPr>
            <a:endParaRPr lang="pt-BR" dirty="0"/>
          </a:p>
          <a:p>
            <a:pPr marL="0" indent="0">
              <a:buNone/>
            </a:pPr>
            <a:endParaRPr lang="pt-BR" dirty="0"/>
          </a:p>
          <a:p>
            <a:pPr marL="0" indent="0">
              <a:buNone/>
            </a:pPr>
            <a:r>
              <a:rPr lang="pt-BR" dirty="0"/>
              <a:t>2ª Lei de Mendel: 2 pares de genes            2 características fenotípicas </a:t>
            </a:r>
          </a:p>
          <a:p>
            <a:pPr marL="0" indent="0">
              <a:buNone/>
            </a:pPr>
            <a:endParaRPr lang="pt-BR" dirty="0"/>
          </a:p>
        </p:txBody>
      </p:sp>
      <p:cxnSp>
        <p:nvCxnSpPr>
          <p:cNvPr id="5" name="Conector de seta reta 4"/>
          <p:cNvCxnSpPr/>
          <p:nvPr/>
        </p:nvCxnSpPr>
        <p:spPr>
          <a:xfrm>
            <a:off x="5859887" y="2060620"/>
            <a:ext cx="592428" cy="12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ector de seta reta 5"/>
          <p:cNvCxnSpPr/>
          <p:nvPr/>
        </p:nvCxnSpPr>
        <p:spPr>
          <a:xfrm>
            <a:off x="6096000" y="3629394"/>
            <a:ext cx="592428" cy="12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Imagem 6"/>
          <p:cNvPicPr>
            <a:picLocks noChangeAspect="1"/>
          </p:cNvPicPr>
          <p:nvPr/>
        </p:nvPicPr>
        <p:blipFill>
          <a:blip r:embed="rId2"/>
          <a:stretch>
            <a:fillRect/>
          </a:stretch>
        </p:blipFill>
        <p:spPr>
          <a:xfrm>
            <a:off x="1120462" y="4238156"/>
            <a:ext cx="3048000" cy="2162175"/>
          </a:xfrm>
          <a:prstGeom prst="rect">
            <a:avLst/>
          </a:prstGeom>
        </p:spPr>
      </p:pic>
      <p:sp>
        <p:nvSpPr>
          <p:cNvPr id="8" name="CaixaDeTexto 7"/>
          <p:cNvSpPr txBox="1"/>
          <p:nvPr/>
        </p:nvSpPr>
        <p:spPr>
          <a:xfrm>
            <a:off x="4649273" y="4237149"/>
            <a:ext cx="5885645" cy="276999"/>
          </a:xfrm>
          <a:prstGeom prst="rect">
            <a:avLst/>
          </a:prstGeom>
          <a:noFill/>
        </p:spPr>
        <p:txBody>
          <a:bodyPr wrap="square" rtlCol="0">
            <a:spAutoFit/>
          </a:bodyPr>
          <a:lstStyle/>
          <a:p>
            <a:r>
              <a:rPr lang="pt-BR" sz="1200" dirty="0"/>
              <a:t>Fonte: </a:t>
            </a:r>
            <a:r>
              <a:rPr lang="pt-BR" sz="1200" dirty="0">
                <a:hlinkClick r:id="rId3"/>
              </a:rPr>
              <a:t>http://lucindamorais.blogspot.com/2017/04/1-lei-de-mendel.html</a:t>
            </a:r>
            <a:endParaRPr lang="pt-BR" sz="1200" dirty="0"/>
          </a:p>
        </p:txBody>
      </p:sp>
    </p:spTree>
    <p:extLst>
      <p:ext uri="{BB962C8B-B14F-4D97-AF65-F5344CB8AC3E}">
        <p14:creationId xmlns:p14="http://schemas.microsoft.com/office/powerpoint/2010/main" val="2599031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a:t>Complexidade além de Mendel</a:t>
            </a:r>
          </a:p>
        </p:txBody>
      </p:sp>
      <p:sp>
        <p:nvSpPr>
          <p:cNvPr id="5" name="Espaço Reservado para Conteúdo 4"/>
          <p:cNvSpPr>
            <a:spLocks noGrp="1"/>
          </p:cNvSpPr>
          <p:nvPr>
            <p:ph sz="half" idx="1"/>
          </p:nvPr>
        </p:nvSpPr>
        <p:spPr/>
        <p:txBody>
          <a:bodyPr/>
          <a:lstStyle/>
          <a:p>
            <a:r>
              <a:rPr lang="pt-BR" dirty="0" err="1"/>
              <a:t>Pleiotropia</a:t>
            </a:r>
            <a:endParaRPr lang="pt-BR" dirty="0"/>
          </a:p>
        </p:txBody>
      </p:sp>
      <p:sp>
        <p:nvSpPr>
          <p:cNvPr id="6" name="Espaço Reservado para Conteúdo 5"/>
          <p:cNvSpPr>
            <a:spLocks noGrp="1"/>
          </p:cNvSpPr>
          <p:nvPr>
            <p:ph sz="half" idx="2"/>
          </p:nvPr>
        </p:nvSpPr>
        <p:spPr/>
        <p:txBody>
          <a:bodyPr/>
          <a:lstStyle/>
          <a:p>
            <a:r>
              <a:rPr lang="pt-BR" dirty="0"/>
              <a:t>Interação Gênica</a:t>
            </a:r>
          </a:p>
        </p:txBody>
      </p:sp>
      <p:grpSp>
        <p:nvGrpSpPr>
          <p:cNvPr id="9" name="Grupo 8"/>
          <p:cNvGrpSpPr/>
          <p:nvPr/>
        </p:nvGrpSpPr>
        <p:grpSpPr>
          <a:xfrm>
            <a:off x="838200" y="3624390"/>
            <a:ext cx="3475021" cy="1566808"/>
            <a:chOff x="838200" y="3624390"/>
            <a:chExt cx="3475021" cy="1566808"/>
          </a:xfrm>
        </p:grpSpPr>
        <p:pic>
          <p:nvPicPr>
            <p:cNvPr id="7" name="Imagem 6"/>
            <p:cNvPicPr>
              <a:picLocks noChangeAspect="1"/>
            </p:cNvPicPr>
            <p:nvPr/>
          </p:nvPicPr>
          <p:blipFill>
            <a:blip r:embed="rId2"/>
            <a:stretch>
              <a:fillRect/>
            </a:stretch>
          </p:blipFill>
          <p:spPr>
            <a:xfrm>
              <a:off x="838200" y="4160885"/>
              <a:ext cx="835224" cy="493819"/>
            </a:xfrm>
            <a:prstGeom prst="rect">
              <a:avLst/>
            </a:prstGeom>
          </p:spPr>
        </p:pic>
        <p:pic>
          <p:nvPicPr>
            <p:cNvPr id="8" name="Imagem 7"/>
            <p:cNvPicPr>
              <a:picLocks noChangeAspect="1"/>
            </p:cNvPicPr>
            <p:nvPr/>
          </p:nvPicPr>
          <p:blipFill>
            <a:blip r:embed="rId3"/>
            <a:stretch>
              <a:fillRect/>
            </a:stretch>
          </p:blipFill>
          <p:spPr>
            <a:xfrm>
              <a:off x="1673424" y="3624390"/>
              <a:ext cx="2639797" cy="1566808"/>
            </a:xfrm>
            <a:prstGeom prst="rect">
              <a:avLst/>
            </a:prstGeom>
          </p:spPr>
        </p:pic>
      </p:grpSp>
      <p:pic>
        <p:nvPicPr>
          <p:cNvPr id="10" name="Imagem 9"/>
          <p:cNvPicPr>
            <a:picLocks noChangeAspect="1"/>
          </p:cNvPicPr>
          <p:nvPr/>
        </p:nvPicPr>
        <p:blipFill>
          <a:blip r:embed="rId4"/>
          <a:stretch>
            <a:fillRect/>
          </a:stretch>
        </p:blipFill>
        <p:spPr>
          <a:xfrm>
            <a:off x="5079214" y="2933730"/>
            <a:ext cx="6136719" cy="2501157"/>
          </a:xfrm>
          <a:prstGeom prst="rect">
            <a:avLst/>
          </a:prstGeom>
        </p:spPr>
      </p:pic>
    </p:spTree>
    <p:extLst>
      <p:ext uri="{BB962C8B-B14F-4D97-AF65-F5344CB8AC3E}">
        <p14:creationId xmlns:p14="http://schemas.microsoft.com/office/powerpoint/2010/main" val="475962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pt-BR" b="1">
                <a:solidFill>
                  <a:srgbClr val="666666"/>
                </a:solidFill>
                <a:latin typeface="Arial" charset="0"/>
                <a:cs typeface="Times New Roman" pitchFamily="18" charset="0"/>
              </a:rPr>
              <a:t>PLEIOTROPIA</a:t>
            </a:r>
            <a:br>
              <a:rPr lang="pt-BR">
                <a:solidFill>
                  <a:srgbClr val="FFFFFF"/>
                </a:solidFill>
                <a:cs typeface="Times New Roman" pitchFamily="18" charset="0"/>
              </a:rPr>
            </a:br>
            <a:endParaRPr lang="pt-BR">
              <a:solidFill>
                <a:srgbClr val="FFFFFF"/>
              </a:solidFill>
              <a:cs typeface="Times New Roman" pitchFamily="18" charset="0"/>
            </a:endParaRPr>
          </a:p>
        </p:txBody>
      </p:sp>
      <p:sp>
        <p:nvSpPr>
          <p:cNvPr id="3075" name="Rectangle 3"/>
          <p:cNvSpPr>
            <a:spLocks noGrp="1" noChangeArrowheads="1"/>
          </p:cNvSpPr>
          <p:nvPr>
            <p:ph type="body" idx="1"/>
          </p:nvPr>
        </p:nvSpPr>
        <p:spPr/>
        <p:txBody>
          <a:bodyPr/>
          <a:lstStyle/>
          <a:p>
            <a:pPr algn="just"/>
            <a:r>
              <a:rPr lang="pt-BR">
                <a:solidFill>
                  <a:srgbClr val="666666"/>
                </a:solidFill>
                <a:latin typeface="Arial" charset="0"/>
                <a:cs typeface="Times New Roman" pitchFamily="18" charset="0"/>
              </a:rPr>
              <a:t>A pleiotropia constitui, de certo modo, um fenômeno inverso à interação gênica. Na pleiotropia, um único par de genes atua na manifestação de vários caracteres.</a:t>
            </a:r>
          </a:p>
          <a:p>
            <a:pPr algn="just">
              <a:buFontTx/>
              <a:buNone/>
            </a:pPr>
            <a:endParaRPr lang="pt-BR">
              <a:cs typeface="Times New Roman" pitchFamily="18" charset="0"/>
            </a:endParaRPr>
          </a:p>
          <a:p>
            <a:pPr algn="just"/>
            <a:r>
              <a:rPr lang="pt-BR">
                <a:solidFill>
                  <a:srgbClr val="666666"/>
                </a:solidFill>
                <a:latin typeface="Arial" charset="0"/>
                <a:cs typeface="Times New Roman" pitchFamily="18" charset="0"/>
              </a:rPr>
              <a:t> 1 par de alelos </a:t>
            </a:r>
          </a:p>
        </p:txBody>
      </p:sp>
      <p:sp>
        <p:nvSpPr>
          <p:cNvPr id="3079" name="Text Box 7"/>
          <p:cNvSpPr txBox="1">
            <a:spLocks noChangeArrowheads="1"/>
          </p:cNvSpPr>
          <p:nvPr/>
        </p:nvSpPr>
        <p:spPr bwMode="auto">
          <a:xfrm>
            <a:off x="4625662" y="3752045"/>
            <a:ext cx="1838965" cy="369332"/>
          </a:xfrm>
          <a:prstGeom prst="rect">
            <a:avLst/>
          </a:prstGeom>
          <a:noFill/>
          <a:ln w="9525">
            <a:noFill/>
            <a:miter lim="800000"/>
            <a:headEnd/>
            <a:tailEnd/>
          </a:ln>
          <a:effectLst/>
        </p:spPr>
        <p:txBody>
          <a:bodyPr wrap="none">
            <a:spAutoFit/>
          </a:bodyPr>
          <a:lstStyle/>
          <a:p>
            <a:r>
              <a:rPr lang="pt-BR">
                <a:solidFill>
                  <a:srgbClr val="CC3300"/>
                </a:solidFill>
                <a:latin typeface="Arial" charset="0"/>
              </a:rPr>
              <a:t>Múltiplos efeitos</a:t>
            </a:r>
          </a:p>
        </p:txBody>
      </p:sp>
      <p:sp>
        <p:nvSpPr>
          <p:cNvPr id="3080" name="Line 8"/>
          <p:cNvSpPr>
            <a:spLocks noChangeShapeType="1"/>
          </p:cNvSpPr>
          <p:nvPr/>
        </p:nvSpPr>
        <p:spPr bwMode="auto">
          <a:xfrm>
            <a:off x="4016061" y="3904445"/>
            <a:ext cx="304800" cy="0"/>
          </a:xfrm>
          <a:prstGeom prst="line">
            <a:avLst/>
          </a:prstGeom>
          <a:noFill/>
          <a:ln w="9525">
            <a:solidFill>
              <a:schemeClr val="tx1"/>
            </a:solidFill>
            <a:round/>
            <a:headEnd/>
            <a:tailEnd type="triangle" w="med" len="med"/>
          </a:ln>
          <a:effectLst/>
        </p:spPr>
        <p:txBody>
          <a:bodyPr/>
          <a:lstStyle/>
          <a:p>
            <a:endParaRPr lang="pt-BR"/>
          </a:p>
        </p:txBody>
      </p:sp>
    </p:spTree>
    <p:extLst>
      <p:ext uri="{BB962C8B-B14F-4D97-AF65-F5344CB8AC3E}">
        <p14:creationId xmlns:p14="http://schemas.microsoft.com/office/powerpoint/2010/main" val="284816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pt-BR" b="1">
                <a:solidFill>
                  <a:srgbClr val="666666"/>
                </a:solidFill>
                <a:latin typeface="Arial" charset="0"/>
                <a:cs typeface="Times New Roman" pitchFamily="18" charset="0"/>
              </a:rPr>
              <a:t>PLEIOTROPIA</a:t>
            </a:r>
            <a:br>
              <a:rPr lang="pt-BR">
                <a:solidFill>
                  <a:srgbClr val="FFFFFF"/>
                </a:solidFill>
                <a:cs typeface="Times New Roman" pitchFamily="18" charset="0"/>
              </a:rPr>
            </a:br>
            <a:endParaRPr lang="pt-BR">
              <a:solidFill>
                <a:srgbClr val="FFFFFF"/>
              </a:solidFill>
              <a:cs typeface="Times New Roman" pitchFamily="18" charset="0"/>
            </a:endParaRPr>
          </a:p>
        </p:txBody>
      </p:sp>
      <p:sp>
        <p:nvSpPr>
          <p:cNvPr id="4099" name="Rectangle 3"/>
          <p:cNvSpPr>
            <a:spLocks noGrp="1" noChangeArrowheads="1"/>
          </p:cNvSpPr>
          <p:nvPr>
            <p:ph type="body" idx="1"/>
          </p:nvPr>
        </p:nvSpPr>
        <p:spPr/>
        <p:txBody>
          <a:bodyPr/>
          <a:lstStyle/>
          <a:p>
            <a:pPr algn="just"/>
            <a:r>
              <a:rPr lang="pt-BR" sz="2400">
                <a:solidFill>
                  <a:srgbClr val="666666"/>
                </a:solidFill>
                <a:latin typeface="Arial" charset="0"/>
                <a:cs typeface="Times New Roman" pitchFamily="18" charset="0"/>
              </a:rPr>
              <a:t>A criança afetada pela fenilcetonúria  têm um par de alelos recessivos provocando um defeito na enzima felilalanina hidroxilase, responsável pela conversão do aminoácido fenilpirúvico, que se acumula no sistema nervoso, ocasionando retardo mental e deficiência de melanina. Por isso, as crianças fenilcetonúricas exibem também pele mais clara do que deveriam ter. </a:t>
            </a:r>
            <a:endParaRPr lang="pt-BR">
              <a:solidFill>
                <a:srgbClr val="666666"/>
              </a:solidFill>
              <a:latin typeface="Arial" charset="0"/>
              <a:cs typeface="Times New Roman" pitchFamily="18" charset="0"/>
            </a:endParaRPr>
          </a:p>
        </p:txBody>
      </p:sp>
      <p:sp>
        <p:nvSpPr>
          <p:cNvPr id="4103" name="Line 7"/>
          <p:cNvSpPr>
            <a:spLocks noChangeShapeType="1"/>
          </p:cNvSpPr>
          <p:nvPr/>
        </p:nvSpPr>
        <p:spPr bwMode="auto">
          <a:xfrm flipV="1">
            <a:off x="5181600" y="4876800"/>
            <a:ext cx="457200" cy="381000"/>
          </a:xfrm>
          <a:prstGeom prst="line">
            <a:avLst/>
          </a:prstGeom>
          <a:noFill/>
          <a:ln w="9525">
            <a:solidFill>
              <a:schemeClr val="tx1"/>
            </a:solidFill>
            <a:round/>
            <a:headEnd/>
            <a:tailEnd type="triangle" w="med" len="med"/>
          </a:ln>
          <a:effectLst/>
        </p:spPr>
        <p:txBody>
          <a:bodyPr/>
          <a:lstStyle/>
          <a:p>
            <a:endParaRPr lang="pt-BR"/>
          </a:p>
        </p:txBody>
      </p:sp>
      <p:sp>
        <p:nvSpPr>
          <p:cNvPr id="4105" name="Line 9"/>
          <p:cNvSpPr>
            <a:spLocks noChangeShapeType="1"/>
          </p:cNvSpPr>
          <p:nvPr/>
        </p:nvSpPr>
        <p:spPr bwMode="auto">
          <a:xfrm>
            <a:off x="5257800" y="5410200"/>
            <a:ext cx="381000" cy="533400"/>
          </a:xfrm>
          <a:prstGeom prst="line">
            <a:avLst/>
          </a:prstGeom>
          <a:noFill/>
          <a:ln w="9525">
            <a:solidFill>
              <a:schemeClr val="tx1"/>
            </a:solidFill>
            <a:round/>
            <a:headEnd/>
            <a:tailEnd type="triangle" w="med" len="med"/>
          </a:ln>
          <a:effectLst/>
        </p:spPr>
        <p:txBody>
          <a:bodyPr/>
          <a:lstStyle/>
          <a:p>
            <a:endParaRPr lang="pt-BR"/>
          </a:p>
        </p:txBody>
      </p:sp>
      <p:sp>
        <p:nvSpPr>
          <p:cNvPr id="4106" name="Line 10"/>
          <p:cNvSpPr>
            <a:spLocks noChangeShapeType="1"/>
          </p:cNvSpPr>
          <p:nvPr/>
        </p:nvSpPr>
        <p:spPr bwMode="auto">
          <a:xfrm>
            <a:off x="5257800" y="5334000"/>
            <a:ext cx="609600" cy="0"/>
          </a:xfrm>
          <a:prstGeom prst="line">
            <a:avLst/>
          </a:prstGeom>
          <a:noFill/>
          <a:ln w="9525">
            <a:solidFill>
              <a:schemeClr val="tx1"/>
            </a:solidFill>
            <a:round/>
            <a:headEnd/>
            <a:tailEnd type="triangle" w="med" len="med"/>
          </a:ln>
          <a:effectLst/>
        </p:spPr>
        <p:txBody>
          <a:bodyPr/>
          <a:lstStyle/>
          <a:p>
            <a:endParaRPr lang="pt-BR"/>
          </a:p>
        </p:txBody>
      </p:sp>
      <p:sp>
        <p:nvSpPr>
          <p:cNvPr id="4109" name="Text Box 13"/>
          <p:cNvSpPr txBox="1">
            <a:spLocks noChangeArrowheads="1"/>
          </p:cNvSpPr>
          <p:nvPr/>
        </p:nvSpPr>
        <p:spPr bwMode="auto">
          <a:xfrm>
            <a:off x="3962401" y="5105400"/>
            <a:ext cx="741870" cy="369332"/>
          </a:xfrm>
          <a:prstGeom prst="rect">
            <a:avLst/>
          </a:prstGeom>
          <a:noFill/>
          <a:ln w="9525">
            <a:noFill/>
            <a:miter lim="800000"/>
            <a:headEnd/>
            <a:tailEnd/>
          </a:ln>
          <a:effectLst/>
        </p:spPr>
        <p:txBody>
          <a:bodyPr wrap="none">
            <a:spAutoFit/>
          </a:bodyPr>
          <a:lstStyle/>
          <a:p>
            <a:r>
              <a:rPr lang="pt-BR" dirty="0"/>
              <a:t>Par  ff</a:t>
            </a:r>
          </a:p>
        </p:txBody>
      </p:sp>
      <p:sp>
        <p:nvSpPr>
          <p:cNvPr id="4110" name="Text Box 14"/>
          <p:cNvSpPr txBox="1">
            <a:spLocks noChangeArrowheads="1"/>
          </p:cNvSpPr>
          <p:nvPr/>
        </p:nvSpPr>
        <p:spPr bwMode="auto">
          <a:xfrm>
            <a:off x="5699125" y="4613275"/>
            <a:ext cx="1635256" cy="369332"/>
          </a:xfrm>
          <a:prstGeom prst="rect">
            <a:avLst/>
          </a:prstGeom>
          <a:noFill/>
          <a:ln w="9525">
            <a:noFill/>
            <a:miter lim="800000"/>
            <a:headEnd/>
            <a:tailEnd/>
          </a:ln>
          <a:effectLst/>
        </p:spPr>
        <p:txBody>
          <a:bodyPr wrap="none">
            <a:spAutoFit/>
          </a:bodyPr>
          <a:lstStyle/>
          <a:p>
            <a:r>
              <a:rPr lang="pt-BR"/>
              <a:t>Retardo mental</a:t>
            </a:r>
          </a:p>
        </p:txBody>
      </p:sp>
      <p:sp>
        <p:nvSpPr>
          <p:cNvPr id="4111" name="Text Box 15"/>
          <p:cNvSpPr txBox="1">
            <a:spLocks noChangeArrowheads="1"/>
          </p:cNvSpPr>
          <p:nvPr/>
        </p:nvSpPr>
        <p:spPr bwMode="auto">
          <a:xfrm>
            <a:off x="5851525" y="5070475"/>
            <a:ext cx="1925014" cy="369332"/>
          </a:xfrm>
          <a:prstGeom prst="rect">
            <a:avLst/>
          </a:prstGeom>
          <a:noFill/>
          <a:ln w="9525">
            <a:noFill/>
            <a:miter lim="800000"/>
            <a:headEnd/>
            <a:tailEnd/>
          </a:ln>
          <a:effectLst/>
        </p:spPr>
        <p:txBody>
          <a:bodyPr wrap="none">
            <a:spAutoFit/>
          </a:bodyPr>
          <a:lstStyle/>
          <a:p>
            <a:r>
              <a:rPr lang="pt-BR"/>
              <a:t>Problemas de pele</a:t>
            </a:r>
          </a:p>
        </p:txBody>
      </p:sp>
      <p:sp>
        <p:nvSpPr>
          <p:cNvPr id="4112" name="Text Box 16"/>
          <p:cNvSpPr txBox="1">
            <a:spLocks noChangeArrowheads="1"/>
          </p:cNvSpPr>
          <p:nvPr/>
        </p:nvSpPr>
        <p:spPr bwMode="auto">
          <a:xfrm>
            <a:off x="5622925" y="5680075"/>
            <a:ext cx="2136932" cy="369332"/>
          </a:xfrm>
          <a:prstGeom prst="rect">
            <a:avLst/>
          </a:prstGeom>
          <a:noFill/>
          <a:ln w="9525">
            <a:noFill/>
            <a:miter lim="800000"/>
            <a:headEnd/>
            <a:tailEnd/>
          </a:ln>
          <a:effectLst/>
        </p:spPr>
        <p:txBody>
          <a:bodyPr wrap="none">
            <a:spAutoFit/>
          </a:bodyPr>
          <a:lstStyle/>
          <a:p>
            <a:r>
              <a:rPr lang="pt-BR"/>
              <a:t>Fenilalanina na urina</a:t>
            </a:r>
          </a:p>
        </p:txBody>
      </p:sp>
    </p:spTree>
    <p:extLst>
      <p:ext uri="{BB962C8B-B14F-4D97-AF65-F5344CB8AC3E}">
        <p14:creationId xmlns:p14="http://schemas.microsoft.com/office/powerpoint/2010/main" val="827198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pt-BR" dirty="0"/>
              <a:t>Anemia falciforme</a:t>
            </a:r>
          </a:p>
        </p:txBody>
      </p:sp>
      <p:sp>
        <p:nvSpPr>
          <p:cNvPr id="3" name="Espaço Reservado para Conteúdo 2"/>
          <p:cNvSpPr>
            <a:spLocks noGrp="1"/>
          </p:cNvSpPr>
          <p:nvPr>
            <p:ph idx="1"/>
          </p:nvPr>
        </p:nvSpPr>
        <p:spPr/>
        <p:txBody>
          <a:bodyPr/>
          <a:lstStyle/>
          <a:p>
            <a:endParaRPr lang="pt-BR" dirty="0"/>
          </a:p>
        </p:txBody>
      </p:sp>
      <p:pic>
        <p:nvPicPr>
          <p:cNvPr id="37890" name="Picture 2" descr="Pleiotropia1"/>
          <p:cNvPicPr>
            <a:picLocks noChangeAspect="1" noChangeArrowheads="1"/>
          </p:cNvPicPr>
          <p:nvPr/>
        </p:nvPicPr>
        <p:blipFill>
          <a:blip r:embed="rId2" cstate="print"/>
          <a:srcRect/>
          <a:stretch>
            <a:fillRect/>
          </a:stretch>
        </p:blipFill>
        <p:spPr bwMode="auto">
          <a:xfrm>
            <a:off x="1484571" y="1825624"/>
            <a:ext cx="9781297" cy="4486275"/>
          </a:xfrm>
          <a:prstGeom prst="rect">
            <a:avLst/>
          </a:prstGeom>
          <a:noFill/>
        </p:spPr>
      </p:pic>
      <p:pic>
        <p:nvPicPr>
          <p:cNvPr id="37892" name="Picture 4" descr="http://www.blogbahiageral.com.br/site/wp-content/uploads/2012/11/Hem%C3%A1cias_Anemia-Falciforme.jpg"/>
          <p:cNvPicPr>
            <a:picLocks noChangeAspect="1" noChangeArrowheads="1"/>
          </p:cNvPicPr>
          <p:nvPr/>
        </p:nvPicPr>
        <p:blipFill>
          <a:blip r:embed="rId3" cstate="print"/>
          <a:srcRect/>
          <a:stretch>
            <a:fillRect/>
          </a:stretch>
        </p:blipFill>
        <p:spPr bwMode="auto">
          <a:xfrm>
            <a:off x="7464152" y="548681"/>
            <a:ext cx="2687822" cy="1402855"/>
          </a:xfrm>
          <a:prstGeom prst="rect">
            <a:avLst/>
          </a:prstGeom>
          <a:noFill/>
        </p:spPr>
      </p:pic>
    </p:spTree>
    <p:extLst>
      <p:ext uri="{BB962C8B-B14F-4D97-AF65-F5344CB8AC3E}">
        <p14:creationId xmlns:p14="http://schemas.microsoft.com/office/powerpoint/2010/main" val="97384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pt-BR" b="1">
                <a:solidFill>
                  <a:srgbClr val="666666"/>
                </a:solidFill>
                <a:latin typeface="Arial" charset="0"/>
                <a:cs typeface="Arial" charset="0"/>
              </a:rPr>
              <a:t>INTERAÇÃO GÊNICA</a:t>
            </a:r>
            <a:r>
              <a:rPr lang="pt-BR"/>
              <a:t> </a:t>
            </a:r>
          </a:p>
        </p:txBody>
      </p:sp>
      <p:sp>
        <p:nvSpPr>
          <p:cNvPr id="7172" name="Rectangle 4"/>
          <p:cNvSpPr>
            <a:spLocks noGrp="1" noChangeArrowheads="1"/>
          </p:cNvSpPr>
          <p:nvPr>
            <p:ph type="body" sz="half" idx="2"/>
          </p:nvPr>
        </p:nvSpPr>
        <p:spPr>
          <a:xfrm>
            <a:off x="1981200" y="1981200"/>
            <a:ext cx="8001000" cy="4114800"/>
          </a:xfrm>
        </p:spPr>
        <p:txBody>
          <a:bodyPr/>
          <a:lstStyle/>
          <a:p>
            <a:r>
              <a:rPr lang="pt-BR">
                <a:solidFill>
                  <a:srgbClr val="FFFFFF"/>
                </a:solidFill>
                <a:cs typeface="Times New Roman" pitchFamily="18" charset="0"/>
              </a:rPr>
              <a:t>   </a:t>
            </a:r>
            <a:r>
              <a:rPr lang="pt-BR" b="1">
                <a:solidFill>
                  <a:srgbClr val="000000"/>
                </a:solidFill>
                <a:latin typeface="Verdana" pitchFamily="34" charset="0"/>
                <a:cs typeface="Times New Roman" pitchFamily="18" charset="0"/>
              </a:rPr>
              <a:t>       </a:t>
            </a:r>
            <a:r>
              <a:rPr lang="pt-BR">
                <a:solidFill>
                  <a:srgbClr val="000000"/>
                </a:solidFill>
                <a:latin typeface="Verdana" pitchFamily="34" charset="0"/>
                <a:cs typeface="Times New Roman" pitchFamily="18" charset="0"/>
              </a:rPr>
              <a:t>É o tipo de herança na qual a expressão fenotípica de um caráter é condicionada pela ação conjunta de dois ou mais pares de genes com segregação independente.</a:t>
            </a:r>
            <a:endParaRPr lang="pt-BR">
              <a:solidFill>
                <a:srgbClr val="FFFFFF"/>
              </a:solidFill>
              <a:cs typeface="Times New Roman" pitchFamily="18" charset="0"/>
            </a:endParaRPr>
          </a:p>
        </p:txBody>
      </p:sp>
      <p:sp>
        <p:nvSpPr>
          <p:cNvPr id="7173" name="Text Box 5"/>
          <p:cNvSpPr txBox="1">
            <a:spLocks noChangeArrowheads="1"/>
          </p:cNvSpPr>
          <p:nvPr/>
        </p:nvSpPr>
        <p:spPr bwMode="auto">
          <a:xfrm>
            <a:off x="2286001" y="4648200"/>
            <a:ext cx="2218749" cy="369332"/>
          </a:xfrm>
          <a:prstGeom prst="rect">
            <a:avLst/>
          </a:prstGeom>
          <a:noFill/>
          <a:ln w="9525">
            <a:noFill/>
            <a:miter lim="800000"/>
            <a:headEnd/>
            <a:tailEnd/>
          </a:ln>
          <a:effectLst/>
        </p:spPr>
        <p:txBody>
          <a:bodyPr wrap="none">
            <a:spAutoFit/>
          </a:bodyPr>
          <a:lstStyle/>
          <a:p>
            <a:r>
              <a:rPr lang="pt-BR" dirty="0"/>
              <a:t>Vários pares de genes</a:t>
            </a:r>
          </a:p>
        </p:txBody>
      </p:sp>
      <p:sp>
        <p:nvSpPr>
          <p:cNvPr id="7174" name="Line 6"/>
          <p:cNvSpPr>
            <a:spLocks noChangeShapeType="1"/>
          </p:cNvSpPr>
          <p:nvPr/>
        </p:nvSpPr>
        <p:spPr bwMode="auto">
          <a:xfrm>
            <a:off x="5218090" y="4862848"/>
            <a:ext cx="1219200" cy="0"/>
          </a:xfrm>
          <a:prstGeom prst="line">
            <a:avLst/>
          </a:prstGeom>
          <a:noFill/>
          <a:ln w="9525">
            <a:solidFill>
              <a:schemeClr val="tx1"/>
            </a:solidFill>
            <a:round/>
            <a:headEnd/>
            <a:tailEnd type="triangle" w="med" len="med"/>
          </a:ln>
          <a:effectLst/>
        </p:spPr>
        <p:txBody>
          <a:bodyPr/>
          <a:lstStyle/>
          <a:p>
            <a:endParaRPr lang="pt-BR"/>
          </a:p>
        </p:txBody>
      </p:sp>
      <p:sp>
        <p:nvSpPr>
          <p:cNvPr id="7175" name="Text Box 7"/>
          <p:cNvSpPr txBox="1">
            <a:spLocks noChangeArrowheads="1"/>
          </p:cNvSpPr>
          <p:nvPr/>
        </p:nvSpPr>
        <p:spPr bwMode="auto">
          <a:xfrm>
            <a:off x="6781801" y="4648200"/>
            <a:ext cx="2591287" cy="369332"/>
          </a:xfrm>
          <a:prstGeom prst="rect">
            <a:avLst/>
          </a:prstGeom>
          <a:noFill/>
          <a:ln w="9525">
            <a:noFill/>
            <a:miter lim="800000"/>
            <a:headEnd/>
            <a:tailEnd/>
          </a:ln>
          <a:effectLst/>
        </p:spPr>
        <p:txBody>
          <a:bodyPr wrap="none">
            <a:spAutoFit/>
          </a:bodyPr>
          <a:lstStyle/>
          <a:p>
            <a:r>
              <a:rPr lang="pt-BR"/>
              <a:t>Um só caráter hereditário</a:t>
            </a:r>
          </a:p>
        </p:txBody>
      </p:sp>
    </p:spTree>
    <p:extLst>
      <p:ext uri="{BB962C8B-B14F-4D97-AF65-F5344CB8AC3E}">
        <p14:creationId xmlns:p14="http://schemas.microsoft.com/office/powerpoint/2010/main" val="1526303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Descoberta </a:t>
            </a:r>
            <a:r>
              <a:rPr lang="pt-BR" dirty="0"/>
              <a:t>da </a:t>
            </a:r>
            <a:r>
              <a:rPr lang="pt-BR"/>
              <a:t>interação gênica (1905)</a:t>
            </a:r>
            <a:endParaRPr lang="pt-BR" dirty="0"/>
          </a:p>
        </p:txBody>
      </p:sp>
      <p:sp>
        <p:nvSpPr>
          <p:cNvPr id="6" name="Espaço Reservado para Conteúdo 5"/>
          <p:cNvSpPr>
            <a:spLocks noGrp="1"/>
          </p:cNvSpPr>
          <p:nvPr>
            <p:ph sz="half" idx="1"/>
          </p:nvPr>
        </p:nvSpPr>
        <p:spPr/>
        <p:txBody>
          <a:bodyPr/>
          <a:lstStyle/>
          <a:p>
            <a:endParaRPr lang="pt-BR"/>
          </a:p>
        </p:txBody>
      </p:sp>
      <p:sp>
        <p:nvSpPr>
          <p:cNvPr id="7" name="Espaço Reservado para Conteúdo 6"/>
          <p:cNvSpPr>
            <a:spLocks noGrp="1"/>
          </p:cNvSpPr>
          <p:nvPr>
            <p:ph sz="half" idx="2"/>
          </p:nvPr>
        </p:nvSpPr>
        <p:spPr>
          <a:xfrm>
            <a:off x="7901322" y="1825625"/>
            <a:ext cx="3452478" cy="4351338"/>
          </a:xfrm>
        </p:spPr>
        <p:txBody>
          <a:bodyPr/>
          <a:lstStyle/>
          <a:p>
            <a:r>
              <a:rPr lang="pt-BR" dirty="0"/>
              <a:t>A = simples</a:t>
            </a:r>
          </a:p>
          <a:p>
            <a:pPr marL="0" indent="0">
              <a:buNone/>
            </a:pPr>
            <a:r>
              <a:rPr lang="pt-BR" dirty="0"/>
              <a:t>Raça </a:t>
            </a:r>
            <a:r>
              <a:rPr lang="pt-BR" dirty="0" err="1"/>
              <a:t>Leghorn</a:t>
            </a:r>
            <a:endParaRPr lang="pt-BR" dirty="0"/>
          </a:p>
          <a:p>
            <a:r>
              <a:rPr lang="pt-BR" dirty="0"/>
              <a:t>B = rosa</a:t>
            </a:r>
          </a:p>
          <a:p>
            <a:pPr marL="0" indent="0">
              <a:buNone/>
            </a:pPr>
            <a:r>
              <a:rPr lang="pt-BR" dirty="0"/>
              <a:t>Raça </a:t>
            </a:r>
            <a:r>
              <a:rPr lang="pt-BR" dirty="0" err="1"/>
              <a:t>Wyandotte</a:t>
            </a:r>
            <a:endParaRPr lang="pt-BR" dirty="0"/>
          </a:p>
          <a:p>
            <a:r>
              <a:rPr lang="pt-BR" dirty="0"/>
              <a:t>C = ervilha</a:t>
            </a:r>
          </a:p>
          <a:p>
            <a:pPr marL="0" indent="0">
              <a:buNone/>
            </a:pPr>
            <a:r>
              <a:rPr lang="pt-BR" dirty="0"/>
              <a:t>Raça Brahma</a:t>
            </a:r>
          </a:p>
          <a:p>
            <a:r>
              <a:rPr lang="pt-BR" dirty="0"/>
              <a:t>D = noz</a:t>
            </a:r>
          </a:p>
          <a:p>
            <a:pPr marL="0" indent="0">
              <a:buNone/>
            </a:pPr>
            <a:r>
              <a:rPr lang="pt-BR" dirty="0"/>
              <a:t>(sem raça definida)</a:t>
            </a:r>
          </a:p>
        </p:txBody>
      </p:sp>
      <p:pic>
        <p:nvPicPr>
          <p:cNvPr id="5" name="Imagem 4"/>
          <p:cNvPicPr>
            <a:picLocks noChangeAspect="1"/>
          </p:cNvPicPr>
          <p:nvPr/>
        </p:nvPicPr>
        <p:blipFill>
          <a:blip r:embed="rId2"/>
          <a:stretch>
            <a:fillRect/>
          </a:stretch>
        </p:blipFill>
        <p:spPr>
          <a:xfrm>
            <a:off x="728596" y="1752600"/>
            <a:ext cx="7063122" cy="4758003"/>
          </a:xfrm>
          <a:prstGeom prst="rect">
            <a:avLst/>
          </a:prstGeom>
        </p:spPr>
      </p:pic>
    </p:spTree>
    <p:extLst>
      <p:ext uri="{BB962C8B-B14F-4D97-AF65-F5344CB8AC3E}">
        <p14:creationId xmlns:p14="http://schemas.microsoft.com/office/powerpoint/2010/main" val="2947452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Descoberta: Crista de galos</a:t>
            </a:r>
          </a:p>
        </p:txBody>
      </p:sp>
      <p:sp>
        <p:nvSpPr>
          <p:cNvPr id="6" name="Espaço Reservado para Conteúdo 5"/>
          <p:cNvSpPr>
            <a:spLocks noGrp="1"/>
          </p:cNvSpPr>
          <p:nvPr>
            <p:ph sz="half" idx="1"/>
          </p:nvPr>
        </p:nvSpPr>
        <p:spPr/>
        <p:txBody>
          <a:bodyPr/>
          <a:lstStyle/>
          <a:p>
            <a:r>
              <a:rPr lang="pt-BR" dirty="0"/>
              <a:t>Ervilha x simples</a:t>
            </a:r>
          </a:p>
          <a:p>
            <a:endParaRPr lang="pt-BR" dirty="0"/>
          </a:p>
          <a:p>
            <a:pPr marL="0" indent="0">
              <a:buNone/>
            </a:pPr>
            <a:r>
              <a:rPr lang="pt-BR" dirty="0"/>
              <a:t>       F1   100% Ervilha</a:t>
            </a:r>
          </a:p>
          <a:p>
            <a:pPr marL="0" indent="0">
              <a:buNone/>
            </a:pPr>
            <a:endParaRPr lang="pt-BR" dirty="0"/>
          </a:p>
          <a:p>
            <a:pPr marL="0" indent="0">
              <a:buNone/>
            </a:pPr>
            <a:endParaRPr lang="pt-BR" dirty="0"/>
          </a:p>
          <a:p>
            <a:pPr marL="0" indent="0">
              <a:buNone/>
            </a:pPr>
            <a:r>
              <a:rPr lang="pt-BR" dirty="0"/>
              <a:t>F2 Ervilha 3 : 1 simples</a:t>
            </a:r>
          </a:p>
        </p:txBody>
      </p:sp>
      <p:sp>
        <p:nvSpPr>
          <p:cNvPr id="7" name="Espaço Reservado para Conteúdo 6"/>
          <p:cNvSpPr>
            <a:spLocks noGrp="1"/>
          </p:cNvSpPr>
          <p:nvPr>
            <p:ph sz="half" idx="2"/>
          </p:nvPr>
        </p:nvSpPr>
        <p:spPr/>
        <p:txBody>
          <a:bodyPr/>
          <a:lstStyle/>
          <a:p>
            <a:r>
              <a:rPr lang="pt-BR" dirty="0"/>
              <a:t>Rosa x simples</a:t>
            </a:r>
          </a:p>
          <a:p>
            <a:endParaRPr lang="pt-BR" dirty="0"/>
          </a:p>
          <a:p>
            <a:pPr marL="0" indent="0">
              <a:buNone/>
            </a:pPr>
            <a:r>
              <a:rPr lang="pt-BR" dirty="0"/>
              <a:t>     F1   100% Rosa</a:t>
            </a:r>
          </a:p>
          <a:p>
            <a:pPr marL="0" indent="0">
              <a:buNone/>
            </a:pPr>
            <a:endParaRPr lang="pt-BR" dirty="0"/>
          </a:p>
          <a:p>
            <a:pPr marL="0" indent="0">
              <a:buNone/>
            </a:pPr>
            <a:endParaRPr lang="pt-BR" dirty="0"/>
          </a:p>
          <a:p>
            <a:pPr marL="0" indent="0">
              <a:buNone/>
            </a:pPr>
            <a:r>
              <a:rPr lang="pt-BR" dirty="0"/>
              <a:t>F2 Rosa 3 : 1 simples</a:t>
            </a:r>
          </a:p>
          <a:p>
            <a:endParaRPr lang="pt-BR" dirty="0"/>
          </a:p>
        </p:txBody>
      </p:sp>
      <p:cxnSp>
        <p:nvCxnSpPr>
          <p:cNvPr id="9" name="Conector de seta reta 8"/>
          <p:cNvCxnSpPr/>
          <p:nvPr/>
        </p:nvCxnSpPr>
        <p:spPr>
          <a:xfrm>
            <a:off x="2356834" y="2369713"/>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p:cNvCxnSpPr/>
          <p:nvPr/>
        </p:nvCxnSpPr>
        <p:spPr>
          <a:xfrm>
            <a:off x="2343955" y="3563413"/>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p:nvPr/>
        </p:nvCxnSpPr>
        <p:spPr>
          <a:xfrm>
            <a:off x="7306317" y="2369712"/>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Conector de seta reta 11"/>
          <p:cNvCxnSpPr/>
          <p:nvPr/>
        </p:nvCxnSpPr>
        <p:spPr>
          <a:xfrm>
            <a:off x="7387714" y="3563412"/>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993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Surpresa!!</a:t>
            </a:r>
          </a:p>
        </p:txBody>
      </p:sp>
      <p:sp>
        <p:nvSpPr>
          <p:cNvPr id="3" name="Espaço Reservado para Conteúdo 2"/>
          <p:cNvSpPr>
            <a:spLocks noGrp="1"/>
          </p:cNvSpPr>
          <p:nvPr>
            <p:ph sz="half" idx="1"/>
          </p:nvPr>
        </p:nvSpPr>
        <p:spPr/>
        <p:txBody>
          <a:bodyPr/>
          <a:lstStyle/>
          <a:p>
            <a:r>
              <a:rPr lang="pt-BR" dirty="0"/>
              <a:t>Ervilha x Rosa</a:t>
            </a:r>
          </a:p>
          <a:p>
            <a:endParaRPr lang="pt-BR" dirty="0"/>
          </a:p>
          <a:p>
            <a:r>
              <a:rPr lang="pt-BR" dirty="0"/>
              <a:t>  F1 100% Noz</a:t>
            </a:r>
          </a:p>
          <a:p>
            <a:endParaRPr lang="pt-BR" dirty="0"/>
          </a:p>
          <a:p>
            <a:r>
              <a:rPr lang="pt-BR" dirty="0"/>
              <a:t>Seria um caso de alelos múltiplos?</a:t>
            </a:r>
          </a:p>
        </p:txBody>
      </p:sp>
      <p:sp>
        <p:nvSpPr>
          <p:cNvPr id="4" name="Espaço Reservado para Conteúdo 3"/>
          <p:cNvSpPr>
            <a:spLocks noGrp="1"/>
          </p:cNvSpPr>
          <p:nvPr>
            <p:ph sz="half" idx="2"/>
          </p:nvPr>
        </p:nvSpPr>
        <p:spPr/>
        <p:txBody>
          <a:bodyPr/>
          <a:lstStyle/>
          <a:p>
            <a:r>
              <a:rPr lang="pt-BR" dirty="0"/>
              <a:t>F1 Noz x F1 Noz</a:t>
            </a:r>
          </a:p>
          <a:p>
            <a:endParaRPr lang="pt-BR" dirty="0"/>
          </a:p>
          <a:p>
            <a:endParaRPr lang="pt-BR" dirty="0"/>
          </a:p>
          <a:p>
            <a:pPr marL="0" indent="0">
              <a:buNone/>
            </a:pPr>
            <a:r>
              <a:rPr lang="pt-BR" dirty="0"/>
              <a:t>                ???</a:t>
            </a:r>
          </a:p>
        </p:txBody>
      </p:sp>
      <p:cxnSp>
        <p:nvCxnSpPr>
          <p:cNvPr id="5" name="Conector de seta reta 4"/>
          <p:cNvCxnSpPr/>
          <p:nvPr/>
        </p:nvCxnSpPr>
        <p:spPr>
          <a:xfrm>
            <a:off x="2356834" y="2369713"/>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 name="Conector de seta reta 5"/>
          <p:cNvCxnSpPr/>
          <p:nvPr/>
        </p:nvCxnSpPr>
        <p:spPr>
          <a:xfrm>
            <a:off x="7825525" y="2588653"/>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01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Surpresa!!</a:t>
            </a:r>
          </a:p>
        </p:txBody>
      </p:sp>
      <p:sp>
        <p:nvSpPr>
          <p:cNvPr id="3" name="Espaço Reservado para Conteúdo 2"/>
          <p:cNvSpPr>
            <a:spLocks noGrp="1"/>
          </p:cNvSpPr>
          <p:nvPr>
            <p:ph sz="half" idx="1"/>
          </p:nvPr>
        </p:nvSpPr>
        <p:spPr/>
        <p:txBody>
          <a:bodyPr/>
          <a:lstStyle/>
          <a:p>
            <a:r>
              <a:rPr lang="pt-BR" dirty="0"/>
              <a:t>Ervilha x Rosa</a:t>
            </a:r>
          </a:p>
          <a:p>
            <a:endParaRPr lang="pt-BR" dirty="0"/>
          </a:p>
          <a:p>
            <a:r>
              <a:rPr lang="pt-BR" dirty="0"/>
              <a:t>  F1 100% Noz</a:t>
            </a:r>
          </a:p>
          <a:p>
            <a:endParaRPr lang="pt-BR" dirty="0"/>
          </a:p>
          <a:p>
            <a:pPr marL="0" indent="0">
              <a:buNone/>
            </a:pPr>
            <a:endParaRPr lang="pt-BR" dirty="0"/>
          </a:p>
        </p:txBody>
      </p:sp>
      <p:sp>
        <p:nvSpPr>
          <p:cNvPr id="4" name="Espaço Reservado para Conteúdo 3"/>
          <p:cNvSpPr>
            <a:spLocks noGrp="1"/>
          </p:cNvSpPr>
          <p:nvPr>
            <p:ph sz="half" idx="2"/>
          </p:nvPr>
        </p:nvSpPr>
        <p:spPr/>
        <p:txBody>
          <a:bodyPr/>
          <a:lstStyle/>
          <a:p>
            <a:r>
              <a:rPr lang="pt-BR" dirty="0"/>
              <a:t>F1 Noz x F1 Noz</a:t>
            </a:r>
          </a:p>
          <a:p>
            <a:endParaRPr lang="pt-BR" dirty="0"/>
          </a:p>
          <a:p>
            <a:endParaRPr lang="pt-BR" dirty="0"/>
          </a:p>
          <a:p>
            <a:pPr marL="0" indent="0">
              <a:buNone/>
            </a:pPr>
            <a:r>
              <a:rPr lang="pt-BR" dirty="0"/>
              <a:t>                9:3:3:1</a:t>
            </a:r>
          </a:p>
          <a:p>
            <a:pPr marL="0" indent="0">
              <a:buNone/>
            </a:pPr>
            <a:endParaRPr lang="pt-BR" dirty="0"/>
          </a:p>
          <a:p>
            <a:pPr marL="0" indent="0">
              <a:buNone/>
            </a:pPr>
            <a:r>
              <a:rPr lang="pt-BR" dirty="0"/>
              <a:t>2 pares de genes!!!</a:t>
            </a:r>
          </a:p>
        </p:txBody>
      </p:sp>
      <p:cxnSp>
        <p:nvCxnSpPr>
          <p:cNvPr id="5" name="Conector de seta reta 4"/>
          <p:cNvCxnSpPr/>
          <p:nvPr/>
        </p:nvCxnSpPr>
        <p:spPr>
          <a:xfrm>
            <a:off x="2356834" y="2369713"/>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 name="Conector de seta reta 5"/>
          <p:cNvCxnSpPr/>
          <p:nvPr/>
        </p:nvCxnSpPr>
        <p:spPr>
          <a:xfrm>
            <a:off x="7825525" y="2588653"/>
            <a:ext cx="12879" cy="43788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6944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pt-BR" b="1">
                <a:solidFill>
                  <a:srgbClr val="666666"/>
                </a:solidFill>
                <a:latin typeface="Arial" charset="0"/>
                <a:cs typeface="Arial" charset="0"/>
              </a:rPr>
              <a:t>INTERAÇÃO GÊNICA</a:t>
            </a:r>
            <a:r>
              <a:rPr lang="pt-BR"/>
              <a:t> </a:t>
            </a:r>
          </a:p>
        </p:txBody>
      </p:sp>
      <p:sp>
        <p:nvSpPr>
          <p:cNvPr id="8195" name="Rectangle 3"/>
          <p:cNvSpPr>
            <a:spLocks noGrp="1" noChangeArrowheads="1"/>
          </p:cNvSpPr>
          <p:nvPr>
            <p:ph type="body" sz="half" idx="2"/>
          </p:nvPr>
        </p:nvSpPr>
        <p:spPr>
          <a:xfrm>
            <a:off x="1524000" y="1905000"/>
            <a:ext cx="7884368" cy="4572000"/>
          </a:xfrm>
        </p:spPr>
        <p:txBody>
          <a:bodyPr/>
          <a:lstStyle/>
          <a:p>
            <a:r>
              <a:rPr lang="pt-BR" dirty="0">
                <a:solidFill>
                  <a:srgbClr val="FFFFFF"/>
                </a:solidFill>
                <a:cs typeface="Times New Roman" pitchFamily="18" charset="0"/>
              </a:rPr>
              <a:t>   </a:t>
            </a:r>
            <a:r>
              <a:rPr lang="pt-BR" b="1" dirty="0">
                <a:solidFill>
                  <a:srgbClr val="000000"/>
                </a:solidFill>
                <a:latin typeface="Verdana" pitchFamily="34" charset="0"/>
                <a:cs typeface="Times New Roman" pitchFamily="18" charset="0"/>
              </a:rPr>
              <a:t>      </a:t>
            </a:r>
            <a:r>
              <a:rPr lang="pt-BR" b="1" dirty="0">
                <a:latin typeface="Verdana" pitchFamily="34" charset="0"/>
                <a:cs typeface="Times New Roman" pitchFamily="18" charset="0"/>
              </a:rPr>
              <a:t>Em galinhas, o tipo de crista é um caso de interação gênica em que temos: </a:t>
            </a:r>
          </a:p>
          <a:p>
            <a:endParaRPr lang="pt-BR" b="1" dirty="0">
              <a:latin typeface="Verdana" pitchFamily="34" charset="0"/>
              <a:cs typeface="Times New Roman" pitchFamily="18" charset="0"/>
            </a:endParaRPr>
          </a:p>
          <a:p>
            <a:endParaRPr lang="pt-BR" dirty="0">
              <a:solidFill>
                <a:srgbClr val="FFFFFF"/>
              </a:solidFill>
              <a:cs typeface="Times New Roman" pitchFamily="18" charset="0"/>
            </a:endParaRPr>
          </a:p>
        </p:txBody>
      </p:sp>
      <p:pic>
        <p:nvPicPr>
          <p:cNvPr id="8198" name="Picture 6" descr="http://images.slideplayer.com.br/1/336283/slides/slide_4.jpg"/>
          <p:cNvPicPr>
            <a:picLocks noChangeAspect="1" noChangeArrowheads="1"/>
          </p:cNvPicPr>
          <p:nvPr/>
        </p:nvPicPr>
        <p:blipFill>
          <a:blip r:embed="rId2" cstate="print"/>
          <a:srcRect l="1575" t="27300" r="1564" b="14951"/>
          <a:stretch>
            <a:fillRect/>
          </a:stretch>
        </p:blipFill>
        <p:spPr bwMode="auto">
          <a:xfrm>
            <a:off x="2639616" y="3573016"/>
            <a:ext cx="6408712" cy="2865684"/>
          </a:xfrm>
          <a:prstGeom prst="rect">
            <a:avLst/>
          </a:prstGeom>
          <a:noFill/>
        </p:spPr>
      </p:pic>
    </p:spTree>
    <p:extLst>
      <p:ext uri="{BB962C8B-B14F-4D97-AF65-F5344CB8AC3E}">
        <p14:creationId xmlns:p14="http://schemas.microsoft.com/office/powerpoint/2010/main" val="149512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r>
              <a:rPr lang="pt-BR" b="1">
                <a:solidFill>
                  <a:srgbClr val="666666"/>
                </a:solidFill>
                <a:latin typeface="Arial" charset="0"/>
                <a:cs typeface="Arial" charset="0"/>
              </a:rPr>
              <a:t>EPISTASIA</a:t>
            </a:r>
            <a:br>
              <a:rPr lang="pt-BR">
                <a:solidFill>
                  <a:srgbClr val="FFFFFF"/>
                </a:solidFill>
                <a:cs typeface="Times New Roman" pitchFamily="18" charset="0"/>
              </a:rPr>
            </a:br>
            <a:endParaRPr lang="pt-BR">
              <a:solidFill>
                <a:srgbClr val="FFFFFF"/>
              </a:solidFill>
              <a:cs typeface="Times New Roman" pitchFamily="18" charset="0"/>
            </a:endParaRPr>
          </a:p>
        </p:txBody>
      </p:sp>
      <p:sp>
        <p:nvSpPr>
          <p:cNvPr id="9220" name="Rectangle 4"/>
          <p:cNvSpPr>
            <a:spLocks noGrp="1" noChangeArrowheads="1"/>
          </p:cNvSpPr>
          <p:nvPr>
            <p:ph type="body" sz="half" idx="2"/>
          </p:nvPr>
        </p:nvSpPr>
        <p:spPr>
          <a:xfrm>
            <a:off x="2286000" y="1752600"/>
            <a:ext cx="7010400" cy="1905000"/>
          </a:xfrm>
        </p:spPr>
        <p:txBody>
          <a:bodyPr/>
          <a:lstStyle/>
          <a:p>
            <a:pPr>
              <a:lnSpc>
                <a:spcPct val="90000"/>
              </a:lnSpc>
            </a:pPr>
            <a:r>
              <a:rPr lang="pt-BR" sz="2400">
                <a:solidFill>
                  <a:srgbClr val="000000"/>
                </a:solidFill>
                <a:effectLst>
                  <a:outerShdw blurRad="38100" dist="38100" dir="2700000" algn="tl">
                    <a:srgbClr val="C0C0C0"/>
                  </a:outerShdw>
                </a:effectLst>
                <a:latin typeface="Arial" charset="0"/>
                <a:cs typeface="Arial" charset="0"/>
              </a:rPr>
              <a:t>Constitui uma modalidade de interação gênica na qual genes de um par de alelos </a:t>
            </a:r>
            <a:r>
              <a:rPr lang="pt-BR" sz="2400" u="sng">
                <a:solidFill>
                  <a:srgbClr val="000000"/>
                </a:solidFill>
                <a:effectLst>
                  <a:outerShdw blurRad="38100" dist="38100" dir="2700000" algn="tl">
                    <a:srgbClr val="C0C0C0"/>
                  </a:outerShdw>
                </a:effectLst>
                <a:latin typeface="Arial" charset="0"/>
                <a:cs typeface="Arial" charset="0"/>
              </a:rPr>
              <a:t>inibem </a:t>
            </a:r>
            <a:r>
              <a:rPr lang="pt-BR" sz="2400">
                <a:solidFill>
                  <a:srgbClr val="000000"/>
                </a:solidFill>
                <a:effectLst>
                  <a:outerShdw blurRad="38100" dist="38100" dir="2700000" algn="tl">
                    <a:srgbClr val="C0C0C0"/>
                  </a:outerShdw>
                </a:effectLst>
                <a:latin typeface="Arial" charset="0"/>
                <a:cs typeface="Arial" charset="0"/>
              </a:rPr>
              <a:t>a manifestação de genes de outros pares. Na epistasia a dominância manifesta-se entre genes não-alelos.</a:t>
            </a:r>
            <a:r>
              <a:rPr lang="pt-BR" sz="2400">
                <a:solidFill>
                  <a:srgbClr val="000000"/>
                </a:solidFill>
                <a:latin typeface="Arial" charset="0"/>
                <a:cs typeface="Arial" charset="0"/>
              </a:rPr>
              <a:t> </a:t>
            </a:r>
          </a:p>
        </p:txBody>
      </p:sp>
      <p:pic>
        <p:nvPicPr>
          <p:cNvPr id="9224" name="Picture 8" descr="epist 3"/>
          <p:cNvPicPr>
            <a:picLocks noChangeAspect="1" noChangeArrowheads="1"/>
          </p:cNvPicPr>
          <p:nvPr/>
        </p:nvPicPr>
        <p:blipFill>
          <a:blip r:embed="rId2" cstate="print"/>
          <a:srcRect/>
          <a:stretch>
            <a:fillRect/>
          </a:stretch>
        </p:blipFill>
        <p:spPr bwMode="auto">
          <a:xfrm>
            <a:off x="4419601" y="3505201"/>
            <a:ext cx="2924175" cy="2695575"/>
          </a:xfrm>
          <a:prstGeom prst="rect">
            <a:avLst/>
          </a:prstGeom>
          <a:noFill/>
        </p:spPr>
      </p:pic>
    </p:spTree>
    <p:extLst>
      <p:ext uri="{BB962C8B-B14F-4D97-AF65-F5344CB8AC3E}">
        <p14:creationId xmlns:p14="http://schemas.microsoft.com/office/powerpoint/2010/main" val="1320453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pt-BR" b="1">
                <a:solidFill>
                  <a:srgbClr val="666666"/>
                </a:solidFill>
                <a:latin typeface="Arial" charset="0"/>
                <a:cs typeface="Arial" charset="0"/>
              </a:rPr>
              <a:t>EPISTASIA DOMINANTE</a:t>
            </a:r>
            <a:endParaRPr lang="pt-BR">
              <a:solidFill>
                <a:srgbClr val="FFFFFF"/>
              </a:solidFill>
              <a:cs typeface="Times New Roman" pitchFamily="18" charset="0"/>
            </a:endParaRPr>
          </a:p>
        </p:txBody>
      </p:sp>
      <p:sp>
        <p:nvSpPr>
          <p:cNvPr id="10244" name="Rectangle 4"/>
          <p:cNvSpPr>
            <a:spLocks noGrp="1" noChangeArrowheads="1"/>
          </p:cNvSpPr>
          <p:nvPr>
            <p:ph type="body" sz="half" idx="2"/>
          </p:nvPr>
        </p:nvSpPr>
        <p:spPr>
          <a:xfrm>
            <a:off x="1981200" y="1752600"/>
            <a:ext cx="7924800" cy="1828800"/>
          </a:xfrm>
        </p:spPr>
        <p:txBody>
          <a:bodyPr/>
          <a:lstStyle/>
          <a:p>
            <a:r>
              <a:rPr lang="pt-BR" sz="2000" i="1">
                <a:solidFill>
                  <a:srgbClr val="000000"/>
                </a:solidFill>
                <a:effectLst>
                  <a:outerShdw blurRad="38100" dist="38100" dir="2700000" algn="tl">
                    <a:srgbClr val="C0C0C0"/>
                  </a:outerShdw>
                </a:effectLst>
                <a:latin typeface="Arial" charset="0"/>
                <a:cs typeface="Arial" charset="0"/>
              </a:rPr>
              <a:t>Quando o gene epistático é dominante em relação ao seu alelo  como o gene I, no caso da coloração da plumagem em galinhas leghorn.(C : colorido é hipostático).</a:t>
            </a:r>
            <a:r>
              <a:rPr lang="pt-BR" sz="2000" i="1">
                <a:solidFill>
                  <a:srgbClr val="000000"/>
                </a:solidFill>
                <a:latin typeface="Arial" charset="0"/>
                <a:cs typeface="Arial" charset="0"/>
              </a:rPr>
              <a:t> </a:t>
            </a:r>
          </a:p>
        </p:txBody>
      </p:sp>
      <p:sp>
        <p:nvSpPr>
          <p:cNvPr id="10245" name="Text Box 5"/>
          <p:cNvSpPr txBox="1">
            <a:spLocks noChangeArrowheads="1"/>
          </p:cNvSpPr>
          <p:nvPr/>
        </p:nvSpPr>
        <p:spPr bwMode="auto">
          <a:xfrm>
            <a:off x="6553200" y="2895600"/>
            <a:ext cx="3581400" cy="1754326"/>
          </a:xfrm>
          <a:prstGeom prst="rect">
            <a:avLst/>
          </a:prstGeom>
          <a:noFill/>
          <a:ln w="9525">
            <a:noFill/>
            <a:miter lim="800000"/>
            <a:headEnd/>
            <a:tailEnd/>
          </a:ln>
          <a:effectLst/>
        </p:spPr>
        <p:txBody>
          <a:bodyPr>
            <a:spAutoFit/>
          </a:bodyPr>
          <a:lstStyle/>
          <a:p>
            <a:r>
              <a:rPr lang="pt-BR" i="1">
                <a:solidFill>
                  <a:srgbClr val="000000"/>
                </a:solidFill>
                <a:effectLst>
                  <a:outerShdw blurRad="38100" dist="38100" dir="2700000" algn="tl">
                    <a:srgbClr val="C0C0C0"/>
                  </a:outerShdw>
                </a:effectLst>
                <a:latin typeface="Arial" charset="0"/>
                <a:cs typeface="Arial" charset="0"/>
              </a:rPr>
              <a:t>Ex.: Plumagem colorida: CC ii ou Cc ii.</a:t>
            </a:r>
            <a:r>
              <a:rPr lang="pt-BR" i="1">
                <a:solidFill>
                  <a:srgbClr val="000000"/>
                </a:solidFill>
                <a:latin typeface="Arial" charset="0"/>
                <a:cs typeface="Arial" charset="0"/>
              </a:rPr>
              <a:t> </a:t>
            </a:r>
            <a:r>
              <a:rPr lang="pt-BR" i="1">
                <a:solidFill>
                  <a:srgbClr val="000000"/>
                </a:solidFill>
                <a:effectLst>
                  <a:outerShdw blurRad="38100" dist="38100" dir="2700000" algn="tl">
                    <a:srgbClr val="C0C0C0"/>
                  </a:outerShdw>
                </a:effectLst>
                <a:latin typeface="Arial" charset="0"/>
                <a:cs typeface="Arial" charset="0"/>
              </a:rPr>
              <a:t>       Plumagem branca: CC II ou CC Ii ou Cc II ou Cc Ii ou cc II ou cc Ii ou cc ii</a:t>
            </a:r>
          </a:p>
          <a:p>
            <a:endParaRPr lang="pt-BR" i="1">
              <a:solidFill>
                <a:srgbClr val="000000"/>
              </a:solidFill>
              <a:effectLst>
                <a:outerShdw blurRad="38100" dist="38100" dir="2700000" algn="tl">
                  <a:srgbClr val="C0C0C0"/>
                </a:outerShdw>
              </a:effectLst>
              <a:latin typeface="Arial" charset="0"/>
              <a:cs typeface="Arial" charset="0"/>
            </a:endParaRPr>
          </a:p>
          <a:p>
            <a:endParaRPr lang="pt-BR" i="1">
              <a:solidFill>
                <a:srgbClr val="000000"/>
              </a:solidFill>
              <a:effectLst>
                <a:outerShdw blurRad="38100" dist="38100" dir="2700000" algn="tl">
                  <a:srgbClr val="C0C0C0"/>
                </a:outerShdw>
              </a:effectLst>
              <a:latin typeface="Arial" charset="0"/>
              <a:cs typeface="Arial" charset="0"/>
            </a:endParaRPr>
          </a:p>
        </p:txBody>
      </p:sp>
      <p:pic>
        <p:nvPicPr>
          <p:cNvPr id="10246" name="Picture 6" descr="brownlega"/>
          <p:cNvPicPr>
            <a:picLocks noChangeAspect="1" noChangeArrowheads="1"/>
          </p:cNvPicPr>
          <p:nvPr/>
        </p:nvPicPr>
        <p:blipFill>
          <a:blip r:embed="rId2" cstate="print"/>
          <a:srcRect/>
          <a:stretch>
            <a:fillRect/>
          </a:stretch>
        </p:blipFill>
        <p:spPr bwMode="auto">
          <a:xfrm>
            <a:off x="2209801" y="2895600"/>
            <a:ext cx="1795463" cy="2216150"/>
          </a:xfrm>
          <a:prstGeom prst="rect">
            <a:avLst/>
          </a:prstGeom>
          <a:noFill/>
        </p:spPr>
      </p:pic>
      <p:pic>
        <p:nvPicPr>
          <p:cNvPr id="10247" name="Picture 7" descr="wlghhen"/>
          <p:cNvPicPr>
            <a:picLocks noChangeAspect="1" noChangeArrowheads="1"/>
          </p:cNvPicPr>
          <p:nvPr/>
        </p:nvPicPr>
        <p:blipFill>
          <a:blip r:embed="rId3" cstate="print"/>
          <a:srcRect/>
          <a:stretch>
            <a:fillRect/>
          </a:stretch>
        </p:blipFill>
        <p:spPr bwMode="auto">
          <a:xfrm>
            <a:off x="4343400" y="2895600"/>
            <a:ext cx="1976438" cy="2266950"/>
          </a:xfrm>
          <a:prstGeom prst="rect">
            <a:avLst/>
          </a:prstGeom>
          <a:noFill/>
        </p:spPr>
      </p:pic>
      <p:pic>
        <p:nvPicPr>
          <p:cNvPr id="10248" name="Picture 8" descr="epistasia"/>
          <p:cNvPicPr>
            <a:picLocks noGrp="1" noChangeAspect="1" noChangeArrowheads="1"/>
          </p:cNvPicPr>
          <p:nvPr>
            <p:ph type="clipArt" sz="half" idx="1"/>
          </p:nvPr>
        </p:nvPicPr>
        <p:blipFill>
          <a:blip r:embed="rId4" cstate="print"/>
          <a:srcRect/>
          <a:stretch>
            <a:fillRect/>
          </a:stretch>
        </p:blipFill>
        <p:spPr>
          <a:xfrm>
            <a:off x="2819400" y="5257800"/>
            <a:ext cx="5638800" cy="1600200"/>
          </a:xfrm>
          <a:noFill/>
          <a:ln/>
        </p:spPr>
      </p:pic>
    </p:spTree>
    <p:extLst>
      <p:ext uri="{BB962C8B-B14F-4D97-AF65-F5344CB8AC3E}">
        <p14:creationId xmlns:p14="http://schemas.microsoft.com/office/powerpoint/2010/main" val="1825926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r>
              <a:rPr lang="pt-BR" b="1">
                <a:solidFill>
                  <a:srgbClr val="666666"/>
                </a:solidFill>
                <a:latin typeface="Arial" charset="0"/>
                <a:cs typeface="Arial" charset="0"/>
              </a:rPr>
              <a:t>EPISTASIA RECESSIVA</a:t>
            </a:r>
            <a:br>
              <a:rPr lang="pt-BR">
                <a:solidFill>
                  <a:srgbClr val="FFFFFF"/>
                </a:solidFill>
                <a:cs typeface="Times New Roman" pitchFamily="18" charset="0"/>
              </a:rPr>
            </a:br>
            <a:endParaRPr lang="pt-BR">
              <a:solidFill>
                <a:srgbClr val="FFFFFF"/>
              </a:solidFill>
              <a:cs typeface="Times New Roman" pitchFamily="18" charset="0"/>
            </a:endParaRPr>
          </a:p>
        </p:txBody>
      </p:sp>
      <p:sp>
        <p:nvSpPr>
          <p:cNvPr id="11268" name="Rectangle 4"/>
          <p:cNvSpPr>
            <a:spLocks noGrp="1" noChangeArrowheads="1"/>
          </p:cNvSpPr>
          <p:nvPr>
            <p:ph type="body" sz="half" idx="2"/>
          </p:nvPr>
        </p:nvSpPr>
        <p:spPr>
          <a:xfrm>
            <a:off x="2590800" y="1412776"/>
            <a:ext cx="7391400" cy="3006824"/>
          </a:xfrm>
        </p:spPr>
        <p:txBody>
          <a:bodyPr/>
          <a:lstStyle/>
          <a:p>
            <a:pPr>
              <a:lnSpc>
                <a:spcPct val="90000"/>
              </a:lnSpc>
            </a:pPr>
            <a:r>
              <a:rPr lang="pt-BR" i="1" dirty="0">
                <a:solidFill>
                  <a:srgbClr val="000000"/>
                </a:solidFill>
                <a:effectLst>
                  <a:outerShdw blurRad="38100" dist="38100" dir="2700000" algn="tl">
                    <a:srgbClr val="C0C0C0"/>
                  </a:outerShdw>
                </a:effectLst>
                <a:latin typeface="Arial" charset="0"/>
                <a:cs typeface="Arial" charset="0"/>
              </a:rPr>
              <a:t>O gene epistático é recessivo. Ex:</a:t>
            </a:r>
            <a:r>
              <a:rPr lang="pt-BR" i="1" dirty="0">
                <a:solidFill>
                  <a:srgbClr val="330099"/>
                </a:solidFill>
                <a:effectLst>
                  <a:outerShdw blurRad="38100" dist="38100" dir="2700000" algn="tl">
                    <a:srgbClr val="C0C0C0"/>
                  </a:outerShdw>
                </a:effectLst>
              </a:rPr>
              <a:t> </a:t>
            </a:r>
            <a:r>
              <a:rPr lang="pt-BR" i="1" dirty="0">
                <a:effectLst>
                  <a:outerShdw blurRad="38100" dist="38100" dir="2700000" algn="tl">
                    <a:srgbClr val="C0C0C0"/>
                  </a:outerShdw>
                </a:effectLst>
              </a:rPr>
              <a:t>cor da pelagem de labrador.</a:t>
            </a:r>
          </a:p>
          <a:p>
            <a:pPr>
              <a:lnSpc>
                <a:spcPct val="90000"/>
              </a:lnSpc>
              <a:buFontTx/>
              <a:buNone/>
            </a:pPr>
            <a:r>
              <a:rPr lang="pt-BR" i="1" dirty="0"/>
              <a:t>   epistático </a:t>
            </a:r>
            <a:r>
              <a:rPr lang="pt-BR" b="1" i="1" dirty="0"/>
              <a:t>e    </a:t>
            </a:r>
            <a:r>
              <a:rPr lang="pt-BR" i="1" dirty="0"/>
              <a:t>(só inibe em dose dupla)</a:t>
            </a:r>
          </a:p>
          <a:p>
            <a:pPr>
              <a:lnSpc>
                <a:spcPct val="90000"/>
              </a:lnSpc>
              <a:buFontTx/>
              <a:buNone/>
            </a:pPr>
            <a:r>
              <a:rPr lang="pt-BR" i="1" dirty="0"/>
              <a:t>   hipostáticos :  preto BB ou </a:t>
            </a:r>
            <a:r>
              <a:rPr lang="pt-BR" i="1" dirty="0" err="1"/>
              <a:t>Bb</a:t>
            </a:r>
            <a:r>
              <a:rPr lang="pt-BR" i="1" dirty="0"/>
              <a:t> ;                           marrons </a:t>
            </a:r>
            <a:r>
              <a:rPr lang="pt-BR" i="1" dirty="0" err="1"/>
              <a:t>bb</a:t>
            </a:r>
            <a:endParaRPr lang="pt-BR" i="1" dirty="0"/>
          </a:p>
          <a:p>
            <a:pPr>
              <a:lnSpc>
                <a:spcPct val="90000"/>
              </a:lnSpc>
              <a:buFontTx/>
              <a:buNone/>
            </a:pPr>
            <a:r>
              <a:rPr lang="pt-BR" i="1" dirty="0"/>
              <a:t>                          </a:t>
            </a:r>
          </a:p>
        </p:txBody>
      </p:sp>
      <p:pic>
        <p:nvPicPr>
          <p:cNvPr id="11279" name="Picture 15" descr="Resultado de imagem para pelagem labrador"/>
          <p:cNvPicPr>
            <a:picLocks noChangeAspect="1" noChangeArrowheads="1"/>
          </p:cNvPicPr>
          <p:nvPr/>
        </p:nvPicPr>
        <p:blipFill>
          <a:blip r:embed="rId2" cstate="print"/>
          <a:srcRect/>
          <a:stretch>
            <a:fillRect/>
          </a:stretch>
        </p:blipFill>
        <p:spPr bwMode="auto">
          <a:xfrm>
            <a:off x="5519936" y="3356992"/>
            <a:ext cx="4191000" cy="3143250"/>
          </a:xfrm>
          <a:prstGeom prst="rect">
            <a:avLst/>
          </a:prstGeom>
          <a:noFill/>
        </p:spPr>
      </p:pic>
      <p:sp>
        <p:nvSpPr>
          <p:cNvPr id="8" name="CaixaDeTexto 7"/>
          <p:cNvSpPr txBox="1"/>
          <p:nvPr/>
        </p:nvSpPr>
        <p:spPr>
          <a:xfrm>
            <a:off x="2207568" y="4653136"/>
            <a:ext cx="2808312" cy="923330"/>
          </a:xfrm>
          <a:prstGeom prst="rect">
            <a:avLst/>
          </a:prstGeom>
          <a:noFill/>
        </p:spPr>
        <p:txBody>
          <a:bodyPr wrap="square" rtlCol="0">
            <a:spAutoFit/>
          </a:bodyPr>
          <a:lstStyle/>
          <a:p>
            <a:r>
              <a:rPr lang="pt-BR" dirty="0"/>
              <a:t>Preto = E_B_</a:t>
            </a:r>
          </a:p>
          <a:p>
            <a:r>
              <a:rPr lang="pt-BR" dirty="0"/>
              <a:t>Marrom = </a:t>
            </a:r>
            <a:r>
              <a:rPr lang="pt-BR" dirty="0" err="1"/>
              <a:t>E_bb</a:t>
            </a:r>
            <a:endParaRPr lang="pt-BR" dirty="0"/>
          </a:p>
          <a:p>
            <a:r>
              <a:rPr lang="pt-BR" dirty="0"/>
              <a:t>Dourada = </a:t>
            </a:r>
            <a:r>
              <a:rPr lang="pt-BR" dirty="0" err="1"/>
              <a:t>ee_</a:t>
            </a:r>
            <a:r>
              <a:rPr lang="pt-BR" dirty="0"/>
              <a:t> _</a:t>
            </a:r>
          </a:p>
        </p:txBody>
      </p:sp>
    </p:spTree>
    <p:extLst>
      <p:ext uri="{BB962C8B-B14F-4D97-AF65-F5344CB8AC3E}">
        <p14:creationId xmlns:p14="http://schemas.microsoft.com/office/powerpoint/2010/main" val="3222535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pt-BR" dirty="0"/>
              <a:t>UNICAMP </a:t>
            </a:r>
          </a:p>
        </p:txBody>
      </p:sp>
      <p:sp>
        <p:nvSpPr>
          <p:cNvPr id="6" name="Espaço Reservado para Conteúdo 5"/>
          <p:cNvSpPr>
            <a:spLocks noGrp="1"/>
          </p:cNvSpPr>
          <p:nvPr>
            <p:ph idx="1"/>
          </p:nvPr>
        </p:nvSpPr>
        <p:spPr>
          <a:xfrm>
            <a:off x="2209800" y="1628800"/>
            <a:ext cx="7772400" cy="4896544"/>
          </a:xfrm>
        </p:spPr>
        <p:txBody>
          <a:bodyPr/>
          <a:lstStyle/>
          <a:p>
            <a:pPr>
              <a:buNone/>
            </a:pPr>
            <a:r>
              <a:rPr lang="pt-BR" sz="2000" dirty="0"/>
              <a:t>Nos cães labradores, apenas dois genes autossômicos condicionam as cores preta, chocolate e dourada da pelagem. A produção do pigmento da cor preta é determinada pelo alelo dominante B e a do pigmento chocolate, pelo alelo recessivo b. O gene E também interfere na cor do animal, já que controla a deposição de pigmento na pelagem. A cor dourada é determinada pelo genótipo </a:t>
            </a:r>
            <a:r>
              <a:rPr lang="pt-BR" sz="2000" dirty="0" err="1"/>
              <a:t>ee</a:t>
            </a:r>
            <a:r>
              <a:rPr lang="pt-BR" sz="2000" dirty="0"/>
              <a:t>. Uma fêmea dourada cruzou com um macho chocolate e teve filhotes com pelagem preta e filhotes com pelagem chocolate, na mesma proporção. Quando essa mesma fêmea dourada cruzou com um macho preto, nasceram oito filhotes sendo um chocolate, três pretos e quatro dourados. </a:t>
            </a:r>
          </a:p>
          <a:p>
            <a:pPr marL="457200" indent="-457200">
              <a:buAutoNum type="alphaLcParenR"/>
            </a:pPr>
            <a:r>
              <a:rPr lang="pt-BR" sz="2000" dirty="0"/>
              <a:t>Qual o genótipo da fêmea mãe? Identifique e explique o tipo de interação gênica observada entre os genes envolvidos. </a:t>
            </a:r>
          </a:p>
          <a:p>
            <a:pPr marL="457200" indent="-457200">
              <a:buAutoNum type="alphaLcParenR"/>
            </a:pPr>
            <a:r>
              <a:rPr lang="pt-BR" sz="2000" dirty="0"/>
              <a:t>Quais são os genótipos do cão preto (pai) e do seu filhote chocolate? Mostrar como chegou à resposta.</a:t>
            </a:r>
          </a:p>
        </p:txBody>
      </p:sp>
    </p:spTree>
    <p:extLst>
      <p:ext uri="{BB962C8B-B14F-4D97-AF65-F5344CB8AC3E}">
        <p14:creationId xmlns:p14="http://schemas.microsoft.com/office/powerpoint/2010/main" val="296059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Resolução</a:t>
            </a:r>
          </a:p>
        </p:txBody>
      </p:sp>
      <p:sp>
        <p:nvSpPr>
          <p:cNvPr id="3" name="Espaço Reservado para Conteúdo 2"/>
          <p:cNvSpPr>
            <a:spLocks noGrp="1"/>
          </p:cNvSpPr>
          <p:nvPr>
            <p:ph idx="1"/>
          </p:nvPr>
        </p:nvSpPr>
        <p:spPr/>
        <p:txBody>
          <a:bodyPr/>
          <a:lstStyle/>
          <a:p>
            <a:r>
              <a:rPr lang="pt-BR" dirty="0"/>
              <a:t>A) Fêmea mãe tem genótipo </a:t>
            </a:r>
            <a:r>
              <a:rPr lang="pt-BR" dirty="0" err="1"/>
              <a:t>ee</a:t>
            </a:r>
            <a:r>
              <a:rPr lang="pt-BR" dirty="0"/>
              <a:t> </a:t>
            </a:r>
            <a:r>
              <a:rPr lang="pt-BR" dirty="0" err="1"/>
              <a:t>Bb</a:t>
            </a:r>
            <a:r>
              <a:rPr lang="pt-BR" dirty="0"/>
              <a:t>. </a:t>
            </a:r>
          </a:p>
          <a:p>
            <a:pPr marL="0" indent="0">
              <a:buNone/>
            </a:pPr>
            <a:r>
              <a:rPr lang="pt-BR" dirty="0"/>
              <a:t>O tipo de interação gênica é a </a:t>
            </a:r>
            <a:r>
              <a:rPr lang="pt-BR" dirty="0" err="1"/>
              <a:t>epistasia</a:t>
            </a:r>
            <a:r>
              <a:rPr lang="pt-BR" dirty="0"/>
              <a:t> recessiva, que consiste em inibição de um par de genes por outro par de genes, nesse caso, o par recessivo </a:t>
            </a:r>
            <a:r>
              <a:rPr lang="pt-BR" dirty="0" err="1"/>
              <a:t>ee</a:t>
            </a:r>
            <a:r>
              <a:rPr lang="pt-BR" dirty="0"/>
              <a:t>. O fato de nascerem descendentes marrons e pretos permite concluir o genótipo da fêmea mãe.</a:t>
            </a:r>
          </a:p>
          <a:p>
            <a:pPr marL="0" indent="0">
              <a:buNone/>
            </a:pPr>
            <a:r>
              <a:rPr lang="pt-BR" dirty="0"/>
              <a:t>b) O genótipo do pai preto é </a:t>
            </a:r>
          </a:p>
          <a:p>
            <a:r>
              <a:rPr lang="pt-BR" dirty="0"/>
              <a:t>Pai Preto = </a:t>
            </a:r>
            <a:r>
              <a:rPr lang="pt-BR" dirty="0" err="1"/>
              <a:t>EeBb</a:t>
            </a:r>
            <a:endParaRPr lang="pt-BR" dirty="0"/>
          </a:p>
          <a:p>
            <a:r>
              <a:rPr lang="pt-BR" dirty="0"/>
              <a:t>Marrom = </a:t>
            </a:r>
            <a:r>
              <a:rPr lang="pt-BR" dirty="0" err="1"/>
              <a:t>Eebb</a:t>
            </a:r>
            <a:endParaRPr lang="pt-BR" dirty="0"/>
          </a:p>
          <a:p>
            <a:pPr marL="0" indent="0">
              <a:buNone/>
            </a:pPr>
            <a:endParaRPr lang="pt-BR" dirty="0"/>
          </a:p>
        </p:txBody>
      </p:sp>
    </p:spTree>
    <p:extLst>
      <p:ext uri="{BB962C8B-B14F-4D97-AF65-F5344CB8AC3E}">
        <p14:creationId xmlns:p14="http://schemas.microsoft.com/office/powerpoint/2010/main" val="3705893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r>
              <a:rPr lang="pt-BR" b="1">
                <a:solidFill>
                  <a:srgbClr val="666666"/>
                </a:solidFill>
                <a:latin typeface="Arial" charset="0"/>
                <a:cs typeface="Arial" charset="0"/>
              </a:rPr>
              <a:t>HERANÇA QUANTITATIVA,POLIMERIA OU POLIGÊNICA</a:t>
            </a:r>
            <a:r>
              <a:rPr lang="pt-BR">
                <a:solidFill>
                  <a:srgbClr val="666666"/>
                </a:solidFill>
                <a:latin typeface="Arial" charset="0"/>
                <a:cs typeface="Arial" charset="0"/>
              </a:rPr>
              <a:t>            </a:t>
            </a:r>
          </a:p>
        </p:txBody>
      </p:sp>
      <p:sp>
        <p:nvSpPr>
          <p:cNvPr id="12291" name="Rectangle 3"/>
          <p:cNvSpPr>
            <a:spLocks noGrp="1" noChangeArrowheads="1"/>
          </p:cNvSpPr>
          <p:nvPr>
            <p:ph type="body" sz="half" idx="1"/>
          </p:nvPr>
        </p:nvSpPr>
        <p:spPr>
          <a:xfrm>
            <a:off x="1524000" y="2362200"/>
            <a:ext cx="4800600" cy="3657600"/>
          </a:xfrm>
        </p:spPr>
        <p:txBody>
          <a:bodyPr/>
          <a:lstStyle/>
          <a:p>
            <a:r>
              <a:rPr lang="pt-BR" sz="2400">
                <a:solidFill>
                  <a:srgbClr val="666666"/>
                </a:solidFill>
                <a:latin typeface="Arial" charset="0"/>
                <a:cs typeface="Arial" charset="0"/>
              </a:rPr>
              <a:t>Nesse tipo de interação gênica, dois ou mais pares de genes apresentam seus efeitos somados, manifestam uma mesma característica hereditária com fenótipos de diferentes intensidades (que podem ser medidos), com variação contínua.</a:t>
            </a:r>
            <a:endParaRPr lang="pt-BR" sz="2400"/>
          </a:p>
        </p:txBody>
      </p:sp>
      <p:pic>
        <p:nvPicPr>
          <p:cNvPr id="12294" name="Picture 6" descr="poligen1"/>
          <p:cNvPicPr>
            <a:picLocks noGrp="1" noChangeAspect="1" noChangeArrowheads="1"/>
          </p:cNvPicPr>
          <p:nvPr>
            <p:ph type="clipArt" sz="half" idx="2"/>
          </p:nvPr>
        </p:nvPicPr>
        <p:blipFill>
          <a:blip r:embed="rId2" cstate="print"/>
          <a:srcRect/>
          <a:stretch>
            <a:fillRect/>
          </a:stretch>
        </p:blipFill>
        <p:spPr>
          <a:xfrm>
            <a:off x="6324600" y="2362201"/>
            <a:ext cx="4343400" cy="3929063"/>
          </a:xfrm>
          <a:noFill/>
          <a:ln/>
        </p:spPr>
      </p:pic>
    </p:spTree>
    <p:extLst>
      <p:ext uri="{BB962C8B-B14F-4D97-AF65-F5344CB8AC3E}">
        <p14:creationId xmlns:p14="http://schemas.microsoft.com/office/powerpoint/2010/main" val="154294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fontScale="90000"/>
          </a:bodyPr>
          <a:lstStyle/>
          <a:p>
            <a:r>
              <a:rPr lang="pt-BR" b="1">
                <a:solidFill>
                  <a:srgbClr val="666666"/>
                </a:solidFill>
                <a:latin typeface="Arial" charset="0"/>
                <a:cs typeface="Arial" charset="0"/>
              </a:rPr>
              <a:t>HERANÇA QUANTITATIVA,POLIMERIA OU POLIGÊNICA</a:t>
            </a:r>
          </a:p>
        </p:txBody>
      </p:sp>
      <p:sp>
        <p:nvSpPr>
          <p:cNvPr id="13315" name="Rectangle 3"/>
          <p:cNvSpPr>
            <a:spLocks noGrp="1" noChangeArrowheads="1"/>
          </p:cNvSpPr>
          <p:nvPr>
            <p:ph type="body" sz="half" idx="1"/>
          </p:nvPr>
        </p:nvSpPr>
        <p:spPr>
          <a:xfrm>
            <a:off x="2209800" y="2438400"/>
            <a:ext cx="7543800" cy="3657600"/>
          </a:xfrm>
        </p:spPr>
        <p:txBody>
          <a:bodyPr/>
          <a:lstStyle/>
          <a:p>
            <a:r>
              <a:rPr lang="pt-BR">
                <a:solidFill>
                  <a:srgbClr val="FFFFFF"/>
                </a:solidFill>
                <a:latin typeface="Symbol" pitchFamily="18" charset="2"/>
                <a:cs typeface="Times New Roman" pitchFamily="18" charset="0"/>
              </a:rPr>
              <a:t>·</a:t>
            </a:r>
            <a:r>
              <a:rPr lang="pt-BR">
                <a:solidFill>
                  <a:srgbClr val="FFFFFF"/>
                </a:solidFill>
                <a:cs typeface="Times New Roman" pitchFamily="18" charset="0"/>
              </a:rPr>
              <a:t>        </a:t>
            </a:r>
            <a:endParaRPr lang="pt-BR"/>
          </a:p>
        </p:txBody>
      </p:sp>
      <p:sp>
        <p:nvSpPr>
          <p:cNvPr id="13318" name="Rectangle 6"/>
          <p:cNvSpPr>
            <a:spLocks noChangeArrowheads="1"/>
          </p:cNvSpPr>
          <p:nvPr/>
        </p:nvSpPr>
        <p:spPr bwMode="auto">
          <a:xfrm>
            <a:off x="1524000" y="2333626"/>
            <a:ext cx="9144000" cy="2585323"/>
          </a:xfrm>
          <a:prstGeom prst="rect">
            <a:avLst/>
          </a:prstGeom>
          <a:noFill/>
          <a:ln w="9525">
            <a:noFill/>
            <a:miter lim="800000"/>
            <a:headEnd/>
            <a:tailEnd/>
          </a:ln>
          <a:effectLst/>
        </p:spPr>
        <p:txBody>
          <a:bodyPr>
            <a:spAutoFit/>
          </a:bodyPr>
          <a:lstStyle/>
          <a:p>
            <a:r>
              <a:rPr lang="pt-BR">
                <a:solidFill>
                  <a:srgbClr val="000000"/>
                </a:solidFill>
                <a:latin typeface="Arial" charset="0"/>
                <a:cs typeface="Arial" charset="0"/>
              </a:rPr>
              <a:t>Nesse padrão de herança, dentro de cada par de genes envolvidos, há um gene aditivo(poligene) que determina um acréscimo na expressão do fenótipo, enquanto o seu alelo indiferente não acrescenta nada a um certo valor mínimo, chamado fenótipo residual. </a:t>
            </a:r>
            <a:endParaRPr lang="pt-BR">
              <a:solidFill>
                <a:srgbClr val="000000"/>
              </a:solidFill>
              <a:cs typeface="Times New Roman" pitchFamily="18" charset="0"/>
            </a:endParaRPr>
          </a:p>
          <a:p>
            <a:pPr eaLnBrk="0" hangingPunct="0"/>
            <a:r>
              <a:rPr lang="pt-BR">
                <a:solidFill>
                  <a:srgbClr val="000000"/>
                </a:solidFill>
                <a:latin typeface="Arial" charset="0"/>
                <a:cs typeface="Arial" charset="0"/>
              </a:rPr>
              <a:t>A herança quantitativa geralmente está relacionada a fenótipos que sofrem variação gradativa, como peso, altura, cor da pele na espécie humana,etc. </a:t>
            </a:r>
            <a:endParaRPr lang="pt-BR">
              <a:solidFill>
                <a:srgbClr val="000000"/>
              </a:solidFill>
              <a:cs typeface="Times New Roman" pitchFamily="18" charset="0"/>
            </a:endParaRPr>
          </a:p>
          <a:p>
            <a:pPr eaLnBrk="0" hangingPunct="0"/>
            <a:r>
              <a:rPr lang="pt-BR" i="1">
                <a:solidFill>
                  <a:srgbClr val="CC3300"/>
                </a:solidFill>
                <a:cs typeface="Times New Roman" pitchFamily="18" charset="0"/>
              </a:rPr>
              <a:t>•POLIGENE - gene que individualmente exerce um leve efeito em um traço, mas, em conjunção com poucos ou muitos genes, controla uma característica quantitativa </a:t>
            </a:r>
          </a:p>
          <a:p>
            <a:pPr eaLnBrk="0" hangingPunct="0"/>
            <a:endParaRPr lang="pt-BR" i="1">
              <a:solidFill>
                <a:srgbClr val="CC3300"/>
              </a:solidFill>
            </a:endParaRPr>
          </a:p>
        </p:txBody>
      </p:sp>
      <p:sp>
        <p:nvSpPr>
          <p:cNvPr id="13319" name="Rectangle 7"/>
          <p:cNvSpPr>
            <a:spLocks noChangeArrowheads="1"/>
          </p:cNvSpPr>
          <p:nvPr/>
        </p:nvSpPr>
        <p:spPr bwMode="auto">
          <a:xfrm>
            <a:off x="1524000" y="3886200"/>
            <a:ext cx="9144000" cy="553998"/>
          </a:xfrm>
          <a:prstGeom prst="rect">
            <a:avLst/>
          </a:prstGeom>
          <a:noFill/>
          <a:ln w="9525">
            <a:noFill/>
            <a:miter lim="800000"/>
            <a:headEnd/>
            <a:tailEnd/>
          </a:ln>
          <a:effectLst/>
        </p:spPr>
        <p:txBody>
          <a:bodyPr>
            <a:spAutoFit/>
          </a:bodyPr>
          <a:lstStyle/>
          <a:p>
            <a:pPr>
              <a:spcBef>
                <a:spcPct val="50000"/>
              </a:spcBef>
            </a:pPr>
            <a:r>
              <a:rPr lang="pt-BR" sz="1200">
                <a:solidFill>
                  <a:srgbClr val="000000"/>
                </a:solidFill>
                <a:latin typeface="Arial" charset="0"/>
                <a:cs typeface="Arial" charset="0"/>
              </a:rPr>
              <a:t> </a:t>
            </a:r>
            <a:endParaRPr lang="pt-BR" sz="1200">
              <a:solidFill>
                <a:srgbClr val="000000"/>
              </a:solidFill>
              <a:cs typeface="Times New Roman" pitchFamily="18" charset="0"/>
            </a:endParaRPr>
          </a:p>
          <a:p>
            <a:pPr eaLnBrk="0" hangingPunct="0"/>
            <a:endParaRPr lang="pt-BR"/>
          </a:p>
        </p:txBody>
      </p:sp>
    </p:spTree>
    <p:extLst>
      <p:ext uri="{BB962C8B-B14F-4D97-AF65-F5344CB8AC3E}">
        <p14:creationId xmlns:p14="http://schemas.microsoft.com/office/powerpoint/2010/main" val="2118767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BA5A8F-EB6F-4BF3-375E-438851C5153A}"/>
              </a:ext>
            </a:extLst>
          </p:cNvPr>
          <p:cNvSpPr>
            <a:spLocks noGrp="1"/>
          </p:cNvSpPr>
          <p:nvPr>
            <p:ph type="title"/>
          </p:nvPr>
        </p:nvSpPr>
        <p:spPr/>
        <p:txBody>
          <a:bodyPr/>
          <a:lstStyle/>
          <a:p>
            <a:endParaRPr lang="pt-BR"/>
          </a:p>
        </p:txBody>
      </p:sp>
      <p:sp>
        <p:nvSpPr>
          <p:cNvPr id="3" name="Espaço Reservado para Texto 2">
            <a:extLst>
              <a:ext uri="{FF2B5EF4-FFF2-40B4-BE49-F238E27FC236}">
                <a16:creationId xmlns:a16="http://schemas.microsoft.com/office/drawing/2014/main" id="{E38BBE02-5250-A726-BBEC-BC0DDAFC8775}"/>
              </a:ext>
            </a:extLst>
          </p:cNvPr>
          <p:cNvSpPr>
            <a:spLocks noGrp="1"/>
          </p:cNvSpPr>
          <p:nvPr>
            <p:ph type="body" sz="half" idx="1"/>
          </p:nvPr>
        </p:nvSpPr>
        <p:spPr/>
        <p:txBody>
          <a:bodyPr/>
          <a:lstStyle/>
          <a:p>
            <a:endParaRPr lang="pt-BR"/>
          </a:p>
        </p:txBody>
      </p:sp>
      <p:sp>
        <p:nvSpPr>
          <p:cNvPr id="4" name="Espaço Reservado para Imagem Online 3">
            <a:extLst>
              <a:ext uri="{FF2B5EF4-FFF2-40B4-BE49-F238E27FC236}">
                <a16:creationId xmlns:a16="http://schemas.microsoft.com/office/drawing/2014/main" id="{6123C50B-6733-B20F-B8A2-C56930A64CB3}"/>
              </a:ext>
            </a:extLst>
          </p:cNvPr>
          <p:cNvSpPr>
            <a:spLocks noGrp="1"/>
          </p:cNvSpPr>
          <p:nvPr>
            <p:ph type="clipArt" sz="half" idx="2"/>
          </p:nvPr>
        </p:nvSpPr>
        <p:spPr/>
        <p:txBody>
          <a:bodyPr/>
          <a:lstStyle/>
          <a:p>
            <a:endParaRPr lang="pt-BR"/>
          </a:p>
        </p:txBody>
      </p:sp>
      <p:pic>
        <p:nvPicPr>
          <p:cNvPr id="6" name="Imagem 5">
            <a:extLst>
              <a:ext uri="{FF2B5EF4-FFF2-40B4-BE49-F238E27FC236}">
                <a16:creationId xmlns:a16="http://schemas.microsoft.com/office/drawing/2014/main" id="{77EC9B16-49F0-157C-7557-B55FE2409787}"/>
              </a:ext>
            </a:extLst>
          </p:cNvPr>
          <p:cNvPicPr>
            <a:picLocks noChangeAspect="1"/>
          </p:cNvPicPr>
          <p:nvPr/>
        </p:nvPicPr>
        <p:blipFill>
          <a:blip r:embed="rId2"/>
          <a:stretch>
            <a:fillRect/>
          </a:stretch>
        </p:blipFill>
        <p:spPr>
          <a:xfrm>
            <a:off x="638197" y="321850"/>
            <a:ext cx="10822859" cy="6198219"/>
          </a:xfrm>
          <a:prstGeom prst="rect">
            <a:avLst/>
          </a:prstGeom>
        </p:spPr>
      </p:pic>
    </p:spTree>
    <p:extLst>
      <p:ext uri="{BB962C8B-B14F-4D97-AF65-F5344CB8AC3E}">
        <p14:creationId xmlns:p14="http://schemas.microsoft.com/office/powerpoint/2010/main" val="63739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9AFF7D-99B3-942A-B3F6-B39F90B2BCD3}"/>
              </a:ext>
            </a:extLst>
          </p:cNvPr>
          <p:cNvSpPr>
            <a:spLocks noGrp="1"/>
          </p:cNvSpPr>
          <p:nvPr>
            <p:ph type="title"/>
          </p:nvPr>
        </p:nvSpPr>
        <p:spPr/>
        <p:txBody>
          <a:bodyPr/>
          <a:lstStyle/>
          <a:p>
            <a:endParaRPr lang="pt-BR"/>
          </a:p>
        </p:txBody>
      </p:sp>
      <p:sp>
        <p:nvSpPr>
          <p:cNvPr id="3" name="Espaço Reservado para Texto 2">
            <a:extLst>
              <a:ext uri="{FF2B5EF4-FFF2-40B4-BE49-F238E27FC236}">
                <a16:creationId xmlns:a16="http://schemas.microsoft.com/office/drawing/2014/main" id="{9F0C0B0F-2D70-4EAE-B5C4-40F8F825CE02}"/>
              </a:ext>
            </a:extLst>
          </p:cNvPr>
          <p:cNvSpPr>
            <a:spLocks noGrp="1"/>
          </p:cNvSpPr>
          <p:nvPr>
            <p:ph type="body" sz="half" idx="1"/>
          </p:nvPr>
        </p:nvSpPr>
        <p:spPr/>
        <p:txBody>
          <a:bodyPr/>
          <a:lstStyle/>
          <a:p>
            <a:endParaRPr lang="pt-BR"/>
          </a:p>
        </p:txBody>
      </p:sp>
      <p:sp>
        <p:nvSpPr>
          <p:cNvPr id="4" name="Espaço Reservado para Imagem Online 3">
            <a:extLst>
              <a:ext uri="{FF2B5EF4-FFF2-40B4-BE49-F238E27FC236}">
                <a16:creationId xmlns:a16="http://schemas.microsoft.com/office/drawing/2014/main" id="{526EA7F3-34E0-1A00-7054-B1DA38DFA70B}"/>
              </a:ext>
            </a:extLst>
          </p:cNvPr>
          <p:cNvSpPr>
            <a:spLocks noGrp="1"/>
          </p:cNvSpPr>
          <p:nvPr>
            <p:ph type="clipArt" sz="half" idx="2"/>
          </p:nvPr>
        </p:nvSpPr>
        <p:spPr/>
        <p:txBody>
          <a:bodyPr/>
          <a:lstStyle/>
          <a:p>
            <a:endParaRPr lang="pt-BR"/>
          </a:p>
        </p:txBody>
      </p:sp>
      <p:pic>
        <p:nvPicPr>
          <p:cNvPr id="6" name="Imagem 5">
            <a:extLst>
              <a:ext uri="{FF2B5EF4-FFF2-40B4-BE49-F238E27FC236}">
                <a16:creationId xmlns:a16="http://schemas.microsoft.com/office/drawing/2014/main" id="{26CFDC59-B4F5-40BA-CC11-F59DD292BBBC}"/>
              </a:ext>
            </a:extLst>
          </p:cNvPr>
          <p:cNvPicPr>
            <a:picLocks noChangeAspect="1"/>
          </p:cNvPicPr>
          <p:nvPr/>
        </p:nvPicPr>
        <p:blipFill>
          <a:blip r:embed="rId2"/>
          <a:stretch>
            <a:fillRect/>
          </a:stretch>
        </p:blipFill>
        <p:spPr>
          <a:xfrm>
            <a:off x="1115551" y="237322"/>
            <a:ext cx="10201806" cy="6383355"/>
          </a:xfrm>
          <a:prstGeom prst="rect">
            <a:avLst/>
          </a:prstGeom>
        </p:spPr>
      </p:pic>
    </p:spTree>
    <p:extLst>
      <p:ext uri="{BB962C8B-B14F-4D97-AF65-F5344CB8AC3E}">
        <p14:creationId xmlns:p14="http://schemas.microsoft.com/office/powerpoint/2010/main" val="2121194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Distribuição do fenótipo na herança quantitativa</a:t>
            </a:r>
          </a:p>
        </p:txBody>
      </p:sp>
      <p:sp>
        <p:nvSpPr>
          <p:cNvPr id="3" name="Espaço Reservado para Conteúdo 2"/>
          <p:cNvSpPr>
            <a:spLocks noGrp="1"/>
          </p:cNvSpPr>
          <p:nvPr>
            <p:ph idx="1"/>
          </p:nvPr>
        </p:nvSpPr>
        <p:spPr/>
        <p:txBody>
          <a:bodyPr/>
          <a:lstStyle/>
          <a:p>
            <a:endParaRPr lang="pt-BR" dirty="0"/>
          </a:p>
        </p:txBody>
      </p:sp>
      <p:pic>
        <p:nvPicPr>
          <p:cNvPr id="39938" name="Picture 2" descr="Resultado de imagem para cor de pele negro mulato medio branco"/>
          <p:cNvPicPr>
            <a:picLocks noChangeAspect="1" noChangeArrowheads="1"/>
          </p:cNvPicPr>
          <p:nvPr/>
        </p:nvPicPr>
        <p:blipFill>
          <a:blip r:embed="rId2" cstate="print"/>
          <a:srcRect/>
          <a:stretch>
            <a:fillRect/>
          </a:stretch>
        </p:blipFill>
        <p:spPr bwMode="auto">
          <a:xfrm>
            <a:off x="4295800" y="2348881"/>
            <a:ext cx="3384376" cy="4063815"/>
          </a:xfrm>
          <a:prstGeom prst="rect">
            <a:avLst/>
          </a:prstGeom>
          <a:noFill/>
        </p:spPr>
      </p:pic>
    </p:spTree>
    <p:extLst>
      <p:ext uri="{BB962C8B-B14F-4D97-AF65-F5344CB8AC3E}">
        <p14:creationId xmlns:p14="http://schemas.microsoft.com/office/powerpoint/2010/main" val="1020842073"/>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881</Words>
  <Application>Microsoft Office PowerPoint</Application>
  <PresentationFormat>Widescreen</PresentationFormat>
  <Paragraphs>102</Paragraphs>
  <Slides>22</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22</vt:i4>
      </vt:variant>
    </vt:vector>
  </HeadingPairs>
  <TitlesOfParts>
    <vt:vector size="29" baseType="lpstr">
      <vt:lpstr>Arial</vt:lpstr>
      <vt:lpstr>Calibri</vt:lpstr>
      <vt:lpstr>Calibri Light</vt:lpstr>
      <vt:lpstr>Symbol</vt:lpstr>
      <vt:lpstr>Times New Roman</vt:lpstr>
      <vt:lpstr>Verdana</vt:lpstr>
      <vt:lpstr>Tema do Office</vt:lpstr>
      <vt:lpstr>INTERAÇÃO GÊNICA x PLEIOTROPIA</vt:lpstr>
      <vt:lpstr>Mendel</vt:lpstr>
      <vt:lpstr>Complexidade além de Mendel</vt:lpstr>
      <vt:lpstr>PLEIOTROPIA </vt:lpstr>
      <vt:lpstr>PLEIOTROPIA </vt:lpstr>
      <vt:lpstr>Anemia falciforme</vt:lpstr>
      <vt:lpstr>INTERAÇÃO GÊNICA </vt:lpstr>
      <vt:lpstr>Descoberta da interação gênica (1905)</vt:lpstr>
      <vt:lpstr>Descoberta: Crista de galos</vt:lpstr>
      <vt:lpstr>Surpresa!!</vt:lpstr>
      <vt:lpstr>Surpresa!!</vt:lpstr>
      <vt:lpstr>INTERAÇÃO GÊNICA </vt:lpstr>
      <vt:lpstr>EPISTASIA </vt:lpstr>
      <vt:lpstr>EPISTASIA DOMINANTE</vt:lpstr>
      <vt:lpstr>EPISTASIA RECESSIVA </vt:lpstr>
      <vt:lpstr>UNICAMP </vt:lpstr>
      <vt:lpstr>Resolução</vt:lpstr>
      <vt:lpstr>HERANÇA QUANTITATIVA,POLIMERIA OU POLIGÊNICA            </vt:lpstr>
      <vt:lpstr>HERANÇA QUANTITATIVA,POLIMERIA OU POLIGÊNICA</vt:lpstr>
      <vt:lpstr>Apresentação do PowerPoint</vt:lpstr>
      <vt:lpstr>Apresentação do PowerPoint</vt:lpstr>
      <vt:lpstr>Distribuição do fenótipo na herança quantitativa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Murilo Bertolino</dc:creator>
  <cp:lastModifiedBy>Murilo Bertolino</cp:lastModifiedBy>
  <cp:revision>1</cp:revision>
  <dcterms:modified xsi:type="dcterms:W3CDTF">2026-09-22T11:53:17Z</dcterms:modified>
</cp:coreProperties>
</file>