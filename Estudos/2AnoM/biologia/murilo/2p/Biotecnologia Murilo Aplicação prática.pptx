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</p:sldIdLst>
  <p:sldSz cx="18288000" cy="10287000"/>
  <p:notesSz cx="6858000" cy="9144000"/>
  <p:embeddedFontLs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Trebuchet MS Italics" charset="0"/>
      <p:regular r:id="rId24"/>
    </p:embeddedFont>
    <p:embeddedFont>
      <p:font typeface="Trebuchet MS" pitchFamily="34" charset="0"/>
      <p:regular r:id="rId25"/>
      <p:bold r:id="rId26"/>
      <p:italic r:id="rId27"/>
      <p:boldItalic r:id="rId28"/>
    </p:embeddedFont>
    <p:embeddedFont>
      <p:font typeface="Arial Italics" charset="0"/>
      <p:regular r:id="rId29"/>
    </p:embeddedFont>
    <p:embeddedFont>
      <p:font typeface="Calibri (MS)" charset="0"/>
      <p:regular r:id="rId30"/>
    </p:embeddedFont>
    <p:embeddedFont>
      <p:font typeface="Calibri (MS) Bold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1572" y="-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svg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image" Target="../media/image75.svg"/><Relationship Id="rId21" Type="http://schemas.openxmlformats.org/officeDocument/2006/relationships/image" Target="../media/image93.svg"/><Relationship Id="rId34" Type="http://schemas.openxmlformats.org/officeDocument/2006/relationships/image" Target="../media/image21.png"/><Relationship Id="rId7" Type="http://schemas.openxmlformats.org/officeDocument/2006/relationships/image" Target="../media/image79.svg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5" Type="http://schemas.openxmlformats.org/officeDocument/2006/relationships/image" Target="../media/image97.svg"/><Relationship Id="rId33" Type="http://schemas.openxmlformats.org/officeDocument/2006/relationships/image" Target="../media/image105.svg"/><Relationship Id="rId2" Type="http://schemas.openxmlformats.org/officeDocument/2006/relationships/image" Target="../media/image4.png"/><Relationship Id="rId16" Type="http://schemas.openxmlformats.org/officeDocument/2006/relationships/image" Target="../media/image88.svg"/><Relationship Id="rId20" Type="http://schemas.openxmlformats.org/officeDocument/2006/relationships/image" Target="../media/image14.pn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3.svg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5" Type="http://schemas.openxmlformats.org/officeDocument/2006/relationships/image" Target="../media/image77.svg"/><Relationship Id="rId15" Type="http://schemas.openxmlformats.org/officeDocument/2006/relationships/image" Target="../media/image11.png"/><Relationship Id="rId23" Type="http://schemas.openxmlformats.org/officeDocument/2006/relationships/image" Target="../media/image95.svg"/><Relationship Id="rId28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91.svg"/><Relationship Id="rId31" Type="http://schemas.openxmlformats.org/officeDocument/2006/relationships/image" Target="../media/image103.svg"/><Relationship Id="rId4" Type="http://schemas.openxmlformats.org/officeDocument/2006/relationships/image" Target="../media/image5.png"/><Relationship Id="rId9" Type="http://schemas.openxmlformats.org/officeDocument/2006/relationships/image" Target="../media/image81.svg"/><Relationship Id="rId14" Type="http://schemas.openxmlformats.org/officeDocument/2006/relationships/image" Target="../media/image10.png"/><Relationship Id="rId22" Type="http://schemas.openxmlformats.org/officeDocument/2006/relationships/image" Target="../media/image15.png"/><Relationship Id="rId27" Type="http://schemas.openxmlformats.org/officeDocument/2006/relationships/image" Target="../media/image99.svg"/><Relationship Id="rId30" Type="http://schemas.openxmlformats.org/officeDocument/2006/relationships/image" Target="../media/image19.png"/><Relationship Id="rId35" Type="http://schemas.openxmlformats.org/officeDocument/2006/relationships/image" Target="../media/image107.svg"/><Relationship Id="rId8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19.svg"/><Relationship Id="rId3" Type="http://schemas.openxmlformats.org/officeDocument/2006/relationships/image" Target="../media/image109.svg"/><Relationship Id="rId7" Type="http://schemas.openxmlformats.org/officeDocument/2006/relationships/image" Target="../media/image113.svg"/><Relationship Id="rId12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17.svg"/><Relationship Id="rId5" Type="http://schemas.openxmlformats.org/officeDocument/2006/relationships/image" Target="../media/image111.svg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1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sv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svg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image" Target="../media/image75.svg"/><Relationship Id="rId21" Type="http://schemas.openxmlformats.org/officeDocument/2006/relationships/image" Target="../media/image93.svg"/><Relationship Id="rId34" Type="http://schemas.openxmlformats.org/officeDocument/2006/relationships/image" Target="../media/image21.png"/><Relationship Id="rId7" Type="http://schemas.openxmlformats.org/officeDocument/2006/relationships/image" Target="../media/image79.svg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5" Type="http://schemas.openxmlformats.org/officeDocument/2006/relationships/image" Target="../media/image97.svg"/><Relationship Id="rId33" Type="http://schemas.openxmlformats.org/officeDocument/2006/relationships/image" Target="../media/image105.svg"/><Relationship Id="rId2" Type="http://schemas.openxmlformats.org/officeDocument/2006/relationships/image" Target="../media/image4.png"/><Relationship Id="rId16" Type="http://schemas.openxmlformats.org/officeDocument/2006/relationships/image" Target="../media/image88.svg"/><Relationship Id="rId20" Type="http://schemas.openxmlformats.org/officeDocument/2006/relationships/image" Target="../media/image14.pn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3.svg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5" Type="http://schemas.openxmlformats.org/officeDocument/2006/relationships/image" Target="../media/image77.svg"/><Relationship Id="rId15" Type="http://schemas.openxmlformats.org/officeDocument/2006/relationships/image" Target="../media/image11.png"/><Relationship Id="rId23" Type="http://schemas.openxmlformats.org/officeDocument/2006/relationships/image" Target="../media/image95.svg"/><Relationship Id="rId28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91.svg"/><Relationship Id="rId31" Type="http://schemas.openxmlformats.org/officeDocument/2006/relationships/image" Target="../media/image103.svg"/><Relationship Id="rId4" Type="http://schemas.openxmlformats.org/officeDocument/2006/relationships/image" Target="../media/image5.png"/><Relationship Id="rId9" Type="http://schemas.openxmlformats.org/officeDocument/2006/relationships/image" Target="../media/image81.svg"/><Relationship Id="rId14" Type="http://schemas.openxmlformats.org/officeDocument/2006/relationships/image" Target="../media/image10.png"/><Relationship Id="rId22" Type="http://schemas.openxmlformats.org/officeDocument/2006/relationships/image" Target="../media/image15.png"/><Relationship Id="rId27" Type="http://schemas.openxmlformats.org/officeDocument/2006/relationships/image" Target="../media/image99.svg"/><Relationship Id="rId30" Type="http://schemas.openxmlformats.org/officeDocument/2006/relationships/image" Target="../media/image19.png"/><Relationship Id="rId35" Type="http://schemas.openxmlformats.org/officeDocument/2006/relationships/image" Target="../media/image107.svg"/><Relationship Id="rId8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AutoShape 20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36" name="Group 36"/>
          <p:cNvGrpSpPr/>
          <p:nvPr/>
        </p:nvGrpSpPr>
        <p:grpSpPr>
          <a:xfrm rot="-10800000">
            <a:off x="0" y="0"/>
            <a:ext cx="1263891" cy="8499234"/>
            <a:chOff x="0" y="0"/>
            <a:chExt cx="1685188" cy="113323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85163" cy="11332337"/>
            </a:xfrm>
            <a:custGeom>
              <a:avLst/>
              <a:gdLst/>
              <a:ahLst/>
              <a:cxnLst/>
              <a:rect l="l" t="t" r="r" b="b"/>
              <a:pathLst>
                <a:path w="1685163" h="11332337">
                  <a:moveTo>
                    <a:pt x="0" y="11332337"/>
                  </a:moveTo>
                  <a:lnTo>
                    <a:pt x="1685163" y="0"/>
                  </a:lnTo>
                  <a:lnTo>
                    <a:pt x="1685163" y="11332337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38" name="AutoShape 38"/>
          <p:cNvSpPr/>
          <p:nvPr/>
        </p:nvSpPr>
        <p:spPr>
          <a:xfrm rot="6008640">
            <a:off x="9968713" y="5138738"/>
            <a:ext cx="10464870" cy="0"/>
          </a:xfrm>
          <a:prstGeom prst="line">
            <a:avLst/>
          </a:prstGeom>
          <a:ln w="9525" cap="rnd">
            <a:solidFill>
              <a:srgbClr val="90C2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 rot="2023439">
            <a:off x="10310479" y="7899797"/>
            <a:ext cx="860817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11888829" y="-12697"/>
            <a:ext cx="4511021" cy="10299697"/>
            <a:chOff x="0" y="0"/>
            <a:chExt cx="6014695" cy="137329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1923669" y="0"/>
                  </a:moveTo>
                  <a:lnTo>
                    <a:pt x="0" y="0"/>
                  </a:lnTo>
                  <a:lnTo>
                    <a:pt x="0" y="13732890"/>
                  </a:lnTo>
                  <a:lnTo>
                    <a:pt x="6014720" y="13732890"/>
                  </a:lnTo>
                  <a:lnTo>
                    <a:pt x="1923669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1884066" y="-12697"/>
            <a:ext cx="3882838" cy="10299697"/>
            <a:chOff x="0" y="0"/>
            <a:chExt cx="5177117" cy="1373292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5177155" y="0"/>
                  </a:moveTo>
                  <a:lnTo>
                    <a:pt x="0" y="0"/>
                  </a:lnTo>
                  <a:lnTo>
                    <a:pt x="0" y="13732890"/>
                  </a:lnTo>
                  <a:lnTo>
                    <a:pt x="2758186" y="13732890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884066" y="4572000"/>
            <a:ext cx="4889497" cy="5715000"/>
            <a:chOff x="0" y="0"/>
            <a:chExt cx="6519329" cy="7620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6519291" y="7620000"/>
                  </a:moveTo>
                  <a:lnTo>
                    <a:pt x="0" y="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1888829" y="-12697"/>
            <a:ext cx="4281488" cy="10299697"/>
            <a:chOff x="0" y="0"/>
            <a:chExt cx="5708650" cy="1373292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5708650" y="0"/>
                  </a:moveTo>
                  <a:lnTo>
                    <a:pt x="0" y="0"/>
                  </a:lnTo>
                  <a:lnTo>
                    <a:pt x="0" y="13732890"/>
                  </a:lnTo>
                  <a:lnTo>
                    <a:pt x="767207" y="13732890"/>
                  </a:lnTo>
                  <a:lnTo>
                    <a:pt x="570865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888829" y="5384797"/>
            <a:ext cx="2725741" cy="4902203"/>
            <a:chOff x="0" y="0"/>
            <a:chExt cx="3634321" cy="65362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3634359" y="6536309"/>
                  </a:moveTo>
                  <a:lnTo>
                    <a:pt x="0" y="0"/>
                  </a:lnTo>
                  <a:lnTo>
                    <a:pt x="0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0" y="-12697"/>
            <a:ext cx="13763568" cy="10299697"/>
            <a:chOff x="0" y="0"/>
            <a:chExt cx="18351424" cy="1373292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8351373" cy="13732890"/>
            </a:xfrm>
            <a:custGeom>
              <a:avLst/>
              <a:gdLst/>
              <a:ahLst/>
              <a:cxnLst/>
              <a:rect l="l" t="t" r="r" b="b"/>
              <a:pathLst>
                <a:path w="18351373" h="13732890">
                  <a:moveTo>
                    <a:pt x="18351373" y="0"/>
                  </a:moveTo>
                  <a:lnTo>
                    <a:pt x="15851760" y="0"/>
                  </a:lnTo>
                  <a:lnTo>
                    <a:pt x="15851760" y="16891"/>
                  </a:lnTo>
                  <a:lnTo>
                    <a:pt x="0" y="16891"/>
                  </a:lnTo>
                  <a:lnTo>
                    <a:pt x="0" y="13732890"/>
                  </a:lnTo>
                  <a:lnTo>
                    <a:pt x="15851760" y="13732890"/>
                  </a:lnTo>
                  <a:lnTo>
                    <a:pt x="16132683" y="13732890"/>
                  </a:lnTo>
                  <a:close/>
                </a:path>
              </a:pathLst>
            </a:custGeom>
            <a:solidFill>
              <a:srgbClr val="90C226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431787" y="619916"/>
            <a:ext cx="12899993" cy="3790388"/>
            <a:chOff x="0" y="0"/>
            <a:chExt cx="17199991" cy="505385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7199994" cy="5053852"/>
            </a:xfrm>
            <a:custGeom>
              <a:avLst/>
              <a:gdLst/>
              <a:ahLst/>
              <a:cxnLst/>
              <a:rect l="l" t="t" r="r" b="b"/>
              <a:pathLst>
                <a:path w="17199994" h="5053852">
                  <a:moveTo>
                    <a:pt x="0" y="0"/>
                  </a:moveTo>
                  <a:lnTo>
                    <a:pt x="17199994" y="0"/>
                  </a:lnTo>
                  <a:lnTo>
                    <a:pt x="17199994" y="5053852"/>
                  </a:lnTo>
                  <a:lnTo>
                    <a:pt x="0" y="50538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314" b="-16314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76200"/>
              <a:ext cx="17199991" cy="513005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8748"/>
                </a:lnSpc>
              </a:pPr>
              <a:r>
                <a:rPr lang="en-US" sz="8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Geração de células knockout no gene ARH3 por tecnologia CRISPR/Cas9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979590" y="4600070"/>
            <a:ext cx="8985237" cy="169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EBEBEB">
                    <a:alpha val="69804"/>
                  </a:srgbClr>
                </a:solidFill>
                <a:latin typeface="Trebuchet MS"/>
                <a:ea typeface="Trebuchet MS"/>
                <a:cs typeface="Trebuchet MS"/>
                <a:sym typeface="Trebuchet MS"/>
              </a:rPr>
              <a:t>Lab meeting – 24/04/2020</a:t>
            </a:r>
          </a:p>
          <a:p>
            <a:pPr algn="l">
              <a:lnSpc>
                <a:spcPts val="5759"/>
              </a:lnSpc>
            </a:pPr>
            <a:endParaRPr lang="en-US" sz="4800">
              <a:solidFill>
                <a:srgbClr val="EBEBEB">
                  <a:alpha val="69804"/>
                </a:srgbClr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6" name="Group 56"/>
          <p:cNvGrpSpPr/>
          <p:nvPr/>
        </p:nvGrpSpPr>
        <p:grpSpPr>
          <a:xfrm rot="5400000">
            <a:off x="1488215" y="4907232"/>
            <a:ext cx="330994" cy="279654"/>
            <a:chOff x="0" y="0"/>
            <a:chExt cx="441325" cy="3728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41325" cy="372872"/>
            </a:xfrm>
            <a:custGeom>
              <a:avLst/>
              <a:gdLst/>
              <a:ahLst/>
              <a:cxnLst/>
              <a:rect l="l" t="t" r="r" b="b"/>
              <a:pathLst>
                <a:path w="441325" h="372872">
                  <a:moveTo>
                    <a:pt x="0" y="372872"/>
                  </a:moveTo>
                  <a:lnTo>
                    <a:pt x="220599" y="0"/>
                  </a:lnTo>
                  <a:lnTo>
                    <a:pt x="441325" y="3728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8" name="TextBox 58"/>
          <p:cNvSpPr txBox="1"/>
          <p:nvPr/>
        </p:nvSpPr>
        <p:spPr>
          <a:xfrm>
            <a:off x="7552315" y="5825242"/>
            <a:ext cx="3350847" cy="47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Murilo F. Bertolino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091690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Objetivos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673103" cy="4267200"/>
            <a:chOff x="0" y="0"/>
            <a:chExt cx="897471" cy="568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0"/>
                  </a:moveTo>
                  <a:lnTo>
                    <a:pt x="0" y="5689600"/>
                  </a:lnTo>
                  <a:lnTo>
                    <a:pt x="897509" y="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607803" y="5727697"/>
            <a:ext cx="6675434" cy="4559303"/>
            <a:chOff x="0" y="0"/>
            <a:chExt cx="8900579" cy="60790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00541" cy="6079109"/>
            </a:xfrm>
            <a:custGeom>
              <a:avLst/>
              <a:gdLst/>
              <a:ahLst/>
              <a:cxnLst/>
              <a:rect l="l" t="t" r="r" b="b"/>
              <a:pathLst>
                <a:path w="8900541" h="6079109">
                  <a:moveTo>
                    <a:pt x="0" y="6079109"/>
                  </a:moveTo>
                  <a:lnTo>
                    <a:pt x="8900541" y="0"/>
                  </a:lnTo>
                  <a:lnTo>
                    <a:pt x="8900541" y="6079109"/>
                  </a:lnTo>
                  <a:close/>
                </a:path>
              </a:pathLst>
            </a:custGeom>
            <a:solidFill>
              <a:srgbClr val="90C226"/>
            </a:solidFill>
          </p:spPr>
        </p:sp>
      </p:grpSp>
      <p:sp>
        <p:nvSpPr>
          <p:cNvPr id="25" name="AutoShape 25"/>
          <p:cNvSpPr/>
          <p:nvPr/>
        </p:nvSpPr>
        <p:spPr>
          <a:xfrm rot="4546260">
            <a:off x="11178721" y="5138738"/>
            <a:ext cx="10637158" cy="0"/>
          </a:xfrm>
          <a:prstGeom prst="line">
            <a:avLst/>
          </a:prstGeom>
          <a:ln w="9525" cap="rnd">
            <a:solidFill>
              <a:srgbClr val="54A0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8775540">
            <a:off x="10399881" y="7899797"/>
            <a:ext cx="8621382" cy="0"/>
          </a:xfrm>
          <a:prstGeom prst="line">
            <a:avLst/>
          </a:prstGeom>
          <a:ln w="9525" cap="rnd">
            <a:solidFill>
              <a:srgbClr val="90C2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2091690" y="3277076"/>
            <a:ext cx="12523470" cy="481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Gerar uma linhagem de células nocaute, isto é, sem proteínas ARH3 funcionais.</a:t>
            </a:r>
          </a:p>
          <a:p>
            <a:pPr marL="434340" lvl="1" indent="-217170" algn="l">
              <a:lnSpc>
                <a:spcPts val="2879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34340" lvl="1" indent="-217170" algn="l">
              <a:lnSpc>
                <a:spcPts val="2879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20140" lvl="2" indent="-373380" algn="l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Comparar os fenótipos celulares dos pacientes com células nocaute ARH3;</a:t>
            </a:r>
          </a:p>
          <a:p>
            <a:pPr marL="1120140" lvl="2" indent="-373380" algn="l">
              <a:lnSpc>
                <a:spcPts val="2879"/>
              </a:lnSpc>
            </a:pPr>
            <a:endParaRPr lang="en-US" sz="24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20140" lvl="2" indent="-373380" algn="l">
              <a:lnSpc>
                <a:spcPts val="2879"/>
              </a:lnSpc>
            </a:pPr>
            <a:endParaRPr lang="en-US" sz="24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20140" lvl="2" indent="-373380" algn="l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Analisar as relações entre, histonas e o gene ARH3 e seu papel  na via de reparo de quebras de fita simples;</a:t>
            </a:r>
          </a:p>
          <a:p>
            <a:pPr marL="1120140" lvl="2" indent="-373380" algn="l">
              <a:lnSpc>
                <a:spcPts val="2879"/>
              </a:lnSpc>
            </a:pPr>
            <a:endParaRPr lang="en-US" sz="24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20140" lvl="2" indent="-373380" algn="l">
              <a:lnSpc>
                <a:spcPts val="2879"/>
              </a:lnSpc>
            </a:pPr>
            <a:endParaRPr lang="en-US" sz="24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20140" lvl="2" indent="-373380" algn="l">
              <a:lnSpc>
                <a:spcPts val="2879"/>
              </a:lnSpc>
            </a:pPr>
            <a:endParaRPr lang="en-US" sz="24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20140" lvl="2" indent="-373380" algn="l">
              <a:lnSpc>
                <a:spcPts val="2879"/>
              </a:lnSpc>
            </a:pPr>
            <a:endParaRPr lang="en-US" sz="24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5638459" y="0"/>
            <a:ext cx="2649541" cy="10287000"/>
            <a:chOff x="0" y="0"/>
            <a:chExt cx="3532721" cy="13716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32759" cy="13716000"/>
            </a:xfrm>
            <a:custGeom>
              <a:avLst/>
              <a:gdLst/>
              <a:ahLst/>
              <a:cxnLst/>
              <a:rect l="l" t="t" r="r" b="b"/>
              <a:pathLst>
                <a:path w="3532759" h="13716000">
                  <a:moveTo>
                    <a:pt x="0" y="0"/>
                  </a:moveTo>
                  <a:lnTo>
                    <a:pt x="3532759" y="0"/>
                  </a:lnTo>
                  <a:lnTo>
                    <a:pt x="3532759" y="13716000"/>
                  </a:lnTo>
                  <a:lnTo>
                    <a:pt x="3058033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A021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0" y="877824"/>
            <a:ext cx="7137787" cy="6442186"/>
            <a:chOff x="0" y="0"/>
            <a:chExt cx="9517050" cy="85895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17046" cy="8589582"/>
            </a:xfrm>
            <a:custGeom>
              <a:avLst/>
              <a:gdLst/>
              <a:ahLst/>
              <a:cxnLst/>
              <a:rect l="l" t="t" r="r" b="b"/>
              <a:pathLst>
                <a:path w="9517046" h="8589582">
                  <a:moveTo>
                    <a:pt x="0" y="0"/>
                  </a:moveTo>
                  <a:lnTo>
                    <a:pt x="9517046" y="0"/>
                  </a:lnTo>
                  <a:lnTo>
                    <a:pt x="9517046" y="8589582"/>
                  </a:lnTo>
                  <a:lnTo>
                    <a:pt x="0" y="85895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799" r="-6580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517050" cy="85991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90C22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Nocaute feito através de CRISPR/Cas9: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/>
            </a:solidFill>
          </p:spPr>
        </p:sp>
      </p:grpSp>
      <p:sp>
        <p:nvSpPr>
          <p:cNvPr id="25" name="AutoShape 25"/>
          <p:cNvSpPr/>
          <p:nvPr/>
        </p:nvSpPr>
        <p:spPr>
          <a:xfrm rot="5388960">
            <a:off x="4022712" y="5111877"/>
            <a:ext cx="5924579" cy="0"/>
          </a:xfrm>
          <a:prstGeom prst="line">
            <a:avLst/>
          </a:prstGeom>
          <a:ln w="9525" cap="rnd">
            <a:solidFill>
              <a:srgbClr val="90C22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7159895" y="1469650"/>
            <a:ext cx="10016995" cy="7293978"/>
            <a:chOff x="0" y="0"/>
            <a:chExt cx="13355993" cy="97253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355999" cy="9725306"/>
            </a:xfrm>
            <a:custGeom>
              <a:avLst/>
              <a:gdLst/>
              <a:ahLst/>
              <a:cxnLst/>
              <a:rect l="l" t="t" r="r" b="b"/>
              <a:pathLst>
                <a:path w="13355999" h="9725306">
                  <a:moveTo>
                    <a:pt x="0" y="0"/>
                  </a:moveTo>
                  <a:lnTo>
                    <a:pt x="13355999" y="0"/>
                  </a:lnTo>
                  <a:lnTo>
                    <a:pt x="13355999" y="9725306"/>
                  </a:lnTo>
                  <a:lnTo>
                    <a:pt x="0" y="97253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425" r="-4342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13355993" cy="97157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07194" lvl="1" indent="-203597" algn="l">
                <a:lnSpc>
                  <a:spcPts val="2430"/>
                </a:lnSpc>
                <a:buFont typeface="Arial"/>
                <a:buChar char="•"/>
              </a:pP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Ferramenta de edição genômica (CRISPR/Cas);</a:t>
              </a:r>
            </a:p>
            <a:p>
              <a:pPr marL="407194" lvl="1" indent="-203597" algn="l">
                <a:lnSpc>
                  <a:spcPts val="2430"/>
                </a:lnSpc>
                <a:buFont typeface="Arial"/>
                <a:buChar char="•"/>
              </a:pP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Cas9 realiza várias clivagens consecutivas, estimulando o sistema de reparo;</a:t>
              </a:r>
            </a:p>
            <a:p>
              <a:pPr marL="407194" lvl="1" indent="-203597" algn="l">
                <a:lnSpc>
                  <a:spcPts val="2430"/>
                </a:lnSpc>
                <a:buFont typeface="Arial"/>
                <a:buChar char="•"/>
              </a:pP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Eventualmente, o reparo constante resultará numa mutação de inserção ou deleção, causando uma mudança no quadro de leitura (frameshift).</a:t>
              </a:r>
            </a:p>
            <a:p>
              <a:pPr marL="407194" lvl="1" indent="-203597" algn="l">
                <a:lnSpc>
                  <a:spcPts val="2430"/>
                </a:lnSpc>
                <a:buFont typeface="Arial"/>
                <a:buChar char="•"/>
              </a:pP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transcrição do </a:t>
              </a:r>
              <a:r>
                <a:rPr lang="en-US" sz="2250" i="1">
                  <a:solidFill>
                    <a:srgbClr val="404040"/>
                  </a:solidFill>
                  <a:latin typeface="Trebuchet MS Italics"/>
                  <a:ea typeface="Trebuchet MS Italics"/>
                  <a:cs typeface="Trebuchet MS Italics"/>
                  <a:sym typeface="Trebuchet MS Italics"/>
                </a:rPr>
                <a:t>locus</a:t>
              </a: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 CRISPR resulta em pequenos fragmentos de RNA com capacidade de desempenhar o reconhecimento de um fragmento de DNA específico (gRNA);</a:t>
              </a:r>
            </a:p>
            <a:p>
              <a:pPr marL="407194" lvl="1" indent="-203597" algn="l">
                <a:lnSpc>
                  <a:spcPts val="2430"/>
                </a:lnSpc>
                <a:buFont typeface="Arial"/>
                <a:buChar char="•"/>
              </a:pP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 gRNA atua como um guia ao </a:t>
              </a:r>
              <a:r>
                <a:rPr lang="en-US" sz="2250" i="1">
                  <a:solidFill>
                    <a:srgbClr val="404040"/>
                  </a:solidFill>
                  <a:latin typeface="Trebuchet MS Italics"/>
                  <a:ea typeface="Trebuchet MS Italics"/>
                  <a:cs typeface="Trebuchet MS Italics"/>
                  <a:sym typeface="Trebuchet MS Italics"/>
                </a:rPr>
                <a:t>locci</a:t>
              </a: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complementar no genoma, e uma proteína chamada Cas9  corta o DNA nesse local;</a:t>
              </a:r>
            </a:p>
            <a:p>
              <a:pPr marL="407194" lvl="1" indent="-203597" algn="l">
                <a:lnSpc>
                  <a:spcPts val="2430"/>
                </a:lnSpc>
                <a:buFont typeface="Arial"/>
                <a:buChar char="•"/>
              </a:pPr>
              <a:r>
                <a:rPr lang="en-US" sz="2250">
                  <a:solidFill>
                    <a:srgbClr val="4040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Resultado final: knockout do gene, não produzindo mais a proteína (O fragmento de RNAm com mudança no quadro de leitura é degradado pela célula).</a:t>
              </a:r>
            </a:p>
            <a:p>
              <a:pPr marL="407194" lvl="1" indent="-203597" algn="l">
                <a:lnSpc>
                  <a:spcPts val="2430"/>
                </a:lnSpc>
              </a:pPr>
              <a:endParaRPr lang="en-US" sz="225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10800000">
            <a:off x="17046207" y="0"/>
            <a:ext cx="1263891" cy="6924437"/>
            <a:chOff x="0" y="0"/>
            <a:chExt cx="1685188" cy="92325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85163" cy="9232519"/>
            </a:xfrm>
            <a:custGeom>
              <a:avLst/>
              <a:gdLst/>
              <a:ahLst/>
              <a:cxnLst/>
              <a:rect l="l" t="t" r="r" b="b"/>
              <a:pathLst>
                <a:path w="1685163" h="9232519">
                  <a:moveTo>
                    <a:pt x="1685163" y="9232519"/>
                  </a:moveTo>
                  <a:lnTo>
                    <a:pt x="0" y="0"/>
                  </a:lnTo>
                  <a:lnTo>
                    <a:pt x="0" y="9232519"/>
                  </a:lnTo>
                  <a:close/>
                </a:path>
              </a:pathLst>
            </a:custGeom>
            <a:solidFill>
              <a:srgbClr val="54A021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418749" y="2517458"/>
            <a:ext cx="13073062" cy="3971925"/>
            <a:chOff x="0" y="0"/>
            <a:chExt cx="17430750" cy="5295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430750" cy="5295900"/>
            </a:xfrm>
            <a:custGeom>
              <a:avLst/>
              <a:gdLst/>
              <a:ahLst/>
              <a:cxnLst/>
              <a:rect l="l" t="t" r="r" b="b"/>
              <a:pathLst>
                <a:path w="17430750" h="5295900">
                  <a:moveTo>
                    <a:pt x="0" y="0"/>
                  </a:moveTo>
                  <a:lnTo>
                    <a:pt x="17430750" y="0"/>
                  </a:lnTo>
                  <a:lnTo>
                    <a:pt x="17430750" y="5295900"/>
                  </a:lnTo>
                  <a:lnTo>
                    <a:pt x="0" y="529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301984" y="0"/>
            <a:ext cx="6986016" cy="10287000"/>
            <a:chOff x="0" y="0"/>
            <a:chExt cx="9314688" cy="137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14688" cy="13716000"/>
            </a:xfrm>
            <a:custGeom>
              <a:avLst/>
              <a:gdLst/>
              <a:ahLst/>
              <a:cxnLst/>
              <a:rect l="l" t="t" r="r" b="b"/>
              <a:pathLst>
                <a:path w="9314688" h="13716000">
                  <a:moveTo>
                    <a:pt x="0" y="0"/>
                  </a:moveTo>
                  <a:lnTo>
                    <a:pt x="9314688" y="0"/>
                  </a:lnTo>
                  <a:lnTo>
                    <a:pt x="9314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id="22" name="AutoShape 22"/>
          <p:cNvSpPr/>
          <p:nvPr/>
        </p:nvSpPr>
        <p:spPr>
          <a:xfrm rot="5931060">
            <a:off x="11467538" y="5138738"/>
            <a:ext cx="10425446" cy="0"/>
          </a:xfrm>
          <a:prstGeom prst="line">
            <a:avLst/>
          </a:prstGeom>
          <a:ln w="9525" cap="rnd">
            <a:solidFill>
              <a:srgbClr val="BFBFBF">
                <a:alpha val="6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8649360">
            <a:off x="10812113" y="7929782"/>
            <a:ext cx="8058912" cy="0"/>
          </a:xfrm>
          <a:prstGeom prst="line">
            <a:avLst/>
          </a:prstGeom>
          <a:ln w="9525" cap="rnd">
            <a:solidFill>
              <a:srgbClr val="BFBFBF">
                <a:alpha val="69412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1575234" y="1042657"/>
            <a:ext cx="5057613" cy="7172963"/>
            <a:chOff x="0" y="0"/>
            <a:chExt cx="6743484" cy="956395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743484" cy="9563946"/>
            </a:xfrm>
            <a:custGeom>
              <a:avLst/>
              <a:gdLst/>
              <a:ahLst/>
              <a:cxnLst/>
              <a:rect l="l" t="t" r="r" b="b"/>
              <a:pathLst>
                <a:path w="6743484" h="9563946">
                  <a:moveTo>
                    <a:pt x="0" y="0"/>
                  </a:moveTo>
                  <a:lnTo>
                    <a:pt x="6743484" y="0"/>
                  </a:lnTo>
                  <a:lnTo>
                    <a:pt x="6743484" y="9563946"/>
                  </a:lnTo>
                  <a:lnTo>
                    <a:pt x="0" y="95639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1966" r="-13196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6743484" cy="95734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Mapa eSpCas9(1.1)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7632" y="939879"/>
            <a:ext cx="10026444" cy="8394535"/>
            <a:chOff x="0" y="0"/>
            <a:chExt cx="13368592" cy="111927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368528" cy="11192764"/>
            </a:xfrm>
            <a:custGeom>
              <a:avLst/>
              <a:gdLst/>
              <a:ahLst/>
              <a:cxnLst/>
              <a:rect l="l" t="t" r="r" b="b"/>
              <a:pathLst>
                <a:path w="13368528" h="11192764">
                  <a:moveTo>
                    <a:pt x="0" y="0"/>
                  </a:moveTo>
                  <a:lnTo>
                    <a:pt x="13368528" y="0"/>
                  </a:lnTo>
                  <a:lnTo>
                    <a:pt x="13368528" y="11192764"/>
                  </a:lnTo>
                  <a:lnTo>
                    <a:pt x="0" y="11192764"/>
                  </a:lnTo>
                  <a:close/>
                </a:path>
              </a:pathLst>
            </a:custGeom>
            <a:blipFill>
              <a:blip r:embed="rId3"/>
              <a:stretch>
                <a:fillRect t="-1482" b="-1481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 rot="706500">
            <a:off x="6493002" y="1872739"/>
            <a:ext cx="132626" cy="332127"/>
            <a:chOff x="0" y="0"/>
            <a:chExt cx="176835" cy="442836"/>
          </a:xfrm>
        </p:grpSpPr>
        <p:sp>
          <p:nvSpPr>
            <p:cNvPr id="44" name="Freeform 44"/>
            <p:cNvSpPr/>
            <p:nvPr/>
          </p:nvSpPr>
          <p:spPr>
            <a:xfrm>
              <a:off x="19050" y="19050"/>
              <a:ext cx="138684" cy="404749"/>
            </a:xfrm>
            <a:custGeom>
              <a:avLst/>
              <a:gdLst/>
              <a:ahLst/>
              <a:cxnLst/>
              <a:rect l="l" t="t" r="r" b="b"/>
              <a:pathLst>
                <a:path w="138684" h="404749">
                  <a:moveTo>
                    <a:pt x="0" y="0"/>
                  </a:moveTo>
                  <a:lnTo>
                    <a:pt x="138684" y="0"/>
                  </a:lnTo>
                  <a:lnTo>
                    <a:pt x="138684" y="404749"/>
                  </a:lnTo>
                  <a:lnTo>
                    <a:pt x="0" y="404749"/>
                  </a:lnTo>
                  <a:close/>
                </a:path>
              </a:pathLst>
            </a:custGeom>
            <a:solidFill>
              <a:srgbClr val="6D6540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176784" cy="442849"/>
            </a:xfrm>
            <a:custGeom>
              <a:avLst/>
              <a:gdLst/>
              <a:ahLst/>
              <a:cxnLst/>
              <a:rect l="l" t="t" r="r" b="b"/>
              <a:pathLst>
                <a:path w="176784" h="442849">
                  <a:moveTo>
                    <a:pt x="19050" y="0"/>
                  </a:moveTo>
                  <a:lnTo>
                    <a:pt x="157734" y="0"/>
                  </a:lnTo>
                  <a:cubicBezTo>
                    <a:pt x="168275" y="0"/>
                    <a:pt x="176784" y="8509"/>
                    <a:pt x="176784" y="19050"/>
                  </a:cubicBezTo>
                  <a:lnTo>
                    <a:pt x="176784" y="423799"/>
                  </a:lnTo>
                  <a:cubicBezTo>
                    <a:pt x="176784" y="434340"/>
                    <a:pt x="168275" y="442849"/>
                    <a:pt x="157734" y="442849"/>
                  </a:cubicBezTo>
                  <a:lnTo>
                    <a:pt x="19050" y="442849"/>
                  </a:lnTo>
                  <a:cubicBezTo>
                    <a:pt x="8509" y="442849"/>
                    <a:pt x="0" y="434340"/>
                    <a:pt x="0" y="423799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23799"/>
                  </a:lnTo>
                  <a:lnTo>
                    <a:pt x="19050" y="423799"/>
                  </a:lnTo>
                  <a:lnTo>
                    <a:pt x="19050" y="404749"/>
                  </a:lnTo>
                  <a:lnTo>
                    <a:pt x="157734" y="404749"/>
                  </a:lnTo>
                  <a:lnTo>
                    <a:pt x="157734" y="423799"/>
                  </a:lnTo>
                  <a:lnTo>
                    <a:pt x="138684" y="423799"/>
                  </a:lnTo>
                  <a:lnTo>
                    <a:pt x="138684" y="19050"/>
                  </a:lnTo>
                  <a:lnTo>
                    <a:pt x="157734" y="19050"/>
                  </a:lnTo>
                  <a:lnTo>
                    <a:pt x="15773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6D6540"/>
            </a:solidFill>
          </p:spPr>
        </p:sp>
      </p:grpSp>
      <p:sp>
        <p:nvSpPr>
          <p:cNvPr id="46" name="AutoShape 46"/>
          <p:cNvSpPr/>
          <p:nvPr/>
        </p:nvSpPr>
        <p:spPr>
          <a:xfrm rot="4931880">
            <a:off x="6003855" y="2816790"/>
            <a:ext cx="12523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TextBox 47"/>
          <p:cNvSpPr txBox="1"/>
          <p:nvPr/>
        </p:nvSpPr>
        <p:spPr>
          <a:xfrm>
            <a:off x="6650755" y="3459089"/>
            <a:ext cx="2022329" cy="41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BbsI</a:t>
            </a:r>
          </a:p>
        </p:txBody>
      </p:sp>
      <p:grpSp>
        <p:nvGrpSpPr>
          <p:cNvPr id="48" name="Group 48"/>
          <p:cNvGrpSpPr/>
          <p:nvPr/>
        </p:nvGrpSpPr>
        <p:grpSpPr>
          <a:xfrm rot="-1203900">
            <a:off x="1208094" y="7781744"/>
            <a:ext cx="801843" cy="305600"/>
            <a:chOff x="0" y="0"/>
            <a:chExt cx="1069124" cy="407467"/>
          </a:xfrm>
        </p:grpSpPr>
        <p:sp>
          <p:nvSpPr>
            <p:cNvPr id="49" name="Freeform 49"/>
            <p:cNvSpPr/>
            <p:nvPr/>
          </p:nvSpPr>
          <p:spPr>
            <a:xfrm>
              <a:off x="19050" y="19050"/>
              <a:ext cx="1030986" cy="369316"/>
            </a:xfrm>
            <a:custGeom>
              <a:avLst/>
              <a:gdLst/>
              <a:ahLst/>
              <a:cxnLst/>
              <a:rect l="l" t="t" r="r" b="b"/>
              <a:pathLst>
                <a:path w="1030986" h="369316">
                  <a:moveTo>
                    <a:pt x="0" y="92329"/>
                  </a:moveTo>
                  <a:lnTo>
                    <a:pt x="834517" y="92329"/>
                  </a:lnTo>
                  <a:lnTo>
                    <a:pt x="834517" y="0"/>
                  </a:lnTo>
                  <a:lnTo>
                    <a:pt x="1030986" y="184658"/>
                  </a:lnTo>
                  <a:lnTo>
                    <a:pt x="834517" y="369316"/>
                  </a:lnTo>
                  <a:lnTo>
                    <a:pt x="834517" y="276987"/>
                  </a:lnTo>
                  <a:lnTo>
                    <a:pt x="0" y="27698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-35"/>
              <a:ext cx="1069086" cy="407521"/>
            </a:xfrm>
            <a:custGeom>
              <a:avLst/>
              <a:gdLst/>
              <a:ahLst/>
              <a:cxnLst/>
              <a:rect l="l" t="t" r="r" b="b"/>
              <a:pathLst>
                <a:path w="1069086" h="407521">
                  <a:moveTo>
                    <a:pt x="19050" y="92364"/>
                  </a:moveTo>
                  <a:lnTo>
                    <a:pt x="853567" y="92364"/>
                  </a:lnTo>
                  <a:lnTo>
                    <a:pt x="853567" y="111414"/>
                  </a:lnTo>
                  <a:lnTo>
                    <a:pt x="834517" y="111414"/>
                  </a:lnTo>
                  <a:lnTo>
                    <a:pt x="834517" y="19085"/>
                  </a:lnTo>
                  <a:cubicBezTo>
                    <a:pt x="834517" y="11465"/>
                    <a:pt x="839089" y="4607"/>
                    <a:pt x="845947" y="1559"/>
                  </a:cubicBezTo>
                  <a:cubicBezTo>
                    <a:pt x="852805" y="-1489"/>
                    <a:pt x="861060" y="35"/>
                    <a:pt x="866648" y="5242"/>
                  </a:cubicBezTo>
                  <a:lnTo>
                    <a:pt x="1063117" y="189900"/>
                  </a:lnTo>
                  <a:cubicBezTo>
                    <a:pt x="1066927" y="193456"/>
                    <a:pt x="1069086" y="198536"/>
                    <a:pt x="1069086" y="203743"/>
                  </a:cubicBezTo>
                  <a:cubicBezTo>
                    <a:pt x="1069086" y="208950"/>
                    <a:pt x="1066927" y="214030"/>
                    <a:pt x="1063117" y="217586"/>
                  </a:cubicBezTo>
                  <a:lnTo>
                    <a:pt x="866648" y="402371"/>
                  </a:lnTo>
                  <a:cubicBezTo>
                    <a:pt x="861060" y="407578"/>
                    <a:pt x="853059" y="408975"/>
                    <a:pt x="846074" y="405927"/>
                  </a:cubicBezTo>
                  <a:cubicBezTo>
                    <a:pt x="839089" y="402879"/>
                    <a:pt x="834644" y="396021"/>
                    <a:pt x="834644" y="388401"/>
                  </a:cubicBezTo>
                  <a:lnTo>
                    <a:pt x="834644" y="296072"/>
                  </a:lnTo>
                  <a:lnTo>
                    <a:pt x="853694" y="296072"/>
                  </a:lnTo>
                  <a:lnTo>
                    <a:pt x="853694" y="315122"/>
                  </a:lnTo>
                  <a:lnTo>
                    <a:pt x="19050" y="315122"/>
                  </a:lnTo>
                  <a:cubicBezTo>
                    <a:pt x="8509" y="315122"/>
                    <a:pt x="0" y="306613"/>
                    <a:pt x="0" y="296072"/>
                  </a:cubicBezTo>
                  <a:lnTo>
                    <a:pt x="0" y="111414"/>
                  </a:lnTo>
                  <a:cubicBezTo>
                    <a:pt x="0" y="100873"/>
                    <a:pt x="8509" y="92364"/>
                    <a:pt x="19050" y="92364"/>
                  </a:cubicBezTo>
                  <a:moveTo>
                    <a:pt x="19050" y="130464"/>
                  </a:moveTo>
                  <a:lnTo>
                    <a:pt x="19050" y="111414"/>
                  </a:lnTo>
                  <a:lnTo>
                    <a:pt x="38100" y="111414"/>
                  </a:lnTo>
                  <a:lnTo>
                    <a:pt x="38100" y="296072"/>
                  </a:lnTo>
                  <a:lnTo>
                    <a:pt x="19050" y="296072"/>
                  </a:lnTo>
                  <a:lnTo>
                    <a:pt x="19050" y="277022"/>
                  </a:lnTo>
                  <a:lnTo>
                    <a:pt x="853567" y="277022"/>
                  </a:lnTo>
                  <a:cubicBezTo>
                    <a:pt x="864108" y="277022"/>
                    <a:pt x="872617" y="285531"/>
                    <a:pt x="872617" y="296072"/>
                  </a:cubicBezTo>
                  <a:lnTo>
                    <a:pt x="872617" y="388401"/>
                  </a:lnTo>
                  <a:lnTo>
                    <a:pt x="853567" y="388401"/>
                  </a:lnTo>
                  <a:lnTo>
                    <a:pt x="840486" y="374558"/>
                  </a:lnTo>
                  <a:lnTo>
                    <a:pt x="1037082" y="189900"/>
                  </a:lnTo>
                  <a:lnTo>
                    <a:pt x="1050163" y="203743"/>
                  </a:lnTo>
                  <a:lnTo>
                    <a:pt x="1037082" y="217586"/>
                  </a:lnTo>
                  <a:lnTo>
                    <a:pt x="840613" y="32928"/>
                  </a:lnTo>
                  <a:lnTo>
                    <a:pt x="853567" y="19085"/>
                  </a:lnTo>
                  <a:lnTo>
                    <a:pt x="872617" y="19085"/>
                  </a:lnTo>
                  <a:lnTo>
                    <a:pt x="872617" y="111414"/>
                  </a:lnTo>
                  <a:cubicBezTo>
                    <a:pt x="872617" y="121955"/>
                    <a:pt x="864108" y="130464"/>
                    <a:pt x="853567" y="130464"/>
                  </a:cubicBezTo>
                  <a:lnTo>
                    <a:pt x="19050" y="130464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3223670" y="2678401"/>
            <a:ext cx="2805112" cy="2821305"/>
          </a:xfrm>
          <a:custGeom>
            <a:avLst/>
            <a:gdLst/>
            <a:ahLst/>
            <a:cxnLst/>
            <a:rect l="l" t="t" r="r" b="b"/>
            <a:pathLst>
              <a:path w="2805112" h="2821305">
                <a:moveTo>
                  <a:pt x="0" y="0"/>
                </a:moveTo>
                <a:lnTo>
                  <a:pt x="2805112" y="0"/>
                </a:lnTo>
                <a:lnTo>
                  <a:pt x="2805112" y="2821305"/>
                </a:lnTo>
                <a:lnTo>
                  <a:pt x="0" y="2821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214726" y="2669448"/>
            <a:ext cx="2823010" cy="2839202"/>
          </a:xfrm>
          <a:custGeom>
            <a:avLst/>
            <a:gdLst/>
            <a:ahLst/>
            <a:cxnLst/>
            <a:rect l="l" t="t" r="r" b="b"/>
            <a:pathLst>
              <a:path w="2823010" h="2839202">
                <a:moveTo>
                  <a:pt x="0" y="0"/>
                </a:moveTo>
                <a:lnTo>
                  <a:pt x="2823010" y="0"/>
                </a:lnTo>
                <a:lnTo>
                  <a:pt x="2823010" y="2839202"/>
                </a:lnTo>
                <a:lnTo>
                  <a:pt x="0" y="2839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492236" y="2947283"/>
            <a:ext cx="2267702" cy="2282942"/>
          </a:xfrm>
          <a:custGeom>
            <a:avLst/>
            <a:gdLst/>
            <a:ahLst/>
            <a:cxnLst/>
            <a:rect l="l" t="t" r="r" b="b"/>
            <a:pathLst>
              <a:path w="2267702" h="2282942">
                <a:moveTo>
                  <a:pt x="0" y="0"/>
                </a:moveTo>
                <a:lnTo>
                  <a:pt x="2267703" y="0"/>
                </a:lnTo>
                <a:lnTo>
                  <a:pt x="2267703" y="2282942"/>
                </a:lnTo>
                <a:lnTo>
                  <a:pt x="0" y="228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296917" y="2808827"/>
            <a:ext cx="860108" cy="925830"/>
          </a:xfrm>
          <a:custGeom>
            <a:avLst/>
            <a:gdLst/>
            <a:ahLst/>
            <a:cxnLst/>
            <a:rect l="l" t="t" r="r" b="b"/>
            <a:pathLst>
              <a:path w="860108" h="925830">
                <a:moveTo>
                  <a:pt x="0" y="0"/>
                </a:moveTo>
                <a:lnTo>
                  <a:pt x="860107" y="0"/>
                </a:lnTo>
                <a:lnTo>
                  <a:pt x="860107" y="925830"/>
                </a:lnTo>
                <a:lnTo>
                  <a:pt x="0" y="92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288325" y="2800245"/>
            <a:ext cx="877281" cy="943004"/>
          </a:xfrm>
          <a:custGeom>
            <a:avLst/>
            <a:gdLst/>
            <a:ahLst/>
            <a:cxnLst/>
            <a:rect l="l" t="t" r="r" b="b"/>
            <a:pathLst>
              <a:path w="877281" h="943004">
                <a:moveTo>
                  <a:pt x="0" y="0"/>
                </a:moveTo>
                <a:lnTo>
                  <a:pt x="877281" y="0"/>
                </a:lnTo>
                <a:lnTo>
                  <a:pt x="877281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913861" y="3419542"/>
            <a:ext cx="2105025" cy="2069783"/>
          </a:xfrm>
          <a:custGeom>
            <a:avLst/>
            <a:gdLst/>
            <a:ahLst/>
            <a:cxnLst/>
            <a:rect l="l" t="t" r="r" b="b"/>
            <a:pathLst>
              <a:path w="2105025" h="2069783">
                <a:moveTo>
                  <a:pt x="0" y="0"/>
                </a:moveTo>
                <a:lnTo>
                  <a:pt x="2105025" y="0"/>
                </a:lnTo>
                <a:lnTo>
                  <a:pt x="2105025" y="2069782"/>
                </a:lnTo>
                <a:lnTo>
                  <a:pt x="0" y="2069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4839043" y="2707910"/>
            <a:ext cx="400260" cy="357702"/>
            <a:chOff x="0" y="0"/>
            <a:chExt cx="533679" cy="4769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3654" cy="476885"/>
            </a:xfrm>
            <a:custGeom>
              <a:avLst/>
              <a:gdLst/>
              <a:ahLst/>
              <a:cxnLst/>
              <a:rect l="l" t="t" r="r" b="b"/>
              <a:pathLst>
                <a:path w="533654" h="476885">
                  <a:moveTo>
                    <a:pt x="0" y="0"/>
                  </a:moveTo>
                  <a:lnTo>
                    <a:pt x="533654" y="0"/>
                  </a:lnTo>
                  <a:lnTo>
                    <a:pt x="533654" y="476885"/>
                  </a:lnTo>
                  <a:lnTo>
                    <a:pt x="0" y="476885"/>
                  </a:lnTo>
                  <a:close/>
                </a:path>
              </a:pathLst>
            </a:custGeom>
            <a:blipFill>
              <a:blip r:embed="rId14"/>
              <a:stretch>
                <a:fillRect l="-45" r="-52" b="-10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7921666" y="2073154"/>
            <a:ext cx="981075" cy="659130"/>
            <a:chOff x="0" y="0"/>
            <a:chExt cx="1308100" cy="878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07211" cy="877570"/>
            </a:xfrm>
            <a:custGeom>
              <a:avLst/>
              <a:gdLst/>
              <a:ahLst/>
              <a:cxnLst/>
              <a:rect l="l" t="t" r="r" b="b"/>
              <a:pathLst>
                <a:path w="1307211" h="877570">
                  <a:moveTo>
                    <a:pt x="54356" y="0"/>
                  </a:moveTo>
                  <a:lnTo>
                    <a:pt x="0" y="106807"/>
                  </a:lnTo>
                  <a:lnTo>
                    <a:pt x="145161" y="180721"/>
                  </a:lnTo>
                  <a:lnTo>
                    <a:pt x="90805" y="287528"/>
                  </a:lnTo>
                  <a:lnTo>
                    <a:pt x="1249807" y="877570"/>
                  </a:lnTo>
                  <a:lnTo>
                    <a:pt x="1307211" y="764921"/>
                  </a:lnTo>
                  <a:lnTo>
                    <a:pt x="1167765" y="693928"/>
                  </a:lnTo>
                  <a:lnTo>
                    <a:pt x="1219200" y="592963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84D7EE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7919133" y="2070621"/>
            <a:ext cx="986152" cy="664207"/>
          </a:xfrm>
          <a:custGeom>
            <a:avLst/>
            <a:gdLst/>
            <a:ahLst/>
            <a:cxnLst/>
            <a:rect l="l" t="t" r="r" b="b"/>
            <a:pathLst>
              <a:path w="986152" h="664207">
                <a:moveTo>
                  <a:pt x="0" y="0"/>
                </a:moveTo>
                <a:lnTo>
                  <a:pt x="986151" y="0"/>
                </a:lnTo>
                <a:lnTo>
                  <a:pt x="986151" y="664207"/>
                </a:lnTo>
                <a:lnTo>
                  <a:pt x="0" y="6642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8221256" y="2246662"/>
            <a:ext cx="326174" cy="287226"/>
            <a:chOff x="0" y="0"/>
            <a:chExt cx="434899" cy="3829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4848" cy="383032"/>
            </a:xfrm>
            <a:custGeom>
              <a:avLst/>
              <a:gdLst/>
              <a:ahLst/>
              <a:cxnLst/>
              <a:rect l="l" t="t" r="r" b="b"/>
              <a:pathLst>
                <a:path w="434848" h="383032">
                  <a:moveTo>
                    <a:pt x="0" y="0"/>
                  </a:moveTo>
                  <a:lnTo>
                    <a:pt x="434848" y="0"/>
                  </a:lnTo>
                  <a:lnTo>
                    <a:pt x="434848" y="383032"/>
                  </a:lnTo>
                  <a:lnTo>
                    <a:pt x="0" y="383032"/>
                  </a:lnTo>
                  <a:close/>
                </a:path>
              </a:pathLst>
            </a:custGeom>
            <a:blipFill>
              <a:blip r:embed="rId17"/>
              <a:stretch>
                <a:fillRect t="-1730" r="-11" b="-1717"/>
              </a:stretch>
            </a:blipFill>
          </p:spPr>
        </p:sp>
      </p:grpSp>
      <p:sp>
        <p:nvSpPr>
          <p:cNvPr id="33" name="Freeform 33"/>
          <p:cNvSpPr/>
          <p:nvPr/>
        </p:nvSpPr>
        <p:spPr>
          <a:xfrm>
            <a:off x="6393551" y="2698328"/>
            <a:ext cx="2805112" cy="2821305"/>
          </a:xfrm>
          <a:custGeom>
            <a:avLst/>
            <a:gdLst/>
            <a:ahLst/>
            <a:cxnLst/>
            <a:rect l="l" t="t" r="r" b="b"/>
            <a:pathLst>
              <a:path w="2805112" h="2821305">
                <a:moveTo>
                  <a:pt x="0" y="0"/>
                </a:moveTo>
                <a:lnTo>
                  <a:pt x="2805113" y="0"/>
                </a:lnTo>
                <a:lnTo>
                  <a:pt x="2805113" y="2821305"/>
                </a:lnTo>
                <a:lnTo>
                  <a:pt x="0" y="28213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6384598" y="2689384"/>
            <a:ext cx="2823010" cy="2839202"/>
          </a:xfrm>
          <a:custGeom>
            <a:avLst/>
            <a:gdLst/>
            <a:ahLst/>
            <a:cxnLst/>
            <a:rect l="l" t="t" r="r" b="b"/>
            <a:pathLst>
              <a:path w="2823010" h="2839202">
                <a:moveTo>
                  <a:pt x="0" y="0"/>
                </a:moveTo>
                <a:lnTo>
                  <a:pt x="2823010" y="0"/>
                </a:lnTo>
                <a:lnTo>
                  <a:pt x="2823010" y="2839202"/>
                </a:lnTo>
                <a:lnTo>
                  <a:pt x="0" y="28392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6662109" y="2967218"/>
            <a:ext cx="2267702" cy="2282942"/>
          </a:xfrm>
          <a:custGeom>
            <a:avLst/>
            <a:gdLst/>
            <a:ahLst/>
            <a:cxnLst/>
            <a:rect l="l" t="t" r="r" b="b"/>
            <a:pathLst>
              <a:path w="2267702" h="2282942">
                <a:moveTo>
                  <a:pt x="0" y="0"/>
                </a:moveTo>
                <a:lnTo>
                  <a:pt x="2267702" y="0"/>
                </a:lnTo>
                <a:lnTo>
                  <a:pt x="2267702" y="2282943"/>
                </a:lnTo>
                <a:lnTo>
                  <a:pt x="0" y="22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466789" y="2828763"/>
            <a:ext cx="860108" cy="925830"/>
          </a:xfrm>
          <a:custGeom>
            <a:avLst/>
            <a:gdLst/>
            <a:ahLst/>
            <a:cxnLst/>
            <a:rect l="l" t="t" r="r" b="b"/>
            <a:pathLst>
              <a:path w="860108" h="925830">
                <a:moveTo>
                  <a:pt x="0" y="0"/>
                </a:moveTo>
                <a:lnTo>
                  <a:pt x="860108" y="0"/>
                </a:lnTo>
                <a:lnTo>
                  <a:pt x="860108" y="925830"/>
                </a:lnTo>
                <a:lnTo>
                  <a:pt x="0" y="92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458207" y="2820172"/>
            <a:ext cx="877281" cy="943004"/>
          </a:xfrm>
          <a:custGeom>
            <a:avLst/>
            <a:gdLst/>
            <a:ahLst/>
            <a:cxnLst/>
            <a:rect l="l" t="t" r="r" b="b"/>
            <a:pathLst>
              <a:path w="877281" h="943004">
                <a:moveTo>
                  <a:pt x="0" y="0"/>
                </a:moveTo>
                <a:lnTo>
                  <a:pt x="877281" y="0"/>
                </a:lnTo>
                <a:lnTo>
                  <a:pt x="877281" y="943003"/>
                </a:lnTo>
                <a:lnTo>
                  <a:pt x="0" y="943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7083743" y="3439478"/>
            <a:ext cx="2105025" cy="2069783"/>
          </a:xfrm>
          <a:custGeom>
            <a:avLst/>
            <a:gdLst/>
            <a:ahLst/>
            <a:cxnLst/>
            <a:rect l="l" t="t" r="r" b="b"/>
            <a:pathLst>
              <a:path w="2105025" h="2069783">
                <a:moveTo>
                  <a:pt x="0" y="0"/>
                </a:moveTo>
                <a:lnTo>
                  <a:pt x="2105025" y="0"/>
                </a:lnTo>
                <a:lnTo>
                  <a:pt x="2105025" y="2069782"/>
                </a:lnTo>
                <a:lnTo>
                  <a:pt x="0" y="206978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7774000" y="2680021"/>
            <a:ext cx="924878" cy="635317"/>
          </a:xfrm>
          <a:custGeom>
            <a:avLst/>
            <a:gdLst/>
            <a:ahLst/>
            <a:cxnLst/>
            <a:rect l="l" t="t" r="r" b="b"/>
            <a:pathLst>
              <a:path w="924878" h="635317">
                <a:moveTo>
                  <a:pt x="0" y="0"/>
                </a:moveTo>
                <a:lnTo>
                  <a:pt x="924878" y="0"/>
                </a:lnTo>
                <a:lnTo>
                  <a:pt x="924878" y="635317"/>
                </a:lnTo>
                <a:lnTo>
                  <a:pt x="0" y="63531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9499625" y="2666486"/>
            <a:ext cx="2805112" cy="2821305"/>
          </a:xfrm>
          <a:custGeom>
            <a:avLst/>
            <a:gdLst/>
            <a:ahLst/>
            <a:cxnLst/>
            <a:rect l="l" t="t" r="r" b="b"/>
            <a:pathLst>
              <a:path w="2805112" h="2821305">
                <a:moveTo>
                  <a:pt x="0" y="0"/>
                </a:moveTo>
                <a:lnTo>
                  <a:pt x="2805113" y="0"/>
                </a:lnTo>
                <a:lnTo>
                  <a:pt x="2805113" y="2821305"/>
                </a:lnTo>
                <a:lnTo>
                  <a:pt x="0" y="282130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490681" y="2657542"/>
            <a:ext cx="2823010" cy="2839202"/>
          </a:xfrm>
          <a:custGeom>
            <a:avLst/>
            <a:gdLst/>
            <a:ahLst/>
            <a:cxnLst/>
            <a:rect l="l" t="t" r="r" b="b"/>
            <a:pathLst>
              <a:path w="2823010" h="2839202">
                <a:moveTo>
                  <a:pt x="0" y="0"/>
                </a:moveTo>
                <a:lnTo>
                  <a:pt x="2823010" y="0"/>
                </a:lnTo>
                <a:lnTo>
                  <a:pt x="2823010" y="2839202"/>
                </a:lnTo>
                <a:lnTo>
                  <a:pt x="0" y="283920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xmlns="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768192" y="2935376"/>
            <a:ext cx="2267702" cy="2282942"/>
          </a:xfrm>
          <a:custGeom>
            <a:avLst/>
            <a:gdLst/>
            <a:ahLst/>
            <a:cxnLst/>
            <a:rect l="l" t="t" r="r" b="b"/>
            <a:pathLst>
              <a:path w="2267702" h="2282942">
                <a:moveTo>
                  <a:pt x="0" y="0"/>
                </a:moveTo>
                <a:lnTo>
                  <a:pt x="2267703" y="0"/>
                </a:lnTo>
                <a:lnTo>
                  <a:pt x="2267703" y="2282943"/>
                </a:lnTo>
                <a:lnTo>
                  <a:pt x="0" y="22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572873" y="2796931"/>
            <a:ext cx="860108" cy="925830"/>
          </a:xfrm>
          <a:custGeom>
            <a:avLst/>
            <a:gdLst/>
            <a:ahLst/>
            <a:cxnLst/>
            <a:rect l="l" t="t" r="r" b="b"/>
            <a:pathLst>
              <a:path w="860108" h="925830">
                <a:moveTo>
                  <a:pt x="0" y="0"/>
                </a:moveTo>
                <a:lnTo>
                  <a:pt x="860107" y="0"/>
                </a:lnTo>
                <a:lnTo>
                  <a:pt x="860107" y="925830"/>
                </a:lnTo>
                <a:lnTo>
                  <a:pt x="0" y="92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564281" y="2788339"/>
            <a:ext cx="877281" cy="943004"/>
          </a:xfrm>
          <a:custGeom>
            <a:avLst/>
            <a:gdLst/>
            <a:ahLst/>
            <a:cxnLst/>
            <a:rect l="l" t="t" r="r" b="b"/>
            <a:pathLst>
              <a:path w="877281" h="943004">
                <a:moveTo>
                  <a:pt x="0" y="0"/>
                </a:moveTo>
                <a:lnTo>
                  <a:pt x="877281" y="0"/>
                </a:lnTo>
                <a:lnTo>
                  <a:pt x="877281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0189816" y="3407635"/>
            <a:ext cx="2105025" cy="2069783"/>
          </a:xfrm>
          <a:custGeom>
            <a:avLst/>
            <a:gdLst/>
            <a:ahLst/>
            <a:cxnLst/>
            <a:rect l="l" t="t" r="r" b="b"/>
            <a:pathLst>
              <a:path w="2105025" h="2069783">
                <a:moveTo>
                  <a:pt x="0" y="0"/>
                </a:moveTo>
                <a:lnTo>
                  <a:pt x="2105025" y="0"/>
                </a:lnTo>
                <a:lnTo>
                  <a:pt x="2105025" y="2069783"/>
                </a:lnTo>
                <a:lnTo>
                  <a:pt x="0" y="206978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880855" y="2662514"/>
            <a:ext cx="923925" cy="603885"/>
          </a:xfrm>
          <a:custGeom>
            <a:avLst/>
            <a:gdLst/>
            <a:ahLst/>
            <a:cxnLst/>
            <a:rect l="l" t="t" r="r" b="b"/>
            <a:pathLst>
              <a:path w="923925" h="603885">
                <a:moveTo>
                  <a:pt x="0" y="0"/>
                </a:moveTo>
                <a:lnTo>
                  <a:pt x="923925" y="0"/>
                </a:lnTo>
                <a:lnTo>
                  <a:pt x="923925" y="603885"/>
                </a:lnTo>
                <a:lnTo>
                  <a:pt x="0" y="60388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xmlns="" r:embed="rId35"/>
                </a:ext>
              </a:extLst>
            </a:blip>
            <a:stretch>
              <a:fillRect/>
            </a:stretch>
          </a:blipFill>
        </p:spPr>
      </p:sp>
      <p:grpSp>
        <p:nvGrpSpPr>
          <p:cNvPr id="47" name="Group 47"/>
          <p:cNvGrpSpPr/>
          <p:nvPr/>
        </p:nvGrpSpPr>
        <p:grpSpPr>
          <a:xfrm>
            <a:off x="3283934" y="2693527"/>
            <a:ext cx="347434" cy="376961"/>
            <a:chOff x="0" y="0"/>
            <a:chExt cx="463245" cy="502615"/>
          </a:xfrm>
        </p:grpSpPr>
        <p:sp>
          <p:nvSpPr>
            <p:cNvPr id="48" name="Freeform 48"/>
            <p:cNvSpPr/>
            <p:nvPr/>
          </p:nvSpPr>
          <p:spPr>
            <a:xfrm>
              <a:off x="1143" y="1397"/>
              <a:ext cx="460629" cy="498856"/>
            </a:xfrm>
            <a:custGeom>
              <a:avLst/>
              <a:gdLst/>
              <a:ahLst/>
              <a:cxnLst/>
              <a:rect l="l" t="t" r="r" b="b"/>
              <a:pathLst>
                <a:path w="460629" h="498856">
                  <a:moveTo>
                    <a:pt x="6350" y="0"/>
                  </a:moveTo>
                  <a:lnTo>
                    <a:pt x="460629" y="493014"/>
                  </a:lnTo>
                  <a:lnTo>
                    <a:pt x="454279" y="498856"/>
                  </a:lnTo>
                  <a:lnTo>
                    <a:pt x="0" y="584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5088617" y="2424846"/>
            <a:ext cx="141694" cy="304571"/>
            <a:chOff x="0" y="0"/>
            <a:chExt cx="188925" cy="406095"/>
          </a:xfrm>
        </p:grpSpPr>
        <p:sp>
          <p:nvSpPr>
            <p:cNvPr id="50" name="Freeform 50"/>
            <p:cNvSpPr/>
            <p:nvPr/>
          </p:nvSpPr>
          <p:spPr>
            <a:xfrm>
              <a:off x="381" y="2540"/>
              <a:ext cx="187706" cy="399923"/>
            </a:xfrm>
            <a:custGeom>
              <a:avLst/>
              <a:gdLst/>
              <a:ahLst/>
              <a:cxnLst/>
              <a:rect l="l" t="t" r="r" b="b"/>
              <a:pathLst>
                <a:path w="187706" h="399923">
                  <a:moveTo>
                    <a:pt x="187706" y="3556"/>
                  </a:moveTo>
                  <a:lnTo>
                    <a:pt x="7874" y="399923"/>
                  </a:lnTo>
                  <a:lnTo>
                    <a:pt x="0" y="396367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2893857" y="2435304"/>
            <a:ext cx="592455" cy="25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954867" y="2175739"/>
            <a:ext cx="493395" cy="25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Bbs1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962850" y="3184731"/>
            <a:ext cx="287426" cy="330289"/>
            <a:chOff x="0" y="0"/>
            <a:chExt cx="383235" cy="440385"/>
          </a:xfrm>
        </p:grpSpPr>
        <p:sp>
          <p:nvSpPr>
            <p:cNvPr id="54" name="Freeform 54"/>
            <p:cNvSpPr/>
            <p:nvPr/>
          </p:nvSpPr>
          <p:spPr>
            <a:xfrm>
              <a:off x="1016" y="1524"/>
              <a:ext cx="381000" cy="436499"/>
            </a:xfrm>
            <a:custGeom>
              <a:avLst/>
              <a:gdLst/>
              <a:ahLst/>
              <a:cxnLst/>
              <a:rect l="l" t="t" r="r" b="b"/>
              <a:pathLst>
                <a:path w="381000" h="436499">
                  <a:moveTo>
                    <a:pt x="381000" y="5588"/>
                  </a:moveTo>
                  <a:lnTo>
                    <a:pt x="6477" y="436499"/>
                  </a:lnTo>
                  <a:lnTo>
                    <a:pt x="0" y="430911"/>
                  </a:lnTo>
                  <a:lnTo>
                    <a:pt x="37452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6048289" y="2918755"/>
            <a:ext cx="503872" cy="25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Cas9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051811" y="4044391"/>
            <a:ext cx="1161098" cy="24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eSpCas9(1.1)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1450993" y="2413406"/>
            <a:ext cx="141694" cy="304571"/>
            <a:chOff x="0" y="0"/>
            <a:chExt cx="188925" cy="406095"/>
          </a:xfrm>
        </p:grpSpPr>
        <p:sp>
          <p:nvSpPr>
            <p:cNvPr id="58" name="Freeform 58"/>
            <p:cNvSpPr/>
            <p:nvPr/>
          </p:nvSpPr>
          <p:spPr>
            <a:xfrm>
              <a:off x="381" y="2540"/>
              <a:ext cx="187706" cy="399923"/>
            </a:xfrm>
            <a:custGeom>
              <a:avLst/>
              <a:gdLst/>
              <a:ahLst/>
              <a:cxnLst/>
              <a:rect l="l" t="t" r="r" b="b"/>
              <a:pathLst>
                <a:path w="187706" h="399923">
                  <a:moveTo>
                    <a:pt x="187706" y="3556"/>
                  </a:moveTo>
                  <a:lnTo>
                    <a:pt x="7874" y="399923"/>
                  </a:lnTo>
                  <a:lnTo>
                    <a:pt x="0" y="396367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11193323" y="1943500"/>
            <a:ext cx="902970" cy="430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RNA-guia  ARH3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57486" y="2758107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5’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935744" y="2892123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5’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747625" y="2464413"/>
            <a:ext cx="24320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03517" y="3168129"/>
            <a:ext cx="24320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do RNA-guia: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6977" y="4525518"/>
            <a:ext cx="13874591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Complementar à um éxon do gene ARH3;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Ter uma sequência que não se repita em outras porções do genoma;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Planejado através do site </a:t>
            </a:r>
            <a:r>
              <a:rPr lang="en-US" sz="2700" i="1">
                <a:solidFill>
                  <a:srgbClr val="404040"/>
                </a:solidFill>
                <a:latin typeface="Arial Italics"/>
                <a:ea typeface="Arial Italics"/>
                <a:cs typeface="Arial Italics"/>
                <a:sym typeface="Arial Italics"/>
              </a:rPr>
              <a:t>benchling.com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 i="1">
              <a:solidFill>
                <a:srgbClr val="404040"/>
              </a:solidFill>
              <a:latin typeface="Arial Italics"/>
              <a:ea typeface="Arial Italics"/>
              <a:cs typeface="Arial Italics"/>
              <a:sym typeface="Arial Itali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3138659" y="2571483"/>
            <a:ext cx="786765" cy="305753"/>
            <a:chOff x="0" y="0"/>
            <a:chExt cx="1049020" cy="4076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8639" cy="407670"/>
            </a:xfrm>
            <a:custGeom>
              <a:avLst/>
              <a:gdLst/>
              <a:ahLst/>
              <a:cxnLst/>
              <a:rect l="l" t="t" r="r" b="b"/>
              <a:pathLst>
                <a:path w="1048639" h="407670">
                  <a:moveTo>
                    <a:pt x="980694" y="0"/>
                  </a:moveTo>
                  <a:lnTo>
                    <a:pt x="67945" y="0"/>
                  </a:lnTo>
                  <a:lnTo>
                    <a:pt x="41529" y="5334"/>
                  </a:lnTo>
                  <a:lnTo>
                    <a:pt x="19939" y="19939"/>
                  </a:lnTo>
                  <a:lnTo>
                    <a:pt x="5334" y="41529"/>
                  </a:lnTo>
                  <a:lnTo>
                    <a:pt x="0" y="67945"/>
                  </a:lnTo>
                  <a:lnTo>
                    <a:pt x="0" y="339725"/>
                  </a:lnTo>
                  <a:lnTo>
                    <a:pt x="5334" y="366141"/>
                  </a:lnTo>
                  <a:lnTo>
                    <a:pt x="19939" y="387731"/>
                  </a:lnTo>
                  <a:lnTo>
                    <a:pt x="41529" y="402336"/>
                  </a:lnTo>
                  <a:lnTo>
                    <a:pt x="67945" y="407670"/>
                  </a:lnTo>
                  <a:lnTo>
                    <a:pt x="980694" y="407670"/>
                  </a:lnTo>
                  <a:lnTo>
                    <a:pt x="1007110" y="402336"/>
                  </a:lnTo>
                  <a:lnTo>
                    <a:pt x="1028700" y="387731"/>
                  </a:lnTo>
                  <a:lnTo>
                    <a:pt x="1043305" y="366141"/>
                  </a:lnTo>
                  <a:lnTo>
                    <a:pt x="1048639" y="339725"/>
                  </a:lnTo>
                  <a:lnTo>
                    <a:pt x="1048639" y="67945"/>
                  </a:lnTo>
                  <a:lnTo>
                    <a:pt x="1043305" y="41529"/>
                  </a:lnTo>
                  <a:lnTo>
                    <a:pt x="1028700" y="19939"/>
                  </a:lnTo>
                  <a:lnTo>
                    <a:pt x="1007110" y="5334"/>
                  </a:lnTo>
                  <a:lnTo>
                    <a:pt x="980694" y="0"/>
                  </a:lnTo>
                  <a:close/>
                </a:path>
              </a:pathLst>
            </a:custGeom>
            <a:solidFill>
              <a:srgbClr val="95B3D7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3129534" y="2562358"/>
            <a:ext cx="805015" cy="324002"/>
          </a:xfrm>
          <a:custGeom>
            <a:avLst/>
            <a:gdLst/>
            <a:ahLst/>
            <a:cxnLst/>
            <a:rect l="l" t="t" r="r" b="b"/>
            <a:pathLst>
              <a:path w="805015" h="324002">
                <a:moveTo>
                  <a:pt x="0" y="0"/>
                </a:moveTo>
                <a:lnTo>
                  <a:pt x="805015" y="0"/>
                </a:lnTo>
                <a:lnTo>
                  <a:pt x="805015" y="324003"/>
                </a:lnTo>
                <a:lnTo>
                  <a:pt x="0" y="324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3943026" y="2486797"/>
            <a:ext cx="205511" cy="252184"/>
            <a:chOff x="0" y="0"/>
            <a:chExt cx="274015" cy="336245"/>
          </a:xfrm>
        </p:grpSpPr>
        <p:sp>
          <p:nvSpPr>
            <p:cNvPr id="26" name="Freeform 26"/>
            <p:cNvSpPr/>
            <p:nvPr/>
          </p:nvSpPr>
          <p:spPr>
            <a:xfrm>
              <a:off x="1016" y="1651"/>
              <a:ext cx="271780" cy="332486"/>
            </a:xfrm>
            <a:custGeom>
              <a:avLst/>
              <a:gdLst/>
              <a:ahLst/>
              <a:cxnLst/>
              <a:rect l="l" t="t" r="r" b="b"/>
              <a:pathLst>
                <a:path w="271780" h="332486">
                  <a:moveTo>
                    <a:pt x="0" y="327152"/>
                  </a:moveTo>
                  <a:lnTo>
                    <a:pt x="265049" y="0"/>
                  </a:lnTo>
                  <a:lnTo>
                    <a:pt x="271780" y="5461"/>
                  </a:lnTo>
                  <a:lnTo>
                    <a:pt x="6604" y="33248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140136" y="2486797"/>
            <a:ext cx="196939" cy="252184"/>
            <a:chOff x="0" y="0"/>
            <a:chExt cx="262585" cy="336245"/>
          </a:xfrm>
        </p:grpSpPr>
        <p:sp>
          <p:nvSpPr>
            <p:cNvPr id="28" name="Freeform 28"/>
            <p:cNvSpPr/>
            <p:nvPr/>
          </p:nvSpPr>
          <p:spPr>
            <a:xfrm>
              <a:off x="889" y="1651"/>
              <a:ext cx="260350" cy="332359"/>
            </a:xfrm>
            <a:custGeom>
              <a:avLst/>
              <a:gdLst/>
              <a:ahLst/>
              <a:cxnLst/>
              <a:rect l="l" t="t" r="r" b="b"/>
              <a:pathLst>
                <a:path w="260350" h="332359">
                  <a:moveTo>
                    <a:pt x="6858" y="0"/>
                  </a:moveTo>
                  <a:lnTo>
                    <a:pt x="260350" y="327152"/>
                  </a:lnTo>
                  <a:lnTo>
                    <a:pt x="253619" y="332359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151882" y="2514962"/>
            <a:ext cx="241706" cy="234086"/>
            <a:chOff x="0" y="0"/>
            <a:chExt cx="322275" cy="312115"/>
          </a:xfrm>
        </p:grpSpPr>
        <p:sp>
          <p:nvSpPr>
            <p:cNvPr id="30" name="Freeform 30"/>
            <p:cNvSpPr/>
            <p:nvPr/>
          </p:nvSpPr>
          <p:spPr>
            <a:xfrm>
              <a:off x="1270" y="1270"/>
              <a:ext cx="318897" cy="309626"/>
            </a:xfrm>
            <a:custGeom>
              <a:avLst/>
              <a:gdLst/>
              <a:ahLst/>
              <a:cxnLst/>
              <a:rect l="l" t="t" r="r" b="b"/>
              <a:pathLst>
                <a:path w="318897" h="309626">
                  <a:moveTo>
                    <a:pt x="0" y="303403"/>
                  </a:moveTo>
                  <a:lnTo>
                    <a:pt x="312928" y="0"/>
                  </a:lnTo>
                  <a:lnTo>
                    <a:pt x="318897" y="6223"/>
                  </a:lnTo>
                  <a:lnTo>
                    <a:pt x="5969" y="30962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387216" y="2504904"/>
            <a:ext cx="223609" cy="232181"/>
            <a:chOff x="0" y="0"/>
            <a:chExt cx="298145" cy="309575"/>
          </a:xfrm>
        </p:grpSpPr>
        <p:sp>
          <p:nvSpPr>
            <p:cNvPr id="32" name="Freeform 32"/>
            <p:cNvSpPr/>
            <p:nvPr/>
          </p:nvSpPr>
          <p:spPr>
            <a:xfrm>
              <a:off x="1143" y="1270"/>
              <a:ext cx="295021" cy="306197"/>
            </a:xfrm>
            <a:custGeom>
              <a:avLst/>
              <a:gdLst/>
              <a:ahLst/>
              <a:cxnLst/>
              <a:rect l="l" t="t" r="r" b="b"/>
              <a:pathLst>
                <a:path w="295021" h="306197">
                  <a:moveTo>
                    <a:pt x="6223" y="0"/>
                  </a:moveTo>
                  <a:lnTo>
                    <a:pt x="295021" y="300228"/>
                  </a:lnTo>
                  <a:lnTo>
                    <a:pt x="288798" y="306197"/>
                  </a:lnTo>
                  <a:lnTo>
                    <a:pt x="0" y="596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421088" y="2482777"/>
            <a:ext cx="254089" cy="271234"/>
            <a:chOff x="0" y="0"/>
            <a:chExt cx="338785" cy="361645"/>
          </a:xfrm>
        </p:grpSpPr>
        <p:sp>
          <p:nvSpPr>
            <p:cNvPr id="34" name="Freeform 34"/>
            <p:cNvSpPr/>
            <p:nvPr/>
          </p:nvSpPr>
          <p:spPr>
            <a:xfrm>
              <a:off x="1143" y="1397"/>
              <a:ext cx="336296" cy="358267"/>
            </a:xfrm>
            <a:custGeom>
              <a:avLst/>
              <a:gdLst/>
              <a:ahLst/>
              <a:cxnLst/>
              <a:rect l="l" t="t" r="r" b="b"/>
              <a:pathLst>
                <a:path w="336296" h="358267">
                  <a:moveTo>
                    <a:pt x="0" y="352425"/>
                  </a:moveTo>
                  <a:lnTo>
                    <a:pt x="330073" y="0"/>
                  </a:lnTo>
                  <a:lnTo>
                    <a:pt x="336296" y="5842"/>
                  </a:lnTo>
                  <a:lnTo>
                    <a:pt x="6223" y="35826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658442" y="2482777"/>
            <a:ext cx="277901" cy="267424"/>
            <a:chOff x="0" y="0"/>
            <a:chExt cx="370535" cy="356565"/>
          </a:xfrm>
        </p:grpSpPr>
        <p:sp>
          <p:nvSpPr>
            <p:cNvPr id="36" name="Freeform 36"/>
            <p:cNvSpPr/>
            <p:nvPr/>
          </p:nvSpPr>
          <p:spPr>
            <a:xfrm>
              <a:off x="1270" y="1143"/>
              <a:ext cx="367157" cy="353568"/>
            </a:xfrm>
            <a:custGeom>
              <a:avLst/>
              <a:gdLst/>
              <a:ahLst/>
              <a:cxnLst/>
              <a:rect l="l" t="t" r="r" b="b"/>
              <a:pathLst>
                <a:path w="367157" h="353568">
                  <a:moveTo>
                    <a:pt x="5969" y="0"/>
                  </a:moveTo>
                  <a:lnTo>
                    <a:pt x="367157" y="347345"/>
                  </a:lnTo>
                  <a:lnTo>
                    <a:pt x="361188" y="353568"/>
                  </a:lnTo>
                  <a:lnTo>
                    <a:pt x="0" y="622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3206706" y="2598315"/>
            <a:ext cx="66294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Éxon 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359592" y="2575512"/>
            <a:ext cx="786765" cy="308610"/>
            <a:chOff x="0" y="0"/>
            <a:chExt cx="1049020" cy="411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48512" cy="410210"/>
            </a:xfrm>
            <a:custGeom>
              <a:avLst/>
              <a:gdLst/>
              <a:ahLst/>
              <a:cxnLst/>
              <a:rect l="l" t="t" r="r" b="b"/>
              <a:pathLst>
                <a:path w="1048512" h="410210">
                  <a:moveTo>
                    <a:pt x="980186" y="0"/>
                  </a:moveTo>
                  <a:lnTo>
                    <a:pt x="68453" y="0"/>
                  </a:lnTo>
                  <a:lnTo>
                    <a:pt x="41783" y="5334"/>
                  </a:lnTo>
                  <a:lnTo>
                    <a:pt x="20066" y="20066"/>
                  </a:lnTo>
                  <a:lnTo>
                    <a:pt x="5334" y="41783"/>
                  </a:lnTo>
                  <a:lnTo>
                    <a:pt x="0" y="68326"/>
                  </a:lnTo>
                  <a:lnTo>
                    <a:pt x="0" y="341884"/>
                  </a:lnTo>
                  <a:lnTo>
                    <a:pt x="5334" y="368554"/>
                  </a:lnTo>
                  <a:lnTo>
                    <a:pt x="19939" y="390271"/>
                  </a:lnTo>
                  <a:lnTo>
                    <a:pt x="41656" y="404876"/>
                  </a:lnTo>
                  <a:lnTo>
                    <a:pt x="68326" y="410210"/>
                  </a:lnTo>
                  <a:lnTo>
                    <a:pt x="980186" y="410210"/>
                  </a:lnTo>
                  <a:lnTo>
                    <a:pt x="1006856" y="404876"/>
                  </a:lnTo>
                  <a:lnTo>
                    <a:pt x="1028573" y="390271"/>
                  </a:lnTo>
                  <a:lnTo>
                    <a:pt x="1043178" y="368554"/>
                  </a:lnTo>
                  <a:lnTo>
                    <a:pt x="1048512" y="341884"/>
                  </a:lnTo>
                  <a:lnTo>
                    <a:pt x="1048512" y="68326"/>
                  </a:lnTo>
                  <a:lnTo>
                    <a:pt x="1043178" y="41656"/>
                  </a:lnTo>
                  <a:lnTo>
                    <a:pt x="1028573" y="19939"/>
                  </a:lnTo>
                  <a:lnTo>
                    <a:pt x="1006856" y="5334"/>
                  </a:lnTo>
                  <a:lnTo>
                    <a:pt x="980186" y="0"/>
                  </a:lnTo>
                  <a:close/>
                </a:path>
              </a:pathLst>
            </a:custGeom>
            <a:solidFill>
              <a:srgbClr val="95B3D7"/>
            </a:solidFill>
          </p:spPr>
        </p:sp>
      </p:grpSp>
      <p:sp>
        <p:nvSpPr>
          <p:cNvPr id="40" name="Freeform 40"/>
          <p:cNvSpPr/>
          <p:nvPr/>
        </p:nvSpPr>
        <p:spPr>
          <a:xfrm>
            <a:off x="4350468" y="2566387"/>
            <a:ext cx="805015" cy="326860"/>
          </a:xfrm>
          <a:custGeom>
            <a:avLst/>
            <a:gdLst/>
            <a:ahLst/>
            <a:cxnLst/>
            <a:rect l="l" t="t" r="r" b="b"/>
            <a:pathLst>
              <a:path w="805015" h="326860">
                <a:moveTo>
                  <a:pt x="0" y="0"/>
                </a:moveTo>
                <a:lnTo>
                  <a:pt x="805014" y="0"/>
                </a:lnTo>
                <a:lnTo>
                  <a:pt x="805014" y="326860"/>
                </a:lnTo>
                <a:lnTo>
                  <a:pt x="0" y="326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5618731" y="2573493"/>
            <a:ext cx="786765" cy="305753"/>
            <a:chOff x="0" y="0"/>
            <a:chExt cx="1049020" cy="4076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48639" cy="407670"/>
            </a:xfrm>
            <a:custGeom>
              <a:avLst/>
              <a:gdLst/>
              <a:ahLst/>
              <a:cxnLst/>
              <a:rect l="l" t="t" r="r" b="b"/>
              <a:pathLst>
                <a:path w="1048639" h="407670">
                  <a:moveTo>
                    <a:pt x="980694" y="0"/>
                  </a:moveTo>
                  <a:lnTo>
                    <a:pt x="67945" y="0"/>
                  </a:lnTo>
                  <a:lnTo>
                    <a:pt x="41529" y="5334"/>
                  </a:lnTo>
                  <a:lnTo>
                    <a:pt x="19939" y="19939"/>
                  </a:lnTo>
                  <a:lnTo>
                    <a:pt x="5334" y="41529"/>
                  </a:lnTo>
                  <a:lnTo>
                    <a:pt x="0" y="67945"/>
                  </a:lnTo>
                  <a:lnTo>
                    <a:pt x="0" y="339725"/>
                  </a:lnTo>
                  <a:lnTo>
                    <a:pt x="5334" y="366141"/>
                  </a:lnTo>
                  <a:lnTo>
                    <a:pt x="19939" y="387731"/>
                  </a:lnTo>
                  <a:lnTo>
                    <a:pt x="41529" y="402336"/>
                  </a:lnTo>
                  <a:lnTo>
                    <a:pt x="67945" y="407670"/>
                  </a:lnTo>
                  <a:lnTo>
                    <a:pt x="980694" y="407670"/>
                  </a:lnTo>
                  <a:lnTo>
                    <a:pt x="1007110" y="402336"/>
                  </a:lnTo>
                  <a:lnTo>
                    <a:pt x="1028700" y="387731"/>
                  </a:lnTo>
                  <a:lnTo>
                    <a:pt x="1043305" y="366141"/>
                  </a:lnTo>
                  <a:lnTo>
                    <a:pt x="1048639" y="339725"/>
                  </a:lnTo>
                  <a:lnTo>
                    <a:pt x="1048639" y="67945"/>
                  </a:lnTo>
                  <a:lnTo>
                    <a:pt x="1043305" y="41529"/>
                  </a:lnTo>
                  <a:lnTo>
                    <a:pt x="1028700" y="19939"/>
                  </a:lnTo>
                  <a:lnTo>
                    <a:pt x="1007110" y="5334"/>
                  </a:lnTo>
                  <a:lnTo>
                    <a:pt x="980694" y="0"/>
                  </a:lnTo>
                  <a:close/>
                </a:path>
              </a:pathLst>
            </a:custGeom>
            <a:solidFill>
              <a:srgbClr val="95B3D7"/>
            </a:solidFill>
          </p:spPr>
        </p:sp>
      </p:grpSp>
      <p:sp>
        <p:nvSpPr>
          <p:cNvPr id="43" name="Freeform 43"/>
          <p:cNvSpPr/>
          <p:nvPr/>
        </p:nvSpPr>
        <p:spPr>
          <a:xfrm>
            <a:off x="5609606" y="2564368"/>
            <a:ext cx="805015" cy="324002"/>
          </a:xfrm>
          <a:custGeom>
            <a:avLst/>
            <a:gdLst/>
            <a:ahLst/>
            <a:cxnLst/>
            <a:rect l="l" t="t" r="r" b="b"/>
            <a:pathLst>
              <a:path w="805015" h="324002">
                <a:moveTo>
                  <a:pt x="0" y="0"/>
                </a:moveTo>
                <a:lnTo>
                  <a:pt x="805015" y="0"/>
                </a:lnTo>
                <a:lnTo>
                  <a:pt x="805015" y="324003"/>
                </a:lnTo>
                <a:lnTo>
                  <a:pt x="0" y="324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6934200" y="2575512"/>
            <a:ext cx="786765" cy="308610"/>
            <a:chOff x="0" y="0"/>
            <a:chExt cx="1049020" cy="4114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48512" cy="410210"/>
            </a:xfrm>
            <a:custGeom>
              <a:avLst/>
              <a:gdLst/>
              <a:ahLst/>
              <a:cxnLst/>
              <a:rect l="l" t="t" r="r" b="b"/>
              <a:pathLst>
                <a:path w="1048512" h="410210">
                  <a:moveTo>
                    <a:pt x="980186" y="0"/>
                  </a:moveTo>
                  <a:lnTo>
                    <a:pt x="68453" y="0"/>
                  </a:lnTo>
                  <a:lnTo>
                    <a:pt x="41783" y="5334"/>
                  </a:lnTo>
                  <a:lnTo>
                    <a:pt x="20066" y="20066"/>
                  </a:lnTo>
                  <a:lnTo>
                    <a:pt x="5334" y="41783"/>
                  </a:lnTo>
                  <a:lnTo>
                    <a:pt x="0" y="68326"/>
                  </a:lnTo>
                  <a:lnTo>
                    <a:pt x="0" y="341884"/>
                  </a:lnTo>
                  <a:lnTo>
                    <a:pt x="5334" y="368554"/>
                  </a:lnTo>
                  <a:lnTo>
                    <a:pt x="19939" y="390271"/>
                  </a:lnTo>
                  <a:lnTo>
                    <a:pt x="41656" y="404876"/>
                  </a:lnTo>
                  <a:lnTo>
                    <a:pt x="68326" y="410210"/>
                  </a:lnTo>
                  <a:lnTo>
                    <a:pt x="980186" y="410210"/>
                  </a:lnTo>
                  <a:lnTo>
                    <a:pt x="1006856" y="404876"/>
                  </a:lnTo>
                  <a:lnTo>
                    <a:pt x="1028573" y="390271"/>
                  </a:lnTo>
                  <a:lnTo>
                    <a:pt x="1043178" y="368554"/>
                  </a:lnTo>
                  <a:lnTo>
                    <a:pt x="1048512" y="341884"/>
                  </a:lnTo>
                  <a:lnTo>
                    <a:pt x="1048512" y="68326"/>
                  </a:lnTo>
                  <a:lnTo>
                    <a:pt x="1043178" y="41656"/>
                  </a:lnTo>
                  <a:lnTo>
                    <a:pt x="1028573" y="19939"/>
                  </a:lnTo>
                  <a:lnTo>
                    <a:pt x="1006856" y="5334"/>
                  </a:lnTo>
                  <a:lnTo>
                    <a:pt x="980186" y="0"/>
                  </a:lnTo>
                  <a:close/>
                </a:path>
              </a:pathLst>
            </a:custGeom>
            <a:solidFill>
              <a:srgbClr val="95B3D7"/>
            </a:solidFill>
          </p:spPr>
        </p:sp>
      </p:grpSp>
      <p:sp>
        <p:nvSpPr>
          <p:cNvPr id="46" name="Freeform 46"/>
          <p:cNvSpPr/>
          <p:nvPr/>
        </p:nvSpPr>
        <p:spPr>
          <a:xfrm>
            <a:off x="6925075" y="2566387"/>
            <a:ext cx="805015" cy="326860"/>
          </a:xfrm>
          <a:custGeom>
            <a:avLst/>
            <a:gdLst/>
            <a:ahLst/>
            <a:cxnLst/>
            <a:rect l="l" t="t" r="r" b="b"/>
            <a:pathLst>
              <a:path w="805015" h="326860">
                <a:moveTo>
                  <a:pt x="0" y="0"/>
                </a:moveTo>
                <a:lnTo>
                  <a:pt x="805015" y="0"/>
                </a:lnTo>
                <a:lnTo>
                  <a:pt x="805015" y="326860"/>
                </a:lnTo>
                <a:lnTo>
                  <a:pt x="0" y="326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4411542" y="2603183"/>
            <a:ext cx="66294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Éxon 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84834" y="2593457"/>
            <a:ext cx="66294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Éxon 3</a:t>
            </a:r>
          </a:p>
        </p:txBody>
      </p:sp>
      <p:sp>
        <p:nvSpPr>
          <p:cNvPr id="49" name="Freeform 49"/>
          <p:cNvSpPr/>
          <p:nvPr/>
        </p:nvSpPr>
        <p:spPr>
          <a:xfrm>
            <a:off x="7762904" y="3170882"/>
            <a:ext cx="909638" cy="482917"/>
          </a:xfrm>
          <a:custGeom>
            <a:avLst/>
            <a:gdLst/>
            <a:ahLst/>
            <a:cxnLst/>
            <a:rect l="l" t="t" r="r" b="b"/>
            <a:pathLst>
              <a:path w="909638" h="482917">
                <a:moveTo>
                  <a:pt x="0" y="0"/>
                </a:moveTo>
                <a:lnTo>
                  <a:pt x="909637" y="0"/>
                </a:lnTo>
                <a:lnTo>
                  <a:pt x="909637" y="482918"/>
                </a:lnTo>
                <a:lnTo>
                  <a:pt x="0" y="48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7753779" y="3161757"/>
            <a:ext cx="927887" cy="501167"/>
          </a:xfrm>
          <a:custGeom>
            <a:avLst/>
            <a:gdLst/>
            <a:ahLst/>
            <a:cxnLst/>
            <a:rect l="l" t="t" r="r" b="b"/>
            <a:pathLst>
              <a:path w="927887" h="501167">
                <a:moveTo>
                  <a:pt x="0" y="0"/>
                </a:moveTo>
                <a:lnTo>
                  <a:pt x="927887" y="0"/>
                </a:lnTo>
                <a:lnTo>
                  <a:pt x="927887" y="501167"/>
                </a:lnTo>
                <a:lnTo>
                  <a:pt x="0" y="5011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7748549" y="3265599"/>
            <a:ext cx="90963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RNA-guia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7327430" y="2924480"/>
            <a:ext cx="441960" cy="401003"/>
            <a:chOff x="0" y="0"/>
            <a:chExt cx="589280" cy="534670"/>
          </a:xfrm>
        </p:grpSpPr>
        <p:sp>
          <p:nvSpPr>
            <p:cNvPr id="53" name="Freeform 53"/>
            <p:cNvSpPr/>
            <p:nvPr/>
          </p:nvSpPr>
          <p:spPr>
            <a:xfrm>
              <a:off x="91821" y="81661"/>
              <a:ext cx="496697" cy="452501"/>
            </a:xfrm>
            <a:custGeom>
              <a:avLst/>
              <a:gdLst/>
              <a:ahLst/>
              <a:cxnLst/>
              <a:rect l="l" t="t" r="r" b="b"/>
              <a:pathLst>
                <a:path w="496697" h="452501">
                  <a:moveTo>
                    <a:pt x="15113" y="0"/>
                  </a:moveTo>
                  <a:lnTo>
                    <a:pt x="0" y="16637"/>
                  </a:lnTo>
                  <a:lnTo>
                    <a:pt x="481711" y="452501"/>
                  </a:lnTo>
                  <a:lnTo>
                    <a:pt x="496697" y="435991"/>
                  </a:lnTo>
                  <a:lnTo>
                    <a:pt x="15113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144399" cy="139700"/>
            </a:xfrm>
            <a:custGeom>
              <a:avLst/>
              <a:gdLst/>
              <a:ahLst/>
              <a:cxnLst/>
              <a:rect l="l" t="t" r="r" b="b"/>
              <a:pathLst>
                <a:path w="144399" h="139700">
                  <a:moveTo>
                    <a:pt x="0" y="0"/>
                  </a:moveTo>
                  <a:lnTo>
                    <a:pt x="54483" y="139700"/>
                  </a:lnTo>
                  <a:lnTo>
                    <a:pt x="91821" y="98298"/>
                  </a:lnTo>
                  <a:lnTo>
                    <a:pt x="75311" y="83312"/>
                  </a:lnTo>
                  <a:lnTo>
                    <a:pt x="90297" y="66548"/>
                  </a:lnTo>
                  <a:lnTo>
                    <a:pt x="120523" y="66548"/>
                  </a:lnTo>
                  <a:lnTo>
                    <a:pt x="144399" y="40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75311" y="66548"/>
              <a:ext cx="31623" cy="31750"/>
            </a:xfrm>
            <a:custGeom>
              <a:avLst/>
              <a:gdLst/>
              <a:ahLst/>
              <a:cxnLst/>
              <a:rect l="l" t="t" r="r" b="b"/>
              <a:pathLst>
                <a:path w="31623" h="31750">
                  <a:moveTo>
                    <a:pt x="14986" y="0"/>
                  </a:moveTo>
                  <a:lnTo>
                    <a:pt x="0" y="16764"/>
                  </a:lnTo>
                  <a:lnTo>
                    <a:pt x="16510" y="31750"/>
                  </a:lnTo>
                  <a:lnTo>
                    <a:pt x="31623" y="15113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90297" y="66548"/>
              <a:ext cx="30226" cy="15113"/>
            </a:xfrm>
            <a:custGeom>
              <a:avLst/>
              <a:gdLst/>
              <a:ahLst/>
              <a:cxnLst/>
              <a:rect l="l" t="t" r="r" b="b"/>
              <a:pathLst>
                <a:path w="30226" h="15113">
                  <a:moveTo>
                    <a:pt x="30226" y="0"/>
                  </a:moveTo>
                  <a:lnTo>
                    <a:pt x="0" y="0"/>
                  </a:lnTo>
                  <a:lnTo>
                    <a:pt x="16637" y="15113"/>
                  </a:lnTo>
                  <a:lnTo>
                    <a:pt x="30226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7152370" y="2580456"/>
            <a:ext cx="93497" cy="298285"/>
            <a:chOff x="0" y="0"/>
            <a:chExt cx="124663" cy="39771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3571" cy="397129"/>
            </a:xfrm>
            <a:custGeom>
              <a:avLst/>
              <a:gdLst/>
              <a:ahLst/>
              <a:cxnLst/>
              <a:rect l="l" t="t" r="r" b="b"/>
              <a:pathLst>
                <a:path w="123571" h="397129">
                  <a:moveTo>
                    <a:pt x="12192" y="372745"/>
                  </a:moveTo>
                  <a:lnTo>
                    <a:pt x="111379" y="372745"/>
                  </a:lnTo>
                  <a:lnTo>
                    <a:pt x="111379" y="384937"/>
                  </a:lnTo>
                  <a:lnTo>
                    <a:pt x="99187" y="384937"/>
                  </a:lnTo>
                  <a:lnTo>
                    <a:pt x="99187" y="12192"/>
                  </a:lnTo>
                  <a:lnTo>
                    <a:pt x="111379" y="12192"/>
                  </a:lnTo>
                  <a:lnTo>
                    <a:pt x="111379" y="24384"/>
                  </a:lnTo>
                  <a:lnTo>
                    <a:pt x="12192" y="24384"/>
                  </a:lnTo>
                  <a:lnTo>
                    <a:pt x="12192" y="12192"/>
                  </a:lnTo>
                  <a:lnTo>
                    <a:pt x="24384" y="12192"/>
                  </a:lnTo>
                  <a:lnTo>
                    <a:pt x="24384" y="384937"/>
                  </a:lnTo>
                  <a:lnTo>
                    <a:pt x="12192" y="384937"/>
                  </a:lnTo>
                  <a:lnTo>
                    <a:pt x="12192" y="372745"/>
                  </a:lnTo>
                  <a:moveTo>
                    <a:pt x="12192" y="397129"/>
                  </a:moveTo>
                  <a:cubicBezTo>
                    <a:pt x="5461" y="397129"/>
                    <a:pt x="0" y="391668"/>
                    <a:pt x="0" y="384937"/>
                  </a:cubicBezTo>
                  <a:lnTo>
                    <a:pt x="0" y="12192"/>
                  </a:lnTo>
                  <a:cubicBezTo>
                    <a:pt x="0" y="5461"/>
                    <a:pt x="5461" y="0"/>
                    <a:pt x="12192" y="0"/>
                  </a:cubicBezTo>
                  <a:lnTo>
                    <a:pt x="111379" y="0"/>
                  </a:lnTo>
                  <a:cubicBezTo>
                    <a:pt x="118110" y="0"/>
                    <a:pt x="123571" y="5461"/>
                    <a:pt x="123571" y="12192"/>
                  </a:cubicBezTo>
                  <a:lnTo>
                    <a:pt x="123571" y="384937"/>
                  </a:lnTo>
                  <a:cubicBezTo>
                    <a:pt x="123571" y="391668"/>
                    <a:pt x="118110" y="397129"/>
                    <a:pt x="111379" y="397129"/>
                  </a:cubicBezTo>
                  <a:lnTo>
                    <a:pt x="12192" y="397129"/>
                  </a:lnTo>
                  <a:close/>
                </a:path>
              </a:pathLst>
            </a:custGeom>
            <a:solidFill>
              <a:srgbClr val="92D050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6971900" y="2391999"/>
            <a:ext cx="758190" cy="65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30">
                <a:solidFill>
                  <a:srgbClr val="77933C"/>
                </a:solidFill>
                <a:latin typeface="Arial"/>
                <a:ea typeface="Arial"/>
                <a:cs typeface="Arial"/>
                <a:sym typeface="Arial"/>
              </a:rPr>
              <a:t>PAM</a:t>
            </a:r>
          </a:p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Éxon 4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9267444" y="2937558"/>
            <a:ext cx="1271588" cy="978218"/>
            <a:chOff x="0" y="0"/>
            <a:chExt cx="1695450" cy="130429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694942" cy="1303528"/>
            </a:xfrm>
            <a:custGeom>
              <a:avLst/>
              <a:gdLst/>
              <a:ahLst/>
              <a:cxnLst/>
              <a:rect l="l" t="t" r="r" b="b"/>
              <a:pathLst>
                <a:path w="1694942" h="1303528">
                  <a:moveTo>
                    <a:pt x="1369060" y="0"/>
                  </a:moveTo>
                  <a:lnTo>
                    <a:pt x="325882" y="0"/>
                  </a:lnTo>
                  <a:lnTo>
                    <a:pt x="0" y="651764"/>
                  </a:lnTo>
                  <a:lnTo>
                    <a:pt x="325882" y="1303528"/>
                  </a:lnTo>
                  <a:lnTo>
                    <a:pt x="1369060" y="1303528"/>
                  </a:lnTo>
                  <a:lnTo>
                    <a:pt x="1694942" y="651764"/>
                  </a:lnTo>
                  <a:lnTo>
                    <a:pt x="1369060" y="0"/>
                  </a:lnTo>
                  <a:close/>
                </a:path>
              </a:pathLst>
            </a:custGeom>
            <a:solidFill>
              <a:srgbClr val="953735"/>
            </a:solidFill>
          </p:spPr>
        </p:sp>
      </p:grpSp>
      <p:sp>
        <p:nvSpPr>
          <p:cNvPr id="62" name="Freeform 62"/>
          <p:cNvSpPr/>
          <p:nvPr/>
        </p:nvSpPr>
        <p:spPr>
          <a:xfrm>
            <a:off x="9258319" y="2928433"/>
            <a:ext cx="1289837" cy="996467"/>
          </a:xfrm>
          <a:custGeom>
            <a:avLst/>
            <a:gdLst/>
            <a:ahLst/>
            <a:cxnLst/>
            <a:rect l="l" t="t" r="r" b="b"/>
            <a:pathLst>
              <a:path w="1289837" h="996467">
                <a:moveTo>
                  <a:pt x="0" y="0"/>
                </a:moveTo>
                <a:lnTo>
                  <a:pt x="1289837" y="0"/>
                </a:lnTo>
                <a:lnTo>
                  <a:pt x="1289837" y="996467"/>
                </a:lnTo>
                <a:lnTo>
                  <a:pt x="0" y="996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9583636" y="3155928"/>
            <a:ext cx="614362" cy="43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spc="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Cas9</a:t>
            </a:r>
          </a:p>
        </p:txBody>
      </p:sp>
      <p:sp>
        <p:nvSpPr>
          <p:cNvPr id="64" name="Freeform 64"/>
          <p:cNvSpPr/>
          <p:nvPr/>
        </p:nvSpPr>
        <p:spPr>
          <a:xfrm>
            <a:off x="8652224" y="3348333"/>
            <a:ext cx="628440" cy="360797"/>
          </a:xfrm>
          <a:custGeom>
            <a:avLst/>
            <a:gdLst/>
            <a:ahLst/>
            <a:cxnLst/>
            <a:rect l="l" t="t" r="r" b="b"/>
            <a:pathLst>
              <a:path w="628440" h="360797">
                <a:moveTo>
                  <a:pt x="0" y="0"/>
                </a:moveTo>
                <a:lnTo>
                  <a:pt x="628441" y="0"/>
                </a:lnTo>
                <a:lnTo>
                  <a:pt x="628441" y="360797"/>
                </a:lnTo>
                <a:lnTo>
                  <a:pt x="0" y="3607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31545"/>
            <a:ext cx="1271212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spc="15">
                <a:solidFill>
                  <a:srgbClr val="90C226"/>
                </a:solidFill>
                <a:latin typeface="Arial"/>
                <a:ea typeface="Arial"/>
                <a:cs typeface="Arial"/>
                <a:sym typeface="Arial"/>
              </a:rPr>
              <a:t>Produção do RNA-guia encomendado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778347" y="2585580"/>
            <a:ext cx="2773356" cy="1009174"/>
            <a:chOff x="0" y="0"/>
            <a:chExt cx="3697808" cy="13455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97859" cy="1345565"/>
            </a:xfrm>
            <a:custGeom>
              <a:avLst/>
              <a:gdLst/>
              <a:ahLst/>
              <a:cxnLst/>
              <a:rect l="l" t="t" r="r" b="b"/>
              <a:pathLst>
                <a:path w="3697859" h="1345565">
                  <a:moveTo>
                    <a:pt x="0" y="0"/>
                  </a:moveTo>
                  <a:lnTo>
                    <a:pt x="3697859" y="0"/>
                  </a:lnTo>
                  <a:lnTo>
                    <a:pt x="3697859" y="1345565"/>
                  </a:lnTo>
                  <a:lnTo>
                    <a:pt x="0" y="1345565"/>
                  </a:lnTo>
                  <a:close/>
                </a:path>
              </a:pathLst>
            </a:custGeom>
            <a:blipFill>
              <a:blip r:embed="rId2"/>
              <a:stretch>
                <a:fillRect t="-23" r="1" b="-24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509921" y="3049657"/>
            <a:ext cx="2325548" cy="383915"/>
            <a:chOff x="0" y="0"/>
            <a:chExt cx="3100730" cy="5118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00705" cy="511937"/>
            </a:xfrm>
            <a:custGeom>
              <a:avLst/>
              <a:gdLst/>
              <a:ahLst/>
              <a:cxnLst/>
              <a:rect l="l" t="t" r="r" b="b"/>
              <a:pathLst>
                <a:path w="3100705" h="511937">
                  <a:moveTo>
                    <a:pt x="0" y="0"/>
                  </a:moveTo>
                  <a:lnTo>
                    <a:pt x="3100705" y="0"/>
                  </a:lnTo>
                  <a:lnTo>
                    <a:pt x="3100705" y="511937"/>
                  </a:lnTo>
                  <a:lnTo>
                    <a:pt x="0" y="511937"/>
                  </a:lnTo>
                  <a:close/>
                </a:path>
              </a:pathLst>
            </a:custGeom>
            <a:blipFill>
              <a:blip r:embed="rId3"/>
              <a:stretch>
                <a:fillRect l="-75" r="-76" b="9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8018126" y="2896305"/>
            <a:ext cx="2327062" cy="229019"/>
            <a:chOff x="0" y="0"/>
            <a:chExt cx="3102750" cy="3053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02737" cy="305308"/>
            </a:xfrm>
            <a:custGeom>
              <a:avLst/>
              <a:gdLst/>
              <a:ahLst/>
              <a:cxnLst/>
              <a:rect l="l" t="t" r="r" b="b"/>
              <a:pathLst>
                <a:path w="3102737" h="305308">
                  <a:moveTo>
                    <a:pt x="0" y="0"/>
                  </a:moveTo>
                  <a:lnTo>
                    <a:pt x="3102737" y="0"/>
                  </a:lnTo>
                  <a:lnTo>
                    <a:pt x="3102737" y="305308"/>
                  </a:lnTo>
                  <a:lnTo>
                    <a:pt x="0" y="305308"/>
                  </a:lnTo>
                  <a:close/>
                </a:path>
              </a:pathLst>
            </a:custGeom>
            <a:blipFill>
              <a:blip r:embed="rId4"/>
              <a:stretch>
                <a:fillRect t="-245" b="-266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6387351" y="2979115"/>
            <a:ext cx="1253490" cy="364808"/>
            <a:chOff x="0" y="0"/>
            <a:chExt cx="1671320" cy="4864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71320" cy="485267"/>
            </a:xfrm>
            <a:custGeom>
              <a:avLst/>
              <a:gdLst/>
              <a:ahLst/>
              <a:cxnLst/>
              <a:rect l="l" t="t" r="r" b="b"/>
              <a:pathLst>
                <a:path w="1671320" h="485267">
                  <a:moveTo>
                    <a:pt x="1428623" y="0"/>
                  </a:moveTo>
                  <a:lnTo>
                    <a:pt x="1428623" y="121285"/>
                  </a:lnTo>
                  <a:lnTo>
                    <a:pt x="0" y="121285"/>
                  </a:lnTo>
                  <a:lnTo>
                    <a:pt x="0" y="363982"/>
                  </a:lnTo>
                  <a:lnTo>
                    <a:pt x="1428623" y="363982"/>
                  </a:lnTo>
                  <a:lnTo>
                    <a:pt x="1428623" y="485267"/>
                  </a:lnTo>
                  <a:lnTo>
                    <a:pt x="1671320" y="242697"/>
                  </a:lnTo>
                  <a:lnTo>
                    <a:pt x="142862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6378216" y="2969990"/>
            <a:ext cx="1271740" cy="383057"/>
          </a:xfrm>
          <a:custGeom>
            <a:avLst/>
            <a:gdLst/>
            <a:ahLst/>
            <a:cxnLst/>
            <a:rect l="l" t="t" r="r" b="b"/>
            <a:pathLst>
              <a:path w="1271740" h="383057">
                <a:moveTo>
                  <a:pt x="0" y="0"/>
                </a:moveTo>
                <a:lnTo>
                  <a:pt x="1271740" y="0"/>
                </a:lnTo>
                <a:lnTo>
                  <a:pt x="1271740" y="383058"/>
                </a:lnTo>
                <a:lnTo>
                  <a:pt x="0" y="383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373173" y="2968542"/>
            <a:ext cx="486728" cy="21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spc="15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 A A 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15783" y="3055791"/>
            <a:ext cx="463868" cy="21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spc="15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 A C 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17466" y="2629938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5’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4522" y="3306308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78757" y="3275438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64378" y="2662447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87592" y="2810408"/>
            <a:ext cx="1012498" cy="28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36583" y="3092415"/>
            <a:ext cx="192700" cy="28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98278" y="3003680"/>
            <a:ext cx="1082669" cy="28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r>
              <a:rPr lang="en-US" sz="15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 PNK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69965" y="4403103"/>
            <a:ext cx="12712122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Máquina de PCR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Porções de fita simples expostas para que se liguem ao plasmídeo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890255" y="577977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Editando eSpCas9</a:t>
            </a:r>
          </a:p>
        </p:txBody>
      </p:sp>
      <p:grpSp>
        <p:nvGrpSpPr>
          <p:cNvPr id="21" name="Group 21"/>
          <p:cNvGrpSpPr/>
          <p:nvPr/>
        </p:nvGrpSpPr>
        <p:grpSpPr>
          <a:xfrm rot="-10800000">
            <a:off x="0" y="0"/>
            <a:ext cx="1263891" cy="8499234"/>
            <a:chOff x="0" y="0"/>
            <a:chExt cx="1685188" cy="113323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85163" cy="11332337"/>
            </a:xfrm>
            <a:custGeom>
              <a:avLst/>
              <a:gdLst/>
              <a:ahLst/>
              <a:cxnLst/>
              <a:rect l="l" t="t" r="r" b="b"/>
              <a:pathLst>
                <a:path w="1685163" h="11332337">
                  <a:moveTo>
                    <a:pt x="0" y="11332337"/>
                  </a:moveTo>
                  <a:lnTo>
                    <a:pt x="1685163" y="0"/>
                  </a:lnTo>
                  <a:lnTo>
                    <a:pt x="1685163" y="11332337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7614897" y="6019800"/>
            <a:ext cx="673103" cy="4267200"/>
            <a:chOff x="0" y="0"/>
            <a:chExt cx="897471" cy="5689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897509" y="5689600"/>
                  </a:moveTo>
                  <a:lnTo>
                    <a:pt x="897509" y="0"/>
                  </a:lnTo>
                  <a:lnTo>
                    <a:pt x="0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890255" y="4497219"/>
            <a:ext cx="7903845" cy="88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Confirmar se a extração e purificação do plasmídeo estava correta: 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617624" y="5598333"/>
            <a:ext cx="3934835" cy="4475131"/>
            <a:chOff x="0" y="0"/>
            <a:chExt cx="5246446" cy="59668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46497" cy="5966841"/>
            </a:xfrm>
            <a:custGeom>
              <a:avLst/>
              <a:gdLst/>
              <a:ahLst/>
              <a:cxnLst/>
              <a:rect l="l" t="t" r="r" b="b"/>
              <a:pathLst>
                <a:path w="5246497" h="5966841">
                  <a:moveTo>
                    <a:pt x="0" y="0"/>
                  </a:moveTo>
                  <a:lnTo>
                    <a:pt x="5246497" y="0"/>
                  </a:lnTo>
                  <a:lnTo>
                    <a:pt x="5246497" y="5966841"/>
                  </a:lnTo>
                  <a:lnTo>
                    <a:pt x="0" y="596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008432" y="1980152"/>
            <a:ext cx="11461909" cy="2403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Transformação de bactérias </a:t>
            </a:r>
            <a:r>
              <a:rPr lang="en-US" sz="2700" i="1">
                <a:solidFill>
                  <a:srgbClr val="404040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enduro </a:t>
            </a: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 plasmídeo eSpCas9;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Extração (mini-prep);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091690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Clonagem do plasmídeo:</a:t>
            </a:r>
          </a:p>
          <a:p>
            <a:pPr algn="l">
              <a:lnSpc>
                <a:spcPts val="6480"/>
              </a:lnSpc>
            </a:pPr>
            <a:endParaRPr lang="en-US" sz="5400">
              <a:solidFill>
                <a:srgbClr val="90C2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673103" cy="4267200"/>
            <a:chOff x="0" y="0"/>
            <a:chExt cx="897471" cy="568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0"/>
                  </a:moveTo>
                  <a:lnTo>
                    <a:pt x="0" y="5689600"/>
                  </a:lnTo>
                  <a:lnTo>
                    <a:pt x="897509" y="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607803" y="5727697"/>
            <a:ext cx="6675434" cy="4559303"/>
            <a:chOff x="0" y="0"/>
            <a:chExt cx="8900579" cy="60790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00541" cy="6079109"/>
            </a:xfrm>
            <a:custGeom>
              <a:avLst/>
              <a:gdLst/>
              <a:ahLst/>
              <a:cxnLst/>
              <a:rect l="l" t="t" r="r" b="b"/>
              <a:pathLst>
                <a:path w="8900541" h="6079109">
                  <a:moveTo>
                    <a:pt x="0" y="6079109"/>
                  </a:moveTo>
                  <a:lnTo>
                    <a:pt x="8900541" y="0"/>
                  </a:lnTo>
                  <a:lnTo>
                    <a:pt x="8900541" y="6079109"/>
                  </a:lnTo>
                  <a:close/>
                </a:path>
              </a:pathLst>
            </a:custGeom>
            <a:solidFill>
              <a:srgbClr val="90C226"/>
            </a:solidFill>
          </p:spPr>
        </p:sp>
      </p:grpSp>
      <p:sp>
        <p:nvSpPr>
          <p:cNvPr id="25" name="AutoShape 25"/>
          <p:cNvSpPr/>
          <p:nvPr/>
        </p:nvSpPr>
        <p:spPr>
          <a:xfrm rot="4546260">
            <a:off x="11178721" y="5138738"/>
            <a:ext cx="10637158" cy="0"/>
          </a:xfrm>
          <a:prstGeom prst="line">
            <a:avLst/>
          </a:prstGeom>
          <a:ln w="9525" cap="rnd">
            <a:solidFill>
              <a:srgbClr val="54A0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8775540">
            <a:off x="10399881" y="7899797"/>
            <a:ext cx="8621382" cy="0"/>
          </a:xfrm>
          <a:prstGeom prst="line">
            <a:avLst/>
          </a:prstGeom>
          <a:ln w="9525" cap="rnd">
            <a:solidFill>
              <a:srgbClr val="90C2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940098" y="6336792"/>
            <a:ext cx="11461909" cy="2403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Incubação com ligases;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Extremidades de fitas simples expostas são complementares;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638459" y="0"/>
            <a:ext cx="2649541" cy="10287000"/>
            <a:chOff x="0" y="0"/>
            <a:chExt cx="3532721" cy="13716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32759" cy="13716000"/>
            </a:xfrm>
            <a:custGeom>
              <a:avLst/>
              <a:gdLst/>
              <a:ahLst/>
              <a:cxnLst/>
              <a:rect l="l" t="t" r="r" b="b"/>
              <a:pathLst>
                <a:path w="3532759" h="13716000">
                  <a:moveTo>
                    <a:pt x="0" y="0"/>
                  </a:moveTo>
                  <a:lnTo>
                    <a:pt x="3532759" y="0"/>
                  </a:lnTo>
                  <a:lnTo>
                    <a:pt x="3532759" y="13716000"/>
                  </a:lnTo>
                  <a:lnTo>
                    <a:pt x="3058033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A021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3223670" y="2678401"/>
            <a:ext cx="2805112" cy="2821305"/>
          </a:xfrm>
          <a:custGeom>
            <a:avLst/>
            <a:gdLst/>
            <a:ahLst/>
            <a:cxnLst/>
            <a:rect l="l" t="t" r="r" b="b"/>
            <a:pathLst>
              <a:path w="2805112" h="2821305">
                <a:moveTo>
                  <a:pt x="0" y="0"/>
                </a:moveTo>
                <a:lnTo>
                  <a:pt x="2805112" y="0"/>
                </a:lnTo>
                <a:lnTo>
                  <a:pt x="2805112" y="2821305"/>
                </a:lnTo>
                <a:lnTo>
                  <a:pt x="0" y="2821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214726" y="2669448"/>
            <a:ext cx="2823010" cy="2839202"/>
          </a:xfrm>
          <a:custGeom>
            <a:avLst/>
            <a:gdLst/>
            <a:ahLst/>
            <a:cxnLst/>
            <a:rect l="l" t="t" r="r" b="b"/>
            <a:pathLst>
              <a:path w="2823010" h="2839202">
                <a:moveTo>
                  <a:pt x="0" y="0"/>
                </a:moveTo>
                <a:lnTo>
                  <a:pt x="2823010" y="0"/>
                </a:lnTo>
                <a:lnTo>
                  <a:pt x="2823010" y="2839202"/>
                </a:lnTo>
                <a:lnTo>
                  <a:pt x="0" y="2839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3492236" y="2947283"/>
            <a:ext cx="2267702" cy="2282942"/>
          </a:xfrm>
          <a:custGeom>
            <a:avLst/>
            <a:gdLst/>
            <a:ahLst/>
            <a:cxnLst/>
            <a:rect l="l" t="t" r="r" b="b"/>
            <a:pathLst>
              <a:path w="2267702" h="2282942">
                <a:moveTo>
                  <a:pt x="0" y="0"/>
                </a:moveTo>
                <a:lnTo>
                  <a:pt x="2267703" y="0"/>
                </a:lnTo>
                <a:lnTo>
                  <a:pt x="2267703" y="2282942"/>
                </a:lnTo>
                <a:lnTo>
                  <a:pt x="0" y="228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296917" y="2808827"/>
            <a:ext cx="860108" cy="925830"/>
          </a:xfrm>
          <a:custGeom>
            <a:avLst/>
            <a:gdLst/>
            <a:ahLst/>
            <a:cxnLst/>
            <a:rect l="l" t="t" r="r" b="b"/>
            <a:pathLst>
              <a:path w="860108" h="925830">
                <a:moveTo>
                  <a:pt x="0" y="0"/>
                </a:moveTo>
                <a:lnTo>
                  <a:pt x="860107" y="0"/>
                </a:lnTo>
                <a:lnTo>
                  <a:pt x="860107" y="925830"/>
                </a:lnTo>
                <a:lnTo>
                  <a:pt x="0" y="92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3288325" y="2800245"/>
            <a:ext cx="877281" cy="943004"/>
          </a:xfrm>
          <a:custGeom>
            <a:avLst/>
            <a:gdLst/>
            <a:ahLst/>
            <a:cxnLst/>
            <a:rect l="l" t="t" r="r" b="b"/>
            <a:pathLst>
              <a:path w="877281" h="943004">
                <a:moveTo>
                  <a:pt x="0" y="0"/>
                </a:moveTo>
                <a:lnTo>
                  <a:pt x="877281" y="0"/>
                </a:lnTo>
                <a:lnTo>
                  <a:pt x="877281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913861" y="3419542"/>
            <a:ext cx="2105025" cy="2069783"/>
          </a:xfrm>
          <a:custGeom>
            <a:avLst/>
            <a:gdLst/>
            <a:ahLst/>
            <a:cxnLst/>
            <a:rect l="l" t="t" r="r" b="b"/>
            <a:pathLst>
              <a:path w="2105025" h="2069783">
                <a:moveTo>
                  <a:pt x="0" y="0"/>
                </a:moveTo>
                <a:lnTo>
                  <a:pt x="2105025" y="0"/>
                </a:lnTo>
                <a:lnTo>
                  <a:pt x="2105025" y="2069782"/>
                </a:lnTo>
                <a:lnTo>
                  <a:pt x="0" y="2069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4839043" y="2707910"/>
            <a:ext cx="400260" cy="357702"/>
            <a:chOff x="0" y="0"/>
            <a:chExt cx="533679" cy="4769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3654" cy="476885"/>
            </a:xfrm>
            <a:custGeom>
              <a:avLst/>
              <a:gdLst/>
              <a:ahLst/>
              <a:cxnLst/>
              <a:rect l="l" t="t" r="r" b="b"/>
              <a:pathLst>
                <a:path w="533654" h="476885">
                  <a:moveTo>
                    <a:pt x="0" y="0"/>
                  </a:moveTo>
                  <a:lnTo>
                    <a:pt x="533654" y="0"/>
                  </a:lnTo>
                  <a:lnTo>
                    <a:pt x="533654" y="476885"/>
                  </a:lnTo>
                  <a:lnTo>
                    <a:pt x="0" y="476885"/>
                  </a:lnTo>
                  <a:close/>
                </a:path>
              </a:pathLst>
            </a:custGeom>
            <a:blipFill>
              <a:blip r:embed="rId14"/>
              <a:stretch>
                <a:fillRect l="-45" r="-52" b="-10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7921666" y="2073154"/>
            <a:ext cx="981075" cy="659130"/>
            <a:chOff x="0" y="0"/>
            <a:chExt cx="1308100" cy="878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07211" cy="877570"/>
            </a:xfrm>
            <a:custGeom>
              <a:avLst/>
              <a:gdLst/>
              <a:ahLst/>
              <a:cxnLst/>
              <a:rect l="l" t="t" r="r" b="b"/>
              <a:pathLst>
                <a:path w="1307211" h="877570">
                  <a:moveTo>
                    <a:pt x="54356" y="0"/>
                  </a:moveTo>
                  <a:lnTo>
                    <a:pt x="0" y="106807"/>
                  </a:lnTo>
                  <a:lnTo>
                    <a:pt x="145161" y="180721"/>
                  </a:lnTo>
                  <a:lnTo>
                    <a:pt x="90805" y="287528"/>
                  </a:lnTo>
                  <a:lnTo>
                    <a:pt x="1249807" y="877570"/>
                  </a:lnTo>
                  <a:lnTo>
                    <a:pt x="1307211" y="764921"/>
                  </a:lnTo>
                  <a:lnTo>
                    <a:pt x="1167765" y="693928"/>
                  </a:lnTo>
                  <a:lnTo>
                    <a:pt x="1219200" y="592963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84D7EE"/>
            </a:solidFill>
          </p:spPr>
        </p:sp>
      </p:grpSp>
      <p:sp>
        <p:nvSpPr>
          <p:cNvPr id="40" name="Freeform 40"/>
          <p:cNvSpPr/>
          <p:nvPr/>
        </p:nvSpPr>
        <p:spPr>
          <a:xfrm>
            <a:off x="7919133" y="2070621"/>
            <a:ext cx="986152" cy="664207"/>
          </a:xfrm>
          <a:custGeom>
            <a:avLst/>
            <a:gdLst/>
            <a:ahLst/>
            <a:cxnLst/>
            <a:rect l="l" t="t" r="r" b="b"/>
            <a:pathLst>
              <a:path w="986152" h="664207">
                <a:moveTo>
                  <a:pt x="0" y="0"/>
                </a:moveTo>
                <a:lnTo>
                  <a:pt x="986151" y="0"/>
                </a:lnTo>
                <a:lnTo>
                  <a:pt x="986151" y="664207"/>
                </a:lnTo>
                <a:lnTo>
                  <a:pt x="0" y="6642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8221256" y="2246662"/>
            <a:ext cx="326174" cy="287226"/>
            <a:chOff x="0" y="0"/>
            <a:chExt cx="434899" cy="38296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4848" cy="383032"/>
            </a:xfrm>
            <a:custGeom>
              <a:avLst/>
              <a:gdLst/>
              <a:ahLst/>
              <a:cxnLst/>
              <a:rect l="l" t="t" r="r" b="b"/>
              <a:pathLst>
                <a:path w="434848" h="383032">
                  <a:moveTo>
                    <a:pt x="0" y="0"/>
                  </a:moveTo>
                  <a:lnTo>
                    <a:pt x="434848" y="0"/>
                  </a:lnTo>
                  <a:lnTo>
                    <a:pt x="434848" y="383032"/>
                  </a:lnTo>
                  <a:lnTo>
                    <a:pt x="0" y="383032"/>
                  </a:lnTo>
                  <a:close/>
                </a:path>
              </a:pathLst>
            </a:custGeom>
            <a:blipFill>
              <a:blip r:embed="rId17"/>
              <a:stretch>
                <a:fillRect t="-1730" r="-11" b="-1717"/>
              </a:stretch>
            </a:blipFill>
          </p:spPr>
        </p:sp>
      </p:grpSp>
      <p:sp>
        <p:nvSpPr>
          <p:cNvPr id="43" name="Freeform 43"/>
          <p:cNvSpPr/>
          <p:nvPr/>
        </p:nvSpPr>
        <p:spPr>
          <a:xfrm>
            <a:off x="6393551" y="2698328"/>
            <a:ext cx="2805112" cy="2821305"/>
          </a:xfrm>
          <a:custGeom>
            <a:avLst/>
            <a:gdLst/>
            <a:ahLst/>
            <a:cxnLst/>
            <a:rect l="l" t="t" r="r" b="b"/>
            <a:pathLst>
              <a:path w="2805112" h="2821305">
                <a:moveTo>
                  <a:pt x="0" y="0"/>
                </a:moveTo>
                <a:lnTo>
                  <a:pt x="2805113" y="0"/>
                </a:lnTo>
                <a:lnTo>
                  <a:pt x="2805113" y="2821305"/>
                </a:lnTo>
                <a:lnTo>
                  <a:pt x="0" y="28213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384598" y="2689384"/>
            <a:ext cx="2823010" cy="2839202"/>
          </a:xfrm>
          <a:custGeom>
            <a:avLst/>
            <a:gdLst/>
            <a:ahLst/>
            <a:cxnLst/>
            <a:rect l="l" t="t" r="r" b="b"/>
            <a:pathLst>
              <a:path w="2823010" h="2839202">
                <a:moveTo>
                  <a:pt x="0" y="0"/>
                </a:moveTo>
                <a:lnTo>
                  <a:pt x="2823010" y="0"/>
                </a:lnTo>
                <a:lnTo>
                  <a:pt x="2823010" y="2839202"/>
                </a:lnTo>
                <a:lnTo>
                  <a:pt x="0" y="28392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662109" y="2967218"/>
            <a:ext cx="2267702" cy="2282942"/>
          </a:xfrm>
          <a:custGeom>
            <a:avLst/>
            <a:gdLst/>
            <a:ahLst/>
            <a:cxnLst/>
            <a:rect l="l" t="t" r="r" b="b"/>
            <a:pathLst>
              <a:path w="2267702" h="2282942">
                <a:moveTo>
                  <a:pt x="0" y="0"/>
                </a:moveTo>
                <a:lnTo>
                  <a:pt x="2267702" y="0"/>
                </a:lnTo>
                <a:lnTo>
                  <a:pt x="2267702" y="2282943"/>
                </a:lnTo>
                <a:lnTo>
                  <a:pt x="0" y="22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6466789" y="2828763"/>
            <a:ext cx="860108" cy="925830"/>
          </a:xfrm>
          <a:custGeom>
            <a:avLst/>
            <a:gdLst/>
            <a:ahLst/>
            <a:cxnLst/>
            <a:rect l="l" t="t" r="r" b="b"/>
            <a:pathLst>
              <a:path w="860108" h="925830">
                <a:moveTo>
                  <a:pt x="0" y="0"/>
                </a:moveTo>
                <a:lnTo>
                  <a:pt x="860108" y="0"/>
                </a:lnTo>
                <a:lnTo>
                  <a:pt x="860108" y="925830"/>
                </a:lnTo>
                <a:lnTo>
                  <a:pt x="0" y="92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458207" y="2820172"/>
            <a:ext cx="877281" cy="943004"/>
          </a:xfrm>
          <a:custGeom>
            <a:avLst/>
            <a:gdLst/>
            <a:ahLst/>
            <a:cxnLst/>
            <a:rect l="l" t="t" r="r" b="b"/>
            <a:pathLst>
              <a:path w="877281" h="943004">
                <a:moveTo>
                  <a:pt x="0" y="0"/>
                </a:moveTo>
                <a:lnTo>
                  <a:pt x="877281" y="0"/>
                </a:lnTo>
                <a:lnTo>
                  <a:pt x="877281" y="943003"/>
                </a:lnTo>
                <a:lnTo>
                  <a:pt x="0" y="943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083743" y="3439478"/>
            <a:ext cx="2105025" cy="2069783"/>
          </a:xfrm>
          <a:custGeom>
            <a:avLst/>
            <a:gdLst/>
            <a:ahLst/>
            <a:cxnLst/>
            <a:rect l="l" t="t" r="r" b="b"/>
            <a:pathLst>
              <a:path w="2105025" h="2069783">
                <a:moveTo>
                  <a:pt x="0" y="0"/>
                </a:moveTo>
                <a:lnTo>
                  <a:pt x="2105025" y="0"/>
                </a:lnTo>
                <a:lnTo>
                  <a:pt x="2105025" y="2069782"/>
                </a:lnTo>
                <a:lnTo>
                  <a:pt x="0" y="206978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7774000" y="2680021"/>
            <a:ext cx="924878" cy="635317"/>
          </a:xfrm>
          <a:custGeom>
            <a:avLst/>
            <a:gdLst/>
            <a:ahLst/>
            <a:cxnLst/>
            <a:rect l="l" t="t" r="r" b="b"/>
            <a:pathLst>
              <a:path w="924878" h="635317">
                <a:moveTo>
                  <a:pt x="0" y="0"/>
                </a:moveTo>
                <a:lnTo>
                  <a:pt x="924878" y="0"/>
                </a:lnTo>
                <a:lnTo>
                  <a:pt x="924878" y="635317"/>
                </a:lnTo>
                <a:lnTo>
                  <a:pt x="0" y="63531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9499625" y="2666486"/>
            <a:ext cx="2805112" cy="2821305"/>
          </a:xfrm>
          <a:custGeom>
            <a:avLst/>
            <a:gdLst/>
            <a:ahLst/>
            <a:cxnLst/>
            <a:rect l="l" t="t" r="r" b="b"/>
            <a:pathLst>
              <a:path w="2805112" h="2821305">
                <a:moveTo>
                  <a:pt x="0" y="0"/>
                </a:moveTo>
                <a:lnTo>
                  <a:pt x="2805113" y="0"/>
                </a:lnTo>
                <a:lnTo>
                  <a:pt x="2805113" y="2821305"/>
                </a:lnTo>
                <a:lnTo>
                  <a:pt x="0" y="282130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9490681" y="2657542"/>
            <a:ext cx="2823010" cy="2839202"/>
          </a:xfrm>
          <a:custGeom>
            <a:avLst/>
            <a:gdLst/>
            <a:ahLst/>
            <a:cxnLst/>
            <a:rect l="l" t="t" r="r" b="b"/>
            <a:pathLst>
              <a:path w="2823010" h="2839202">
                <a:moveTo>
                  <a:pt x="0" y="0"/>
                </a:moveTo>
                <a:lnTo>
                  <a:pt x="2823010" y="0"/>
                </a:lnTo>
                <a:lnTo>
                  <a:pt x="2823010" y="2839202"/>
                </a:lnTo>
                <a:lnTo>
                  <a:pt x="0" y="283920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xmlns="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9768192" y="2935376"/>
            <a:ext cx="2267702" cy="2282942"/>
          </a:xfrm>
          <a:custGeom>
            <a:avLst/>
            <a:gdLst/>
            <a:ahLst/>
            <a:cxnLst/>
            <a:rect l="l" t="t" r="r" b="b"/>
            <a:pathLst>
              <a:path w="2267702" h="2282942">
                <a:moveTo>
                  <a:pt x="0" y="0"/>
                </a:moveTo>
                <a:lnTo>
                  <a:pt x="2267703" y="0"/>
                </a:lnTo>
                <a:lnTo>
                  <a:pt x="2267703" y="2282943"/>
                </a:lnTo>
                <a:lnTo>
                  <a:pt x="0" y="22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9572873" y="2796931"/>
            <a:ext cx="860108" cy="925830"/>
          </a:xfrm>
          <a:custGeom>
            <a:avLst/>
            <a:gdLst/>
            <a:ahLst/>
            <a:cxnLst/>
            <a:rect l="l" t="t" r="r" b="b"/>
            <a:pathLst>
              <a:path w="860108" h="925830">
                <a:moveTo>
                  <a:pt x="0" y="0"/>
                </a:moveTo>
                <a:lnTo>
                  <a:pt x="860107" y="0"/>
                </a:lnTo>
                <a:lnTo>
                  <a:pt x="860107" y="925830"/>
                </a:lnTo>
                <a:lnTo>
                  <a:pt x="0" y="92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9564281" y="2788339"/>
            <a:ext cx="877281" cy="943004"/>
          </a:xfrm>
          <a:custGeom>
            <a:avLst/>
            <a:gdLst/>
            <a:ahLst/>
            <a:cxnLst/>
            <a:rect l="l" t="t" r="r" b="b"/>
            <a:pathLst>
              <a:path w="877281" h="943004">
                <a:moveTo>
                  <a:pt x="0" y="0"/>
                </a:moveTo>
                <a:lnTo>
                  <a:pt x="877281" y="0"/>
                </a:lnTo>
                <a:lnTo>
                  <a:pt x="877281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0189816" y="3407635"/>
            <a:ext cx="2105025" cy="2069783"/>
          </a:xfrm>
          <a:custGeom>
            <a:avLst/>
            <a:gdLst/>
            <a:ahLst/>
            <a:cxnLst/>
            <a:rect l="l" t="t" r="r" b="b"/>
            <a:pathLst>
              <a:path w="2105025" h="2069783">
                <a:moveTo>
                  <a:pt x="0" y="0"/>
                </a:moveTo>
                <a:lnTo>
                  <a:pt x="2105025" y="0"/>
                </a:lnTo>
                <a:lnTo>
                  <a:pt x="2105025" y="2069783"/>
                </a:lnTo>
                <a:lnTo>
                  <a:pt x="0" y="206978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xmlns="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0880855" y="2662514"/>
            <a:ext cx="923925" cy="603885"/>
          </a:xfrm>
          <a:custGeom>
            <a:avLst/>
            <a:gdLst/>
            <a:ahLst/>
            <a:cxnLst/>
            <a:rect l="l" t="t" r="r" b="b"/>
            <a:pathLst>
              <a:path w="923925" h="603885">
                <a:moveTo>
                  <a:pt x="0" y="0"/>
                </a:moveTo>
                <a:lnTo>
                  <a:pt x="923925" y="0"/>
                </a:lnTo>
                <a:lnTo>
                  <a:pt x="923925" y="603885"/>
                </a:lnTo>
                <a:lnTo>
                  <a:pt x="0" y="60388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xmlns="" r:embed="rId35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3283934" y="2693527"/>
            <a:ext cx="347434" cy="376961"/>
            <a:chOff x="0" y="0"/>
            <a:chExt cx="463245" cy="502615"/>
          </a:xfrm>
        </p:grpSpPr>
        <p:sp>
          <p:nvSpPr>
            <p:cNvPr id="58" name="Freeform 58"/>
            <p:cNvSpPr/>
            <p:nvPr/>
          </p:nvSpPr>
          <p:spPr>
            <a:xfrm>
              <a:off x="1143" y="1397"/>
              <a:ext cx="460629" cy="498856"/>
            </a:xfrm>
            <a:custGeom>
              <a:avLst/>
              <a:gdLst/>
              <a:ahLst/>
              <a:cxnLst/>
              <a:rect l="l" t="t" r="r" b="b"/>
              <a:pathLst>
                <a:path w="460629" h="498856">
                  <a:moveTo>
                    <a:pt x="6350" y="0"/>
                  </a:moveTo>
                  <a:lnTo>
                    <a:pt x="460629" y="493014"/>
                  </a:lnTo>
                  <a:lnTo>
                    <a:pt x="454279" y="498856"/>
                  </a:lnTo>
                  <a:lnTo>
                    <a:pt x="0" y="584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5088617" y="2424846"/>
            <a:ext cx="141694" cy="304571"/>
            <a:chOff x="0" y="0"/>
            <a:chExt cx="188925" cy="406095"/>
          </a:xfrm>
        </p:grpSpPr>
        <p:sp>
          <p:nvSpPr>
            <p:cNvPr id="60" name="Freeform 60"/>
            <p:cNvSpPr/>
            <p:nvPr/>
          </p:nvSpPr>
          <p:spPr>
            <a:xfrm>
              <a:off x="381" y="2540"/>
              <a:ext cx="187706" cy="399923"/>
            </a:xfrm>
            <a:custGeom>
              <a:avLst/>
              <a:gdLst/>
              <a:ahLst/>
              <a:cxnLst/>
              <a:rect l="l" t="t" r="r" b="b"/>
              <a:pathLst>
                <a:path w="187706" h="399923">
                  <a:moveTo>
                    <a:pt x="187706" y="3556"/>
                  </a:moveTo>
                  <a:lnTo>
                    <a:pt x="7874" y="399923"/>
                  </a:lnTo>
                  <a:lnTo>
                    <a:pt x="0" y="396367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2893857" y="2435304"/>
            <a:ext cx="592455" cy="25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954867" y="2175739"/>
            <a:ext cx="493395" cy="25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Bbs1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962850" y="3184731"/>
            <a:ext cx="287426" cy="330289"/>
            <a:chOff x="0" y="0"/>
            <a:chExt cx="383235" cy="440385"/>
          </a:xfrm>
        </p:grpSpPr>
        <p:sp>
          <p:nvSpPr>
            <p:cNvPr id="64" name="Freeform 64"/>
            <p:cNvSpPr/>
            <p:nvPr/>
          </p:nvSpPr>
          <p:spPr>
            <a:xfrm>
              <a:off x="1016" y="1524"/>
              <a:ext cx="381000" cy="436499"/>
            </a:xfrm>
            <a:custGeom>
              <a:avLst/>
              <a:gdLst/>
              <a:ahLst/>
              <a:cxnLst/>
              <a:rect l="l" t="t" r="r" b="b"/>
              <a:pathLst>
                <a:path w="381000" h="436499">
                  <a:moveTo>
                    <a:pt x="381000" y="5588"/>
                  </a:moveTo>
                  <a:lnTo>
                    <a:pt x="6477" y="436499"/>
                  </a:lnTo>
                  <a:lnTo>
                    <a:pt x="0" y="430911"/>
                  </a:lnTo>
                  <a:lnTo>
                    <a:pt x="37452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6048289" y="2918755"/>
            <a:ext cx="503872" cy="25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051811" y="4044391"/>
            <a:ext cx="1161098" cy="24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eSpCas9(1.1)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1450993" y="2413406"/>
            <a:ext cx="141694" cy="304571"/>
            <a:chOff x="0" y="0"/>
            <a:chExt cx="188925" cy="406095"/>
          </a:xfrm>
        </p:grpSpPr>
        <p:sp>
          <p:nvSpPr>
            <p:cNvPr id="68" name="Freeform 68"/>
            <p:cNvSpPr/>
            <p:nvPr/>
          </p:nvSpPr>
          <p:spPr>
            <a:xfrm>
              <a:off x="381" y="2540"/>
              <a:ext cx="187706" cy="399923"/>
            </a:xfrm>
            <a:custGeom>
              <a:avLst/>
              <a:gdLst/>
              <a:ahLst/>
              <a:cxnLst/>
              <a:rect l="l" t="t" r="r" b="b"/>
              <a:pathLst>
                <a:path w="187706" h="399923">
                  <a:moveTo>
                    <a:pt x="187706" y="3556"/>
                  </a:moveTo>
                  <a:lnTo>
                    <a:pt x="7874" y="399923"/>
                  </a:lnTo>
                  <a:lnTo>
                    <a:pt x="0" y="396367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9" name="TextBox 69"/>
          <p:cNvSpPr txBox="1"/>
          <p:nvPr/>
        </p:nvSpPr>
        <p:spPr>
          <a:xfrm>
            <a:off x="11193323" y="1943500"/>
            <a:ext cx="902970" cy="430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575" spc="-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RNA-guia  ARH3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457486" y="2758107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5’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935744" y="2892123"/>
            <a:ext cx="41626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5’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747625" y="2464413"/>
            <a:ext cx="24320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03517" y="3168129"/>
            <a:ext cx="243202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Clonagem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051478" y="1905000"/>
            <a:ext cx="7281243" cy="7871622"/>
            <a:chOff x="0" y="0"/>
            <a:chExt cx="9708324" cy="10495496"/>
          </a:xfrm>
        </p:grpSpPr>
        <p:sp>
          <p:nvSpPr>
            <p:cNvPr id="22" name="Freeform 22" descr="Uma imagem contendo xícara, objeto, mesa, interior  Descrição gerada automaticamente"/>
            <p:cNvSpPr/>
            <p:nvPr/>
          </p:nvSpPr>
          <p:spPr>
            <a:xfrm>
              <a:off x="0" y="0"/>
              <a:ext cx="9708388" cy="10495534"/>
            </a:xfrm>
            <a:custGeom>
              <a:avLst/>
              <a:gdLst/>
              <a:ahLst/>
              <a:cxnLst/>
              <a:rect l="l" t="t" r="r" b="b"/>
              <a:pathLst>
                <a:path w="9708388" h="10495534">
                  <a:moveTo>
                    <a:pt x="0" y="0"/>
                  </a:moveTo>
                  <a:lnTo>
                    <a:pt x="9708388" y="0"/>
                  </a:lnTo>
                  <a:lnTo>
                    <a:pt x="9708388" y="10495534"/>
                  </a:lnTo>
                  <a:lnTo>
                    <a:pt x="0" y="10495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" b="-9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Checagem: Digestão e sequenciamento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7443" y="2774156"/>
            <a:ext cx="5233921" cy="6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Digestão com EcoRI e BbsI: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18015" y="3502076"/>
            <a:ext cx="13578145" cy="6220758"/>
            <a:chOff x="0" y="0"/>
            <a:chExt cx="18104193" cy="82943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104231" cy="8294370"/>
            </a:xfrm>
            <a:custGeom>
              <a:avLst/>
              <a:gdLst/>
              <a:ahLst/>
              <a:cxnLst/>
              <a:rect l="l" t="t" r="r" b="b"/>
              <a:pathLst>
                <a:path w="18104231" h="8294370">
                  <a:moveTo>
                    <a:pt x="0" y="0"/>
                  </a:moveTo>
                  <a:lnTo>
                    <a:pt x="18104231" y="0"/>
                  </a:lnTo>
                  <a:lnTo>
                    <a:pt x="18104231" y="8294370"/>
                  </a:lnTo>
                  <a:lnTo>
                    <a:pt x="0" y="829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210677" y="1085088"/>
            <a:ext cx="5057613" cy="7172963"/>
            <a:chOff x="0" y="0"/>
            <a:chExt cx="6743484" cy="95639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43484" cy="9563946"/>
            </a:xfrm>
            <a:custGeom>
              <a:avLst/>
              <a:gdLst/>
              <a:ahLst/>
              <a:cxnLst/>
              <a:rect l="l" t="t" r="r" b="b"/>
              <a:pathLst>
                <a:path w="6743484" h="9563946">
                  <a:moveTo>
                    <a:pt x="0" y="0"/>
                  </a:moveTo>
                  <a:lnTo>
                    <a:pt x="6743484" y="0"/>
                  </a:lnTo>
                  <a:lnTo>
                    <a:pt x="6743484" y="9563946"/>
                  </a:lnTo>
                  <a:lnTo>
                    <a:pt x="0" y="95639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1966" r="-13196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743484" cy="95734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Mapa eSpCas9(1.1)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7632" y="939879"/>
            <a:ext cx="10026444" cy="8394535"/>
            <a:chOff x="0" y="0"/>
            <a:chExt cx="13368592" cy="111927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368528" cy="11192764"/>
            </a:xfrm>
            <a:custGeom>
              <a:avLst/>
              <a:gdLst/>
              <a:ahLst/>
              <a:cxnLst/>
              <a:rect l="l" t="t" r="r" b="b"/>
              <a:pathLst>
                <a:path w="13368528" h="11192764">
                  <a:moveTo>
                    <a:pt x="0" y="0"/>
                  </a:moveTo>
                  <a:lnTo>
                    <a:pt x="13368528" y="0"/>
                  </a:lnTo>
                  <a:lnTo>
                    <a:pt x="13368528" y="11192764"/>
                  </a:lnTo>
                  <a:lnTo>
                    <a:pt x="0" y="11192764"/>
                  </a:lnTo>
                  <a:close/>
                </a:path>
              </a:pathLst>
            </a:custGeom>
            <a:blipFill>
              <a:blip r:embed="rId3"/>
              <a:stretch>
                <a:fillRect t="-1482" b="-1481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 rot="706500">
            <a:off x="6493002" y="1872739"/>
            <a:ext cx="132626" cy="332127"/>
            <a:chOff x="0" y="0"/>
            <a:chExt cx="176835" cy="442836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138684" cy="404749"/>
            </a:xfrm>
            <a:custGeom>
              <a:avLst/>
              <a:gdLst/>
              <a:ahLst/>
              <a:cxnLst/>
              <a:rect l="l" t="t" r="r" b="b"/>
              <a:pathLst>
                <a:path w="138684" h="404749">
                  <a:moveTo>
                    <a:pt x="0" y="0"/>
                  </a:moveTo>
                  <a:lnTo>
                    <a:pt x="138684" y="0"/>
                  </a:lnTo>
                  <a:lnTo>
                    <a:pt x="138684" y="404749"/>
                  </a:lnTo>
                  <a:lnTo>
                    <a:pt x="0" y="404749"/>
                  </a:lnTo>
                  <a:close/>
                </a:path>
              </a:pathLst>
            </a:custGeom>
            <a:solidFill>
              <a:srgbClr val="6D654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76784" cy="442849"/>
            </a:xfrm>
            <a:custGeom>
              <a:avLst/>
              <a:gdLst/>
              <a:ahLst/>
              <a:cxnLst/>
              <a:rect l="l" t="t" r="r" b="b"/>
              <a:pathLst>
                <a:path w="176784" h="442849">
                  <a:moveTo>
                    <a:pt x="19050" y="0"/>
                  </a:moveTo>
                  <a:lnTo>
                    <a:pt x="157734" y="0"/>
                  </a:lnTo>
                  <a:cubicBezTo>
                    <a:pt x="168275" y="0"/>
                    <a:pt x="176784" y="8509"/>
                    <a:pt x="176784" y="19050"/>
                  </a:cubicBezTo>
                  <a:lnTo>
                    <a:pt x="176784" y="423799"/>
                  </a:lnTo>
                  <a:cubicBezTo>
                    <a:pt x="176784" y="434340"/>
                    <a:pt x="168275" y="442849"/>
                    <a:pt x="157734" y="442849"/>
                  </a:cubicBezTo>
                  <a:lnTo>
                    <a:pt x="19050" y="442849"/>
                  </a:lnTo>
                  <a:cubicBezTo>
                    <a:pt x="8509" y="442849"/>
                    <a:pt x="0" y="434340"/>
                    <a:pt x="0" y="423799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23799"/>
                  </a:lnTo>
                  <a:lnTo>
                    <a:pt x="19050" y="423799"/>
                  </a:lnTo>
                  <a:lnTo>
                    <a:pt x="19050" y="404749"/>
                  </a:lnTo>
                  <a:lnTo>
                    <a:pt x="157734" y="404749"/>
                  </a:lnTo>
                  <a:lnTo>
                    <a:pt x="157734" y="423799"/>
                  </a:lnTo>
                  <a:lnTo>
                    <a:pt x="138684" y="423799"/>
                  </a:lnTo>
                  <a:lnTo>
                    <a:pt x="138684" y="19050"/>
                  </a:lnTo>
                  <a:lnTo>
                    <a:pt x="157734" y="19050"/>
                  </a:lnTo>
                  <a:lnTo>
                    <a:pt x="15773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6D6540"/>
            </a:solidFill>
          </p:spPr>
        </p:sp>
      </p:grpSp>
      <p:sp>
        <p:nvSpPr>
          <p:cNvPr id="28" name="AutoShape 28"/>
          <p:cNvSpPr/>
          <p:nvPr/>
        </p:nvSpPr>
        <p:spPr>
          <a:xfrm rot="4931880">
            <a:off x="6003855" y="2816790"/>
            <a:ext cx="125236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6650755" y="3459089"/>
            <a:ext cx="2022329" cy="41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BbsI</a:t>
            </a:r>
          </a:p>
        </p:txBody>
      </p:sp>
      <p:grpSp>
        <p:nvGrpSpPr>
          <p:cNvPr id="30" name="Group 30"/>
          <p:cNvGrpSpPr/>
          <p:nvPr/>
        </p:nvGrpSpPr>
        <p:grpSpPr>
          <a:xfrm rot="-1203900">
            <a:off x="1208094" y="7781744"/>
            <a:ext cx="801843" cy="305600"/>
            <a:chOff x="0" y="0"/>
            <a:chExt cx="1069124" cy="407467"/>
          </a:xfrm>
        </p:grpSpPr>
        <p:sp>
          <p:nvSpPr>
            <p:cNvPr id="31" name="Freeform 31"/>
            <p:cNvSpPr/>
            <p:nvPr/>
          </p:nvSpPr>
          <p:spPr>
            <a:xfrm>
              <a:off x="19050" y="19050"/>
              <a:ext cx="1030986" cy="369316"/>
            </a:xfrm>
            <a:custGeom>
              <a:avLst/>
              <a:gdLst/>
              <a:ahLst/>
              <a:cxnLst/>
              <a:rect l="l" t="t" r="r" b="b"/>
              <a:pathLst>
                <a:path w="1030986" h="369316">
                  <a:moveTo>
                    <a:pt x="0" y="92329"/>
                  </a:moveTo>
                  <a:lnTo>
                    <a:pt x="834517" y="92329"/>
                  </a:lnTo>
                  <a:lnTo>
                    <a:pt x="834517" y="0"/>
                  </a:lnTo>
                  <a:lnTo>
                    <a:pt x="1030986" y="184658"/>
                  </a:lnTo>
                  <a:lnTo>
                    <a:pt x="834517" y="369316"/>
                  </a:lnTo>
                  <a:lnTo>
                    <a:pt x="834517" y="276987"/>
                  </a:lnTo>
                  <a:lnTo>
                    <a:pt x="0" y="27698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-35"/>
              <a:ext cx="1069086" cy="407521"/>
            </a:xfrm>
            <a:custGeom>
              <a:avLst/>
              <a:gdLst/>
              <a:ahLst/>
              <a:cxnLst/>
              <a:rect l="l" t="t" r="r" b="b"/>
              <a:pathLst>
                <a:path w="1069086" h="407521">
                  <a:moveTo>
                    <a:pt x="19050" y="92364"/>
                  </a:moveTo>
                  <a:lnTo>
                    <a:pt x="853567" y="92364"/>
                  </a:lnTo>
                  <a:lnTo>
                    <a:pt x="853567" y="111414"/>
                  </a:lnTo>
                  <a:lnTo>
                    <a:pt x="834517" y="111414"/>
                  </a:lnTo>
                  <a:lnTo>
                    <a:pt x="834517" y="19085"/>
                  </a:lnTo>
                  <a:cubicBezTo>
                    <a:pt x="834517" y="11465"/>
                    <a:pt x="839089" y="4607"/>
                    <a:pt x="845947" y="1559"/>
                  </a:cubicBezTo>
                  <a:cubicBezTo>
                    <a:pt x="852805" y="-1489"/>
                    <a:pt x="861060" y="35"/>
                    <a:pt x="866648" y="5242"/>
                  </a:cubicBezTo>
                  <a:lnTo>
                    <a:pt x="1063117" y="189900"/>
                  </a:lnTo>
                  <a:cubicBezTo>
                    <a:pt x="1066927" y="193456"/>
                    <a:pt x="1069086" y="198536"/>
                    <a:pt x="1069086" y="203743"/>
                  </a:cubicBezTo>
                  <a:cubicBezTo>
                    <a:pt x="1069086" y="208950"/>
                    <a:pt x="1066927" y="214030"/>
                    <a:pt x="1063117" y="217586"/>
                  </a:cubicBezTo>
                  <a:lnTo>
                    <a:pt x="866648" y="402371"/>
                  </a:lnTo>
                  <a:cubicBezTo>
                    <a:pt x="861060" y="407578"/>
                    <a:pt x="853059" y="408975"/>
                    <a:pt x="846074" y="405927"/>
                  </a:cubicBezTo>
                  <a:cubicBezTo>
                    <a:pt x="839089" y="402879"/>
                    <a:pt x="834644" y="396021"/>
                    <a:pt x="834644" y="388401"/>
                  </a:cubicBezTo>
                  <a:lnTo>
                    <a:pt x="834644" y="296072"/>
                  </a:lnTo>
                  <a:lnTo>
                    <a:pt x="853694" y="296072"/>
                  </a:lnTo>
                  <a:lnTo>
                    <a:pt x="853694" y="315122"/>
                  </a:lnTo>
                  <a:lnTo>
                    <a:pt x="19050" y="315122"/>
                  </a:lnTo>
                  <a:cubicBezTo>
                    <a:pt x="8509" y="315122"/>
                    <a:pt x="0" y="306613"/>
                    <a:pt x="0" y="296072"/>
                  </a:cubicBezTo>
                  <a:lnTo>
                    <a:pt x="0" y="111414"/>
                  </a:lnTo>
                  <a:cubicBezTo>
                    <a:pt x="0" y="100873"/>
                    <a:pt x="8509" y="92364"/>
                    <a:pt x="19050" y="92364"/>
                  </a:cubicBezTo>
                  <a:moveTo>
                    <a:pt x="19050" y="130464"/>
                  </a:moveTo>
                  <a:lnTo>
                    <a:pt x="19050" y="111414"/>
                  </a:lnTo>
                  <a:lnTo>
                    <a:pt x="38100" y="111414"/>
                  </a:lnTo>
                  <a:lnTo>
                    <a:pt x="38100" y="296072"/>
                  </a:lnTo>
                  <a:lnTo>
                    <a:pt x="19050" y="296072"/>
                  </a:lnTo>
                  <a:lnTo>
                    <a:pt x="19050" y="277022"/>
                  </a:lnTo>
                  <a:lnTo>
                    <a:pt x="853567" y="277022"/>
                  </a:lnTo>
                  <a:cubicBezTo>
                    <a:pt x="864108" y="277022"/>
                    <a:pt x="872617" y="285531"/>
                    <a:pt x="872617" y="296072"/>
                  </a:cubicBezTo>
                  <a:lnTo>
                    <a:pt x="872617" y="388401"/>
                  </a:lnTo>
                  <a:lnTo>
                    <a:pt x="853567" y="388401"/>
                  </a:lnTo>
                  <a:lnTo>
                    <a:pt x="840486" y="374558"/>
                  </a:lnTo>
                  <a:lnTo>
                    <a:pt x="1037082" y="189900"/>
                  </a:lnTo>
                  <a:lnTo>
                    <a:pt x="1050163" y="203743"/>
                  </a:lnTo>
                  <a:lnTo>
                    <a:pt x="1037082" y="217586"/>
                  </a:lnTo>
                  <a:lnTo>
                    <a:pt x="840613" y="32928"/>
                  </a:lnTo>
                  <a:lnTo>
                    <a:pt x="853567" y="19085"/>
                  </a:lnTo>
                  <a:lnTo>
                    <a:pt x="872617" y="19085"/>
                  </a:lnTo>
                  <a:lnTo>
                    <a:pt x="872617" y="111414"/>
                  </a:lnTo>
                  <a:cubicBezTo>
                    <a:pt x="872617" y="121955"/>
                    <a:pt x="864108" y="130464"/>
                    <a:pt x="853567" y="130464"/>
                  </a:cubicBezTo>
                  <a:lnTo>
                    <a:pt x="19050" y="130464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Sequenciamento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849469" y="2012671"/>
            <a:ext cx="10754011" cy="7359929"/>
            <a:chOff x="0" y="0"/>
            <a:chExt cx="14338681" cy="98132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338681" cy="9813290"/>
            </a:xfrm>
            <a:custGeom>
              <a:avLst/>
              <a:gdLst/>
              <a:ahLst/>
              <a:cxnLst/>
              <a:rect l="l" t="t" r="r" b="b"/>
              <a:pathLst>
                <a:path w="14338681" h="9813290">
                  <a:moveTo>
                    <a:pt x="0" y="0"/>
                  </a:moveTo>
                  <a:lnTo>
                    <a:pt x="14338681" y="0"/>
                  </a:lnTo>
                  <a:lnTo>
                    <a:pt x="14338681" y="9813290"/>
                  </a:lnTo>
                  <a:lnTo>
                    <a:pt x="0" y="9813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091690" y="950595"/>
            <a:ext cx="13818870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Colônias da população RNA-guia 1 isoladas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673103" cy="4267200"/>
            <a:chOff x="0" y="0"/>
            <a:chExt cx="897471" cy="568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0"/>
                  </a:moveTo>
                  <a:lnTo>
                    <a:pt x="0" y="5689600"/>
                  </a:lnTo>
                  <a:lnTo>
                    <a:pt x="897509" y="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607803" y="5727697"/>
            <a:ext cx="6675434" cy="4559303"/>
            <a:chOff x="0" y="0"/>
            <a:chExt cx="8900579" cy="60790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00541" cy="6079109"/>
            </a:xfrm>
            <a:custGeom>
              <a:avLst/>
              <a:gdLst/>
              <a:ahLst/>
              <a:cxnLst/>
              <a:rect l="l" t="t" r="r" b="b"/>
              <a:pathLst>
                <a:path w="8900541" h="6079109">
                  <a:moveTo>
                    <a:pt x="0" y="6079109"/>
                  </a:moveTo>
                  <a:lnTo>
                    <a:pt x="8900541" y="0"/>
                  </a:lnTo>
                  <a:lnTo>
                    <a:pt x="8900541" y="6079109"/>
                  </a:lnTo>
                  <a:close/>
                </a:path>
              </a:pathLst>
            </a:custGeom>
            <a:solidFill>
              <a:srgbClr val="90C226"/>
            </a:solidFill>
          </p:spPr>
        </p:sp>
      </p:grpSp>
      <p:sp>
        <p:nvSpPr>
          <p:cNvPr id="25" name="AutoShape 25"/>
          <p:cNvSpPr/>
          <p:nvPr/>
        </p:nvSpPr>
        <p:spPr>
          <a:xfrm rot="4546260">
            <a:off x="11178721" y="5138738"/>
            <a:ext cx="10637158" cy="0"/>
          </a:xfrm>
          <a:prstGeom prst="line">
            <a:avLst/>
          </a:prstGeom>
          <a:ln w="9525" cap="rnd">
            <a:solidFill>
              <a:srgbClr val="54A0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8775540">
            <a:off x="10399881" y="7899797"/>
            <a:ext cx="8621382" cy="0"/>
          </a:xfrm>
          <a:prstGeom prst="line">
            <a:avLst/>
          </a:prstGeom>
          <a:ln w="9525" cap="rnd">
            <a:solidFill>
              <a:srgbClr val="90C2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861509" y="2607754"/>
            <a:ext cx="1345056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985" lvl="1" indent="-225993" algn="l">
              <a:lnSpc>
                <a:spcPts val="2997"/>
              </a:lnSpc>
              <a:buFont typeface="Arial"/>
              <a:buChar char="•"/>
            </a:pPr>
            <a:r>
              <a:rPr lang="en-US" sz="2497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População foi diluída para permitir o isolamento e cada colônia foi expandida</a:t>
            </a:r>
          </a:p>
          <a:p>
            <a:pPr marL="451985" lvl="1" indent="-225993" algn="l">
              <a:lnSpc>
                <a:spcPts val="2997"/>
              </a:lnSpc>
              <a:buFont typeface="Arial"/>
              <a:buChar char="•"/>
            </a:pPr>
            <a:r>
              <a:rPr lang="en-US" sz="2497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Após a expansão, foi realizado </a:t>
            </a:r>
            <a:r>
              <a:rPr lang="en-US" sz="2497" i="1">
                <a:solidFill>
                  <a:srgbClr val="404040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Western blotting </a:t>
            </a:r>
            <a:r>
              <a:rPr lang="en-US" sz="2497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para medir a quantidade de proteína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638459" y="0"/>
            <a:ext cx="2649541" cy="10287000"/>
            <a:chOff x="0" y="0"/>
            <a:chExt cx="3532721" cy="13716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32759" cy="13716000"/>
            </a:xfrm>
            <a:custGeom>
              <a:avLst/>
              <a:gdLst/>
              <a:ahLst/>
              <a:cxnLst/>
              <a:rect l="l" t="t" r="r" b="b"/>
              <a:pathLst>
                <a:path w="3532759" h="13716000">
                  <a:moveTo>
                    <a:pt x="0" y="0"/>
                  </a:moveTo>
                  <a:lnTo>
                    <a:pt x="3532759" y="0"/>
                  </a:lnTo>
                  <a:lnTo>
                    <a:pt x="3532759" y="13716000"/>
                  </a:lnTo>
                  <a:lnTo>
                    <a:pt x="3058033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A021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70069" y="4502944"/>
            <a:ext cx="12715875" cy="3914775"/>
            <a:chOff x="0" y="0"/>
            <a:chExt cx="16954500" cy="5219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954500" cy="5219700"/>
            </a:xfrm>
            <a:custGeom>
              <a:avLst/>
              <a:gdLst/>
              <a:ahLst/>
              <a:cxnLst/>
              <a:rect l="l" t="t" r="r" b="b"/>
              <a:pathLst>
                <a:path w="16954500" h="5219700">
                  <a:moveTo>
                    <a:pt x="0" y="0"/>
                  </a:moveTo>
                  <a:lnTo>
                    <a:pt x="16954500" y="0"/>
                  </a:lnTo>
                  <a:lnTo>
                    <a:pt x="16954500" y="5219700"/>
                  </a:lnTo>
                  <a:lnTo>
                    <a:pt x="0" y="521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Conclusões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7443" y="3277076"/>
            <a:ext cx="12712122" cy="573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Ao menos 19 das colônias possuem ausência total de ARH3. 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Dessas colônias, 5 foram escolhidas para finalizar o projeto. 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Atualmente, essas 5 colônias tiveram seu DNA purificado a fim de realizar o sequenciamento e identificar os tipos de mutações que foram causadas pela endonuclease Cas9.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Alinhamento do sequenciamento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113788" y="2481196"/>
            <a:ext cx="9727692" cy="7340527"/>
            <a:chOff x="0" y="0"/>
            <a:chExt cx="12970256" cy="97873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970256" cy="9787382"/>
            </a:xfrm>
            <a:custGeom>
              <a:avLst/>
              <a:gdLst/>
              <a:ahLst/>
              <a:cxnLst/>
              <a:rect l="l" t="t" r="r" b="b"/>
              <a:pathLst>
                <a:path w="12970256" h="9787382">
                  <a:moveTo>
                    <a:pt x="0" y="0"/>
                  </a:moveTo>
                  <a:lnTo>
                    <a:pt x="12970256" y="0"/>
                  </a:lnTo>
                  <a:lnTo>
                    <a:pt x="12970256" y="9787382"/>
                  </a:lnTo>
                  <a:lnTo>
                    <a:pt x="0" y="9787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772217" y="-12697"/>
            <a:ext cx="4511021" cy="10299697"/>
            <a:chOff x="0" y="0"/>
            <a:chExt cx="6014695" cy="1373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4720" cy="13732890"/>
            </a:xfrm>
            <a:custGeom>
              <a:avLst/>
              <a:gdLst/>
              <a:ahLst/>
              <a:cxnLst/>
              <a:rect l="l" t="t" r="r" b="b"/>
              <a:pathLst>
                <a:path w="6014720" h="1373289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90C226">
                <a:alpha val="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05162" y="-12697"/>
            <a:ext cx="3882838" cy="10299697"/>
            <a:chOff x="0" y="0"/>
            <a:chExt cx="5177117" cy="137329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77155" cy="13732890"/>
            </a:xfrm>
            <a:custGeom>
              <a:avLst/>
              <a:gdLst/>
              <a:ahLst/>
              <a:cxnLst/>
              <a:rect l="l" t="t" r="r" b="b"/>
              <a:pathLst>
                <a:path w="5177155" h="13732890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398503" y="4572000"/>
            <a:ext cx="4889497" cy="5715000"/>
            <a:chOff x="0" y="0"/>
            <a:chExt cx="6519329" cy="76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9291" cy="7620000"/>
            </a:xfrm>
            <a:custGeom>
              <a:avLst/>
              <a:gdLst/>
              <a:ahLst/>
              <a:cxnLst/>
              <a:rect l="l" t="t" r="r" b="b"/>
              <a:pathLst>
                <a:path w="6519291" h="7620000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54A021">
                <a:alpha val="51765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001750" y="-12697"/>
            <a:ext cx="4281488" cy="10299697"/>
            <a:chOff x="0" y="0"/>
            <a:chExt cx="5708650" cy="13732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8650" cy="13732890"/>
            </a:xfrm>
            <a:custGeom>
              <a:avLst/>
              <a:gdLst/>
              <a:ahLst/>
              <a:cxnLst/>
              <a:rect l="l" t="t" r="r" b="b"/>
              <a:pathLst>
                <a:path w="5708650" h="1373289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348091" y="-12697"/>
            <a:ext cx="1935137" cy="10299697"/>
            <a:chOff x="0" y="0"/>
            <a:chExt cx="2580183" cy="13732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0259" cy="13732890"/>
            </a:xfrm>
            <a:custGeom>
              <a:avLst/>
              <a:gdLst/>
              <a:ahLst/>
              <a:cxnLst/>
              <a:rect l="l" t="t" r="r" b="b"/>
              <a:pathLst>
                <a:path w="2580259" h="13732890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C0E474">
                <a:alpha val="4862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08498" y="-12697"/>
            <a:ext cx="1874739" cy="10299697"/>
            <a:chOff x="0" y="0"/>
            <a:chExt cx="2499652" cy="1373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99614" cy="13732890"/>
            </a:xfrm>
            <a:custGeom>
              <a:avLst/>
              <a:gdLst/>
              <a:ahLst/>
              <a:cxnLst/>
              <a:rect l="l" t="t" r="r" b="b"/>
              <a:pathLst>
                <a:path w="2499614" h="13732890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4196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57497" y="5384797"/>
            <a:ext cx="2725741" cy="4902203"/>
            <a:chOff x="0" y="0"/>
            <a:chExt cx="3634321" cy="653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34359" cy="6536309"/>
            </a:xfrm>
            <a:custGeom>
              <a:avLst/>
              <a:gdLst/>
              <a:ahLst/>
              <a:cxnLst/>
              <a:rect l="l" t="t" r="r" b="b"/>
              <a:pathLst>
                <a:path w="3634359" h="653630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90C226">
                <a:alpha val="6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0" y="6019800"/>
            <a:ext cx="673103" cy="4267200"/>
            <a:chOff x="0" y="0"/>
            <a:chExt cx="897471" cy="568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97509" cy="5689600"/>
            </a:xfrm>
            <a:custGeom>
              <a:avLst/>
              <a:gdLst/>
              <a:ahLst/>
              <a:cxnLst/>
              <a:rect l="l" t="t" r="r" b="b"/>
              <a:pathLst>
                <a:path w="897509" h="5689600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90C226">
                <a:alpha val="72157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07443" y="950595"/>
            <a:ext cx="12712122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aparentes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16003" y="3173730"/>
            <a:ext cx="12914976" cy="5955478"/>
            <a:chOff x="0" y="0"/>
            <a:chExt cx="17219968" cy="79406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19972" cy="7940636"/>
            </a:xfrm>
            <a:custGeom>
              <a:avLst/>
              <a:gdLst/>
              <a:ahLst/>
              <a:cxnLst/>
              <a:rect l="l" t="t" r="r" b="b"/>
              <a:pathLst>
                <a:path w="17219972" h="7940636">
                  <a:moveTo>
                    <a:pt x="0" y="0"/>
                  </a:moveTo>
                  <a:lnTo>
                    <a:pt x="17219972" y="0"/>
                  </a:lnTo>
                  <a:lnTo>
                    <a:pt x="17219972" y="7940636"/>
                  </a:lnTo>
                  <a:lnTo>
                    <a:pt x="0" y="79406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64" r="-916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7219968" cy="79596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B3: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deletou 15 bp (aparentemente nos dois alelos)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N6: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deletou 1bp, diferente em cada alelo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WT: ccctgggttacaa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alelo1: ccctggttacaa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alelo2: ccctgggtacaa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P6: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Deletou 52 bp (aparentemente nos dois alelos) -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CTGACACACGCCTCCTCCCTGGGTTACAATGGCGCCATCCTGCAGGCCCTGG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419</Words>
  <Application>Microsoft Office PowerPoint</Application>
  <PresentationFormat>Personalizar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</vt:lpstr>
      <vt:lpstr>Calibri</vt:lpstr>
      <vt:lpstr>Trebuchet MS Italics</vt:lpstr>
      <vt:lpstr>Trebuchet MS</vt:lpstr>
      <vt:lpstr>Arial Italics</vt:lpstr>
      <vt:lpstr>Calibri (MS)</vt:lpstr>
      <vt:lpstr>Calibri (MS)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Biotecnologia final</dc:title>
  <dc:creator>ISMAEL</dc:creator>
  <cp:lastModifiedBy>ISMAEL</cp:lastModifiedBy>
  <cp:revision>5</cp:revision>
  <dcterms:created xsi:type="dcterms:W3CDTF">2006-08-16T00:00:00Z</dcterms:created>
  <dcterms:modified xsi:type="dcterms:W3CDTF">2026-04-27T00:53:04Z</dcterms:modified>
  <dc:identifier>DAHFdj-n9JQ</dc:identifier>
</cp:coreProperties>
</file>