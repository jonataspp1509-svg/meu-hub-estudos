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D1FB-C12D-498F-BB23-9A53E77E529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8C279-F348-4B5B-87D6-F81BDA2953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431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777EC-26E6-4CC9-AE0F-40EAA6658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7D0BBC-4CD0-4A14-8271-78A9535FB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F74049-69B1-49F3-A701-495EADD7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2FF3-198E-4504-A195-594B77440EA9}" type="datetime1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E70F7-EF24-4DD7-BD2C-34D74821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4CA4D9-B55E-46F2-8628-8BEBC353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34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873FC-F2EE-4AA1-8376-3EEEF7F8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63842C-F99D-44E4-B768-9DBF3128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B6CD-55FB-4741-91E8-76D99955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AE5F-3721-4899-AB3E-54E787D5E54C}" type="datetime1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BC0C6E-F6E1-4F11-BD17-45EBEC82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44072-382D-4826-B414-2E9AD54A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46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E4A15-2535-4FA1-A32E-4AA659BC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BF5D87-8539-49DB-8016-0C0F93B76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229C4B-DB88-48AE-946C-10A8AEDF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C6CDF-17C1-4A70-BE95-9DBDFC5833FB}" type="datetime1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A1A129-BDC5-4D54-AAF7-8663D463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5FAC0F-DC60-406D-BCB4-A9014746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54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FB1DF-B5AF-4E34-B291-92405B28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AFE912-4CCC-40C4-9F5B-468378E0F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DB44FD-1983-4015-8301-C1262CAC4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E55B32-363B-4482-B2B7-60D03427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708F1-DDEF-44A2-924D-4A5D68A9E0BE}" type="datetime1">
              <a:rPr lang="pt-BR" smtClean="0"/>
              <a:t>13/06/2026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B9FE33-F03F-4434-B0D9-FA24F11B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0C14BC-180C-4C2A-900C-4F91A91A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55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9D7E-2357-4145-8FF0-6137121E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5A45DB-F268-4365-A3DD-8F226339B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E986B6-3CB9-4333-AA41-516A787A5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3E2C4B-A3DE-4A61-B02A-5BC793B29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421131-2B4C-4E8B-BC25-27BC44F3D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CE8DD6-A479-4673-93EB-A7513D52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F2BE-10F4-447F-9E38-C66D263AD8EF}" type="datetime1">
              <a:rPr lang="pt-BR" smtClean="0"/>
              <a:t>13/06/2026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361587-E341-409D-86E3-5A8CE218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C88559-AC54-41AE-8B43-29B9BAA1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60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65B00-A5CF-4453-8AD6-001E454E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53356C-250F-4EDD-80E8-9CDEE633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587E-8790-42F6-A958-E4A650C6DA2C}" type="datetime1">
              <a:rPr lang="pt-BR" smtClean="0"/>
              <a:t>13/06/2026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97CEAC-0A72-4955-8AC9-80F273FA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B4D304-3958-45FF-805F-715A7405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05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9296AF-3F04-4586-B288-D7FE2D52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9C79-255F-46D6-9BEE-AE54D218815D}" type="datetime1">
              <a:rPr lang="pt-BR" smtClean="0"/>
              <a:t>13/06/2026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9D34B2-7479-4AC7-84E7-C1F2C261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AF2E14-CF62-46D5-B181-03160692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922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7E37C-9A53-42D6-AA4C-677012F5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F8CE43-C5CD-4856-A9C4-958483DD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09D965-BA04-429F-9E70-CC257F3F2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D70D63-F24E-4F85-8CBB-3B3A0B30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72C4-647E-4242-845E-4395D6B210BD}" type="datetime1">
              <a:rPr lang="pt-BR" smtClean="0"/>
              <a:t>13/06/2026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2A44E5-2D43-437F-94E6-8A65E3FF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DC01DE-9583-4A27-B5D5-4B45DF8F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52B45-F72D-4F70-B0F9-EA8F6C77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D02581-9E53-4BBC-8D61-3CA53B392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E65F13-2874-4AFF-95F6-5B912CA76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25A0A0-D0DC-4353-A073-071A5427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DAB8-E99D-43A1-A868-799BD0D8E1EB}" type="datetime1">
              <a:rPr lang="pt-BR" smtClean="0"/>
              <a:t>13/06/2026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197A57-3337-45D2-9EBE-E93F1044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0A47E9-19CA-4EC6-8994-20D0EF36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11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35E1F-F69C-4FD9-BBDB-25509DA9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AF5F66-FBA6-4CA1-9982-B6F08D5DD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4EFA72-D99E-4E1F-A9FC-140C808A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B7C-EFFA-4D11-AFED-177DD2547247}" type="datetime1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734C64-3759-4277-B81C-ADCBC276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EC3CE-0CCD-4C9F-95BB-32DC7185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279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C39680-F4EB-43C2-A10D-DDE138547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B20934-DD21-431A-8B4E-C20561119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F0EC68-E1A2-4827-80C8-B8058543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EDB5B-D79C-4F36-A82C-A05E3D9858E4}" type="datetime1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5CA5BF-626B-4B16-A4A7-025CE07F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56B42E-C334-40DE-973C-29970D4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0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9B3789D-FC75-4B81-8E14-82F6E7C2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F4EFD7-7F3D-4836-A7C5-5D0982666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AE07EC-024F-444D-BB5E-A31E8B843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2037C-9320-4521-A7D2-12E2EBE4B829}" type="datetime1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C220EE-64BD-4E3F-8685-00759DF73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DA3BA2-3B8D-48B5-91D9-3B9C2FA7A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563ED-0DD3-4E48-9ACE-DAD4E9747F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D12C9A-304A-4674-B259-703B809C5FFB}"/>
              </a:ext>
            </a:extLst>
          </p:cNvPr>
          <p:cNvSpPr txBox="1"/>
          <p:nvPr/>
        </p:nvSpPr>
        <p:spPr>
          <a:xfrm>
            <a:off x="454830" y="910335"/>
            <a:ext cx="535022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ATIVIDADE DE APOIO – GENÉTICA (2º) – Prof. Ismael e Murilo - EXERCÍCIOS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A597425D-5C1D-B67E-C89D-CE8DCE95F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36BE920F-9303-95D9-F931-983DC4551E36}"/>
              </a:ext>
            </a:extLst>
          </p:cNvPr>
          <p:cNvCxnSpPr>
            <a:cxnSpLocks/>
          </p:cNvCxnSpPr>
          <p:nvPr/>
        </p:nvCxnSpPr>
        <p:spPr>
          <a:xfrm>
            <a:off x="5805056" y="138546"/>
            <a:ext cx="0" cy="6186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DB15265C-EF73-6209-1F2A-F166EA0176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195"/>
          <a:stretch/>
        </p:blipFill>
        <p:spPr bwMode="auto">
          <a:xfrm>
            <a:off x="301538" y="0"/>
            <a:ext cx="4420156" cy="8625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43123" y="1232452"/>
            <a:ext cx="566192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1) O </a:t>
            </a:r>
            <a:r>
              <a:rPr lang="pt-BR" sz="1000" dirty="0" err="1"/>
              <a:t>heredograma</a:t>
            </a:r>
            <a:r>
              <a:rPr lang="pt-BR" sz="1000" dirty="0"/>
              <a:t> mostra a incidência de uma anomalia genética em um grupo familiar.</a:t>
            </a:r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r>
              <a:rPr lang="pt-BR" sz="1000" dirty="0"/>
              <a:t> </a:t>
            </a:r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r>
              <a:rPr lang="pt-BR" sz="1000" dirty="0"/>
              <a:t>2) (FCMSCSP 2023)</a:t>
            </a:r>
          </a:p>
          <a:p>
            <a:r>
              <a:rPr lang="pt-BR" sz="1000" dirty="0"/>
              <a:t>A fibrose cística é uma doença autossômica recessiva monogênica que afeta, sobretudo, alguns órgãos do sistema digestório e respiratório, prejudicando a qualidade de vida das pessoas portadoras dos alelos recessivos. Um homem, sem fibrose cística, tem apenas uma irmã, que é a única pessoa da família com a doença. Ele é casado com uma mulher cujo irmão tem fibrose cística e também é o único da família com a doença. A probabilidade de que este casal tenha um primeiro descendente com fibrose cística, independentemente do sexo biológico, é de</a:t>
            </a:r>
          </a:p>
          <a:p>
            <a:r>
              <a:rPr lang="pt-BR" sz="1000" dirty="0"/>
              <a:t>a) 0,36.          b) 0,11          c) 0,25          d) 0,29          e) 0,17</a:t>
            </a:r>
          </a:p>
          <a:p>
            <a:endParaRPr lang="pt-BR" sz="1000" dirty="0"/>
          </a:p>
          <a:p>
            <a:r>
              <a:rPr lang="pt-BR" sz="1000" dirty="0"/>
              <a:t>3) (FUVEST) Em coelhos, uma série de alelos múltiplos determina a cor da pelagem. Os alelos nessa série são: C+ (selvagem), </a:t>
            </a:r>
            <a:r>
              <a:rPr lang="pt-BR" sz="1000" dirty="0" err="1"/>
              <a:t>C</a:t>
            </a:r>
            <a:r>
              <a:rPr lang="pt-BR" sz="1000" baseline="30000" dirty="0" err="1"/>
              <a:t>ch</a:t>
            </a:r>
            <a:r>
              <a:rPr lang="pt-BR" sz="1000" dirty="0"/>
              <a:t> (chinchila), </a:t>
            </a:r>
            <a:r>
              <a:rPr lang="pt-BR" sz="1000" dirty="0" err="1"/>
              <a:t>C</a:t>
            </a:r>
            <a:r>
              <a:rPr lang="pt-BR" sz="1000" baseline="30000" dirty="0" err="1"/>
              <a:t>h</a:t>
            </a:r>
            <a:r>
              <a:rPr lang="pt-BR" sz="1000" dirty="0"/>
              <a:t> (himalaia) e c (albino). A relação de dominância entre os alelos é C+ &gt; </a:t>
            </a:r>
            <a:r>
              <a:rPr lang="pt-BR" sz="1000" dirty="0" err="1"/>
              <a:t>C</a:t>
            </a:r>
            <a:r>
              <a:rPr lang="pt-BR" sz="1000" baseline="30000" dirty="0" err="1"/>
              <a:t>ch</a:t>
            </a:r>
            <a:r>
              <a:rPr lang="pt-BR" sz="1000" dirty="0"/>
              <a:t> &gt; </a:t>
            </a:r>
            <a:r>
              <a:rPr lang="pt-BR" sz="1000" dirty="0" err="1"/>
              <a:t>C</a:t>
            </a:r>
            <a:r>
              <a:rPr lang="pt-BR" sz="1000" baseline="30000" dirty="0" err="1"/>
              <a:t>h</a:t>
            </a:r>
            <a:r>
              <a:rPr lang="pt-BR" sz="1000" dirty="0"/>
              <a:t> &gt; c. No cruzamento de uma coelha selvagem, heterozigótica para himalaia, com um coelho chinchila, heterozigótico para albino, a probabilidade de que um dos descendentes seja himalaia é de:</a:t>
            </a:r>
          </a:p>
          <a:p>
            <a:r>
              <a:rPr lang="pt-BR" sz="1000" dirty="0"/>
              <a:t>a) 0.                 b) 12,5%.                       c) 25%.                   d) 50%.                     e) 75%.</a:t>
            </a:r>
          </a:p>
          <a:p>
            <a:endParaRPr lang="pt-BR" sz="1000" dirty="0"/>
          </a:p>
        </p:txBody>
      </p:sp>
      <p:pic>
        <p:nvPicPr>
          <p:cNvPr id="13" name="Imagem 1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3" y="1459230"/>
            <a:ext cx="27432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/>
          <p:cNvSpPr txBox="1"/>
          <p:nvPr/>
        </p:nvSpPr>
        <p:spPr>
          <a:xfrm>
            <a:off x="2806810" y="1669774"/>
            <a:ext cx="281078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itchFamily="34" charset="0"/>
                <a:cs typeface="Arial" pitchFamily="34" charset="0"/>
              </a:rPr>
              <a:t>a) Determine o genótipo dos indivíduos 1, 2, 7, 8 e 10.</a:t>
            </a:r>
          </a:p>
          <a:p>
            <a:r>
              <a:rPr lang="pt-BR" sz="1000" dirty="0">
                <a:latin typeface="Arial" pitchFamily="34" charset="0"/>
                <a:cs typeface="Arial" pitchFamily="34" charset="0"/>
              </a:rPr>
              <a:t>Use as letras A e a para representar os alelos dominante e recessivo.</a:t>
            </a:r>
          </a:p>
          <a:p>
            <a:r>
              <a:rPr lang="pt-BR" sz="1400" dirty="0">
                <a:latin typeface="Arial" pitchFamily="34" charset="0"/>
                <a:cs typeface="Arial" pitchFamily="34" charset="0"/>
              </a:rPr>
              <a:t>1: ____</a:t>
            </a:r>
          </a:p>
          <a:p>
            <a:r>
              <a:rPr lang="pt-BR" sz="1400" dirty="0">
                <a:latin typeface="Arial" pitchFamily="34" charset="0"/>
                <a:cs typeface="Arial" pitchFamily="34" charset="0"/>
              </a:rPr>
              <a:t>2: ____</a:t>
            </a:r>
          </a:p>
          <a:p>
            <a:r>
              <a:rPr lang="pt-BR" sz="1400" dirty="0">
                <a:latin typeface="Arial" pitchFamily="34" charset="0"/>
                <a:cs typeface="Arial" pitchFamily="34" charset="0"/>
              </a:rPr>
              <a:t>7: ____</a:t>
            </a:r>
          </a:p>
          <a:p>
            <a:r>
              <a:rPr lang="pt-BR" sz="1400" dirty="0">
                <a:latin typeface="Arial" pitchFamily="34" charset="0"/>
                <a:cs typeface="Arial" pitchFamily="34" charset="0"/>
              </a:rPr>
              <a:t>8: ____</a:t>
            </a:r>
          </a:p>
          <a:p>
            <a:r>
              <a:rPr lang="pt-BR" sz="1400" dirty="0">
                <a:latin typeface="Arial" pitchFamily="34" charset="0"/>
                <a:cs typeface="Arial" pitchFamily="34" charset="0"/>
              </a:rPr>
              <a:t>10: ____</a:t>
            </a:r>
          </a:p>
          <a:p>
            <a:r>
              <a:rPr lang="pt-BR" sz="1000" dirty="0"/>
              <a:t>b)  O casal 7 x 8 está esperando uma menina. Calcule a probabilidade de ela ser afetada pela anomalia.</a:t>
            </a: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5991225" y="228600"/>
            <a:ext cx="6076950" cy="88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itchFamily="34" charset="0"/>
                <a:cs typeface="Arial" pitchFamily="34" charset="0"/>
              </a:rPr>
              <a:t>(Fac. Albert Einstein - Medicina 2019)  </a:t>
            </a:r>
            <a:r>
              <a:rPr lang="pt-BR" sz="1000" dirty="0" err="1">
                <a:latin typeface="Arial" pitchFamily="34" charset="0"/>
                <a:cs typeface="Arial" pitchFamily="34" charset="0"/>
              </a:rPr>
              <a:t>Acromatopsia</a:t>
            </a:r>
            <a:r>
              <a:rPr lang="pt-BR" sz="1000" dirty="0">
                <a:latin typeface="Arial" pitchFamily="34" charset="0"/>
                <a:cs typeface="Arial" pitchFamily="34" charset="0"/>
              </a:rPr>
              <a:t> é uma doença autossômica recessiva rara determinada por um par de alelos. Pessoas com essa doença pouco distinguem cores ou não as distinguem, podendo enxergar uma só cor. No </a:t>
            </a:r>
            <a:r>
              <a:rPr lang="pt-BR" sz="1000" dirty="0" err="1">
                <a:latin typeface="Arial" pitchFamily="34" charset="0"/>
                <a:cs typeface="Arial" pitchFamily="34" charset="0"/>
              </a:rPr>
              <a:t>heredograma</a:t>
            </a:r>
            <a:r>
              <a:rPr lang="pt-BR" sz="1000" dirty="0">
                <a:latin typeface="Arial" pitchFamily="34" charset="0"/>
                <a:cs typeface="Arial" pitchFamily="34" charset="0"/>
              </a:rPr>
              <a:t>, o avô de Renan e Bárbara apresenta a </a:t>
            </a:r>
            <a:r>
              <a:rPr lang="pt-BR" sz="1000" dirty="0" err="1">
                <a:latin typeface="Arial" pitchFamily="34" charset="0"/>
                <a:cs typeface="Arial" pitchFamily="34" charset="0"/>
              </a:rPr>
              <a:t>acromatopsia</a:t>
            </a:r>
            <a:r>
              <a:rPr lang="pt-BR" sz="10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r>
              <a:rPr lang="pt-BR" sz="1000" dirty="0"/>
              <a:t>A probabilidade de Renan e Bárbara gerarem um menino com a </a:t>
            </a:r>
            <a:r>
              <a:rPr lang="pt-BR" sz="1000" dirty="0" err="1"/>
              <a:t>acromatopsia</a:t>
            </a:r>
            <a:r>
              <a:rPr lang="pt-BR" sz="1000" dirty="0"/>
              <a:t> será de</a:t>
            </a: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pPr marL="228600" indent="-228600">
              <a:buAutoNum type="alphaLcParenR"/>
            </a:pPr>
            <a:r>
              <a:rPr lang="pt-BR" sz="1000" dirty="0"/>
              <a:t>1/16.            b) 1/8.            c) 1/32.            d) 1/64.          e) 1/4.</a:t>
            </a:r>
          </a:p>
          <a:p>
            <a:pPr marL="228600" indent="-228600">
              <a:buAutoNum type="alphaLcParenR"/>
            </a:pPr>
            <a:endParaRPr lang="pt-BR" sz="1000" dirty="0"/>
          </a:p>
          <a:p>
            <a:r>
              <a:rPr lang="pt-BR" sz="1000" dirty="0"/>
              <a:t>4) (FCMSCSP 2022) A figura ilustra o surgimento de diferentes alelos (A</a:t>
            </a:r>
            <a:r>
              <a:rPr lang="pt-BR" sz="1000" baseline="30000" dirty="0"/>
              <a:t>2</a:t>
            </a:r>
            <a:r>
              <a:rPr lang="pt-BR" sz="1000" dirty="0"/>
              <a:t> e A</a:t>
            </a:r>
            <a:r>
              <a:rPr lang="pt-BR" sz="1000" baseline="30000" dirty="0"/>
              <a:t>3</a:t>
            </a:r>
            <a:r>
              <a:rPr lang="pt-BR" sz="1000" dirty="0"/>
              <a:t>) a partir de um alelo original A</a:t>
            </a:r>
            <a:r>
              <a:rPr lang="pt-BR" sz="1000" baseline="30000" dirty="0"/>
              <a:t>1</a:t>
            </a:r>
            <a:r>
              <a:rPr lang="pt-BR" sz="1000" dirty="0"/>
              <a:t>, formando uma série de alelos múltiplos ou </a:t>
            </a:r>
            <a:r>
              <a:rPr lang="pt-BR" sz="1000" dirty="0" err="1"/>
              <a:t>polialelos</a:t>
            </a:r>
            <a:r>
              <a:rPr lang="pt-BR" sz="1000" dirty="0"/>
              <a:t>.</a:t>
            </a:r>
          </a:p>
          <a:p>
            <a:r>
              <a:rPr lang="pt-BR" sz="1000" dirty="0"/>
              <a:t> </a:t>
            </a:r>
          </a:p>
          <a:p>
            <a:r>
              <a:rPr lang="pt-BR" sz="1000" dirty="0"/>
              <a:t> </a:t>
            </a:r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r>
              <a:rPr lang="pt-BR" sz="1000" dirty="0"/>
              <a:t>Considere um indivíduo adulto sem alterações no número de cromossomos (aneuploidias e </a:t>
            </a:r>
            <a:r>
              <a:rPr lang="pt-BR" sz="1000" dirty="0" err="1"/>
              <a:t>euploidias</a:t>
            </a:r>
            <a:r>
              <a:rPr lang="pt-BR" sz="1000" dirty="0"/>
              <a:t>) em suas células somáticas. Quando os cromossomos presentes no núcleo destas células somáticas forem analisados quanto a essa série alélica, é esperado encontrar </a:t>
            </a:r>
          </a:p>
          <a:p>
            <a:r>
              <a:rPr lang="pt-BR" sz="1000" dirty="0"/>
              <a:t>a) mais de três alelos na mesma célula.   </a:t>
            </a:r>
          </a:p>
          <a:p>
            <a:r>
              <a:rPr lang="pt-BR" sz="1000" dirty="0"/>
              <a:t>b) os três alelos no mesmo cromossomo.   </a:t>
            </a:r>
          </a:p>
          <a:p>
            <a:r>
              <a:rPr lang="pt-BR" sz="1000" dirty="0"/>
              <a:t>c) apenas dois dos alelos no mesmo cromossomo.   </a:t>
            </a:r>
          </a:p>
          <a:p>
            <a:r>
              <a:rPr lang="pt-BR" sz="1000" dirty="0"/>
              <a:t>d) apenas dois dos alelos na mesma célula.   </a:t>
            </a:r>
          </a:p>
          <a:p>
            <a:r>
              <a:rPr lang="pt-BR" sz="1000" dirty="0"/>
              <a:t>e) os três alelos na mesma célula.   </a:t>
            </a:r>
          </a:p>
          <a:p>
            <a:endParaRPr lang="pt-BR" sz="1000" dirty="0"/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  <p:pic>
        <p:nvPicPr>
          <p:cNvPr id="15" name="Imagem 1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910336"/>
            <a:ext cx="2590799" cy="1880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350" y="3898981"/>
            <a:ext cx="2543175" cy="12461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72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ADCB-27ED-BEFA-75A5-7E687F45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>
            <a:extLst>
              <a:ext uri="{FF2B5EF4-FFF2-40B4-BE49-F238E27FC236}">
                <a16:creationId xmlns:a16="http://schemas.microsoft.com/office/drawing/2014/main" id="{3F7BAF69-F1A9-D2A1-B534-12A6C9F4C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5234D99-C6FA-FBF5-2598-AD135F725E8A}"/>
              </a:ext>
            </a:extLst>
          </p:cNvPr>
          <p:cNvCxnSpPr>
            <a:cxnSpLocks/>
          </p:cNvCxnSpPr>
          <p:nvPr/>
        </p:nvCxnSpPr>
        <p:spPr>
          <a:xfrm>
            <a:off x="5497120" y="99195"/>
            <a:ext cx="0" cy="62777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1B25069-5BD9-E8D2-6BDB-73F2118B08D7}"/>
              </a:ext>
            </a:extLst>
          </p:cNvPr>
          <p:cNvSpPr txBox="1"/>
          <p:nvPr/>
        </p:nvSpPr>
        <p:spPr>
          <a:xfrm>
            <a:off x="5511717" y="57978"/>
            <a:ext cx="6676405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pt-BR" sz="1000" dirty="0"/>
              <a:t>Apenas a análise dessa genealogia não permite calcular a probabilidade de descendente afetado. A Geneticista experiente e excelente profissional levou em conta o dado populacional: uma pessoa é heterozigota em cada cem indivíduos normais da população.</a:t>
            </a:r>
          </a:p>
          <a:p>
            <a:pPr hangingPunct="0"/>
            <a:r>
              <a:rPr lang="pt-BR" sz="1000" dirty="0"/>
              <a:t>    Com esse dado e análise correta da genealogia, a geneticista respondeu que a probabilidade de o primeiro descendente do casal ser afetado pela anomalia é:</a:t>
            </a:r>
          </a:p>
          <a:p>
            <a:pPr hangingPunct="0"/>
            <a:endParaRPr lang="pt-BR" sz="1000" dirty="0"/>
          </a:p>
          <a:p>
            <a:pPr marL="228600" indent="-228600" hangingPunct="0">
              <a:buAutoNum type="alphaUcParenR"/>
            </a:pPr>
            <a:r>
              <a:rPr lang="pt-BR" sz="1000" dirty="0"/>
              <a:t>1/9               B) ¼                C) 1/600                      D) 1/16                                   E) 1/40.000</a:t>
            </a:r>
          </a:p>
          <a:p>
            <a:pPr marL="228600" indent="-228600" hangingPunct="0">
              <a:buAutoNum type="alphaUcParenR"/>
            </a:pPr>
            <a:endParaRPr lang="pt-BR" sz="1000" dirty="0"/>
          </a:p>
          <a:p>
            <a:r>
              <a:rPr lang="pt-BR" sz="1000" dirty="0"/>
              <a:t>7) (UEM) A </a:t>
            </a:r>
            <a:r>
              <a:rPr lang="pt-BR" sz="1000" dirty="0" err="1"/>
              <a:t>acondroplasia</a:t>
            </a:r>
            <a:r>
              <a:rPr lang="pt-BR" sz="1000" dirty="0"/>
              <a:t> é uma forma de nanismo provocada por um distúrbio de crescimento, devido a uma deficiência de ossificação. A altura média dos adultos afetados é de 130 cm para homens e de 120 cm para mulheres. Praticamente todos os indivíduos </a:t>
            </a:r>
            <a:r>
              <a:rPr lang="pt-BR" sz="1000" dirty="0" err="1"/>
              <a:t>acondroplásicos</a:t>
            </a:r>
            <a:r>
              <a:rPr lang="pt-BR" sz="1000" dirty="0"/>
              <a:t> são heterozigotos. Parte dos homozigotos conhecidos são gravemente afetados e falecem precocemente. Interpretando as informações dadas e com base nos conhecimentos de genética, assinale a(s) alternativa(s) correta(s).</a:t>
            </a:r>
          </a:p>
          <a:p>
            <a:r>
              <a:rPr lang="pt-BR" sz="1000" dirty="0"/>
              <a:t>01. A </a:t>
            </a:r>
            <a:r>
              <a:rPr lang="pt-BR" sz="1000" dirty="0" err="1"/>
              <a:t>acondroplasia</a:t>
            </a:r>
            <a:r>
              <a:rPr lang="pt-BR" sz="1000" dirty="0"/>
              <a:t> é uma anomalia genética condicionada por um alelo dominante.</a:t>
            </a:r>
          </a:p>
          <a:p>
            <a:r>
              <a:rPr lang="pt-BR" sz="1000" dirty="0"/>
              <a:t>02. O alelo para </a:t>
            </a:r>
            <a:r>
              <a:rPr lang="pt-BR" sz="1000" dirty="0" err="1"/>
              <a:t>acondroplasia</a:t>
            </a:r>
            <a:r>
              <a:rPr lang="pt-BR" sz="1000" dirty="0"/>
              <a:t> é letal quando em </a:t>
            </a:r>
            <a:r>
              <a:rPr lang="pt-BR" sz="1000" dirty="0" err="1"/>
              <a:t>homozigose</a:t>
            </a:r>
            <a:r>
              <a:rPr lang="pt-BR" sz="1000" dirty="0"/>
              <a:t>.</a:t>
            </a:r>
          </a:p>
          <a:p>
            <a:r>
              <a:rPr lang="pt-BR" sz="1000" dirty="0"/>
              <a:t>04. Os genes letais podem ser dominantes ou recessivos.</a:t>
            </a:r>
          </a:p>
          <a:p>
            <a:r>
              <a:rPr lang="pt-BR" sz="1000" dirty="0"/>
              <a:t>08. A probabilidade de um casal </a:t>
            </a:r>
            <a:r>
              <a:rPr lang="pt-BR" sz="1000" dirty="0" err="1"/>
              <a:t>acondroplásico</a:t>
            </a:r>
            <a:r>
              <a:rPr lang="pt-BR" sz="1000" dirty="0"/>
              <a:t> ter uma criança heterozigota é de 1/4.</a:t>
            </a:r>
          </a:p>
          <a:p>
            <a:r>
              <a:rPr lang="pt-BR" sz="1000" dirty="0"/>
              <a:t>16. Um casal heterozigoto tem 25% de chance de ter uma criança homozigota dominante.</a:t>
            </a:r>
          </a:p>
          <a:p>
            <a:br>
              <a:rPr lang="pt-BR" sz="1000" dirty="0"/>
            </a:br>
            <a:r>
              <a:rPr lang="pt-BR" sz="1000" dirty="0"/>
              <a:t>8) (UFG) A planta </a:t>
            </a:r>
            <a:r>
              <a:rPr lang="pt-BR" sz="1000" i="1" dirty="0" err="1"/>
              <a:t>Mirabilis</a:t>
            </a:r>
            <a:r>
              <a:rPr lang="pt-BR" sz="1000" i="1" dirty="0"/>
              <a:t> </a:t>
            </a:r>
            <a:r>
              <a:rPr lang="pt-BR" sz="1000" dirty="0" err="1"/>
              <a:t>sp</a:t>
            </a:r>
            <a:r>
              <a:rPr lang="pt-BR" sz="1000" dirty="0"/>
              <a:t> apresenta três colorações diferentes de flor que são determinadas por um par de alelos com dominância incompleta. As plantas homozigotas apresentam coloração vermelha ou branca, e plantas heterozigotas apresentam flores com coloração rosa. Para que 100% dos descendentes apresentem flores cor-de-rosa, o cruzamento deve ser entre indivíduos de:</a:t>
            </a:r>
          </a:p>
          <a:p>
            <a:r>
              <a:rPr lang="pt-BR" sz="1000" dirty="0"/>
              <a:t>a) Flor vermelha x flor vermelha.    b) Flor vermelha x flor branca.   c) Flor rosa x flor vermelha.</a:t>
            </a:r>
          </a:p>
          <a:p>
            <a:r>
              <a:rPr lang="pt-BR" sz="1000" dirty="0"/>
              <a:t>d) Flor rosa x flor branca.                  e) Flor rosa x flor rosa.</a:t>
            </a:r>
          </a:p>
          <a:p>
            <a:endParaRPr lang="pt-BR" sz="1000" dirty="0"/>
          </a:p>
          <a:p>
            <a:r>
              <a:rPr lang="pt-BR" sz="1000" dirty="0"/>
              <a:t>9) (</a:t>
            </a:r>
            <a:r>
              <a:rPr lang="pt-BR" sz="1000" dirty="0" err="1"/>
              <a:t>Uea-sis</a:t>
            </a:r>
            <a:r>
              <a:rPr lang="pt-BR" sz="1000" dirty="0"/>
              <a:t> 3) Analise a genealogia em que os indivíduos destacados apresentam uma condição genética determinada por um gene autossômico dominante.</a:t>
            </a:r>
          </a:p>
          <a:p>
            <a:endParaRPr lang="pt-BR" sz="1000" dirty="0"/>
          </a:p>
          <a:p>
            <a:endParaRPr lang="pt-BR" sz="1000" dirty="0"/>
          </a:p>
          <a:p>
            <a:r>
              <a:rPr lang="pt-BR" sz="1000" dirty="0"/>
              <a:t>Sobre os dados apresentados na genealogia, afirma-se que:</a:t>
            </a:r>
          </a:p>
          <a:p>
            <a:r>
              <a:rPr lang="pt-BR" sz="1000" dirty="0"/>
              <a:t>a) Paulo, Giulia e Igor são homozigotos recessivos.</a:t>
            </a:r>
          </a:p>
          <a:p>
            <a:r>
              <a:rPr lang="pt-BR" sz="1000" dirty="0"/>
              <a:t>b) Nina, Bruno e Lara são homozigotos recessivos.</a:t>
            </a:r>
          </a:p>
          <a:p>
            <a:r>
              <a:rPr lang="pt-BR" sz="1000" dirty="0"/>
              <a:t>c) Nina, Bruno e Lara são heterozigotos.</a:t>
            </a:r>
          </a:p>
          <a:p>
            <a:r>
              <a:rPr lang="pt-BR" sz="1000" dirty="0"/>
              <a:t>d) Bruno, Giulia e Igor são heterozigotos.</a:t>
            </a:r>
          </a:p>
          <a:p>
            <a:r>
              <a:rPr lang="pt-BR" sz="1000" dirty="0"/>
              <a:t>e) Paulo, Giulia e Igor são homozigotos dominantes.</a:t>
            </a:r>
          </a:p>
          <a:p>
            <a:pPr hangingPunct="0"/>
            <a:endParaRPr lang="pt-BR" sz="10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190195" y="687629"/>
            <a:ext cx="5321522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itchFamily="34" charset="0"/>
                <a:cs typeface="Arial" pitchFamily="34" charset="0"/>
              </a:rPr>
              <a:t>5) FEMPAR  </a:t>
            </a:r>
            <a:r>
              <a:rPr lang="pt-BR" sz="1000" dirty="0"/>
              <a:t>O </a:t>
            </a:r>
            <a:r>
              <a:rPr lang="pt-BR" sz="1000" dirty="0" err="1"/>
              <a:t>heredograma</a:t>
            </a:r>
            <a:r>
              <a:rPr lang="pt-BR" sz="1000" dirty="0"/>
              <a:t> a seguir mostra a herança da </a:t>
            </a:r>
            <a:r>
              <a:rPr lang="pt-BR" sz="1000" dirty="0" err="1"/>
              <a:t>hemocromatose</a:t>
            </a:r>
            <a:r>
              <a:rPr lang="pt-BR" sz="1000" dirty="0"/>
              <a:t> em uma família. A doença, de herança autossômica, caracteriza-se pelo acúmulo de ferro em órgãos como o fígado, o coração e o pâncreas, podendo ocasionar lesão nos tecidos e insuficiência funcional.</a:t>
            </a:r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r>
              <a:rPr lang="pt-BR" sz="1000" dirty="0"/>
              <a:t>Em relação à herança da </a:t>
            </a:r>
            <a:r>
              <a:rPr lang="pt-BR" sz="1000" dirty="0" err="1"/>
              <a:t>hemocromatose</a:t>
            </a:r>
            <a:r>
              <a:rPr lang="pt-BR" sz="1000" dirty="0"/>
              <a:t>, assinale a afirmativa correta.  </a:t>
            </a:r>
          </a:p>
          <a:p>
            <a:r>
              <a:rPr lang="pt-BR" sz="1000" dirty="0"/>
              <a:t>a) 100 % da prole de I – II será normal, porém heterozigota.   </a:t>
            </a:r>
          </a:p>
          <a:p>
            <a:r>
              <a:rPr lang="pt-BR" sz="1000" dirty="0"/>
              <a:t>b) Trata-se de uma doença causada por gene dominante.   </a:t>
            </a:r>
          </a:p>
          <a:p>
            <a:r>
              <a:rPr lang="pt-BR" sz="1000" dirty="0"/>
              <a:t>c) A probabilidade do casal I – II ter filhos doentes é de 1/3.   </a:t>
            </a:r>
          </a:p>
          <a:p>
            <a:r>
              <a:rPr lang="pt-BR" sz="1000" dirty="0"/>
              <a:t>d) A mãe de II é obrigatoriamente homozigota recessiva.   </a:t>
            </a:r>
          </a:p>
          <a:p>
            <a:r>
              <a:rPr lang="pt-BR" sz="1000" dirty="0"/>
              <a:t>e) As mulheres filhas de I – II serão sempre doentes.   </a:t>
            </a:r>
          </a:p>
          <a:p>
            <a:endParaRPr lang="pt-BR" sz="1000" dirty="0"/>
          </a:p>
          <a:p>
            <a:r>
              <a:rPr lang="pt-BR" sz="1000" dirty="0"/>
              <a:t>6) FAMERP Modificada</a:t>
            </a:r>
          </a:p>
          <a:p>
            <a:r>
              <a:rPr lang="pt-BR" sz="1000" dirty="0"/>
              <a:t>A genealogia ilustra uma família em que as pessoas destacadas apresentam uma doença autossômica monogênica.</a:t>
            </a:r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endParaRPr lang="pt-BR" sz="1000" dirty="0"/>
          </a:p>
          <a:p>
            <a:pPr hangingPunct="0"/>
            <a:r>
              <a:rPr lang="pt-BR" sz="1000" dirty="0"/>
              <a:t> A mulher III-1 se casou com um homem normal, mas que seu histórico familiar é desconhecido. Antes de decidir ter filhos, o casal resolveu procurar um geneticista para saber a chance de nascer um descendente com o problema que afeta vários indivíduos da família da mulher III-1.</a:t>
            </a:r>
          </a:p>
          <a:p>
            <a:pPr hangingPunct="0"/>
            <a:r>
              <a:rPr lang="pt-BR" sz="1000" dirty="0"/>
              <a:t>    </a:t>
            </a:r>
          </a:p>
          <a:p>
            <a:endParaRPr lang="pt-BR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Imagem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44" y="1267701"/>
            <a:ext cx="32385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 descr="Diagrama&#10;&#10;Descrição gerada automaticamente"/>
          <p:cNvPicPr/>
          <p:nvPr/>
        </p:nvPicPr>
        <p:blipFill>
          <a:blip r:embed="rId3"/>
          <a:stretch>
            <a:fillRect/>
          </a:stretch>
        </p:blipFill>
        <p:spPr>
          <a:xfrm>
            <a:off x="285291" y="3811219"/>
            <a:ext cx="2982519" cy="1673694"/>
          </a:xfrm>
          <a:prstGeom prst="rect">
            <a:avLst/>
          </a:prstGeom>
        </p:spPr>
      </p:pic>
      <p:pic>
        <p:nvPicPr>
          <p:cNvPr id="14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8849919" y="4307382"/>
            <a:ext cx="2986075" cy="22397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7456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2276</TotalTime>
  <Words>1179</Words>
  <Application>Microsoft Office PowerPoint</Application>
  <PresentationFormat>Widescreen</PresentationFormat>
  <Paragraphs>137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Julio Cesar Tonon</dc:creator>
  <cp:lastModifiedBy>Murilo Bertolino</cp:lastModifiedBy>
  <cp:revision>73</cp:revision>
  <dcterms:created xsi:type="dcterms:W3CDTF">2018-06-03T14:11:08Z</dcterms:created>
  <dcterms:modified xsi:type="dcterms:W3CDTF">2026-06-13T13:40:03Z</dcterms:modified>
</cp:coreProperties>
</file>