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1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82" r:id="rId25"/>
    <p:sldId id="279" r:id="rId26"/>
    <p:sldId id="280" r:id="rId2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-1632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E62D-FF97-413D-990A-2D2B7B8C5685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461A0-77DC-4CD9-819A-3FC8A74556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0209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E62D-FF97-413D-990A-2D2B7B8C5685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461A0-77DC-4CD9-819A-3FC8A74556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5064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E62D-FF97-413D-990A-2D2B7B8C5685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461A0-77DC-4CD9-819A-3FC8A74556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909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E62D-FF97-413D-990A-2D2B7B8C5685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461A0-77DC-4CD9-819A-3FC8A74556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2974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E62D-FF97-413D-990A-2D2B7B8C5685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461A0-77DC-4CD9-819A-3FC8A74556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827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E62D-FF97-413D-990A-2D2B7B8C5685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461A0-77DC-4CD9-819A-3FC8A74556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0585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E62D-FF97-413D-990A-2D2B7B8C5685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461A0-77DC-4CD9-819A-3FC8A74556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1753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E62D-FF97-413D-990A-2D2B7B8C5685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461A0-77DC-4CD9-819A-3FC8A74556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7372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E62D-FF97-413D-990A-2D2B7B8C5685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461A0-77DC-4CD9-819A-3FC8A74556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6759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E62D-FF97-413D-990A-2D2B7B8C5685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461A0-77DC-4CD9-819A-3FC8A74556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137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3E62D-FF97-413D-990A-2D2B7B8C5685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461A0-77DC-4CD9-819A-3FC8A74556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2604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C3E62D-FF97-413D-990A-2D2B7B8C5685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461A0-77DC-4CD9-819A-3FC8A74556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4120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Tarefa 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Livro 3 p.109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1459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60648"/>
            <a:ext cx="5760640" cy="6111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319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60648"/>
            <a:ext cx="5760640" cy="6111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eta para a direita 1"/>
          <p:cNvSpPr/>
          <p:nvPr/>
        </p:nvSpPr>
        <p:spPr>
          <a:xfrm>
            <a:off x="395536" y="5733256"/>
            <a:ext cx="1224136" cy="14401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628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16632"/>
            <a:ext cx="6912768" cy="6023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9166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16632"/>
            <a:ext cx="6912768" cy="6023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5013176"/>
            <a:ext cx="1255713" cy="207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9951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85458"/>
            <a:ext cx="7677789" cy="2611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501008"/>
            <a:ext cx="7268162" cy="201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6392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85458"/>
            <a:ext cx="7677789" cy="2611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501008"/>
            <a:ext cx="7268162" cy="201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727" y="4725144"/>
            <a:ext cx="1255713" cy="207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1496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076" y="1124744"/>
            <a:ext cx="4512940" cy="4171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4046" y="1473077"/>
            <a:ext cx="4362450" cy="299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8269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076" y="1124744"/>
            <a:ext cx="4512940" cy="4171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4046" y="1473077"/>
            <a:ext cx="4362450" cy="299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32951">
            <a:off x="3923929" y="2876446"/>
            <a:ext cx="1111697" cy="184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5479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407" y="609794"/>
            <a:ext cx="7351864" cy="2270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852936"/>
            <a:ext cx="7377679" cy="244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9448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88640"/>
            <a:ext cx="6805712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aixaDeTexto 1"/>
          <p:cNvSpPr txBox="1"/>
          <p:nvPr/>
        </p:nvSpPr>
        <p:spPr>
          <a:xfrm>
            <a:off x="899592" y="2060848"/>
            <a:ext cx="4320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FF0000"/>
                </a:solidFill>
              </a:rPr>
              <a:t>Resposta esperada</a:t>
            </a:r>
            <a:endParaRPr lang="pt-BR" sz="2800" dirty="0">
              <a:solidFill>
                <a:srgbClr val="FF0000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395536" y="2584068"/>
            <a:ext cx="799288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Os vírus precisam invadir a célula para se reproduzir, por isso são utilizados como vetores, ou seja, para levar o gene inserido até o DNA  das células.</a:t>
            </a:r>
          </a:p>
          <a:p>
            <a:r>
              <a:rPr lang="pt-BR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 enzima responsável pelo corte do material genético viral é uma enzima de restrição e a que permite a inserção dos genes é a DNA </a:t>
            </a:r>
            <a:r>
              <a:rPr lang="pt-BR" sz="28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ligase</a:t>
            </a:r>
            <a:r>
              <a:rPr lang="pt-BR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  <a:endParaRPr lang="pt-BR" sz="28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502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" y="188640"/>
            <a:ext cx="5174729" cy="2314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564903"/>
            <a:ext cx="5184576" cy="4097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3088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3645024"/>
            <a:ext cx="6244469" cy="244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9"/>
            <a:ext cx="4279971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4725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Resposta esperada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a) Bactérias. Enzimas de restrição (</a:t>
            </a:r>
            <a:r>
              <a:rPr lang="pt-BR" dirty="0" err="1" smtClean="0"/>
              <a:t>endonucleases</a:t>
            </a:r>
            <a:r>
              <a:rPr lang="pt-BR" dirty="0" smtClean="0"/>
              <a:t>).</a:t>
            </a:r>
          </a:p>
          <a:p>
            <a:pPr marL="0" indent="0">
              <a:buNone/>
            </a:pPr>
            <a:r>
              <a:rPr lang="pt-BR" dirty="0" smtClean="0"/>
              <a:t>b) O plasmídeo contendo o gene de interesse deve ser incorporado ao material genético das células, para, posteriormente, sofrer transcrição e tradução, e assim expressar o antígeno.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92371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88640"/>
            <a:ext cx="5544616" cy="5065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5253658"/>
            <a:ext cx="5901924" cy="983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9468" y="548680"/>
            <a:ext cx="1946948" cy="2705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47409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88640"/>
            <a:ext cx="5544616" cy="5065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5253658"/>
            <a:ext cx="5901924" cy="983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9468" y="548680"/>
            <a:ext cx="1946948" cy="2705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26866">
            <a:off x="5659698" y="1234231"/>
            <a:ext cx="1255713" cy="207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7118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404664"/>
            <a:ext cx="5832648" cy="5753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84494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404664"/>
            <a:ext cx="5832648" cy="5753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5445224"/>
            <a:ext cx="1274763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49705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425" y="150813"/>
            <a:ext cx="4629150" cy="655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4844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88640"/>
            <a:ext cx="5904656" cy="5263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5563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88640"/>
            <a:ext cx="5904656" cy="5263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83753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88640"/>
            <a:ext cx="5904656" cy="5263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89552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908720"/>
            <a:ext cx="7846254" cy="1872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39290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467544" y="332656"/>
            <a:ext cx="8352928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 smtClean="0">
                <a:latin typeface="Arial" pitchFamily="34" charset="0"/>
                <a:cs typeface="Arial" pitchFamily="34" charset="0"/>
              </a:rPr>
              <a:t>RESOLUÇÃO:</a:t>
            </a:r>
          </a:p>
          <a:p>
            <a:r>
              <a:rPr lang="pt-BR" sz="2400" dirty="0" smtClean="0">
                <a:latin typeface="Arial" pitchFamily="34" charset="0"/>
                <a:cs typeface="Arial" pitchFamily="34" charset="0"/>
              </a:rPr>
              <a:t>a) O suspeito que possivelmente cometeu o crime foi o de número 3, pois de acordo com o exame apresentado este indivíduo possui as bandas de DNA compatíveis com a amostra encontrada no local do crime, o que indica que o material biológico coletado pertence a ele.</a:t>
            </a:r>
          </a:p>
          <a:p>
            <a:endParaRPr lang="pt-BR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2400" dirty="0" smtClean="0">
                <a:latin typeface="Arial" pitchFamily="34" charset="0"/>
                <a:cs typeface="Arial" pitchFamily="34" charset="0"/>
              </a:rPr>
              <a:t>b) Para um exame de DNA não devemos utilizar plaquetas porque este elemento figurado do sangue não possui núcleo e consequentemente não apresenta material genético (DNA). Já a utilização do DNA mitocondrial também não é ideal para identificação do criminoso uma vez que este material é encontrado em toda a linhagem materna de uma família igualmente, isto é, o DNA da mitocôndria é o mesmo em todos os indivíduos quando considera-se a linhagem materna (é transmitido de mãe para os filhos e filhas).</a:t>
            </a:r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5170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59744"/>
            <a:ext cx="4392488" cy="6753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4898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59744"/>
            <a:ext cx="4392488" cy="6753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338" y="5877272"/>
            <a:ext cx="1274763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17513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252</Words>
  <Application>Microsoft Office PowerPoint</Application>
  <PresentationFormat>Apresentação na tela (4:3)</PresentationFormat>
  <Paragraphs>12</Paragraphs>
  <Slides>26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27" baseType="lpstr">
      <vt:lpstr>Tema do Office</vt:lpstr>
      <vt:lpstr>Tarefa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Resposta esperada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Tarefa </dc:title>
  <dc:creator>ISMAEL</dc:creator>
  <cp:lastModifiedBy>ISMAEL</cp:lastModifiedBy>
  <cp:revision>17</cp:revision>
  <dcterms:created xsi:type="dcterms:W3CDTF">2026-05-18T23:10:37Z</dcterms:created>
  <dcterms:modified xsi:type="dcterms:W3CDTF">2026-05-18T23:45:11Z</dcterms:modified>
</cp:coreProperties>
</file>