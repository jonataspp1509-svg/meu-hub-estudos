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0" r:id="rId1"/>
  </p:sldMasterIdLst>
  <p:sldIdLst>
    <p:sldId id="274" r:id="rId2"/>
    <p:sldId id="275" r:id="rId3"/>
    <p:sldId id="259" r:id="rId4"/>
    <p:sldId id="260" r:id="rId5"/>
    <p:sldId id="261" r:id="rId6"/>
    <p:sldId id="276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78" r:id="rId15"/>
    <p:sldId id="268" r:id="rId16"/>
    <p:sldId id="279" r:id="rId17"/>
    <p:sldId id="280" r:id="rId18"/>
    <p:sldId id="269" r:id="rId19"/>
    <p:sldId id="270" r:id="rId20"/>
    <p:sldId id="281" r:id="rId21"/>
    <p:sldId id="271" r:id="rId22"/>
    <p:sldId id="272" r:id="rId23"/>
    <p:sldId id="282" r:id="rId24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5CDA5-B35A-4F90-972B-1BAA9BF0F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9D6C7-14BF-40D1-8436-812B12FE6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41DC06-805B-46FD-9D20-A8271FEC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C9A94-1F9B-4CE7-A31E-F4641EFA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C15FAD-5FF0-489B-94E3-8BF15CBE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221608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4C2E4-4E6E-4EBF-B138-BDF765D4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E077E0-FE25-4037-A3C2-D32068A2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3D5928-B500-40BC-B67C-0727D8F6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1C7731-7A13-4ABD-94C1-BF285D3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35CD30-3A02-4627-8C1B-C1DDAE09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119740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606B0-52F9-4F9F-B05A-386AA4A2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5161CD-FDC3-4C99-8417-AEDE6045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C7FBEA-F5B8-40DD-B254-A0C657F5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A6986-274E-4214-944F-6F11B7B4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E56AEA-9C0A-484F-B0AC-3A9AA4CC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216071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537C7-99F7-4F56-8AFE-47FE9F01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3CBA8-64AC-42CD-A7EF-288A242C4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69380-9301-4EA7-AC8F-B7762DC87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1B423F-7BED-43A2-AB8C-017E13B9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0C0972-33B6-4E4A-9B5F-D9A103EF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EFA119-987E-4E43-9036-954D2D21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160704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FBAAC-E778-4483-9343-685847BD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E028A3-5BC2-4F6A-9D48-6D42B9507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4EFCD8-9E64-441B-91C7-DCC8BCCA1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8B2ED5-9E49-475D-8FC5-B38DA14F3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C21873-BFA1-4A38-BC79-F6117B9E0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7AA1C46-AE95-4315-B14B-4C57AD7B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A1DE1D-5CD9-4814-9A85-13C9E4C0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A4E65C-3836-4234-B51F-45EA963F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413155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0451E-8558-42D7-8CF4-15C2C1E8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7AAA89-1DFE-41C0-90A0-E837319E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7AFB40-CB6C-4F28-98B0-D50B08AA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E43D14-FCB8-42C3-AF14-3B0C454A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78278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974BC6-9BD9-465B-B1E9-4D0F688A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1885EA-7658-4C18-B9BE-D79F776E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A9AD33-5F3E-41F5-AB65-6017797C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5824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CAA65-3088-48D2-AB3C-906D959D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3F568-0FC0-435A-814E-EC1C4E80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36BFF3-1E79-4729-93BA-56AC7CB10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161CBA-34B3-4521-8FB2-AA782495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E24369-4A3B-45DE-9A8A-F44BBC6F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75684D-5021-483A-BEB7-94246594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293800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53AAB-564C-4515-A732-D839EFCE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9D7D6C-6E28-4661-A29C-CECEC7DE9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BBF776-FFED-4480-AB83-7FD21BD0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AD2C7-FEF5-42FE-BD5E-276C73E9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AE8695-3E85-4AFC-B015-E89A9FF8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8DE05C-DEF1-4A09-9436-6DCD0E43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223875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A09BE-3CA8-436C-B0CB-9B2B3956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98AE53-B473-4CB9-9B95-C334E283C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A626A8-2D8D-4681-8899-D5379B32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B96F71-17AA-42EB-AA17-179CEE27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F44A8C-9E6D-43A5-9A9A-8C117F77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30801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CEBF03-50FF-4AD0-AA56-0F56774E3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CC6E2C-EE31-4797-9FB5-9CDED1383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36008D-1BA0-427B-9E83-0529BC701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388C14-E9E4-4A55-868B-E99B09E2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5DBC14-7C74-4355-A5E0-04C134F5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874074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‹nº›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320259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‹nº›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298644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00AE92-64BC-49F1-B14B-973F5B56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2E7D1E-E19D-4F0E-9F11-2CAF82828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BA7396-F43E-4641-9D29-A86687B16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8/1/2022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1CF4BB-FE91-4876-9A03-8FF0E2188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D123C4-DC5A-4D78-9055-DEDD1A5B2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lang="pt-BR" spc="5" smtClean="0"/>
              <a:t>‹nº›</a:t>
            </a:fld>
            <a:endParaRPr lang="pt-BR" spc="5" dirty="0"/>
          </a:p>
        </p:txBody>
      </p:sp>
    </p:spTree>
    <p:extLst>
      <p:ext uri="{BB962C8B-B14F-4D97-AF65-F5344CB8AC3E}">
        <p14:creationId xmlns:p14="http://schemas.microsoft.com/office/powerpoint/2010/main" val="366438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29893"/>
            <a:ext cx="7712075" cy="2108782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r>
              <a:rPr sz="2800" spc="5" dirty="0">
                <a:latin typeface="Lucida Sans Unicode"/>
                <a:cs typeface="Lucida Sans Unicode"/>
              </a:rPr>
              <a:t>Agora, </a:t>
            </a:r>
            <a:r>
              <a:rPr sz="2800" spc="-5" dirty="0">
                <a:latin typeface="Lucida Sans Unicode"/>
                <a:cs typeface="Lucida Sans Unicode"/>
              </a:rPr>
              <a:t>todas </a:t>
            </a:r>
            <a:r>
              <a:rPr sz="2800" spc="5" dirty="0">
                <a:latin typeface="Lucida Sans Unicode"/>
                <a:cs typeface="Lucida Sans Unicode"/>
              </a:rPr>
              <a:t>as </a:t>
            </a:r>
            <a:r>
              <a:rPr sz="2800" dirty="0">
                <a:latin typeface="Lucida Sans Unicode"/>
                <a:cs typeface="Lucida Sans Unicode"/>
              </a:rPr>
              <a:t>cidades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perderam </a:t>
            </a:r>
            <a:r>
              <a:rPr sz="2800" spc="-5" dirty="0">
                <a:latin typeface="Lucida Sans Unicode"/>
                <a:cs typeface="Lucida Sans Unicode"/>
              </a:rPr>
              <a:t>sua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independência</a:t>
            </a:r>
            <a:r>
              <a:rPr sz="2800" spc="-5" dirty="0">
                <a:latin typeface="Lucida Sans Unicode"/>
                <a:cs typeface="Lucida Sans Unicode"/>
              </a:rPr>
              <a:t>, uma </a:t>
            </a:r>
            <a:r>
              <a:rPr sz="2800" spc="5" dirty="0">
                <a:latin typeface="Lucida Sans Unicode"/>
                <a:cs typeface="Lucida Sans Unicode"/>
              </a:rPr>
              <a:t>vez </a:t>
            </a:r>
            <a:r>
              <a:rPr sz="2800" dirty="0">
                <a:latin typeface="Lucida Sans Unicode"/>
                <a:cs typeface="Lucida Sans Unicode"/>
              </a:rPr>
              <a:t>que </a:t>
            </a:r>
            <a:r>
              <a:rPr sz="2800" spc="5" dirty="0">
                <a:latin typeface="Lucida Sans Unicode"/>
                <a:cs typeface="Lucida Sans Unicode"/>
              </a:rPr>
              <a:t> passaram</a:t>
            </a:r>
            <a:r>
              <a:rPr sz="2800" spc="-6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-1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obedecer</a:t>
            </a:r>
            <a:r>
              <a:rPr sz="2800" spc="-1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10" dirty="0">
                <a:latin typeface="Lucida Sans Unicode"/>
                <a:cs typeface="Lucida Sans Unicode"/>
              </a:rPr>
              <a:t> um</a:t>
            </a:r>
            <a:r>
              <a:rPr sz="2800" spc="-25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poder</a:t>
            </a:r>
            <a:r>
              <a:rPr sz="28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central</a:t>
            </a:r>
            <a:r>
              <a:rPr sz="2800" dirty="0">
                <a:latin typeface="Lucida Sans Unicode"/>
                <a:cs typeface="Lucida Sans Unicode"/>
              </a:rPr>
              <a:t>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2" y="568354"/>
            <a:ext cx="5542032" cy="4185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207866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29893"/>
            <a:ext cx="7712709" cy="3272178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dirty="0">
                <a:latin typeface="Lucida Sans Unicode"/>
                <a:cs typeface="Lucida Sans Unicode"/>
              </a:rPr>
              <a:t>cidadão grego </a:t>
            </a:r>
            <a:r>
              <a:rPr sz="2800" spc="-5" dirty="0">
                <a:latin typeface="Lucida Sans Unicode"/>
                <a:cs typeface="Lucida Sans Unicode"/>
              </a:rPr>
              <a:t>já </a:t>
            </a:r>
            <a:r>
              <a:rPr sz="2800" spc="5" dirty="0">
                <a:latin typeface="Lucida Sans Unicode"/>
                <a:cs typeface="Lucida Sans Unicode"/>
              </a:rPr>
              <a:t>não </a:t>
            </a:r>
            <a:r>
              <a:rPr sz="2800" dirty="0">
                <a:latin typeface="Lucida Sans Unicode"/>
                <a:cs typeface="Lucida Sans Unicode"/>
              </a:rPr>
              <a:t>podia </a:t>
            </a:r>
            <a:r>
              <a:rPr sz="2800" spc="-10" dirty="0">
                <a:latin typeface="Lucida Sans Unicode"/>
                <a:cs typeface="Lucida Sans Unicode"/>
              </a:rPr>
              <a:t>mais </a:t>
            </a:r>
            <a:r>
              <a:rPr sz="2800" dirty="0">
                <a:latin typeface="Lucida Sans Unicode"/>
                <a:cs typeface="Lucida Sans Unicode"/>
              </a:rPr>
              <a:t>decidir o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destino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cidade,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nos</a:t>
            </a:r>
            <a:r>
              <a:rPr sz="2800" dirty="0">
                <a:latin typeface="Lucida Sans Unicode"/>
                <a:cs typeface="Lucida Sans Unicode"/>
              </a:rPr>
              <a:t> coloca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15" dirty="0">
                <a:latin typeface="Lucida Sans Unicode"/>
                <a:cs typeface="Lucida Sans Unicode"/>
              </a:rPr>
              <a:t>na 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segunda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alteração</a:t>
            </a:r>
            <a:r>
              <a:rPr sz="2800" dirty="0">
                <a:latin typeface="Lucida Sans Unicode"/>
                <a:cs typeface="Lucida Sans Unicode"/>
              </a:rPr>
              <a:t>: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reflexão</a:t>
            </a:r>
            <a:r>
              <a:rPr sz="2800" dirty="0">
                <a:latin typeface="Lucida Sans Unicode"/>
                <a:cs typeface="Lucida Sans Unicode"/>
              </a:rPr>
              <a:t> filosófica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voltou-se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para</a:t>
            </a:r>
            <a:r>
              <a:rPr sz="2800" spc="5" dirty="0">
                <a:latin typeface="Lucida Sans Unicode"/>
                <a:cs typeface="Lucida Sans Unicode"/>
              </a:rPr>
              <a:t> a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vida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interior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ser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humano.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As</a:t>
            </a:r>
            <a:r>
              <a:rPr sz="2800" dirty="0">
                <a:latin typeface="Lucida Sans Unicode"/>
                <a:cs typeface="Lucida Sans Unicode"/>
              </a:rPr>
              <a:t> preocupações</a:t>
            </a:r>
            <a:r>
              <a:rPr sz="2800" spc="89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coletivas </a:t>
            </a:r>
            <a:r>
              <a:rPr sz="2800" dirty="0">
                <a:latin typeface="Lucida Sans Unicode"/>
                <a:cs typeface="Lucida Sans Unicode"/>
              </a:rPr>
              <a:t> cederam </a:t>
            </a:r>
            <a:r>
              <a:rPr sz="2800" spc="-5" dirty="0">
                <a:latin typeface="Lucida Sans Unicode"/>
                <a:cs typeface="Lucida Sans Unicode"/>
              </a:rPr>
              <a:t>lugar para </a:t>
            </a:r>
            <a:r>
              <a:rPr sz="2800" spc="5" dirty="0">
                <a:latin typeface="Lucida Sans Unicode"/>
                <a:cs typeface="Lucida Sans Unicode"/>
              </a:rPr>
              <a:t>as </a:t>
            </a:r>
            <a:r>
              <a:rPr sz="2800" dirty="0">
                <a:latin typeface="Lucida Sans Unicode"/>
                <a:cs typeface="Lucida Sans Unicode"/>
              </a:rPr>
              <a:t>individuais.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2" y="568354"/>
            <a:ext cx="5542032" cy="4185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2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1307813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29893"/>
            <a:ext cx="7712709" cy="288437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90000"/>
              </a:lnSpc>
              <a:spcBef>
                <a:spcPts val="440"/>
              </a:spcBef>
            </a:pP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dirty="0">
                <a:latin typeface="Lucida Sans Unicode"/>
                <a:cs typeface="Lucida Sans Unicode"/>
              </a:rPr>
              <a:t>que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importava </a:t>
            </a:r>
            <a:r>
              <a:rPr sz="2800" dirty="0">
                <a:latin typeface="Lucida Sans Unicode"/>
                <a:cs typeface="Lucida Sans Unicode"/>
              </a:rPr>
              <a:t>era a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individualidade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 </a:t>
            </a:r>
            <a:r>
              <a:rPr sz="2800" spc="5" dirty="0">
                <a:latin typeface="Lucida Sans Unicode"/>
                <a:cs typeface="Lucida Sans Unicode"/>
              </a:rPr>
              <a:t>as </a:t>
            </a:r>
            <a:r>
              <a:rPr sz="2800" spc="-5" dirty="0">
                <a:latin typeface="Lucida Sans Unicode"/>
                <a:cs typeface="Lucida Sans Unicode"/>
              </a:rPr>
              <a:t>regras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conduta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pelas</a:t>
            </a:r>
            <a:r>
              <a:rPr sz="2800" dirty="0">
                <a:latin typeface="Lucida Sans Unicode"/>
                <a:cs typeface="Lucida Sans Unicode"/>
              </a:rPr>
              <a:t> quais</a:t>
            </a:r>
            <a:r>
              <a:rPr sz="2800" spc="5" dirty="0">
                <a:latin typeface="Lucida Sans Unicode"/>
                <a:cs typeface="Lucida Sans Unicode"/>
              </a:rPr>
              <a:t> as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pessoas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poderiam </a:t>
            </a:r>
            <a:r>
              <a:rPr sz="2800" spc="-5" dirty="0">
                <a:latin typeface="Lucida Sans Unicode"/>
                <a:cs typeface="Lucida Sans Unicode"/>
              </a:rPr>
              <a:t>alcançar </a:t>
            </a:r>
            <a:r>
              <a:rPr sz="2800" dirty="0">
                <a:latin typeface="Lucida Sans Unicode"/>
                <a:cs typeface="Lucida Sans Unicode"/>
              </a:rPr>
              <a:t>a felicidade </a:t>
            </a:r>
            <a:r>
              <a:rPr sz="2800" spc="-5" dirty="0">
                <a:latin typeface="Lucida Sans Unicode"/>
                <a:cs typeface="Lucida Sans Unicode"/>
              </a:rPr>
              <a:t>interior, </a:t>
            </a:r>
            <a:r>
              <a:rPr sz="2800" dirty="0">
                <a:latin typeface="Lucida Sans Unicode"/>
                <a:cs typeface="Lucida Sans Unicode"/>
              </a:rPr>
              <a:t>fato </a:t>
            </a:r>
            <a:r>
              <a:rPr sz="2800" spc="5" dirty="0">
                <a:latin typeface="Lucida Sans Unicode"/>
                <a:cs typeface="Lucida Sans Unicode"/>
              </a:rPr>
              <a:t> que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tornou</a:t>
            </a:r>
            <a:r>
              <a:rPr sz="2800" spc="5" dirty="0">
                <a:latin typeface="Lucida Sans Unicode"/>
                <a:cs typeface="Lucida Sans Unicode"/>
              </a:rPr>
              <a:t> a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filosofia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uma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espécie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de </a:t>
            </a:r>
            <a:r>
              <a:rPr sz="2800" spc="1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“receituário</a:t>
            </a:r>
            <a:r>
              <a:rPr sz="2800" spc="-3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da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arte</a:t>
            </a:r>
            <a:r>
              <a:rPr sz="2800" spc="-2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viver</a:t>
            </a:r>
            <a:r>
              <a:rPr sz="28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bem</a:t>
            </a:r>
            <a:r>
              <a:rPr sz="2800" dirty="0">
                <a:latin typeface="Lucida Sans Unicode"/>
                <a:cs typeface="Lucida Sans Unicode"/>
              </a:rPr>
              <a:t>”.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2" y="568354"/>
            <a:ext cx="5542032" cy="4185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3</a:t>
            </a:fld>
            <a:endParaRPr spc="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-1721919"/>
            <a:ext cx="7543800" cy="345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marR="5080" indent="-256540">
              <a:lnSpc>
                <a:spcPct val="100000"/>
              </a:lnSpc>
              <a:spcBef>
                <a:spcPts val="95"/>
              </a:spcBef>
              <a:tabLst>
                <a:tab pos="676275" algn="l"/>
                <a:tab pos="2027555" algn="l"/>
                <a:tab pos="3341370" algn="l"/>
                <a:tab pos="4716780" algn="l"/>
                <a:tab pos="5237480" algn="l"/>
                <a:tab pos="7814309" algn="l"/>
              </a:tabLst>
            </a:pPr>
            <a:r>
              <a:rPr lang="pt-BR" spc="-5" dirty="0"/>
              <a:t/>
            </a:r>
            <a:br>
              <a:rPr lang="pt-BR" spc="-5" dirty="0"/>
            </a:br>
            <a:r>
              <a:rPr lang="pt-BR" spc="-5" dirty="0"/>
              <a:t/>
            </a:r>
            <a:br>
              <a:rPr lang="pt-BR" spc="-5" dirty="0"/>
            </a:br>
            <a:r>
              <a:rPr lang="pt-BR" spc="-5" dirty="0"/>
              <a:t/>
            </a:r>
            <a:br>
              <a:rPr lang="pt-BR" spc="-5" dirty="0"/>
            </a:br>
            <a:r>
              <a:rPr lang="pt-BR" spc="-5" dirty="0"/>
              <a:t/>
            </a:r>
            <a:br>
              <a:rPr lang="pt-BR" spc="-5" dirty="0"/>
            </a:br>
            <a:r>
              <a:rPr lang="pt-BR" spc="-5" dirty="0"/>
              <a:t/>
            </a:r>
            <a:br>
              <a:rPr lang="pt-BR" spc="-5" dirty="0"/>
            </a:br>
            <a:r>
              <a:rPr lang="pt-BR" spc="-5" dirty="0"/>
              <a:t/>
            </a:r>
            <a:br>
              <a:rPr lang="pt-BR" spc="-5" dirty="0"/>
            </a:b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4</a:t>
            </a:fld>
            <a:endParaRPr spc="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792" y="568354"/>
            <a:ext cx="5542032" cy="41850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CB31AD0-360B-4944-9E04-10BFD0EC6959}"/>
              </a:ext>
            </a:extLst>
          </p:cNvPr>
          <p:cNvSpPr txBox="1"/>
          <p:nvPr/>
        </p:nvSpPr>
        <p:spPr>
          <a:xfrm>
            <a:off x="381000" y="2498636"/>
            <a:ext cx="8229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600" dirty="0"/>
              <a:t>   A	partir	disso	surge	o	</a:t>
            </a:r>
            <a:r>
              <a:rPr lang="pt-BR" sz="3600" dirty="0">
                <a:solidFill>
                  <a:srgbClr val="FF0000"/>
                </a:solidFill>
              </a:rPr>
              <a:t>Epicurismo</a:t>
            </a:r>
            <a:r>
              <a:rPr lang="pt-BR" sz="3600" dirty="0"/>
              <a:t>,	o      	</a:t>
            </a:r>
            <a:r>
              <a:rPr lang="pt-BR" sz="3600" dirty="0">
                <a:solidFill>
                  <a:srgbClr val="FF0000"/>
                </a:solidFill>
              </a:rPr>
              <a:t>Estoicismo</a:t>
            </a:r>
            <a:r>
              <a:rPr lang="pt-BR" sz="3600" dirty="0"/>
              <a:t>, o </a:t>
            </a:r>
            <a:r>
              <a:rPr lang="pt-BR" sz="3600" dirty="0">
                <a:solidFill>
                  <a:srgbClr val="FF0000"/>
                </a:solidFill>
              </a:rPr>
              <a:t>Pirronismo</a:t>
            </a:r>
            <a:r>
              <a:rPr lang="pt-BR" sz="3600" dirty="0"/>
              <a:t> e o </a:t>
            </a:r>
            <a:r>
              <a:rPr lang="pt-BR" sz="3600" dirty="0">
                <a:solidFill>
                  <a:srgbClr val="FF0000"/>
                </a:solidFill>
              </a:rPr>
              <a:t>Cinismo</a:t>
            </a:r>
            <a:r>
              <a:rPr lang="pt-BR" sz="36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63421"/>
            <a:ext cx="7712075" cy="4623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7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700" spc="5" dirty="0" err="1">
                <a:latin typeface="Lucida Sans Unicode"/>
                <a:cs typeface="Lucida Sans Unicode"/>
              </a:rPr>
              <a:t>Epicuro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(341-271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a.C.)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exaltou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latin typeface="Lucida Sans Unicode"/>
                <a:cs typeface="Lucida Sans Unicode"/>
              </a:rPr>
              <a:t>o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prazer, 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considerando-o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essencial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latin typeface="Lucida Sans Unicode"/>
                <a:cs typeface="Lucida Sans Unicode"/>
              </a:rPr>
              <a:t>à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felicidade,</a:t>
            </a:r>
            <a:r>
              <a:rPr sz="2700" dirty="0">
                <a:latin typeface="Lucida Sans Unicode"/>
                <a:cs typeface="Lucida Sans Unicode"/>
              </a:rPr>
              <a:t> por 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isso</a:t>
            </a:r>
            <a:r>
              <a:rPr sz="2700" spc="5" dirty="0">
                <a:latin typeface="Lucida Sans Unicode"/>
                <a:cs typeface="Lucida Sans Unicode"/>
              </a:rPr>
              <a:t> é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considerado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o </a:t>
            </a:r>
            <a:r>
              <a:rPr sz="27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fundador</a:t>
            </a:r>
            <a:r>
              <a:rPr sz="2700" spc="844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FF0000"/>
                </a:solidFill>
                <a:latin typeface="Lucida Sans Unicode"/>
                <a:cs typeface="Lucida Sans Unicode"/>
              </a:rPr>
              <a:t>do </a:t>
            </a:r>
            <a:r>
              <a:rPr sz="27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700" dirty="0">
                <a:solidFill>
                  <a:srgbClr val="FF0000"/>
                </a:solidFill>
                <a:latin typeface="Lucida Sans Unicode"/>
                <a:cs typeface="Lucida Sans Unicode"/>
              </a:rPr>
              <a:t>Hedonismo</a:t>
            </a:r>
            <a:r>
              <a:rPr sz="2700" dirty="0">
                <a:latin typeface="Lucida Sans Unicode"/>
                <a:cs typeface="Lucida Sans Unicode"/>
              </a:rPr>
              <a:t>, </a:t>
            </a:r>
            <a:r>
              <a:rPr sz="2700" spc="-5" dirty="0">
                <a:latin typeface="Lucida Sans Unicode"/>
                <a:cs typeface="Lucida Sans Unicode"/>
              </a:rPr>
              <a:t>doutrina que considera </a:t>
            </a:r>
            <a:r>
              <a:rPr sz="2700" spc="5" dirty="0">
                <a:latin typeface="Lucida Sans Unicode"/>
                <a:cs typeface="Lucida Sans Unicode"/>
              </a:rPr>
              <a:t>o </a:t>
            </a:r>
            <a:r>
              <a:rPr sz="2700" spc="-10" dirty="0">
                <a:latin typeface="Lucida Sans Unicode"/>
                <a:cs typeface="Lucida Sans Unicode"/>
              </a:rPr>
              <a:t>prazer 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como </a:t>
            </a:r>
            <a:r>
              <a:rPr sz="2700" spc="5" dirty="0">
                <a:latin typeface="Lucida Sans Unicode"/>
                <a:cs typeface="Lucida Sans Unicode"/>
              </a:rPr>
              <a:t>o </a:t>
            </a:r>
            <a:r>
              <a:rPr sz="27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único </a:t>
            </a:r>
            <a:r>
              <a:rPr sz="27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bem </a:t>
            </a:r>
            <a:r>
              <a:rPr sz="2700" spc="5" dirty="0">
                <a:latin typeface="Lucida Sans Unicode"/>
                <a:cs typeface="Lucida Sans Unicode"/>
              </a:rPr>
              <a:t>a ser </a:t>
            </a:r>
            <a:r>
              <a:rPr sz="2700" spc="-5" dirty="0">
                <a:latin typeface="Lucida Sans Unicode"/>
                <a:cs typeface="Lucida Sans Unicode"/>
              </a:rPr>
              <a:t>desejado. </a:t>
            </a:r>
            <a:endParaRPr lang="pt-BR" sz="27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7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700" spc="5" dirty="0">
                <a:latin typeface="Lucida Sans Unicode"/>
                <a:cs typeface="Lucida Sans Unicode"/>
              </a:rPr>
              <a:t>O </a:t>
            </a:r>
            <a:r>
              <a:rPr sz="2700" spc="-5" dirty="0">
                <a:latin typeface="Lucida Sans Unicode"/>
                <a:cs typeface="Lucida Sans Unicode"/>
              </a:rPr>
              <a:t>filósofo 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defendia</a:t>
            </a:r>
            <a:r>
              <a:rPr sz="2700" dirty="0">
                <a:latin typeface="Lucida Sans Unicode"/>
                <a:cs typeface="Lucida Sans Unicode"/>
              </a:rPr>
              <a:t> uma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administração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racional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do 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prazer, </a:t>
            </a:r>
            <a:r>
              <a:rPr sz="2700" dirty="0">
                <a:latin typeface="Lucida Sans Unicode"/>
                <a:cs typeface="Lucida Sans Unicode"/>
              </a:rPr>
              <a:t>evitando </a:t>
            </a:r>
            <a:r>
              <a:rPr sz="2700" spc="-5" dirty="0">
                <a:latin typeface="Lucida Sans Unicode"/>
                <a:cs typeface="Lucida Sans Unicode"/>
              </a:rPr>
              <a:t>ceder </a:t>
            </a:r>
            <a:r>
              <a:rPr sz="2700" spc="-15" dirty="0">
                <a:latin typeface="Lucida Sans Unicode"/>
                <a:cs typeface="Lucida Sans Unicode"/>
              </a:rPr>
              <a:t>aos </a:t>
            </a:r>
            <a:r>
              <a:rPr sz="2700" spc="-5" dirty="0">
                <a:latin typeface="Lucida Sans Unicode"/>
                <a:cs typeface="Lucida Sans Unicode"/>
              </a:rPr>
              <a:t>desejos insaciáveis </a:t>
            </a:r>
            <a:r>
              <a:rPr sz="2700" spc="-8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que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terminam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em</a:t>
            </a:r>
            <a:r>
              <a:rPr sz="270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sofrimento.</a:t>
            </a:r>
            <a:r>
              <a:rPr sz="2700" dirty="0">
                <a:latin typeface="Lucida Sans Unicode"/>
                <a:cs typeface="Lucida Sans Unicode"/>
              </a:rPr>
              <a:t>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402" y="589767"/>
            <a:ext cx="3307860" cy="4915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5</a:t>
            </a:fld>
            <a:endParaRPr spc="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63421"/>
            <a:ext cx="7712075" cy="29610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7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7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7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700" dirty="0" err="1">
                <a:latin typeface="Lucida Sans Unicode"/>
                <a:cs typeface="Lucida Sans Unicode"/>
              </a:rPr>
              <a:t>Assim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5" dirty="0">
                <a:latin typeface="Lucida Sans Unicode"/>
                <a:cs typeface="Lucida Sans Unicode"/>
              </a:rPr>
              <a:t> o </a:t>
            </a:r>
            <a:r>
              <a:rPr sz="2700" spc="-8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sentido </a:t>
            </a:r>
            <a:r>
              <a:rPr sz="2700" spc="5" dirty="0">
                <a:latin typeface="Lucida Sans Unicode"/>
                <a:cs typeface="Lucida Sans Unicode"/>
              </a:rPr>
              <a:t>da </a:t>
            </a:r>
            <a:r>
              <a:rPr sz="2700" dirty="0">
                <a:latin typeface="Lucida Sans Unicode"/>
                <a:cs typeface="Lucida Sans Unicode"/>
              </a:rPr>
              <a:t>vida não era </a:t>
            </a:r>
            <a:r>
              <a:rPr sz="2700" spc="5" dirty="0">
                <a:latin typeface="Lucida Sans Unicode"/>
                <a:cs typeface="Lucida Sans Unicode"/>
              </a:rPr>
              <a:t>a </a:t>
            </a:r>
            <a:r>
              <a:rPr sz="2700" dirty="0">
                <a:latin typeface="Lucida Sans Unicode"/>
                <a:cs typeface="Lucida Sans Unicode"/>
              </a:rPr>
              <a:t>busca </a:t>
            </a:r>
            <a:r>
              <a:rPr sz="2700" spc="5" dirty="0">
                <a:latin typeface="Lucida Sans Unicode"/>
                <a:cs typeface="Lucida Sans Unicode"/>
              </a:rPr>
              <a:t>do </a:t>
            </a:r>
            <a:r>
              <a:rPr sz="2700" spc="-5" dirty="0">
                <a:latin typeface="Lucida Sans Unicode"/>
                <a:cs typeface="Lucida Sans Unicode"/>
              </a:rPr>
              <a:t>prazer </a:t>
            </a:r>
            <a:r>
              <a:rPr sz="2700" dirty="0">
                <a:latin typeface="Lucida Sans Unicode"/>
                <a:cs typeface="Lucida Sans Unicode"/>
              </a:rPr>
              <a:t> pelo </a:t>
            </a:r>
            <a:r>
              <a:rPr sz="2700" spc="-5" dirty="0">
                <a:latin typeface="Lucida Sans Unicode"/>
                <a:cs typeface="Lucida Sans Unicode"/>
              </a:rPr>
              <a:t>prazer, </a:t>
            </a:r>
            <a:r>
              <a:rPr sz="2700" dirty="0">
                <a:latin typeface="Lucida Sans Unicode"/>
                <a:cs typeface="Lucida Sans Unicode"/>
              </a:rPr>
              <a:t>mas </a:t>
            </a:r>
            <a:r>
              <a:rPr sz="2700" spc="5" dirty="0">
                <a:latin typeface="Lucida Sans Unicode"/>
                <a:cs typeface="Lucida Sans Unicode"/>
              </a:rPr>
              <a:t>se </a:t>
            </a:r>
            <a:r>
              <a:rPr sz="2700" spc="-5" dirty="0">
                <a:latin typeface="Lucida Sans Unicode"/>
                <a:cs typeface="Lucida Sans Unicode"/>
              </a:rPr>
              <a:t>refere </a:t>
            </a:r>
            <a:r>
              <a:rPr sz="2700" dirty="0">
                <a:latin typeface="Lucida Sans Unicode"/>
                <a:cs typeface="Lucida Sans Unicode"/>
              </a:rPr>
              <a:t>às </a:t>
            </a:r>
            <a:r>
              <a:rPr sz="2700" spc="-5" dirty="0">
                <a:latin typeface="Lucida Sans Unicode"/>
                <a:cs typeface="Lucida Sans Unicode"/>
              </a:rPr>
              <a:t>ações </a:t>
            </a:r>
            <a:r>
              <a:rPr sz="2700" dirty="0">
                <a:latin typeface="Lucida Sans Unicode"/>
                <a:cs typeface="Lucida Sans Unicode"/>
              </a:rPr>
              <a:t>que nos 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aproximam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latin typeface="Lucida Sans Unicode"/>
                <a:cs typeface="Lucida Sans Unicode"/>
              </a:rPr>
              <a:t>da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felicidade</a:t>
            </a:r>
            <a:r>
              <a:rPr sz="2700" spc="-90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latin typeface="Lucida Sans Unicode"/>
                <a:cs typeface="Lucida Sans Unicode"/>
              </a:rPr>
              <a:t>e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que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evitam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5" dirty="0">
                <a:latin typeface="Lucida Sans Unicode"/>
                <a:cs typeface="Lucida Sans Unicode"/>
              </a:rPr>
              <a:t>a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dor.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402" y="589767"/>
            <a:ext cx="3307860" cy="4915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6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319415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290650"/>
            <a:ext cx="7841615" cy="47923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800" spc="5" dirty="0">
                <a:latin typeface="Lucida Sans Unicode"/>
                <a:cs typeface="Lucida Sans Unicode"/>
              </a:rPr>
              <a:t>Para</a:t>
            </a:r>
            <a:r>
              <a:rPr sz="2800" spc="60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Epicuro,</a:t>
            </a:r>
            <a:r>
              <a:rPr sz="2800" spc="6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existem</a:t>
            </a:r>
            <a:r>
              <a:rPr sz="2800" spc="58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três</a:t>
            </a:r>
            <a:r>
              <a:rPr sz="2800" spc="6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tipos</a:t>
            </a:r>
            <a:r>
              <a:rPr sz="2800" spc="57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59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prazer: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1º</a:t>
            </a:r>
            <a:r>
              <a:rPr sz="2800" spc="5" dirty="0">
                <a:latin typeface="Lucida Sans Unicode"/>
                <a:cs typeface="Lucida Sans Unicode"/>
              </a:rPr>
              <a:t> -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os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naturais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e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necessários</a:t>
            </a:r>
            <a:r>
              <a:rPr sz="2800" dirty="0">
                <a:latin typeface="Lucida Sans Unicode"/>
                <a:cs typeface="Lucida Sans Unicode"/>
              </a:rPr>
              <a:t>: são </a:t>
            </a:r>
            <a:r>
              <a:rPr sz="2800" spc="-5" dirty="0">
                <a:latin typeface="Lucida Sans Unicode"/>
                <a:cs typeface="Lucida Sans Unicode"/>
              </a:rPr>
              <a:t>aqueles </a:t>
            </a:r>
            <a:r>
              <a:rPr sz="2800" dirty="0">
                <a:latin typeface="Lucida Sans Unicode"/>
                <a:cs typeface="Lucida Sans Unicode"/>
              </a:rPr>
              <a:t> ligados à conservação </a:t>
            </a:r>
            <a:r>
              <a:rPr sz="2800" spc="5" dirty="0">
                <a:latin typeface="Lucida Sans Unicode"/>
                <a:cs typeface="Lucida Sans Unicode"/>
              </a:rPr>
              <a:t>da </a:t>
            </a:r>
            <a:r>
              <a:rPr sz="2800" dirty="0">
                <a:latin typeface="Lucida Sans Unicode"/>
                <a:cs typeface="Lucida Sans Unicode"/>
              </a:rPr>
              <a:t>vida, </a:t>
            </a:r>
            <a:r>
              <a:rPr sz="2800" spc="-5" dirty="0">
                <a:latin typeface="Lucida Sans Unicode"/>
                <a:cs typeface="Lucida Sans Unicode"/>
              </a:rPr>
              <a:t>são </a:t>
            </a:r>
            <a:r>
              <a:rPr sz="2800" dirty="0">
                <a:latin typeface="Lucida Sans Unicode"/>
                <a:cs typeface="Lucida Sans Unicode"/>
              </a:rPr>
              <a:t>os únicos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válidos, </a:t>
            </a:r>
            <a:r>
              <a:rPr sz="2800" spc="5" dirty="0">
                <a:latin typeface="Lucida Sans Unicode"/>
                <a:cs typeface="Lucida Sans Unicode"/>
              </a:rPr>
              <a:t>por </a:t>
            </a:r>
            <a:r>
              <a:rPr sz="2800" spc="-5" dirty="0">
                <a:latin typeface="Lucida Sans Unicode"/>
                <a:cs typeface="Lucida Sans Unicode"/>
              </a:rPr>
              <a:t>exemplo, </a:t>
            </a:r>
            <a:r>
              <a:rPr sz="2800" dirty="0">
                <a:latin typeface="Lucida Sans Unicode"/>
                <a:cs typeface="Lucida Sans Unicode"/>
              </a:rPr>
              <a:t>comer </a:t>
            </a:r>
            <a:r>
              <a:rPr sz="2800" spc="5" dirty="0">
                <a:latin typeface="Lucida Sans Unicode"/>
                <a:cs typeface="Lucida Sans Unicode"/>
              </a:rPr>
              <a:t>e </a:t>
            </a:r>
            <a:r>
              <a:rPr sz="2800" spc="-5" dirty="0">
                <a:latin typeface="Lucida Sans Unicode"/>
                <a:cs typeface="Lucida Sans Unicode"/>
              </a:rPr>
              <a:t>beber </a:t>
            </a:r>
            <a:r>
              <a:rPr sz="2800" dirty="0">
                <a:latin typeface="Lucida Sans Unicode"/>
                <a:cs typeface="Lucida Sans Unicode"/>
              </a:rPr>
              <a:t>quando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se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tem</a:t>
            </a:r>
            <a:r>
              <a:rPr sz="2800" spc="5" dirty="0">
                <a:latin typeface="Lucida Sans Unicode"/>
                <a:cs typeface="Lucida Sans Unicode"/>
              </a:rPr>
              <a:t> fome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5" dirty="0" err="1">
                <a:latin typeface="Lucida Sans Unicode"/>
                <a:cs typeface="Lucida Sans Unicode"/>
              </a:rPr>
              <a:t>sede</a:t>
            </a:r>
            <a:r>
              <a:rPr lang="pt-BR" sz="2800" spc="5" dirty="0">
                <a:latin typeface="Lucida Sans Unicode"/>
                <a:cs typeface="Lucida Sans Unicode"/>
              </a:rPr>
              <a:t>.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endParaRPr lang="pt-BR" sz="2800" spc="1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800" spc="1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Lucida Sans Unicode"/>
                <a:cs typeface="Lucida Sans Unicode"/>
              </a:rPr>
              <a:t>2º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-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os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prazeres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naturais</a:t>
            </a:r>
            <a:r>
              <a:rPr sz="2800" dirty="0">
                <a:latin typeface="Lucida Sans Unicode"/>
                <a:cs typeface="Lucida Sans Unicode"/>
              </a:rPr>
              <a:t>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mas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não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necessários,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se </a:t>
            </a:r>
            <a:r>
              <a:rPr sz="2800" spc="1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resumem </a:t>
            </a:r>
            <a:r>
              <a:rPr sz="2800" spc="5" dirty="0">
                <a:latin typeface="Lucida Sans Unicode"/>
                <a:cs typeface="Lucida Sans Unicode"/>
              </a:rPr>
              <a:t>à </a:t>
            </a:r>
            <a:r>
              <a:rPr sz="2800" spc="-5" dirty="0">
                <a:latin typeface="Lucida Sans Unicode"/>
                <a:cs typeface="Lucida Sans Unicode"/>
              </a:rPr>
              <a:t>busca </a:t>
            </a:r>
            <a:r>
              <a:rPr sz="2800" spc="5" dirty="0">
                <a:latin typeface="Lucida Sans Unicode"/>
                <a:cs typeface="Lucida Sans Unicode"/>
              </a:rPr>
              <a:t>por </a:t>
            </a:r>
            <a:r>
              <a:rPr sz="2800" dirty="0">
                <a:latin typeface="Lucida Sans Unicode"/>
                <a:cs typeface="Lucida Sans Unicode"/>
              </a:rPr>
              <a:t>satisfação </a:t>
            </a:r>
            <a:r>
              <a:rPr sz="2800" spc="-5" dirty="0">
                <a:latin typeface="Lucida Sans Unicode"/>
                <a:cs typeface="Lucida Sans Unicode"/>
              </a:rPr>
              <a:t>dos desejos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supérfluos,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como</a:t>
            </a:r>
            <a:r>
              <a:rPr sz="2800" dirty="0">
                <a:latin typeface="Lucida Sans Unicode"/>
                <a:cs typeface="Lucida Sans Unicode"/>
              </a:rPr>
              <a:t> comer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beber</a:t>
            </a:r>
            <a:r>
              <a:rPr lang="pt-BR" sz="2800" dirty="0">
                <a:latin typeface="Lucida Sans Unicode"/>
                <a:cs typeface="Lucida Sans Unicode"/>
              </a:rPr>
              <a:t>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4973" y="458690"/>
            <a:ext cx="5615191" cy="512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7</a:t>
            </a:fld>
            <a:endParaRPr spc="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290650"/>
            <a:ext cx="7841615" cy="219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8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endParaRPr lang="pt-BR" sz="28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Lucida Sans Unicode"/>
                <a:cs typeface="Lucida Sans Unicode"/>
              </a:rPr>
              <a:t>3º </a:t>
            </a:r>
            <a:r>
              <a:rPr sz="2800" spc="5" dirty="0">
                <a:latin typeface="Lucida Sans Unicode"/>
                <a:cs typeface="Lucida Sans Unicode"/>
              </a:rPr>
              <a:t>-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os não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naturais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e </a:t>
            </a:r>
            <a:r>
              <a:rPr sz="28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não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necessários</a:t>
            </a:r>
            <a:r>
              <a:rPr sz="2800" dirty="0">
                <a:latin typeface="Lucida Sans Unicode"/>
                <a:cs typeface="Lucida Sans Unicode"/>
              </a:rPr>
              <a:t>, </a:t>
            </a:r>
            <a:r>
              <a:rPr sz="2800" spc="5" dirty="0">
                <a:latin typeface="Lucida Sans Unicode"/>
                <a:cs typeface="Lucida Sans Unicode"/>
              </a:rPr>
              <a:t>são </a:t>
            </a:r>
            <a:r>
              <a:rPr sz="2800" spc="-10" dirty="0">
                <a:latin typeface="Lucida Sans Unicode"/>
                <a:cs typeface="Lucida Sans Unicode"/>
              </a:rPr>
              <a:t>os </a:t>
            </a:r>
            <a:r>
              <a:rPr sz="2800" spc="-5" dirty="0">
                <a:latin typeface="Lucida Sans Unicode"/>
                <a:cs typeface="Lucida Sans Unicode"/>
              </a:rPr>
              <a:t>prazeres </a:t>
            </a:r>
            <a:r>
              <a:rPr sz="2800" dirty="0">
                <a:latin typeface="Lucida Sans Unicode"/>
                <a:cs typeface="Lucida Sans Unicode"/>
              </a:rPr>
              <a:t>vãos, </a:t>
            </a:r>
            <a:r>
              <a:rPr sz="2800" spc="-5" dirty="0">
                <a:latin typeface="Lucida Sans Unicode"/>
                <a:cs typeface="Lucida Sans Unicode"/>
              </a:rPr>
              <a:t>como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</a:t>
            </a:r>
            <a:r>
              <a:rPr sz="2800" dirty="0">
                <a:latin typeface="Lucida Sans Unicode"/>
                <a:cs typeface="Lucida Sans Unicode"/>
              </a:rPr>
              <a:t> desejo</a:t>
            </a:r>
            <a:r>
              <a:rPr sz="2800" spc="-3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riqueza</a:t>
            </a:r>
            <a:r>
              <a:rPr sz="2800" spc="-4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e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-3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poder.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4973" y="458690"/>
            <a:ext cx="5615191" cy="512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8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182515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038299"/>
            <a:ext cx="7710170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Lucida Sans Unicode"/>
                <a:cs typeface="Lucida Sans Unicode"/>
              </a:rPr>
              <a:t>Para Epicuro, a</a:t>
            </a:r>
            <a:r>
              <a:rPr sz="3200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felicidade </a:t>
            </a:r>
            <a:r>
              <a:rPr sz="3600" dirty="0">
                <a:latin typeface="Lucida Sans Unicode"/>
                <a:cs typeface="Lucida Sans Unicode"/>
              </a:rPr>
              <a:t>somente </a:t>
            </a:r>
            <a:r>
              <a:rPr sz="3600" spc="5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surge</a:t>
            </a:r>
            <a:r>
              <a:rPr sz="3600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quando</a:t>
            </a:r>
            <a:r>
              <a:rPr sz="3600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seguimos</a:t>
            </a:r>
            <a:r>
              <a:rPr sz="3600" dirty="0">
                <a:latin typeface="Lucida Sans Unicode"/>
                <a:cs typeface="Lucida Sans Unicode"/>
              </a:rPr>
              <a:t> </a:t>
            </a:r>
            <a:r>
              <a:rPr sz="3600" spc="15" dirty="0">
                <a:latin typeface="Lucida Sans Unicode"/>
                <a:cs typeface="Lucida Sans Unicode"/>
              </a:rPr>
              <a:t>os</a:t>
            </a:r>
            <a:r>
              <a:rPr sz="3600" spc="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3600" spc="2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prazeres</a:t>
            </a:r>
            <a:r>
              <a:rPr sz="3600" dirty="0">
                <a:solidFill>
                  <a:srgbClr val="FF0000"/>
                </a:solidFill>
                <a:latin typeface="Lucida Sans Unicode"/>
                <a:cs typeface="Lucida Sans Unicode"/>
              </a:rPr>
              <a:t> naturais</a:t>
            </a:r>
            <a:r>
              <a:rPr sz="36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e</a:t>
            </a:r>
            <a:r>
              <a:rPr sz="36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necessários</a:t>
            </a:r>
            <a:r>
              <a:rPr sz="3600" spc="-5" dirty="0">
                <a:latin typeface="Lucida Sans Unicode"/>
                <a:cs typeface="Lucida Sans Unicode"/>
              </a:rPr>
              <a:t>. </a:t>
            </a:r>
            <a:r>
              <a:rPr sz="3600" spc="-1125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Alguns</a:t>
            </a:r>
            <a:r>
              <a:rPr sz="3600" spc="1130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prazeres</a:t>
            </a:r>
            <a:r>
              <a:rPr sz="3600" spc="1130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causam</a:t>
            </a:r>
            <a:r>
              <a:rPr sz="3600" spc="1130" dirty="0">
                <a:latin typeface="Lucida Sans Unicode"/>
                <a:cs typeface="Lucida Sans Unicode"/>
              </a:rPr>
              <a:t> </a:t>
            </a:r>
            <a:r>
              <a:rPr sz="3600" dirty="0">
                <a:latin typeface="Lucida Sans Unicode"/>
                <a:cs typeface="Lucida Sans Unicode"/>
              </a:rPr>
              <a:t>mais </a:t>
            </a:r>
            <a:r>
              <a:rPr sz="3600" spc="5" dirty="0">
                <a:latin typeface="Lucida Sans Unicode"/>
                <a:cs typeface="Lucida Sans Unicode"/>
              </a:rPr>
              <a:t> </a:t>
            </a:r>
            <a:r>
              <a:rPr sz="3600" spc="-10" dirty="0">
                <a:latin typeface="Lucida Sans Unicode"/>
                <a:cs typeface="Lucida Sans Unicode"/>
              </a:rPr>
              <a:t>tristeza</a:t>
            </a:r>
            <a:r>
              <a:rPr sz="3600" spc="25" dirty="0">
                <a:latin typeface="Lucida Sans Unicode"/>
                <a:cs typeface="Lucida Sans Unicode"/>
              </a:rPr>
              <a:t> </a:t>
            </a:r>
            <a:r>
              <a:rPr sz="3600" spc="-5" dirty="0">
                <a:latin typeface="Lucida Sans Unicode"/>
                <a:cs typeface="Lucida Sans Unicode"/>
              </a:rPr>
              <a:t>do</a:t>
            </a:r>
            <a:r>
              <a:rPr sz="3600" spc="5" dirty="0">
                <a:latin typeface="Lucida Sans Unicode"/>
                <a:cs typeface="Lucida Sans Unicode"/>
              </a:rPr>
              <a:t> </a:t>
            </a:r>
            <a:r>
              <a:rPr sz="3600" spc="-10" dirty="0">
                <a:latin typeface="Lucida Sans Unicode"/>
                <a:cs typeface="Lucida Sans Unicode"/>
              </a:rPr>
              <a:t>que</a:t>
            </a:r>
            <a:r>
              <a:rPr sz="3600" spc="-5" dirty="0">
                <a:latin typeface="Lucida Sans Unicode"/>
                <a:cs typeface="Lucida Sans Unicode"/>
              </a:rPr>
              <a:t> felicidade.</a:t>
            </a:r>
            <a:endParaRPr sz="36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4014" y="568354"/>
            <a:ext cx="5740156" cy="4185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9</a:t>
            </a:fld>
            <a:endParaRPr spc="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593291"/>
            <a:ext cx="7710170" cy="44210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endParaRPr lang="pt-BR" sz="32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ucida Sans Unicode"/>
                <a:cs typeface="Lucida Sans Unicode"/>
              </a:rPr>
              <a:t>O Estoicismo</a:t>
            </a:r>
            <a:r>
              <a:rPr sz="2800" spc="10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foi fundado</a:t>
            </a:r>
            <a:r>
              <a:rPr sz="2800" spc="100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por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Zenão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de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Cício </a:t>
            </a:r>
            <a:r>
              <a:rPr sz="2800" spc="-5" dirty="0">
                <a:latin typeface="Lucida Sans Unicode"/>
                <a:cs typeface="Lucida Sans Unicode"/>
              </a:rPr>
              <a:t>(336-263 a.C) e foi a </a:t>
            </a:r>
            <a:r>
              <a:rPr sz="2800" spc="-10" dirty="0">
                <a:latin typeface="Lucida Sans Unicode"/>
                <a:cs typeface="Lucida Sans Unicode"/>
              </a:rPr>
              <a:t>corrente </a:t>
            </a:r>
            <a:r>
              <a:rPr sz="2800" spc="-10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filosófica</a:t>
            </a:r>
            <a:r>
              <a:rPr sz="2800" spc="-5" dirty="0">
                <a:latin typeface="Lucida Sans Unicode"/>
                <a:cs typeface="Lucida Sans Unicode"/>
              </a:rPr>
              <a:t> de</a:t>
            </a:r>
            <a:r>
              <a:rPr sz="2800" dirty="0">
                <a:latin typeface="Lucida Sans Unicode"/>
                <a:cs typeface="Lucida Sans Unicode"/>
              </a:rPr>
              <a:t> maior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influência</a:t>
            </a:r>
            <a:r>
              <a:rPr sz="2800" dirty="0">
                <a:latin typeface="Lucida Sans Unicode"/>
                <a:cs typeface="Lucida Sans Unicode"/>
              </a:rPr>
              <a:t> do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período </a:t>
            </a:r>
            <a:r>
              <a:rPr sz="2800" spc="-5" dirty="0">
                <a:latin typeface="Lucida Sans Unicode"/>
                <a:cs typeface="Lucida Sans Unicode"/>
              </a:rPr>
              <a:t>helenístico. </a:t>
            </a: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ucida Sans Unicode"/>
                <a:cs typeface="Lucida Sans Unicode"/>
              </a:rPr>
              <a:t>Para o Estoicismo, </a:t>
            </a:r>
            <a:r>
              <a:rPr sz="2800" spc="-10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tudo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era</a:t>
            </a:r>
            <a:r>
              <a:rPr sz="2800" spc="-5" dirty="0">
                <a:latin typeface="Lucida Sans Unicode"/>
                <a:cs typeface="Lucida Sans Unicode"/>
              </a:rPr>
              <a:t> governado</a:t>
            </a:r>
            <a:r>
              <a:rPr sz="2800" dirty="0">
                <a:latin typeface="Lucida Sans Unicode"/>
                <a:cs typeface="Lucida Sans Unicode"/>
              </a:rPr>
              <a:t> por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uma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força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universal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chamavam</a:t>
            </a:r>
            <a:r>
              <a:rPr sz="2800" dirty="0">
                <a:latin typeface="Lucida Sans Unicode"/>
                <a:cs typeface="Lucida Sans Unicode"/>
              </a:rPr>
              <a:t> de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providência</a:t>
            </a:r>
            <a:r>
              <a:rPr sz="2800" spc="-5" dirty="0">
                <a:latin typeface="Lucida Sans Unicode"/>
                <a:cs typeface="Lucida Sans Unicode"/>
              </a:rPr>
              <a:t>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equivalente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5" dirty="0">
                <a:latin typeface="Lucida Sans Unicode"/>
                <a:cs typeface="Lucida Sans Unicode"/>
              </a:rPr>
              <a:t>ao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20" dirty="0">
                <a:latin typeface="Lucida Sans Unicode"/>
                <a:cs typeface="Lucida Sans Unicode"/>
              </a:rPr>
              <a:t>se </a:t>
            </a:r>
            <a:r>
              <a:rPr sz="2800" spc="2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pode</a:t>
            </a:r>
            <a:r>
              <a:rPr sz="2800" spc="-15" dirty="0">
                <a:latin typeface="Lucida Sans Unicode"/>
                <a:cs typeface="Lucida Sans Unicode"/>
              </a:rPr>
              <a:t> chamar</a:t>
            </a:r>
            <a:r>
              <a:rPr sz="2800" spc="4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Deus</a:t>
            </a:r>
            <a:r>
              <a:rPr sz="2800" spc="-5" dirty="0">
                <a:latin typeface="Lucida Sans Unicode"/>
                <a:cs typeface="Lucida Sans Unicode"/>
              </a:rPr>
              <a:t>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8076" y="589762"/>
            <a:ext cx="3222513" cy="40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10</a:t>
            </a:fld>
            <a:endParaRPr spc="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547317"/>
            <a:ext cx="7706995" cy="3990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endParaRPr lang="pt-BR" sz="32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ucida Sans Unicode"/>
                <a:cs typeface="Lucida Sans Unicode"/>
              </a:rPr>
              <a:t>Para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os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estoicos,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há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coisas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dependem </a:t>
            </a:r>
            <a:r>
              <a:rPr sz="2800" spc="-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nós </a:t>
            </a:r>
            <a:r>
              <a:rPr sz="2800" spc="-5" dirty="0">
                <a:latin typeface="Lucida Sans Unicode"/>
                <a:cs typeface="Lucida Sans Unicode"/>
              </a:rPr>
              <a:t>e </a:t>
            </a:r>
            <a:r>
              <a:rPr sz="2800" dirty="0">
                <a:latin typeface="Lucida Sans Unicode"/>
                <a:cs typeface="Lucida Sans Unicode"/>
              </a:rPr>
              <a:t>há </a:t>
            </a:r>
            <a:r>
              <a:rPr sz="2800" spc="-10" dirty="0">
                <a:latin typeface="Lucida Sans Unicode"/>
                <a:cs typeface="Lucida Sans Unicode"/>
              </a:rPr>
              <a:t>coisas </a:t>
            </a:r>
            <a:r>
              <a:rPr sz="2800" dirty="0">
                <a:latin typeface="Lucida Sans Unicode"/>
                <a:cs typeface="Lucida Sans Unicode"/>
              </a:rPr>
              <a:t>que </a:t>
            </a:r>
            <a:r>
              <a:rPr sz="2800" spc="-5" dirty="0">
                <a:latin typeface="Lucida Sans Unicode"/>
                <a:cs typeface="Lucida Sans Unicode"/>
              </a:rPr>
              <a:t>não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dependem </a:t>
            </a:r>
            <a:r>
              <a:rPr sz="2800" spc="-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nós. </a:t>
            </a:r>
            <a:endParaRPr lang="pt-BR" sz="28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 err="1">
                <a:latin typeface="Lucida Sans Unicode"/>
                <a:cs typeface="Lucida Sans Unicode"/>
              </a:rPr>
              <a:t>Existem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as </a:t>
            </a:r>
            <a:r>
              <a:rPr sz="2800" spc="-10" dirty="0">
                <a:latin typeface="Lucida Sans Unicode"/>
                <a:cs typeface="Lucida Sans Unicode"/>
              </a:rPr>
              <a:t>coisas 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boas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(ser</a:t>
            </a:r>
            <a:r>
              <a:rPr sz="2800" dirty="0">
                <a:latin typeface="Lucida Sans Unicode"/>
                <a:cs typeface="Lucida Sans Unicode"/>
              </a:rPr>
              <a:t> justo, </a:t>
            </a:r>
            <a:r>
              <a:rPr sz="2800" spc="-10" dirty="0">
                <a:latin typeface="Lucida Sans Unicode"/>
                <a:cs typeface="Lucida Sans Unicode"/>
              </a:rPr>
              <a:t>educado</a:t>
            </a:r>
            <a:r>
              <a:rPr sz="2800" spc="-5" dirty="0">
                <a:latin typeface="Lucida Sans Unicode"/>
                <a:cs typeface="Lucida Sans Unicode"/>
              </a:rPr>
              <a:t> e</a:t>
            </a:r>
            <a:r>
              <a:rPr sz="2800" spc="10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honesto), </a:t>
            </a:r>
            <a:r>
              <a:rPr sz="2800" spc="-1000" dirty="0">
                <a:latin typeface="Lucida Sans Unicode"/>
                <a:cs typeface="Lucida Sans Unicode"/>
              </a:rPr>
              <a:t> </a:t>
            </a:r>
            <a:r>
              <a:rPr sz="2800" spc="-15" dirty="0">
                <a:latin typeface="Lucida Sans Unicode"/>
                <a:cs typeface="Lucida Sans Unicode"/>
              </a:rPr>
              <a:t>as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más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(injusto,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desonesto)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as </a:t>
            </a:r>
            <a:r>
              <a:rPr sz="2800" spc="-10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indiferentes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(é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caso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da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morte,</a:t>
            </a:r>
            <a:r>
              <a:rPr sz="2800" dirty="0">
                <a:latin typeface="Lucida Sans Unicode"/>
                <a:cs typeface="Lucida Sans Unicode"/>
              </a:rPr>
              <a:t> do </a:t>
            </a:r>
            <a:r>
              <a:rPr sz="2800" spc="-10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poder,</a:t>
            </a:r>
            <a:r>
              <a:rPr sz="2800" spc="1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saúde</a:t>
            </a:r>
            <a:r>
              <a:rPr sz="2800" spc="2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ou</a:t>
            </a:r>
            <a:r>
              <a:rPr sz="2800" spc="-2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doença).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153" y="568406"/>
            <a:ext cx="5898647" cy="5129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11</a:t>
            </a:fld>
            <a:endParaRPr spc="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48180"/>
            <a:ext cx="7709534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lang="pt-BR" sz="3600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Lucida Sans Unicode"/>
                <a:cs typeface="Lucida Sans Unicode"/>
              </a:rPr>
              <a:t>A </a:t>
            </a:r>
            <a:r>
              <a:rPr sz="2800" spc="-5" dirty="0">
                <a:latin typeface="Lucida Sans Unicode"/>
                <a:cs typeface="Lucida Sans Unicode"/>
              </a:rPr>
              <a:t>infelicidade surge </a:t>
            </a:r>
            <a:r>
              <a:rPr sz="2800" spc="-10" dirty="0">
                <a:latin typeface="Lucida Sans Unicode"/>
                <a:cs typeface="Lucida Sans Unicode"/>
              </a:rPr>
              <a:t>quando </a:t>
            </a:r>
            <a:r>
              <a:rPr sz="2800" dirty="0">
                <a:latin typeface="Lucida Sans Unicode"/>
                <a:cs typeface="Lucida Sans Unicode"/>
              </a:rPr>
              <a:t>não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utilizamos</a:t>
            </a:r>
            <a:r>
              <a:rPr sz="2800" spc="113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corretamente</a:t>
            </a:r>
            <a:r>
              <a:rPr sz="2800" spc="113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nossa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razão</a:t>
            </a:r>
            <a:r>
              <a:rPr sz="2800" dirty="0">
                <a:latin typeface="Lucida Sans Unicode"/>
                <a:cs typeface="Lucida Sans Unicode"/>
              </a:rPr>
              <a:t> 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não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evitamos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as</a:t>
            </a:r>
            <a:r>
              <a:rPr sz="2800" spc="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coisas </a:t>
            </a:r>
            <a:r>
              <a:rPr sz="2800" spc="-112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más</a:t>
            </a:r>
            <a:r>
              <a:rPr sz="2800" spc="-5" dirty="0">
                <a:latin typeface="Lucida Sans Unicode"/>
                <a:cs typeface="Lucida Sans Unicode"/>
              </a:rPr>
              <a:t>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dependem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de</a:t>
            </a:r>
            <a:r>
              <a:rPr sz="2800" spc="-5" dirty="0">
                <a:latin typeface="Lucida Sans Unicode"/>
                <a:cs typeface="Lucida Sans Unicode"/>
              </a:rPr>
              <a:t> nós,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e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quando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nos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preocupamos com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as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coisas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indiferentes</a:t>
            </a:r>
            <a:r>
              <a:rPr sz="2800" spc="-5" dirty="0">
                <a:latin typeface="Lucida Sans Unicode"/>
                <a:cs typeface="Lucida Sans Unicode"/>
              </a:rPr>
              <a:t>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que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não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dependem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de </a:t>
            </a:r>
            <a:r>
              <a:rPr sz="2800" spc="-5" dirty="0">
                <a:latin typeface="Lucida Sans Unicode"/>
                <a:cs typeface="Lucida Sans Unicode"/>
              </a:rPr>
              <a:t>nós.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6950" y="574478"/>
            <a:ext cx="3000005" cy="4154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12</a:t>
            </a:fld>
            <a:endParaRPr spc="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481709"/>
            <a:ext cx="7884159" cy="2622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800" spc="-5" dirty="0" err="1">
                <a:latin typeface="Lucida Sans Unicode"/>
                <a:cs typeface="Lucida Sans Unicode"/>
              </a:rPr>
              <a:t>Fundado</a:t>
            </a:r>
            <a:r>
              <a:rPr sz="2800" dirty="0">
                <a:latin typeface="Lucida Sans Unicode"/>
                <a:cs typeface="Lucida Sans Unicode"/>
              </a:rPr>
              <a:t> por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Pirro</a:t>
            </a:r>
            <a:r>
              <a:rPr sz="2800" dirty="0">
                <a:latin typeface="Lucida Sans Unicode"/>
                <a:cs typeface="Lucida Sans Unicode"/>
              </a:rPr>
              <a:t> de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Élida</a:t>
            </a:r>
            <a:r>
              <a:rPr sz="2800" spc="944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(365-275 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a.C.),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defendia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que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tudo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é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incerto,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93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nenhum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conhecimento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é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seguro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</a:t>
            </a:r>
            <a:r>
              <a:rPr sz="2800" spc="5" dirty="0">
                <a:latin typeface="Lucida Sans Unicode"/>
                <a:cs typeface="Lucida Sans Unicode"/>
              </a:rPr>
              <a:t> que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qualquer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argumento </a:t>
            </a:r>
            <a:r>
              <a:rPr sz="2800" spc="-5" dirty="0">
                <a:latin typeface="Lucida Sans Unicode"/>
                <a:cs typeface="Lucida Sans Unicode"/>
              </a:rPr>
              <a:t>pode </a:t>
            </a:r>
            <a:r>
              <a:rPr sz="2800" dirty="0">
                <a:latin typeface="Lucida Sans Unicode"/>
                <a:cs typeface="Lucida Sans Unicode"/>
              </a:rPr>
              <a:t>ser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contestado</a:t>
            </a:r>
            <a:r>
              <a:rPr sz="2800" spc="-5" dirty="0">
                <a:latin typeface="Lucida Sans Unicode"/>
                <a:cs typeface="Lucida Sans Unicode"/>
              </a:rPr>
              <a:t>. </a:t>
            </a:r>
            <a:r>
              <a:rPr sz="2800" spc="-935" dirty="0">
                <a:latin typeface="Lucida Sans Unicode"/>
                <a:cs typeface="Lucida Sans Unicode"/>
              </a:rPr>
              <a:t> </a:t>
            </a:r>
            <a:endParaRPr lang="pt-BR" sz="2800" spc="-935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2836" y="589762"/>
            <a:ext cx="3249944" cy="40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13</a:t>
            </a:fld>
            <a:endParaRPr spc="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481709"/>
            <a:ext cx="7884159" cy="39279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800" dirty="0" err="1">
                <a:latin typeface="Lucida Sans Unicode"/>
                <a:cs typeface="Lucida Sans Unicode"/>
              </a:rPr>
              <a:t>Assim</a:t>
            </a:r>
            <a:r>
              <a:rPr sz="2800" dirty="0">
                <a:latin typeface="Lucida Sans Unicode"/>
                <a:cs typeface="Lucida Sans Unicode"/>
              </a:rPr>
              <a:t>, </a:t>
            </a:r>
            <a:r>
              <a:rPr sz="2800" spc="-5" dirty="0" err="1">
                <a:latin typeface="Lucida Sans Unicode"/>
                <a:cs typeface="Lucida Sans Unicode"/>
              </a:rPr>
              <a:t>propunha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suspensão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do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juízo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(epokhé),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isto</a:t>
            </a:r>
            <a:r>
              <a:rPr sz="2800" dirty="0">
                <a:latin typeface="Lucida Sans Unicode"/>
                <a:cs typeface="Lucida Sans Unicode"/>
              </a:rPr>
              <a:t> é,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não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fazer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qualquer </a:t>
            </a:r>
            <a:r>
              <a:rPr sz="2800" spc="-93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julgamento,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uma</a:t>
            </a:r>
            <a:r>
              <a:rPr sz="2800" dirty="0">
                <a:latin typeface="Lucida Sans Unicode"/>
                <a:cs typeface="Lucida Sans Unicode"/>
              </a:rPr>
              <a:t> vez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que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busca</a:t>
            </a:r>
            <a:r>
              <a:rPr sz="2800" spc="5" dirty="0">
                <a:latin typeface="Lucida Sans Unicode"/>
                <a:cs typeface="Lucida Sans Unicode"/>
              </a:rPr>
              <a:t> da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verdade </a:t>
            </a:r>
            <a:r>
              <a:rPr sz="2800" spc="-5" dirty="0">
                <a:latin typeface="Lucida Sans Unicode"/>
                <a:cs typeface="Lucida Sans Unicode"/>
              </a:rPr>
              <a:t>plena </a:t>
            </a:r>
            <a:r>
              <a:rPr sz="2800" dirty="0">
                <a:latin typeface="Lucida Sans Unicode"/>
                <a:cs typeface="Lucida Sans Unicode"/>
              </a:rPr>
              <a:t>é </a:t>
            </a:r>
            <a:r>
              <a:rPr sz="2800" spc="-5" dirty="0">
                <a:latin typeface="Lucida Sans Unicode"/>
                <a:cs typeface="Lucida Sans Unicode"/>
              </a:rPr>
              <a:t>inútil. </a:t>
            </a: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00299"/>
              </a:lnSpc>
              <a:spcBef>
                <a:spcPts val="90"/>
              </a:spcBef>
            </a:pPr>
            <a:r>
              <a:rPr sz="2800" dirty="0">
                <a:latin typeface="Lucida Sans Unicode"/>
                <a:cs typeface="Lucida Sans Unicode"/>
              </a:rPr>
              <a:t>O </a:t>
            </a:r>
            <a:r>
              <a:rPr sz="2800" spc="-5" dirty="0">
                <a:latin typeface="Lucida Sans Unicode"/>
                <a:cs typeface="Lucida Sans Unicode"/>
              </a:rPr>
              <a:t>Pirronismo </a:t>
            </a:r>
            <a:r>
              <a:rPr sz="2800" spc="-15" dirty="0">
                <a:latin typeface="Lucida Sans Unicode"/>
                <a:cs typeface="Lucida Sans Unicode"/>
              </a:rPr>
              <a:t>foi 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uma </a:t>
            </a:r>
            <a:r>
              <a:rPr sz="2800" dirty="0">
                <a:latin typeface="Lucida Sans Unicode"/>
                <a:cs typeface="Lucida Sans Unicode"/>
              </a:rPr>
              <a:t>forma de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ceticismo</a:t>
            </a:r>
            <a:r>
              <a:rPr sz="2800" spc="-5" dirty="0">
                <a:latin typeface="Lucida Sans Unicode"/>
                <a:cs typeface="Lucida Sans Unicode"/>
              </a:rPr>
              <a:t>,</a:t>
            </a:r>
            <a:r>
              <a:rPr sz="2800" spc="93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pois </a:t>
            </a:r>
            <a:r>
              <a:rPr sz="2800" spc="-5" dirty="0">
                <a:latin typeface="Lucida Sans Unicode"/>
                <a:cs typeface="Lucida Sans Unicode"/>
              </a:rPr>
              <a:t>professava </a:t>
            </a:r>
            <a:r>
              <a:rPr sz="2800" spc="-93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impossibilidade</a:t>
            </a:r>
            <a:r>
              <a:rPr sz="2800" spc="-6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do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conhecimento.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2836" y="589762"/>
            <a:ext cx="3249944" cy="40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14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3977152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553718"/>
            <a:ext cx="7710805" cy="34862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latin typeface="Lucida Sans Unicode"/>
                <a:cs typeface="Lucida Sans Unicode"/>
              </a:rPr>
              <a:t>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fundador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Cinismo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foi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Antístenes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(444-365 a.C.), discípulo </a:t>
            </a:r>
            <a:r>
              <a:rPr sz="2800" spc="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Sócrates, </a:t>
            </a:r>
            <a:r>
              <a:rPr sz="2800" spc="-5" dirty="0">
                <a:latin typeface="Lucida Sans Unicode"/>
                <a:cs typeface="Lucida Sans Unicode"/>
              </a:rPr>
              <a:t>mas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Diógenes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de</a:t>
            </a:r>
            <a:r>
              <a:rPr sz="28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Sínope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foi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seu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principal </a:t>
            </a:r>
            <a:r>
              <a:rPr sz="2800" dirty="0">
                <a:latin typeface="Lucida Sans Unicode"/>
                <a:cs typeface="Lucida Sans Unicode"/>
              </a:rPr>
              <a:t> expoente.</a:t>
            </a:r>
            <a:r>
              <a:rPr sz="2800" spc="5" dirty="0">
                <a:latin typeface="Lucida Sans Unicode"/>
                <a:cs typeface="Lucida Sans Unicode"/>
              </a:rPr>
              <a:t> A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palavra</a:t>
            </a:r>
            <a:r>
              <a:rPr sz="2800" dirty="0">
                <a:latin typeface="Lucida Sans Unicode"/>
                <a:cs typeface="Lucida Sans Unicode"/>
              </a:rPr>
              <a:t> “cínico”,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do</a:t>
            </a:r>
            <a:r>
              <a:rPr sz="2800" dirty="0">
                <a:latin typeface="Lucida Sans Unicode"/>
                <a:cs typeface="Lucida Sans Unicode"/>
              </a:rPr>
              <a:t> grego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“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kynicos</a:t>
            </a:r>
            <a:r>
              <a:rPr sz="2800" dirty="0">
                <a:latin typeface="Lucida Sans Unicode"/>
                <a:cs typeface="Lucida Sans Unicode"/>
              </a:rPr>
              <a:t>”, </a:t>
            </a:r>
            <a:r>
              <a:rPr sz="2800" spc="-5" dirty="0">
                <a:latin typeface="Lucida Sans Unicode"/>
                <a:cs typeface="Lucida Sans Unicode"/>
              </a:rPr>
              <a:t>significa “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como </a:t>
            </a:r>
            <a:r>
              <a:rPr sz="28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um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cão</a:t>
            </a:r>
            <a:r>
              <a:rPr sz="2800" spc="-5" dirty="0">
                <a:latin typeface="Lucida Sans Unicode"/>
                <a:cs typeface="Lucida Sans Unicode"/>
              </a:rPr>
              <a:t>” </a:t>
            </a:r>
            <a:r>
              <a:rPr sz="2800" spc="5" dirty="0">
                <a:latin typeface="Lucida Sans Unicode"/>
                <a:cs typeface="Lucida Sans Unicode"/>
              </a:rPr>
              <a:t>e </a:t>
            </a:r>
            <a:r>
              <a:rPr sz="2800" spc="-5" dirty="0">
                <a:latin typeface="Lucida Sans Unicode"/>
                <a:cs typeface="Lucida Sans Unicode"/>
              </a:rPr>
              <a:t>refletia </a:t>
            </a:r>
            <a:r>
              <a:rPr sz="2800" dirty="0">
                <a:latin typeface="Lucida Sans Unicode"/>
                <a:cs typeface="Lucida Sans Unicode"/>
              </a:rPr>
              <a:t> a maneira </a:t>
            </a:r>
            <a:r>
              <a:rPr sz="2800" spc="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ser e </a:t>
            </a:r>
            <a:r>
              <a:rPr sz="2800" spc="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viver </a:t>
            </a:r>
            <a:r>
              <a:rPr sz="2800" spc="5" dirty="0">
                <a:latin typeface="Lucida Sans Unicode"/>
                <a:cs typeface="Lucida Sans Unicode"/>
              </a:rPr>
              <a:t>de </a:t>
            </a:r>
            <a:r>
              <a:rPr sz="2800" dirty="0">
                <a:latin typeface="Lucida Sans Unicode"/>
                <a:cs typeface="Lucida Sans Unicode"/>
              </a:rPr>
              <a:t>Diógenes.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1162" y="589762"/>
            <a:ext cx="2573292" cy="40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15</a:t>
            </a:fld>
            <a:endParaRPr spc="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553718"/>
            <a:ext cx="7710805" cy="3055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ct val="100000"/>
              </a:lnSpc>
              <a:spcBef>
                <a:spcPts val="105"/>
              </a:spcBef>
            </a:pP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filósofo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tinha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uma</a:t>
            </a:r>
            <a:r>
              <a:rPr sz="2800" dirty="0">
                <a:latin typeface="Lucida Sans Unicode"/>
                <a:cs typeface="Lucida Sans Unicode"/>
              </a:rPr>
              <a:t> vida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simples:</a:t>
            </a:r>
            <a:r>
              <a:rPr sz="2800" spc="87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morava </a:t>
            </a:r>
            <a:r>
              <a:rPr sz="2800" spc="10" dirty="0">
                <a:latin typeface="Lucida Sans Unicode"/>
                <a:cs typeface="Lucida Sans Unicode"/>
              </a:rPr>
              <a:t> num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barril</a:t>
            </a:r>
            <a:r>
              <a:rPr sz="2800" spc="-5" dirty="0">
                <a:latin typeface="Lucida Sans Unicode"/>
                <a:cs typeface="Lucida Sans Unicode"/>
              </a:rPr>
              <a:t>, possuía </a:t>
            </a:r>
            <a:r>
              <a:rPr sz="2800" spc="5" dirty="0">
                <a:latin typeface="Lucida Sans Unicode"/>
                <a:cs typeface="Lucida Sans Unicode"/>
              </a:rPr>
              <a:t>uma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única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túnica, </a:t>
            </a:r>
            <a:r>
              <a:rPr sz="2800" spc="-15" dirty="0">
                <a:latin typeface="Lucida Sans Unicode"/>
                <a:cs typeface="Lucida Sans Unicode"/>
              </a:rPr>
              <a:t>um</a:t>
            </a:r>
            <a:r>
              <a:rPr sz="28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bastão </a:t>
            </a:r>
            <a:r>
              <a:rPr sz="2800" dirty="0">
                <a:latin typeface="Lucida Sans Unicode"/>
                <a:cs typeface="Lucida Sans Unicode"/>
              </a:rPr>
              <a:t>para apoiá-lo em </a:t>
            </a:r>
            <a:r>
              <a:rPr sz="2800" spc="-5" dirty="0">
                <a:latin typeface="Lucida Sans Unicode"/>
                <a:cs typeface="Lucida Sans Unicode"/>
              </a:rPr>
              <a:t>suas caminhadas,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um</a:t>
            </a:r>
            <a:r>
              <a:rPr sz="2800" spc="1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alforje </a:t>
            </a:r>
            <a:r>
              <a:rPr sz="2800" dirty="0">
                <a:latin typeface="Lucida Sans Unicode"/>
                <a:cs typeface="Lucida Sans Unicode"/>
              </a:rPr>
              <a:t>para colocar </a:t>
            </a:r>
            <a:r>
              <a:rPr sz="2800" spc="-10" dirty="0">
                <a:latin typeface="Lucida Sans Unicode"/>
                <a:cs typeface="Lucida Sans Unicode"/>
              </a:rPr>
              <a:t>os </a:t>
            </a:r>
            <a:r>
              <a:rPr sz="2800" spc="-5" dirty="0">
                <a:latin typeface="Lucida Sans Unicode"/>
                <a:cs typeface="Lucida Sans Unicode"/>
              </a:rPr>
              <a:t>alimentos, uma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caneca</a:t>
            </a:r>
            <a:r>
              <a:rPr sz="2800" spc="-3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</a:t>
            </a:r>
            <a:r>
              <a:rPr sz="2800" spc="2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somente</a:t>
            </a:r>
            <a:r>
              <a:rPr sz="2800" spc="-45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um</a:t>
            </a:r>
            <a:r>
              <a:rPr sz="2800" spc="-3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solidFill>
                  <a:srgbClr val="FF0000"/>
                </a:solidFill>
                <a:latin typeface="Lucida Sans Unicode"/>
                <a:cs typeface="Lucida Sans Unicode"/>
              </a:rPr>
              <a:t>prato.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1162" y="589762"/>
            <a:ext cx="2573292" cy="40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16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320930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703654"/>
            <a:ext cx="7713980" cy="264431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112395" algn="just">
              <a:lnSpc>
                <a:spcPts val="2690"/>
              </a:lnSpc>
              <a:spcBef>
                <a:spcPts val="755"/>
              </a:spcBef>
            </a:pPr>
            <a:endParaRPr lang="pt-BR" sz="2800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ts val="2690"/>
              </a:lnSpc>
              <a:spcBef>
                <a:spcPts val="755"/>
              </a:spcBef>
            </a:pPr>
            <a:r>
              <a:rPr sz="2800" dirty="0" err="1">
                <a:latin typeface="Lucida Sans Unicode"/>
                <a:cs typeface="Lucida Sans Unicode"/>
              </a:rPr>
              <a:t>Após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triunfar</a:t>
            </a:r>
            <a:r>
              <a:rPr sz="2800" spc="5" dirty="0">
                <a:latin typeface="Lucida Sans Unicode"/>
                <a:cs typeface="Lucida Sans Unicode"/>
              </a:rPr>
              <a:t> sobre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mundo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grego,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Alexandre,</a:t>
            </a:r>
            <a:r>
              <a:rPr sz="2800" dirty="0">
                <a:latin typeface="Lucida Sans Unicode"/>
                <a:cs typeface="Lucida Sans Unicode"/>
              </a:rPr>
              <a:t> 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Grande,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entrou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em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Atenas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como</a:t>
            </a:r>
            <a:r>
              <a:rPr sz="2800" spc="33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vitorioso</a:t>
            </a:r>
            <a:r>
              <a:rPr sz="2800" spc="36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e</a:t>
            </a:r>
            <a:r>
              <a:rPr sz="2800" spc="305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ao</a:t>
            </a:r>
            <a:r>
              <a:rPr sz="2800" spc="31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saber</a:t>
            </a:r>
            <a:r>
              <a:rPr sz="2800" spc="32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da</a:t>
            </a:r>
            <a:r>
              <a:rPr sz="2800" spc="32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existência</a:t>
            </a:r>
            <a:r>
              <a:rPr sz="2800" spc="325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de</a:t>
            </a:r>
            <a:endParaRPr sz="2800" dirty="0">
              <a:latin typeface="Lucida Sans Unicode"/>
              <a:cs typeface="Lucida Sans Unicode"/>
            </a:endParaRPr>
          </a:p>
          <a:p>
            <a:pPr marL="12700" marR="9525" algn="just">
              <a:lnSpc>
                <a:spcPts val="2690"/>
              </a:lnSpc>
            </a:pPr>
            <a:r>
              <a:rPr sz="2800" spc="-5" dirty="0">
                <a:latin typeface="Lucida Sans Unicode"/>
                <a:cs typeface="Lucida Sans Unicode"/>
              </a:rPr>
              <a:t>Diógenes, considerado </a:t>
            </a:r>
            <a:r>
              <a:rPr sz="2800" spc="10" dirty="0">
                <a:latin typeface="Lucida Sans Unicode"/>
                <a:cs typeface="Lucida Sans Unicode"/>
              </a:rPr>
              <a:t>um </a:t>
            </a:r>
            <a:r>
              <a:rPr sz="2800" spc="-5" dirty="0">
                <a:latin typeface="Lucida Sans Unicode"/>
                <a:cs typeface="Lucida Sans Unicode"/>
              </a:rPr>
              <a:t>verdadeiro </a:t>
            </a:r>
            <a:r>
              <a:rPr sz="2800" dirty="0">
                <a:latin typeface="Lucida Sans Unicode"/>
                <a:cs typeface="Lucida Sans Unicode"/>
              </a:rPr>
              <a:t>sábio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pelos</a:t>
            </a:r>
            <a:r>
              <a:rPr sz="2800" spc="86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atenienses,</a:t>
            </a:r>
            <a:r>
              <a:rPr sz="2800" spc="85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quis</a:t>
            </a:r>
            <a:r>
              <a:rPr sz="2800" spc="86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conhecê-lo,</a:t>
            </a:r>
            <a:r>
              <a:rPr sz="2800" spc="86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objetivo  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era    presenteá-lo.   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936" y="568368"/>
            <a:ext cx="5496312" cy="5190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17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3753148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703654"/>
            <a:ext cx="7571163" cy="3195747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indent="112395" algn="just">
              <a:lnSpc>
                <a:spcPts val="2690"/>
              </a:lnSpc>
              <a:spcBef>
                <a:spcPts val="755"/>
              </a:spcBef>
            </a:pPr>
            <a:endParaRPr lang="pt-BR" sz="2800" spc="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ts val="2690"/>
              </a:lnSpc>
              <a:spcBef>
                <a:spcPts val="755"/>
              </a:spcBef>
            </a:pPr>
            <a:r>
              <a:rPr lang="pt-BR" sz="2800" spc="5" dirty="0">
                <a:latin typeface="Lucida Sans Unicode"/>
                <a:cs typeface="Lucida Sans Unicode"/>
              </a:rPr>
              <a:t>O  </a:t>
            </a:r>
            <a:r>
              <a:rPr lang="pt-BR" sz="2800" spc="875" dirty="0">
                <a:latin typeface="Lucida Sans Unicode"/>
                <a:cs typeface="Lucida Sans Unicode"/>
              </a:rPr>
              <a:t> </a:t>
            </a:r>
            <a:r>
              <a:rPr lang="pt-BR" sz="2800" dirty="0">
                <a:latin typeface="Lucida Sans Unicode"/>
                <a:cs typeface="Lucida Sans Unicode"/>
              </a:rPr>
              <a:t>rei   </a:t>
            </a:r>
            <a:r>
              <a:rPr lang="pt-BR" sz="2800" spc="20" dirty="0">
                <a:latin typeface="Lucida Sans Unicode"/>
                <a:cs typeface="Lucida Sans Unicode"/>
              </a:rPr>
              <a:t> </a:t>
            </a:r>
            <a:r>
              <a:rPr lang="pt-BR" sz="2800" spc="-20" dirty="0">
                <a:latin typeface="Lucida Sans Unicode"/>
                <a:cs typeface="Lucida Sans Unicode"/>
              </a:rPr>
              <a:t>da</a:t>
            </a:r>
            <a:r>
              <a:rPr lang="pt-BR"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Macedonia</a:t>
            </a:r>
            <a:r>
              <a:rPr sz="2800" spc="136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foi</a:t>
            </a:r>
            <a:r>
              <a:rPr sz="2800" spc="135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informado</a:t>
            </a:r>
            <a:r>
              <a:rPr sz="2800" spc="134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 </a:t>
            </a:r>
            <a:r>
              <a:rPr sz="2800" spc="459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spc="440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filósofo</a:t>
            </a:r>
            <a:r>
              <a:rPr lang="pt-BR" sz="2800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morava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em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um </a:t>
            </a:r>
            <a:r>
              <a:rPr sz="2800" dirty="0">
                <a:latin typeface="Lucida Sans Unicode"/>
                <a:cs typeface="Lucida Sans Unicode"/>
              </a:rPr>
              <a:t>barril,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perto</a:t>
            </a:r>
            <a:r>
              <a:rPr sz="2800" spc="5" dirty="0">
                <a:latin typeface="Lucida Sans Unicode"/>
                <a:cs typeface="Lucida Sans Unicode"/>
              </a:rPr>
              <a:t> do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porto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20" dirty="0">
                <a:latin typeface="Lucida Sans Unicode"/>
                <a:cs typeface="Lucida Sans Unicode"/>
              </a:rPr>
              <a:t>da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cidade.</a:t>
            </a:r>
            <a:r>
              <a:rPr sz="2800" spc="1285" dirty="0">
                <a:latin typeface="Lucida Sans Unicode"/>
                <a:cs typeface="Lucida Sans Unicode"/>
              </a:rPr>
              <a:t> </a:t>
            </a:r>
            <a:endParaRPr lang="pt-BR" sz="2800" spc="1285" dirty="0">
              <a:latin typeface="Lucida Sans Unicode"/>
              <a:cs typeface="Lucida Sans Unicode"/>
            </a:endParaRPr>
          </a:p>
          <a:p>
            <a:pPr marL="12700" marR="5080" indent="112395">
              <a:lnSpc>
                <a:spcPts val="2690"/>
              </a:lnSpc>
              <a:spcBef>
                <a:spcPts val="755"/>
              </a:spcBef>
            </a:pPr>
            <a:endParaRPr lang="pt-BR" sz="2800" spc="1285" dirty="0">
              <a:latin typeface="Lucida Sans Unicode"/>
              <a:cs typeface="Lucida Sans Unicode"/>
            </a:endParaRPr>
          </a:p>
          <a:p>
            <a:pPr marL="12700" marR="5080" indent="112395" algn="just">
              <a:lnSpc>
                <a:spcPts val="2690"/>
              </a:lnSpc>
              <a:spcBef>
                <a:spcPts val="755"/>
              </a:spcBef>
            </a:pPr>
            <a:r>
              <a:rPr sz="2800" spc="5" dirty="0" err="1">
                <a:latin typeface="Lucida Sans Unicode"/>
                <a:cs typeface="Lucida Sans Unicode"/>
              </a:rPr>
              <a:t>Ao</a:t>
            </a:r>
            <a:r>
              <a:rPr lang="pt-BR" sz="2800" spc="5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encontrá</a:t>
            </a:r>
            <a:r>
              <a:rPr sz="2800" dirty="0">
                <a:latin typeface="Lucida Sans Unicode"/>
                <a:cs typeface="Lucida Sans Unicode"/>
              </a:rPr>
              <a:t>-lo,</a:t>
            </a:r>
            <a:r>
              <a:rPr lang="pt-BR" sz="2800" spc="1295" dirty="0">
                <a:latin typeface="Lucida Sans Unicode"/>
                <a:cs typeface="Lucida Sans Unicode"/>
              </a:rPr>
              <a:t> </a:t>
            </a:r>
            <a:r>
              <a:rPr sz="2800" spc="-5" dirty="0" err="1">
                <a:latin typeface="Lucida Sans Unicode"/>
                <a:cs typeface="Lucida Sans Unicode"/>
              </a:rPr>
              <a:t>Diógenes</a:t>
            </a:r>
            <a:r>
              <a:rPr sz="2800" spc="1300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estava</a:t>
            </a:r>
            <a:r>
              <a:rPr lang="pt-BR" sz="2800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sentado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no </a:t>
            </a:r>
            <a:r>
              <a:rPr sz="2800" dirty="0">
                <a:latin typeface="Lucida Sans Unicode"/>
                <a:cs typeface="Lucida Sans Unicode"/>
              </a:rPr>
              <a:t>chão </a:t>
            </a:r>
            <a:r>
              <a:rPr sz="2800" spc="5" dirty="0">
                <a:latin typeface="Lucida Sans Unicode"/>
                <a:cs typeface="Lucida Sans Unicode"/>
              </a:rPr>
              <a:t>ao </a:t>
            </a:r>
            <a:r>
              <a:rPr sz="2800" dirty="0">
                <a:latin typeface="Lucida Sans Unicode"/>
                <a:cs typeface="Lucida Sans Unicode"/>
              </a:rPr>
              <a:t>lado </a:t>
            </a:r>
            <a:r>
              <a:rPr sz="2800" spc="5" dirty="0">
                <a:latin typeface="Lucida Sans Unicode"/>
                <a:cs typeface="Lucida Sans Unicode"/>
              </a:rPr>
              <a:t>de um </a:t>
            </a:r>
            <a:r>
              <a:rPr sz="2800" spc="-5" dirty="0">
                <a:latin typeface="Lucida Sans Unicode"/>
                <a:cs typeface="Lucida Sans Unicode"/>
              </a:rPr>
              <a:t>velho barril,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aquecendo-se</a:t>
            </a:r>
            <a:r>
              <a:rPr sz="2800" spc="-8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com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os</a:t>
            </a:r>
            <a:r>
              <a:rPr sz="2800" spc="-2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raios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do</a:t>
            </a:r>
            <a:r>
              <a:rPr sz="2800" spc="-2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Sol.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936" y="568368"/>
            <a:ext cx="5496312" cy="5190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18</a:t>
            </a:fld>
            <a:endParaRPr spc="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703654"/>
            <a:ext cx="7712075" cy="184512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5080" indent="112395" algn="just">
              <a:lnSpc>
                <a:spcPct val="80000"/>
              </a:lnSpc>
              <a:spcBef>
                <a:spcPts val="780"/>
              </a:spcBef>
            </a:pPr>
            <a:r>
              <a:rPr sz="2800" spc="5" dirty="0">
                <a:latin typeface="Lucida Sans Unicode"/>
                <a:cs typeface="Lucida Sans Unicode"/>
              </a:rPr>
              <a:t>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imperador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disse</a:t>
            </a:r>
            <a:r>
              <a:rPr sz="2800" spc="5" dirty="0">
                <a:latin typeface="Lucida Sans Unicode"/>
                <a:cs typeface="Lucida Sans Unicode"/>
              </a:rPr>
              <a:t> ao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filósofo</a:t>
            </a:r>
            <a:r>
              <a:rPr sz="2800" spc="5" dirty="0">
                <a:latin typeface="Lucida Sans Unicode"/>
                <a:cs typeface="Lucida Sans Unicode"/>
              </a:rPr>
              <a:t> que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era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Alexandre,</a:t>
            </a:r>
            <a:r>
              <a:rPr sz="2800" dirty="0">
                <a:latin typeface="Lucida Sans Unicode"/>
                <a:cs typeface="Lucida Sans Unicode"/>
              </a:rPr>
              <a:t> 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Grande,</a:t>
            </a:r>
            <a:r>
              <a:rPr sz="2800" spc="88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aquele</a:t>
            </a:r>
            <a:r>
              <a:rPr sz="2800" spc="89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 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conquistou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todas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as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terras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que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podia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pedir-lhe</a:t>
            </a:r>
            <a:r>
              <a:rPr sz="2800" spc="59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qualquer</a:t>
            </a:r>
            <a:r>
              <a:rPr sz="2800" spc="61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riqueza,</a:t>
            </a:r>
            <a:r>
              <a:rPr sz="2800" spc="58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</a:t>
            </a:r>
            <a:r>
              <a:rPr sz="2800" spc="605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seria</a:t>
            </a:r>
            <a:r>
              <a:rPr lang="pt-BR" sz="2800" dirty="0">
                <a:latin typeface="Lucida Sans Unicode"/>
                <a:cs typeface="Lucida Sans Unicode"/>
              </a:rPr>
              <a:t> imediatamente </a:t>
            </a:r>
            <a:r>
              <a:rPr lang="pt-BR" sz="2800" dirty="0" err="1">
                <a:latin typeface="Lucida Sans Unicode"/>
                <a:cs typeface="Lucida Sans Unicode"/>
              </a:rPr>
              <a:t>presendiado</a:t>
            </a:r>
            <a:r>
              <a:rPr lang="pt-BR" sz="2800" dirty="0">
                <a:latin typeface="Lucida Sans Unicode"/>
                <a:cs typeface="Lucida Sans Unicode"/>
              </a:rPr>
              <a:t>.</a:t>
            </a:r>
            <a:endParaRPr sz="28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3411728"/>
            <a:ext cx="7713980" cy="160300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6985" algn="just">
              <a:lnSpc>
                <a:spcPct val="80000"/>
              </a:lnSpc>
              <a:spcBef>
                <a:spcPts val="780"/>
              </a:spcBef>
            </a:pPr>
            <a:endParaRPr lang="pt-BR" sz="2800" spc="-5" dirty="0">
              <a:latin typeface="Lucida Sans Unicode"/>
              <a:cs typeface="Lucida Sans Unicode"/>
            </a:endParaRPr>
          </a:p>
          <a:p>
            <a:pPr marL="12700" marR="6985" algn="just">
              <a:lnSpc>
                <a:spcPct val="80000"/>
              </a:lnSpc>
              <a:spcBef>
                <a:spcPts val="780"/>
              </a:spcBef>
            </a:pPr>
            <a:r>
              <a:rPr lang="pt-BR" sz="2800" spc="-5" dirty="0" err="1">
                <a:latin typeface="Lucida Sans Unicode"/>
                <a:cs typeface="Lucida Sans Unicode"/>
              </a:rPr>
              <a:t>Diogenes</a:t>
            </a:r>
            <a:r>
              <a:rPr lang="pt-BR" sz="2800" spc="-5" dirty="0">
                <a:latin typeface="Lucida Sans Unicode"/>
                <a:cs typeface="Lucida Sans Unicode"/>
              </a:rPr>
              <a:t> </a:t>
            </a:r>
            <a:r>
              <a:rPr sz="2800" spc="-5" dirty="0" err="1">
                <a:latin typeface="Lucida Sans Unicode"/>
                <a:cs typeface="Lucida Sans Unicode"/>
              </a:rPr>
              <a:t>levantou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os </a:t>
            </a:r>
            <a:r>
              <a:rPr sz="2800" spc="-5" dirty="0">
                <a:latin typeface="Lucida Sans Unicode"/>
                <a:cs typeface="Lucida Sans Unicode"/>
              </a:rPr>
              <a:t>olhos </a:t>
            </a:r>
            <a:r>
              <a:rPr sz="2800" dirty="0">
                <a:latin typeface="Lucida Sans Unicode"/>
                <a:cs typeface="Lucida Sans Unicode"/>
              </a:rPr>
              <a:t>e respondeu: </a:t>
            </a:r>
            <a:r>
              <a:rPr lang="pt-BR" sz="2800" spc="-10" dirty="0">
                <a:latin typeface="Lucida Sans Unicode"/>
                <a:cs typeface="Lucida Sans Unicode"/>
              </a:rPr>
              <a:t> “</a:t>
            </a:r>
            <a:r>
              <a:rPr sz="2800" dirty="0">
                <a:latin typeface="Lucida Sans Unicode"/>
                <a:cs typeface="Lucida Sans Unicode"/>
              </a:rPr>
              <a:t>Senhor, 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apenas</a:t>
            </a:r>
            <a:r>
              <a:rPr sz="2800" dirty="0">
                <a:latin typeface="Lucida Sans Unicode"/>
                <a:cs typeface="Lucida Sans Unicode"/>
              </a:rPr>
              <a:t> não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tire </a:t>
            </a:r>
            <a:r>
              <a:rPr sz="2800" spc="5" dirty="0">
                <a:latin typeface="Lucida Sans Unicode"/>
                <a:cs typeface="Lucida Sans Unicode"/>
              </a:rPr>
              <a:t>de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mim</a:t>
            </a:r>
            <a:r>
              <a:rPr sz="2800" spc="5" dirty="0">
                <a:latin typeface="Lucida Sans Unicode"/>
                <a:cs typeface="Lucida Sans Unicode"/>
              </a:rPr>
              <a:t> o que </a:t>
            </a:r>
            <a:r>
              <a:rPr sz="2800" spc="-5" dirty="0">
                <a:latin typeface="Lucida Sans Unicode"/>
                <a:cs typeface="Lucida Sans Unicode"/>
              </a:rPr>
              <a:t>não</a:t>
            </a:r>
            <a:r>
              <a:rPr sz="2800" spc="87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podes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me</a:t>
            </a:r>
            <a:r>
              <a:rPr sz="2800" spc="5" dirty="0">
                <a:latin typeface="Lucida Sans Unicode"/>
                <a:cs typeface="Lucida Sans Unicode"/>
              </a:rPr>
              <a:t> dar”.</a:t>
            </a:r>
            <a:r>
              <a:rPr sz="2800" spc="10" dirty="0">
                <a:latin typeface="Lucida Sans Unicode"/>
                <a:cs typeface="Lucida Sans Unicode"/>
              </a:rPr>
              <a:t> 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936" y="568368"/>
            <a:ext cx="5496312" cy="5190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19</a:t>
            </a:fld>
            <a:endParaRPr spc="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09600" y="2057400"/>
            <a:ext cx="8006384" cy="188628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6985" algn="just">
              <a:lnSpc>
                <a:spcPct val="80000"/>
              </a:lnSpc>
              <a:spcBef>
                <a:spcPts val="780"/>
              </a:spcBef>
            </a:pPr>
            <a:r>
              <a:rPr sz="2800" spc="-5" dirty="0" err="1">
                <a:latin typeface="Lucida Sans Unicode"/>
                <a:cs typeface="Lucida Sans Unicode"/>
              </a:rPr>
              <a:t>Percebendo</a:t>
            </a:r>
            <a:r>
              <a:rPr sz="2800" dirty="0">
                <a:latin typeface="Lucida Sans Unicode"/>
                <a:cs typeface="Lucida Sans Unicode"/>
              </a:rPr>
              <a:t> que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estava</a:t>
            </a:r>
            <a:r>
              <a:rPr sz="2800" dirty="0">
                <a:latin typeface="Lucida Sans Unicode"/>
                <a:cs typeface="Lucida Sans Unicode"/>
              </a:rPr>
              <a:t> entre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Diógenes</a:t>
            </a:r>
            <a:r>
              <a:rPr sz="2800" spc="1705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e </a:t>
            </a:r>
            <a:r>
              <a:rPr sz="2800" spc="79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o </a:t>
            </a:r>
            <a:r>
              <a:rPr sz="2800" spc="7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Sol,</a:t>
            </a:r>
            <a:r>
              <a:rPr sz="2800" spc="1689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Alexandre,</a:t>
            </a:r>
            <a:r>
              <a:rPr lang="pt-BR" sz="2800" spc="1675" dirty="0">
                <a:latin typeface="Lucida Sans Unicode"/>
                <a:cs typeface="Lucida Sans Unicode"/>
              </a:rPr>
              <a:t> </a:t>
            </a:r>
            <a:r>
              <a:rPr sz="2800" spc="-5" dirty="0" err="1">
                <a:latin typeface="Lucida Sans Unicode"/>
                <a:cs typeface="Lucida Sans Unicode"/>
              </a:rPr>
              <a:t>perplexo</a:t>
            </a:r>
            <a:r>
              <a:rPr lang="pt-BR" sz="2800" spc="-5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diante</a:t>
            </a:r>
            <a:r>
              <a:rPr sz="2800" spc="985" dirty="0">
                <a:latin typeface="Lucida Sans Unicode"/>
                <a:cs typeface="Lucida Sans Unicode"/>
              </a:rPr>
              <a:t> </a:t>
            </a:r>
            <a:r>
              <a:rPr sz="2800" spc="10" dirty="0">
                <a:latin typeface="Lucida Sans Unicode"/>
                <a:cs typeface="Lucida Sans Unicode"/>
              </a:rPr>
              <a:t>do </a:t>
            </a:r>
            <a:r>
              <a:rPr sz="2800" spc="9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que</a:t>
            </a:r>
            <a:r>
              <a:rPr sz="2800" spc="994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havia</a:t>
            </a:r>
            <a:r>
              <a:rPr sz="2800" spc="100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escutado,</a:t>
            </a:r>
            <a:r>
              <a:rPr sz="2800" spc="994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retirou</a:t>
            </a:r>
            <a:r>
              <a:rPr sz="2800" dirty="0">
                <a:latin typeface="Lucida Sans Unicode"/>
                <a:cs typeface="Lucida Sans Unicode"/>
              </a:rPr>
              <a:t>-se</a:t>
            </a:r>
            <a:r>
              <a:rPr lang="pt-BR" sz="2800" dirty="0">
                <a:latin typeface="Lucida Sans Unicode"/>
                <a:cs typeface="Lucida Sans Unicode"/>
              </a:rPr>
              <a:t> </a:t>
            </a:r>
            <a:r>
              <a:rPr sz="2800" dirty="0" err="1">
                <a:latin typeface="Lucida Sans Unicode"/>
                <a:cs typeface="Lucida Sans Unicode"/>
              </a:rPr>
              <a:t>daquele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lugar,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deixando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também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Atenas, </a:t>
            </a:r>
            <a:r>
              <a:rPr sz="2800" spc="-875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para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nunca</a:t>
            </a:r>
            <a:r>
              <a:rPr sz="2800" spc="-6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Lucida Sans Unicode"/>
                <a:cs typeface="Lucida Sans Unicode"/>
              </a:rPr>
              <a:t>mais</a:t>
            </a:r>
            <a:r>
              <a:rPr sz="2800" spc="-10" dirty="0">
                <a:latin typeface="Lucida Sans Unicode"/>
                <a:cs typeface="Lucida Sans Unicode"/>
              </a:rPr>
              <a:t> </a:t>
            </a:r>
            <a:r>
              <a:rPr sz="2800" spc="5" dirty="0">
                <a:latin typeface="Lucida Sans Unicode"/>
                <a:cs typeface="Lucida Sans Unicode"/>
              </a:rPr>
              <a:t>voltar.</a:t>
            </a:r>
            <a:endParaRPr sz="2800" dirty="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936" y="568368"/>
            <a:ext cx="5496312" cy="5190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20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2900511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7648" y="568368"/>
            <a:ext cx="5578608" cy="5190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1" y="1905000"/>
            <a:ext cx="7418762" cy="40233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21</a:t>
            </a:fld>
            <a:endParaRPr spc="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405585"/>
            <a:ext cx="7884795" cy="3576364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endParaRPr lang="pt-BR" sz="3100" spc="-5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r>
              <a:rPr sz="2800" spc="-5" dirty="0">
                <a:latin typeface="Lucida Sans Unicode"/>
                <a:cs typeface="Lucida Sans Unicode"/>
              </a:rPr>
              <a:t>Mas </a:t>
            </a:r>
            <a:r>
              <a:rPr sz="2800" spc="-10" dirty="0">
                <a:latin typeface="Lucida Sans Unicode"/>
                <a:cs typeface="Lucida Sans Unicode"/>
              </a:rPr>
              <a:t>afinal, por que Diógenes que </a:t>
            </a:r>
            <a:r>
              <a:rPr sz="2800" spc="-5" dirty="0">
                <a:latin typeface="Lucida Sans Unicode"/>
                <a:cs typeface="Lucida Sans Unicode"/>
              </a:rPr>
              <a:t>vivia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de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5" dirty="0">
                <a:latin typeface="Lucida Sans Unicode"/>
                <a:cs typeface="Lucida Sans Unicode"/>
              </a:rPr>
              <a:t>forma</a:t>
            </a:r>
            <a:r>
              <a:rPr sz="2800" spc="-10" dirty="0">
                <a:latin typeface="Lucida Sans Unicode"/>
                <a:cs typeface="Lucida Sans Unicode"/>
              </a:rPr>
              <a:t> tão</a:t>
            </a:r>
            <a:r>
              <a:rPr sz="2800" spc="-5" dirty="0">
                <a:latin typeface="Lucida Sans Unicode"/>
                <a:cs typeface="Lucida Sans Unicode"/>
              </a:rPr>
              <a:t> simples,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parecendo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15" dirty="0">
                <a:latin typeface="Lucida Sans Unicode"/>
                <a:cs typeface="Lucida Sans Unicode"/>
              </a:rPr>
              <a:t>um </a:t>
            </a:r>
            <a:r>
              <a:rPr sz="2800" spc="2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mendigo,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não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pediu</a:t>
            </a:r>
            <a:r>
              <a:rPr sz="2800" spc="-5" dirty="0">
                <a:latin typeface="Lucida Sans Unicode"/>
                <a:cs typeface="Lucida Sans Unicode"/>
              </a:rPr>
              <a:t> riquezas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 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Alexandre?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endParaRPr lang="pt-BR" sz="2800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endParaRPr lang="pt-BR" sz="2800" spc="-10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r>
              <a:rPr sz="2800" spc="-10" dirty="0">
                <a:latin typeface="Lucida Sans Unicode"/>
                <a:cs typeface="Lucida Sans Unicode"/>
              </a:rPr>
              <a:t>Por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que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quis</a:t>
            </a:r>
            <a:r>
              <a:rPr sz="2800" spc="96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nos</a:t>
            </a:r>
            <a:r>
              <a:rPr sz="2800" spc="969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ensinar </a:t>
            </a:r>
            <a:r>
              <a:rPr sz="2800" spc="-5" dirty="0">
                <a:latin typeface="Lucida Sans Unicode"/>
                <a:cs typeface="Lucida Sans Unicode"/>
              </a:rPr>
              <a:t> </a:t>
            </a:r>
            <a:r>
              <a:rPr sz="2800" spc="-10" dirty="0">
                <a:latin typeface="Lucida Sans Unicode"/>
                <a:cs typeface="Lucida Sans Unicode"/>
              </a:rPr>
              <a:t>algo</a:t>
            </a:r>
            <a:r>
              <a:rPr sz="2800" spc="-5" dirty="0">
                <a:latin typeface="Lucida Sans Unicode"/>
                <a:cs typeface="Lucida Sans Unicode"/>
              </a:rPr>
              <a:t> de</a:t>
            </a:r>
            <a:r>
              <a:rPr sz="2800" dirty="0">
                <a:latin typeface="Lucida Sans Unicode"/>
                <a:cs typeface="Lucida Sans Unicode"/>
              </a:rPr>
              <a:t> grande</a:t>
            </a:r>
            <a:r>
              <a:rPr sz="2800" spc="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valor:</a:t>
            </a:r>
            <a:r>
              <a:rPr sz="2800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quanto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menos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necessidades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supérfluas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tivermos, mais 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livres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e</a:t>
            </a:r>
            <a:r>
              <a:rPr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felizes</a:t>
            </a:r>
            <a:r>
              <a:rPr sz="28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seremos</a:t>
            </a:r>
            <a:r>
              <a:rPr sz="2800" spc="-5" dirty="0">
                <a:latin typeface="Lucida Sans Unicode"/>
                <a:cs typeface="Lucida Sans Unicode"/>
              </a:rPr>
              <a:t>.</a:t>
            </a:r>
            <a:r>
              <a:rPr sz="2800" dirty="0">
                <a:latin typeface="Lucida Sans Unicode"/>
                <a:cs typeface="Lucida Sans Unicode"/>
              </a:rPr>
              <a:t>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77" y="568368"/>
            <a:ext cx="6246119" cy="5190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22</a:t>
            </a:fld>
            <a:endParaRPr spc="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402" y="1405585"/>
            <a:ext cx="7884795" cy="349249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endParaRPr lang="pt-BR" sz="3100" spc="-10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r>
              <a:rPr sz="3100" spc="-10" dirty="0">
                <a:latin typeface="Lucida Sans Unicode"/>
                <a:cs typeface="Lucida Sans Unicode"/>
              </a:rPr>
              <a:t>Por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isso,</a:t>
            </a:r>
            <a:r>
              <a:rPr sz="3100" spc="-5" dirty="0">
                <a:latin typeface="Lucida Sans Unicode"/>
                <a:cs typeface="Lucida Sans Unicode"/>
              </a:rPr>
              <a:t> em </a:t>
            </a:r>
            <a:r>
              <a:rPr sz="3100" spc="-969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plena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luz</a:t>
            </a:r>
            <a:r>
              <a:rPr sz="3100" spc="-5" dirty="0">
                <a:latin typeface="Lucida Sans Unicode"/>
                <a:cs typeface="Lucida Sans Unicode"/>
              </a:rPr>
              <a:t> do</a:t>
            </a:r>
            <a:r>
              <a:rPr sz="3100" dirty="0">
                <a:latin typeface="Lucida Sans Unicode"/>
                <a:cs typeface="Lucida Sans Unicode"/>
              </a:rPr>
              <a:t> </a:t>
            </a:r>
            <a:r>
              <a:rPr sz="3100" spc="-5" dirty="0">
                <a:latin typeface="Lucida Sans Unicode"/>
                <a:cs typeface="Lucida Sans Unicode"/>
              </a:rPr>
              <a:t>dia,</a:t>
            </a:r>
            <a:r>
              <a:rPr sz="3100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Diógenes</a:t>
            </a:r>
            <a:r>
              <a:rPr sz="3100" spc="-5" dirty="0">
                <a:latin typeface="Lucida Sans Unicode"/>
                <a:cs typeface="Lucida Sans Unicode"/>
              </a:rPr>
              <a:t> costumava </a:t>
            </a:r>
            <a:r>
              <a:rPr sz="3100" spc="-97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andar </a:t>
            </a:r>
            <a:r>
              <a:rPr sz="3100" spc="-5" dirty="0">
                <a:latin typeface="Lucida Sans Unicode"/>
                <a:cs typeface="Lucida Sans Unicode"/>
              </a:rPr>
              <a:t>com uma </a:t>
            </a:r>
            <a:r>
              <a:rPr sz="3100" spc="-10" dirty="0">
                <a:latin typeface="Lucida Sans Unicode"/>
                <a:cs typeface="Lucida Sans Unicode"/>
              </a:rPr>
              <a:t>lanterna </a:t>
            </a:r>
            <a:r>
              <a:rPr sz="3100" spc="-5" dirty="0">
                <a:latin typeface="Lucida Sans Unicode"/>
                <a:cs typeface="Lucida Sans Unicode"/>
              </a:rPr>
              <a:t>acesa, </a:t>
            </a:r>
            <a:r>
              <a:rPr sz="3100" spc="-10" dirty="0">
                <a:latin typeface="Lucida Sans Unicode"/>
                <a:cs typeface="Lucida Sans Unicode"/>
              </a:rPr>
              <a:t>gritando: </a:t>
            </a:r>
            <a:r>
              <a:rPr sz="3100" spc="-969" dirty="0">
                <a:latin typeface="Lucida Sans Unicode"/>
                <a:cs typeface="Lucida Sans Unicode"/>
              </a:rPr>
              <a:t> </a:t>
            </a:r>
            <a:endParaRPr lang="pt-BR" sz="3100" spc="-969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endParaRPr lang="pt-BR" sz="3100" spc="-969" dirty="0">
              <a:latin typeface="Lucida Sans Unicode"/>
              <a:cs typeface="Lucida Sans Unicode"/>
            </a:endParaRPr>
          </a:p>
          <a:p>
            <a:pPr marL="12700" marR="5080" indent="124460" algn="just">
              <a:lnSpc>
                <a:spcPct val="80000"/>
              </a:lnSpc>
              <a:spcBef>
                <a:spcPts val="840"/>
              </a:spcBef>
            </a:pPr>
            <a:r>
              <a:rPr sz="3100" spc="-10" dirty="0">
                <a:latin typeface="Lucida Sans Unicode"/>
                <a:cs typeface="Lucida Sans Unicode"/>
              </a:rPr>
              <a:t>“-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Procuro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spc="-20" dirty="0">
                <a:latin typeface="Lucida Sans Unicode"/>
                <a:cs typeface="Lucida Sans Unicode"/>
              </a:rPr>
              <a:t>uma</a:t>
            </a:r>
            <a:r>
              <a:rPr sz="3100" spc="-15" dirty="0">
                <a:latin typeface="Lucida Sans Unicode"/>
                <a:cs typeface="Lucida Sans Unicode"/>
              </a:rPr>
              <a:t> </a:t>
            </a:r>
            <a:r>
              <a:rPr sz="3100" spc="-5" dirty="0">
                <a:latin typeface="Lucida Sans Unicode"/>
                <a:cs typeface="Lucida Sans Unicode"/>
              </a:rPr>
              <a:t>pessoa</a:t>
            </a:r>
            <a:r>
              <a:rPr sz="3100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verdadeira”, </a:t>
            </a:r>
            <a:r>
              <a:rPr sz="3100" spc="-5" dirty="0">
                <a:latin typeface="Lucida Sans Unicode"/>
                <a:cs typeface="Lucida Sans Unicode"/>
              </a:rPr>
              <a:t> aquela</a:t>
            </a:r>
            <a:r>
              <a:rPr sz="3100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que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dirty="0">
                <a:latin typeface="Lucida Sans Unicode"/>
                <a:cs typeface="Lucida Sans Unicode"/>
              </a:rPr>
              <a:t>não</a:t>
            </a:r>
            <a:r>
              <a:rPr sz="3100" spc="5" dirty="0">
                <a:latin typeface="Lucida Sans Unicode"/>
                <a:cs typeface="Lucida Sans Unicode"/>
              </a:rPr>
              <a:t> </a:t>
            </a:r>
            <a:r>
              <a:rPr sz="3100" spc="-5" dirty="0">
                <a:latin typeface="Lucida Sans Unicode"/>
                <a:cs typeface="Lucida Sans Unicode"/>
              </a:rPr>
              <a:t>fosse</a:t>
            </a:r>
            <a:r>
              <a:rPr sz="3100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escrava</a:t>
            </a:r>
            <a:r>
              <a:rPr sz="3100" spc="-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das </a:t>
            </a:r>
            <a:r>
              <a:rPr sz="3100" spc="-5" dirty="0">
                <a:latin typeface="Lucida Sans Unicode"/>
                <a:cs typeface="Lucida Sans Unicode"/>
              </a:rPr>
              <a:t> necessidades,</a:t>
            </a:r>
            <a:r>
              <a:rPr sz="3100" spc="-30" dirty="0">
                <a:latin typeface="Lucida Sans Unicode"/>
                <a:cs typeface="Lucida Sans Unicode"/>
              </a:rPr>
              <a:t> </a:t>
            </a:r>
            <a:r>
              <a:rPr sz="3100" spc="-5" dirty="0">
                <a:latin typeface="Lucida Sans Unicode"/>
                <a:cs typeface="Lucida Sans Unicode"/>
              </a:rPr>
              <a:t>nem</a:t>
            </a:r>
            <a:r>
              <a:rPr sz="3100" spc="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da </a:t>
            </a:r>
            <a:r>
              <a:rPr sz="3100" spc="-5" dirty="0">
                <a:latin typeface="Lucida Sans Unicode"/>
                <a:cs typeface="Lucida Sans Unicode"/>
              </a:rPr>
              <a:t>ilusão</a:t>
            </a:r>
            <a:r>
              <a:rPr sz="3100" spc="5" dirty="0">
                <a:latin typeface="Lucida Sans Unicode"/>
                <a:cs typeface="Lucida Sans Unicode"/>
              </a:rPr>
              <a:t> </a:t>
            </a:r>
            <a:r>
              <a:rPr sz="3100" spc="-10" dirty="0">
                <a:latin typeface="Lucida Sans Unicode"/>
                <a:cs typeface="Lucida Sans Unicode"/>
              </a:rPr>
              <a:t>do </a:t>
            </a:r>
            <a:r>
              <a:rPr sz="3100" spc="-5" dirty="0">
                <a:latin typeface="Lucida Sans Unicode"/>
                <a:cs typeface="Lucida Sans Unicode"/>
              </a:rPr>
              <a:t>poder.</a:t>
            </a:r>
            <a:endParaRPr sz="31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77" y="568368"/>
            <a:ext cx="6246119" cy="5190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5" dirty="0"/>
              <a:t>23</a:t>
            </a:fld>
            <a:endParaRPr spc="5" dirty="0"/>
          </a:p>
        </p:txBody>
      </p:sp>
    </p:spTree>
    <p:extLst>
      <p:ext uri="{BB962C8B-B14F-4D97-AF65-F5344CB8AC3E}">
        <p14:creationId xmlns:p14="http://schemas.microsoft.com/office/powerpoint/2010/main" val="2085707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876</Words>
  <Application>Microsoft Office PowerPoint</Application>
  <PresentationFormat>Apresentação na tela (4:3)</PresentationFormat>
  <Paragraphs>92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Lucida Sans Unicode</vt:lpstr>
      <vt:lpstr>Tema do Office</vt:lpstr>
      <vt:lpstr>Apresentação do PowerPoint</vt:lpstr>
      <vt:lpstr>Apresentação do PowerPoint</vt:lpstr>
      <vt:lpstr>Apresentação do PowerPoint</vt:lpstr>
      <vt:lpstr> 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LUCIANO</dc:creator>
  <cp:lastModifiedBy>Elaine Zaleschi</cp:lastModifiedBy>
  <cp:revision>7</cp:revision>
  <dcterms:created xsi:type="dcterms:W3CDTF">2021-05-18T00:19:49Z</dcterms:created>
  <dcterms:modified xsi:type="dcterms:W3CDTF">2022-08-01T22:58:19Z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2020-06-21T00:00:00Z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2021-05-18T00:00:00Z</vt:filetime>
  </property>
</Properties>
</file>