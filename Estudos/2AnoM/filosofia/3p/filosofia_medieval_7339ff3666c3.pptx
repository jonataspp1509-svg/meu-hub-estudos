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82" r:id="rId7"/>
    <p:sldId id="261" r:id="rId8"/>
    <p:sldId id="283" r:id="rId9"/>
    <p:sldId id="262" r:id="rId10"/>
    <p:sldId id="264" r:id="rId11"/>
    <p:sldId id="284" r:id="rId12"/>
    <p:sldId id="280" r:id="rId13"/>
    <p:sldId id="279" r:id="rId14"/>
    <p:sldId id="285" r:id="rId15"/>
    <p:sldId id="263" r:id="rId16"/>
    <p:sldId id="286" r:id="rId17"/>
    <p:sldId id="265" r:id="rId18"/>
    <p:sldId id="266" r:id="rId19"/>
    <p:sldId id="267" r:id="rId20"/>
    <p:sldId id="281" r:id="rId21"/>
    <p:sldId id="268" r:id="rId22"/>
    <p:sldId id="269" r:id="rId23"/>
    <p:sldId id="287" r:id="rId24"/>
    <p:sldId id="270" r:id="rId25"/>
    <p:sldId id="288" r:id="rId26"/>
    <p:sldId id="271" r:id="rId27"/>
    <p:sldId id="272" r:id="rId28"/>
    <p:sldId id="289" r:id="rId29"/>
    <p:sldId id="273" r:id="rId30"/>
    <p:sldId id="274" r:id="rId31"/>
    <p:sldId id="276" r:id="rId32"/>
    <p:sldId id="277" r:id="rId33"/>
    <p:sldId id="278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1" d="100"/>
          <a:sy n="81" d="100"/>
        </p:scale>
        <p:origin x="120" y="6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E63DE-409A-4A51-ABDD-CA1AE32162BD}" type="datetimeFigureOut">
              <a:rPr lang="pt-BR" smtClean="0"/>
              <a:t>06/11/2020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FF631-D242-4B5C-BAFB-6F5FBD29C4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4407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E63DE-409A-4A51-ABDD-CA1AE32162BD}" type="datetimeFigureOut">
              <a:rPr lang="pt-BR" smtClean="0"/>
              <a:t>06/11/2020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FF631-D242-4B5C-BAFB-6F5FBD29C4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2768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E63DE-409A-4A51-ABDD-CA1AE32162BD}" type="datetimeFigureOut">
              <a:rPr lang="pt-BR" smtClean="0"/>
              <a:t>06/11/2020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FF631-D242-4B5C-BAFB-6F5FBD29C4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5991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E63DE-409A-4A51-ABDD-CA1AE32162BD}" type="datetimeFigureOut">
              <a:rPr lang="pt-BR" smtClean="0"/>
              <a:t>06/11/2020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FF631-D242-4B5C-BAFB-6F5FBD29C4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6688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E63DE-409A-4A51-ABDD-CA1AE32162BD}" type="datetimeFigureOut">
              <a:rPr lang="pt-BR" smtClean="0"/>
              <a:t>06/11/2020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FF631-D242-4B5C-BAFB-6F5FBD29C4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7815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E63DE-409A-4A51-ABDD-CA1AE32162BD}" type="datetimeFigureOut">
              <a:rPr lang="pt-BR" smtClean="0"/>
              <a:t>06/11/2020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FF631-D242-4B5C-BAFB-6F5FBD29C4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6992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E63DE-409A-4A51-ABDD-CA1AE32162BD}" type="datetimeFigureOut">
              <a:rPr lang="pt-BR" smtClean="0"/>
              <a:t>06/11/2020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FF631-D242-4B5C-BAFB-6F5FBD29C4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1245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E63DE-409A-4A51-ABDD-CA1AE32162BD}" type="datetimeFigureOut">
              <a:rPr lang="pt-BR" smtClean="0"/>
              <a:t>06/11/2020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FF631-D242-4B5C-BAFB-6F5FBD29C4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3722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E63DE-409A-4A51-ABDD-CA1AE32162BD}" type="datetimeFigureOut">
              <a:rPr lang="pt-BR" smtClean="0"/>
              <a:t>06/11/2020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FF631-D242-4B5C-BAFB-6F5FBD29C4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648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E63DE-409A-4A51-ABDD-CA1AE32162BD}" type="datetimeFigureOut">
              <a:rPr lang="pt-BR" smtClean="0"/>
              <a:t>06/11/2020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FF631-D242-4B5C-BAFB-6F5FBD29C4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487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E63DE-409A-4A51-ABDD-CA1AE32162BD}" type="datetimeFigureOut">
              <a:rPr lang="pt-BR" smtClean="0"/>
              <a:t>06/11/2020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FF631-D242-4B5C-BAFB-6F5FBD29C40D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837771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E63DE-409A-4A51-ABDD-CA1AE32162BD}" type="datetimeFigureOut">
              <a:rPr lang="pt-BR" smtClean="0"/>
              <a:t>06/11/2020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FF631-D242-4B5C-BAFB-6F5FBD29C4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39981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E63DE-409A-4A51-ABDD-CA1AE32162BD}" type="datetimeFigureOut">
              <a:rPr lang="pt-BR" smtClean="0"/>
              <a:t>06/11/2020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FF631-D242-4B5C-BAFB-6F5FBD29C40D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126023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E63DE-409A-4A51-ABDD-CA1AE32162BD}" type="datetimeFigureOut">
              <a:rPr lang="pt-BR" smtClean="0"/>
              <a:t>06/11/2020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FF631-D242-4B5C-BAFB-6F5FBD29C4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55254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E63DE-409A-4A51-ABDD-CA1AE32162BD}" type="datetimeFigureOut">
              <a:rPr lang="pt-BR" smtClean="0"/>
              <a:t>06/11/2020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FF631-D242-4B5C-BAFB-6F5FBD29C4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6597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E63DE-409A-4A51-ABDD-CA1AE32162BD}" type="datetimeFigureOut">
              <a:rPr lang="pt-BR" smtClean="0"/>
              <a:t>06/11/2020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FF631-D242-4B5C-BAFB-6F5FBD29C4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5239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4E63DE-409A-4A51-ABDD-CA1AE32162BD}" type="datetimeFigureOut">
              <a:rPr lang="pt-BR" smtClean="0"/>
              <a:t>06/11/2020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8CFF631-D242-4B5C-BAFB-6F5FBD29C4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4837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7A28F6-2327-4D73-A64D-305DA668A2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861182"/>
          </a:xfrm>
        </p:spPr>
        <p:txBody>
          <a:bodyPr>
            <a:normAutofit fontScale="90000"/>
          </a:bodyPr>
          <a:lstStyle/>
          <a:p>
            <a:pPr algn="l"/>
            <a:r>
              <a:rPr lang="pt-BR" dirty="0">
                <a:solidFill>
                  <a:srgbClr val="FF0000"/>
                </a:solidFill>
              </a:rPr>
              <a:t>   FILOSOFIA MEDIEVAL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B16C3FF-5BDB-4809-9390-7A21596875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pt-BR" sz="2500" dirty="0">
                <a:solidFill>
                  <a:srgbClr val="FF0000"/>
                </a:solidFill>
              </a:rPr>
              <a:t>A filosofia encontra-se com a religião.</a:t>
            </a:r>
          </a:p>
        </p:txBody>
      </p:sp>
    </p:spTree>
    <p:extLst>
      <p:ext uri="{BB962C8B-B14F-4D97-AF65-F5344CB8AC3E}">
        <p14:creationId xmlns:p14="http://schemas.microsoft.com/office/powerpoint/2010/main" val="3360140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FC2B07-0678-4648-B642-2499521F2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4000" dirty="0">
                <a:solidFill>
                  <a:srgbClr val="FF0000"/>
                </a:solidFill>
              </a:rPr>
              <a:t>FILOSOFIA MEDIEVAL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D73127-3316-452A-9641-42EA57EA14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31235"/>
            <a:ext cx="8596668" cy="458362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500" dirty="0">
                <a:solidFill>
                  <a:schemeClr val="tx1"/>
                </a:solidFill>
              </a:rPr>
              <a:t>A história da Filosofia Medieval compreende um período de aproximadamente mil anos. O termo “medieval” se refere a Idade Média, denominação marcada pela ideia de que se trata de um tempo de transição.</a:t>
            </a:r>
          </a:p>
          <a:p>
            <a:pPr marL="0" indent="0" algn="just">
              <a:buNone/>
            </a:pPr>
            <a:endParaRPr lang="pt-BR" sz="2500" dirty="0"/>
          </a:p>
          <a:p>
            <a:pPr marL="0" indent="0" algn="just">
              <a:buNone/>
            </a:pPr>
            <a:r>
              <a:rPr lang="pt-BR" sz="2500" dirty="0">
                <a:solidFill>
                  <a:schemeClr val="tx1"/>
                </a:solidFill>
              </a:rPr>
              <a:t>O pressuposto assumido pelos pensadores que sucederam o período medieval foi que o fim da Antiguidade, com a dissolução do Império Romano ao longo do século V, resultou na decadência do pensamento clássico.</a:t>
            </a:r>
          </a:p>
        </p:txBody>
      </p:sp>
    </p:spTree>
    <p:extLst>
      <p:ext uri="{BB962C8B-B14F-4D97-AF65-F5344CB8AC3E}">
        <p14:creationId xmlns:p14="http://schemas.microsoft.com/office/powerpoint/2010/main" val="1481402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CB56F5-3732-49AA-B85B-27CF5F46E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FILOSOFIA MEDIEVAL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53BE86-44B4-43AA-8A54-9791C8303E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63757"/>
            <a:ext cx="8596668" cy="4477605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500" dirty="0">
                <a:solidFill>
                  <a:schemeClr val="tx1"/>
                </a:solidFill>
              </a:rPr>
              <a:t>Neste período a fé predominou sobre a razão, criando um intervalo que só terminaria com o Renascimento, movimento filosófico-cultural ocorrido na Europa entre os séculos XIV e XVI, quando a tradição </a:t>
            </a:r>
            <a:r>
              <a:rPr lang="pt-BR" sz="2500" dirty="0">
                <a:solidFill>
                  <a:srgbClr val="FF0000"/>
                </a:solidFill>
              </a:rPr>
              <a:t>greco-romana</a:t>
            </a:r>
            <a:r>
              <a:rPr lang="pt-BR" sz="2500" dirty="0">
                <a:solidFill>
                  <a:schemeClr val="tx1"/>
                </a:solidFill>
              </a:rPr>
              <a:t> foi então resgatada e valorizada.</a:t>
            </a:r>
          </a:p>
          <a:p>
            <a:pPr marL="0" indent="0" algn="just">
              <a:buNone/>
            </a:pPr>
            <a:r>
              <a:rPr lang="pt-BR" sz="2500" dirty="0">
                <a:solidFill>
                  <a:schemeClr val="tx1"/>
                </a:solidFill>
              </a:rPr>
              <a:t>Os filósofos medievais</a:t>
            </a:r>
            <a:r>
              <a:rPr lang="pt-BR" sz="2500" dirty="0">
                <a:solidFill>
                  <a:srgbClr val="FF0000"/>
                </a:solidFill>
              </a:rPr>
              <a:t> </a:t>
            </a:r>
            <a:r>
              <a:rPr lang="pt-BR" sz="2500" dirty="0">
                <a:solidFill>
                  <a:schemeClr val="tx1"/>
                </a:solidFill>
              </a:rPr>
              <a:t>preocuparam-se em </a:t>
            </a:r>
            <a:r>
              <a:rPr lang="pt-BR" sz="2500" dirty="0">
                <a:solidFill>
                  <a:srgbClr val="FF0000"/>
                </a:solidFill>
              </a:rPr>
              <a:t>aliar reflexões teológicas </a:t>
            </a:r>
            <a:r>
              <a:rPr lang="pt-BR" sz="2500" dirty="0">
                <a:solidFill>
                  <a:schemeClr val="tx1"/>
                </a:solidFill>
              </a:rPr>
              <a:t>com a</a:t>
            </a:r>
            <a:r>
              <a:rPr lang="pt-BR" sz="2500" dirty="0">
                <a:solidFill>
                  <a:srgbClr val="FF0000"/>
                </a:solidFill>
              </a:rPr>
              <a:t> atividade filosófica, </a:t>
            </a:r>
            <a:r>
              <a:rPr lang="pt-BR" sz="2500" dirty="0">
                <a:solidFill>
                  <a:schemeClr val="tx1"/>
                </a:solidFill>
              </a:rPr>
              <a:t>sendo as principais vertentes a</a:t>
            </a:r>
            <a:r>
              <a:rPr lang="pt-BR" sz="2500" dirty="0">
                <a:solidFill>
                  <a:srgbClr val="FF0000"/>
                </a:solidFill>
              </a:rPr>
              <a:t> patrística </a:t>
            </a:r>
            <a:r>
              <a:rPr lang="pt-BR" sz="2500" dirty="0">
                <a:solidFill>
                  <a:schemeClr val="tx1"/>
                </a:solidFill>
              </a:rPr>
              <a:t>e a</a:t>
            </a:r>
            <a:r>
              <a:rPr lang="pt-BR" sz="2500" dirty="0">
                <a:solidFill>
                  <a:srgbClr val="FF0000"/>
                </a:solidFill>
              </a:rPr>
              <a:t> escolástica.</a:t>
            </a:r>
          </a:p>
          <a:p>
            <a:pPr marL="0" indent="0" algn="just">
              <a:buNone/>
            </a:pPr>
            <a:r>
              <a:rPr lang="pt-BR" sz="2500" dirty="0">
                <a:solidFill>
                  <a:schemeClr val="tx1"/>
                </a:solidFill>
              </a:rPr>
              <a:t>O elemento novo que modificou completamente o modo clássico de fazer filosofia foi o advento da ideia de </a:t>
            </a:r>
            <a:r>
              <a:rPr lang="pt-BR" sz="2500" dirty="0">
                <a:solidFill>
                  <a:srgbClr val="FF0000"/>
                </a:solidFill>
              </a:rPr>
              <a:t>revelação</a:t>
            </a:r>
            <a:r>
              <a:rPr lang="pt-BR" sz="25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57329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0B0447-E99D-4327-AA3A-0E5A65498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Razão e Crença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A9AE044-BF55-4AED-A85F-F08D990C5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04731"/>
            <a:ext cx="8596668" cy="463663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500" dirty="0">
                <a:solidFill>
                  <a:schemeClr val="tx1"/>
                </a:solidFill>
              </a:rPr>
              <a:t>Desde os pré-socráticos, a Filosofia fundamentou-se no exercício da razão. As religiões em geral, e  cristianismo em particular, fundaram-se no princípio da </a:t>
            </a:r>
            <a:r>
              <a:rPr lang="pt-BR" sz="2500" dirty="0">
                <a:solidFill>
                  <a:srgbClr val="FF0000"/>
                </a:solidFill>
              </a:rPr>
              <a:t>crença</a:t>
            </a:r>
            <a:r>
              <a:rPr lang="pt-BR" sz="2500" dirty="0"/>
              <a:t> </a:t>
            </a:r>
            <a:r>
              <a:rPr lang="pt-BR" sz="2500" dirty="0">
                <a:solidFill>
                  <a:schemeClr val="tx1"/>
                </a:solidFill>
              </a:rPr>
              <a:t>e de </a:t>
            </a:r>
            <a:r>
              <a:rPr lang="pt-BR" sz="2500" dirty="0">
                <a:solidFill>
                  <a:srgbClr val="FF0000"/>
                </a:solidFill>
              </a:rPr>
              <a:t>verdades reveladas</a:t>
            </a:r>
            <a:r>
              <a:rPr lang="pt-BR" sz="2500" dirty="0"/>
              <a:t>.</a:t>
            </a:r>
          </a:p>
          <a:p>
            <a:pPr marL="0" indent="0" algn="just">
              <a:buNone/>
            </a:pPr>
            <a:r>
              <a:rPr lang="pt-BR" sz="2500" dirty="0">
                <a:solidFill>
                  <a:schemeClr val="tx1"/>
                </a:solidFill>
              </a:rPr>
              <a:t>Poderia haver contradições nestes termos, porém a Filosofia Medieval é uma tentativa de resolução dessa contradição.</a:t>
            </a:r>
          </a:p>
          <a:p>
            <a:pPr marL="0" indent="0" algn="just">
              <a:buNone/>
            </a:pPr>
            <a:r>
              <a:rPr lang="pt-BR" sz="2500" dirty="0">
                <a:solidFill>
                  <a:schemeClr val="tx1"/>
                </a:solidFill>
              </a:rPr>
              <a:t>A revelação seria </a:t>
            </a:r>
            <a:r>
              <a:rPr lang="pt-BR" sz="2500" dirty="0">
                <a:solidFill>
                  <a:srgbClr val="FF0000"/>
                </a:solidFill>
              </a:rPr>
              <a:t>superior</a:t>
            </a:r>
            <a:r>
              <a:rPr lang="pt-BR" sz="2500" dirty="0"/>
              <a:t> </a:t>
            </a:r>
            <a:r>
              <a:rPr lang="pt-BR" sz="2500" dirty="0">
                <a:solidFill>
                  <a:schemeClr val="tx1"/>
                </a:solidFill>
              </a:rPr>
              <a:t>a todas as formas de expressão filosófica conhecidas. Ainda que a razão continuasse sendo considerada uma atividade importante do conhecimento, ela não seria o fundamento da verdade nos primórdios da </a:t>
            </a:r>
            <a:r>
              <a:rPr lang="pt-BR" sz="2500" dirty="0">
                <a:solidFill>
                  <a:srgbClr val="FF0000"/>
                </a:solidFill>
              </a:rPr>
              <a:t>Filosofia Cristã Medieval</a:t>
            </a:r>
            <a:r>
              <a:rPr lang="pt-BR" sz="25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78892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CAE76F-1EBC-4471-8C15-6D86B0902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Razão e Crença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ABE5A1-BAA0-4519-833C-410CAE27B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32453"/>
            <a:ext cx="8596668" cy="480891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sz="2500" dirty="0"/>
          </a:p>
          <a:p>
            <a:pPr marL="0" indent="0" algn="just">
              <a:buNone/>
            </a:pPr>
            <a:r>
              <a:rPr lang="pt-BR" sz="2500" dirty="0">
                <a:solidFill>
                  <a:schemeClr val="tx1"/>
                </a:solidFill>
              </a:rPr>
              <a:t>A partir do século II </a:t>
            </a:r>
            <a:r>
              <a:rPr lang="pt-BR" sz="2500" dirty="0">
                <a:solidFill>
                  <a:srgbClr val="FF0000"/>
                </a:solidFill>
              </a:rPr>
              <a:t>a razão </a:t>
            </a:r>
            <a:r>
              <a:rPr lang="pt-BR" sz="2500" dirty="0">
                <a:solidFill>
                  <a:schemeClr val="tx1"/>
                </a:solidFill>
              </a:rPr>
              <a:t>seria convertida a auxiliar da </a:t>
            </a:r>
            <a:r>
              <a:rPr lang="pt-BR" sz="2500" dirty="0">
                <a:solidFill>
                  <a:srgbClr val="FF0000"/>
                </a:solidFill>
              </a:rPr>
              <a:t>fé, </a:t>
            </a:r>
            <a:r>
              <a:rPr lang="pt-BR" sz="2500" dirty="0">
                <a:solidFill>
                  <a:schemeClr val="tx1"/>
                </a:solidFill>
              </a:rPr>
              <a:t>seu uso servia </a:t>
            </a:r>
            <a:r>
              <a:rPr lang="pt-BR" sz="2500" dirty="0">
                <a:solidFill>
                  <a:srgbClr val="FF0000"/>
                </a:solidFill>
              </a:rPr>
              <a:t>à comprovação de verdades </a:t>
            </a:r>
            <a:r>
              <a:rPr lang="pt-BR" sz="2500" dirty="0">
                <a:solidFill>
                  <a:schemeClr val="tx1"/>
                </a:solidFill>
              </a:rPr>
              <a:t>ao demonstrar teses como</a:t>
            </a:r>
            <a:r>
              <a:rPr lang="pt-BR" sz="2500" dirty="0"/>
              <a:t> </a:t>
            </a:r>
            <a:r>
              <a:rPr lang="pt-BR" sz="2500" dirty="0">
                <a:solidFill>
                  <a:srgbClr val="FF0000"/>
                </a:solidFill>
              </a:rPr>
              <a:t>a existência de Deus </a:t>
            </a:r>
            <a:r>
              <a:rPr lang="pt-BR" sz="2500" dirty="0">
                <a:solidFill>
                  <a:schemeClr val="tx1"/>
                </a:solidFill>
              </a:rPr>
              <a:t>e a própria noção de</a:t>
            </a:r>
            <a:r>
              <a:rPr lang="pt-BR" sz="2500" dirty="0"/>
              <a:t> </a:t>
            </a:r>
            <a:r>
              <a:rPr lang="pt-BR" sz="2500" dirty="0">
                <a:solidFill>
                  <a:srgbClr val="FF0000"/>
                </a:solidFill>
              </a:rPr>
              <a:t>revelação.</a:t>
            </a:r>
          </a:p>
          <a:p>
            <a:pPr marL="0" indent="0" algn="just">
              <a:buNone/>
            </a:pPr>
            <a:endParaRPr lang="pt-BR" sz="2500" dirty="0"/>
          </a:p>
          <a:p>
            <a:pPr marL="0" indent="0" algn="just">
              <a:buNone/>
            </a:pPr>
            <a:r>
              <a:rPr lang="pt-BR" sz="2500" dirty="0">
                <a:solidFill>
                  <a:schemeClr val="tx1"/>
                </a:solidFill>
              </a:rPr>
              <a:t>Então, a Filosofia Cristã, foi a primeira tentativa de conciliar duas tradições muito diferentes: uma </a:t>
            </a:r>
            <a:r>
              <a:rPr lang="pt-BR" sz="2500" dirty="0">
                <a:solidFill>
                  <a:srgbClr val="FF0000"/>
                </a:solidFill>
              </a:rPr>
              <a:t>fé religiosa</a:t>
            </a:r>
            <a:r>
              <a:rPr lang="pt-BR" sz="2500" dirty="0"/>
              <a:t> </a:t>
            </a:r>
            <a:r>
              <a:rPr lang="pt-BR" sz="2500" dirty="0">
                <a:solidFill>
                  <a:schemeClr val="tx1"/>
                </a:solidFill>
              </a:rPr>
              <a:t>(cristianismo) e </a:t>
            </a:r>
            <a:r>
              <a:rPr lang="pt-BR" sz="2500" dirty="0">
                <a:solidFill>
                  <a:srgbClr val="FF0000"/>
                </a:solidFill>
              </a:rPr>
              <a:t>um pensamento racional</a:t>
            </a:r>
            <a:r>
              <a:rPr lang="pt-BR" sz="2500" dirty="0"/>
              <a:t> </a:t>
            </a:r>
            <a:r>
              <a:rPr lang="pt-BR" sz="2500" dirty="0">
                <a:solidFill>
                  <a:schemeClr val="tx1"/>
                </a:solidFill>
              </a:rPr>
              <a:t>(Filosofia greco-romana).</a:t>
            </a:r>
          </a:p>
        </p:txBody>
      </p:sp>
    </p:spTree>
    <p:extLst>
      <p:ext uri="{BB962C8B-B14F-4D97-AF65-F5344CB8AC3E}">
        <p14:creationId xmlns:p14="http://schemas.microsoft.com/office/powerpoint/2010/main" val="4292060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CAE76F-1EBC-4471-8C15-6D86B0902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Razão e Crença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ABE5A1-BAA0-4519-833C-410CAE27B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32453"/>
            <a:ext cx="8596668" cy="480891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sz="2500" dirty="0"/>
          </a:p>
          <a:p>
            <a:pPr marL="0" indent="0" algn="just">
              <a:buNone/>
            </a:pPr>
            <a:endParaRPr lang="pt-BR" sz="2500" dirty="0"/>
          </a:p>
          <a:p>
            <a:pPr marL="0" indent="0" algn="just">
              <a:buNone/>
            </a:pPr>
            <a:r>
              <a:rPr lang="pt-BR" sz="2500" dirty="0">
                <a:solidFill>
                  <a:schemeClr val="tx1"/>
                </a:solidFill>
              </a:rPr>
              <a:t>E disso se obteve um duplo resultado: por um lado a </a:t>
            </a:r>
            <a:r>
              <a:rPr lang="pt-BR" sz="2500" dirty="0">
                <a:solidFill>
                  <a:srgbClr val="FF0000"/>
                </a:solidFill>
              </a:rPr>
              <a:t>filosofia</a:t>
            </a:r>
            <a:r>
              <a:rPr lang="pt-BR" sz="2500" dirty="0"/>
              <a:t> </a:t>
            </a:r>
            <a:r>
              <a:rPr lang="pt-BR" sz="2500" dirty="0">
                <a:solidFill>
                  <a:schemeClr val="tx1"/>
                </a:solidFill>
              </a:rPr>
              <a:t>continuou se ocupando de temas fundamentais como</a:t>
            </a:r>
            <a:r>
              <a:rPr lang="pt-BR" sz="2500" dirty="0"/>
              <a:t> </a:t>
            </a:r>
            <a:r>
              <a:rPr lang="pt-BR" sz="2500" dirty="0">
                <a:solidFill>
                  <a:srgbClr val="FF0000"/>
                </a:solidFill>
              </a:rPr>
              <a:t>deus</a:t>
            </a:r>
            <a:r>
              <a:rPr lang="pt-BR" sz="2500" dirty="0"/>
              <a:t>, </a:t>
            </a:r>
            <a:r>
              <a:rPr lang="pt-BR" sz="2500" dirty="0">
                <a:solidFill>
                  <a:srgbClr val="FF0000"/>
                </a:solidFill>
              </a:rPr>
              <a:t>imortalidade da alma </a:t>
            </a:r>
            <a:r>
              <a:rPr lang="pt-BR" sz="2500" dirty="0"/>
              <a:t>e a </a:t>
            </a:r>
            <a:r>
              <a:rPr lang="pt-BR" sz="2500" dirty="0">
                <a:solidFill>
                  <a:srgbClr val="FF0000"/>
                </a:solidFill>
              </a:rPr>
              <a:t>origem das coisas </a:t>
            </a:r>
            <a:r>
              <a:rPr lang="pt-BR" sz="2500" dirty="0"/>
              <a:t>e a </a:t>
            </a:r>
            <a:r>
              <a:rPr lang="pt-BR" sz="2500" dirty="0">
                <a:solidFill>
                  <a:srgbClr val="FF0000"/>
                </a:solidFill>
              </a:rPr>
              <a:t>religião</a:t>
            </a:r>
            <a:r>
              <a:rPr lang="pt-BR" sz="2500" dirty="0"/>
              <a:t> </a:t>
            </a:r>
            <a:r>
              <a:rPr lang="pt-BR" sz="2500" dirty="0">
                <a:solidFill>
                  <a:schemeClr val="tx1"/>
                </a:solidFill>
              </a:rPr>
              <a:t>pela primeira vez pretende encontrar um </a:t>
            </a:r>
            <a:r>
              <a:rPr lang="pt-BR" sz="2500" dirty="0">
                <a:solidFill>
                  <a:srgbClr val="FF0000"/>
                </a:solidFill>
              </a:rPr>
              <a:t>fundamento racional </a:t>
            </a:r>
            <a:r>
              <a:rPr lang="pt-BR" sz="2500" dirty="0">
                <a:solidFill>
                  <a:schemeClr val="tx1"/>
                </a:solidFill>
              </a:rPr>
              <a:t>para si mesma.</a:t>
            </a:r>
          </a:p>
        </p:txBody>
      </p:sp>
    </p:spTree>
    <p:extLst>
      <p:ext uri="{BB962C8B-B14F-4D97-AF65-F5344CB8AC3E}">
        <p14:creationId xmlns:p14="http://schemas.microsoft.com/office/powerpoint/2010/main" val="4290693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59CC36-25AD-4A88-BC80-CCDF2642D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Fundadores da Patrística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0E4095-9680-4C5D-90C5-DDCBBF2204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85461"/>
            <a:ext cx="8596668" cy="4755901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200" dirty="0"/>
              <a:t>A </a:t>
            </a:r>
            <a:r>
              <a:rPr lang="pt-BR" sz="2200" dirty="0">
                <a:solidFill>
                  <a:srgbClr val="FF0000"/>
                </a:solidFill>
              </a:rPr>
              <a:t>patrística</a:t>
            </a:r>
            <a:r>
              <a:rPr lang="pt-BR" sz="2200" dirty="0"/>
              <a:t> (século II – VIII) foi o período da História da Filosofia que correspondeu ao pensamento elaborado pela padres da Igreja. De início, a patrística foi marcada pelo esforço em fundamentar a fé cristã.</a:t>
            </a:r>
          </a:p>
          <a:p>
            <a:pPr marL="0" indent="0" algn="just">
              <a:buNone/>
            </a:pPr>
            <a:r>
              <a:rPr lang="pt-BR" sz="2200" dirty="0"/>
              <a:t>Os primeiros padres da Igreja foram chamados de </a:t>
            </a:r>
            <a:r>
              <a:rPr lang="pt-BR" sz="2200" dirty="0">
                <a:solidFill>
                  <a:srgbClr val="FF0000"/>
                </a:solidFill>
              </a:rPr>
              <a:t>apologistas</a:t>
            </a:r>
            <a:r>
              <a:rPr lang="pt-BR" sz="2200" dirty="0"/>
              <a:t>, pois escreviam textos em </a:t>
            </a:r>
            <a:r>
              <a:rPr lang="pt-BR" sz="2200" dirty="0">
                <a:solidFill>
                  <a:srgbClr val="FF0000"/>
                </a:solidFill>
              </a:rPr>
              <a:t>defesa</a:t>
            </a:r>
            <a:r>
              <a:rPr lang="pt-BR" sz="2200" dirty="0"/>
              <a:t> e </a:t>
            </a:r>
            <a:r>
              <a:rPr lang="pt-BR" sz="2200" dirty="0">
                <a:solidFill>
                  <a:srgbClr val="FF0000"/>
                </a:solidFill>
              </a:rPr>
              <a:t>elogios</a:t>
            </a:r>
            <a:r>
              <a:rPr lang="pt-BR" sz="2200" dirty="0"/>
              <a:t> ao cristianismo.</a:t>
            </a:r>
          </a:p>
        </p:txBody>
      </p:sp>
    </p:spTree>
    <p:extLst>
      <p:ext uri="{BB962C8B-B14F-4D97-AF65-F5344CB8AC3E}">
        <p14:creationId xmlns:p14="http://schemas.microsoft.com/office/powerpoint/2010/main" val="3479473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59CC36-25AD-4A88-BC80-CCDF2642D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Fundadores da Patrística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0E4095-9680-4C5D-90C5-DDCBBF2204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85461"/>
            <a:ext cx="8596668" cy="4755901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sz="2200" dirty="0"/>
          </a:p>
          <a:p>
            <a:pPr marL="0" indent="0" algn="just">
              <a:buNone/>
            </a:pPr>
            <a:endParaRPr lang="pt-BR" sz="2200" dirty="0"/>
          </a:p>
          <a:p>
            <a:pPr marL="0" indent="0" algn="just">
              <a:buNone/>
            </a:pPr>
            <a:r>
              <a:rPr lang="pt-BR" sz="2200" dirty="0">
                <a:solidFill>
                  <a:schemeClr val="tx1"/>
                </a:solidFill>
              </a:rPr>
              <a:t>A apologia era uma tentativa de </a:t>
            </a:r>
            <a:r>
              <a:rPr lang="pt-BR" sz="2200" dirty="0">
                <a:solidFill>
                  <a:srgbClr val="FF0000"/>
                </a:solidFill>
              </a:rPr>
              <a:t>defender</a:t>
            </a:r>
            <a:r>
              <a:rPr lang="pt-BR" sz="2200" dirty="0"/>
              <a:t> </a:t>
            </a:r>
            <a:r>
              <a:rPr lang="pt-BR" sz="2200" dirty="0">
                <a:solidFill>
                  <a:schemeClr val="tx1"/>
                </a:solidFill>
              </a:rPr>
              <a:t>o cristianismo dos ataques movidos pelos pagãos e pelos hereges e de superar a resistência dos judeus e dos gregos em aceitar a nova fé.</a:t>
            </a:r>
          </a:p>
          <a:p>
            <a:pPr marL="0" indent="0" algn="just">
              <a:buNone/>
            </a:pPr>
            <a:r>
              <a:rPr lang="pt-BR" sz="2200" dirty="0">
                <a:solidFill>
                  <a:srgbClr val="FF0000"/>
                </a:solidFill>
              </a:rPr>
              <a:t>São Justino </a:t>
            </a:r>
            <a:r>
              <a:rPr lang="pt-BR" sz="2200" dirty="0">
                <a:solidFill>
                  <a:schemeClr val="tx1"/>
                </a:solidFill>
              </a:rPr>
              <a:t>(c. 100  – 165) foi um dos primeiros e principais apologistas. Teólogo ensinou que a Filosofia devia </a:t>
            </a:r>
            <a:r>
              <a:rPr lang="pt-BR" sz="2200" dirty="0">
                <a:solidFill>
                  <a:srgbClr val="FF0000"/>
                </a:solidFill>
              </a:rPr>
              <a:t>conduzir</a:t>
            </a:r>
            <a:r>
              <a:rPr lang="pt-BR" sz="2200" dirty="0"/>
              <a:t> </a:t>
            </a:r>
            <a:r>
              <a:rPr lang="pt-BR" sz="2200" dirty="0">
                <a:solidFill>
                  <a:schemeClr val="tx1"/>
                </a:solidFill>
              </a:rPr>
              <a:t>o ser humano a Deus e que cristianismo oferecia</a:t>
            </a:r>
            <a:r>
              <a:rPr lang="pt-BR" sz="2200" dirty="0"/>
              <a:t> </a:t>
            </a:r>
            <a:r>
              <a:rPr lang="pt-BR" sz="2200" dirty="0">
                <a:solidFill>
                  <a:srgbClr val="FF0000"/>
                </a:solidFill>
              </a:rPr>
              <a:t>verdades filosóficas </a:t>
            </a:r>
            <a:r>
              <a:rPr lang="pt-BR" sz="2200" dirty="0">
                <a:solidFill>
                  <a:schemeClr val="tx1"/>
                </a:solidFill>
              </a:rPr>
              <a:t>alcançadas por vias </a:t>
            </a:r>
            <a:r>
              <a:rPr lang="pt-BR" sz="2200" dirty="0">
                <a:solidFill>
                  <a:srgbClr val="FF0000"/>
                </a:solidFill>
              </a:rPr>
              <a:t>não filosóficas</a:t>
            </a:r>
            <a:r>
              <a:rPr lang="pt-BR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687535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435899-44FE-4BDD-A549-667ABE694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Santo Agostinho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C44B772-4891-4FEC-9FF8-77FDDC8629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37253"/>
            <a:ext cx="8596668" cy="4504110"/>
          </a:xfrm>
        </p:spPr>
        <p:txBody>
          <a:bodyPr/>
          <a:lstStyle/>
          <a:p>
            <a:pPr marL="0" indent="0" algn="just">
              <a:buNone/>
            </a:pPr>
            <a:r>
              <a:rPr lang="pt-BR" sz="2500" dirty="0"/>
              <a:t>Agostinho de Hipona, posteriormente conhecido com Santo Agostinho, foi o principal nome da patrística. Nascido em 354 na cidade de </a:t>
            </a:r>
            <a:r>
              <a:rPr lang="pt-BR" sz="2500" dirty="0" err="1"/>
              <a:t>Tagaste</a:t>
            </a:r>
            <a:r>
              <a:rPr lang="pt-BR" sz="2500" dirty="0"/>
              <a:t>, localizada no norte da África e que época, fazia parte do Império Romano, foi convertido ao cristianismo em 386 e nomeado bispo em 394. Faleceu em 430.</a:t>
            </a:r>
          </a:p>
          <a:p>
            <a:pPr marL="0" indent="0" algn="just">
              <a:buNone/>
            </a:pPr>
            <a:r>
              <a:rPr lang="pt-BR" sz="2500" dirty="0"/>
              <a:t>Entre os principais temas da Filosofia agostiniana estavam: as</a:t>
            </a:r>
            <a:r>
              <a:rPr lang="pt-BR" sz="2500" dirty="0">
                <a:solidFill>
                  <a:srgbClr val="FF0000"/>
                </a:solidFill>
              </a:rPr>
              <a:t> </a:t>
            </a:r>
            <a:r>
              <a:rPr lang="pt-BR" sz="2500" dirty="0"/>
              <a:t>relações entre</a:t>
            </a:r>
            <a:r>
              <a:rPr lang="pt-BR" sz="2500" dirty="0">
                <a:solidFill>
                  <a:srgbClr val="FF0000"/>
                </a:solidFill>
              </a:rPr>
              <a:t> fé </a:t>
            </a:r>
            <a:r>
              <a:rPr lang="pt-BR" sz="2500" dirty="0"/>
              <a:t>e</a:t>
            </a:r>
            <a:r>
              <a:rPr lang="pt-BR" sz="2500" dirty="0">
                <a:solidFill>
                  <a:srgbClr val="FF0000"/>
                </a:solidFill>
              </a:rPr>
              <a:t> razão, </a:t>
            </a:r>
            <a:r>
              <a:rPr lang="pt-BR" sz="2500" dirty="0"/>
              <a:t>o</a:t>
            </a:r>
            <a:r>
              <a:rPr lang="pt-BR" sz="2500" dirty="0">
                <a:solidFill>
                  <a:srgbClr val="FF0000"/>
                </a:solidFill>
              </a:rPr>
              <a:t> problema do mal, </a:t>
            </a:r>
            <a:r>
              <a:rPr lang="pt-BR" sz="2500" dirty="0"/>
              <a:t>os</a:t>
            </a:r>
            <a:r>
              <a:rPr lang="pt-BR" sz="2500" dirty="0">
                <a:solidFill>
                  <a:srgbClr val="FF0000"/>
                </a:solidFill>
              </a:rPr>
              <a:t> argumentos </a:t>
            </a:r>
            <a:r>
              <a:rPr lang="pt-BR" sz="2500" dirty="0"/>
              <a:t>da</a:t>
            </a:r>
            <a:r>
              <a:rPr lang="pt-BR" sz="2500" dirty="0">
                <a:solidFill>
                  <a:srgbClr val="FF0000"/>
                </a:solidFill>
              </a:rPr>
              <a:t> existência </a:t>
            </a:r>
            <a:r>
              <a:rPr lang="pt-BR" sz="2500" dirty="0"/>
              <a:t>de</a:t>
            </a:r>
            <a:r>
              <a:rPr lang="pt-BR" sz="2500" dirty="0">
                <a:solidFill>
                  <a:srgbClr val="FF0000"/>
                </a:solidFill>
              </a:rPr>
              <a:t> Deus </a:t>
            </a:r>
            <a:r>
              <a:rPr lang="pt-BR" sz="2500" dirty="0"/>
              <a:t>e a</a:t>
            </a:r>
            <a:r>
              <a:rPr lang="pt-BR" sz="2500" dirty="0">
                <a:solidFill>
                  <a:srgbClr val="FF0000"/>
                </a:solidFill>
              </a:rPr>
              <a:t> liberdade humana.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764600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F4A797-5A63-4AF7-B899-5538894F7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Agostinho: a procura de Deus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4E40D19-DB1B-43B2-8611-55CE342FD1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78227"/>
            <a:ext cx="8596668" cy="466313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sz="2500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pt-BR" sz="2500" dirty="0">
                <a:solidFill>
                  <a:schemeClr val="tx1"/>
                </a:solidFill>
              </a:rPr>
              <a:t>Para Agostinho, havia um </a:t>
            </a:r>
            <a:r>
              <a:rPr lang="pt-BR" sz="2500" dirty="0">
                <a:solidFill>
                  <a:srgbClr val="FF0000"/>
                </a:solidFill>
              </a:rPr>
              <a:t>vínculo profundo </a:t>
            </a:r>
            <a:r>
              <a:rPr lang="pt-BR" sz="2500" dirty="0">
                <a:solidFill>
                  <a:schemeClr val="tx1"/>
                </a:solidFill>
              </a:rPr>
              <a:t>entre </a:t>
            </a:r>
            <a:r>
              <a:rPr lang="pt-BR" sz="2500" dirty="0">
                <a:solidFill>
                  <a:srgbClr val="FF0000"/>
                </a:solidFill>
              </a:rPr>
              <a:t>fé</a:t>
            </a:r>
            <a:r>
              <a:rPr lang="pt-BR" sz="2500" dirty="0">
                <a:solidFill>
                  <a:schemeClr val="tx1"/>
                </a:solidFill>
              </a:rPr>
              <a:t> e </a:t>
            </a:r>
            <a:r>
              <a:rPr lang="pt-BR" sz="2500" dirty="0">
                <a:solidFill>
                  <a:srgbClr val="FF0000"/>
                </a:solidFill>
              </a:rPr>
              <a:t>razão</a:t>
            </a:r>
            <a:r>
              <a:rPr lang="pt-BR" sz="2500" dirty="0">
                <a:solidFill>
                  <a:schemeClr val="tx1"/>
                </a:solidFill>
              </a:rPr>
              <a:t>. Conhecer plenamente a Deus era algo </a:t>
            </a:r>
            <a:r>
              <a:rPr lang="pt-BR" sz="2500" dirty="0">
                <a:solidFill>
                  <a:srgbClr val="FF0000"/>
                </a:solidFill>
              </a:rPr>
              <a:t>inatingível</a:t>
            </a:r>
            <a:r>
              <a:rPr lang="pt-BR" sz="2500" dirty="0">
                <a:solidFill>
                  <a:schemeClr val="tx1"/>
                </a:solidFill>
              </a:rPr>
              <a:t> para o ser humano, já que as </a:t>
            </a:r>
            <a:r>
              <a:rPr lang="pt-BR" sz="2500" dirty="0">
                <a:solidFill>
                  <a:srgbClr val="FF0000"/>
                </a:solidFill>
              </a:rPr>
              <a:t>verdades da fé </a:t>
            </a:r>
            <a:r>
              <a:rPr lang="pt-BR" sz="2500" dirty="0">
                <a:solidFill>
                  <a:schemeClr val="tx1"/>
                </a:solidFill>
              </a:rPr>
              <a:t>não podiam ser demonstradas </a:t>
            </a:r>
            <a:r>
              <a:rPr lang="pt-BR" sz="2500" dirty="0">
                <a:solidFill>
                  <a:srgbClr val="FF0000"/>
                </a:solidFill>
              </a:rPr>
              <a:t>racionalmente</a:t>
            </a:r>
            <a:r>
              <a:rPr lang="pt-BR" sz="2500" dirty="0">
                <a:solidFill>
                  <a:schemeClr val="tx1"/>
                </a:solidFill>
              </a:rPr>
              <a:t>.</a:t>
            </a:r>
          </a:p>
          <a:p>
            <a:pPr marL="0" indent="0" algn="just">
              <a:buNone/>
            </a:pPr>
            <a:endParaRPr lang="pt-BR" sz="2500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pt-BR" sz="2500" dirty="0">
                <a:solidFill>
                  <a:schemeClr val="tx1"/>
                </a:solidFill>
              </a:rPr>
              <a:t>Porém, a </a:t>
            </a:r>
            <a:r>
              <a:rPr lang="pt-BR" sz="2500" dirty="0">
                <a:solidFill>
                  <a:srgbClr val="FF0000"/>
                </a:solidFill>
              </a:rPr>
              <a:t>razão</a:t>
            </a:r>
            <a:r>
              <a:rPr lang="pt-BR" sz="2500" dirty="0">
                <a:solidFill>
                  <a:schemeClr val="tx1"/>
                </a:solidFill>
              </a:rPr>
              <a:t> poderia </a:t>
            </a:r>
            <a:r>
              <a:rPr lang="pt-BR" sz="2500" dirty="0">
                <a:solidFill>
                  <a:srgbClr val="FF0000"/>
                </a:solidFill>
              </a:rPr>
              <a:t>demonstrar</a:t>
            </a:r>
            <a:r>
              <a:rPr lang="pt-BR" sz="2500" dirty="0">
                <a:solidFill>
                  <a:schemeClr val="tx1"/>
                </a:solidFill>
              </a:rPr>
              <a:t> que deve-se </a:t>
            </a:r>
            <a:r>
              <a:rPr lang="pt-BR" sz="2500" dirty="0">
                <a:solidFill>
                  <a:srgbClr val="FF0000"/>
                </a:solidFill>
              </a:rPr>
              <a:t>crer</a:t>
            </a:r>
            <a:r>
              <a:rPr lang="pt-BR" sz="2500" dirty="0">
                <a:solidFill>
                  <a:schemeClr val="tx1"/>
                </a:solidFill>
              </a:rPr>
              <a:t> em tais verdades, porque são elas que levariam os seres humanos a </a:t>
            </a:r>
            <a:r>
              <a:rPr lang="pt-BR" sz="2500" dirty="0">
                <a:solidFill>
                  <a:srgbClr val="FF0000"/>
                </a:solidFill>
              </a:rPr>
              <a:t>salvação</a:t>
            </a:r>
            <a:r>
              <a:rPr lang="pt-BR" sz="2500" dirty="0">
                <a:solidFill>
                  <a:schemeClr val="tx1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6246804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F4A797-5A63-4AF7-B899-5538894F7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Agostinho: a procura de Deus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4E40D19-DB1B-43B2-8611-55CE342FD1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78227"/>
            <a:ext cx="8596668" cy="466313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sz="2500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endParaRPr lang="pt-BR" sz="2500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endParaRPr lang="pt-BR" sz="2500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pt-BR" sz="2500" dirty="0">
                <a:solidFill>
                  <a:schemeClr val="tx1"/>
                </a:solidFill>
              </a:rPr>
              <a:t>E, a partir dessa </a:t>
            </a:r>
            <a:r>
              <a:rPr lang="pt-BR" sz="2500" dirty="0">
                <a:solidFill>
                  <a:srgbClr val="FF0000"/>
                </a:solidFill>
              </a:rPr>
              <a:t>compreensão</a:t>
            </a:r>
            <a:r>
              <a:rPr lang="pt-BR" sz="2500" dirty="0">
                <a:solidFill>
                  <a:schemeClr val="tx1"/>
                </a:solidFill>
              </a:rPr>
              <a:t> e </a:t>
            </a:r>
            <a:r>
              <a:rPr lang="pt-BR" sz="2500" dirty="0">
                <a:solidFill>
                  <a:srgbClr val="FF0000"/>
                </a:solidFill>
              </a:rPr>
              <a:t>aceitação</a:t>
            </a:r>
            <a:r>
              <a:rPr lang="pt-BR" sz="2500" dirty="0">
                <a:solidFill>
                  <a:schemeClr val="tx1"/>
                </a:solidFill>
              </a:rPr>
              <a:t> das </a:t>
            </a:r>
            <a:r>
              <a:rPr lang="pt-BR" sz="2500" dirty="0">
                <a:solidFill>
                  <a:srgbClr val="FF0000"/>
                </a:solidFill>
              </a:rPr>
              <a:t>verdades reveladas</a:t>
            </a:r>
            <a:r>
              <a:rPr lang="pt-BR" sz="2500" dirty="0">
                <a:solidFill>
                  <a:schemeClr val="tx1"/>
                </a:solidFill>
              </a:rPr>
              <a:t> por Deus, o homem poderia </a:t>
            </a:r>
            <a:r>
              <a:rPr lang="pt-BR" sz="2500" dirty="0">
                <a:solidFill>
                  <a:srgbClr val="FF0000"/>
                </a:solidFill>
              </a:rPr>
              <a:t>entender</a:t>
            </a:r>
            <a:r>
              <a:rPr lang="pt-BR" sz="2500" dirty="0">
                <a:solidFill>
                  <a:schemeClr val="tx1"/>
                </a:solidFill>
              </a:rPr>
              <a:t> </a:t>
            </a:r>
            <a:r>
              <a:rPr lang="pt-BR" sz="2500" dirty="0">
                <a:solidFill>
                  <a:srgbClr val="FF0000"/>
                </a:solidFill>
              </a:rPr>
              <a:t>parcialmente</a:t>
            </a:r>
            <a:r>
              <a:rPr lang="pt-BR" sz="2500" dirty="0">
                <a:solidFill>
                  <a:schemeClr val="tx1"/>
                </a:solidFill>
              </a:rPr>
              <a:t> ou </a:t>
            </a:r>
            <a:r>
              <a:rPr lang="pt-BR" sz="2500" dirty="0">
                <a:solidFill>
                  <a:srgbClr val="FF0000"/>
                </a:solidFill>
              </a:rPr>
              <a:t>totalmente</a:t>
            </a:r>
            <a:r>
              <a:rPr lang="pt-BR" sz="2500" dirty="0">
                <a:solidFill>
                  <a:schemeClr val="tx1"/>
                </a:solidFill>
              </a:rPr>
              <a:t> algumas dessas verdades, que estavam na </a:t>
            </a:r>
            <a:r>
              <a:rPr lang="pt-BR" sz="2500" dirty="0">
                <a:solidFill>
                  <a:srgbClr val="FF0000"/>
                </a:solidFill>
              </a:rPr>
              <a:t>Bíblia</a:t>
            </a:r>
            <a:r>
              <a:rPr lang="pt-BR" sz="2500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408880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F4A797-5A63-4AF7-B899-5538894F7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Agostinho: a procura de Deus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4E40D19-DB1B-43B2-8611-55CE342FD1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04731"/>
            <a:ext cx="8596668" cy="463663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pt-BR" sz="2500" dirty="0"/>
          </a:p>
          <a:p>
            <a:pPr marL="0" indent="0" algn="just">
              <a:buNone/>
            </a:pPr>
            <a:r>
              <a:rPr lang="pt-BR" sz="2500" dirty="0">
                <a:solidFill>
                  <a:schemeClr val="tx1"/>
                </a:solidFill>
              </a:rPr>
              <a:t>Agostinho afirma que a </a:t>
            </a:r>
            <a:r>
              <a:rPr lang="pt-BR" sz="2500" dirty="0">
                <a:solidFill>
                  <a:srgbClr val="FF0000"/>
                </a:solidFill>
              </a:rPr>
              <a:t>razão</a:t>
            </a:r>
            <a:r>
              <a:rPr lang="pt-BR" sz="2500" dirty="0"/>
              <a:t> </a:t>
            </a:r>
            <a:r>
              <a:rPr lang="pt-BR" sz="2500" dirty="0">
                <a:solidFill>
                  <a:schemeClr val="tx1"/>
                </a:solidFill>
              </a:rPr>
              <a:t>não se contrapõe à </a:t>
            </a:r>
            <a:r>
              <a:rPr lang="pt-BR" sz="2500" dirty="0">
                <a:solidFill>
                  <a:srgbClr val="FF0000"/>
                </a:solidFill>
              </a:rPr>
              <a:t>fé</a:t>
            </a:r>
            <a:r>
              <a:rPr lang="pt-BR" sz="2500" dirty="0">
                <a:solidFill>
                  <a:schemeClr val="tx1"/>
                </a:solidFill>
              </a:rPr>
              <a:t>. Para ele, a</a:t>
            </a:r>
            <a:r>
              <a:rPr lang="pt-BR" sz="2500" dirty="0"/>
              <a:t> </a:t>
            </a:r>
            <a:r>
              <a:rPr lang="pt-BR" sz="2500" dirty="0">
                <a:solidFill>
                  <a:srgbClr val="FF0000"/>
                </a:solidFill>
              </a:rPr>
              <a:t>razão</a:t>
            </a:r>
            <a:r>
              <a:rPr lang="pt-BR" sz="2500" dirty="0"/>
              <a:t> </a:t>
            </a:r>
            <a:r>
              <a:rPr lang="pt-BR" sz="2500" dirty="0">
                <a:solidFill>
                  <a:srgbClr val="FF0000"/>
                </a:solidFill>
              </a:rPr>
              <a:t>precede</a:t>
            </a:r>
            <a:r>
              <a:rPr lang="pt-BR" sz="2500" dirty="0"/>
              <a:t> a </a:t>
            </a:r>
            <a:r>
              <a:rPr lang="pt-BR" sz="2500" dirty="0">
                <a:solidFill>
                  <a:srgbClr val="FF0000"/>
                </a:solidFill>
              </a:rPr>
              <a:t>revelação divina</a:t>
            </a:r>
            <a:r>
              <a:rPr lang="pt-BR" sz="2500" dirty="0"/>
              <a:t>, </a:t>
            </a:r>
            <a:r>
              <a:rPr lang="pt-BR" sz="2500" dirty="0">
                <a:solidFill>
                  <a:schemeClr val="tx1"/>
                </a:solidFill>
              </a:rPr>
              <a:t>ou seja, o questionamento racional é um</a:t>
            </a:r>
            <a:r>
              <a:rPr lang="pt-BR" sz="2500" dirty="0"/>
              <a:t> </a:t>
            </a:r>
            <a:r>
              <a:rPr lang="pt-BR" sz="2500" dirty="0">
                <a:solidFill>
                  <a:srgbClr val="FF0000"/>
                </a:solidFill>
              </a:rPr>
              <a:t>estímulo</a:t>
            </a:r>
            <a:r>
              <a:rPr lang="pt-BR" sz="2500" dirty="0"/>
              <a:t> </a:t>
            </a:r>
            <a:r>
              <a:rPr lang="pt-BR" sz="2500" dirty="0">
                <a:solidFill>
                  <a:schemeClr val="tx1"/>
                </a:solidFill>
              </a:rPr>
              <a:t>para o homem </a:t>
            </a:r>
            <a:r>
              <a:rPr lang="pt-BR" sz="2500" dirty="0">
                <a:solidFill>
                  <a:srgbClr val="FF0000"/>
                </a:solidFill>
              </a:rPr>
              <a:t>aprender</a:t>
            </a:r>
            <a:r>
              <a:rPr lang="pt-BR" sz="2500" dirty="0"/>
              <a:t>.</a:t>
            </a:r>
          </a:p>
          <a:p>
            <a:pPr marL="0" indent="0" algn="just">
              <a:buNone/>
            </a:pPr>
            <a:r>
              <a:rPr lang="pt-BR" sz="2500" dirty="0">
                <a:solidFill>
                  <a:schemeClr val="tx1"/>
                </a:solidFill>
              </a:rPr>
              <a:t>Em seguida, </a:t>
            </a:r>
            <a:r>
              <a:rPr lang="pt-BR" sz="2500" dirty="0">
                <a:solidFill>
                  <a:srgbClr val="FF0000"/>
                </a:solidFill>
              </a:rPr>
              <a:t>guiado</a:t>
            </a:r>
            <a:r>
              <a:rPr lang="pt-BR" sz="2500" dirty="0"/>
              <a:t> </a:t>
            </a:r>
            <a:r>
              <a:rPr lang="pt-BR" sz="2500" dirty="0">
                <a:solidFill>
                  <a:schemeClr val="tx1"/>
                </a:solidFill>
              </a:rPr>
              <a:t>pela fé, a razão </a:t>
            </a:r>
            <a:r>
              <a:rPr lang="pt-BR" sz="2500" dirty="0">
                <a:solidFill>
                  <a:srgbClr val="FF0000"/>
                </a:solidFill>
              </a:rPr>
              <a:t>investigaria</a:t>
            </a:r>
            <a:r>
              <a:rPr lang="pt-BR" sz="2500" dirty="0"/>
              <a:t> </a:t>
            </a:r>
            <a:r>
              <a:rPr lang="pt-BR" sz="2500" dirty="0">
                <a:solidFill>
                  <a:schemeClr val="tx1"/>
                </a:solidFill>
              </a:rPr>
              <a:t>e </a:t>
            </a:r>
            <a:r>
              <a:rPr lang="pt-BR" sz="2500" dirty="0">
                <a:solidFill>
                  <a:srgbClr val="FF0000"/>
                </a:solidFill>
              </a:rPr>
              <a:t>compreenderia</a:t>
            </a:r>
            <a:r>
              <a:rPr lang="pt-BR" sz="2500" dirty="0"/>
              <a:t> </a:t>
            </a:r>
            <a:r>
              <a:rPr lang="pt-BR" sz="2500" dirty="0">
                <a:solidFill>
                  <a:schemeClr val="tx1"/>
                </a:solidFill>
              </a:rPr>
              <a:t>partes das </a:t>
            </a:r>
            <a:r>
              <a:rPr lang="pt-BR" sz="2500" dirty="0">
                <a:solidFill>
                  <a:srgbClr val="FF0000"/>
                </a:solidFill>
              </a:rPr>
              <a:t>verdades divinas</a:t>
            </a:r>
            <a:r>
              <a:rPr lang="pt-BR" sz="2500" dirty="0"/>
              <a:t>. </a:t>
            </a:r>
          </a:p>
          <a:p>
            <a:pPr marL="0" indent="0" algn="just">
              <a:buNone/>
            </a:pPr>
            <a:r>
              <a:rPr lang="pt-BR" sz="2500" dirty="0">
                <a:solidFill>
                  <a:schemeClr val="tx1"/>
                </a:solidFill>
              </a:rPr>
              <a:t>A síntese desse pensamento está na seguinte frase de sua autoria: “</a:t>
            </a:r>
            <a:r>
              <a:rPr lang="pt-BR" sz="2500" dirty="0">
                <a:solidFill>
                  <a:srgbClr val="FF0000"/>
                </a:solidFill>
              </a:rPr>
              <a:t>Compreender para crer e crer para compreender</a:t>
            </a:r>
            <a:r>
              <a:rPr lang="pt-BR" sz="2500" dirty="0">
                <a:solidFill>
                  <a:schemeClr val="tx1"/>
                </a:solidFill>
              </a:rPr>
              <a:t>”.</a:t>
            </a:r>
          </a:p>
        </p:txBody>
      </p:sp>
    </p:spTree>
    <p:extLst>
      <p:ext uri="{BB962C8B-B14F-4D97-AF65-F5344CB8AC3E}">
        <p14:creationId xmlns:p14="http://schemas.microsoft.com/office/powerpoint/2010/main" val="41007153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F4A797-5A63-4AF7-B899-5538894F7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A existência de Deus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4E40D19-DB1B-43B2-8611-55CE342FD1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11965"/>
            <a:ext cx="8596668" cy="4729397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sz="2500" dirty="0"/>
          </a:p>
          <a:p>
            <a:pPr marL="0" indent="0" algn="just">
              <a:buNone/>
            </a:pPr>
            <a:endParaRPr lang="pt-BR" sz="2500" dirty="0"/>
          </a:p>
          <a:p>
            <a:pPr marL="0" indent="0" algn="just">
              <a:buNone/>
            </a:pPr>
            <a:r>
              <a:rPr lang="pt-BR" sz="2500" dirty="0">
                <a:solidFill>
                  <a:schemeClr val="tx1"/>
                </a:solidFill>
              </a:rPr>
              <a:t>Para o filósofo as </a:t>
            </a:r>
            <a:r>
              <a:rPr lang="pt-BR" sz="2500" dirty="0">
                <a:solidFill>
                  <a:srgbClr val="FF0000"/>
                </a:solidFill>
              </a:rPr>
              <a:t>provas</a:t>
            </a:r>
            <a:r>
              <a:rPr lang="pt-BR" sz="2500" dirty="0"/>
              <a:t> </a:t>
            </a:r>
            <a:r>
              <a:rPr lang="pt-BR" sz="2500" dirty="0">
                <a:solidFill>
                  <a:schemeClr val="tx1"/>
                </a:solidFill>
              </a:rPr>
              <a:t>da existência de Deus podiam ser encontradas nos próprios</a:t>
            </a:r>
            <a:r>
              <a:rPr lang="pt-BR" sz="2500" dirty="0"/>
              <a:t> </a:t>
            </a:r>
            <a:r>
              <a:rPr lang="pt-BR" sz="2500" dirty="0">
                <a:solidFill>
                  <a:srgbClr val="FF0000"/>
                </a:solidFill>
              </a:rPr>
              <a:t>seres humanos</a:t>
            </a:r>
            <a:r>
              <a:rPr lang="pt-BR" sz="2500" dirty="0"/>
              <a:t>, </a:t>
            </a:r>
            <a:r>
              <a:rPr lang="pt-BR" sz="2500" dirty="0">
                <a:solidFill>
                  <a:srgbClr val="FF0000"/>
                </a:solidFill>
              </a:rPr>
              <a:t>criaturas divinas</a:t>
            </a:r>
            <a:r>
              <a:rPr lang="pt-BR" sz="2500" dirty="0"/>
              <a:t>. </a:t>
            </a:r>
            <a:r>
              <a:rPr lang="pt-BR" sz="2500" dirty="0">
                <a:solidFill>
                  <a:schemeClr val="tx1"/>
                </a:solidFill>
              </a:rPr>
              <a:t>Na obra </a:t>
            </a:r>
            <a:r>
              <a:rPr lang="pt-BR" sz="2500" dirty="0">
                <a:solidFill>
                  <a:srgbClr val="FF0000"/>
                </a:solidFill>
              </a:rPr>
              <a:t>O livre-arbítrio</a:t>
            </a:r>
            <a:r>
              <a:rPr lang="pt-BR" sz="2500" dirty="0">
                <a:solidFill>
                  <a:schemeClr val="tx1"/>
                </a:solidFill>
              </a:rPr>
              <a:t>, Santo Agostinho dialoga com eu amigo </a:t>
            </a:r>
            <a:r>
              <a:rPr lang="pt-BR" sz="2500" dirty="0" err="1">
                <a:solidFill>
                  <a:schemeClr val="tx1"/>
                </a:solidFill>
              </a:rPr>
              <a:t>Evódio</a:t>
            </a:r>
            <a:r>
              <a:rPr lang="pt-BR" sz="2500" dirty="0">
                <a:solidFill>
                  <a:schemeClr val="tx1"/>
                </a:solidFill>
              </a:rPr>
              <a:t> sobre o tema. </a:t>
            </a:r>
          </a:p>
          <a:p>
            <a:pPr marL="0" indent="0" algn="just">
              <a:buNone/>
            </a:pPr>
            <a:r>
              <a:rPr lang="pt-BR" sz="2500" dirty="0">
                <a:solidFill>
                  <a:schemeClr val="tx1"/>
                </a:solidFill>
              </a:rPr>
              <a:t>Para </a:t>
            </a:r>
            <a:r>
              <a:rPr lang="pt-BR" sz="2500" dirty="0" err="1">
                <a:solidFill>
                  <a:schemeClr val="tx1"/>
                </a:solidFill>
              </a:rPr>
              <a:t>Evódio</a:t>
            </a:r>
            <a:r>
              <a:rPr lang="pt-BR" sz="2500" dirty="0">
                <a:solidFill>
                  <a:schemeClr val="tx1"/>
                </a:solidFill>
              </a:rPr>
              <a:t>, é evidente a existência de Deus; porém é uma evidência de </a:t>
            </a:r>
            <a:r>
              <a:rPr lang="pt-BR" sz="2500" dirty="0">
                <a:solidFill>
                  <a:srgbClr val="FF0000"/>
                </a:solidFill>
              </a:rPr>
              <a:t>fé</a:t>
            </a:r>
            <a:r>
              <a:rPr lang="pt-BR" sz="2500" dirty="0">
                <a:solidFill>
                  <a:schemeClr val="tx1"/>
                </a:solidFill>
              </a:rPr>
              <a:t>, não de</a:t>
            </a:r>
            <a:r>
              <a:rPr lang="pt-BR" sz="2500" dirty="0"/>
              <a:t> </a:t>
            </a:r>
            <a:r>
              <a:rPr lang="pt-BR" sz="2500" dirty="0">
                <a:solidFill>
                  <a:srgbClr val="FF0000"/>
                </a:solidFill>
              </a:rPr>
              <a:t>entendimento</a:t>
            </a:r>
            <a:r>
              <a:rPr lang="pt-BR" sz="25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105851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F4A797-5A63-4AF7-B899-5538894F7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A existência de Deus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4E40D19-DB1B-43B2-8611-55CE342FD1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11965"/>
            <a:ext cx="8596668" cy="4729397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sz="2500" dirty="0"/>
          </a:p>
          <a:p>
            <a:pPr marL="0" indent="0" algn="just">
              <a:buNone/>
            </a:pPr>
            <a:endParaRPr lang="pt-BR" sz="2500" dirty="0"/>
          </a:p>
          <a:p>
            <a:pPr marL="0" indent="0" algn="just">
              <a:buNone/>
            </a:pPr>
            <a:r>
              <a:rPr lang="pt-BR" sz="2500" dirty="0">
                <a:solidFill>
                  <a:schemeClr val="tx1"/>
                </a:solidFill>
              </a:rPr>
              <a:t>Agostinho questiona essa posição com o argumento de que, se a existência de Deus for dada</a:t>
            </a:r>
            <a:r>
              <a:rPr lang="pt-BR" sz="2500" dirty="0"/>
              <a:t> </a:t>
            </a:r>
            <a:r>
              <a:rPr lang="pt-BR" sz="2500" dirty="0">
                <a:solidFill>
                  <a:srgbClr val="FF0000"/>
                </a:solidFill>
              </a:rPr>
              <a:t>exclusivamente</a:t>
            </a:r>
            <a:r>
              <a:rPr lang="pt-BR" sz="2500" dirty="0"/>
              <a:t> </a:t>
            </a:r>
            <a:r>
              <a:rPr lang="pt-BR" sz="2500" dirty="0">
                <a:solidFill>
                  <a:schemeClr val="tx1"/>
                </a:solidFill>
              </a:rPr>
              <a:t>pela</a:t>
            </a:r>
            <a:r>
              <a:rPr lang="pt-BR" sz="2500" dirty="0"/>
              <a:t> </a:t>
            </a:r>
            <a:r>
              <a:rPr lang="pt-BR" sz="2500" dirty="0">
                <a:solidFill>
                  <a:srgbClr val="FF0000"/>
                </a:solidFill>
              </a:rPr>
              <a:t>fé</a:t>
            </a:r>
            <a:r>
              <a:rPr lang="pt-BR" sz="2500" dirty="0"/>
              <a:t> </a:t>
            </a:r>
            <a:r>
              <a:rPr lang="pt-BR" sz="2500" dirty="0">
                <a:solidFill>
                  <a:schemeClr val="tx1"/>
                </a:solidFill>
              </a:rPr>
              <a:t>e </a:t>
            </a:r>
            <a:r>
              <a:rPr lang="pt-BR" sz="2500" dirty="0">
                <a:solidFill>
                  <a:srgbClr val="FF0000"/>
                </a:solidFill>
              </a:rPr>
              <a:t>inacessível</a:t>
            </a:r>
            <a:r>
              <a:rPr lang="pt-BR" sz="2500" dirty="0"/>
              <a:t> pela </a:t>
            </a:r>
            <a:r>
              <a:rPr lang="pt-BR" sz="2500" dirty="0">
                <a:solidFill>
                  <a:srgbClr val="FF0000"/>
                </a:solidFill>
              </a:rPr>
              <a:t>razão</a:t>
            </a:r>
            <a:r>
              <a:rPr lang="pt-BR" sz="2500" dirty="0">
                <a:solidFill>
                  <a:schemeClr val="tx1"/>
                </a:solidFill>
              </a:rPr>
              <a:t>, então cada um pode </a:t>
            </a:r>
            <a:r>
              <a:rPr lang="pt-BR" sz="2500" dirty="0">
                <a:solidFill>
                  <a:srgbClr val="FF0000"/>
                </a:solidFill>
              </a:rPr>
              <a:t>acreditar</a:t>
            </a:r>
            <a:r>
              <a:rPr lang="pt-BR" sz="2500" dirty="0"/>
              <a:t> </a:t>
            </a:r>
            <a:r>
              <a:rPr lang="pt-BR" sz="2500" dirty="0">
                <a:solidFill>
                  <a:schemeClr val="tx1"/>
                </a:solidFill>
              </a:rPr>
              <a:t>ou</a:t>
            </a:r>
            <a:r>
              <a:rPr lang="pt-BR" sz="2500" dirty="0"/>
              <a:t> </a:t>
            </a:r>
            <a:r>
              <a:rPr lang="pt-BR" sz="2500" dirty="0">
                <a:solidFill>
                  <a:srgbClr val="FF0000"/>
                </a:solidFill>
              </a:rPr>
              <a:t>deixar</a:t>
            </a:r>
            <a:r>
              <a:rPr lang="pt-BR" sz="2500" dirty="0"/>
              <a:t> </a:t>
            </a:r>
            <a:r>
              <a:rPr lang="pt-BR" sz="2500" dirty="0">
                <a:solidFill>
                  <a:schemeClr val="tx1"/>
                </a:solidFill>
              </a:rPr>
              <a:t>de</a:t>
            </a:r>
            <a:r>
              <a:rPr lang="pt-BR" sz="2500" dirty="0"/>
              <a:t> </a:t>
            </a:r>
            <a:r>
              <a:rPr lang="pt-BR" sz="2500" dirty="0">
                <a:solidFill>
                  <a:srgbClr val="FF0000"/>
                </a:solidFill>
              </a:rPr>
              <a:t>acreditar</a:t>
            </a:r>
            <a:r>
              <a:rPr lang="pt-BR" sz="2500" dirty="0"/>
              <a:t> </a:t>
            </a:r>
            <a:r>
              <a:rPr lang="pt-BR" sz="2500" dirty="0">
                <a:solidFill>
                  <a:schemeClr val="tx1"/>
                </a:solidFill>
              </a:rPr>
              <a:t>em Deus e, com esse raciocínio, as pessoas</a:t>
            </a:r>
            <a:r>
              <a:rPr lang="pt-BR" sz="2500" dirty="0"/>
              <a:t> </a:t>
            </a:r>
            <a:r>
              <a:rPr lang="pt-BR" sz="2500" dirty="0">
                <a:solidFill>
                  <a:srgbClr val="FF0000"/>
                </a:solidFill>
              </a:rPr>
              <a:t>não</a:t>
            </a:r>
            <a:r>
              <a:rPr lang="pt-BR" sz="2500" dirty="0"/>
              <a:t> </a:t>
            </a:r>
            <a:r>
              <a:rPr lang="pt-BR" sz="2500" dirty="0">
                <a:solidFill>
                  <a:schemeClr val="tx1"/>
                </a:solidFill>
              </a:rPr>
              <a:t>poderiam conhecer a </a:t>
            </a:r>
            <a:r>
              <a:rPr lang="pt-BR" sz="2500" dirty="0">
                <a:solidFill>
                  <a:srgbClr val="FF0000"/>
                </a:solidFill>
              </a:rPr>
              <a:t>verdade</a:t>
            </a:r>
            <a:r>
              <a:rPr lang="pt-BR" sz="25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242417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86F804-F6D4-4382-9C16-5678EA798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Filosofar e confessar: principais temas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F42004-3620-485E-A2F8-C4D0317BDC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51723"/>
            <a:ext cx="8596668" cy="468964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sz="2500" dirty="0"/>
          </a:p>
          <a:p>
            <a:pPr marL="0" indent="0" algn="just">
              <a:buNone/>
            </a:pPr>
            <a:endParaRPr lang="pt-BR" sz="2500" dirty="0"/>
          </a:p>
          <a:p>
            <a:pPr marL="0" indent="0" algn="just">
              <a:buNone/>
            </a:pPr>
            <a:r>
              <a:rPr lang="pt-BR" sz="2500" dirty="0"/>
              <a:t>Umas das principais e mais conhecidas obras de Santo Agostinho chama-se </a:t>
            </a:r>
            <a:r>
              <a:rPr lang="pt-BR" sz="2500" dirty="0">
                <a:solidFill>
                  <a:srgbClr val="FF0000"/>
                </a:solidFill>
              </a:rPr>
              <a:t>Confissões</a:t>
            </a:r>
            <a:r>
              <a:rPr lang="pt-BR" sz="2500" dirty="0"/>
              <a:t>. A primeira parte da obra é </a:t>
            </a:r>
            <a:r>
              <a:rPr lang="pt-BR" sz="2500" dirty="0">
                <a:solidFill>
                  <a:srgbClr val="FF0000"/>
                </a:solidFill>
              </a:rPr>
              <a:t>autobiográfica</a:t>
            </a:r>
            <a:r>
              <a:rPr lang="pt-BR" sz="2500" dirty="0"/>
              <a:t>, e a segunda parte é </a:t>
            </a:r>
            <a:r>
              <a:rPr lang="pt-BR" sz="2500" dirty="0">
                <a:solidFill>
                  <a:srgbClr val="FF0000"/>
                </a:solidFill>
              </a:rPr>
              <a:t>reflexiva</a:t>
            </a:r>
            <a:r>
              <a:rPr lang="pt-BR" sz="2500" dirty="0"/>
              <a:t>, nela o filósofo aborda os temas de que mais de ocupou, como </a:t>
            </a:r>
            <a:r>
              <a:rPr lang="pt-BR" sz="2500" dirty="0">
                <a:solidFill>
                  <a:srgbClr val="FF0000"/>
                </a:solidFill>
              </a:rPr>
              <a:t>Deus</a:t>
            </a:r>
            <a:r>
              <a:rPr lang="pt-BR" sz="2500" dirty="0"/>
              <a:t>, </a:t>
            </a:r>
            <a:r>
              <a:rPr lang="pt-BR" sz="2500" dirty="0">
                <a:solidFill>
                  <a:srgbClr val="FF0000"/>
                </a:solidFill>
              </a:rPr>
              <a:t>criação</a:t>
            </a:r>
            <a:r>
              <a:rPr lang="pt-BR" sz="2500" dirty="0"/>
              <a:t> e </a:t>
            </a:r>
            <a:r>
              <a:rPr lang="pt-BR" sz="2500" dirty="0">
                <a:solidFill>
                  <a:srgbClr val="FF0000"/>
                </a:solidFill>
              </a:rPr>
              <a:t>tempo</a:t>
            </a:r>
            <a:r>
              <a:rPr lang="pt-BR" sz="25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939115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86F804-F6D4-4382-9C16-5678EA798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Filosofar e confessar: principais temas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F42004-3620-485E-A2F8-C4D0317BDC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51723"/>
            <a:ext cx="8596668" cy="468964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sz="2500" dirty="0"/>
          </a:p>
          <a:p>
            <a:pPr marL="0" indent="0" algn="just">
              <a:buNone/>
            </a:pPr>
            <a:endParaRPr lang="pt-BR" sz="2500" dirty="0"/>
          </a:p>
          <a:p>
            <a:pPr marL="0" indent="0" algn="just">
              <a:buNone/>
            </a:pPr>
            <a:r>
              <a:rPr lang="pt-BR" sz="2500" dirty="0">
                <a:solidFill>
                  <a:schemeClr val="tx1"/>
                </a:solidFill>
              </a:rPr>
              <a:t>A</a:t>
            </a:r>
            <a:r>
              <a:rPr lang="pt-BR" sz="2500" dirty="0"/>
              <a:t> </a:t>
            </a:r>
            <a:r>
              <a:rPr lang="pt-BR" sz="2500" dirty="0">
                <a:solidFill>
                  <a:srgbClr val="FF0000"/>
                </a:solidFill>
              </a:rPr>
              <a:t>sofística</a:t>
            </a:r>
            <a:r>
              <a:rPr lang="pt-BR" sz="2500" dirty="0"/>
              <a:t> </a:t>
            </a:r>
            <a:r>
              <a:rPr lang="pt-BR" sz="2500" dirty="0">
                <a:solidFill>
                  <a:schemeClr val="tx1"/>
                </a:solidFill>
              </a:rPr>
              <a:t>já havia tentado se aproximar de um estilo filosófico</a:t>
            </a:r>
            <a:r>
              <a:rPr lang="pt-BR" sz="2500" dirty="0"/>
              <a:t> </a:t>
            </a:r>
            <a:r>
              <a:rPr lang="pt-BR" sz="2500" dirty="0">
                <a:solidFill>
                  <a:srgbClr val="FF0000"/>
                </a:solidFill>
              </a:rPr>
              <a:t>pessoal </a:t>
            </a:r>
            <a:r>
              <a:rPr lang="pt-BR" sz="2500" dirty="0">
                <a:solidFill>
                  <a:schemeClr val="tx1"/>
                </a:solidFill>
              </a:rPr>
              <a:t>ao defender que toda a verdade era </a:t>
            </a:r>
            <a:r>
              <a:rPr lang="pt-BR" sz="2500" dirty="0">
                <a:solidFill>
                  <a:srgbClr val="FF0000"/>
                </a:solidFill>
              </a:rPr>
              <a:t>relativa</a:t>
            </a:r>
            <a:r>
              <a:rPr lang="pt-BR" sz="2500" dirty="0">
                <a:solidFill>
                  <a:schemeClr val="tx1"/>
                </a:solidFill>
              </a:rPr>
              <a:t>, pois seria impossível dizer o que as coisas são em si mesmas com base apenas em como elas aparecem para cada um.</a:t>
            </a:r>
          </a:p>
          <a:p>
            <a:pPr marL="0" indent="0" algn="just">
              <a:buNone/>
            </a:pPr>
            <a:r>
              <a:rPr lang="pt-BR" sz="2500" dirty="0">
                <a:solidFill>
                  <a:schemeClr val="tx1"/>
                </a:solidFill>
              </a:rPr>
              <a:t>Santo Agostinho, no entanto, procurava dizer em </a:t>
            </a:r>
            <a:r>
              <a:rPr lang="pt-BR" sz="2500" dirty="0">
                <a:solidFill>
                  <a:srgbClr val="FF0000"/>
                </a:solidFill>
              </a:rPr>
              <a:t>primeira pessoa </a:t>
            </a:r>
            <a:r>
              <a:rPr lang="pt-BR" sz="2500" dirty="0">
                <a:solidFill>
                  <a:schemeClr val="tx1"/>
                </a:solidFill>
              </a:rPr>
              <a:t>o que as coisas realmente eram, ou seja, a </a:t>
            </a:r>
            <a:r>
              <a:rPr lang="pt-BR" sz="2500" dirty="0">
                <a:solidFill>
                  <a:srgbClr val="FF0000"/>
                </a:solidFill>
              </a:rPr>
              <a:t>verdade</a:t>
            </a:r>
            <a:r>
              <a:rPr lang="pt-BR" sz="25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822048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54FEE6-DFF4-4D6A-BE7F-79003F2EA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A Escolástica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0EF7643-FE08-49FF-B58B-EB7987814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97497"/>
            <a:ext cx="8596668" cy="454386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2500" dirty="0">
                <a:solidFill>
                  <a:srgbClr val="FF0000"/>
                </a:solidFill>
                <a:latin typeface="+mj-lt"/>
              </a:rPr>
              <a:t>O encontro da razão com a fé</a:t>
            </a:r>
          </a:p>
          <a:p>
            <a:pPr marL="0" indent="0" algn="just">
              <a:buNone/>
            </a:pPr>
            <a:endParaRPr lang="pt-BR" sz="2500" dirty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r>
              <a:rPr lang="pt-BR" sz="2500" dirty="0">
                <a:solidFill>
                  <a:schemeClr val="tx1"/>
                </a:solidFill>
              </a:rPr>
              <a:t>A relação entre fé e razão, entre crença e ciência, marcou grande parte das polêmicas e dos debates desenvolvidos entre os filósofos e teólogos da Idade Média. Nesse embate, sobressaiu a voz de </a:t>
            </a:r>
            <a:r>
              <a:rPr lang="pt-BR" sz="2500" dirty="0">
                <a:solidFill>
                  <a:srgbClr val="FF0000"/>
                </a:solidFill>
              </a:rPr>
              <a:t>Tomás de Aquino</a:t>
            </a:r>
            <a:r>
              <a:rPr lang="pt-BR" sz="2500" dirty="0">
                <a:solidFill>
                  <a:schemeClr val="tx1"/>
                </a:solidFill>
              </a:rPr>
              <a:t>, que buscou conciliar</a:t>
            </a:r>
            <a:r>
              <a:rPr lang="pt-BR" sz="2500" dirty="0">
                <a:solidFill>
                  <a:srgbClr val="FF0000"/>
                </a:solidFill>
              </a:rPr>
              <a:t> as verdades reveladas </a:t>
            </a:r>
            <a:r>
              <a:rPr lang="pt-BR" sz="2500" dirty="0">
                <a:solidFill>
                  <a:schemeClr val="tx1"/>
                </a:solidFill>
              </a:rPr>
              <a:t>com </a:t>
            </a:r>
            <a:r>
              <a:rPr lang="pt-BR" sz="2500" dirty="0">
                <a:solidFill>
                  <a:srgbClr val="FF0000"/>
                </a:solidFill>
              </a:rPr>
              <a:t>as verdades adquiridas pelas razão</a:t>
            </a:r>
            <a:r>
              <a:rPr lang="pt-BR" sz="2500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522262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C2163-AAEA-496D-ABC7-17DE409D6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A filosofia das escolas cristãs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09E613-85DF-4B5B-92E1-804CEBFCB0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77008"/>
            <a:ext cx="8596668" cy="442459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2500" dirty="0">
                <a:solidFill>
                  <a:schemeClr val="tx1"/>
                </a:solidFill>
              </a:rPr>
              <a:t>Se a Patrística coube estabelecer um sistema de dogmas cristãos, aos filósofos escolásticos cumpria tornar esses dogmas compreensíveis a um número maior de pessoas, contribuindo na </a:t>
            </a:r>
            <a:r>
              <a:rPr lang="pt-BR" sz="2500" dirty="0">
                <a:solidFill>
                  <a:srgbClr val="FF0000"/>
                </a:solidFill>
              </a:rPr>
              <a:t>formação dos religiosos e na divulgação do cristianismo</a:t>
            </a:r>
            <a:r>
              <a:rPr lang="pt-BR" sz="2500" dirty="0"/>
              <a:t>.</a:t>
            </a:r>
          </a:p>
          <a:p>
            <a:pPr marL="0" indent="0" algn="just">
              <a:buNone/>
            </a:pPr>
            <a:r>
              <a:rPr lang="pt-BR" sz="2500" dirty="0">
                <a:solidFill>
                  <a:schemeClr val="tx1"/>
                </a:solidFill>
              </a:rPr>
              <a:t>No período medieval, o termo “escolástico” referia-se a qualquer professor que lecionasse em uma escola, ensinando as chamadas artes liberais, compostas pelo </a:t>
            </a:r>
            <a:r>
              <a:rPr lang="pt-BR" sz="2500" dirty="0" err="1">
                <a:solidFill>
                  <a:srgbClr val="FF0000"/>
                </a:solidFill>
              </a:rPr>
              <a:t>trívio</a:t>
            </a:r>
            <a:r>
              <a:rPr lang="pt-BR" sz="2500" dirty="0"/>
              <a:t> </a:t>
            </a:r>
            <a:r>
              <a:rPr lang="pt-BR" sz="2500" dirty="0">
                <a:solidFill>
                  <a:schemeClr val="tx1"/>
                </a:solidFill>
              </a:rPr>
              <a:t>(gramática, lógica ou dialética e retórica) e pelo</a:t>
            </a:r>
            <a:r>
              <a:rPr lang="pt-BR" sz="2500" dirty="0"/>
              <a:t> </a:t>
            </a:r>
            <a:r>
              <a:rPr lang="pt-BR" sz="2500" dirty="0" err="1">
                <a:solidFill>
                  <a:srgbClr val="FF0000"/>
                </a:solidFill>
              </a:rPr>
              <a:t>quadrívio</a:t>
            </a:r>
            <a:r>
              <a:rPr lang="pt-BR" sz="2500" dirty="0"/>
              <a:t> </a:t>
            </a:r>
            <a:r>
              <a:rPr lang="pt-BR" sz="2500" dirty="0">
                <a:solidFill>
                  <a:schemeClr val="tx1"/>
                </a:solidFill>
              </a:rPr>
              <a:t>(geometria, aritmética, astronomia e música).</a:t>
            </a:r>
          </a:p>
          <a:p>
            <a:pPr marL="0" indent="0" algn="just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598997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FA02E2-C26A-4332-890C-A8093B113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A filosofia das escolas cristãs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70A6F7-36E0-46B4-A141-BA46772BC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51723"/>
            <a:ext cx="8596668" cy="468964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sz="2500" dirty="0"/>
          </a:p>
          <a:p>
            <a:pPr marL="0" indent="0" algn="just">
              <a:buNone/>
            </a:pPr>
            <a:endParaRPr lang="pt-BR" sz="2500" dirty="0"/>
          </a:p>
          <a:p>
            <a:pPr marL="0" indent="0" algn="just">
              <a:buNone/>
            </a:pPr>
            <a:r>
              <a:rPr lang="pt-BR" sz="2500" dirty="0">
                <a:solidFill>
                  <a:schemeClr val="tx1"/>
                </a:solidFill>
              </a:rPr>
              <a:t>Alguns estudiosos situam o início dessa corrente filosófica no florescimento cultural que marcou o </a:t>
            </a:r>
            <a:r>
              <a:rPr lang="pt-BR" sz="2500" dirty="0">
                <a:solidFill>
                  <a:srgbClr val="FF0000"/>
                </a:solidFill>
              </a:rPr>
              <a:t>Império Carolíngio (Carlos Magno</a:t>
            </a:r>
            <a:r>
              <a:rPr lang="pt-BR" sz="2500" dirty="0">
                <a:solidFill>
                  <a:schemeClr val="tx1"/>
                </a:solidFill>
              </a:rPr>
              <a:t>), no século IX. Seu auge, porém, ocorreu na Baixa Idade Média, entre os séculos XII e XV, período no qual sobressaiu o pensamento de</a:t>
            </a:r>
            <a:r>
              <a:rPr lang="pt-BR" sz="2500" dirty="0"/>
              <a:t> </a:t>
            </a:r>
            <a:r>
              <a:rPr lang="pt-BR" sz="2500" dirty="0">
                <a:solidFill>
                  <a:srgbClr val="FF0000"/>
                </a:solidFill>
              </a:rPr>
              <a:t>Tomás de Aquino.</a:t>
            </a:r>
          </a:p>
        </p:txBody>
      </p:sp>
    </p:spTree>
    <p:extLst>
      <p:ext uri="{BB962C8B-B14F-4D97-AF65-F5344CB8AC3E}">
        <p14:creationId xmlns:p14="http://schemas.microsoft.com/office/powerpoint/2010/main" val="13624479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FA02E2-C26A-4332-890C-A8093B113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A filosofia das escolas cristãs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70A6F7-36E0-46B4-A141-BA46772BC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51723"/>
            <a:ext cx="8596668" cy="468964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sz="2500" dirty="0"/>
          </a:p>
          <a:p>
            <a:pPr marL="0" indent="0" algn="just">
              <a:buNone/>
            </a:pPr>
            <a:r>
              <a:rPr lang="pt-BR" sz="2500" dirty="0">
                <a:solidFill>
                  <a:schemeClr val="tx1"/>
                </a:solidFill>
              </a:rPr>
              <a:t>O ensino nas escolas carolíngias, desenvolvido nos </a:t>
            </a:r>
            <a:r>
              <a:rPr lang="pt-BR" sz="2500" dirty="0">
                <a:solidFill>
                  <a:srgbClr val="FF0000"/>
                </a:solidFill>
              </a:rPr>
              <a:t>monastérios</a:t>
            </a:r>
            <a:r>
              <a:rPr lang="pt-BR" sz="2500" dirty="0"/>
              <a:t> </a:t>
            </a:r>
            <a:r>
              <a:rPr lang="pt-BR" sz="2500" dirty="0">
                <a:solidFill>
                  <a:schemeClr val="tx1"/>
                </a:solidFill>
              </a:rPr>
              <a:t>e nas </a:t>
            </a:r>
            <a:r>
              <a:rPr lang="pt-BR" sz="2500" dirty="0">
                <a:solidFill>
                  <a:srgbClr val="FF0000"/>
                </a:solidFill>
              </a:rPr>
              <a:t>catedrais</a:t>
            </a:r>
            <a:r>
              <a:rPr lang="pt-BR" sz="2500" dirty="0">
                <a:solidFill>
                  <a:schemeClr val="tx1"/>
                </a:solidFill>
              </a:rPr>
              <a:t>, cumpriu um papel importante para a continuidade da reflexão filosófica e para a preservação do patrimônio cultural greco-romano. </a:t>
            </a:r>
          </a:p>
          <a:p>
            <a:pPr marL="0" indent="0" algn="just">
              <a:buNone/>
            </a:pPr>
            <a:r>
              <a:rPr lang="pt-BR" sz="2500" dirty="0">
                <a:solidFill>
                  <a:schemeClr val="tx1"/>
                </a:solidFill>
              </a:rPr>
              <a:t>Além disso, muitas escolas deram origem às </a:t>
            </a:r>
            <a:r>
              <a:rPr lang="pt-BR" sz="2500" dirty="0">
                <a:solidFill>
                  <a:srgbClr val="FF0000"/>
                </a:solidFill>
              </a:rPr>
              <a:t>primeiras universidades europeias</a:t>
            </a:r>
            <a:r>
              <a:rPr lang="pt-BR" sz="2500" dirty="0">
                <a:solidFill>
                  <a:schemeClr val="tx1"/>
                </a:solidFill>
              </a:rPr>
              <a:t>, que iriam constituir a base da cultura letrada da Europa medieval e mais adiante o florescimento da </a:t>
            </a:r>
            <a:r>
              <a:rPr lang="pt-BR" sz="2500" dirty="0">
                <a:solidFill>
                  <a:srgbClr val="FF0000"/>
                </a:solidFill>
              </a:rPr>
              <a:t>Renascença</a:t>
            </a:r>
            <a:r>
              <a:rPr lang="pt-BR" sz="2500" dirty="0">
                <a:solidFill>
                  <a:schemeClr val="tx1"/>
                </a:solidFill>
              </a:rPr>
              <a:t>, no início da Idade Moderna.</a:t>
            </a:r>
          </a:p>
        </p:txBody>
      </p:sp>
    </p:spTree>
    <p:extLst>
      <p:ext uri="{BB962C8B-B14F-4D97-AF65-F5344CB8AC3E}">
        <p14:creationId xmlns:p14="http://schemas.microsoft.com/office/powerpoint/2010/main" val="30828574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14BD85-1B13-48C8-B29E-01EB64ED5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Surgimento as universidades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8BE464-5AF6-4353-A91D-CFE72C303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endParaRPr lang="pt-BR" dirty="0"/>
          </a:p>
          <a:p>
            <a:pPr marL="0" indent="0" algn="just">
              <a:buNone/>
            </a:pPr>
            <a:endParaRPr lang="pt-BR" dirty="0"/>
          </a:p>
          <a:p>
            <a:pPr marL="0" indent="0" algn="just">
              <a:buNone/>
            </a:pPr>
            <a:r>
              <a:rPr lang="pt-BR" sz="2500" dirty="0">
                <a:solidFill>
                  <a:schemeClr val="tx1"/>
                </a:solidFill>
              </a:rPr>
              <a:t>As universidades mais antigas da Europa surgiram nos séculos XI e XII, principalmente no entorno de escolas eclesiásticas. São dessa época as universidades de </a:t>
            </a:r>
            <a:r>
              <a:rPr lang="pt-BR" sz="2500" dirty="0">
                <a:solidFill>
                  <a:srgbClr val="FF0000"/>
                </a:solidFill>
              </a:rPr>
              <a:t>Bolonha (1088)</a:t>
            </a:r>
            <a:r>
              <a:rPr lang="pt-BR" sz="2500" dirty="0"/>
              <a:t>, </a:t>
            </a:r>
            <a:r>
              <a:rPr lang="pt-BR" sz="2500" dirty="0">
                <a:solidFill>
                  <a:srgbClr val="FF0000"/>
                </a:solidFill>
              </a:rPr>
              <a:t>Oxford (1096) </a:t>
            </a:r>
            <a:r>
              <a:rPr lang="pt-BR" sz="2500" dirty="0">
                <a:solidFill>
                  <a:schemeClr val="tx1"/>
                </a:solidFill>
              </a:rPr>
              <a:t>e de </a:t>
            </a:r>
            <a:r>
              <a:rPr lang="pt-BR" sz="2500" dirty="0">
                <a:solidFill>
                  <a:srgbClr val="FF0000"/>
                </a:solidFill>
              </a:rPr>
              <a:t>Paris (1170</a:t>
            </a:r>
            <a:r>
              <a:rPr lang="pt-BR" sz="2500" dirty="0">
                <a:solidFill>
                  <a:schemeClr val="tx1"/>
                </a:solidFill>
              </a:rPr>
              <a:t>). Posteriormente surgiram as universidades de </a:t>
            </a:r>
            <a:r>
              <a:rPr lang="pt-BR" sz="2500" dirty="0">
                <a:solidFill>
                  <a:srgbClr val="FF0000"/>
                </a:solidFill>
              </a:rPr>
              <a:t>Pádua (1222) </a:t>
            </a:r>
            <a:r>
              <a:rPr lang="pt-BR" sz="2500" dirty="0">
                <a:solidFill>
                  <a:schemeClr val="tx1"/>
                </a:solidFill>
              </a:rPr>
              <a:t>e de </a:t>
            </a:r>
            <a:r>
              <a:rPr lang="pt-BR" sz="2500" dirty="0">
                <a:solidFill>
                  <a:srgbClr val="FF0000"/>
                </a:solidFill>
              </a:rPr>
              <a:t>Colônia (1388)</a:t>
            </a:r>
            <a:r>
              <a:rPr lang="pt-BR" sz="2500" dirty="0"/>
              <a:t>.</a:t>
            </a:r>
          </a:p>
          <a:p>
            <a:pPr marL="0" indent="0" algn="just">
              <a:buNone/>
            </a:pPr>
            <a:endParaRPr lang="pt-BR" dirty="0"/>
          </a:p>
          <a:p>
            <a:pPr marL="0" indent="0" algn="just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193368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910D07-FC55-4D83-8F74-ED604AB7D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Filosofia tomista: a unidade entre a razão e a fé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53DCE3B-E321-4CA3-85B1-553350A4EA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89043"/>
            <a:ext cx="8596668" cy="425231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sz="2500" dirty="0"/>
          </a:p>
          <a:p>
            <a:pPr marL="0" indent="0" algn="just">
              <a:buNone/>
            </a:pPr>
            <a:r>
              <a:rPr lang="pt-BR" sz="2500" dirty="0">
                <a:solidFill>
                  <a:schemeClr val="tx1"/>
                </a:solidFill>
              </a:rPr>
              <a:t>A doutrina de Tomás de Aquino é o principal paradigma (modelo) da filosofia cristã, considerada o ápice teórico do pensamento.</a:t>
            </a:r>
          </a:p>
          <a:p>
            <a:pPr marL="0" indent="0" algn="just">
              <a:buNone/>
            </a:pPr>
            <a:r>
              <a:rPr lang="pt-BR" sz="2500" dirty="0">
                <a:solidFill>
                  <a:schemeClr val="tx1"/>
                </a:solidFill>
              </a:rPr>
              <a:t>Para Aquino, </a:t>
            </a:r>
            <a:r>
              <a:rPr lang="pt-BR" sz="2500" dirty="0">
                <a:solidFill>
                  <a:srgbClr val="FF0000"/>
                </a:solidFill>
              </a:rPr>
              <a:t>a filosofia é o estudo da natureza, e a teologia, o estudo do sobrenatural</a:t>
            </a:r>
            <a:r>
              <a:rPr lang="pt-BR" sz="2500" dirty="0">
                <a:solidFill>
                  <a:schemeClr val="tx1"/>
                </a:solidFill>
              </a:rPr>
              <a:t>. A primeira se baseia na </a:t>
            </a:r>
            <a:r>
              <a:rPr lang="pt-BR" sz="2500" dirty="0">
                <a:solidFill>
                  <a:srgbClr val="FF0000"/>
                </a:solidFill>
              </a:rPr>
              <a:t>investigação empírica </a:t>
            </a:r>
            <a:r>
              <a:rPr lang="pt-BR" sz="2500" dirty="0">
                <a:solidFill>
                  <a:schemeClr val="tx1"/>
                </a:solidFill>
              </a:rPr>
              <a:t>e na busca racional dos princípios mais gerais de tudo que existe; a segunda se </a:t>
            </a:r>
            <a:r>
              <a:rPr lang="pt-BR" sz="2500" dirty="0">
                <a:solidFill>
                  <a:srgbClr val="FF0000"/>
                </a:solidFill>
              </a:rPr>
              <a:t>apoia nas verdades reveladas por Deus sobre os mistérios</a:t>
            </a:r>
            <a:r>
              <a:rPr lang="pt-BR" sz="2500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845049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910D07-FC55-4D83-8F74-ED604AB7D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Filosofia tomista: a unidade entre a razão e a fé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53DCE3B-E321-4CA3-85B1-553350A4EA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89043"/>
            <a:ext cx="8596668" cy="425231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sz="2500" dirty="0"/>
          </a:p>
          <a:p>
            <a:pPr marL="0" indent="0" algn="just">
              <a:buNone/>
            </a:pPr>
            <a:r>
              <a:rPr lang="pt-BR" sz="2500" dirty="0">
                <a:solidFill>
                  <a:schemeClr val="tx1"/>
                </a:solidFill>
              </a:rPr>
              <a:t>Segundo Tomás de Aquino, o filósofo deveria admitir somente aquilo que é demonstrável pela razão, e o teólogo basear-se na autoridade de Deus e nos princípios da revelação. A razão humana </a:t>
            </a:r>
            <a:r>
              <a:rPr lang="pt-BR" sz="2500" dirty="0">
                <a:solidFill>
                  <a:srgbClr val="FF0000"/>
                </a:solidFill>
              </a:rPr>
              <a:t>não podia compreender </a:t>
            </a:r>
            <a:r>
              <a:rPr lang="pt-BR" sz="2500" dirty="0">
                <a:solidFill>
                  <a:schemeClr val="tx1"/>
                </a:solidFill>
              </a:rPr>
              <a:t>o </a:t>
            </a:r>
            <a:r>
              <a:rPr lang="pt-BR" sz="2500" dirty="0">
                <a:solidFill>
                  <a:srgbClr val="FF0000"/>
                </a:solidFill>
              </a:rPr>
              <a:t>conhecimento divino; </a:t>
            </a:r>
            <a:r>
              <a:rPr lang="pt-BR" sz="2500" dirty="0">
                <a:solidFill>
                  <a:schemeClr val="tx1"/>
                </a:solidFill>
              </a:rPr>
              <a:t>e as</a:t>
            </a:r>
            <a:r>
              <a:rPr lang="pt-BR" sz="2500" dirty="0">
                <a:solidFill>
                  <a:srgbClr val="FF0000"/>
                </a:solidFill>
              </a:rPr>
              <a:t> verdades divinas não podiam ser demonstradas </a:t>
            </a:r>
            <a:r>
              <a:rPr lang="pt-BR" sz="2500" dirty="0">
                <a:solidFill>
                  <a:schemeClr val="tx1"/>
                </a:solidFill>
              </a:rPr>
              <a:t>pela</a:t>
            </a:r>
            <a:r>
              <a:rPr lang="pt-BR" sz="2500" dirty="0">
                <a:solidFill>
                  <a:srgbClr val="FF0000"/>
                </a:solidFill>
              </a:rPr>
              <a:t> razão</a:t>
            </a:r>
            <a:r>
              <a:rPr lang="pt-BR" sz="25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349087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06BF12-6222-46D6-8858-01028746E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Deus é a primeira causa de tudo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5692DFF-C6C8-4311-BB3B-56929DA72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500" dirty="0">
                <a:solidFill>
                  <a:schemeClr val="tx1"/>
                </a:solidFill>
              </a:rPr>
              <a:t>Segundo Tomás de Aquino, há verdades sobre Deus que a razão pode demonstrar. A principal delas é a própria existência de Deus, ou seja, a investigação sobre o </a:t>
            </a:r>
            <a:r>
              <a:rPr lang="pt-BR" sz="2500" dirty="0">
                <a:solidFill>
                  <a:srgbClr val="FF0000"/>
                </a:solidFill>
              </a:rPr>
              <a:t>ser</a:t>
            </a:r>
            <a:r>
              <a:rPr lang="pt-BR" sz="2500" dirty="0"/>
              <a:t>.</a:t>
            </a:r>
          </a:p>
          <a:p>
            <a:pPr marL="0" indent="0" algn="just">
              <a:buNone/>
            </a:pPr>
            <a:r>
              <a:rPr lang="pt-BR" sz="2500" dirty="0">
                <a:solidFill>
                  <a:schemeClr val="tx1"/>
                </a:solidFill>
              </a:rPr>
              <a:t>Aquino retoma o aristotelismo para provar a existência de Deus e, como Aristóteles parte do conhecimento empírico para chegar a um conhecimento mais geral (suprassensível) do ser. </a:t>
            </a:r>
          </a:p>
        </p:txBody>
      </p:sp>
    </p:spTree>
    <p:extLst>
      <p:ext uri="{BB962C8B-B14F-4D97-AF65-F5344CB8AC3E}">
        <p14:creationId xmlns:p14="http://schemas.microsoft.com/office/powerpoint/2010/main" val="25741444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06BF12-6222-46D6-8858-01028746E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Deus é a primeira causa de tudo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5692DFF-C6C8-4311-BB3B-56929DA72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endParaRPr lang="pt-BR" sz="2500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pt-BR" sz="2500" dirty="0">
                <a:solidFill>
                  <a:schemeClr val="tx1"/>
                </a:solidFill>
              </a:rPr>
              <a:t>Em uma de suas principais obras, </a:t>
            </a:r>
            <a:r>
              <a:rPr lang="pt-BR" sz="2500" i="1" dirty="0">
                <a:solidFill>
                  <a:srgbClr val="FF0000"/>
                </a:solidFill>
              </a:rPr>
              <a:t>Suma Teológica</a:t>
            </a:r>
            <a:r>
              <a:rPr lang="pt-BR" sz="2500" dirty="0">
                <a:solidFill>
                  <a:schemeClr val="tx1"/>
                </a:solidFill>
              </a:rPr>
              <a:t>, ele descreve </a:t>
            </a:r>
            <a:r>
              <a:rPr lang="pt-BR" sz="2500" dirty="0">
                <a:solidFill>
                  <a:srgbClr val="FF0000"/>
                </a:solidFill>
              </a:rPr>
              <a:t>cinco comprovações da existência de Deus ou vias</a:t>
            </a:r>
            <a:r>
              <a:rPr lang="pt-BR" sz="2500" dirty="0"/>
              <a:t>. A </a:t>
            </a:r>
            <a:r>
              <a:rPr lang="pt-BR" sz="2500" dirty="0">
                <a:solidFill>
                  <a:srgbClr val="FF0000"/>
                </a:solidFill>
              </a:rPr>
              <a:t>primeira</a:t>
            </a:r>
            <a:r>
              <a:rPr lang="pt-BR" sz="2500" dirty="0"/>
              <a:t> </a:t>
            </a:r>
            <a:r>
              <a:rPr lang="pt-BR" sz="2500" dirty="0">
                <a:solidFill>
                  <a:srgbClr val="FF0000"/>
                </a:solidFill>
              </a:rPr>
              <a:t>via</a:t>
            </a:r>
            <a:r>
              <a:rPr lang="pt-BR" sz="2500" dirty="0"/>
              <a:t> </a:t>
            </a:r>
            <a:r>
              <a:rPr lang="pt-BR" sz="2500" dirty="0">
                <a:solidFill>
                  <a:schemeClr val="tx1"/>
                </a:solidFill>
              </a:rPr>
              <a:t>se refere ao movimento da natureza, ou </a:t>
            </a:r>
            <a:r>
              <a:rPr lang="pt-BR" sz="2500" dirty="0">
                <a:solidFill>
                  <a:srgbClr val="FF0000"/>
                </a:solidFill>
              </a:rPr>
              <a:t>primeiro motor </a:t>
            </a:r>
            <a:r>
              <a:rPr lang="pt-BR" sz="2500" dirty="0">
                <a:solidFill>
                  <a:schemeClr val="tx1"/>
                </a:solidFill>
              </a:rPr>
              <a:t>(Aristóteles).</a:t>
            </a:r>
          </a:p>
        </p:txBody>
      </p:sp>
    </p:spTree>
    <p:extLst>
      <p:ext uri="{BB962C8B-B14F-4D97-AF65-F5344CB8AC3E}">
        <p14:creationId xmlns:p14="http://schemas.microsoft.com/office/powerpoint/2010/main" val="28723028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1D4819-6BCF-415F-9AA0-9B8A1521B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Deus é a primeira causa de tudo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CD472A6-5FB4-4A1C-8D71-9B12D6B91C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 algn="just">
              <a:buNone/>
            </a:pPr>
            <a:r>
              <a:rPr lang="pt-BR" sz="2500" dirty="0">
                <a:solidFill>
                  <a:schemeClr val="tx1"/>
                </a:solidFill>
              </a:rPr>
              <a:t>A</a:t>
            </a:r>
            <a:r>
              <a:rPr lang="pt-BR" sz="2500" dirty="0"/>
              <a:t> </a:t>
            </a:r>
            <a:r>
              <a:rPr lang="pt-BR" sz="2500" dirty="0">
                <a:solidFill>
                  <a:srgbClr val="FF0000"/>
                </a:solidFill>
              </a:rPr>
              <a:t>segunda via </a:t>
            </a:r>
            <a:r>
              <a:rPr lang="pt-BR" sz="2500" dirty="0">
                <a:solidFill>
                  <a:schemeClr val="tx1"/>
                </a:solidFill>
              </a:rPr>
              <a:t>da causa eficiente, a </a:t>
            </a:r>
            <a:r>
              <a:rPr lang="pt-BR" sz="2500" dirty="0">
                <a:solidFill>
                  <a:srgbClr val="FF0000"/>
                </a:solidFill>
              </a:rPr>
              <a:t>terceira via </a:t>
            </a:r>
            <a:r>
              <a:rPr lang="pt-BR" sz="2500" dirty="0">
                <a:solidFill>
                  <a:schemeClr val="tx1"/>
                </a:solidFill>
              </a:rPr>
              <a:t>do contingente e do necessário, a</a:t>
            </a:r>
            <a:r>
              <a:rPr lang="pt-BR" sz="2500" dirty="0"/>
              <a:t> </a:t>
            </a:r>
            <a:r>
              <a:rPr lang="pt-BR" sz="2500" dirty="0">
                <a:solidFill>
                  <a:srgbClr val="FF0000"/>
                </a:solidFill>
              </a:rPr>
              <a:t>quarta via </a:t>
            </a:r>
            <a:r>
              <a:rPr lang="pt-BR" sz="2500" dirty="0">
                <a:solidFill>
                  <a:schemeClr val="tx1"/>
                </a:solidFill>
              </a:rPr>
              <a:t>do grau de perfeição e por fim a</a:t>
            </a:r>
            <a:r>
              <a:rPr lang="pt-BR" sz="2500" dirty="0"/>
              <a:t> </a:t>
            </a:r>
            <a:r>
              <a:rPr lang="pt-BR" sz="2500" dirty="0">
                <a:solidFill>
                  <a:srgbClr val="FF0000"/>
                </a:solidFill>
              </a:rPr>
              <a:t>quinta via </a:t>
            </a:r>
            <a:r>
              <a:rPr lang="pt-BR" sz="2500" dirty="0">
                <a:solidFill>
                  <a:schemeClr val="tx1"/>
                </a:solidFill>
              </a:rPr>
              <a:t>do governo das coisas e finalidade do ser. 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560016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BAC3AD-BB98-49B9-B7DF-204042813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O homem é composto de alma e corpo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5136718-DCF8-404F-85FC-63C44BD80D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10747"/>
            <a:ext cx="8596668" cy="4530615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sz="2500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endParaRPr lang="pt-BR" sz="2500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pt-BR" sz="2500" dirty="0">
                <a:solidFill>
                  <a:schemeClr val="tx1"/>
                </a:solidFill>
              </a:rPr>
              <a:t>Para Tomás de Aquino o homem é composto de </a:t>
            </a:r>
            <a:r>
              <a:rPr lang="pt-BR" sz="2500" dirty="0">
                <a:solidFill>
                  <a:srgbClr val="FF0000"/>
                </a:solidFill>
              </a:rPr>
              <a:t>alma</a:t>
            </a:r>
            <a:r>
              <a:rPr lang="pt-BR" sz="2500" dirty="0"/>
              <a:t> </a:t>
            </a:r>
            <a:r>
              <a:rPr lang="pt-BR" sz="2500" dirty="0">
                <a:solidFill>
                  <a:schemeClr val="tx1"/>
                </a:solidFill>
              </a:rPr>
              <a:t>e corpo, é um ser de dupla natureza. Sua alma é um ser imaterial que possui capacidade de conhecer o</a:t>
            </a:r>
            <a:r>
              <a:rPr lang="pt-BR" sz="2500" dirty="0"/>
              <a:t> </a:t>
            </a:r>
            <a:r>
              <a:rPr lang="pt-BR" sz="2500" dirty="0">
                <a:solidFill>
                  <a:srgbClr val="FF0000"/>
                </a:solidFill>
              </a:rPr>
              <a:t>inteligível</a:t>
            </a:r>
            <a:r>
              <a:rPr lang="pt-BR" sz="2500" dirty="0"/>
              <a:t>. </a:t>
            </a:r>
            <a:r>
              <a:rPr lang="pt-BR" sz="2500" dirty="0">
                <a:solidFill>
                  <a:schemeClr val="tx1"/>
                </a:solidFill>
              </a:rPr>
              <a:t>No entanto, esse conhecimento sobre o inteligível não é direto, porque o homem também é corpo, é matéria. </a:t>
            </a:r>
          </a:p>
        </p:txBody>
      </p:sp>
    </p:spTree>
    <p:extLst>
      <p:ext uri="{BB962C8B-B14F-4D97-AF65-F5344CB8AC3E}">
        <p14:creationId xmlns:p14="http://schemas.microsoft.com/office/powerpoint/2010/main" val="4395128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BAC3AD-BB98-49B9-B7DF-204042813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O homem é composto de alma e corpo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5136718-DCF8-404F-85FC-63C44BD80D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10747"/>
            <a:ext cx="8596668" cy="4530615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sz="2500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pt-BR" sz="2500" dirty="0">
                <a:solidFill>
                  <a:schemeClr val="tx1"/>
                </a:solidFill>
              </a:rPr>
              <a:t>O conhecimento humano parte dos </a:t>
            </a:r>
            <a:r>
              <a:rPr lang="pt-BR" sz="2500" dirty="0">
                <a:solidFill>
                  <a:srgbClr val="FF0000"/>
                </a:solidFill>
              </a:rPr>
              <a:t>sentidos</a:t>
            </a:r>
            <a:r>
              <a:rPr lang="pt-BR" sz="2500" dirty="0">
                <a:solidFill>
                  <a:schemeClr val="tx1"/>
                </a:solidFill>
              </a:rPr>
              <a:t>, da </a:t>
            </a:r>
            <a:r>
              <a:rPr lang="pt-BR" sz="2500" dirty="0">
                <a:solidFill>
                  <a:srgbClr val="FF0000"/>
                </a:solidFill>
              </a:rPr>
              <a:t>percepção</a:t>
            </a:r>
            <a:r>
              <a:rPr lang="pt-BR" sz="2500" dirty="0">
                <a:solidFill>
                  <a:schemeClr val="tx1"/>
                </a:solidFill>
              </a:rPr>
              <a:t> das </a:t>
            </a:r>
            <a:r>
              <a:rPr lang="pt-BR" sz="2500" dirty="0">
                <a:solidFill>
                  <a:srgbClr val="FF0000"/>
                </a:solidFill>
              </a:rPr>
              <a:t>coisas</a:t>
            </a:r>
            <a:r>
              <a:rPr lang="pt-BR" sz="2500" dirty="0">
                <a:solidFill>
                  <a:schemeClr val="tx1"/>
                </a:solidFill>
              </a:rPr>
              <a:t> e dos </a:t>
            </a:r>
            <a:r>
              <a:rPr lang="pt-BR" sz="2500" dirty="0">
                <a:solidFill>
                  <a:srgbClr val="FF0000"/>
                </a:solidFill>
              </a:rPr>
              <a:t>objetos materiais</a:t>
            </a:r>
            <a:r>
              <a:rPr lang="pt-BR" sz="2500" dirty="0">
                <a:solidFill>
                  <a:schemeClr val="tx1"/>
                </a:solidFill>
              </a:rPr>
              <a:t>. Mas o homem não tem apenas uma atitude passiva, ele </a:t>
            </a:r>
            <a:r>
              <a:rPr lang="pt-BR" sz="2500" dirty="0">
                <a:solidFill>
                  <a:srgbClr val="FF0000"/>
                </a:solidFill>
              </a:rPr>
              <a:t>cria</a:t>
            </a:r>
            <a:r>
              <a:rPr lang="pt-BR" sz="2500" dirty="0">
                <a:solidFill>
                  <a:schemeClr val="tx1"/>
                </a:solidFill>
              </a:rPr>
              <a:t> imagens sensíveis dos objetos percebidos.</a:t>
            </a:r>
          </a:p>
          <a:p>
            <a:pPr marL="0" indent="0" algn="just">
              <a:buNone/>
            </a:pPr>
            <a:r>
              <a:rPr lang="pt-BR" sz="2500" dirty="0">
                <a:solidFill>
                  <a:schemeClr val="tx1"/>
                </a:solidFill>
              </a:rPr>
              <a:t>A</a:t>
            </a:r>
            <a:r>
              <a:rPr lang="pt-BR" sz="2500" dirty="0"/>
              <a:t> </a:t>
            </a:r>
            <a:r>
              <a:rPr lang="pt-BR" sz="2500" dirty="0">
                <a:solidFill>
                  <a:srgbClr val="FF0000"/>
                </a:solidFill>
              </a:rPr>
              <a:t>alma</a:t>
            </a:r>
            <a:r>
              <a:rPr lang="pt-BR" sz="2500" dirty="0"/>
              <a:t> </a:t>
            </a:r>
            <a:r>
              <a:rPr lang="pt-BR" sz="2500" dirty="0">
                <a:solidFill>
                  <a:schemeClr val="tx1"/>
                </a:solidFill>
              </a:rPr>
              <a:t>atua sobre essa representação. Por meio da abstração, os objetos concretos e singulares dão lugar a </a:t>
            </a:r>
            <a:r>
              <a:rPr lang="pt-BR" sz="2500" dirty="0">
                <a:solidFill>
                  <a:srgbClr val="FF0000"/>
                </a:solidFill>
              </a:rPr>
              <a:t>conceitos universais</a:t>
            </a:r>
            <a:r>
              <a:rPr lang="pt-BR" sz="2500" dirty="0">
                <a:solidFill>
                  <a:schemeClr val="tx1"/>
                </a:solidFill>
              </a:rPr>
              <a:t>, as </a:t>
            </a:r>
            <a:r>
              <a:rPr lang="pt-BR" sz="2500" dirty="0">
                <a:solidFill>
                  <a:srgbClr val="FF0000"/>
                </a:solidFill>
              </a:rPr>
              <a:t>formas inteligíveis</a:t>
            </a:r>
            <a:r>
              <a:rPr lang="pt-BR" sz="25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389462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E071FC-FDBB-447D-B93F-B45F29A7F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O homem é composto de alma e corpo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6D93C56-D80E-4484-BF2B-665F20527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endParaRPr lang="pt-BR" dirty="0"/>
          </a:p>
          <a:p>
            <a:pPr marL="0" indent="0" algn="just">
              <a:buNone/>
            </a:pPr>
            <a:r>
              <a:rPr lang="pt-BR" sz="2500" dirty="0">
                <a:solidFill>
                  <a:schemeClr val="tx1"/>
                </a:solidFill>
              </a:rPr>
              <a:t>Na visão de Tomás de Aquino, a </a:t>
            </a:r>
            <a:r>
              <a:rPr lang="pt-BR" sz="2500" dirty="0">
                <a:solidFill>
                  <a:srgbClr val="FF0000"/>
                </a:solidFill>
              </a:rPr>
              <a:t>capacidade intelectual </a:t>
            </a:r>
            <a:r>
              <a:rPr lang="pt-BR" sz="2500" dirty="0">
                <a:solidFill>
                  <a:schemeClr val="tx1"/>
                </a:solidFill>
              </a:rPr>
              <a:t>do ser humano de</a:t>
            </a:r>
            <a:r>
              <a:rPr lang="pt-BR" sz="2500" dirty="0"/>
              <a:t> </a:t>
            </a:r>
            <a:r>
              <a:rPr lang="pt-BR" sz="2500" dirty="0">
                <a:solidFill>
                  <a:srgbClr val="FF0000"/>
                </a:solidFill>
              </a:rPr>
              <a:t>abstrair</a:t>
            </a:r>
            <a:r>
              <a:rPr lang="pt-BR" sz="2500" dirty="0"/>
              <a:t> </a:t>
            </a:r>
            <a:r>
              <a:rPr lang="pt-BR" sz="2500" dirty="0">
                <a:solidFill>
                  <a:schemeClr val="tx1"/>
                </a:solidFill>
              </a:rPr>
              <a:t>o</a:t>
            </a:r>
            <a:r>
              <a:rPr lang="pt-BR" sz="2500" dirty="0"/>
              <a:t> </a:t>
            </a:r>
            <a:r>
              <a:rPr lang="pt-BR" sz="2500" dirty="0">
                <a:solidFill>
                  <a:srgbClr val="FF0000"/>
                </a:solidFill>
              </a:rPr>
              <a:t>universal</a:t>
            </a:r>
            <a:r>
              <a:rPr lang="pt-BR" sz="2500" dirty="0"/>
              <a:t> </a:t>
            </a:r>
            <a:r>
              <a:rPr lang="pt-BR" sz="2500" dirty="0">
                <a:solidFill>
                  <a:schemeClr val="tx1"/>
                </a:solidFill>
              </a:rPr>
              <a:t>do</a:t>
            </a:r>
            <a:r>
              <a:rPr lang="pt-BR" sz="2500" dirty="0"/>
              <a:t> </a:t>
            </a:r>
            <a:r>
              <a:rPr lang="pt-BR" sz="2500" dirty="0">
                <a:solidFill>
                  <a:srgbClr val="FF0000"/>
                </a:solidFill>
              </a:rPr>
              <a:t>particular</a:t>
            </a:r>
            <a:r>
              <a:rPr lang="pt-BR" sz="2500" dirty="0"/>
              <a:t> </a:t>
            </a:r>
            <a:r>
              <a:rPr lang="pt-BR" sz="2500" dirty="0">
                <a:solidFill>
                  <a:schemeClr val="tx1"/>
                </a:solidFill>
              </a:rPr>
              <a:t>é o que o aproxima mais da</a:t>
            </a:r>
            <a:r>
              <a:rPr lang="pt-BR" sz="2500" dirty="0"/>
              <a:t> </a:t>
            </a:r>
            <a:r>
              <a:rPr lang="pt-BR" sz="2500" dirty="0">
                <a:solidFill>
                  <a:srgbClr val="FF0000"/>
                </a:solidFill>
              </a:rPr>
              <a:t>inteligibilidade dos anjos</a:t>
            </a:r>
            <a:r>
              <a:rPr lang="pt-BR" sz="2500" dirty="0">
                <a:solidFill>
                  <a:schemeClr val="tx1"/>
                </a:solidFill>
              </a:rPr>
              <a:t>, a maior entre as criaturas, e da</a:t>
            </a:r>
            <a:r>
              <a:rPr lang="pt-BR" sz="2500" dirty="0"/>
              <a:t> </a:t>
            </a:r>
            <a:r>
              <a:rPr lang="pt-BR" sz="2500" dirty="0">
                <a:solidFill>
                  <a:srgbClr val="FF0000"/>
                </a:solidFill>
              </a:rPr>
              <a:t>inteligibilidade absoluta </a:t>
            </a:r>
            <a:r>
              <a:rPr lang="pt-BR" sz="2500" dirty="0">
                <a:solidFill>
                  <a:schemeClr val="tx1"/>
                </a:solidFill>
              </a:rPr>
              <a:t>de</a:t>
            </a:r>
            <a:r>
              <a:rPr lang="pt-BR" sz="2500" dirty="0"/>
              <a:t> </a:t>
            </a:r>
            <a:r>
              <a:rPr lang="pt-BR" sz="2500" dirty="0">
                <a:solidFill>
                  <a:srgbClr val="FF0000"/>
                </a:solidFill>
              </a:rPr>
              <a:t>Deus</a:t>
            </a:r>
            <a:r>
              <a:rPr lang="pt-BR" sz="25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556793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6481A7-57CB-4445-8359-8C3D15672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A busca do bem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F221CB-C063-4E23-B836-D2447440CB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51723"/>
            <a:ext cx="8596668" cy="468964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500" dirty="0">
                <a:solidFill>
                  <a:schemeClr val="tx1"/>
                </a:solidFill>
              </a:rPr>
              <a:t>E a conduta do homem? O que Tomás de Aquino dizia sobre ela?</a:t>
            </a:r>
          </a:p>
          <a:p>
            <a:pPr marL="0" indent="0" algn="just">
              <a:buNone/>
            </a:pPr>
            <a:r>
              <a:rPr lang="pt-BR" sz="2500" dirty="0">
                <a:solidFill>
                  <a:schemeClr val="tx1"/>
                </a:solidFill>
              </a:rPr>
              <a:t>O filósofo acreditava que todas as criaturas tendiam naturalmente para o Criador, todos os seres criados buscariam o</a:t>
            </a:r>
            <a:r>
              <a:rPr lang="pt-BR" sz="2500" dirty="0"/>
              <a:t> </a:t>
            </a:r>
            <a:r>
              <a:rPr lang="pt-BR" sz="2500" dirty="0">
                <a:solidFill>
                  <a:srgbClr val="FF0000"/>
                </a:solidFill>
              </a:rPr>
              <a:t>bem supremo</a:t>
            </a:r>
            <a:r>
              <a:rPr lang="pt-BR" sz="2500" dirty="0">
                <a:solidFill>
                  <a:schemeClr val="tx1"/>
                </a:solidFill>
              </a:rPr>
              <a:t>.</a:t>
            </a:r>
          </a:p>
          <a:p>
            <a:pPr marL="0" indent="0" algn="just">
              <a:buNone/>
            </a:pPr>
            <a:r>
              <a:rPr lang="pt-BR" sz="2500" dirty="0">
                <a:solidFill>
                  <a:schemeClr val="tx1"/>
                </a:solidFill>
              </a:rPr>
              <a:t>Mesmo que, como criatura terrestre, seja impossível compreender a essência divina, a condição natural do homem é caminhar em direção a Deus.</a:t>
            </a:r>
          </a:p>
          <a:p>
            <a:pPr marL="0" indent="0" algn="just">
              <a:buNone/>
            </a:pPr>
            <a:r>
              <a:rPr lang="pt-BR" sz="2500" dirty="0">
                <a:solidFill>
                  <a:schemeClr val="tx1"/>
                </a:solidFill>
              </a:rPr>
              <a:t>No entanto, como possui o livre-arbítrio, o homem pode, por meio de</a:t>
            </a:r>
            <a:r>
              <a:rPr lang="pt-BR" sz="2500" dirty="0"/>
              <a:t> </a:t>
            </a:r>
            <a:r>
              <a:rPr lang="pt-BR" sz="2500" dirty="0">
                <a:solidFill>
                  <a:srgbClr val="FF0000"/>
                </a:solidFill>
              </a:rPr>
              <a:t>sua vontade </a:t>
            </a:r>
            <a:r>
              <a:rPr lang="pt-BR" sz="2500" dirty="0">
                <a:solidFill>
                  <a:schemeClr val="tx1"/>
                </a:solidFill>
              </a:rPr>
              <a:t>e de </a:t>
            </a:r>
            <a:r>
              <a:rPr lang="pt-BR" sz="2500" dirty="0">
                <a:solidFill>
                  <a:srgbClr val="FF0000"/>
                </a:solidFill>
              </a:rPr>
              <a:t>suas ações</a:t>
            </a:r>
            <a:r>
              <a:rPr lang="pt-BR" sz="2500" dirty="0">
                <a:solidFill>
                  <a:schemeClr val="tx1"/>
                </a:solidFill>
              </a:rPr>
              <a:t>, afastar-se de Deus, tomando o caminho do vício.</a:t>
            </a:r>
          </a:p>
        </p:txBody>
      </p:sp>
    </p:spTree>
    <p:extLst>
      <p:ext uri="{BB962C8B-B14F-4D97-AF65-F5344CB8AC3E}">
        <p14:creationId xmlns:p14="http://schemas.microsoft.com/office/powerpoint/2010/main" val="12323823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075674-8C5A-4D25-A504-C41AE61BE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O Realismo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2015604-330C-488F-A397-AEF28B3DDD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2500" dirty="0">
                <a:solidFill>
                  <a:schemeClr val="tx1"/>
                </a:solidFill>
              </a:rPr>
              <a:t>A partir do século XII, um dos temas mais discutidos entre os escolásticos foi a chamada </a:t>
            </a:r>
            <a:r>
              <a:rPr lang="pt-BR" sz="2500" dirty="0">
                <a:solidFill>
                  <a:srgbClr val="FF0000"/>
                </a:solidFill>
              </a:rPr>
              <a:t>questão dos universais</a:t>
            </a:r>
            <a:r>
              <a:rPr lang="pt-BR" sz="2500" dirty="0"/>
              <a:t>. </a:t>
            </a:r>
            <a:r>
              <a:rPr lang="pt-BR" sz="2500" dirty="0">
                <a:solidFill>
                  <a:schemeClr val="tx1"/>
                </a:solidFill>
              </a:rPr>
              <a:t>Relembremos Platão em sua Teoria das Formas.</a:t>
            </a:r>
          </a:p>
          <a:p>
            <a:pPr marL="0" indent="0" algn="just">
              <a:buNone/>
            </a:pPr>
            <a:r>
              <a:rPr lang="pt-BR" sz="2500" dirty="0">
                <a:solidFill>
                  <a:schemeClr val="tx1"/>
                </a:solidFill>
              </a:rPr>
              <a:t>Na Idade Média, essa ideia foi retomada pelos que depois seriam chamados de </a:t>
            </a:r>
            <a:r>
              <a:rPr lang="pt-BR" sz="2500" dirty="0">
                <a:solidFill>
                  <a:srgbClr val="FF0000"/>
                </a:solidFill>
              </a:rPr>
              <a:t>realistas</a:t>
            </a:r>
            <a:r>
              <a:rPr lang="pt-BR" sz="2500" dirty="0">
                <a:solidFill>
                  <a:schemeClr val="tx1"/>
                </a:solidFill>
              </a:rPr>
              <a:t>. Eles acreditavam que os universais (conceitos gerais de gênero e de espécie(animal, homem), existem independentemente das coisas particulares nas quais se manifestam.</a:t>
            </a:r>
          </a:p>
        </p:txBody>
      </p:sp>
    </p:spTree>
    <p:extLst>
      <p:ext uri="{BB962C8B-B14F-4D97-AF65-F5344CB8AC3E}">
        <p14:creationId xmlns:p14="http://schemas.microsoft.com/office/powerpoint/2010/main" val="10385368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FB3C61-01AE-4057-B63F-258D80AF2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O nominalismo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0C876F-9285-4880-9154-F347BDB312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73519"/>
            <a:ext cx="8596668" cy="411096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sz="2500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endParaRPr lang="pt-BR" sz="2500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pt-BR" sz="2500" dirty="0">
                <a:solidFill>
                  <a:schemeClr val="tx1"/>
                </a:solidFill>
              </a:rPr>
              <a:t>Contrapondo-se aos realistas estavam os </a:t>
            </a:r>
            <a:r>
              <a:rPr lang="pt-BR" sz="2500" dirty="0">
                <a:solidFill>
                  <a:srgbClr val="FF0000"/>
                </a:solidFill>
              </a:rPr>
              <a:t>nominalistas</a:t>
            </a:r>
            <a:r>
              <a:rPr lang="pt-BR" sz="2500" dirty="0"/>
              <a:t>, </a:t>
            </a:r>
            <a:r>
              <a:rPr lang="pt-BR" sz="2500" dirty="0">
                <a:solidFill>
                  <a:schemeClr val="tx1"/>
                </a:solidFill>
              </a:rPr>
              <a:t>para os quais os conceitos universais seriam apenas signos ou palavras que representavam ou designavam a multiplicidade das coisas. </a:t>
            </a:r>
          </a:p>
          <a:p>
            <a:pPr marL="0" indent="0" algn="just">
              <a:buNone/>
            </a:pPr>
            <a:r>
              <a:rPr lang="pt-BR" sz="2500" dirty="0">
                <a:solidFill>
                  <a:schemeClr val="tx1"/>
                </a:solidFill>
              </a:rPr>
              <a:t>Assim, os conceitos universais como “</a:t>
            </a:r>
            <a:r>
              <a:rPr lang="pt-BR" sz="2500" dirty="0">
                <a:solidFill>
                  <a:srgbClr val="FF0000"/>
                </a:solidFill>
              </a:rPr>
              <a:t>homem</a:t>
            </a:r>
            <a:r>
              <a:rPr lang="pt-BR" sz="2500" dirty="0">
                <a:solidFill>
                  <a:schemeClr val="tx1"/>
                </a:solidFill>
              </a:rPr>
              <a:t>” e “</a:t>
            </a:r>
            <a:r>
              <a:rPr lang="pt-BR" sz="2500" dirty="0">
                <a:solidFill>
                  <a:srgbClr val="FF0000"/>
                </a:solidFill>
              </a:rPr>
              <a:t>animal</a:t>
            </a:r>
            <a:r>
              <a:rPr lang="pt-BR" sz="2500" dirty="0">
                <a:solidFill>
                  <a:schemeClr val="tx1"/>
                </a:solidFill>
              </a:rPr>
              <a:t>” por exemplo </a:t>
            </a:r>
            <a:r>
              <a:rPr lang="pt-BR" sz="2500" dirty="0">
                <a:solidFill>
                  <a:srgbClr val="FF0000"/>
                </a:solidFill>
              </a:rPr>
              <a:t>só existiriam </a:t>
            </a:r>
            <a:r>
              <a:rPr lang="pt-BR" sz="2500" dirty="0">
                <a:solidFill>
                  <a:schemeClr val="tx1"/>
                </a:solidFill>
              </a:rPr>
              <a:t>na </a:t>
            </a:r>
            <a:r>
              <a:rPr lang="pt-BR" sz="2500" dirty="0">
                <a:solidFill>
                  <a:srgbClr val="FF0000"/>
                </a:solidFill>
              </a:rPr>
              <a:t>mente</a:t>
            </a:r>
            <a:r>
              <a:rPr lang="pt-BR" sz="2500" dirty="0">
                <a:solidFill>
                  <a:schemeClr val="tx1"/>
                </a:solidFill>
              </a:rPr>
              <a:t> ou na </a:t>
            </a:r>
            <a:r>
              <a:rPr lang="pt-BR" sz="2500" dirty="0">
                <a:solidFill>
                  <a:srgbClr val="FF0000"/>
                </a:solidFill>
              </a:rPr>
              <a:t>alma humana</a:t>
            </a:r>
            <a:r>
              <a:rPr lang="pt-BR" sz="2500" dirty="0">
                <a:solidFill>
                  <a:schemeClr val="tx1"/>
                </a:solidFill>
              </a:rPr>
              <a:t>, não tendo realidade fora dela.</a:t>
            </a:r>
          </a:p>
        </p:txBody>
      </p:sp>
    </p:spTree>
    <p:extLst>
      <p:ext uri="{BB962C8B-B14F-4D97-AF65-F5344CB8AC3E}">
        <p14:creationId xmlns:p14="http://schemas.microsoft.com/office/powerpoint/2010/main" val="17930105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D6F97C-DE46-46D4-B0AB-BB5E25D7D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O nominalismo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EE06614-9127-40D5-832E-0C017BE9E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2500" dirty="0">
                <a:solidFill>
                  <a:schemeClr val="tx1"/>
                </a:solidFill>
              </a:rPr>
              <a:t>O teólogo e filósofo </a:t>
            </a:r>
            <a:r>
              <a:rPr lang="pt-BR" sz="2500" dirty="0" err="1">
                <a:solidFill>
                  <a:schemeClr val="tx1"/>
                </a:solidFill>
              </a:rPr>
              <a:t>Roscelino</a:t>
            </a:r>
            <a:r>
              <a:rPr lang="pt-BR" sz="2500" dirty="0">
                <a:solidFill>
                  <a:schemeClr val="tx1"/>
                </a:solidFill>
              </a:rPr>
              <a:t> de </a:t>
            </a:r>
            <a:r>
              <a:rPr lang="pt-BR" sz="2500" dirty="0" err="1">
                <a:solidFill>
                  <a:schemeClr val="tx1"/>
                </a:solidFill>
              </a:rPr>
              <a:t>Compiegne</a:t>
            </a:r>
            <a:r>
              <a:rPr lang="pt-BR" sz="2500" dirty="0">
                <a:solidFill>
                  <a:schemeClr val="tx1"/>
                </a:solidFill>
              </a:rPr>
              <a:t> (1050-c. 1123) é considerado o primeiro a defender uma concepção </a:t>
            </a:r>
            <a:r>
              <a:rPr lang="pt-BR" sz="2500" dirty="0">
                <a:solidFill>
                  <a:srgbClr val="FF0000"/>
                </a:solidFill>
              </a:rPr>
              <a:t>nominalista</a:t>
            </a:r>
            <a:r>
              <a:rPr lang="pt-BR" sz="2500" dirty="0">
                <a:solidFill>
                  <a:schemeClr val="tx1"/>
                </a:solidFill>
              </a:rPr>
              <a:t>, mas talvez o mais ilustre foi o franciscano Guilherme de </a:t>
            </a:r>
            <a:r>
              <a:rPr lang="pt-BR" sz="2500" dirty="0" err="1">
                <a:solidFill>
                  <a:schemeClr val="tx1"/>
                </a:solidFill>
              </a:rPr>
              <a:t>Ockham</a:t>
            </a:r>
            <a:r>
              <a:rPr lang="pt-BR" sz="2500" dirty="0">
                <a:solidFill>
                  <a:schemeClr val="tx1"/>
                </a:solidFill>
              </a:rPr>
              <a:t>:</a:t>
            </a:r>
            <a:endParaRPr lang="pt-BR" sz="2500" dirty="0"/>
          </a:p>
          <a:p>
            <a:pPr marL="0" indent="0" algn="just">
              <a:buNone/>
            </a:pPr>
            <a:r>
              <a:rPr lang="pt-BR" sz="2500" dirty="0">
                <a:solidFill>
                  <a:schemeClr val="tx1"/>
                </a:solidFill>
              </a:rPr>
              <a:t>“Nenhuma</a:t>
            </a:r>
            <a:r>
              <a:rPr lang="pt-BR" sz="2500" dirty="0">
                <a:solidFill>
                  <a:srgbClr val="FF0000"/>
                </a:solidFill>
              </a:rPr>
              <a:t> coisa </a:t>
            </a:r>
            <a:r>
              <a:rPr lang="pt-BR" sz="2500" dirty="0">
                <a:solidFill>
                  <a:schemeClr val="tx1"/>
                </a:solidFill>
              </a:rPr>
              <a:t>fora da </a:t>
            </a:r>
            <a:r>
              <a:rPr lang="pt-BR" sz="2500" dirty="0">
                <a:solidFill>
                  <a:srgbClr val="FF0000"/>
                </a:solidFill>
              </a:rPr>
              <a:t>alma</a:t>
            </a:r>
            <a:r>
              <a:rPr lang="pt-BR" sz="2500" dirty="0">
                <a:solidFill>
                  <a:schemeClr val="tx1"/>
                </a:solidFill>
              </a:rPr>
              <a:t>, nem por si, nem por algo que se agregue, </a:t>
            </a:r>
            <a:r>
              <a:rPr lang="pt-BR" sz="2500" dirty="0">
                <a:solidFill>
                  <a:srgbClr val="FF0000"/>
                </a:solidFill>
              </a:rPr>
              <a:t>real</a:t>
            </a:r>
            <a:r>
              <a:rPr lang="pt-BR" sz="2500" dirty="0">
                <a:solidFill>
                  <a:schemeClr val="tx1"/>
                </a:solidFill>
              </a:rPr>
              <a:t> ou </a:t>
            </a:r>
            <a:r>
              <a:rPr lang="pt-BR" sz="2500" dirty="0">
                <a:solidFill>
                  <a:srgbClr val="FF0000"/>
                </a:solidFill>
              </a:rPr>
              <a:t>irracional </a:t>
            </a:r>
            <a:r>
              <a:rPr lang="pt-BR" sz="2500" dirty="0">
                <a:solidFill>
                  <a:schemeClr val="tx1"/>
                </a:solidFill>
              </a:rPr>
              <a:t>e de qualquer maneira que se considere e se entenda, é </a:t>
            </a:r>
            <a:r>
              <a:rPr lang="pt-BR" sz="2500" dirty="0">
                <a:solidFill>
                  <a:srgbClr val="FF0000"/>
                </a:solidFill>
              </a:rPr>
              <a:t>universal</a:t>
            </a:r>
            <a:r>
              <a:rPr lang="pt-BR" sz="2500" dirty="0">
                <a:solidFill>
                  <a:schemeClr val="tx1"/>
                </a:solidFill>
              </a:rPr>
              <a:t>, já que é </a:t>
            </a:r>
            <a:r>
              <a:rPr lang="pt-BR" sz="2500" dirty="0">
                <a:solidFill>
                  <a:srgbClr val="FF0000"/>
                </a:solidFill>
              </a:rPr>
              <a:t>impossível</a:t>
            </a:r>
            <a:r>
              <a:rPr lang="pt-BR" sz="2500" dirty="0">
                <a:solidFill>
                  <a:schemeClr val="tx1"/>
                </a:solidFill>
              </a:rPr>
              <a:t> que uma </a:t>
            </a:r>
            <a:r>
              <a:rPr lang="pt-BR" sz="2500" dirty="0">
                <a:solidFill>
                  <a:srgbClr val="FF0000"/>
                </a:solidFill>
              </a:rPr>
              <a:t>coisa</a:t>
            </a:r>
            <a:r>
              <a:rPr lang="pt-BR" sz="2500" dirty="0">
                <a:solidFill>
                  <a:schemeClr val="tx1"/>
                </a:solidFill>
              </a:rPr>
              <a:t> fora da </a:t>
            </a:r>
            <a:r>
              <a:rPr lang="pt-BR" sz="2500" dirty="0">
                <a:solidFill>
                  <a:srgbClr val="FF0000"/>
                </a:solidFill>
              </a:rPr>
              <a:t>alma</a:t>
            </a:r>
            <a:r>
              <a:rPr lang="pt-BR" sz="2500" dirty="0">
                <a:solidFill>
                  <a:schemeClr val="tx1"/>
                </a:solidFill>
              </a:rPr>
              <a:t> seja </a:t>
            </a:r>
            <a:r>
              <a:rPr lang="pt-BR" sz="2500" dirty="0">
                <a:solidFill>
                  <a:srgbClr val="FF0000"/>
                </a:solidFill>
              </a:rPr>
              <a:t>universal</a:t>
            </a:r>
            <a:r>
              <a:rPr lang="pt-BR" sz="2500" dirty="0">
                <a:solidFill>
                  <a:schemeClr val="tx1"/>
                </a:solidFill>
              </a:rPr>
              <a:t> de algum modo...”.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2295886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339</TotalTime>
  <Words>2194</Words>
  <Application>Microsoft Office PowerPoint</Application>
  <PresentationFormat>Widescreen</PresentationFormat>
  <Paragraphs>130</Paragraphs>
  <Slides>33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33</vt:i4>
      </vt:variant>
    </vt:vector>
  </HeadingPairs>
  <TitlesOfParts>
    <vt:vector size="37" baseType="lpstr">
      <vt:lpstr>Arial</vt:lpstr>
      <vt:lpstr>Trebuchet MS</vt:lpstr>
      <vt:lpstr>Wingdings 3</vt:lpstr>
      <vt:lpstr>Facetado</vt:lpstr>
      <vt:lpstr>   FILOSOFIA MEDIEVAL</vt:lpstr>
      <vt:lpstr>FILOSOFIA MEDIEVAL</vt:lpstr>
      <vt:lpstr>FILOSOFIA MEDIEVAL</vt:lpstr>
      <vt:lpstr>Razão e Crença</vt:lpstr>
      <vt:lpstr>Razão e Crença</vt:lpstr>
      <vt:lpstr>Razão e Crença</vt:lpstr>
      <vt:lpstr>Fundadores da Patrística</vt:lpstr>
      <vt:lpstr>Fundadores da Patrística</vt:lpstr>
      <vt:lpstr>Santo Agostinho</vt:lpstr>
      <vt:lpstr>Agostinho: a procura de Deus</vt:lpstr>
      <vt:lpstr>Agostinho: a procura de Deus</vt:lpstr>
      <vt:lpstr>Agostinho: a procura de Deus</vt:lpstr>
      <vt:lpstr>A existência de Deus</vt:lpstr>
      <vt:lpstr>A existência de Deus</vt:lpstr>
      <vt:lpstr>Filosofar e confessar: principais temas</vt:lpstr>
      <vt:lpstr>Filosofar e confessar: principais temas</vt:lpstr>
      <vt:lpstr>A Escolástica</vt:lpstr>
      <vt:lpstr>A filosofia das escolas cristãs</vt:lpstr>
      <vt:lpstr>A filosofia das escolas cristãs</vt:lpstr>
      <vt:lpstr>A filosofia das escolas cristãs</vt:lpstr>
      <vt:lpstr>Surgimento as universidades</vt:lpstr>
      <vt:lpstr>Filosofia tomista: a unidade entre a razão e a fé</vt:lpstr>
      <vt:lpstr>Filosofia tomista: a unidade entre a razão e a fé</vt:lpstr>
      <vt:lpstr>Deus é a primeira causa de tudo</vt:lpstr>
      <vt:lpstr>Deus é a primeira causa de tudo</vt:lpstr>
      <vt:lpstr>Deus é a primeira causa de tudo</vt:lpstr>
      <vt:lpstr>O homem é composto de alma e corpo</vt:lpstr>
      <vt:lpstr>O homem é composto de alma e corpo</vt:lpstr>
      <vt:lpstr>O homem é composto de alma e corpo</vt:lpstr>
      <vt:lpstr>A busca do bem</vt:lpstr>
      <vt:lpstr>O Realismo</vt:lpstr>
      <vt:lpstr>O nominalismo</vt:lpstr>
      <vt:lpstr>O nominalismo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FILOSOFIA MEDIEVAL</dc:title>
  <dc:creator>Marcelo</dc:creator>
  <cp:lastModifiedBy>Professores 2.</cp:lastModifiedBy>
  <cp:revision>43</cp:revision>
  <dcterms:created xsi:type="dcterms:W3CDTF">2019-09-15T22:03:55Z</dcterms:created>
  <dcterms:modified xsi:type="dcterms:W3CDTF">2020-11-06T10:14:38Z</dcterms:modified>
</cp:coreProperties>
</file>