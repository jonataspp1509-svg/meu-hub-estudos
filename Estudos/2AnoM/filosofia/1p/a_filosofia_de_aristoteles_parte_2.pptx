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53" r:id="rId1"/>
  </p:sldMasterIdLst>
  <p:notesMasterIdLst>
    <p:notesMasterId r:id="rId17"/>
  </p:notesMasterIdLst>
  <p:sldIdLst>
    <p:sldId id="265" r:id="rId2"/>
    <p:sldId id="358" r:id="rId3"/>
    <p:sldId id="350" r:id="rId4"/>
    <p:sldId id="264" r:id="rId5"/>
    <p:sldId id="354" r:id="rId6"/>
    <p:sldId id="266" r:id="rId7"/>
    <p:sldId id="330" r:id="rId8"/>
    <p:sldId id="268" r:id="rId9"/>
    <p:sldId id="352" r:id="rId10"/>
    <p:sldId id="376" r:id="rId11"/>
    <p:sldId id="359" r:id="rId12"/>
    <p:sldId id="360" r:id="rId13"/>
    <p:sldId id="361" r:id="rId14"/>
    <p:sldId id="366" r:id="rId15"/>
    <p:sldId id="362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8" d="100"/>
          <a:sy n="68" d="100"/>
        </p:scale>
        <p:origin x="1446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 dirty="0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76F35B2-BACC-4B83-B8A4-AB197371F073}" type="datetimeFigureOut">
              <a:rPr lang="pt-BR" smtClean="0"/>
              <a:pPr/>
              <a:t>03/11/2025</a:t>
            </a:fld>
            <a:endParaRPr lang="pt-BR" dirty="0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 dirty="0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 dirty="0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0415AD3-FC30-455A-AD60-A697DA5EA885}" type="slidenum">
              <a:rPr lang="pt-BR" smtClean="0"/>
              <a:pPr/>
              <a:t>‹nº›</a:t>
            </a:fld>
            <a:endParaRPr lang="pt-BR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0415AD3-FC30-455A-AD60-A697DA5EA885}" type="slidenum">
              <a:rPr lang="pt-BR" smtClean="0"/>
              <a:pPr/>
              <a:t>1</a:t>
            </a:fld>
            <a:endParaRPr lang="pt-BR"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SD-PanelTitle-GrommetsCombine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921934" y="1811863"/>
            <a:ext cx="5308866" cy="1515533"/>
          </a:xfrm>
        </p:spPr>
        <p:txBody>
          <a:bodyPr anchor="b">
            <a:noAutofit/>
          </a:bodyPr>
          <a:lstStyle>
            <a:lvl1pPr algn="ctr">
              <a:defRPr sz="4800">
                <a:effectLst/>
              </a:defRPr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921934" y="3598327"/>
            <a:ext cx="5308866" cy="1377651"/>
          </a:xfrm>
        </p:spPr>
        <p:txBody>
          <a:bodyPr anchor="t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pt-BR"/>
              <a:t>Clique para editar o estilo do subtítulo Mestre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065417" y="5054602"/>
            <a:ext cx="673276" cy="279400"/>
          </a:xfrm>
        </p:spPr>
        <p:txBody>
          <a:bodyPr/>
          <a:lstStyle/>
          <a:p>
            <a:fld id="{943114C0-FDB4-44A3-B42C-FE3B27C495BE}" type="datetime1">
              <a:rPr lang="pt-BR" smtClean="0"/>
              <a:pPr/>
              <a:t>03/11/2025</a:t>
            </a:fld>
            <a:endParaRPr lang="pt-BR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921934" y="5054602"/>
            <a:ext cx="4064860" cy="279400"/>
          </a:xfrm>
        </p:spPr>
        <p:txBody>
          <a:bodyPr/>
          <a:lstStyle/>
          <a:p>
            <a:endParaRPr lang="pt-BR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817317" y="5054602"/>
            <a:ext cx="413483" cy="279400"/>
          </a:xfrm>
        </p:spPr>
        <p:txBody>
          <a:bodyPr/>
          <a:lstStyle/>
          <a:p>
            <a:fld id="{CD489D4F-278A-4CE5-8C40-8D0EDACDB649}" type="slidenum">
              <a:rPr lang="pt-BR" smtClean="0"/>
              <a:pPr/>
              <a:t>‹nº›</a:t>
            </a:fld>
            <a:endParaRPr lang="pt-BR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2019825" y="3471329"/>
            <a:ext cx="5113083" cy="0"/>
          </a:xfrm>
          <a:prstGeom prst="line">
            <a:avLst/>
          </a:prstGeom>
          <a:ln w="15875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23448214"/>
      </p:ext>
    </p:extLst>
  </p:cSld>
  <p:clrMapOvr>
    <a:masterClrMapping/>
  </p:clrMapOvr>
  <p:hf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/>
          <p:cNvCxnSpPr/>
          <p:nvPr/>
        </p:nvCxnSpPr>
        <p:spPr>
          <a:xfrm>
            <a:off x="1278466" y="2354670"/>
            <a:ext cx="6595533" cy="0"/>
          </a:xfrm>
          <a:prstGeom prst="line">
            <a:avLst/>
          </a:prstGeom>
          <a:ln w="15875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3114C0-FDB4-44A3-B42C-FE3B27C495BE}" type="datetime1">
              <a:rPr lang="pt-BR" smtClean="0"/>
              <a:pPr/>
              <a:t>03/11/2025</a:t>
            </a:fld>
            <a:endParaRPr lang="pt-BR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489D4F-278A-4CE5-8C40-8D0EDACDB649}" type="slidenum">
              <a:rPr lang="pt-BR" smtClean="0"/>
              <a:pPr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67353434"/>
      </p:ext>
    </p:extLst>
  </p:cSld>
  <p:clrMapOvr>
    <a:masterClrMapping/>
  </p:clrMapOvr>
  <p:hf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78465" y="1641413"/>
            <a:ext cx="6595534" cy="1822514"/>
          </a:xfrm>
        </p:spPr>
        <p:txBody>
          <a:bodyPr anchor="b">
            <a:normAutofit/>
          </a:bodyPr>
          <a:lstStyle>
            <a:lvl1pPr algn="ctr">
              <a:defRPr sz="4000" b="0" cap="none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78465" y="3734859"/>
            <a:ext cx="6595534" cy="1090015"/>
          </a:xfrm>
        </p:spPr>
        <p:txBody>
          <a:bodyPr anchor="t">
            <a:normAutofit/>
          </a:bodyPr>
          <a:lstStyle>
            <a:lvl1pPr marL="0" indent="0" algn="ctr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F094B1-CF7C-4A2C-887D-B242FEE6DAF6}" type="datetime1">
              <a:rPr lang="pt-BR" smtClean="0"/>
              <a:pPr/>
              <a:t>03/11/2025</a:t>
            </a:fld>
            <a:endParaRPr lang="pt-BR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489D4F-278A-4CE5-8C40-8D0EDACDB649}" type="slidenum">
              <a:rPr lang="pt-BR" smtClean="0"/>
              <a:pPr/>
              <a:t>‹nº›</a:t>
            </a:fld>
            <a:endParaRPr lang="pt-BR" dirty="0"/>
          </a:p>
        </p:txBody>
      </p:sp>
      <p:cxnSp>
        <p:nvCxnSpPr>
          <p:cNvPr id="31" name="Straight Connector 30"/>
          <p:cNvCxnSpPr/>
          <p:nvPr/>
        </p:nvCxnSpPr>
        <p:spPr>
          <a:xfrm>
            <a:off x="1278466" y="3599392"/>
            <a:ext cx="6595533" cy="0"/>
          </a:xfrm>
          <a:prstGeom prst="line">
            <a:avLst/>
          </a:prstGeom>
          <a:ln w="15875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4804805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/>
          <p:cNvCxnSpPr/>
          <p:nvPr/>
        </p:nvCxnSpPr>
        <p:spPr>
          <a:xfrm>
            <a:off x="1278465" y="2356260"/>
            <a:ext cx="6595534" cy="0"/>
          </a:xfrm>
          <a:prstGeom prst="line">
            <a:avLst/>
          </a:prstGeom>
          <a:ln w="15875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79576" y="2487168"/>
            <a:ext cx="3337560" cy="3447288"/>
          </a:xfrm>
        </p:spPr>
        <p:txBody>
          <a:bodyPr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5152" y="2487168"/>
            <a:ext cx="3337560" cy="3447288"/>
          </a:xfrm>
        </p:spPr>
        <p:txBody>
          <a:bodyPr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90332F-1DA2-461C-95B9-CBC1D882BF99}" type="datetime1">
              <a:rPr lang="pt-BR" smtClean="0"/>
              <a:pPr/>
              <a:t>03/11/2025</a:t>
            </a:fld>
            <a:endParaRPr lang="pt-BR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489D4F-278A-4CE5-8C40-8D0EDACDB649}" type="slidenum">
              <a:rPr lang="pt-BR" smtClean="0"/>
              <a:pPr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34518706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76868" y="2658533"/>
            <a:ext cx="333756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76868" y="3243262"/>
            <a:ext cx="3337560" cy="2706624"/>
          </a:xfrm>
        </p:spPr>
        <p:txBody>
          <a:bodyPr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1832" y="2658533"/>
            <a:ext cx="333756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1832" y="3243262"/>
            <a:ext cx="3337560" cy="2706624"/>
          </a:xfrm>
        </p:spPr>
        <p:txBody>
          <a:bodyPr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8B85D6-1E8D-4092-AC34-13B67229F678}" type="datetime1">
              <a:rPr lang="pt-BR" smtClean="0"/>
              <a:pPr/>
              <a:t>03/11/2025</a:t>
            </a:fld>
            <a:endParaRPr lang="pt-BR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489D4F-278A-4CE5-8C40-8D0EDACDB649}" type="slidenum">
              <a:rPr lang="pt-BR" smtClean="0"/>
              <a:pPr/>
              <a:t>‹nº›</a:t>
            </a:fld>
            <a:endParaRPr lang="pt-BR" dirty="0"/>
          </a:p>
        </p:txBody>
      </p:sp>
      <p:cxnSp>
        <p:nvCxnSpPr>
          <p:cNvPr id="41" name="Straight Connector 40"/>
          <p:cNvCxnSpPr/>
          <p:nvPr/>
        </p:nvCxnSpPr>
        <p:spPr>
          <a:xfrm>
            <a:off x="1278466" y="2354670"/>
            <a:ext cx="6595534" cy="0"/>
          </a:xfrm>
          <a:prstGeom prst="line">
            <a:avLst/>
          </a:prstGeom>
          <a:ln w="15875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125923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5" y="915337"/>
            <a:ext cx="6798735" cy="1303867"/>
          </a:xfrm>
        </p:spPr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3114C0-FDB4-44A3-B42C-FE3B27C495BE}" type="datetime1">
              <a:rPr lang="pt-BR" smtClean="0"/>
              <a:pPr/>
              <a:t>03/11/2025</a:t>
            </a:fld>
            <a:endParaRPr lang="pt-BR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489D4F-278A-4CE5-8C40-8D0EDACDB649}" type="slidenum">
              <a:rPr lang="pt-BR" smtClean="0"/>
              <a:pPr/>
              <a:t>‹nº›</a:t>
            </a:fld>
            <a:endParaRPr lang="pt-BR" dirty="0"/>
          </a:p>
        </p:txBody>
      </p:sp>
      <p:cxnSp>
        <p:nvCxnSpPr>
          <p:cNvPr id="14" name="Straight Connector 13"/>
          <p:cNvCxnSpPr/>
          <p:nvPr/>
        </p:nvCxnSpPr>
        <p:spPr>
          <a:xfrm>
            <a:off x="1278466" y="2354670"/>
            <a:ext cx="6595534" cy="0"/>
          </a:xfrm>
          <a:prstGeom prst="line">
            <a:avLst/>
          </a:prstGeom>
          <a:ln w="15875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83042669"/>
      </p:ext>
    </p:extLst>
  </p:cSld>
  <p:clrMapOvr>
    <a:masterClrMapping/>
  </p:clrMapOvr>
  <p:hf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3114C0-FDB4-44A3-B42C-FE3B27C495BE}" type="datetime1">
              <a:rPr lang="pt-BR" smtClean="0"/>
              <a:pPr/>
              <a:t>03/11/2025</a:t>
            </a:fld>
            <a:endParaRPr lang="pt-BR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489D4F-278A-4CE5-8C40-8D0EDACDB649}" type="slidenum">
              <a:rPr lang="pt-BR" smtClean="0"/>
              <a:pPr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386267532"/>
      </p:ext>
    </p:extLst>
  </p:cSld>
  <p:clrMapOvr>
    <a:masterClrMapping/>
  </p:clrMapOvr>
  <p:hf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5" y="1388534"/>
            <a:ext cx="2536798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120062" y="982132"/>
            <a:ext cx="3855539" cy="4893735"/>
          </a:xfrm>
        </p:spPr>
        <p:txBody>
          <a:bodyPr anchor="ctr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76865" y="3031065"/>
            <a:ext cx="2536798" cy="2438404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F0BB09-7049-4FC3-992A-D26A6172A600}" type="datetime1">
              <a:rPr lang="pt-BR" smtClean="0"/>
              <a:pPr/>
              <a:t>03/11/2025</a:t>
            </a:fld>
            <a:endParaRPr lang="pt-BR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489D4F-278A-4CE5-8C40-8D0EDACDB649}" type="slidenum">
              <a:rPr lang="pt-BR" smtClean="0"/>
              <a:pPr/>
              <a:t>‹nº›</a:t>
            </a:fld>
            <a:endParaRPr lang="pt-BR" dirty="0"/>
          </a:p>
        </p:txBody>
      </p:sp>
      <p:cxnSp>
        <p:nvCxnSpPr>
          <p:cNvPr id="16" name="Straight Connector 15"/>
          <p:cNvCxnSpPr/>
          <p:nvPr/>
        </p:nvCxnSpPr>
        <p:spPr>
          <a:xfrm>
            <a:off x="1278466" y="2912533"/>
            <a:ext cx="2333594" cy="0"/>
          </a:xfrm>
          <a:prstGeom prst="line">
            <a:avLst/>
          </a:prstGeom>
          <a:ln w="15875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7942749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5" y="1883832"/>
            <a:ext cx="3632202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218221" y="1032933"/>
            <a:ext cx="2929463" cy="4792136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76865" y="3255432"/>
            <a:ext cx="3632201" cy="182880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3114C0-FDB4-44A3-B42C-FE3B27C495BE}" type="datetime1">
              <a:rPr lang="pt-BR" smtClean="0"/>
              <a:pPr/>
              <a:t>03/11/2025</a:t>
            </a:fld>
            <a:endParaRPr lang="pt-BR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489D4F-278A-4CE5-8C40-8D0EDACDB649}" type="slidenum">
              <a:rPr lang="pt-BR" smtClean="0"/>
              <a:pPr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8242885"/>
      </p:ext>
    </p:extLst>
  </p:cSld>
  <p:clrMapOvr>
    <a:masterClrMapping/>
  </p:clrMapOvr>
  <p:hf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oto Panorâmica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6" y="4815415"/>
            <a:ext cx="6798734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026260" y="1032933"/>
            <a:ext cx="7091482" cy="3361269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76866" y="5382153"/>
            <a:ext cx="6798734" cy="493712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3114C0-FDB4-44A3-B42C-FE3B27C495BE}" type="datetime1">
              <a:rPr lang="pt-BR" smtClean="0"/>
              <a:pPr/>
              <a:t>03/11/2025</a:t>
            </a:fld>
            <a:endParaRPr lang="pt-BR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489D4F-278A-4CE5-8C40-8D0EDACDB649}" type="slidenum">
              <a:rPr lang="pt-BR" smtClean="0"/>
              <a:pPr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876056170"/>
      </p:ext>
    </p:extLst>
  </p:cSld>
  <p:clrMapOvr>
    <a:masterClrMapping/>
  </p:clrMapOvr>
  <p:hf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ítulo e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6" y="906873"/>
            <a:ext cx="6798734" cy="3097860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76865" y="4275666"/>
            <a:ext cx="6798736" cy="1600202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3114C0-FDB4-44A3-B42C-FE3B27C495BE}" type="datetime1">
              <a:rPr lang="pt-BR" smtClean="0"/>
              <a:pPr/>
              <a:t>03/11/2025</a:t>
            </a:fld>
            <a:endParaRPr lang="pt-BR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489D4F-278A-4CE5-8C40-8D0EDACDB649}" type="slidenum">
              <a:rPr lang="pt-BR" smtClean="0"/>
              <a:pPr/>
              <a:t>‹nº›</a:t>
            </a:fld>
            <a:endParaRPr lang="pt-BR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1278465" y="4140199"/>
            <a:ext cx="6606425" cy="0"/>
          </a:xfrm>
          <a:prstGeom prst="line">
            <a:avLst/>
          </a:prstGeom>
          <a:ln w="15875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10452752"/>
      </p:ext>
    </p:extLst>
  </p:cSld>
  <p:clrMapOvr>
    <a:masterClrMapping/>
  </p:clrMapOvr>
  <p:hf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çã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34333" y="982132"/>
            <a:ext cx="6400250" cy="2370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600200" y="3352799"/>
            <a:ext cx="5892798" cy="651933"/>
          </a:xfrm>
        </p:spPr>
        <p:txBody>
          <a:bodyPr anchor="ctr">
            <a:normAutofit/>
          </a:bodyPr>
          <a:lstStyle>
            <a:lvl1pPr marL="0" indent="0" algn="r">
              <a:buFontTx/>
              <a:buNone/>
              <a:defRPr sz="18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76863" y="4343400"/>
            <a:ext cx="6798738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3114C0-FDB4-44A3-B42C-FE3B27C495BE}" type="datetime1">
              <a:rPr lang="pt-BR" smtClean="0"/>
              <a:pPr/>
              <a:t>03/11/2025</a:t>
            </a:fld>
            <a:endParaRPr lang="pt-BR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489D4F-278A-4CE5-8C40-8D0EDACDB649}" type="slidenum">
              <a:rPr lang="pt-BR" smtClean="0"/>
              <a:pPr/>
              <a:t>‹nº›</a:t>
            </a:fld>
            <a:endParaRPr lang="pt-BR" dirty="0"/>
          </a:p>
        </p:txBody>
      </p:sp>
      <p:sp>
        <p:nvSpPr>
          <p:cNvPr id="14" name="TextBox 13"/>
          <p:cNvSpPr txBox="1"/>
          <p:nvPr/>
        </p:nvSpPr>
        <p:spPr>
          <a:xfrm>
            <a:off x="849969" y="905362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72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633503" y="2827870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72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1278466" y="4140199"/>
            <a:ext cx="6595534" cy="0"/>
          </a:xfrm>
          <a:prstGeom prst="line">
            <a:avLst/>
          </a:prstGeom>
          <a:ln w="15875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91452909"/>
      </p:ext>
    </p:extLst>
  </p:cSld>
  <p:clrMapOvr>
    <a:masterClrMapping/>
  </p:clrMapOvr>
  <p:hf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rtão de Nom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9" y="3308581"/>
            <a:ext cx="6798728" cy="1468800"/>
          </a:xfrm>
        </p:spPr>
        <p:txBody>
          <a:bodyPr anchor="b">
            <a:normAutofit/>
          </a:bodyPr>
          <a:lstStyle>
            <a:lvl1pPr algn="l">
              <a:defRPr sz="3200" b="0" cap="none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76868" y="4777381"/>
            <a:ext cx="6798730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3114C0-FDB4-44A3-B42C-FE3B27C495BE}" type="datetime1">
              <a:rPr lang="pt-BR" smtClean="0"/>
              <a:pPr/>
              <a:t>03/11/2025</a:t>
            </a:fld>
            <a:endParaRPr lang="pt-BR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489D4F-278A-4CE5-8C40-8D0EDACDB649}" type="slidenum">
              <a:rPr lang="pt-BR" smtClean="0"/>
              <a:pPr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521233285"/>
      </p:ext>
    </p:extLst>
  </p:cSld>
  <p:clrMapOvr>
    <a:masterClrMapping/>
  </p:clrMapOvr>
  <p:hf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r o Cartão de Nom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09416" y="982132"/>
            <a:ext cx="6325168" cy="2243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14" name="Text Placeholder 2"/>
          <p:cNvSpPr>
            <a:spLocks noGrp="1"/>
          </p:cNvSpPr>
          <p:nvPr>
            <p:ph type="body" idx="13"/>
          </p:nvPr>
        </p:nvSpPr>
        <p:spPr>
          <a:xfrm>
            <a:off x="1176868" y="3639312"/>
            <a:ext cx="6798730" cy="88696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76865" y="4529667"/>
            <a:ext cx="6798736" cy="1346200"/>
          </a:xfrm>
        </p:spPr>
        <p:txBody>
          <a:bodyPr anchor="t">
            <a:normAutofit/>
          </a:bodyPr>
          <a:lstStyle>
            <a:lvl1pPr marL="0" indent="0" algn="l">
              <a:buNone/>
              <a:defRPr sz="1600">
                <a:solidFill>
                  <a:schemeClr val="tx1"/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3114C0-FDB4-44A3-B42C-FE3B27C495BE}" type="datetime1">
              <a:rPr lang="pt-BR" smtClean="0"/>
              <a:pPr/>
              <a:t>03/11/2025</a:t>
            </a:fld>
            <a:endParaRPr lang="pt-BR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489D4F-278A-4CE5-8C40-8D0EDACDB649}" type="slidenum">
              <a:rPr lang="pt-BR" smtClean="0"/>
              <a:pPr/>
              <a:t>‹nº›</a:t>
            </a:fld>
            <a:endParaRPr lang="pt-BR" dirty="0"/>
          </a:p>
        </p:txBody>
      </p:sp>
      <p:sp>
        <p:nvSpPr>
          <p:cNvPr id="12" name="TextBox 11"/>
          <p:cNvSpPr txBox="1"/>
          <p:nvPr/>
        </p:nvSpPr>
        <p:spPr>
          <a:xfrm>
            <a:off x="878060" y="896895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49796" y="2607728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26" name="Straight Connector 25"/>
          <p:cNvCxnSpPr/>
          <p:nvPr/>
        </p:nvCxnSpPr>
        <p:spPr>
          <a:xfrm>
            <a:off x="1278466" y="3429000"/>
            <a:ext cx="6595534" cy="0"/>
          </a:xfrm>
          <a:prstGeom prst="line">
            <a:avLst/>
          </a:prstGeom>
          <a:ln w="15875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37050205"/>
      </p:ext>
    </p:extLst>
  </p:cSld>
  <p:clrMapOvr>
    <a:masterClrMapping/>
  </p:clrMapOvr>
  <p:hf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Verdadeiro ou Fals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5" y="982131"/>
            <a:ext cx="6798734" cy="2294467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sz="3200" b="0" dirty="0"/>
            </a:lvl1pPr>
          </a:lstStyle>
          <a:p>
            <a:pPr marL="0" lvl="0"/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11" name="Text Placeholder 2"/>
          <p:cNvSpPr>
            <a:spLocks noGrp="1"/>
          </p:cNvSpPr>
          <p:nvPr>
            <p:ph type="body" idx="13"/>
          </p:nvPr>
        </p:nvSpPr>
        <p:spPr>
          <a:xfrm>
            <a:off x="1176868" y="3566160"/>
            <a:ext cx="6798730" cy="905256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76866" y="4470400"/>
            <a:ext cx="6798734" cy="1405467"/>
          </a:xfrm>
        </p:spPr>
        <p:txBody>
          <a:bodyPr anchor="t">
            <a:normAutofit/>
          </a:bodyPr>
          <a:lstStyle>
            <a:lvl1pPr marL="0" indent="0" algn="l">
              <a:buNone/>
              <a:defRPr sz="1600">
                <a:solidFill>
                  <a:schemeClr val="tx1"/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3114C0-FDB4-44A3-B42C-FE3B27C495BE}" type="datetime1">
              <a:rPr lang="pt-BR" smtClean="0"/>
              <a:pPr/>
              <a:t>03/11/2025</a:t>
            </a:fld>
            <a:endParaRPr lang="pt-BR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489D4F-278A-4CE5-8C40-8D0EDACDB649}" type="slidenum">
              <a:rPr lang="pt-BR" smtClean="0"/>
              <a:pPr/>
              <a:t>‹nº›</a:t>
            </a:fld>
            <a:endParaRPr lang="pt-BR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1278469" y="3429000"/>
            <a:ext cx="6606421" cy="0"/>
          </a:xfrm>
          <a:prstGeom prst="line">
            <a:avLst/>
          </a:prstGeom>
          <a:ln w="15875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33894467"/>
      </p:ext>
    </p:extLst>
  </p:cSld>
  <p:clrMapOvr>
    <a:masterClrMapping/>
  </p:clrMapOvr>
  <p:hf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76865" y="2490135"/>
            <a:ext cx="6798736" cy="3385733"/>
          </a:xfrm>
        </p:spPr>
        <p:txBody>
          <a:bodyPr vert="eaVert" anchor="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3114C0-FDB4-44A3-B42C-FE3B27C495BE}" type="datetime1">
              <a:rPr lang="pt-BR" smtClean="0"/>
              <a:pPr/>
              <a:t>03/11/2025</a:t>
            </a:fld>
            <a:endParaRPr lang="pt-BR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489D4F-278A-4CE5-8C40-8D0EDACDB649}" type="slidenum">
              <a:rPr lang="pt-BR" smtClean="0"/>
              <a:pPr/>
              <a:t>‹nº›</a:t>
            </a:fld>
            <a:endParaRPr lang="pt-BR" dirty="0"/>
          </a:p>
        </p:txBody>
      </p:sp>
      <p:cxnSp>
        <p:nvCxnSpPr>
          <p:cNvPr id="14" name="Straight Connector 13"/>
          <p:cNvCxnSpPr/>
          <p:nvPr/>
        </p:nvCxnSpPr>
        <p:spPr>
          <a:xfrm>
            <a:off x="1278466" y="2354670"/>
            <a:ext cx="6606424" cy="0"/>
          </a:xfrm>
          <a:prstGeom prst="line">
            <a:avLst/>
          </a:prstGeom>
          <a:ln w="15875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03669047"/>
      </p:ext>
    </p:extLst>
  </p:cSld>
  <p:clrMapOvr>
    <a:masterClrMapping/>
  </p:clrMapOvr>
  <p:hf hdr="0" ftr="0" dt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356667" y="906873"/>
            <a:ext cx="1618930" cy="4968995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76867" y="906873"/>
            <a:ext cx="4915509" cy="4968993"/>
          </a:xfrm>
        </p:spPr>
        <p:txBody>
          <a:bodyPr vert="eaVert" anchor="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3114C0-FDB4-44A3-B42C-FE3B27C495BE}" type="datetime1">
              <a:rPr lang="pt-BR" smtClean="0"/>
              <a:pPr/>
              <a:t>03/11/2025</a:t>
            </a:fld>
            <a:endParaRPr lang="pt-BR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489D4F-278A-4CE5-8C40-8D0EDACDB649}" type="slidenum">
              <a:rPr lang="pt-BR" smtClean="0"/>
              <a:pPr/>
              <a:t>‹nº›</a:t>
            </a:fld>
            <a:endParaRPr lang="pt-BR" dirty="0"/>
          </a:p>
        </p:txBody>
      </p:sp>
      <p:cxnSp>
        <p:nvCxnSpPr>
          <p:cNvPr id="14" name="Straight Connector 13"/>
          <p:cNvCxnSpPr/>
          <p:nvPr/>
        </p:nvCxnSpPr>
        <p:spPr>
          <a:xfrm>
            <a:off x="6245512" y="906873"/>
            <a:ext cx="0" cy="4968993"/>
          </a:xfrm>
          <a:prstGeom prst="line">
            <a:avLst/>
          </a:prstGeom>
          <a:ln w="15875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7749747"/>
      </p:ext>
    </p:extLst>
  </p:cSld>
  <p:clrMapOvr>
    <a:masterClrMapping/>
  </p:clrMapOvr>
  <p:hf hdr="0" ftr="0" dt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3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SD-PanelContent-GrommetsCombined.png"/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76866" y="915337"/>
            <a:ext cx="6798734" cy="13038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76865" y="2490135"/>
            <a:ext cx="6798736" cy="3444997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356670" y="5960533"/>
            <a:ext cx="1148283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943114C0-FDB4-44A3-B42C-FE3B27C495BE}" type="datetime1">
              <a:rPr lang="pt-BR" smtClean="0"/>
              <a:pPr/>
              <a:t>03/11/2025</a:t>
            </a:fld>
            <a:endParaRPr lang="pt-BR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76865" y="5960533"/>
            <a:ext cx="5104667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pt-BR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580091" y="5960533"/>
            <a:ext cx="39551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CD489D4F-278A-4CE5-8C40-8D0EDACDB649}" type="slidenum">
              <a:rPr lang="pt-BR" smtClean="0"/>
              <a:pPr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823767037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854" r:id="rId1"/>
    <p:sldLayoutId id="2147483855" r:id="rId2"/>
    <p:sldLayoutId id="2147483856" r:id="rId3"/>
    <p:sldLayoutId id="2147483857" r:id="rId4"/>
    <p:sldLayoutId id="2147483858" r:id="rId5"/>
    <p:sldLayoutId id="2147483859" r:id="rId6"/>
    <p:sldLayoutId id="2147483860" r:id="rId7"/>
    <p:sldLayoutId id="2147483861" r:id="rId8"/>
    <p:sldLayoutId id="2147483862" r:id="rId9"/>
    <p:sldLayoutId id="2147483863" r:id="rId10"/>
    <p:sldLayoutId id="2147483864" r:id="rId11"/>
    <p:sldLayoutId id="2147483865" r:id="rId12"/>
    <p:sldLayoutId id="2147483866" r:id="rId13"/>
    <p:sldLayoutId id="2147483867" r:id="rId14"/>
    <p:sldLayoutId id="2147483868" r:id="rId15"/>
    <p:sldLayoutId id="2147483869" r:id="rId16"/>
    <p:sldLayoutId id="2147483870" r:id="rId17"/>
  </p:sldLayoutIdLst>
  <p:hf hdr="0" ftr="0" dt="0"/>
  <p:txStyles>
    <p:titleStyle>
      <a:lvl1pPr algn="ctr" defTabSz="457200" rtl="0" eaLnBrk="1" latinLnBrk="0" hangingPunct="1">
        <a:spcBef>
          <a:spcPct val="0"/>
        </a:spcBef>
        <a:buNone/>
        <a:defRPr sz="4000" kern="1200" cap="none">
          <a:ln w="3175" cmpd="sng">
            <a:noFill/>
          </a:ln>
          <a:solidFill>
            <a:schemeClr val="tx1">
              <a:lumMod val="85000"/>
              <a:lumOff val="15000"/>
            </a:schemeClr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0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8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6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Escadas da frente e colunas de um majestoso edifício da cidade">
            <a:extLst>
              <a:ext uri="{FF2B5EF4-FFF2-40B4-BE49-F238E27FC236}">
                <a16:creationId xmlns:a16="http://schemas.microsoft.com/office/drawing/2014/main" id="{AED3A7DF-B0FE-43BB-8738-03EF91080FCE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duotone>
              <a:schemeClr val="bg2">
                <a:shade val="45000"/>
                <a:satMod val="135000"/>
              </a:schemeClr>
              <a:prstClr val="white"/>
            </a:duotone>
            <a:alphaModFix amt="50000"/>
          </a:blip>
          <a:srcRect l="4463" r="1" b="1"/>
          <a:stretch/>
        </p:blipFill>
        <p:spPr>
          <a:xfrm>
            <a:off x="364604" y="488137"/>
            <a:ext cx="8420581" cy="5883295"/>
          </a:xfrm>
          <a:prstGeom prst="rect">
            <a:avLst/>
          </a:prstGeom>
          <a:scene3d>
            <a:camera prst="orthographicFront"/>
            <a:lightRig rig="twoPt" dir="t"/>
          </a:scene3d>
          <a:sp3d>
            <a:bevelT w="12700" h="2540" prst="coolSlant"/>
          </a:sp3d>
        </p:spPr>
      </p:pic>
      <p:sp>
        <p:nvSpPr>
          <p:cNvPr id="3" name="Título 2"/>
          <p:cNvSpPr>
            <a:spLocks noGrp="1"/>
          </p:cNvSpPr>
          <p:nvPr>
            <p:ph type="title"/>
          </p:nvPr>
        </p:nvSpPr>
        <p:spPr>
          <a:xfrm>
            <a:off x="971551" y="982132"/>
            <a:ext cx="7200897" cy="1303867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4100" b="0" dirty="0">
                <a:solidFill>
                  <a:srgbClr val="FF0000"/>
                </a:solidFill>
              </a:rPr>
              <a:t>A </a:t>
            </a:r>
            <a:r>
              <a:rPr lang="en-US" sz="4100" dirty="0">
                <a:solidFill>
                  <a:srgbClr val="FF0000"/>
                </a:solidFill>
              </a:rPr>
              <a:t>FILOSOFIA DE ARISTÓTELES (</a:t>
            </a:r>
            <a:r>
              <a:rPr lang="en-US" sz="4100" dirty="0" err="1">
                <a:solidFill>
                  <a:srgbClr val="FF0000"/>
                </a:solidFill>
              </a:rPr>
              <a:t>parte</a:t>
            </a:r>
            <a:r>
              <a:rPr lang="en-US" sz="4100" dirty="0">
                <a:solidFill>
                  <a:srgbClr val="FF0000"/>
                </a:solidFill>
              </a:rPr>
              <a:t> 2)</a:t>
            </a:r>
            <a:endParaRPr lang="en-US" sz="4100" b="0" dirty="0">
              <a:solidFill>
                <a:srgbClr val="FF0000"/>
              </a:solidFill>
            </a:endParaRP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>
          <a:xfrm>
            <a:off x="7765425" y="5969000"/>
            <a:ext cx="407023" cy="279400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defTabSz="914400">
              <a:spcAft>
                <a:spcPts val="600"/>
              </a:spcAft>
            </a:pPr>
            <a:fld id="{CD489D4F-278A-4CE5-8C40-8D0EDACDB649}" type="slidenum">
              <a:rPr lang="en-US" sz="900">
                <a:solidFill>
                  <a:prstClr val="black"/>
                </a:solidFill>
              </a:rPr>
              <a:pPr defTabSz="914400">
                <a:spcAft>
                  <a:spcPts val="600"/>
                </a:spcAft>
              </a:pPr>
              <a:t>1</a:t>
            </a:fld>
            <a:endParaRPr lang="en-US" sz="900">
              <a:solidFill>
                <a:prstClr val="black"/>
              </a:solidFill>
            </a:endParaRP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E3C6F252-08EE-4516-A0ED-EBC383C1AF0E}"/>
              </a:ext>
            </a:extLst>
          </p:cNvPr>
          <p:cNvSpPr txBox="1"/>
          <p:nvPr/>
        </p:nvSpPr>
        <p:spPr>
          <a:xfrm>
            <a:off x="971550" y="2556932"/>
            <a:ext cx="7200897" cy="331893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</a:pPr>
            <a:endParaRPr lang="en-US" b="1" dirty="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pPr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</a:pPr>
            <a:endParaRPr lang="en-US" b="1" dirty="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pPr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</a:pPr>
            <a:endParaRPr lang="en-US" b="1" dirty="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pPr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</a:pPr>
            <a:endParaRPr lang="en-US" b="1" dirty="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pPr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</a:pPr>
            <a:endParaRPr lang="en-US" b="1" dirty="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pPr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</a:pPr>
            <a:endParaRPr lang="en-US" b="1" dirty="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pPr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</a:pPr>
            <a:endParaRPr lang="en-US" b="1" dirty="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pPr algn="r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</a:pPr>
            <a:endParaRPr lang="en-US" b="1" dirty="0">
              <a:solidFill>
                <a:schemeClr val="bg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611560" y="668323"/>
            <a:ext cx="7920880" cy="5580077"/>
          </a:xfrm>
        </p:spPr>
        <p:txBody>
          <a:bodyPr>
            <a:normAutofit/>
          </a:bodyPr>
          <a:lstStyle/>
          <a:p>
            <a:pPr marL="0" indent="0">
              <a:lnSpc>
                <a:spcPct val="90000"/>
              </a:lnSpc>
              <a:buNone/>
            </a:pPr>
            <a:endParaRPr lang="pt-BR" sz="2200" dirty="0"/>
          </a:p>
          <a:p>
            <a:pPr marL="0" indent="0" algn="ctr">
              <a:lnSpc>
                <a:spcPct val="90000"/>
              </a:lnSpc>
              <a:buNone/>
            </a:pPr>
            <a:r>
              <a:rPr lang="pt-BR" sz="4100" dirty="0">
                <a:solidFill>
                  <a:srgbClr val="FF0000"/>
                </a:solidFill>
              </a:rPr>
              <a:t>O Primeiro Motor Imóvel</a:t>
            </a:r>
          </a:p>
          <a:p>
            <a:pPr marL="0" indent="0">
              <a:lnSpc>
                <a:spcPct val="90000"/>
              </a:lnSpc>
              <a:buNone/>
            </a:pPr>
            <a:endParaRPr lang="pt-BR" sz="2500" dirty="0"/>
          </a:p>
          <a:p>
            <a:pPr marL="0" indent="0" algn="just">
              <a:lnSpc>
                <a:spcPct val="90000"/>
              </a:lnSpc>
              <a:buNone/>
            </a:pPr>
            <a:r>
              <a:rPr lang="pt-BR" sz="3000" dirty="0">
                <a:solidFill>
                  <a:schemeClr val="bg1"/>
                </a:solidFill>
              </a:rPr>
              <a:t>Assim como o </a:t>
            </a:r>
            <a:r>
              <a:rPr lang="pt-BR" sz="3000" dirty="0">
                <a:solidFill>
                  <a:srgbClr val="FF0000"/>
                </a:solidFill>
              </a:rPr>
              <a:t>Demiurgo</a:t>
            </a:r>
            <a:r>
              <a:rPr lang="pt-BR" sz="3000" dirty="0">
                <a:solidFill>
                  <a:schemeClr val="bg1"/>
                </a:solidFill>
              </a:rPr>
              <a:t> de </a:t>
            </a:r>
            <a:r>
              <a:rPr lang="pt-BR" sz="3000" dirty="0">
                <a:solidFill>
                  <a:srgbClr val="FF0000"/>
                </a:solidFill>
              </a:rPr>
              <a:t>Platão</a:t>
            </a:r>
            <a:r>
              <a:rPr lang="pt-BR" sz="3000" dirty="0">
                <a:solidFill>
                  <a:schemeClr val="bg1"/>
                </a:solidFill>
              </a:rPr>
              <a:t>, o deus </a:t>
            </a:r>
            <a:r>
              <a:rPr lang="pt-BR" sz="3000" dirty="0">
                <a:solidFill>
                  <a:srgbClr val="FF0000"/>
                </a:solidFill>
              </a:rPr>
              <a:t>aristotélico</a:t>
            </a:r>
            <a:r>
              <a:rPr lang="pt-BR" sz="3000" dirty="0">
                <a:solidFill>
                  <a:schemeClr val="bg1"/>
                </a:solidFill>
              </a:rPr>
              <a:t> </a:t>
            </a:r>
            <a:r>
              <a:rPr lang="pt-BR" sz="3000" dirty="0">
                <a:solidFill>
                  <a:srgbClr val="FF0000"/>
                </a:solidFill>
              </a:rPr>
              <a:t>não é</a:t>
            </a:r>
            <a:r>
              <a:rPr lang="pt-BR" sz="3000" dirty="0">
                <a:solidFill>
                  <a:schemeClr val="bg1"/>
                </a:solidFill>
              </a:rPr>
              <a:t> um deus </a:t>
            </a:r>
            <a:r>
              <a:rPr lang="pt-BR" sz="3000" dirty="0">
                <a:solidFill>
                  <a:srgbClr val="FF0000"/>
                </a:solidFill>
              </a:rPr>
              <a:t>criador</a:t>
            </a:r>
            <a:r>
              <a:rPr lang="pt-BR" sz="3000" dirty="0">
                <a:solidFill>
                  <a:schemeClr val="bg1"/>
                </a:solidFill>
              </a:rPr>
              <a:t>. </a:t>
            </a:r>
          </a:p>
          <a:p>
            <a:pPr marL="0" indent="0" algn="just">
              <a:lnSpc>
                <a:spcPct val="90000"/>
              </a:lnSpc>
              <a:buNone/>
            </a:pPr>
            <a:r>
              <a:rPr lang="pt-BR" sz="3000" dirty="0">
                <a:solidFill>
                  <a:schemeClr val="bg1"/>
                </a:solidFill>
              </a:rPr>
              <a:t>O deus de Aristóteles exerce uma </a:t>
            </a:r>
            <a:r>
              <a:rPr lang="pt-BR" sz="3000" dirty="0">
                <a:solidFill>
                  <a:srgbClr val="FF0000"/>
                </a:solidFill>
              </a:rPr>
              <a:t>atração</a:t>
            </a:r>
            <a:r>
              <a:rPr lang="pt-BR" sz="3000" dirty="0">
                <a:solidFill>
                  <a:schemeClr val="bg1"/>
                </a:solidFill>
              </a:rPr>
              <a:t> sobre o </a:t>
            </a:r>
            <a:r>
              <a:rPr lang="pt-BR" sz="3000" dirty="0">
                <a:solidFill>
                  <a:srgbClr val="FF0000"/>
                </a:solidFill>
              </a:rPr>
              <a:t>Universo</a:t>
            </a:r>
            <a:r>
              <a:rPr lang="pt-BR" sz="3000" dirty="0">
                <a:solidFill>
                  <a:schemeClr val="bg1"/>
                </a:solidFill>
              </a:rPr>
              <a:t>, motivando sua existência, e sobre os corpos, </a:t>
            </a:r>
            <a:r>
              <a:rPr lang="pt-BR" sz="3000" dirty="0">
                <a:solidFill>
                  <a:srgbClr val="FF0000"/>
                </a:solidFill>
              </a:rPr>
              <a:t>gerando</a:t>
            </a:r>
            <a:r>
              <a:rPr lang="pt-BR" sz="3000" dirty="0">
                <a:solidFill>
                  <a:schemeClr val="bg1"/>
                </a:solidFill>
              </a:rPr>
              <a:t> seu </a:t>
            </a:r>
            <a:r>
              <a:rPr lang="pt-BR" sz="3000" dirty="0">
                <a:solidFill>
                  <a:srgbClr val="FF0000"/>
                </a:solidFill>
              </a:rPr>
              <a:t>movimento</a:t>
            </a:r>
            <a:r>
              <a:rPr lang="pt-BR" sz="3000" dirty="0">
                <a:solidFill>
                  <a:schemeClr val="bg1"/>
                </a:solidFill>
              </a:rPr>
              <a:t>, ou seja, </a:t>
            </a:r>
            <a:r>
              <a:rPr lang="pt-BR" sz="3000" dirty="0">
                <a:solidFill>
                  <a:srgbClr val="FF0000"/>
                </a:solidFill>
              </a:rPr>
              <a:t>atrai</a:t>
            </a:r>
            <a:r>
              <a:rPr lang="pt-BR" sz="3000" dirty="0">
                <a:solidFill>
                  <a:schemeClr val="bg1"/>
                </a:solidFill>
              </a:rPr>
              <a:t> tudo </a:t>
            </a:r>
            <a:r>
              <a:rPr lang="pt-BR" sz="3000" dirty="0">
                <a:solidFill>
                  <a:srgbClr val="FF0000"/>
                </a:solidFill>
              </a:rPr>
              <a:t>para si</a:t>
            </a:r>
            <a:r>
              <a:rPr lang="pt-BR" sz="3000" dirty="0">
                <a:solidFill>
                  <a:schemeClr val="bg1"/>
                </a:solidFill>
              </a:rPr>
              <a:t>.</a:t>
            </a: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>
          <a:xfrm>
            <a:off x="7765425" y="5910277"/>
            <a:ext cx="407023" cy="279400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CD489D4F-278A-4CE5-8C40-8D0EDACDB649}" type="slidenum">
              <a:rPr lang="pt-BR" smtClean="0"/>
              <a:pPr>
                <a:spcAft>
                  <a:spcPts val="600"/>
                </a:spcAft>
              </a:pPr>
              <a:t>2</a:t>
            </a:fld>
            <a:endParaRPr lang="pt-B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3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pt-BR" sz="4500" b="0" dirty="0">
                <a:solidFill>
                  <a:srgbClr val="FF0000"/>
                </a:solidFill>
                <a:effectLst/>
              </a:rPr>
              <a:t>A essência</a:t>
            </a:r>
          </a:p>
        </p:txBody>
      </p:sp>
      <p:sp>
        <p:nvSpPr>
          <p:cNvPr id="3" name="Espaço Reservado para Número de Slide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489D4F-278A-4CE5-8C40-8D0EDACDB649}" type="slidenum">
              <a:rPr lang="pt-BR" smtClean="0"/>
              <a:pPr/>
              <a:t>3</a:t>
            </a:fld>
            <a:endParaRPr lang="pt-BR" dirty="0"/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E0CB5396-7BB5-4F56-9BDC-7DD8C205C51D}"/>
              </a:ext>
            </a:extLst>
          </p:cNvPr>
          <p:cNvSpPr txBox="1"/>
          <p:nvPr/>
        </p:nvSpPr>
        <p:spPr>
          <a:xfrm>
            <a:off x="611560" y="2420888"/>
            <a:ext cx="7920880" cy="37548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t-BR" sz="2800" dirty="0">
                <a:solidFill>
                  <a:schemeClr val="bg1"/>
                </a:solidFill>
              </a:rPr>
              <a:t>A </a:t>
            </a:r>
            <a:r>
              <a:rPr lang="pt-BR" sz="2800" dirty="0">
                <a:solidFill>
                  <a:srgbClr val="FF0000"/>
                </a:solidFill>
              </a:rPr>
              <a:t>essência</a:t>
            </a:r>
            <a:r>
              <a:rPr lang="pt-BR" sz="2800" dirty="0">
                <a:solidFill>
                  <a:schemeClr val="bg1"/>
                </a:solidFill>
              </a:rPr>
              <a:t> é o </a:t>
            </a:r>
            <a:r>
              <a:rPr lang="pt-BR" sz="2800" dirty="0">
                <a:solidFill>
                  <a:srgbClr val="FF0000"/>
                </a:solidFill>
              </a:rPr>
              <a:t>modo</a:t>
            </a:r>
            <a:r>
              <a:rPr lang="pt-BR" sz="2800" dirty="0">
                <a:solidFill>
                  <a:schemeClr val="bg1"/>
                </a:solidFill>
              </a:rPr>
              <a:t> de </a:t>
            </a:r>
            <a:r>
              <a:rPr lang="pt-BR" sz="2800" dirty="0">
                <a:solidFill>
                  <a:srgbClr val="FF0000"/>
                </a:solidFill>
              </a:rPr>
              <a:t>ser</a:t>
            </a:r>
            <a:r>
              <a:rPr lang="pt-BR" sz="2800" dirty="0">
                <a:solidFill>
                  <a:schemeClr val="bg1"/>
                </a:solidFill>
              </a:rPr>
              <a:t> das </a:t>
            </a:r>
            <a:r>
              <a:rPr lang="pt-BR" sz="2800" dirty="0">
                <a:solidFill>
                  <a:srgbClr val="FF0000"/>
                </a:solidFill>
              </a:rPr>
              <a:t>coisas</a:t>
            </a:r>
            <a:r>
              <a:rPr lang="pt-BR" sz="2800" dirty="0">
                <a:solidFill>
                  <a:schemeClr val="bg1"/>
                </a:solidFill>
              </a:rPr>
              <a:t>. Em cada </a:t>
            </a:r>
            <a:r>
              <a:rPr lang="pt-BR" sz="2800" dirty="0">
                <a:solidFill>
                  <a:srgbClr val="FF0000"/>
                </a:solidFill>
              </a:rPr>
              <a:t>objeto</a:t>
            </a:r>
            <a:r>
              <a:rPr lang="pt-BR" sz="2800" dirty="0">
                <a:solidFill>
                  <a:schemeClr val="bg1"/>
                </a:solidFill>
              </a:rPr>
              <a:t> que compõe a </a:t>
            </a:r>
            <a:r>
              <a:rPr lang="pt-BR" sz="2800" dirty="0">
                <a:solidFill>
                  <a:srgbClr val="FF0000"/>
                </a:solidFill>
              </a:rPr>
              <a:t>realidade</a:t>
            </a:r>
            <a:r>
              <a:rPr lang="pt-BR" sz="2800" dirty="0">
                <a:solidFill>
                  <a:schemeClr val="bg1"/>
                </a:solidFill>
              </a:rPr>
              <a:t>, existe um </a:t>
            </a:r>
            <a:r>
              <a:rPr lang="pt-BR" sz="2800" dirty="0">
                <a:solidFill>
                  <a:srgbClr val="FF0000"/>
                </a:solidFill>
              </a:rPr>
              <a:t>núcleo</a:t>
            </a:r>
            <a:r>
              <a:rPr lang="pt-BR" sz="2800" dirty="0">
                <a:solidFill>
                  <a:schemeClr val="bg1"/>
                </a:solidFill>
              </a:rPr>
              <a:t> do qual emanam todas as suas características. Trata-se da </a:t>
            </a:r>
            <a:r>
              <a:rPr lang="pt-BR" sz="2800" dirty="0">
                <a:solidFill>
                  <a:srgbClr val="FF0000"/>
                </a:solidFill>
              </a:rPr>
              <a:t>essência</a:t>
            </a:r>
            <a:r>
              <a:rPr lang="pt-BR" sz="2800" dirty="0">
                <a:solidFill>
                  <a:schemeClr val="bg1"/>
                </a:solidFill>
              </a:rPr>
              <a:t> das </a:t>
            </a:r>
            <a:r>
              <a:rPr lang="pt-BR" sz="2800" dirty="0">
                <a:solidFill>
                  <a:srgbClr val="FF0000"/>
                </a:solidFill>
              </a:rPr>
              <a:t>coisas materiais</a:t>
            </a:r>
            <a:r>
              <a:rPr lang="pt-BR" sz="2800" dirty="0">
                <a:solidFill>
                  <a:schemeClr val="bg1"/>
                </a:solidFill>
              </a:rPr>
              <a:t>. </a:t>
            </a:r>
          </a:p>
          <a:p>
            <a:pPr algn="just"/>
            <a:endParaRPr lang="pt-BR" sz="1400" dirty="0">
              <a:solidFill>
                <a:schemeClr val="bg1"/>
              </a:solidFill>
            </a:endParaRPr>
          </a:p>
          <a:p>
            <a:pPr algn="just"/>
            <a:r>
              <a:rPr lang="pt-BR" sz="2800" dirty="0">
                <a:solidFill>
                  <a:schemeClr val="bg1"/>
                </a:solidFill>
              </a:rPr>
              <a:t>Assim, é em </a:t>
            </a:r>
            <a:r>
              <a:rPr lang="pt-BR" sz="2800" dirty="0">
                <a:solidFill>
                  <a:srgbClr val="FF0000"/>
                </a:solidFill>
              </a:rPr>
              <a:t>virtude</a:t>
            </a:r>
            <a:r>
              <a:rPr lang="pt-BR" sz="2800" dirty="0">
                <a:solidFill>
                  <a:schemeClr val="bg1"/>
                </a:solidFill>
              </a:rPr>
              <a:t> da </a:t>
            </a:r>
            <a:r>
              <a:rPr lang="pt-BR" sz="2800" dirty="0">
                <a:solidFill>
                  <a:srgbClr val="FF0000"/>
                </a:solidFill>
              </a:rPr>
              <a:t>essência</a:t>
            </a:r>
            <a:r>
              <a:rPr lang="pt-BR" sz="2800" dirty="0">
                <a:solidFill>
                  <a:schemeClr val="bg1"/>
                </a:solidFill>
              </a:rPr>
              <a:t> que a cobra </a:t>
            </a:r>
            <a:r>
              <a:rPr lang="pt-BR" sz="2800" dirty="0">
                <a:solidFill>
                  <a:srgbClr val="FF0000"/>
                </a:solidFill>
              </a:rPr>
              <a:t>é</a:t>
            </a:r>
            <a:r>
              <a:rPr lang="pt-BR" sz="2800" dirty="0">
                <a:solidFill>
                  <a:schemeClr val="bg1"/>
                </a:solidFill>
              </a:rPr>
              <a:t> cobra, que o avião </a:t>
            </a:r>
            <a:r>
              <a:rPr lang="pt-BR" sz="2800" dirty="0">
                <a:solidFill>
                  <a:srgbClr val="FF0000"/>
                </a:solidFill>
              </a:rPr>
              <a:t>é</a:t>
            </a:r>
            <a:r>
              <a:rPr lang="pt-BR" sz="2800" dirty="0">
                <a:solidFill>
                  <a:schemeClr val="bg1"/>
                </a:solidFill>
              </a:rPr>
              <a:t> avião. Na medida em que os objetos são </a:t>
            </a:r>
            <a:r>
              <a:rPr lang="pt-BR" sz="2800" dirty="0">
                <a:solidFill>
                  <a:srgbClr val="FF0000"/>
                </a:solidFill>
              </a:rPr>
              <a:t>substâncias</a:t>
            </a:r>
            <a:r>
              <a:rPr lang="pt-BR" sz="2800" dirty="0">
                <a:solidFill>
                  <a:schemeClr val="bg1"/>
                </a:solidFill>
              </a:rPr>
              <a:t>, manifestam-se de um modo, como </a:t>
            </a:r>
            <a:r>
              <a:rPr lang="pt-BR" sz="2800" dirty="0">
                <a:solidFill>
                  <a:srgbClr val="FF0000"/>
                </a:solidFill>
              </a:rPr>
              <a:t>pássaro</a:t>
            </a:r>
            <a:r>
              <a:rPr lang="pt-BR" sz="2800" dirty="0">
                <a:solidFill>
                  <a:schemeClr val="bg1"/>
                </a:solidFill>
              </a:rPr>
              <a:t>, </a:t>
            </a:r>
            <a:r>
              <a:rPr lang="pt-BR" sz="2800" dirty="0">
                <a:solidFill>
                  <a:srgbClr val="FF0000"/>
                </a:solidFill>
              </a:rPr>
              <a:t>elefante</a:t>
            </a:r>
            <a:r>
              <a:rPr lang="pt-BR" sz="2800" dirty="0">
                <a:solidFill>
                  <a:schemeClr val="bg1"/>
                </a:solidFill>
              </a:rPr>
              <a:t> ou a </a:t>
            </a:r>
            <a:r>
              <a:rPr lang="pt-BR" sz="2800" dirty="0">
                <a:solidFill>
                  <a:srgbClr val="FF0000"/>
                </a:solidFill>
              </a:rPr>
              <a:t>ovelha</a:t>
            </a:r>
            <a:r>
              <a:rPr lang="pt-BR" sz="2800" dirty="0">
                <a:solidFill>
                  <a:schemeClr val="bg1"/>
                </a:solidFill>
              </a:rPr>
              <a:t>, conforme a essência que possuem.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3"/>
          <p:cNvSpPr>
            <a:spLocks noGrp="1"/>
          </p:cNvSpPr>
          <p:nvPr>
            <p:ph type="title"/>
          </p:nvPr>
        </p:nvSpPr>
        <p:spPr>
          <a:xfrm>
            <a:off x="457200" y="908720"/>
            <a:ext cx="8229600" cy="1440160"/>
          </a:xfrm>
        </p:spPr>
        <p:txBody>
          <a:bodyPr/>
          <a:lstStyle/>
          <a:p>
            <a:pPr algn="ctr"/>
            <a:r>
              <a:rPr lang="pt-BR" b="0" dirty="0">
                <a:solidFill>
                  <a:srgbClr val="FF0000"/>
                </a:solidFill>
                <a:effectLst/>
              </a:rPr>
              <a:t>O hilemorfismo</a:t>
            </a:r>
          </a:p>
        </p:txBody>
      </p:sp>
      <p:sp>
        <p:nvSpPr>
          <p:cNvPr id="2" name="Espaço Reservado para Conteúdo 1"/>
          <p:cNvSpPr>
            <a:spLocks noGrp="1"/>
          </p:cNvSpPr>
          <p:nvPr>
            <p:ph idx="1"/>
          </p:nvPr>
        </p:nvSpPr>
        <p:spPr>
          <a:xfrm>
            <a:off x="457200" y="1196752"/>
            <a:ext cx="8229600" cy="5098888"/>
          </a:xfrm>
        </p:spPr>
        <p:txBody>
          <a:bodyPr>
            <a:noAutofit/>
          </a:bodyPr>
          <a:lstStyle/>
          <a:p>
            <a:pPr marL="0" indent="0" algn="just">
              <a:buNone/>
            </a:pPr>
            <a:endParaRPr lang="pt-BR" sz="2500" dirty="0">
              <a:solidFill>
                <a:schemeClr val="bg1"/>
              </a:solidFill>
            </a:endParaRPr>
          </a:p>
          <a:p>
            <a:pPr marL="0" indent="0" algn="just">
              <a:buNone/>
            </a:pPr>
            <a:endParaRPr lang="pt-BR" sz="2500" dirty="0">
              <a:solidFill>
                <a:schemeClr val="bg1"/>
              </a:solidFill>
            </a:endParaRPr>
          </a:p>
          <a:p>
            <a:pPr marL="0" indent="0" algn="just">
              <a:buNone/>
            </a:pPr>
            <a:r>
              <a:rPr lang="pt-BR" sz="2800" dirty="0">
                <a:solidFill>
                  <a:schemeClr val="bg1"/>
                </a:solidFill>
              </a:rPr>
              <a:t>Para Aristóteles, todas as coisas estariam constituídas de dois princípios inseparáveis: a </a:t>
            </a:r>
            <a:r>
              <a:rPr lang="pt-BR" sz="2800" dirty="0">
                <a:solidFill>
                  <a:srgbClr val="FF0000"/>
                </a:solidFill>
              </a:rPr>
              <a:t>matéria</a:t>
            </a:r>
            <a:r>
              <a:rPr lang="pt-BR" sz="2800" dirty="0">
                <a:solidFill>
                  <a:schemeClr val="bg1"/>
                </a:solidFill>
              </a:rPr>
              <a:t> (</a:t>
            </a:r>
            <a:r>
              <a:rPr lang="pt-BR" sz="2800" dirty="0">
                <a:solidFill>
                  <a:srgbClr val="FF0000"/>
                </a:solidFill>
              </a:rPr>
              <a:t>hylé</a:t>
            </a:r>
            <a:r>
              <a:rPr lang="pt-BR" sz="2800" dirty="0">
                <a:solidFill>
                  <a:schemeClr val="bg1"/>
                </a:solidFill>
              </a:rPr>
              <a:t>) e a </a:t>
            </a:r>
            <a:r>
              <a:rPr lang="pt-BR" sz="2800" dirty="0">
                <a:solidFill>
                  <a:srgbClr val="FF0000"/>
                </a:solidFill>
              </a:rPr>
              <a:t>forma </a:t>
            </a:r>
            <a:r>
              <a:rPr lang="pt-BR" sz="2800" dirty="0">
                <a:solidFill>
                  <a:schemeClr val="bg1"/>
                </a:solidFill>
              </a:rPr>
              <a:t>(</a:t>
            </a:r>
            <a:r>
              <a:rPr lang="pt-BR" sz="2800" dirty="0">
                <a:solidFill>
                  <a:srgbClr val="FF0000"/>
                </a:solidFill>
              </a:rPr>
              <a:t>morphé</a:t>
            </a:r>
            <a:r>
              <a:rPr lang="pt-BR" sz="2800" dirty="0">
                <a:solidFill>
                  <a:schemeClr val="bg1"/>
                </a:solidFill>
              </a:rPr>
              <a:t>). A matéria é </a:t>
            </a:r>
            <a:r>
              <a:rPr lang="pt-BR" sz="2800" dirty="0">
                <a:solidFill>
                  <a:srgbClr val="FF0000"/>
                </a:solidFill>
              </a:rPr>
              <a:t>aquilo</a:t>
            </a:r>
            <a:r>
              <a:rPr lang="pt-BR" sz="2800" dirty="0">
                <a:solidFill>
                  <a:schemeClr val="bg1"/>
                </a:solidFill>
              </a:rPr>
              <a:t> de que algo é </a:t>
            </a:r>
            <a:r>
              <a:rPr lang="pt-BR" sz="2800" dirty="0">
                <a:solidFill>
                  <a:srgbClr val="FF0000"/>
                </a:solidFill>
              </a:rPr>
              <a:t>feito</a:t>
            </a:r>
            <a:r>
              <a:rPr lang="pt-BR" sz="2800" dirty="0">
                <a:solidFill>
                  <a:schemeClr val="bg1"/>
                </a:solidFill>
              </a:rPr>
              <a:t> e a forma, o que as coisas </a:t>
            </a:r>
            <a:r>
              <a:rPr lang="pt-BR" sz="2800" dirty="0">
                <a:solidFill>
                  <a:srgbClr val="FF0000"/>
                </a:solidFill>
              </a:rPr>
              <a:t>são</a:t>
            </a:r>
            <a:r>
              <a:rPr lang="pt-BR" sz="2800" dirty="0">
                <a:solidFill>
                  <a:schemeClr val="bg1"/>
                </a:solidFill>
              </a:rPr>
              <a:t>. </a:t>
            </a:r>
          </a:p>
          <a:p>
            <a:pPr marL="0" indent="0" algn="just">
              <a:buNone/>
            </a:pPr>
            <a:r>
              <a:rPr lang="pt-BR" sz="2800" dirty="0">
                <a:solidFill>
                  <a:schemeClr val="bg1"/>
                </a:solidFill>
              </a:rPr>
              <a:t>No processo de </a:t>
            </a:r>
            <a:r>
              <a:rPr lang="pt-BR" sz="2800" dirty="0">
                <a:solidFill>
                  <a:srgbClr val="FF0000"/>
                </a:solidFill>
              </a:rPr>
              <a:t>mudança</a:t>
            </a:r>
            <a:r>
              <a:rPr lang="pt-BR" sz="2800" dirty="0">
                <a:solidFill>
                  <a:schemeClr val="bg1"/>
                </a:solidFill>
              </a:rPr>
              <a:t>, a matéria se </a:t>
            </a:r>
            <a:r>
              <a:rPr lang="pt-BR" sz="2800" dirty="0">
                <a:solidFill>
                  <a:srgbClr val="FF0000"/>
                </a:solidFill>
              </a:rPr>
              <a:t>mantém</a:t>
            </a:r>
            <a:r>
              <a:rPr lang="pt-BR" sz="2800" dirty="0">
                <a:solidFill>
                  <a:schemeClr val="bg1"/>
                </a:solidFill>
              </a:rPr>
              <a:t>, o que muda é a </a:t>
            </a:r>
            <a:r>
              <a:rPr lang="pt-BR" sz="2800" dirty="0">
                <a:solidFill>
                  <a:srgbClr val="FF0000"/>
                </a:solidFill>
              </a:rPr>
              <a:t>forma</a:t>
            </a:r>
            <a:r>
              <a:rPr lang="pt-BR" sz="2800" dirty="0">
                <a:solidFill>
                  <a:schemeClr val="bg1"/>
                </a:solidFill>
              </a:rPr>
              <a:t>. Por exemplo, se um anel de </a:t>
            </a:r>
            <a:r>
              <a:rPr lang="pt-BR" sz="2800" dirty="0">
                <a:solidFill>
                  <a:srgbClr val="FF0000"/>
                </a:solidFill>
              </a:rPr>
              <a:t>ouro</a:t>
            </a:r>
            <a:r>
              <a:rPr lang="pt-BR" sz="2800" dirty="0">
                <a:solidFill>
                  <a:schemeClr val="bg1"/>
                </a:solidFill>
              </a:rPr>
              <a:t> é derretido para </a:t>
            </a:r>
            <a:r>
              <a:rPr lang="pt-BR" sz="2800" dirty="0">
                <a:solidFill>
                  <a:srgbClr val="FF0000"/>
                </a:solidFill>
              </a:rPr>
              <a:t>converter-se</a:t>
            </a:r>
            <a:r>
              <a:rPr lang="pt-BR" sz="2800" dirty="0">
                <a:solidFill>
                  <a:schemeClr val="bg1"/>
                </a:solidFill>
              </a:rPr>
              <a:t> em uma corrente de ouro, muda-se a </a:t>
            </a:r>
            <a:r>
              <a:rPr lang="pt-BR" sz="2800" dirty="0">
                <a:solidFill>
                  <a:srgbClr val="FF0000"/>
                </a:solidFill>
              </a:rPr>
              <a:t>forma</a:t>
            </a:r>
            <a:r>
              <a:rPr lang="pt-BR" sz="2800" dirty="0">
                <a:solidFill>
                  <a:schemeClr val="bg1"/>
                </a:solidFill>
              </a:rPr>
              <a:t> (de </a:t>
            </a:r>
            <a:r>
              <a:rPr lang="pt-BR" sz="2800" dirty="0">
                <a:solidFill>
                  <a:srgbClr val="FF0000"/>
                </a:solidFill>
              </a:rPr>
              <a:t>anel</a:t>
            </a:r>
            <a:r>
              <a:rPr lang="pt-BR" sz="2800" dirty="0">
                <a:solidFill>
                  <a:schemeClr val="bg1"/>
                </a:solidFill>
              </a:rPr>
              <a:t> para </a:t>
            </a:r>
            <a:r>
              <a:rPr lang="pt-BR" sz="2800" dirty="0">
                <a:solidFill>
                  <a:srgbClr val="FF0000"/>
                </a:solidFill>
              </a:rPr>
              <a:t>corrente</a:t>
            </a:r>
            <a:r>
              <a:rPr lang="pt-BR" sz="2800" dirty="0">
                <a:solidFill>
                  <a:schemeClr val="bg1"/>
                </a:solidFill>
              </a:rPr>
              <a:t>), mas mantém-se       	a </a:t>
            </a:r>
            <a:r>
              <a:rPr lang="pt-BR" sz="2800" dirty="0">
                <a:solidFill>
                  <a:srgbClr val="FF0000"/>
                </a:solidFill>
              </a:rPr>
              <a:t>matéria</a:t>
            </a:r>
            <a:r>
              <a:rPr lang="pt-BR" sz="2800" dirty="0">
                <a:solidFill>
                  <a:schemeClr val="bg1"/>
                </a:solidFill>
              </a:rPr>
              <a:t> (</a:t>
            </a:r>
            <a:r>
              <a:rPr lang="pt-BR" sz="2800" dirty="0">
                <a:solidFill>
                  <a:srgbClr val="FF0000"/>
                </a:solidFill>
              </a:rPr>
              <a:t>ouro</a:t>
            </a:r>
            <a:r>
              <a:rPr lang="pt-BR" sz="2800" dirty="0">
                <a:solidFill>
                  <a:schemeClr val="bg1"/>
                </a:solidFill>
              </a:rPr>
              <a:t>).</a:t>
            </a:r>
          </a:p>
          <a:p>
            <a:pPr marL="0" indent="0" algn="just">
              <a:buNone/>
            </a:pPr>
            <a:endParaRPr lang="pt-BR" sz="2900" dirty="0">
              <a:solidFill>
                <a:srgbClr val="FF0000"/>
              </a:solidFill>
            </a:endParaRPr>
          </a:p>
        </p:txBody>
      </p:sp>
      <p:sp>
        <p:nvSpPr>
          <p:cNvPr id="3" name="Espaço Reservado para Número de Slide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489D4F-278A-4CE5-8C40-8D0EDACDB649}" type="slidenum">
              <a:rPr lang="pt-BR" smtClean="0"/>
              <a:pPr/>
              <a:t>4</a:t>
            </a:fld>
            <a:endParaRPr lang="pt-BR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pt-BR" b="0" dirty="0">
                <a:solidFill>
                  <a:srgbClr val="FF0000"/>
                </a:solidFill>
                <a:effectLst/>
              </a:rPr>
              <a:t>O hilemorfismo</a:t>
            </a:r>
            <a:endParaRPr lang="pt-BR" b="0" dirty="0">
              <a:effectLst/>
            </a:endParaRPr>
          </a:p>
        </p:txBody>
      </p:sp>
      <p:sp>
        <p:nvSpPr>
          <p:cNvPr id="2" name="Espaço Reservado para Conteúdo 1"/>
          <p:cNvSpPr>
            <a:spLocks noGrp="1"/>
          </p:cNvSpPr>
          <p:nvPr>
            <p:ph idx="1"/>
          </p:nvPr>
        </p:nvSpPr>
        <p:spPr>
          <a:xfrm>
            <a:off x="395536" y="1124744"/>
            <a:ext cx="8391306" cy="5328592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endParaRPr lang="pt-BR" sz="3000" dirty="0"/>
          </a:p>
          <a:p>
            <a:pPr marL="0" indent="0" algn="just">
              <a:buNone/>
            </a:pPr>
            <a:endParaRPr lang="pt-BR" sz="3000" dirty="0">
              <a:solidFill>
                <a:schemeClr val="bg1"/>
              </a:solidFill>
            </a:endParaRPr>
          </a:p>
          <a:p>
            <a:pPr marL="0" indent="0" algn="just">
              <a:buNone/>
            </a:pPr>
            <a:r>
              <a:rPr lang="pt-BR" sz="3000" dirty="0">
                <a:solidFill>
                  <a:schemeClr val="bg1"/>
                </a:solidFill>
              </a:rPr>
              <a:t>Neste </a:t>
            </a:r>
            <a:r>
              <a:rPr lang="pt-BR" sz="3000" dirty="0">
                <a:solidFill>
                  <a:srgbClr val="FF0000"/>
                </a:solidFill>
              </a:rPr>
              <a:t>ponto</a:t>
            </a:r>
            <a:r>
              <a:rPr lang="pt-BR" sz="3000" dirty="0">
                <a:solidFill>
                  <a:schemeClr val="bg1"/>
                </a:solidFill>
              </a:rPr>
              <a:t> ocorre a </a:t>
            </a:r>
            <a:r>
              <a:rPr lang="pt-BR" sz="3000" dirty="0">
                <a:solidFill>
                  <a:srgbClr val="FF0000"/>
                </a:solidFill>
              </a:rPr>
              <a:t>divergência</a:t>
            </a:r>
            <a:r>
              <a:rPr lang="pt-BR" sz="3000" dirty="0">
                <a:solidFill>
                  <a:schemeClr val="bg1"/>
                </a:solidFill>
              </a:rPr>
              <a:t> entre </a:t>
            </a:r>
            <a:r>
              <a:rPr lang="pt-BR" sz="3000" dirty="0">
                <a:solidFill>
                  <a:srgbClr val="FF0000"/>
                </a:solidFill>
              </a:rPr>
              <a:t>Platão</a:t>
            </a:r>
            <a:r>
              <a:rPr lang="pt-BR" sz="3000" dirty="0">
                <a:solidFill>
                  <a:schemeClr val="bg1"/>
                </a:solidFill>
              </a:rPr>
              <a:t> e </a:t>
            </a:r>
            <a:r>
              <a:rPr lang="pt-BR" sz="3000" dirty="0">
                <a:solidFill>
                  <a:srgbClr val="FF0000"/>
                </a:solidFill>
              </a:rPr>
              <a:t>Aristóteles</a:t>
            </a:r>
            <a:r>
              <a:rPr lang="pt-BR" sz="3000" dirty="0">
                <a:solidFill>
                  <a:schemeClr val="bg1"/>
                </a:solidFill>
              </a:rPr>
              <a:t>. </a:t>
            </a:r>
          </a:p>
          <a:p>
            <a:pPr marL="0" indent="0" algn="just">
              <a:buNone/>
            </a:pPr>
            <a:r>
              <a:rPr lang="pt-BR" sz="3000" dirty="0">
                <a:solidFill>
                  <a:schemeClr val="bg1"/>
                </a:solidFill>
              </a:rPr>
              <a:t>Enquanto que, para Platão, </a:t>
            </a:r>
            <a:r>
              <a:rPr lang="pt-BR" sz="3000" dirty="0">
                <a:solidFill>
                  <a:srgbClr val="FF0000"/>
                </a:solidFill>
              </a:rPr>
              <a:t>a forma </a:t>
            </a:r>
            <a:r>
              <a:rPr lang="pt-BR" sz="3000" dirty="0">
                <a:solidFill>
                  <a:schemeClr val="bg1"/>
                </a:solidFill>
              </a:rPr>
              <a:t>(</a:t>
            </a:r>
            <a:r>
              <a:rPr lang="pt-BR" sz="3000" dirty="0">
                <a:solidFill>
                  <a:srgbClr val="FF0000"/>
                </a:solidFill>
              </a:rPr>
              <a:t>a essência</a:t>
            </a:r>
            <a:r>
              <a:rPr lang="pt-BR" sz="3000" dirty="0">
                <a:solidFill>
                  <a:schemeClr val="bg1"/>
                </a:solidFill>
              </a:rPr>
              <a:t>) das coisas está no </a:t>
            </a:r>
            <a:r>
              <a:rPr lang="pt-BR" sz="3000" dirty="0">
                <a:solidFill>
                  <a:srgbClr val="FF0000"/>
                </a:solidFill>
              </a:rPr>
              <a:t>mundo das ideias</a:t>
            </a:r>
            <a:r>
              <a:rPr lang="pt-BR" sz="3000" dirty="0">
                <a:solidFill>
                  <a:schemeClr val="bg1"/>
                </a:solidFill>
              </a:rPr>
              <a:t>, para </a:t>
            </a:r>
            <a:r>
              <a:rPr lang="pt-BR" sz="3000" dirty="0">
                <a:solidFill>
                  <a:srgbClr val="FF0000"/>
                </a:solidFill>
              </a:rPr>
              <a:t>Aristóteles</a:t>
            </a:r>
            <a:r>
              <a:rPr lang="pt-BR" sz="3000" dirty="0">
                <a:solidFill>
                  <a:schemeClr val="bg1"/>
                </a:solidFill>
              </a:rPr>
              <a:t>, todas as coisas são compostas por </a:t>
            </a:r>
            <a:r>
              <a:rPr lang="pt-BR" sz="3000" dirty="0">
                <a:solidFill>
                  <a:srgbClr val="FF0000"/>
                </a:solidFill>
              </a:rPr>
              <a:t>matéria</a:t>
            </a:r>
            <a:r>
              <a:rPr lang="pt-BR" sz="3000" dirty="0">
                <a:solidFill>
                  <a:schemeClr val="bg1"/>
                </a:solidFill>
              </a:rPr>
              <a:t> e </a:t>
            </a:r>
            <a:r>
              <a:rPr lang="pt-BR" sz="3000" dirty="0">
                <a:solidFill>
                  <a:srgbClr val="FF0000"/>
                </a:solidFill>
              </a:rPr>
              <a:t>forma</a:t>
            </a:r>
            <a:r>
              <a:rPr lang="pt-BR" sz="3000" dirty="0">
                <a:solidFill>
                  <a:schemeClr val="bg1"/>
                </a:solidFill>
              </a:rPr>
              <a:t>, ou seja, a essência das coisas </a:t>
            </a:r>
            <a:r>
              <a:rPr lang="pt-BR" sz="3000" dirty="0">
                <a:solidFill>
                  <a:srgbClr val="FF0000"/>
                </a:solidFill>
              </a:rPr>
              <a:t>está</a:t>
            </a:r>
            <a:r>
              <a:rPr lang="pt-BR" sz="3000" dirty="0">
                <a:solidFill>
                  <a:schemeClr val="bg1"/>
                </a:solidFill>
              </a:rPr>
              <a:t> nelas mesmas.  </a:t>
            </a:r>
          </a:p>
        </p:txBody>
      </p:sp>
      <p:sp>
        <p:nvSpPr>
          <p:cNvPr id="3" name="Espaço Reservado para Número de Slide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489D4F-278A-4CE5-8C40-8D0EDACDB649}" type="slidenum">
              <a:rPr lang="pt-BR" smtClean="0"/>
              <a:pPr/>
              <a:t>5</a:t>
            </a:fld>
            <a:endParaRPr lang="pt-BR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3"/>
          <p:cNvSpPr>
            <a:spLocks noGrp="1"/>
          </p:cNvSpPr>
          <p:nvPr>
            <p:ph type="title"/>
          </p:nvPr>
        </p:nvSpPr>
        <p:spPr>
          <a:xfrm>
            <a:off x="1176866" y="915337"/>
            <a:ext cx="6798734" cy="1793583"/>
          </a:xfrm>
        </p:spPr>
        <p:txBody>
          <a:bodyPr/>
          <a:lstStyle/>
          <a:p>
            <a:pPr algn="ctr"/>
            <a:r>
              <a:rPr lang="pt-BR" b="0" dirty="0">
                <a:solidFill>
                  <a:srgbClr val="FF0000"/>
                </a:solidFill>
                <a:effectLst/>
              </a:rPr>
              <a:t>Ato e Potência</a:t>
            </a:r>
          </a:p>
        </p:txBody>
      </p:sp>
      <p:sp>
        <p:nvSpPr>
          <p:cNvPr id="2" name="Espaço Reservado para Conteúdo 1"/>
          <p:cNvSpPr>
            <a:spLocks noGrp="1"/>
          </p:cNvSpPr>
          <p:nvPr>
            <p:ph idx="1"/>
          </p:nvPr>
        </p:nvSpPr>
        <p:spPr>
          <a:xfrm>
            <a:off x="457200" y="2420888"/>
            <a:ext cx="8229600" cy="3960440"/>
          </a:xfrm>
        </p:spPr>
        <p:txBody>
          <a:bodyPr>
            <a:noAutofit/>
          </a:bodyPr>
          <a:lstStyle/>
          <a:p>
            <a:pPr marL="0" indent="0" algn="just">
              <a:buNone/>
            </a:pPr>
            <a:r>
              <a:rPr lang="pt-BR" sz="3000" dirty="0">
                <a:solidFill>
                  <a:schemeClr val="bg1"/>
                </a:solidFill>
              </a:rPr>
              <a:t>Quando a matéria </a:t>
            </a:r>
            <a:r>
              <a:rPr lang="pt-BR" sz="3000" dirty="0">
                <a:solidFill>
                  <a:srgbClr val="FF0000"/>
                </a:solidFill>
              </a:rPr>
              <a:t>recebe</a:t>
            </a:r>
            <a:r>
              <a:rPr lang="pt-BR" sz="3000" dirty="0">
                <a:solidFill>
                  <a:schemeClr val="bg1"/>
                </a:solidFill>
              </a:rPr>
              <a:t> uma nova </a:t>
            </a:r>
            <a:r>
              <a:rPr lang="pt-BR" sz="3000" dirty="0">
                <a:solidFill>
                  <a:srgbClr val="FF0000"/>
                </a:solidFill>
              </a:rPr>
              <a:t>forma</a:t>
            </a:r>
            <a:r>
              <a:rPr lang="pt-BR" sz="3000" dirty="0">
                <a:solidFill>
                  <a:schemeClr val="bg1"/>
                </a:solidFill>
              </a:rPr>
              <a:t> ou quando a realidade </a:t>
            </a:r>
            <a:r>
              <a:rPr lang="pt-BR" sz="3000" dirty="0">
                <a:solidFill>
                  <a:srgbClr val="FF0000"/>
                </a:solidFill>
              </a:rPr>
              <a:t>se transforma</a:t>
            </a:r>
            <a:r>
              <a:rPr lang="pt-BR" sz="3000" dirty="0">
                <a:solidFill>
                  <a:schemeClr val="bg1"/>
                </a:solidFill>
              </a:rPr>
              <a:t>, ocorre um </a:t>
            </a:r>
            <a:r>
              <a:rPr lang="pt-BR" sz="3000" dirty="0">
                <a:solidFill>
                  <a:srgbClr val="FF0000"/>
                </a:solidFill>
              </a:rPr>
              <a:t>movimento</a:t>
            </a:r>
            <a:r>
              <a:rPr lang="pt-BR" sz="3000" dirty="0">
                <a:solidFill>
                  <a:schemeClr val="bg1"/>
                </a:solidFill>
              </a:rPr>
              <a:t>, que é a passagem da </a:t>
            </a:r>
            <a:r>
              <a:rPr lang="pt-BR" sz="3000" dirty="0">
                <a:solidFill>
                  <a:srgbClr val="FF0000"/>
                </a:solidFill>
              </a:rPr>
              <a:t>potência</a:t>
            </a:r>
            <a:r>
              <a:rPr lang="pt-BR" sz="3000" dirty="0">
                <a:solidFill>
                  <a:schemeClr val="bg1"/>
                </a:solidFill>
              </a:rPr>
              <a:t> para o </a:t>
            </a:r>
            <a:r>
              <a:rPr lang="pt-BR" sz="3000" dirty="0">
                <a:solidFill>
                  <a:srgbClr val="FF0000"/>
                </a:solidFill>
              </a:rPr>
              <a:t>ato</a:t>
            </a:r>
            <a:r>
              <a:rPr lang="pt-BR" sz="3000" dirty="0">
                <a:solidFill>
                  <a:schemeClr val="bg1"/>
                </a:solidFill>
              </a:rPr>
              <a:t>. </a:t>
            </a:r>
          </a:p>
          <a:p>
            <a:pPr marL="0" indent="0" algn="just">
              <a:buNone/>
            </a:pPr>
            <a:r>
              <a:rPr lang="pt-BR" sz="3000" dirty="0">
                <a:solidFill>
                  <a:schemeClr val="bg1"/>
                </a:solidFill>
              </a:rPr>
              <a:t>A potência </a:t>
            </a:r>
            <a:r>
              <a:rPr lang="pt-BR" sz="3000" dirty="0">
                <a:solidFill>
                  <a:srgbClr val="FF0000"/>
                </a:solidFill>
              </a:rPr>
              <a:t>não é</a:t>
            </a:r>
            <a:r>
              <a:rPr lang="pt-BR" sz="3000" dirty="0">
                <a:solidFill>
                  <a:schemeClr val="bg1"/>
                </a:solidFill>
              </a:rPr>
              <a:t> privação, mas </a:t>
            </a:r>
            <a:r>
              <a:rPr lang="pt-BR" sz="3000" dirty="0">
                <a:solidFill>
                  <a:srgbClr val="FF0000"/>
                </a:solidFill>
              </a:rPr>
              <a:t>capacidade</a:t>
            </a:r>
            <a:r>
              <a:rPr lang="pt-BR" sz="3000" dirty="0">
                <a:solidFill>
                  <a:schemeClr val="bg1"/>
                </a:solidFill>
              </a:rPr>
              <a:t> de adquirir uma </a:t>
            </a:r>
            <a:r>
              <a:rPr lang="pt-BR" sz="3000" dirty="0">
                <a:solidFill>
                  <a:srgbClr val="FF0000"/>
                </a:solidFill>
              </a:rPr>
              <a:t>perfeição</a:t>
            </a:r>
            <a:r>
              <a:rPr lang="pt-BR" sz="3000" dirty="0">
                <a:solidFill>
                  <a:schemeClr val="bg1"/>
                </a:solidFill>
              </a:rPr>
              <a:t> (por exemplo, a </a:t>
            </a:r>
            <a:r>
              <a:rPr lang="pt-BR" sz="3000" dirty="0">
                <a:solidFill>
                  <a:srgbClr val="FF0000"/>
                </a:solidFill>
              </a:rPr>
              <a:t>criança</a:t>
            </a:r>
            <a:r>
              <a:rPr lang="pt-BR" sz="3000" dirty="0">
                <a:solidFill>
                  <a:schemeClr val="bg1"/>
                </a:solidFill>
              </a:rPr>
              <a:t> tem a </a:t>
            </a:r>
            <a:r>
              <a:rPr lang="pt-BR" sz="3000" dirty="0">
                <a:solidFill>
                  <a:srgbClr val="FF0000"/>
                </a:solidFill>
              </a:rPr>
              <a:t>potência</a:t>
            </a:r>
            <a:r>
              <a:rPr lang="pt-BR" sz="3000" dirty="0">
                <a:solidFill>
                  <a:schemeClr val="bg1"/>
                </a:solidFill>
              </a:rPr>
              <a:t> de se tornar um </a:t>
            </a:r>
            <a:r>
              <a:rPr lang="pt-BR" sz="3000" dirty="0">
                <a:solidFill>
                  <a:srgbClr val="FF0000"/>
                </a:solidFill>
              </a:rPr>
              <a:t>adulto</a:t>
            </a:r>
            <a:r>
              <a:rPr lang="pt-BR" sz="3000" dirty="0">
                <a:solidFill>
                  <a:schemeClr val="bg1"/>
                </a:solidFill>
              </a:rPr>
              <a:t>.</a:t>
            </a:r>
          </a:p>
        </p:txBody>
      </p:sp>
      <p:sp>
        <p:nvSpPr>
          <p:cNvPr id="3" name="Espaço Reservado para Número de Slide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489D4F-278A-4CE5-8C40-8D0EDACDB649}" type="slidenum">
              <a:rPr lang="pt-BR" smtClean="0"/>
              <a:pPr/>
              <a:t>6</a:t>
            </a:fld>
            <a:endParaRPr lang="pt-BR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3"/>
          <p:cNvSpPr>
            <a:spLocks noGrp="1"/>
          </p:cNvSpPr>
          <p:nvPr>
            <p:ph type="title"/>
          </p:nvPr>
        </p:nvSpPr>
        <p:spPr>
          <a:xfrm>
            <a:off x="1176866" y="915337"/>
            <a:ext cx="6798734" cy="1721575"/>
          </a:xfrm>
        </p:spPr>
        <p:txBody>
          <a:bodyPr/>
          <a:lstStyle/>
          <a:p>
            <a:pPr algn="ctr"/>
            <a:r>
              <a:rPr lang="pt-BR" b="0" dirty="0">
                <a:solidFill>
                  <a:srgbClr val="FF0000"/>
                </a:solidFill>
                <a:effectLst/>
              </a:rPr>
              <a:t>Ato e Potência</a:t>
            </a:r>
          </a:p>
        </p:txBody>
      </p:sp>
      <p:sp>
        <p:nvSpPr>
          <p:cNvPr id="2" name="Espaço Reservado para Conteúdo 1"/>
          <p:cNvSpPr>
            <a:spLocks noGrp="1"/>
          </p:cNvSpPr>
          <p:nvPr>
            <p:ph idx="1"/>
          </p:nvPr>
        </p:nvSpPr>
        <p:spPr>
          <a:xfrm>
            <a:off x="467544" y="1124744"/>
            <a:ext cx="8219256" cy="4590272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endParaRPr lang="pt-BR" sz="3500" dirty="0">
              <a:solidFill>
                <a:schemeClr val="bg1"/>
              </a:solidFill>
            </a:endParaRPr>
          </a:p>
          <a:p>
            <a:pPr marL="0" indent="0" algn="just">
              <a:buNone/>
            </a:pPr>
            <a:endParaRPr lang="pt-BR" sz="3500" dirty="0">
              <a:solidFill>
                <a:schemeClr val="bg1"/>
              </a:solidFill>
            </a:endParaRPr>
          </a:p>
          <a:p>
            <a:pPr marL="0" indent="0" algn="just">
              <a:buNone/>
            </a:pPr>
            <a:r>
              <a:rPr lang="pt-BR" sz="3500" dirty="0">
                <a:solidFill>
                  <a:schemeClr val="bg1"/>
                </a:solidFill>
              </a:rPr>
              <a:t>Ato </a:t>
            </a:r>
            <a:r>
              <a:rPr lang="pt-BR" sz="3500" dirty="0">
                <a:solidFill>
                  <a:srgbClr val="FF0000"/>
                </a:solidFill>
              </a:rPr>
              <a:t>é</a:t>
            </a:r>
            <a:r>
              <a:rPr lang="pt-BR" sz="3500" dirty="0">
                <a:solidFill>
                  <a:schemeClr val="bg1"/>
                </a:solidFill>
              </a:rPr>
              <a:t> a </a:t>
            </a:r>
            <a:r>
              <a:rPr lang="pt-BR" sz="3500" dirty="0">
                <a:solidFill>
                  <a:srgbClr val="FF0000"/>
                </a:solidFill>
              </a:rPr>
              <a:t>perfeição atual</a:t>
            </a:r>
            <a:r>
              <a:rPr lang="pt-BR" sz="3500" dirty="0">
                <a:solidFill>
                  <a:schemeClr val="bg1"/>
                </a:solidFill>
              </a:rPr>
              <a:t>. Por exemplo, um estudante de direito, é estudante em </a:t>
            </a:r>
            <a:r>
              <a:rPr lang="pt-BR" sz="3500" dirty="0">
                <a:solidFill>
                  <a:srgbClr val="FF0000"/>
                </a:solidFill>
              </a:rPr>
              <a:t>ato</a:t>
            </a:r>
            <a:r>
              <a:rPr lang="pt-BR" sz="3500" dirty="0">
                <a:solidFill>
                  <a:schemeClr val="bg1"/>
                </a:solidFill>
              </a:rPr>
              <a:t>, que é sua </a:t>
            </a:r>
            <a:r>
              <a:rPr lang="pt-BR" sz="3500" dirty="0">
                <a:solidFill>
                  <a:srgbClr val="FF0000"/>
                </a:solidFill>
              </a:rPr>
              <a:t>perfeição atual</a:t>
            </a:r>
            <a:r>
              <a:rPr lang="pt-BR" sz="3500" dirty="0">
                <a:solidFill>
                  <a:schemeClr val="bg1"/>
                </a:solidFill>
              </a:rPr>
              <a:t>, mas também é um advogado em </a:t>
            </a:r>
            <a:r>
              <a:rPr lang="pt-BR" sz="3500" dirty="0">
                <a:solidFill>
                  <a:srgbClr val="FF0000"/>
                </a:solidFill>
              </a:rPr>
              <a:t>potência</a:t>
            </a:r>
            <a:r>
              <a:rPr lang="pt-BR" sz="3500" dirty="0">
                <a:solidFill>
                  <a:schemeClr val="bg1"/>
                </a:solidFill>
              </a:rPr>
              <a:t>. </a:t>
            </a:r>
          </a:p>
          <a:p>
            <a:pPr algn="ctr">
              <a:buNone/>
            </a:pPr>
            <a:endParaRPr lang="pt-BR" sz="3200" dirty="0"/>
          </a:p>
          <a:p>
            <a:pPr algn="ctr">
              <a:buNone/>
            </a:pPr>
            <a:endParaRPr lang="pt-BR" dirty="0"/>
          </a:p>
        </p:txBody>
      </p:sp>
      <p:sp>
        <p:nvSpPr>
          <p:cNvPr id="3" name="Espaço Reservado para Número de Slide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489D4F-278A-4CE5-8C40-8D0EDACDB649}" type="slidenum">
              <a:rPr lang="pt-BR" smtClean="0"/>
              <a:pPr/>
              <a:t>7</a:t>
            </a:fld>
            <a:endParaRPr lang="pt-BR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3"/>
          <p:cNvSpPr>
            <a:spLocks noGrp="1"/>
          </p:cNvSpPr>
          <p:nvPr>
            <p:ph type="title"/>
          </p:nvPr>
        </p:nvSpPr>
        <p:spPr>
          <a:xfrm>
            <a:off x="1176866" y="1340768"/>
            <a:ext cx="6798734" cy="878436"/>
          </a:xfrm>
        </p:spPr>
        <p:txBody>
          <a:bodyPr>
            <a:normAutofit/>
          </a:bodyPr>
          <a:lstStyle/>
          <a:p>
            <a:pPr algn="ctr"/>
            <a:r>
              <a:rPr lang="pt-BR" b="0" dirty="0">
                <a:solidFill>
                  <a:srgbClr val="FF0000"/>
                </a:solidFill>
                <a:effectLst/>
              </a:rPr>
              <a:t>As </a:t>
            </a:r>
            <a:r>
              <a:rPr lang="pt-BR" dirty="0">
                <a:solidFill>
                  <a:srgbClr val="FF0000"/>
                </a:solidFill>
              </a:rPr>
              <a:t>Quatro Causas</a:t>
            </a:r>
            <a:endParaRPr lang="pt-BR" b="0" dirty="0">
              <a:solidFill>
                <a:srgbClr val="FF0000"/>
              </a:solidFill>
              <a:effectLst/>
            </a:endParaRPr>
          </a:p>
        </p:txBody>
      </p:sp>
      <p:sp>
        <p:nvSpPr>
          <p:cNvPr id="2" name="Espaço Reservado para Conteúdo 1"/>
          <p:cNvSpPr>
            <a:spLocks noGrp="1"/>
          </p:cNvSpPr>
          <p:nvPr>
            <p:ph idx="1"/>
          </p:nvPr>
        </p:nvSpPr>
        <p:spPr>
          <a:xfrm>
            <a:off x="467544" y="1844824"/>
            <a:ext cx="8219256" cy="4497744"/>
          </a:xfrm>
        </p:spPr>
        <p:txBody>
          <a:bodyPr>
            <a:normAutofit fontScale="92500" lnSpcReduction="10000"/>
          </a:bodyPr>
          <a:lstStyle/>
          <a:p>
            <a:pPr marL="0" indent="0" algn="just">
              <a:buNone/>
            </a:pPr>
            <a:endParaRPr lang="pt-BR" sz="3000" dirty="0">
              <a:solidFill>
                <a:schemeClr val="bg1"/>
              </a:solidFill>
            </a:endParaRPr>
          </a:p>
          <a:p>
            <a:pPr marL="0" indent="0" algn="just">
              <a:buNone/>
            </a:pPr>
            <a:r>
              <a:rPr lang="pt-BR" sz="3000" dirty="0">
                <a:solidFill>
                  <a:schemeClr val="bg1"/>
                </a:solidFill>
              </a:rPr>
              <a:t>Aristóteles, no </a:t>
            </a:r>
            <a:r>
              <a:rPr lang="pt-BR" sz="3000" dirty="0">
                <a:solidFill>
                  <a:srgbClr val="FF0000"/>
                </a:solidFill>
              </a:rPr>
              <a:t>Livro I</a:t>
            </a:r>
            <a:r>
              <a:rPr lang="pt-BR" sz="3000" dirty="0">
                <a:solidFill>
                  <a:schemeClr val="bg1"/>
                </a:solidFill>
              </a:rPr>
              <a:t> de sua </a:t>
            </a:r>
            <a:r>
              <a:rPr lang="pt-BR" sz="3000" i="1" dirty="0">
                <a:solidFill>
                  <a:srgbClr val="FF0000"/>
                </a:solidFill>
              </a:rPr>
              <a:t>Metafísica</a:t>
            </a:r>
            <a:r>
              <a:rPr lang="pt-BR" sz="3000" dirty="0">
                <a:solidFill>
                  <a:srgbClr val="FF0000"/>
                </a:solidFill>
              </a:rPr>
              <a:t>,</a:t>
            </a:r>
            <a:r>
              <a:rPr lang="pt-BR" sz="3000" dirty="0">
                <a:solidFill>
                  <a:schemeClr val="bg1"/>
                </a:solidFill>
              </a:rPr>
              <a:t> afirma que o ser humano, pela exigência de sua natureza, é </a:t>
            </a:r>
            <a:r>
              <a:rPr lang="pt-BR" sz="3000" dirty="0">
                <a:solidFill>
                  <a:srgbClr val="FF0000"/>
                </a:solidFill>
              </a:rPr>
              <a:t>levado</a:t>
            </a:r>
            <a:r>
              <a:rPr lang="pt-BR" sz="3000" dirty="0">
                <a:solidFill>
                  <a:schemeClr val="bg1"/>
                </a:solidFill>
              </a:rPr>
              <a:t> a buscar a </a:t>
            </a:r>
            <a:r>
              <a:rPr lang="pt-BR" sz="3000" dirty="0">
                <a:solidFill>
                  <a:srgbClr val="FF0000"/>
                </a:solidFill>
              </a:rPr>
              <a:t>sabedoria</a:t>
            </a:r>
            <a:r>
              <a:rPr lang="pt-BR" sz="3000" dirty="0">
                <a:solidFill>
                  <a:schemeClr val="bg1"/>
                </a:solidFill>
              </a:rPr>
              <a:t>, a causa de todas as coisas existirem. Para o filósofo estas são quatro: a </a:t>
            </a:r>
            <a:r>
              <a:rPr lang="pt-BR" sz="3000" dirty="0">
                <a:solidFill>
                  <a:srgbClr val="FF0000"/>
                </a:solidFill>
              </a:rPr>
              <a:t>material</a:t>
            </a:r>
            <a:r>
              <a:rPr lang="pt-BR" sz="3000" dirty="0">
                <a:solidFill>
                  <a:schemeClr val="bg1"/>
                </a:solidFill>
              </a:rPr>
              <a:t>, a </a:t>
            </a:r>
            <a:r>
              <a:rPr lang="pt-BR" sz="3000" dirty="0">
                <a:solidFill>
                  <a:srgbClr val="FF0000"/>
                </a:solidFill>
              </a:rPr>
              <a:t>formal</a:t>
            </a:r>
            <a:r>
              <a:rPr lang="pt-BR" sz="3000" dirty="0">
                <a:solidFill>
                  <a:schemeClr val="bg1"/>
                </a:solidFill>
              </a:rPr>
              <a:t>, a </a:t>
            </a:r>
            <a:r>
              <a:rPr lang="pt-BR" sz="3000" dirty="0">
                <a:solidFill>
                  <a:srgbClr val="FF0000"/>
                </a:solidFill>
              </a:rPr>
              <a:t>eficiente</a:t>
            </a:r>
            <a:r>
              <a:rPr lang="pt-BR" sz="3000" dirty="0">
                <a:solidFill>
                  <a:schemeClr val="bg1"/>
                </a:solidFill>
              </a:rPr>
              <a:t> e a </a:t>
            </a:r>
            <a:r>
              <a:rPr lang="pt-BR" sz="3000" dirty="0">
                <a:solidFill>
                  <a:srgbClr val="FF0000"/>
                </a:solidFill>
              </a:rPr>
              <a:t>final</a:t>
            </a:r>
            <a:r>
              <a:rPr lang="pt-BR" sz="3000" dirty="0">
                <a:solidFill>
                  <a:schemeClr val="bg1"/>
                </a:solidFill>
              </a:rPr>
              <a:t>. </a:t>
            </a:r>
          </a:p>
          <a:p>
            <a:pPr marL="0" indent="0" algn="just">
              <a:buNone/>
            </a:pPr>
            <a:r>
              <a:rPr lang="pt-BR" sz="3000" dirty="0">
                <a:solidFill>
                  <a:schemeClr val="bg1"/>
                </a:solidFill>
              </a:rPr>
              <a:t>A causa </a:t>
            </a:r>
            <a:r>
              <a:rPr lang="pt-BR" sz="3000" dirty="0">
                <a:solidFill>
                  <a:srgbClr val="FF0000"/>
                </a:solidFill>
              </a:rPr>
              <a:t>eficiente</a:t>
            </a:r>
            <a:r>
              <a:rPr lang="pt-BR" sz="3000" dirty="0">
                <a:solidFill>
                  <a:schemeClr val="bg1"/>
                </a:solidFill>
              </a:rPr>
              <a:t> é o </a:t>
            </a:r>
            <a:r>
              <a:rPr lang="pt-BR" sz="3000" dirty="0">
                <a:solidFill>
                  <a:srgbClr val="FF0000"/>
                </a:solidFill>
              </a:rPr>
              <a:t>agente</a:t>
            </a:r>
            <a:r>
              <a:rPr lang="pt-BR" sz="3000" dirty="0">
                <a:solidFill>
                  <a:schemeClr val="bg1"/>
                </a:solidFill>
              </a:rPr>
              <a:t> da </a:t>
            </a:r>
            <a:r>
              <a:rPr lang="pt-BR" sz="3000" dirty="0">
                <a:solidFill>
                  <a:srgbClr val="FF0000"/>
                </a:solidFill>
              </a:rPr>
              <a:t>ação</a:t>
            </a:r>
            <a:r>
              <a:rPr lang="pt-BR" sz="3000" dirty="0">
                <a:solidFill>
                  <a:schemeClr val="bg1"/>
                </a:solidFill>
              </a:rPr>
              <a:t>. A causa </a:t>
            </a:r>
            <a:r>
              <a:rPr lang="pt-BR" sz="3000" dirty="0">
                <a:solidFill>
                  <a:srgbClr val="FF0000"/>
                </a:solidFill>
              </a:rPr>
              <a:t>final</a:t>
            </a:r>
            <a:r>
              <a:rPr lang="pt-BR" sz="3000" dirty="0">
                <a:solidFill>
                  <a:schemeClr val="bg1"/>
                </a:solidFill>
              </a:rPr>
              <a:t> é a </a:t>
            </a:r>
            <a:r>
              <a:rPr lang="pt-BR" sz="3000" dirty="0">
                <a:solidFill>
                  <a:srgbClr val="FF0000"/>
                </a:solidFill>
              </a:rPr>
              <a:t>finalidade</a:t>
            </a:r>
            <a:r>
              <a:rPr lang="pt-BR" sz="3000" dirty="0">
                <a:solidFill>
                  <a:schemeClr val="bg1"/>
                </a:solidFill>
              </a:rPr>
              <a:t>, o </a:t>
            </a:r>
            <a:r>
              <a:rPr lang="pt-BR" sz="3000" dirty="0">
                <a:solidFill>
                  <a:srgbClr val="FF0000"/>
                </a:solidFill>
              </a:rPr>
              <a:t>objetivo</a:t>
            </a:r>
            <a:r>
              <a:rPr lang="pt-BR" sz="3000" dirty="0">
                <a:solidFill>
                  <a:schemeClr val="bg1"/>
                </a:solidFill>
              </a:rPr>
              <a:t>, a </a:t>
            </a:r>
            <a:r>
              <a:rPr lang="pt-BR" sz="3000" dirty="0">
                <a:solidFill>
                  <a:srgbClr val="FF0000"/>
                </a:solidFill>
              </a:rPr>
              <a:t>intenção</a:t>
            </a:r>
            <a:r>
              <a:rPr lang="pt-BR" sz="3000" dirty="0">
                <a:solidFill>
                  <a:schemeClr val="bg1"/>
                </a:solidFill>
              </a:rPr>
              <a:t> do </a:t>
            </a:r>
            <a:r>
              <a:rPr lang="pt-BR" sz="3000" dirty="0">
                <a:solidFill>
                  <a:srgbClr val="FF0000"/>
                </a:solidFill>
              </a:rPr>
              <a:t>agente</a:t>
            </a:r>
            <a:r>
              <a:rPr lang="pt-BR" sz="3000" dirty="0">
                <a:solidFill>
                  <a:schemeClr val="bg1"/>
                </a:solidFill>
              </a:rPr>
              <a:t>. A causa </a:t>
            </a:r>
            <a:r>
              <a:rPr lang="pt-BR" sz="3000" dirty="0">
                <a:solidFill>
                  <a:srgbClr val="FF0000"/>
                </a:solidFill>
              </a:rPr>
              <a:t>material</a:t>
            </a:r>
            <a:r>
              <a:rPr lang="pt-BR" sz="3000" dirty="0">
                <a:solidFill>
                  <a:schemeClr val="bg1"/>
                </a:solidFill>
              </a:rPr>
              <a:t> é a </a:t>
            </a:r>
            <a:r>
              <a:rPr lang="pt-BR" sz="3000" dirty="0">
                <a:solidFill>
                  <a:srgbClr val="FF0000"/>
                </a:solidFill>
              </a:rPr>
              <a:t>matéria</a:t>
            </a:r>
            <a:r>
              <a:rPr lang="pt-BR" sz="3000" dirty="0">
                <a:solidFill>
                  <a:schemeClr val="bg1"/>
                </a:solidFill>
              </a:rPr>
              <a:t> do qual um ser corpóreo é </a:t>
            </a:r>
            <a:r>
              <a:rPr lang="pt-BR" sz="3000" dirty="0">
                <a:solidFill>
                  <a:srgbClr val="FF0000"/>
                </a:solidFill>
              </a:rPr>
              <a:t>feito</a:t>
            </a:r>
            <a:r>
              <a:rPr lang="pt-BR" sz="3000" dirty="0">
                <a:solidFill>
                  <a:schemeClr val="bg1"/>
                </a:solidFill>
              </a:rPr>
              <a:t>. A causa formal é a </a:t>
            </a:r>
            <a:r>
              <a:rPr lang="pt-BR" sz="3000" dirty="0">
                <a:solidFill>
                  <a:srgbClr val="FF0000"/>
                </a:solidFill>
              </a:rPr>
              <a:t>forma</a:t>
            </a:r>
            <a:r>
              <a:rPr lang="pt-BR" sz="3000" dirty="0">
                <a:solidFill>
                  <a:schemeClr val="bg1"/>
                </a:solidFill>
              </a:rPr>
              <a:t> que a matéria </a:t>
            </a:r>
            <a:r>
              <a:rPr lang="pt-BR" sz="3000" dirty="0">
                <a:solidFill>
                  <a:srgbClr val="FF0000"/>
                </a:solidFill>
              </a:rPr>
              <a:t>adquire</a:t>
            </a:r>
            <a:r>
              <a:rPr lang="pt-BR" sz="3000" dirty="0">
                <a:solidFill>
                  <a:schemeClr val="bg1"/>
                </a:solidFill>
              </a:rPr>
              <a:t>.</a:t>
            </a:r>
          </a:p>
          <a:p>
            <a:pPr algn="ctr">
              <a:buNone/>
            </a:pPr>
            <a:endParaRPr lang="pt-BR" sz="3600" dirty="0"/>
          </a:p>
        </p:txBody>
      </p:sp>
      <p:sp>
        <p:nvSpPr>
          <p:cNvPr id="3" name="Espaço Reservado para Número de Slide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489D4F-278A-4CE5-8C40-8D0EDACDB649}" type="slidenum">
              <a:rPr lang="pt-BR" smtClean="0"/>
              <a:pPr/>
              <a:t>8</a:t>
            </a:fld>
            <a:endParaRPr lang="pt-BR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3"/>
          <p:cNvSpPr>
            <a:spLocks noGrp="1"/>
          </p:cNvSpPr>
          <p:nvPr>
            <p:ph type="title"/>
          </p:nvPr>
        </p:nvSpPr>
        <p:spPr>
          <a:xfrm>
            <a:off x="1176867" y="770331"/>
            <a:ext cx="6798734" cy="2016224"/>
          </a:xfrm>
        </p:spPr>
        <p:txBody>
          <a:bodyPr>
            <a:normAutofit/>
          </a:bodyPr>
          <a:lstStyle/>
          <a:p>
            <a:pPr algn="ctr"/>
            <a:r>
              <a:rPr lang="pt-BR" b="0" dirty="0">
                <a:solidFill>
                  <a:srgbClr val="FF0000"/>
                </a:solidFill>
                <a:effectLst/>
              </a:rPr>
              <a:t>As Quatro </a:t>
            </a:r>
            <a:r>
              <a:rPr lang="pt-BR" dirty="0">
                <a:solidFill>
                  <a:srgbClr val="FF0000"/>
                </a:solidFill>
              </a:rPr>
              <a:t>C</a:t>
            </a:r>
            <a:r>
              <a:rPr lang="pt-BR" b="0" dirty="0">
                <a:solidFill>
                  <a:srgbClr val="FF0000"/>
                </a:solidFill>
                <a:effectLst/>
              </a:rPr>
              <a:t>ausas</a:t>
            </a:r>
          </a:p>
        </p:txBody>
      </p:sp>
      <p:sp>
        <p:nvSpPr>
          <p:cNvPr id="2" name="Espaço Reservado para Conteúdo 1"/>
          <p:cNvSpPr>
            <a:spLocks noGrp="1"/>
          </p:cNvSpPr>
          <p:nvPr>
            <p:ph idx="1"/>
          </p:nvPr>
        </p:nvSpPr>
        <p:spPr>
          <a:xfrm>
            <a:off x="462372" y="1484784"/>
            <a:ext cx="8219256" cy="4944612"/>
          </a:xfrm>
        </p:spPr>
        <p:txBody>
          <a:bodyPr>
            <a:normAutofit fontScale="85000" lnSpcReduction="10000"/>
          </a:bodyPr>
          <a:lstStyle/>
          <a:p>
            <a:pPr marL="0" indent="0" algn="just">
              <a:buNone/>
            </a:pPr>
            <a:endParaRPr lang="pt-BR" sz="2000" dirty="0">
              <a:solidFill>
                <a:schemeClr val="bg1"/>
              </a:solidFill>
            </a:endParaRPr>
          </a:p>
          <a:p>
            <a:pPr marL="0" indent="0" algn="just">
              <a:buNone/>
            </a:pPr>
            <a:endParaRPr lang="pt-BR" sz="2000" dirty="0">
              <a:solidFill>
                <a:schemeClr val="bg1"/>
              </a:solidFill>
            </a:endParaRPr>
          </a:p>
          <a:p>
            <a:pPr marL="0" indent="0" algn="just">
              <a:buNone/>
            </a:pPr>
            <a:endParaRPr lang="pt-BR" sz="1100" dirty="0">
              <a:solidFill>
                <a:schemeClr val="bg1"/>
              </a:solidFill>
            </a:endParaRPr>
          </a:p>
          <a:p>
            <a:pPr marL="0" indent="0" algn="just">
              <a:buNone/>
            </a:pPr>
            <a:r>
              <a:rPr lang="pt-BR" sz="2800" dirty="0">
                <a:solidFill>
                  <a:schemeClr val="bg1"/>
                </a:solidFill>
              </a:rPr>
              <a:t>Por exemplo, a pintura da </a:t>
            </a:r>
            <a:r>
              <a:rPr lang="pt-BR" sz="2800" dirty="0">
                <a:solidFill>
                  <a:srgbClr val="FF0000"/>
                </a:solidFill>
              </a:rPr>
              <a:t>Monalisa</a:t>
            </a:r>
            <a:r>
              <a:rPr lang="pt-BR" sz="2800" dirty="0">
                <a:solidFill>
                  <a:schemeClr val="bg1"/>
                </a:solidFill>
              </a:rPr>
              <a:t>, feita por </a:t>
            </a:r>
            <a:r>
              <a:rPr lang="pt-BR" sz="2800" dirty="0">
                <a:solidFill>
                  <a:srgbClr val="FF0000"/>
                </a:solidFill>
              </a:rPr>
              <a:t>Leonardo </a:t>
            </a:r>
            <a:r>
              <a:rPr lang="pt-BR" sz="2800" dirty="0">
                <a:solidFill>
                  <a:schemeClr val="bg1"/>
                </a:solidFill>
              </a:rPr>
              <a:t>da</a:t>
            </a:r>
            <a:r>
              <a:rPr lang="pt-BR" sz="2800" dirty="0">
                <a:solidFill>
                  <a:srgbClr val="FF0000"/>
                </a:solidFill>
              </a:rPr>
              <a:t> Vinci</a:t>
            </a:r>
            <a:r>
              <a:rPr lang="pt-BR" sz="2800" dirty="0">
                <a:solidFill>
                  <a:schemeClr val="bg1"/>
                </a:solidFill>
              </a:rPr>
              <a:t>,  possui as </a:t>
            </a:r>
            <a:r>
              <a:rPr lang="pt-BR" sz="2800" dirty="0">
                <a:solidFill>
                  <a:srgbClr val="FF0000"/>
                </a:solidFill>
              </a:rPr>
              <a:t>quatro causas</a:t>
            </a:r>
            <a:r>
              <a:rPr lang="pt-BR" sz="2800" dirty="0">
                <a:solidFill>
                  <a:schemeClr val="bg1"/>
                </a:solidFill>
              </a:rPr>
              <a:t>. As </a:t>
            </a:r>
            <a:r>
              <a:rPr lang="pt-BR" sz="2800" dirty="0">
                <a:solidFill>
                  <a:srgbClr val="FF0000"/>
                </a:solidFill>
              </a:rPr>
              <a:t>tintas</a:t>
            </a:r>
            <a:r>
              <a:rPr lang="pt-BR" sz="2800" dirty="0">
                <a:solidFill>
                  <a:schemeClr val="bg1"/>
                </a:solidFill>
              </a:rPr>
              <a:t> são sua </a:t>
            </a:r>
            <a:r>
              <a:rPr lang="pt-BR" sz="2800" dirty="0">
                <a:solidFill>
                  <a:srgbClr val="FF0000"/>
                </a:solidFill>
              </a:rPr>
              <a:t>causa material</a:t>
            </a:r>
            <a:r>
              <a:rPr lang="pt-BR" sz="2800" dirty="0">
                <a:solidFill>
                  <a:schemeClr val="bg1"/>
                </a:solidFill>
              </a:rPr>
              <a:t>, e a figura da Monalisa que as tintas adquiriram, a </a:t>
            </a:r>
            <a:r>
              <a:rPr lang="pt-BR" sz="2800" dirty="0">
                <a:solidFill>
                  <a:srgbClr val="FF0000"/>
                </a:solidFill>
              </a:rPr>
              <a:t>causa formal</a:t>
            </a:r>
            <a:r>
              <a:rPr lang="pt-BR" sz="2800" dirty="0">
                <a:solidFill>
                  <a:schemeClr val="bg1"/>
                </a:solidFill>
              </a:rPr>
              <a:t>. </a:t>
            </a:r>
          </a:p>
          <a:p>
            <a:pPr marL="0" indent="0" algn="just">
              <a:buNone/>
            </a:pPr>
            <a:r>
              <a:rPr lang="pt-BR" sz="2800" dirty="0">
                <a:solidFill>
                  <a:schemeClr val="bg1"/>
                </a:solidFill>
              </a:rPr>
              <a:t>A </a:t>
            </a:r>
            <a:r>
              <a:rPr lang="pt-BR" sz="2800" dirty="0">
                <a:solidFill>
                  <a:srgbClr val="FF0000"/>
                </a:solidFill>
              </a:rPr>
              <a:t>causa eficiente </a:t>
            </a:r>
            <a:r>
              <a:rPr lang="pt-BR" sz="2800" dirty="0">
                <a:solidFill>
                  <a:schemeClr val="bg1"/>
                </a:solidFill>
              </a:rPr>
              <a:t>é quem a produziu, isto é, o pintor </a:t>
            </a:r>
            <a:r>
              <a:rPr lang="pt-BR" sz="2800" dirty="0">
                <a:solidFill>
                  <a:srgbClr val="FF0000"/>
                </a:solidFill>
              </a:rPr>
              <a:t>Leonardo</a:t>
            </a:r>
            <a:r>
              <a:rPr lang="pt-BR" sz="2800" dirty="0">
                <a:solidFill>
                  <a:schemeClr val="bg1"/>
                </a:solidFill>
              </a:rPr>
              <a:t> da </a:t>
            </a:r>
            <a:r>
              <a:rPr lang="pt-BR" sz="2800" dirty="0">
                <a:solidFill>
                  <a:srgbClr val="FF0000"/>
                </a:solidFill>
              </a:rPr>
              <a:t>Vinci</a:t>
            </a:r>
            <a:r>
              <a:rPr lang="pt-BR" sz="2800" dirty="0">
                <a:solidFill>
                  <a:schemeClr val="bg1"/>
                </a:solidFill>
              </a:rPr>
              <a:t>. A </a:t>
            </a:r>
            <a:r>
              <a:rPr lang="pt-BR" sz="2800" dirty="0">
                <a:solidFill>
                  <a:srgbClr val="FF0000"/>
                </a:solidFill>
              </a:rPr>
              <a:t>causa final </a:t>
            </a:r>
            <a:r>
              <a:rPr lang="pt-BR" sz="2800" dirty="0">
                <a:solidFill>
                  <a:schemeClr val="bg1"/>
                </a:solidFill>
              </a:rPr>
              <a:t>é o </a:t>
            </a:r>
            <a:r>
              <a:rPr lang="pt-BR" sz="2800" dirty="0">
                <a:solidFill>
                  <a:srgbClr val="FF0000"/>
                </a:solidFill>
              </a:rPr>
              <a:t>fim proposto </a:t>
            </a:r>
            <a:r>
              <a:rPr lang="pt-BR" sz="2800" dirty="0">
                <a:solidFill>
                  <a:schemeClr val="bg1"/>
                </a:solidFill>
              </a:rPr>
              <a:t>pelo pintor: fazer uma pintura uma mulher para expressar suas técnicas artísticas.</a:t>
            </a:r>
          </a:p>
          <a:p>
            <a:pPr marL="0" indent="0" algn="just">
              <a:buNone/>
            </a:pPr>
            <a:r>
              <a:rPr lang="pt-BR" sz="2800" dirty="0">
                <a:solidFill>
                  <a:schemeClr val="bg1"/>
                </a:solidFill>
              </a:rPr>
              <a:t> As quatro causas são dispostas em uma </a:t>
            </a:r>
            <a:r>
              <a:rPr lang="pt-BR" sz="2800" dirty="0">
                <a:solidFill>
                  <a:srgbClr val="FF0000"/>
                </a:solidFill>
              </a:rPr>
              <a:t>hierarquia</a:t>
            </a:r>
            <a:r>
              <a:rPr lang="pt-BR" sz="2800" dirty="0">
                <a:solidFill>
                  <a:schemeClr val="bg1"/>
                </a:solidFill>
              </a:rPr>
              <a:t>, sendo a causa </a:t>
            </a:r>
            <a:r>
              <a:rPr lang="pt-BR" sz="2800" dirty="0">
                <a:solidFill>
                  <a:srgbClr val="FF0000"/>
                </a:solidFill>
              </a:rPr>
              <a:t>final</a:t>
            </a:r>
            <a:r>
              <a:rPr lang="pt-BR" sz="2800" dirty="0">
                <a:solidFill>
                  <a:schemeClr val="bg1"/>
                </a:solidFill>
              </a:rPr>
              <a:t> a mais </a:t>
            </a:r>
            <a:r>
              <a:rPr lang="pt-BR" sz="2800" dirty="0">
                <a:solidFill>
                  <a:srgbClr val="FF0000"/>
                </a:solidFill>
              </a:rPr>
              <a:t>importante</a:t>
            </a:r>
            <a:r>
              <a:rPr lang="pt-BR" sz="2800" dirty="0">
                <a:solidFill>
                  <a:schemeClr val="bg1"/>
                </a:solidFill>
              </a:rPr>
              <a:t>, uma vez que todo </a:t>
            </a:r>
            <a:r>
              <a:rPr lang="pt-BR" sz="2800" dirty="0">
                <a:solidFill>
                  <a:srgbClr val="FF0000"/>
                </a:solidFill>
              </a:rPr>
              <a:t>agente</a:t>
            </a:r>
            <a:r>
              <a:rPr lang="pt-BR" sz="2800" dirty="0">
                <a:solidFill>
                  <a:schemeClr val="bg1"/>
                </a:solidFill>
              </a:rPr>
              <a:t> age visando uma finalidade e tudo começa com um </a:t>
            </a:r>
            <a:r>
              <a:rPr lang="pt-BR" sz="2800" dirty="0">
                <a:solidFill>
                  <a:srgbClr val="FF0000"/>
                </a:solidFill>
              </a:rPr>
              <a:t>objetivo</a:t>
            </a:r>
            <a:r>
              <a:rPr lang="pt-BR" sz="2800" dirty="0">
                <a:solidFill>
                  <a:schemeClr val="bg1"/>
                </a:solidFill>
              </a:rPr>
              <a:t>, com uma </a:t>
            </a:r>
            <a:r>
              <a:rPr lang="pt-BR" sz="2800" dirty="0">
                <a:solidFill>
                  <a:srgbClr val="FF0000"/>
                </a:solidFill>
              </a:rPr>
              <a:t>intenção</a:t>
            </a:r>
            <a:r>
              <a:rPr lang="pt-BR" sz="2800" dirty="0">
                <a:solidFill>
                  <a:schemeClr val="bg1"/>
                </a:solidFill>
              </a:rPr>
              <a:t>.</a:t>
            </a:r>
          </a:p>
          <a:p>
            <a:pPr algn="ctr">
              <a:buNone/>
            </a:pPr>
            <a:endParaRPr lang="pt-BR" sz="2800" dirty="0"/>
          </a:p>
          <a:p>
            <a:pPr algn="ctr">
              <a:buNone/>
            </a:pPr>
            <a:endParaRPr lang="pt-BR" sz="3600" dirty="0"/>
          </a:p>
        </p:txBody>
      </p:sp>
      <p:sp>
        <p:nvSpPr>
          <p:cNvPr id="3" name="Espaço Reservado para Número de Slide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489D4F-278A-4CE5-8C40-8D0EDACDB649}" type="slidenum">
              <a:rPr lang="pt-BR" smtClean="0"/>
              <a:pPr/>
              <a:t>9</a:t>
            </a:fld>
            <a:endParaRPr lang="pt-BR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176866" y="1268760"/>
            <a:ext cx="6798734" cy="1008112"/>
          </a:xfrm>
        </p:spPr>
        <p:txBody>
          <a:bodyPr>
            <a:normAutofit/>
          </a:bodyPr>
          <a:lstStyle/>
          <a:p>
            <a:r>
              <a:rPr lang="pt-BR" sz="4500" dirty="0">
                <a:solidFill>
                  <a:srgbClr val="FF0000"/>
                </a:solidFill>
              </a:rPr>
              <a:t>As Quatro Causas</a:t>
            </a:r>
            <a:endParaRPr lang="pt-BR" sz="4500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489D4F-278A-4CE5-8C40-8D0EDACDB649}" type="slidenum">
              <a:rPr lang="pt-BR" smtClean="0"/>
              <a:pPr/>
              <a:t>10</a:t>
            </a:fld>
            <a:endParaRPr lang="pt-BR" dirty="0"/>
          </a:p>
        </p:txBody>
      </p:sp>
      <p:pic>
        <p:nvPicPr>
          <p:cNvPr id="7" name="Espaço Reservado para Conteúdo 6">
            <a:extLst>
              <a:ext uri="{FF2B5EF4-FFF2-40B4-BE49-F238E27FC236}">
                <a16:creationId xmlns:a16="http://schemas.microsoft.com/office/drawing/2014/main" id="{14DCF35A-C721-4618-8549-7BFAAF6A5A2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421316" y="2490788"/>
            <a:ext cx="2309306" cy="34448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6122373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176866" y="1196752"/>
            <a:ext cx="6798734" cy="1296144"/>
          </a:xfrm>
        </p:spPr>
        <p:txBody>
          <a:bodyPr>
            <a:normAutofit/>
          </a:bodyPr>
          <a:lstStyle/>
          <a:p>
            <a:r>
              <a:rPr lang="pt-BR" sz="4500" dirty="0">
                <a:solidFill>
                  <a:srgbClr val="FF0000"/>
                </a:solidFill>
              </a:rPr>
              <a:t>O animal Político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467544" y="2492896"/>
            <a:ext cx="8208912" cy="3600399"/>
          </a:xfrm>
        </p:spPr>
        <p:txBody>
          <a:bodyPr>
            <a:noAutofit/>
          </a:bodyPr>
          <a:lstStyle/>
          <a:p>
            <a:pPr marL="0" indent="0" algn="just">
              <a:buNone/>
            </a:pPr>
            <a:r>
              <a:rPr lang="pt-BR" sz="3000" dirty="0">
                <a:solidFill>
                  <a:schemeClr val="bg1"/>
                </a:solidFill>
              </a:rPr>
              <a:t>Para Aristóteles, o </a:t>
            </a:r>
            <a:r>
              <a:rPr lang="pt-BR" sz="3000" dirty="0">
                <a:solidFill>
                  <a:srgbClr val="FF0000"/>
                </a:solidFill>
              </a:rPr>
              <a:t>homem é um animal político </a:t>
            </a:r>
            <a:r>
              <a:rPr lang="pt-BR" sz="3000" dirty="0">
                <a:solidFill>
                  <a:schemeClr val="bg1"/>
                </a:solidFill>
              </a:rPr>
              <a:t>e depende do </a:t>
            </a:r>
            <a:r>
              <a:rPr lang="pt-BR" sz="3000" dirty="0">
                <a:solidFill>
                  <a:srgbClr val="FF0000"/>
                </a:solidFill>
              </a:rPr>
              <a:t>Estado</a:t>
            </a:r>
            <a:r>
              <a:rPr lang="pt-BR" sz="3000" dirty="0">
                <a:solidFill>
                  <a:schemeClr val="bg1"/>
                </a:solidFill>
              </a:rPr>
              <a:t> mais do que a família ou da comunidade, ou seja, faz parte de natureza do ser humano se organizar socialmente, viver na </a:t>
            </a:r>
            <a:r>
              <a:rPr lang="pt-BR" sz="3000" dirty="0">
                <a:solidFill>
                  <a:srgbClr val="FF0000"/>
                </a:solidFill>
              </a:rPr>
              <a:t>pólis</a:t>
            </a:r>
            <a:r>
              <a:rPr lang="pt-BR" sz="3000" dirty="0">
                <a:solidFill>
                  <a:schemeClr val="bg1"/>
                </a:solidFill>
              </a:rPr>
              <a:t>. </a:t>
            </a:r>
          </a:p>
          <a:p>
            <a:pPr marL="0" indent="0" algn="just">
              <a:buNone/>
            </a:pPr>
            <a:r>
              <a:rPr lang="pt-BR" sz="3000" dirty="0">
                <a:solidFill>
                  <a:schemeClr val="bg1"/>
                </a:solidFill>
              </a:rPr>
              <a:t>Sem o </a:t>
            </a:r>
            <a:r>
              <a:rPr lang="pt-BR" sz="3000" dirty="0">
                <a:solidFill>
                  <a:srgbClr val="FF0000"/>
                </a:solidFill>
              </a:rPr>
              <a:t>Estado</a:t>
            </a:r>
            <a:r>
              <a:rPr lang="pt-BR" sz="3000" dirty="0">
                <a:solidFill>
                  <a:schemeClr val="bg1"/>
                </a:solidFill>
              </a:rPr>
              <a:t>, segundo Aristóteles, o ser humano </a:t>
            </a:r>
            <a:r>
              <a:rPr lang="pt-BR" sz="3000" dirty="0">
                <a:solidFill>
                  <a:srgbClr val="FF0000"/>
                </a:solidFill>
              </a:rPr>
              <a:t>recai</a:t>
            </a:r>
            <a:r>
              <a:rPr lang="pt-BR" sz="3000" dirty="0">
                <a:solidFill>
                  <a:schemeClr val="bg1"/>
                </a:solidFill>
              </a:rPr>
              <a:t> em um </a:t>
            </a:r>
            <a:r>
              <a:rPr lang="pt-BR" sz="3000" dirty="0">
                <a:solidFill>
                  <a:srgbClr val="FF0000"/>
                </a:solidFill>
              </a:rPr>
              <a:t>egoísmo</a:t>
            </a:r>
            <a:r>
              <a:rPr lang="pt-BR" sz="3000" dirty="0">
                <a:solidFill>
                  <a:schemeClr val="bg1"/>
                </a:solidFill>
              </a:rPr>
              <a:t> que o aproxima de um </a:t>
            </a:r>
            <a:r>
              <a:rPr lang="pt-BR" sz="3000" dirty="0">
                <a:solidFill>
                  <a:srgbClr val="FF0000"/>
                </a:solidFill>
              </a:rPr>
              <a:t>animal irracional</a:t>
            </a:r>
            <a:r>
              <a:rPr lang="pt-BR" sz="3000" dirty="0">
                <a:solidFill>
                  <a:schemeClr val="bg1"/>
                </a:solidFill>
              </a:rPr>
              <a:t>.</a:t>
            </a: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489D4F-278A-4CE5-8C40-8D0EDACDB649}" type="slidenum">
              <a:rPr lang="pt-BR" smtClean="0"/>
              <a:pPr/>
              <a:t>11</a:t>
            </a:fld>
            <a:endParaRPr lang="pt-BR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176866" y="915337"/>
            <a:ext cx="6798734" cy="1721575"/>
          </a:xfrm>
        </p:spPr>
        <p:txBody>
          <a:bodyPr/>
          <a:lstStyle/>
          <a:p>
            <a:r>
              <a:rPr lang="pt-BR" dirty="0">
                <a:solidFill>
                  <a:srgbClr val="FF0000"/>
                </a:solidFill>
              </a:rPr>
              <a:t>As Formas de Governo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467544" y="2431911"/>
            <a:ext cx="8280919" cy="3444997"/>
          </a:xfrm>
        </p:spPr>
        <p:txBody>
          <a:bodyPr>
            <a:normAutofit lnSpcReduction="10000"/>
          </a:bodyPr>
          <a:lstStyle/>
          <a:p>
            <a:pPr marL="0" indent="0" algn="just">
              <a:buNone/>
            </a:pPr>
            <a:r>
              <a:rPr lang="pt-BR" sz="3000" dirty="0">
                <a:solidFill>
                  <a:schemeClr val="bg1"/>
                </a:solidFill>
              </a:rPr>
              <a:t>Aristóteles distinguiu </a:t>
            </a:r>
            <a:r>
              <a:rPr lang="pt-BR" sz="3000" dirty="0">
                <a:solidFill>
                  <a:srgbClr val="FF0000"/>
                </a:solidFill>
              </a:rPr>
              <a:t>três formas de governo</a:t>
            </a:r>
            <a:r>
              <a:rPr lang="pt-BR" sz="3000" dirty="0">
                <a:solidFill>
                  <a:schemeClr val="bg1"/>
                </a:solidFill>
              </a:rPr>
              <a:t>, conforme a quantidade de governantes no poder. </a:t>
            </a:r>
            <a:r>
              <a:rPr lang="pt-BR" sz="3000" dirty="0">
                <a:solidFill>
                  <a:srgbClr val="FF0000"/>
                </a:solidFill>
              </a:rPr>
              <a:t>Monarquia</a:t>
            </a:r>
            <a:r>
              <a:rPr lang="pt-BR" sz="3000" dirty="0">
                <a:solidFill>
                  <a:schemeClr val="bg1"/>
                </a:solidFill>
              </a:rPr>
              <a:t> (</a:t>
            </a:r>
            <a:r>
              <a:rPr lang="pt-BR" sz="3000" dirty="0">
                <a:solidFill>
                  <a:srgbClr val="FF0000"/>
                </a:solidFill>
              </a:rPr>
              <a:t>governo </a:t>
            </a:r>
            <a:r>
              <a:rPr lang="pt-BR" sz="3000" dirty="0">
                <a:solidFill>
                  <a:schemeClr val="bg1"/>
                </a:solidFill>
              </a:rPr>
              <a:t>de um </a:t>
            </a:r>
            <a:r>
              <a:rPr lang="pt-BR" sz="3000" dirty="0">
                <a:solidFill>
                  <a:srgbClr val="FF0000"/>
                </a:solidFill>
              </a:rPr>
              <a:t>só</a:t>
            </a:r>
            <a:r>
              <a:rPr lang="pt-BR" sz="3000" dirty="0">
                <a:solidFill>
                  <a:schemeClr val="bg1"/>
                </a:solidFill>
              </a:rPr>
              <a:t>), </a:t>
            </a:r>
            <a:r>
              <a:rPr lang="pt-BR" sz="3000" dirty="0">
                <a:solidFill>
                  <a:srgbClr val="FF0000"/>
                </a:solidFill>
              </a:rPr>
              <a:t>Aristocracia</a:t>
            </a:r>
            <a:r>
              <a:rPr lang="pt-BR" sz="3000" dirty="0">
                <a:solidFill>
                  <a:schemeClr val="bg1"/>
                </a:solidFill>
              </a:rPr>
              <a:t> (</a:t>
            </a:r>
            <a:r>
              <a:rPr lang="pt-BR" sz="3000" dirty="0">
                <a:solidFill>
                  <a:srgbClr val="FF0000"/>
                </a:solidFill>
              </a:rPr>
              <a:t>governo </a:t>
            </a:r>
            <a:r>
              <a:rPr lang="pt-BR" sz="3000" dirty="0">
                <a:solidFill>
                  <a:schemeClr val="bg1"/>
                </a:solidFill>
              </a:rPr>
              <a:t>de</a:t>
            </a:r>
            <a:r>
              <a:rPr lang="pt-BR" sz="3000" dirty="0">
                <a:solidFill>
                  <a:srgbClr val="FF0000"/>
                </a:solidFill>
              </a:rPr>
              <a:t> poucos</a:t>
            </a:r>
            <a:r>
              <a:rPr lang="pt-BR" sz="3000" dirty="0">
                <a:solidFill>
                  <a:schemeClr val="bg1"/>
                </a:solidFill>
              </a:rPr>
              <a:t>) e </a:t>
            </a:r>
            <a:r>
              <a:rPr lang="pt-BR" sz="3000" dirty="0">
                <a:solidFill>
                  <a:srgbClr val="FF0000"/>
                </a:solidFill>
              </a:rPr>
              <a:t>Politeia</a:t>
            </a:r>
            <a:r>
              <a:rPr lang="pt-BR" sz="3000" dirty="0">
                <a:solidFill>
                  <a:schemeClr val="bg1"/>
                </a:solidFill>
              </a:rPr>
              <a:t> (</a:t>
            </a:r>
            <a:r>
              <a:rPr lang="pt-BR" sz="3000" dirty="0">
                <a:solidFill>
                  <a:srgbClr val="FF0000"/>
                </a:solidFill>
              </a:rPr>
              <a:t>governo</a:t>
            </a:r>
            <a:r>
              <a:rPr lang="pt-BR" sz="3000" dirty="0">
                <a:solidFill>
                  <a:schemeClr val="bg1"/>
                </a:solidFill>
              </a:rPr>
              <a:t> da </a:t>
            </a:r>
            <a:r>
              <a:rPr lang="pt-BR" sz="3000" dirty="0">
                <a:solidFill>
                  <a:srgbClr val="FF0000"/>
                </a:solidFill>
              </a:rPr>
              <a:t>maioria</a:t>
            </a:r>
            <a:r>
              <a:rPr lang="pt-BR" sz="3000" dirty="0">
                <a:solidFill>
                  <a:schemeClr val="bg1"/>
                </a:solidFill>
              </a:rPr>
              <a:t>, fundado nas </a:t>
            </a:r>
            <a:r>
              <a:rPr lang="pt-BR" sz="3000" dirty="0">
                <a:solidFill>
                  <a:srgbClr val="FF0000"/>
                </a:solidFill>
              </a:rPr>
              <a:t>leis</a:t>
            </a:r>
            <a:r>
              <a:rPr lang="pt-BR" sz="3000" dirty="0">
                <a:solidFill>
                  <a:schemeClr val="bg1"/>
                </a:solidFill>
              </a:rPr>
              <a:t>). </a:t>
            </a:r>
          </a:p>
          <a:p>
            <a:pPr marL="0" indent="0" algn="just">
              <a:buNone/>
            </a:pPr>
            <a:r>
              <a:rPr lang="pt-BR" sz="3000" dirty="0">
                <a:solidFill>
                  <a:schemeClr val="bg1"/>
                </a:solidFill>
              </a:rPr>
              <a:t>Tais formas de governos </a:t>
            </a:r>
            <a:r>
              <a:rPr lang="pt-BR" sz="3000" dirty="0">
                <a:solidFill>
                  <a:srgbClr val="FF0000"/>
                </a:solidFill>
              </a:rPr>
              <a:t>são justas</a:t>
            </a:r>
            <a:r>
              <a:rPr lang="pt-BR" sz="3000" dirty="0">
                <a:solidFill>
                  <a:schemeClr val="bg1"/>
                </a:solidFill>
              </a:rPr>
              <a:t>, pois visam o </a:t>
            </a:r>
            <a:r>
              <a:rPr lang="pt-BR" sz="3000" dirty="0">
                <a:solidFill>
                  <a:srgbClr val="FF0000"/>
                </a:solidFill>
              </a:rPr>
              <a:t>bem comum</a:t>
            </a:r>
            <a:r>
              <a:rPr lang="pt-BR" sz="3000" dirty="0">
                <a:solidFill>
                  <a:schemeClr val="bg1"/>
                </a:solidFill>
              </a:rPr>
              <a:t>.</a:t>
            </a: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489D4F-278A-4CE5-8C40-8D0EDACDB649}" type="slidenum">
              <a:rPr lang="pt-BR" smtClean="0"/>
              <a:pPr/>
              <a:t>12</a:t>
            </a:fld>
            <a:endParaRPr lang="pt-BR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176866" y="1196752"/>
            <a:ext cx="6798734" cy="1022452"/>
          </a:xfrm>
        </p:spPr>
        <p:txBody>
          <a:bodyPr/>
          <a:lstStyle/>
          <a:p>
            <a:r>
              <a:rPr lang="pt-BR" dirty="0">
                <a:solidFill>
                  <a:srgbClr val="FF0000"/>
                </a:solidFill>
              </a:rPr>
              <a:t>As Formas de Governo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467544" y="2492895"/>
            <a:ext cx="8208912" cy="3442237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pt-BR" sz="3000" dirty="0">
                <a:solidFill>
                  <a:schemeClr val="bg1"/>
                </a:solidFill>
              </a:rPr>
              <a:t>Tais formas de governo </a:t>
            </a:r>
            <a:r>
              <a:rPr lang="pt-BR" sz="3000" dirty="0">
                <a:solidFill>
                  <a:srgbClr val="FF0000"/>
                </a:solidFill>
              </a:rPr>
              <a:t>podem</a:t>
            </a:r>
            <a:r>
              <a:rPr lang="pt-BR" sz="3000" dirty="0">
                <a:solidFill>
                  <a:schemeClr val="bg1"/>
                </a:solidFill>
              </a:rPr>
              <a:t> se </a:t>
            </a:r>
            <a:r>
              <a:rPr lang="pt-BR" sz="3000" dirty="0">
                <a:solidFill>
                  <a:srgbClr val="FF0000"/>
                </a:solidFill>
              </a:rPr>
              <a:t>degenerar</a:t>
            </a:r>
            <a:r>
              <a:rPr lang="pt-BR" sz="3000" dirty="0">
                <a:solidFill>
                  <a:schemeClr val="bg1"/>
                </a:solidFill>
              </a:rPr>
              <a:t> e se transformam em </a:t>
            </a:r>
            <a:r>
              <a:rPr lang="pt-BR" sz="3000" dirty="0">
                <a:solidFill>
                  <a:srgbClr val="FF0000"/>
                </a:solidFill>
              </a:rPr>
              <a:t>injustas</a:t>
            </a:r>
            <a:r>
              <a:rPr lang="pt-BR" sz="3000" dirty="0">
                <a:solidFill>
                  <a:schemeClr val="bg1"/>
                </a:solidFill>
              </a:rPr>
              <a:t>, quando </a:t>
            </a:r>
            <a:r>
              <a:rPr lang="pt-BR" sz="3000" dirty="0">
                <a:solidFill>
                  <a:srgbClr val="FF0000"/>
                </a:solidFill>
              </a:rPr>
              <a:t>não</a:t>
            </a:r>
            <a:r>
              <a:rPr lang="pt-BR" sz="3000" dirty="0">
                <a:solidFill>
                  <a:schemeClr val="bg1"/>
                </a:solidFill>
              </a:rPr>
              <a:t> visam o </a:t>
            </a:r>
            <a:r>
              <a:rPr lang="pt-BR" sz="3000" dirty="0">
                <a:solidFill>
                  <a:srgbClr val="FF0000"/>
                </a:solidFill>
              </a:rPr>
              <a:t>bem comum</a:t>
            </a:r>
            <a:r>
              <a:rPr lang="pt-BR" sz="3000" dirty="0">
                <a:solidFill>
                  <a:schemeClr val="bg1"/>
                </a:solidFill>
              </a:rPr>
              <a:t>. Assim, a </a:t>
            </a:r>
            <a:r>
              <a:rPr lang="pt-BR" sz="3000" dirty="0">
                <a:solidFill>
                  <a:srgbClr val="FF0000"/>
                </a:solidFill>
              </a:rPr>
              <a:t>Monarquia</a:t>
            </a:r>
            <a:r>
              <a:rPr lang="pt-BR" sz="3000" dirty="0">
                <a:solidFill>
                  <a:schemeClr val="bg1"/>
                </a:solidFill>
              </a:rPr>
              <a:t> se transforma em </a:t>
            </a:r>
            <a:r>
              <a:rPr lang="pt-BR" sz="3000" dirty="0">
                <a:solidFill>
                  <a:srgbClr val="FF0000"/>
                </a:solidFill>
              </a:rPr>
              <a:t>Tirania</a:t>
            </a:r>
            <a:r>
              <a:rPr lang="pt-BR" sz="3000" dirty="0">
                <a:solidFill>
                  <a:schemeClr val="bg1"/>
                </a:solidFill>
              </a:rPr>
              <a:t> (governo que visa o interessa particular), a </a:t>
            </a:r>
            <a:r>
              <a:rPr lang="pt-BR" sz="3000" dirty="0">
                <a:solidFill>
                  <a:srgbClr val="FF0000"/>
                </a:solidFill>
              </a:rPr>
              <a:t>Aristocracia</a:t>
            </a:r>
            <a:r>
              <a:rPr lang="pt-BR" sz="3000" dirty="0">
                <a:solidFill>
                  <a:schemeClr val="bg1"/>
                </a:solidFill>
              </a:rPr>
              <a:t> em </a:t>
            </a:r>
            <a:r>
              <a:rPr lang="pt-BR" sz="3000" dirty="0">
                <a:solidFill>
                  <a:srgbClr val="FF0000"/>
                </a:solidFill>
              </a:rPr>
              <a:t>Oligarquia</a:t>
            </a:r>
            <a:r>
              <a:rPr lang="pt-BR" sz="3000" dirty="0">
                <a:solidFill>
                  <a:schemeClr val="bg1"/>
                </a:solidFill>
              </a:rPr>
              <a:t> (governo dos ricos visando o bem dos ricos) e a </a:t>
            </a:r>
            <a:r>
              <a:rPr lang="pt-BR" sz="3000" dirty="0">
                <a:solidFill>
                  <a:srgbClr val="FF0000"/>
                </a:solidFill>
              </a:rPr>
              <a:t>Politeia</a:t>
            </a:r>
            <a:r>
              <a:rPr lang="pt-BR" sz="3000" dirty="0">
                <a:solidFill>
                  <a:schemeClr val="bg1"/>
                </a:solidFill>
              </a:rPr>
              <a:t> em </a:t>
            </a:r>
            <a:r>
              <a:rPr lang="pt-BR" sz="3000" dirty="0">
                <a:solidFill>
                  <a:srgbClr val="FF0000"/>
                </a:solidFill>
              </a:rPr>
              <a:t>Democracia</a:t>
            </a:r>
            <a:r>
              <a:rPr lang="pt-BR" sz="3000" dirty="0">
                <a:solidFill>
                  <a:schemeClr val="bg1"/>
                </a:solidFill>
              </a:rPr>
              <a:t> (governo dos pobres visando o bem dos pobres).</a:t>
            </a:r>
            <a:endParaRPr lang="pt-BR" sz="3000" b="1" dirty="0">
              <a:solidFill>
                <a:schemeClr val="bg1"/>
              </a:solidFill>
            </a:endParaRP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489D4F-278A-4CE5-8C40-8D0EDACDB649}" type="slidenum">
              <a:rPr lang="pt-BR" smtClean="0"/>
              <a:pPr/>
              <a:t>13</a:t>
            </a:fld>
            <a:endParaRPr lang="pt-BR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176866" y="915337"/>
            <a:ext cx="6798734" cy="1721575"/>
          </a:xfrm>
        </p:spPr>
        <p:txBody>
          <a:bodyPr/>
          <a:lstStyle/>
          <a:p>
            <a:r>
              <a:rPr lang="pt-BR" dirty="0">
                <a:solidFill>
                  <a:srgbClr val="FF0000"/>
                </a:solidFill>
              </a:rPr>
              <a:t>A Vantagem da Democracia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457200" y="2348880"/>
            <a:ext cx="8229600" cy="3845024"/>
          </a:xfrm>
        </p:spPr>
        <p:txBody>
          <a:bodyPr>
            <a:noAutofit/>
          </a:bodyPr>
          <a:lstStyle/>
          <a:p>
            <a:pPr marL="0" indent="0" algn="just">
              <a:buNone/>
            </a:pPr>
            <a:r>
              <a:rPr lang="pt-BR" sz="2500" dirty="0">
                <a:solidFill>
                  <a:schemeClr val="bg1"/>
                </a:solidFill>
              </a:rPr>
              <a:t>Aristóteles considerava que era </a:t>
            </a:r>
            <a:r>
              <a:rPr lang="pt-BR" sz="2500" dirty="0">
                <a:solidFill>
                  <a:srgbClr val="FF0000"/>
                </a:solidFill>
              </a:rPr>
              <a:t>melhor</a:t>
            </a:r>
            <a:r>
              <a:rPr lang="pt-BR" sz="2500" dirty="0">
                <a:solidFill>
                  <a:schemeClr val="bg1"/>
                </a:solidFill>
              </a:rPr>
              <a:t> para a sociedade a </a:t>
            </a:r>
            <a:r>
              <a:rPr lang="pt-BR" sz="2500" dirty="0">
                <a:solidFill>
                  <a:srgbClr val="FF0000"/>
                </a:solidFill>
              </a:rPr>
              <a:t>soberania política</a:t>
            </a:r>
            <a:r>
              <a:rPr lang="pt-BR" sz="2500" dirty="0">
                <a:solidFill>
                  <a:schemeClr val="bg1"/>
                </a:solidFill>
              </a:rPr>
              <a:t> ser entregue ao </a:t>
            </a:r>
            <a:r>
              <a:rPr lang="pt-BR" sz="2500" dirty="0">
                <a:solidFill>
                  <a:srgbClr val="FF0000"/>
                </a:solidFill>
              </a:rPr>
              <a:t>povo</a:t>
            </a:r>
            <a:r>
              <a:rPr lang="pt-BR" sz="2500" dirty="0">
                <a:solidFill>
                  <a:schemeClr val="bg1"/>
                </a:solidFill>
              </a:rPr>
              <a:t>, como ocorre na </a:t>
            </a:r>
            <a:r>
              <a:rPr lang="pt-BR" sz="2500" dirty="0">
                <a:solidFill>
                  <a:srgbClr val="FF0000"/>
                </a:solidFill>
              </a:rPr>
              <a:t>democracia</a:t>
            </a:r>
            <a:r>
              <a:rPr lang="pt-BR" sz="2500" dirty="0">
                <a:solidFill>
                  <a:schemeClr val="bg1"/>
                </a:solidFill>
              </a:rPr>
              <a:t>, do que a alguns </a:t>
            </a:r>
            <a:r>
              <a:rPr lang="pt-BR" sz="2500" dirty="0">
                <a:solidFill>
                  <a:srgbClr val="FF0000"/>
                </a:solidFill>
              </a:rPr>
              <a:t>homens notáveis</a:t>
            </a:r>
            <a:r>
              <a:rPr lang="pt-BR" sz="2500" dirty="0">
                <a:solidFill>
                  <a:schemeClr val="bg1"/>
                </a:solidFill>
              </a:rPr>
              <a:t>, como na </a:t>
            </a:r>
            <a:r>
              <a:rPr lang="pt-BR" sz="2500" dirty="0">
                <a:solidFill>
                  <a:srgbClr val="FF0000"/>
                </a:solidFill>
              </a:rPr>
              <a:t>oligarquia</a:t>
            </a:r>
            <a:r>
              <a:rPr lang="pt-BR" sz="2500" dirty="0">
                <a:solidFill>
                  <a:schemeClr val="bg1"/>
                </a:solidFill>
              </a:rPr>
              <a:t> ou </a:t>
            </a:r>
            <a:r>
              <a:rPr lang="pt-BR" sz="2500" dirty="0">
                <a:solidFill>
                  <a:srgbClr val="FF0000"/>
                </a:solidFill>
              </a:rPr>
              <a:t>aristocracia</a:t>
            </a:r>
            <a:r>
              <a:rPr lang="pt-BR" sz="2500" dirty="0">
                <a:solidFill>
                  <a:schemeClr val="bg1"/>
                </a:solidFill>
              </a:rPr>
              <a:t>, desde que o </a:t>
            </a:r>
            <a:r>
              <a:rPr lang="pt-BR" sz="2500" dirty="0">
                <a:solidFill>
                  <a:srgbClr val="FF0000"/>
                </a:solidFill>
              </a:rPr>
              <a:t>bem comum </a:t>
            </a:r>
            <a:r>
              <a:rPr lang="pt-BR" sz="2500" dirty="0">
                <a:solidFill>
                  <a:schemeClr val="bg1"/>
                </a:solidFill>
              </a:rPr>
              <a:t>fosse a </a:t>
            </a:r>
            <a:r>
              <a:rPr lang="pt-BR" sz="2500" dirty="0">
                <a:solidFill>
                  <a:srgbClr val="FF0000"/>
                </a:solidFill>
              </a:rPr>
              <a:t>prioridade</a:t>
            </a:r>
            <a:r>
              <a:rPr lang="pt-BR" sz="2500" dirty="0">
                <a:solidFill>
                  <a:schemeClr val="bg1"/>
                </a:solidFill>
              </a:rPr>
              <a:t>. </a:t>
            </a:r>
          </a:p>
          <a:p>
            <a:pPr marL="0" indent="0" algn="just">
              <a:buNone/>
            </a:pPr>
            <a:r>
              <a:rPr lang="pt-BR" sz="2500" dirty="0">
                <a:solidFill>
                  <a:schemeClr val="bg1"/>
                </a:solidFill>
              </a:rPr>
              <a:t>Dentre as formas de </a:t>
            </a:r>
            <a:r>
              <a:rPr lang="pt-BR" sz="2500" dirty="0">
                <a:solidFill>
                  <a:srgbClr val="FF0000"/>
                </a:solidFill>
              </a:rPr>
              <a:t>governo degeneradas</a:t>
            </a:r>
            <a:r>
              <a:rPr lang="pt-BR" sz="2500" dirty="0">
                <a:solidFill>
                  <a:schemeClr val="bg1"/>
                </a:solidFill>
              </a:rPr>
              <a:t>, a </a:t>
            </a:r>
            <a:r>
              <a:rPr lang="pt-BR" sz="2500" dirty="0">
                <a:solidFill>
                  <a:srgbClr val="FF0000"/>
                </a:solidFill>
              </a:rPr>
              <a:t>democracia</a:t>
            </a:r>
            <a:r>
              <a:rPr lang="pt-BR" sz="2500" dirty="0">
                <a:solidFill>
                  <a:schemeClr val="bg1"/>
                </a:solidFill>
              </a:rPr>
              <a:t> é a </a:t>
            </a:r>
            <a:r>
              <a:rPr lang="pt-BR" sz="2500" dirty="0">
                <a:solidFill>
                  <a:srgbClr val="FF0000"/>
                </a:solidFill>
              </a:rPr>
              <a:t>melhor</a:t>
            </a:r>
            <a:r>
              <a:rPr lang="pt-BR" sz="2500" dirty="0">
                <a:solidFill>
                  <a:schemeClr val="bg1"/>
                </a:solidFill>
              </a:rPr>
              <a:t>, pois mesmo que um indivíduo </a:t>
            </a:r>
            <a:r>
              <a:rPr lang="pt-BR" sz="2500" dirty="0">
                <a:solidFill>
                  <a:srgbClr val="FF0000"/>
                </a:solidFill>
              </a:rPr>
              <a:t>isoladamente</a:t>
            </a:r>
            <a:r>
              <a:rPr lang="pt-BR" sz="2500" dirty="0">
                <a:solidFill>
                  <a:schemeClr val="bg1"/>
                </a:solidFill>
              </a:rPr>
              <a:t> não fosse muito competente no </a:t>
            </a:r>
            <a:r>
              <a:rPr lang="pt-BR" sz="2500" dirty="0">
                <a:solidFill>
                  <a:srgbClr val="FF0000"/>
                </a:solidFill>
              </a:rPr>
              <a:t>ato</a:t>
            </a:r>
            <a:r>
              <a:rPr lang="pt-BR" sz="2500" dirty="0">
                <a:solidFill>
                  <a:schemeClr val="bg1"/>
                </a:solidFill>
              </a:rPr>
              <a:t> de </a:t>
            </a:r>
            <a:r>
              <a:rPr lang="pt-BR" sz="2500" dirty="0">
                <a:solidFill>
                  <a:srgbClr val="FF0000"/>
                </a:solidFill>
              </a:rPr>
              <a:t>julgar</a:t>
            </a:r>
            <a:r>
              <a:rPr lang="pt-BR" sz="2500" dirty="0">
                <a:solidFill>
                  <a:schemeClr val="bg1"/>
                </a:solidFill>
              </a:rPr>
              <a:t>, quando unido a outros </a:t>
            </a:r>
            <a:r>
              <a:rPr lang="pt-BR" sz="2500" dirty="0">
                <a:solidFill>
                  <a:srgbClr val="FF0000"/>
                </a:solidFill>
              </a:rPr>
              <a:t>cidadãos</a:t>
            </a:r>
            <a:r>
              <a:rPr lang="pt-BR" sz="2500" dirty="0">
                <a:solidFill>
                  <a:schemeClr val="bg1"/>
                </a:solidFill>
              </a:rPr>
              <a:t> julga melhor, porque a </a:t>
            </a:r>
            <a:r>
              <a:rPr lang="pt-BR" sz="2500" dirty="0">
                <a:solidFill>
                  <a:srgbClr val="FF0000"/>
                </a:solidFill>
              </a:rPr>
              <a:t>união</a:t>
            </a:r>
            <a:r>
              <a:rPr lang="pt-BR" sz="2500" dirty="0">
                <a:solidFill>
                  <a:schemeClr val="bg1"/>
                </a:solidFill>
              </a:rPr>
              <a:t> reúne as </a:t>
            </a:r>
            <a:r>
              <a:rPr lang="pt-BR" sz="2500" dirty="0">
                <a:solidFill>
                  <a:srgbClr val="FF0000"/>
                </a:solidFill>
              </a:rPr>
              <a:t>qualidades</a:t>
            </a:r>
            <a:r>
              <a:rPr lang="pt-BR" sz="2500" dirty="0">
                <a:solidFill>
                  <a:schemeClr val="bg1"/>
                </a:solidFill>
              </a:rPr>
              <a:t> de 	cada </a:t>
            </a:r>
            <a:r>
              <a:rPr lang="pt-BR" sz="2500" dirty="0">
                <a:solidFill>
                  <a:srgbClr val="FF0000"/>
                </a:solidFill>
              </a:rPr>
              <a:t>um</a:t>
            </a:r>
            <a:r>
              <a:rPr lang="pt-BR" sz="2500" dirty="0">
                <a:solidFill>
                  <a:schemeClr val="bg1"/>
                </a:solidFill>
              </a:rPr>
              <a:t>. </a:t>
            </a: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489D4F-278A-4CE5-8C40-8D0EDACDB649}" type="slidenum">
              <a:rPr lang="pt-BR" smtClean="0"/>
              <a:pPr/>
              <a:t>14</a:t>
            </a:fld>
            <a:endParaRPr lang="pt-BR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57200" y="903300"/>
            <a:ext cx="8229600" cy="1949635"/>
          </a:xfrm>
        </p:spPr>
        <p:txBody>
          <a:bodyPr/>
          <a:lstStyle/>
          <a:p>
            <a:r>
              <a:rPr lang="pt-BR" dirty="0">
                <a:solidFill>
                  <a:srgbClr val="FF0000"/>
                </a:solidFill>
              </a:rPr>
              <a:t>A Justa Medida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457200" y="1268760"/>
            <a:ext cx="8229600" cy="4685939"/>
          </a:xfrm>
        </p:spPr>
        <p:txBody>
          <a:bodyPr>
            <a:noAutofit/>
          </a:bodyPr>
          <a:lstStyle/>
          <a:p>
            <a:pPr marL="0" indent="0" algn="just">
              <a:buNone/>
            </a:pPr>
            <a:endParaRPr lang="pt-BR" sz="2500" dirty="0">
              <a:solidFill>
                <a:schemeClr val="bg1"/>
              </a:solidFill>
            </a:endParaRPr>
          </a:p>
          <a:p>
            <a:pPr marL="0" indent="0" algn="just">
              <a:buNone/>
            </a:pPr>
            <a:endParaRPr lang="pt-BR" sz="2500" dirty="0">
              <a:solidFill>
                <a:schemeClr val="bg1"/>
              </a:solidFill>
            </a:endParaRPr>
          </a:p>
          <a:p>
            <a:pPr marL="0" indent="0" algn="just">
              <a:buNone/>
            </a:pPr>
            <a:r>
              <a:rPr lang="pt-BR" sz="2500" dirty="0">
                <a:solidFill>
                  <a:schemeClr val="bg1"/>
                </a:solidFill>
              </a:rPr>
              <a:t>Aristóteles se perguntou: Qual é o </a:t>
            </a:r>
            <a:r>
              <a:rPr lang="pt-BR" sz="2500" dirty="0">
                <a:solidFill>
                  <a:srgbClr val="FF0000"/>
                </a:solidFill>
              </a:rPr>
              <a:t>fim último </a:t>
            </a:r>
            <a:r>
              <a:rPr lang="pt-BR" sz="2500" dirty="0">
                <a:solidFill>
                  <a:schemeClr val="bg1"/>
                </a:solidFill>
              </a:rPr>
              <a:t>das nossas ações? O que </a:t>
            </a:r>
            <a:r>
              <a:rPr lang="pt-BR" sz="2500" dirty="0">
                <a:solidFill>
                  <a:srgbClr val="FF0000"/>
                </a:solidFill>
              </a:rPr>
              <a:t>mais </a:t>
            </a:r>
            <a:r>
              <a:rPr lang="pt-BR" sz="2500" dirty="0">
                <a:solidFill>
                  <a:schemeClr val="bg1"/>
                </a:solidFill>
              </a:rPr>
              <a:t>desejamos? E respondeu: buscamos é a </a:t>
            </a:r>
            <a:r>
              <a:rPr lang="pt-BR" sz="2500" dirty="0">
                <a:solidFill>
                  <a:srgbClr val="FF0000"/>
                </a:solidFill>
              </a:rPr>
              <a:t>felicidade</a:t>
            </a:r>
            <a:r>
              <a:rPr lang="pt-BR" sz="2500" dirty="0">
                <a:solidFill>
                  <a:schemeClr val="bg1"/>
                </a:solidFill>
              </a:rPr>
              <a:t> (a </a:t>
            </a:r>
            <a:r>
              <a:rPr lang="pt-BR" sz="2500" dirty="0">
                <a:solidFill>
                  <a:srgbClr val="FF0000"/>
                </a:solidFill>
              </a:rPr>
              <a:t>eudaimonia</a:t>
            </a:r>
            <a:r>
              <a:rPr lang="pt-BR" sz="2500" dirty="0">
                <a:solidFill>
                  <a:schemeClr val="bg1"/>
                </a:solidFill>
              </a:rPr>
              <a:t>). Mas para ser feliz, o ser humano </a:t>
            </a:r>
            <a:r>
              <a:rPr lang="pt-BR" sz="2500" dirty="0">
                <a:solidFill>
                  <a:srgbClr val="FF0000"/>
                </a:solidFill>
              </a:rPr>
              <a:t>deve</a:t>
            </a:r>
            <a:r>
              <a:rPr lang="pt-BR" sz="2500" dirty="0">
                <a:solidFill>
                  <a:schemeClr val="bg1"/>
                </a:solidFill>
              </a:rPr>
              <a:t> se guiar pela </a:t>
            </a:r>
            <a:r>
              <a:rPr lang="pt-BR" sz="2500" dirty="0">
                <a:solidFill>
                  <a:srgbClr val="FF0000"/>
                </a:solidFill>
              </a:rPr>
              <a:t>razão</a:t>
            </a:r>
            <a:r>
              <a:rPr lang="pt-BR" sz="2500" dirty="0">
                <a:solidFill>
                  <a:schemeClr val="bg1"/>
                </a:solidFill>
              </a:rPr>
              <a:t>, orientando seus atos à prática da </a:t>
            </a:r>
            <a:r>
              <a:rPr lang="pt-BR" sz="2500" dirty="0">
                <a:solidFill>
                  <a:srgbClr val="FF0000"/>
                </a:solidFill>
              </a:rPr>
              <a:t>virtude</a:t>
            </a:r>
            <a:r>
              <a:rPr lang="pt-BR" sz="2500" dirty="0">
                <a:solidFill>
                  <a:schemeClr val="bg1"/>
                </a:solidFill>
              </a:rPr>
              <a:t>. </a:t>
            </a:r>
          </a:p>
          <a:p>
            <a:pPr marL="0" indent="0" algn="just">
              <a:buNone/>
            </a:pPr>
            <a:r>
              <a:rPr lang="pt-BR" sz="2500" dirty="0">
                <a:solidFill>
                  <a:schemeClr val="bg1"/>
                </a:solidFill>
              </a:rPr>
              <a:t>Para Aristóteles, ser </a:t>
            </a:r>
            <a:r>
              <a:rPr lang="pt-BR" sz="2500" dirty="0">
                <a:solidFill>
                  <a:srgbClr val="FF0000"/>
                </a:solidFill>
              </a:rPr>
              <a:t>virtuoso</a:t>
            </a:r>
            <a:r>
              <a:rPr lang="pt-BR" sz="2500" dirty="0">
                <a:solidFill>
                  <a:schemeClr val="bg1"/>
                </a:solidFill>
              </a:rPr>
              <a:t> é praticar a </a:t>
            </a:r>
            <a:r>
              <a:rPr lang="pt-BR" sz="2500" dirty="0">
                <a:solidFill>
                  <a:srgbClr val="FF0000"/>
                </a:solidFill>
              </a:rPr>
              <a:t>justa medida</a:t>
            </a:r>
            <a:r>
              <a:rPr lang="pt-BR" sz="2500" dirty="0">
                <a:solidFill>
                  <a:schemeClr val="bg1"/>
                </a:solidFill>
              </a:rPr>
              <a:t>, que consiste em </a:t>
            </a:r>
            <a:r>
              <a:rPr lang="pt-BR" sz="2500" dirty="0">
                <a:solidFill>
                  <a:srgbClr val="FF0000"/>
                </a:solidFill>
              </a:rPr>
              <a:t>não pecar </a:t>
            </a:r>
            <a:r>
              <a:rPr lang="pt-BR" sz="2500" dirty="0">
                <a:solidFill>
                  <a:schemeClr val="bg1"/>
                </a:solidFill>
              </a:rPr>
              <a:t>pela </a:t>
            </a:r>
            <a:r>
              <a:rPr lang="pt-BR" sz="2500" dirty="0">
                <a:solidFill>
                  <a:srgbClr val="FF0000"/>
                </a:solidFill>
              </a:rPr>
              <a:t>falta</a:t>
            </a:r>
            <a:r>
              <a:rPr lang="pt-BR" sz="2500" dirty="0">
                <a:solidFill>
                  <a:schemeClr val="bg1"/>
                </a:solidFill>
              </a:rPr>
              <a:t>, nem pelo </a:t>
            </a:r>
            <a:r>
              <a:rPr lang="pt-BR" sz="2500" dirty="0">
                <a:solidFill>
                  <a:srgbClr val="FF0000"/>
                </a:solidFill>
              </a:rPr>
              <a:t>excesso</a:t>
            </a:r>
            <a:r>
              <a:rPr lang="pt-BR" sz="2500" dirty="0">
                <a:solidFill>
                  <a:schemeClr val="bg1"/>
                </a:solidFill>
              </a:rPr>
              <a:t>. Por exemplo, a </a:t>
            </a:r>
            <a:r>
              <a:rPr lang="pt-BR" sz="2500" dirty="0">
                <a:solidFill>
                  <a:srgbClr val="FF0000"/>
                </a:solidFill>
              </a:rPr>
              <a:t>virtude</a:t>
            </a:r>
            <a:r>
              <a:rPr lang="pt-BR" sz="2500" dirty="0">
                <a:solidFill>
                  <a:schemeClr val="bg1"/>
                </a:solidFill>
              </a:rPr>
              <a:t> da </a:t>
            </a:r>
            <a:r>
              <a:rPr lang="pt-BR" sz="2500" dirty="0">
                <a:solidFill>
                  <a:srgbClr val="FF0000"/>
                </a:solidFill>
              </a:rPr>
              <a:t>coragem</a:t>
            </a:r>
            <a:r>
              <a:rPr lang="pt-BR" sz="2500" dirty="0">
                <a:solidFill>
                  <a:schemeClr val="bg1"/>
                </a:solidFill>
              </a:rPr>
              <a:t> é o </a:t>
            </a:r>
            <a:r>
              <a:rPr lang="pt-BR" sz="2500" dirty="0">
                <a:solidFill>
                  <a:srgbClr val="FF0000"/>
                </a:solidFill>
              </a:rPr>
              <a:t>meio termo </a:t>
            </a:r>
            <a:r>
              <a:rPr lang="pt-BR" sz="2500" dirty="0">
                <a:solidFill>
                  <a:schemeClr val="bg1"/>
                </a:solidFill>
              </a:rPr>
              <a:t>entre a </a:t>
            </a:r>
            <a:r>
              <a:rPr lang="pt-BR" sz="2500" dirty="0">
                <a:solidFill>
                  <a:srgbClr val="FF0000"/>
                </a:solidFill>
              </a:rPr>
              <a:t>covardia</a:t>
            </a:r>
            <a:r>
              <a:rPr lang="pt-BR" sz="2500" dirty="0">
                <a:solidFill>
                  <a:schemeClr val="bg1"/>
                </a:solidFill>
              </a:rPr>
              <a:t> (que é a </a:t>
            </a:r>
            <a:r>
              <a:rPr lang="pt-BR" sz="2500" dirty="0">
                <a:solidFill>
                  <a:srgbClr val="FF0000"/>
                </a:solidFill>
              </a:rPr>
              <a:t>falta</a:t>
            </a:r>
            <a:r>
              <a:rPr lang="pt-BR" sz="2500" dirty="0">
                <a:solidFill>
                  <a:schemeClr val="bg1"/>
                </a:solidFill>
              </a:rPr>
              <a:t>) e a </a:t>
            </a:r>
            <a:r>
              <a:rPr lang="pt-BR" sz="2500" dirty="0">
                <a:solidFill>
                  <a:srgbClr val="FF0000"/>
                </a:solidFill>
              </a:rPr>
              <a:t>valentia</a:t>
            </a:r>
            <a:r>
              <a:rPr lang="pt-BR" sz="2500" dirty="0">
                <a:solidFill>
                  <a:schemeClr val="bg1"/>
                </a:solidFill>
              </a:rPr>
              <a:t> ( que é o </a:t>
            </a:r>
            <a:r>
              <a:rPr lang="pt-BR" sz="2500" dirty="0">
                <a:solidFill>
                  <a:srgbClr val="FF0000"/>
                </a:solidFill>
              </a:rPr>
              <a:t>excesso</a:t>
            </a:r>
            <a:r>
              <a:rPr lang="pt-BR" sz="2500" dirty="0">
                <a:solidFill>
                  <a:schemeClr val="bg1"/>
                </a:solidFill>
              </a:rPr>
              <a:t>), a </a:t>
            </a:r>
            <a:r>
              <a:rPr lang="pt-BR" sz="2500" dirty="0">
                <a:solidFill>
                  <a:srgbClr val="FF0000"/>
                </a:solidFill>
              </a:rPr>
              <a:t>perseverança</a:t>
            </a:r>
            <a:r>
              <a:rPr lang="pt-BR" sz="2500" dirty="0">
                <a:solidFill>
                  <a:schemeClr val="bg1"/>
                </a:solidFill>
              </a:rPr>
              <a:t> é o </a:t>
            </a:r>
            <a:r>
              <a:rPr lang="pt-BR" sz="2500" dirty="0">
                <a:solidFill>
                  <a:srgbClr val="FF0000"/>
                </a:solidFill>
              </a:rPr>
              <a:t>meio termo</a:t>
            </a:r>
            <a:r>
              <a:rPr lang="pt-BR" sz="2500" dirty="0">
                <a:solidFill>
                  <a:schemeClr val="bg1"/>
                </a:solidFill>
              </a:rPr>
              <a:t> entre a </a:t>
            </a:r>
            <a:r>
              <a:rPr lang="pt-BR" sz="2500" dirty="0">
                <a:solidFill>
                  <a:srgbClr val="FF0000"/>
                </a:solidFill>
              </a:rPr>
              <a:t>fraqueza</a:t>
            </a:r>
            <a:r>
              <a:rPr lang="pt-BR" sz="2500" dirty="0">
                <a:solidFill>
                  <a:schemeClr val="bg1"/>
                </a:solidFill>
              </a:rPr>
              <a:t> de </a:t>
            </a:r>
            <a:r>
              <a:rPr lang="pt-BR" sz="2500" dirty="0">
                <a:solidFill>
                  <a:srgbClr val="FF0000"/>
                </a:solidFill>
              </a:rPr>
              <a:t>vontade</a:t>
            </a:r>
            <a:r>
              <a:rPr lang="pt-BR" sz="2500" dirty="0">
                <a:solidFill>
                  <a:schemeClr val="bg1"/>
                </a:solidFill>
              </a:rPr>
              <a:t> e a </a:t>
            </a:r>
            <a:r>
              <a:rPr lang="pt-BR" sz="2500" dirty="0">
                <a:solidFill>
                  <a:srgbClr val="FF0000"/>
                </a:solidFill>
              </a:rPr>
              <a:t>vontade</a:t>
            </a:r>
            <a:r>
              <a:rPr lang="pt-BR" sz="2500" dirty="0">
                <a:solidFill>
                  <a:schemeClr val="bg1"/>
                </a:solidFill>
              </a:rPr>
              <a:t> </a:t>
            </a:r>
            <a:r>
              <a:rPr lang="pt-BR" sz="2500" dirty="0">
                <a:solidFill>
                  <a:srgbClr val="FF0000"/>
                </a:solidFill>
              </a:rPr>
              <a:t>obsessiva</a:t>
            </a:r>
            <a:r>
              <a:rPr lang="pt-BR" sz="2500" dirty="0">
                <a:solidFill>
                  <a:schemeClr val="bg1"/>
                </a:solidFill>
              </a:rPr>
              <a:t>.</a:t>
            </a: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489D4F-278A-4CE5-8C40-8D0EDACDB649}" type="slidenum">
              <a:rPr lang="pt-BR" smtClean="0"/>
              <a:pPr/>
              <a:t>15</a:t>
            </a:fld>
            <a:endParaRPr lang="pt-BR" dirty="0"/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Orgânico">
  <a:themeElements>
    <a:clrScheme name="Verde">
      <a:dk1>
        <a:sysClr val="windowText" lastClr="000000"/>
      </a:dk1>
      <a:lt1>
        <a:sysClr val="window" lastClr="FFFFFF"/>
      </a:lt1>
      <a:dk2>
        <a:srgbClr val="455F51"/>
      </a:dk2>
      <a:lt2>
        <a:srgbClr val="E3DED1"/>
      </a:lt2>
      <a:accent1>
        <a:srgbClr val="549E39"/>
      </a:accent1>
      <a:accent2>
        <a:srgbClr val="8AB833"/>
      </a:accent2>
      <a:accent3>
        <a:srgbClr val="C0CF3A"/>
      </a:accent3>
      <a:accent4>
        <a:srgbClr val="029676"/>
      </a:accent4>
      <a:accent5>
        <a:srgbClr val="4AB5C4"/>
      </a:accent5>
      <a:accent6>
        <a:srgbClr val="0989B1"/>
      </a:accent6>
      <a:hlink>
        <a:srgbClr val="6B9F25"/>
      </a:hlink>
      <a:folHlink>
        <a:srgbClr val="BA6906"/>
      </a:folHlink>
    </a:clrScheme>
    <a:fontScheme name="Orgânico">
      <a:majorFont>
        <a:latin typeface="Garamond" panose="02020404030301010803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Garamond" panose="02020404030301010803"/>
        <a:ea typeface=""/>
        <a:cs typeface=""/>
        <a:font script="Jpan" typeface="ＭＳ Ｐ明朝"/>
        <a:font script="Hang" typeface="바탕"/>
        <a:font script="Hans" typeface="方正舒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Orgânico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2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shade val="74000"/>
                <a:satMod val="130000"/>
                <a:lumMod val="90000"/>
              </a:schemeClr>
              <a:schemeClr val="phClr">
                <a:tint val="94000"/>
                <a:satMod val="120000"/>
                <a:lumMod val="104000"/>
              </a:schemeClr>
            </a:duotone>
          </a:blip>
          <a:tile tx="0" ty="0" sx="100000" sy="100000" flip="none" algn="tl"/>
        </a:blipFill>
      </a:fillStyleLst>
      <a:lnStyleLst>
        <a:ln w="9525" cap="rnd" cmpd="sng" algn="ctr">
          <a:solidFill>
            <a:schemeClr val="phClr"/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38100" dist="254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88000"/>
                <a:lumMod val="98000"/>
              </a:schemeClr>
            </a:gs>
          </a:gsLst>
          <a:lin ang="5400000" scaled="0"/>
        </a:gradFill>
        <a:blipFill>
          <a:blip xmlns:r="http://schemas.openxmlformats.org/officeDocument/2006/relationships" r:embed="rId2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rganic" id="{28CDC826-8792-45C0-861B-85EB3ADEDA33}" vid="{E4E49EB0-FB00-41F5-9359-4843D783A23D}"/>
    </a:ext>
  </a:extLst>
</a:theme>
</file>

<file path=ppt/theme/theme2.xml><?xml version="1.0" encoding="utf-8"?>
<a:theme xmlns:a="http://schemas.openxmlformats.org/drawingml/2006/main" name="Tema do Office">
  <a:themeElements>
    <a:clrScheme name="Escritório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Escritório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Organic</Template>
  <TotalTime>249</TotalTime>
  <Words>1033</Words>
  <Application>Microsoft Office PowerPoint</Application>
  <PresentationFormat>Apresentação na tela (4:3)</PresentationFormat>
  <Paragraphs>77</Paragraphs>
  <Slides>15</Slides>
  <Notes>1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15</vt:i4>
      </vt:variant>
    </vt:vector>
  </HeadingPairs>
  <TitlesOfParts>
    <vt:vector size="19" baseType="lpstr">
      <vt:lpstr>Arial</vt:lpstr>
      <vt:lpstr>Calibri</vt:lpstr>
      <vt:lpstr>Garamond</vt:lpstr>
      <vt:lpstr>Orgânico</vt:lpstr>
      <vt:lpstr>A FILOSOFIA DE ARISTÓTELES (parte 2)</vt:lpstr>
      <vt:lpstr>Apresentação do PowerPoint</vt:lpstr>
      <vt:lpstr>A essência</vt:lpstr>
      <vt:lpstr>O hilemorfismo</vt:lpstr>
      <vt:lpstr>O hilemorfismo</vt:lpstr>
      <vt:lpstr>Ato e Potência</vt:lpstr>
      <vt:lpstr>Ato e Potência</vt:lpstr>
      <vt:lpstr>As Quatro Causas</vt:lpstr>
      <vt:lpstr>As Quatro Causas</vt:lpstr>
      <vt:lpstr>As Quatro Causas</vt:lpstr>
      <vt:lpstr>O animal Político</vt:lpstr>
      <vt:lpstr>As Formas de Governo</vt:lpstr>
      <vt:lpstr>As Formas de Governo</vt:lpstr>
      <vt:lpstr>A Vantagem da Democracia</vt:lpstr>
      <vt:lpstr>A Justa Medida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 FILOSOFIA DE ARISTÓTELES</dc:title>
  <dc:creator>Marcelo</dc:creator>
  <cp:lastModifiedBy>Elaine Zaleschi</cp:lastModifiedBy>
  <cp:revision>15</cp:revision>
  <dcterms:created xsi:type="dcterms:W3CDTF">2020-09-21T00:44:23Z</dcterms:created>
  <dcterms:modified xsi:type="dcterms:W3CDTF">2025-11-03T14:24:01Z</dcterms:modified>
</cp:coreProperties>
</file>