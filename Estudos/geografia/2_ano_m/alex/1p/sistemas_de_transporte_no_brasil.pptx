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sldIdLst>
    <p:sldId id="256" r:id="rId2"/>
    <p:sldId id="261" r:id="rId3"/>
    <p:sldId id="292" r:id="rId4"/>
    <p:sldId id="277" r:id="rId5"/>
    <p:sldId id="262" r:id="rId6"/>
    <p:sldId id="269" r:id="rId7"/>
    <p:sldId id="288" r:id="rId8"/>
    <p:sldId id="263" r:id="rId9"/>
    <p:sldId id="264" r:id="rId10"/>
    <p:sldId id="266" r:id="rId11"/>
    <p:sldId id="278" r:id="rId12"/>
    <p:sldId id="270" r:id="rId13"/>
    <p:sldId id="279" r:id="rId14"/>
    <p:sldId id="310" r:id="rId15"/>
    <p:sldId id="289" r:id="rId16"/>
    <p:sldId id="299" r:id="rId17"/>
    <p:sldId id="267" r:id="rId18"/>
    <p:sldId id="305" r:id="rId19"/>
    <p:sldId id="306" r:id="rId20"/>
    <p:sldId id="273" r:id="rId21"/>
    <p:sldId id="295" r:id="rId22"/>
    <p:sldId id="280" r:id="rId23"/>
    <p:sldId id="282" r:id="rId24"/>
    <p:sldId id="283" r:id="rId25"/>
    <p:sldId id="304" r:id="rId26"/>
    <p:sldId id="303" r:id="rId27"/>
    <p:sldId id="275" r:id="rId28"/>
    <p:sldId id="281" r:id="rId29"/>
    <p:sldId id="298" r:id="rId30"/>
    <p:sldId id="290" r:id="rId31"/>
    <p:sldId id="308" r:id="rId32"/>
    <p:sldId id="307" r:id="rId33"/>
    <p:sldId id="309" r:id="rId34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Times New Roman" panose="02020603050405020304" pitchFamily="18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Times New Roman" panose="02020603050405020304" pitchFamily="18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Times New Roman" panose="02020603050405020304" pitchFamily="18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Times New Roman" panose="02020603050405020304" pitchFamily="18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Times New Roman" panose="02020603050405020304" pitchFamily="18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Times New Roman" panose="02020603050405020304" pitchFamily="18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Times New Roman" panose="02020603050405020304" pitchFamily="18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8" autoAdjust="0"/>
    <p:restoredTop sz="94683" autoAdjust="0"/>
  </p:normalViewPr>
  <p:slideViewPr>
    <p:cSldViewPr>
      <p:cViewPr varScale="1">
        <p:scale>
          <a:sx n="53" d="100"/>
          <a:sy n="53" d="100"/>
        </p:scale>
        <p:origin x="1788" y="2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Rios" userId="69fc135ea1c70fd1" providerId="LiveId" clId="{EDAF6266-BA3D-4DCE-A57F-7AEA88DC3424}"/>
    <pc:docChg chg="delSld modSld">
      <pc:chgData name="Alex Rios" userId="69fc135ea1c70fd1" providerId="LiveId" clId="{EDAF6266-BA3D-4DCE-A57F-7AEA88DC3424}" dt="2026-01-25T22:23:50.521" v="1" actId="20577"/>
      <pc:docMkLst>
        <pc:docMk/>
      </pc:docMkLst>
      <pc:sldChg chg="del">
        <pc:chgData name="Alex Rios" userId="69fc135ea1c70fd1" providerId="LiveId" clId="{EDAF6266-BA3D-4DCE-A57F-7AEA88DC3424}" dt="2026-01-25T22:23:37.062" v="0" actId="2696"/>
        <pc:sldMkLst>
          <pc:docMk/>
          <pc:sldMk cId="0" sldId="286"/>
        </pc:sldMkLst>
      </pc:sldChg>
      <pc:sldChg chg="modSp mod">
        <pc:chgData name="Alex Rios" userId="69fc135ea1c70fd1" providerId="LiveId" clId="{EDAF6266-BA3D-4DCE-A57F-7AEA88DC3424}" dt="2026-01-25T22:23:50.521" v="1" actId="20577"/>
        <pc:sldMkLst>
          <pc:docMk/>
          <pc:sldMk cId="0" sldId="304"/>
        </pc:sldMkLst>
        <pc:spChg chg="mod">
          <ac:chgData name="Alex Rios" userId="69fc135ea1c70fd1" providerId="LiveId" clId="{EDAF6266-BA3D-4DCE-A57F-7AEA88DC3424}" dt="2026-01-25T22:23:50.521" v="1" actId="20577"/>
          <ac:spMkLst>
            <pc:docMk/>
            <pc:sldMk cId="0" sldId="304"/>
            <ac:spMk id="32771" creationId="{EA05B911-6EF6-4768-977F-19ECBCB88EB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6DCC1327-20B6-4706-BB5C-ECDBEC44C661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889250"/>
            <a:ext cx="8610600" cy="201613"/>
            <a:chOff x="144" y="1680"/>
            <a:chExt cx="5424" cy="144"/>
          </a:xfrm>
        </p:grpSpPr>
        <p:sp>
          <p:nvSpPr>
            <p:cNvPr id="5" name="Rectangle 8">
              <a:extLst>
                <a:ext uri="{FF2B5EF4-FFF2-40B4-BE49-F238E27FC236}">
                  <a16:creationId xmlns:a16="http://schemas.microsoft.com/office/drawing/2014/main" id="{752FC313-4907-40A6-9A85-157CC18023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0891C98F-B23C-44EC-B782-575984BAF42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  <p:sp>
          <p:nvSpPr>
            <p:cNvPr id="7" name="Rectangle 10">
              <a:extLst>
                <a:ext uri="{FF2B5EF4-FFF2-40B4-BE49-F238E27FC236}">
                  <a16:creationId xmlns:a16="http://schemas.microsoft.com/office/drawing/2014/main" id="{221A227F-F02B-4FF5-85D2-B2B9DB09BFF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</p:grpSp>
      <p:sp>
        <p:nvSpPr>
          <p:cNvPr id="1208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5800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0667A37-62F5-4977-B027-283E4990AB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07A16A-078F-4AF3-88B5-A29A04E3B2C6}" type="datetimeFigureOut">
              <a:rPr lang="pt-BR"/>
              <a:pPr>
                <a:defRPr/>
              </a:pPr>
              <a:t>25/01/2026</a:t>
            </a:fld>
            <a:endParaRPr lang="pt-BR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57B77C0A-5385-445A-AC97-44D2E216D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7FA692CE-F6AC-4165-B47A-50755EC946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2F23D58-7441-48C8-89AC-B19A4226160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67740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87ACD01-4DD1-44FE-A702-FA647FDFA6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470A80-2D4F-467E-8AC2-443BDE97DAC0}" type="datetimeFigureOut">
              <a:rPr lang="pt-BR"/>
              <a:pPr>
                <a:defRPr/>
              </a:pPr>
              <a:t>25/01/2026</a:t>
            </a:fld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DAE03D-0056-4D32-9C28-F82835537A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8DD6158-5F61-41C6-8B71-118F809AC5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95FB6A-7EC1-4CD8-AD60-4575C758A33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08249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FEDAD96-C9F8-47C9-911F-B81BFF449F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D9D5B8-1F20-45E2-80F8-4D2C74EC6F44}" type="datetimeFigureOut">
              <a:rPr lang="pt-BR"/>
              <a:pPr>
                <a:defRPr/>
              </a:pPr>
              <a:t>25/01/2026</a:t>
            </a:fld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392CAA-4AA8-479B-AE0B-4A28480EB0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3351EE7-1888-404C-8E11-7DD38AFBF0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15BB1F-AD11-4E00-9083-E3EA5E46704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97065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2F9B06-CF2A-43F5-ACF8-66086A2CA8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F22471-3663-4193-B419-449A068E9866}" type="datetimeFigureOut">
              <a:rPr lang="pt-BR"/>
              <a:pPr>
                <a:defRPr/>
              </a:pPr>
              <a:t>25/01/2026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C9411D-FFC9-4204-ACEF-197C1E1027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7008D4-D8C4-4D3A-8177-F494F12FA2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D9300C-152F-4F2C-B132-05F66CC2B51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00879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53038AC-8C0D-4624-B18F-F09F9991A1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F1E498-6EFE-448E-9D94-46FF4D5E8D2F}" type="datetimeFigureOut">
              <a:rPr lang="pt-BR"/>
              <a:pPr>
                <a:defRPr/>
              </a:pPr>
              <a:t>25/01/2026</a:t>
            </a:fld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1A1F16D-ED84-4B51-B7C5-A15A1307A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0938B75-14B9-4AE8-B363-AC7218820B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DC3712-5679-41F6-B1D2-873A864BB4E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65077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46A973D-7C6F-4CAD-8877-2551F668F9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0A2ED-1291-4547-9689-534EEE3E1F10}" type="datetimeFigureOut">
              <a:rPr lang="pt-BR"/>
              <a:pPr>
                <a:defRPr/>
              </a:pPr>
              <a:t>25/01/2026</a:t>
            </a:fld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7037DA1-4E32-4D5C-8D07-B0FA25A6D5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244F8CA-2715-4C91-8D9C-37F53C7297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BF5409-13CF-4390-A709-03D952FFAEA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09566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E8C9FDE-F2E7-44E0-8647-2D5CB29D90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EF631-15AF-451F-A286-8B50CE1D9D53}" type="datetimeFigureOut">
              <a:rPr lang="pt-BR"/>
              <a:pPr>
                <a:defRPr/>
              </a:pPr>
              <a:t>25/01/2026</a:t>
            </a:fld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E4CD65E-F1BF-43FF-9E99-D092C3D06A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2532599-89D5-41E8-999C-3656CC69D7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DF57DC-DE23-4EE1-95B8-0684E24F8F6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09560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3F6E9A-DCBC-48AC-88B8-14F6B2392B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593EC2-D77E-4F57-91F9-B9B07F1011C9}" type="datetimeFigureOut">
              <a:rPr lang="pt-BR"/>
              <a:pPr>
                <a:defRPr/>
              </a:pPr>
              <a:t>25/01/2026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308701-5E78-47CE-A2D0-106C40DFF1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91225-CC11-4B71-9E73-3C8DD536D9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0906F7-8340-469B-BE32-E61F0288337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23818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51A734-40CB-46E5-824B-F18D564C21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387B42-8526-49B1-BF21-21F8543DFE34}" type="datetimeFigureOut">
              <a:rPr lang="pt-BR"/>
              <a:pPr>
                <a:defRPr/>
              </a:pPr>
              <a:t>25/01/2026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F64BA6-D775-4419-8DBF-FA9D8FD4CD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EAAFA7-0B02-49CF-B114-12154B0B6D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BAB1EC-C934-47EF-8EB2-3E1F7AACF93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43176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70BAC84-95CD-400F-BB60-FA64F27F33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E19E4C-0DD2-4223-95B0-118D50084555}" type="datetimeFigureOut">
              <a:rPr lang="pt-BR"/>
              <a:pPr>
                <a:defRPr/>
              </a:pPr>
              <a:t>25/01/2026</a:t>
            </a:fld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D3BB40-32A6-481B-9FD0-E7D8CE3F14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A6BAC25-933A-4A5B-9382-0E3A429E68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0E8173-BAE4-4B23-A54F-CBF19FB479E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77486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99142A-C93F-4FB6-893D-117E9E7959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860585-9C8D-4444-8B96-2EEA16694C80}" type="datetimeFigureOut">
              <a:rPr lang="pt-BR"/>
              <a:pPr>
                <a:defRPr/>
              </a:pPr>
              <a:t>25/01/2026</a:t>
            </a:fld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6440847-BEE2-4513-BEB1-2116026E1D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083424A-DD2B-4AF1-8F94-B2D8CCDE53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AF7036-BE76-450E-B324-7A039DEFE4C3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052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B6D1346-BCDB-41DB-83C2-B6B49F58D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8453C84-5265-43A0-A323-CB3F5FB460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19812" name="Rectangle 4">
            <a:extLst>
              <a:ext uri="{FF2B5EF4-FFF2-40B4-BE49-F238E27FC236}">
                <a16:creationId xmlns:a16="http://schemas.microsoft.com/office/drawing/2014/main" id="{AB125ADA-7537-4B52-8AEC-517514FD18F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pPr>
              <a:defRPr/>
            </a:pPr>
            <a:fld id="{083A83C3-3E3C-4769-AD4E-0C31E4F5776C}" type="datetimeFigureOut">
              <a:rPr lang="pt-BR"/>
              <a:pPr>
                <a:defRPr/>
              </a:pPr>
              <a:t>25/01/2026</a:t>
            </a:fld>
            <a:endParaRPr lang="pt-BR"/>
          </a:p>
        </p:txBody>
      </p:sp>
      <p:sp>
        <p:nvSpPr>
          <p:cNvPr id="119813" name="Rectangle 5">
            <a:extLst>
              <a:ext uri="{FF2B5EF4-FFF2-40B4-BE49-F238E27FC236}">
                <a16:creationId xmlns:a16="http://schemas.microsoft.com/office/drawing/2014/main" id="{540044B6-E6AE-4572-9712-883433E7AB7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19814" name="Rectangle 6">
            <a:extLst>
              <a:ext uri="{FF2B5EF4-FFF2-40B4-BE49-F238E27FC236}">
                <a16:creationId xmlns:a16="http://schemas.microsoft.com/office/drawing/2014/main" id="{E937A22F-BA26-4C3C-B28F-FC0FEE439EF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2CBF6AC1-754F-417F-97F3-168355F76ACA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A02B10E-BFA7-49DD-B981-A00BDC150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endParaRPr lang="pt-BR" altLang="pt-BR" sz="2400">
              <a:latin typeface="Times New Roman" panose="02020603050405020304" pitchFamily="18" charset="0"/>
            </a:endParaRPr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0DA367A0-B7CB-46E8-BFFA-7667633088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44780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9FFAB12E-CB46-42ED-832B-80CE31EE4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endParaRPr lang="pt-BR" altLang="pt-BR" sz="2400">
              <a:latin typeface="Times New Roman" panose="02020603050405020304" pitchFamily="18" charset="0"/>
            </a:endParaRP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257FA3B9-B5E3-4F74-B764-69E7AF333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endParaRPr lang="pt-BR" altLang="pt-BR" sz="24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7" r:id="rId1"/>
    <p:sldLayoutId id="2147484067" r:id="rId2"/>
    <p:sldLayoutId id="2147484068" r:id="rId3"/>
    <p:sldLayoutId id="2147484069" r:id="rId4"/>
    <p:sldLayoutId id="2147484070" r:id="rId5"/>
    <p:sldLayoutId id="2147484071" r:id="rId6"/>
    <p:sldLayoutId id="2147484072" r:id="rId7"/>
    <p:sldLayoutId id="2147484073" r:id="rId8"/>
    <p:sldLayoutId id="2147484074" r:id="rId9"/>
    <p:sldLayoutId id="2147484075" r:id="rId10"/>
    <p:sldLayoutId id="214748407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7275F46-2A4F-4E56-A6E7-CAA42B31C4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1680" y="277813"/>
            <a:ext cx="6995120" cy="1139825"/>
          </a:xfrm>
        </p:spPr>
        <p:txBody>
          <a:bodyPr anchor="ctr"/>
          <a:lstStyle/>
          <a:p>
            <a:pPr eaLnBrk="1" hangingPunct="1"/>
            <a:r>
              <a:rPr lang="pt-BR" altLang="pt-BR" sz="5000" dirty="0"/>
              <a:t>Transportes no Brasil</a:t>
            </a:r>
          </a:p>
        </p:txBody>
      </p:sp>
      <p:pic>
        <p:nvPicPr>
          <p:cNvPr id="3076" name="Picture 4" descr="Transportes no Brasil - Enciclopédia Global™">
            <a:extLst>
              <a:ext uri="{FF2B5EF4-FFF2-40B4-BE49-F238E27FC236}">
                <a16:creationId xmlns:a16="http://schemas.microsoft.com/office/drawing/2014/main" id="{657D9EE0-9D40-45CB-B4AA-474D85FAA96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600199"/>
            <a:ext cx="5112567" cy="5112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830C0CA-B43C-4DA0-BD9E-2C047103C54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/>
              <a:t>Sistema de transportes no Brasil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4360D16-5AC3-4745-B45C-FFFFDEA07C7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Char char="ü"/>
              <a:defRPr/>
            </a:pPr>
            <a:r>
              <a:rPr lang="pt-BR" altLang="pt-BR" sz="2000" dirty="0"/>
              <a:t>Historicamente: rede de transportes voltada à exportação, com pouca integração do território brasileiro.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Char char="ü"/>
              <a:defRPr/>
            </a:pPr>
            <a:endParaRPr lang="pt-BR" altLang="pt-BR" sz="2000" dirty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Char char="ü"/>
              <a:defRPr/>
            </a:pPr>
            <a:r>
              <a:rPr lang="pt-BR" altLang="pt-BR" sz="2000" dirty="0"/>
              <a:t>As dificuldades de integração aumentam em função das dimensões continentais do território brasileiro, o que evidencia a necessidade de ampliar a multimodalidade.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Char char="ü"/>
              <a:defRPr/>
            </a:pPr>
            <a:endParaRPr lang="pt-BR" altLang="pt-BR" sz="2000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pt-BR" altLang="pt-BR" sz="22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  <a:defRPr/>
            </a:pPr>
            <a:endParaRPr lang="pt-BR" altLang="pt-BR" sz="22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  <a:defRPr/>
            </a:pPr>
            <a:endParaRPr lang="pt-BR" altLang="pt-BR" sz="22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  <a:defRPr/>
            </a:pPr>
            <a:endParaRPr lang="pt-BR" altLang="pt-BR" sz="22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pt-BR" altLang="pt-BR" sz="22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  <a:defRPr/>
            </a:pPr>
            <a:endParaRPr lang="pt-BR" altLang="pt-BR" sz="22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pt-BR" altLang="pt-BR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8C1CE59-0492-459F-9674-6BE67534C1D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/>
              <a:t>Sistema de transportes no Brasil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25ED882-A5B2-45DB-A4C3-662CA0547ED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pt-BR" altLang="pt-BR" sz="2200"/>
              <a:t>Composição do transporte de cargas no Brasil: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 sz="22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 sz="22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endParaRPr lang="pt-BR" altLang="pt-BR" sz="22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endParaRPr lang="pt-BR" altLang="pt-BR" sz="22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endParaRPr lang="pt-BR" altLang="pt-BR" sz="22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 sz="22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endParaRPr lang="pt-BR" altLang="pt-BR" sz="22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 sz="2200"/>
          </a:p>
        </p:txBody>
      </p:sp>
      <p:pic>
        <p:nvPicPr>
          <p:cNvPr id="8196" name="Imagem 3">
            <a:extLst>
              <a:ext uri="{FF2B5EF4-FFF2-40B4-BE49-F238E27FC236}">
                <a16:creationId xmlns:a16="http://schemas.microsoft.com/office/drawing/2014/main" id="{AC81169C-48BA-40D6-BFBA-D933B0ABCE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357438"/>
            <a:ext cx="6610350" cy="326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5BD6B0F-8396-437E-B737-433CC91BE11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/>
              <a:t>Sistema de transportes no Brasil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E6C0526-9CC2-4813-A8EB-72C7251FC7D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lvl="1" indent="-220663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 sz="2000" dirty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pt-BR" altLang="pt-BR" sz="2200" dirty="0"/>
              <a:t>Sistema tem como base o transporte rodoviário, ao contrário dos demais países de grande extensão territorial.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endParaRPr lang="pt-BR" altLang="pt-BR" sz="2200" dirty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pt-BR" altLang="pt-BR" sz="2200" dirty="0"/>
              <a:t>Vantagens: maior flexibilidade, transporte porta a porta, custo de construção.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pt-BR" altLang="pt-BR" sz="2200" dirty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pt-BR" altLang="pt-BR" sz="2200" dirty="0"/>
              <a:t>Desvantagens: custo do frete, maior emissão de poluentes, menor segurança.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pt-BR" altLang="pt-BR" sz="22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endParaRPr lang="pt-BR" altLang="pt-BR" sz="22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endParaRPr lang="pt-BR" altLang="pt-BR" sz="22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endParaRPr lang="pt-BR" altLang="pt-BR" sz="22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 sz="22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endParaRPr lang="pt-BR" altLang="pt-BR" sz="22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EF78F24-2AC5-496C-807B-AA095FF3630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/>
              <a:t>Transporte rodoviário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82AA69B-8E10-4DCB-B7C6-71D57A3E7D5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852988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Char char="ü"/>
            </a:pPr>
            <a:r>
              <a:rPr lang="pt-BR" altLang="pt-BR" sz="2200"/>
              <a:t>Rodovias: cerca de 61% das cargas transportadas. Extensão total: cerca de 1.735.000 Km.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pt-BR" altLang="pt-BR" sz="2200"/>
          </a:p>
          <a:p>
            <a:pPr algn="just" eaLnBrk="1" hangingPunct="1">
              <a:buFont typeface="Wingdings" panose="05000000000000000000" pitchFamily="2" charset="2"/>
              <a:buChar char="ü"/>
            </a:pPr>
            <a:r>
              <a:rPr lang="pt-BR" altLang="pt-BR" sz="2200"/>
              <a:t>Etapas da implantação das rodovias: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pt-BR" altLang="pt-BR" sz="2200"/>
          </a:p>
          <a:p>
            <a:pPr lvl="1" indent="-220663" algn="just" eaLnBrk="1" hangingPunct="1">
              <a:buFont typeface="Wingdings" panose="05000000000000000000" pitchFamily="2" charset="2"/>
              <a:buChar char="ü"/>
            </a:pPr>
            <a:r>
              <a:rPr lang="pt-BR" altLang="pt-BR" sz="2000"/>
              <a:t>Washington Luís: “Governar é abrir estradas”;</a:t>
            </a:r>
          </a:p>
          <a:p>
            <a:pPr lvl="1" indent="-220663" algn="just" eaLnBrk="1" hangingPunct="1">
              <a:buFont typeface="Wingdings" panose="05000000000000000000" pitchFamily="2" charset="2"/>
              <a:buChar char="ü"/>
            </a:pPr>
            <a:r>
              <a:rPr lang="pt-BR" altLang="pt-BR" sz="2000"/>
              <a:t>Integração regional (governo Vargas);</a:t>
            </a:r>
          </a:p>
          <a:p>
            <a:pPr lvl="1" indent="-220663" algn="just" eaLnBrk="1" hangingPunct="1">
              <a:buFont typeface="Wingdings" panose="05000000000000000000" pitchFamily="2" charset="2"/>
              <a:buChar char="ü"/>
            </a:pPr>
            <a:r>
              <a:rPr lang="pt-BR" altLang="pt-BR" sz="2000"/>
              <a:t>Expansão da malha (governo JK);</a:t>
            </a:r>
          </a:p>
          <a:p>
            <a:pPr lvl="1" indent="-220663" algn="just" eaLnBrk="1" hangingPunct="1">
              <a:buFont typeface="Wingdings" panose="05000000000000000000" pitchFamily="2" charset="2"/>
              <a:buChar char="ü"/>
            </a:pPr>
            <a:r>
              <a:rPr lang="pt-BR" altLang="pt-BR" sz="2000"/>
              <a:t>Segurança nacional (governos militares): base da ocupação espacial do país </a:t>
            </a:r>
            <a:r>
              <a:rPr lang="pt-BR" altLang="pt-BR" sz="2000">
                <a:sym typeface="Wingdings" panose="05000000000000000000" pitchFamily="2" charset="2"/>
              </a:rPr>
              <a:t>construção de grandes rodovias e ocupação de suas margens.</a:t>
            </a:r>
          </a:p>
          <a:p>
            <a:pPr lvl="1" indent="-220663" algn="just" eaLnBrk="1" hangingPunct="1">
              <a:buFont typeface="Wingdings" panose="05000000000000000000" pitchFamily="2" charset="2"/>
              <a:buChar char="ü"/>
            </a:pPr>
            <a:r>
              <a:rPr lang="pt-BR" altLang="pt-BR" sz="2000">
                <a:sym typeface="Wingdings" panose="05000000000000000000" pitchFamily="2" charset="2"/>
              </a:rPr>
              <a:t>Anos 1990: concessões.</a:t>
            </a:r>
          </a:p>
          <a:p>
            <a:pPr lvl="1" indent="-220663" algn="just" eaLnBrk="1" hangingPunct="1">
              <a:buFont typeface="Wingdings" panose="05000000000000000000" pitchFamily="2" charset="2"/>
              <a:buNone/>
            </a:pPr>
            <a:endParaRPr lang="pt-BR" altLang="pt-BR" sz="200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A995EF5-E47F-4796-99CC-6C7BC850A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3050"/>
            <a:ext cx="8147050" cy="1162050"/>
          </a:xfrm>
        </p:spPr>
        <p:txBody>
          <a:bodyPr anchor="ctr"/>
          <a:lstStyle/>
          <a:p>
            <a:pPr eaLnBrk="1" hangingPunct="1"/>
            <a:r>
              <a:rPr lang="pt-BR" altLang="pt-BR" sz="3200" b="0"/>
              <a:t>Transporte rodoviário</a:t>
            </a:r>
          </a:p>
        </p:txBody>
      </p:sp>
      <p:pic>
        <p:nvPicPr>
          <p:cNvPr id="10243" name="Espaço Reservado para Conteúdo 7">
            <a:extLst>
              <a:ext uri="{FF2B5EF4-FFF2-40B4-BE49-F238E27FC236}">
                <a16:creationId xmlns:a16="http://schemas.microsoft.com/office/drawing/2014/main" id="{AB575F3A-ECCB-4353-B7B5-57605904CCF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1050" y="1484313"/>
            <a:ext cx="5086350" cy="5373687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D6B9CB1-86E3-495F-A593-04EADE6A36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3050"/>
            <a:ext cx="8075613" cy="1162050"/>
          </a:xfrm>
        </p:spPr>
        <p:txBody>
          <a:bodyPr anchor="ctr"/>
          <a:lstStyle/>
          <a:p>
            <a:pPr eaLnBrk="1" hangingPunct="1"/>
            <a:r>
              <a:rPr lang="pt-BR" altLang="pt-BR" sz="3200" b="0"/>
              <a:t>Transporte rodoviário</a:t>
            </a:r>
          </a:p>
        </p:txBody>
      </p:sp>
      <p:sp>
        <p:nvSpPr>
          <p:cNvPr id="11268" name="Espaço Reservado para Texto 6">
            <a:extLst>
              <a:ext uri="{FF2B5EF4-FFF2-40B4-BE49-F238E27FC236}">
                <a16:creationId xmlns:a16="http://schemas.microsoft.com/office/drawing/2014/main" id="{5296F553-9C1E-4E92-B6F4-79F7AB67532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1928370" y="6032500"/>
            <a:ext cx="5051425" cy="552450"/>
          </a:xfrm>
        </p:spPr>
        <p:txBody>
          <a:bodyPr/>
          <a:lstStyle/>
          <a:p>
            <a:r>
              <a:rPr lang="pt-BR" altLang="pt-BR" dirty="0"/>
              <a:t>BR-163</a:t>
            </a:r>
          </a:p>
        </p:txBody>
      </p:sp>
      <p:pic>
        <p:nvPicPr>
          <p:cNvPr id="11270" name="Picture 6" descr="Ministério da Infraestrutura aprova estudos para concessão de trechos da BR- 163 no Pará | Pará | G1">
            <a:extLst>
              <a:ext uri="{FF2B5EF4-FFF2-40B4-BE49-F238E27FC236}">
                <a16:creationId xmlns:a16="http://schemas.microsoft.com/office/drawing/2014/main" id="{DC8355EB-3BB4-493C-9099-DD79690868F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131" y="1772816"/>
            <a:ext cx="5956910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C2D0AEC-B698-401A-B9FC-7C9E07EB7FB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/>
              <a:t>Transporte ferroviário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92A229D-F06B-4F8E-81C5-D2E1941CFEA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5068888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Char char=""/>
            </a:pPr>
            <a:r>
              <a:rPr lang="pt-BR" altLang="pt-BR" sz="2200" dirty="0"/>
              <a:t>Ferrovias: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pt-BR" altLang="pt-BR" sz="2200" dirty="0"/>
          </a:p>
          <a:p>
            <a:pPr lvl="1" indent="-220663" algn="just" eaLnBrk="1" hangingPunct="1">
              <a:buFont typeface="Wingdings" panose="05000000000000000000" pitchFamily="2" charset="2"/>
              <a:buChar char="ü"/>
            </a:pPr>
            <a:r>
              <a:rPr lang="pt-BR" altLang="pt-BR" sz="1900" dirty="0"/>
              <a:t>Maior capacidade de carga;</a:t>
            </a:r>
          </a:p>
          <a:p>
            <a:pPr lvl="1" indent="-220663" algn="just" eaLnBrk="1" hangingPunct="1">
              <a:buFont typeface="Wingdings" panose="05000000000000000000" pitchFamily="2" charset="2"/>
              <a:buChar char="ü"/>
            </a:pPr>
            <a:r>
              <a:rPr lang="pt-BR" altLang="pt-BR" sz="1900" dirty="0"/>
              <a:t>Maior segurança e menor emissão de poluentes;</a:t>
            </a:r>
          </a:p>
          <a:p>
            <a:pPr lvl="1" indent="-220663" algn="just" eaLnBrk="1" hangingPunct="1">
              <a:buFont typeface="Wingdings" panose="05000000000000000000" pitchFamily="2" charset="2"/>
              <a:buChar char="ü"/>
            </a:pPr>
            <a:r>
              <a:rPr lang="pt-BR" altLang="pt-BR" sz="1900" dirty="0">
                <a:sym typeface="Wingdings" panose="05000000000000000000" pitchFamily="2" charset="2"/>
              </a:rPr>
              <a:t>Custo de instalação maior (com prazo de instalação também maior) e custo de manutenção menor;</a:t>
            </a:r>
          </a:p>
          <a:p>
            <a:pPr lvl="1" indent="-220663" algn="just" eaLnBrk="1" hangingPunct="1">
              <a:buFont typeface="Wingdings" panose="05000000000000000000" pitchFamily="2" charset="2"/>
              <a:buChar char="ü"/>
            </a:pPr>
            <a:r>
              <a:rPr lang="pt-BR" altLang="pt-BR" sz="1900" dirty="0">
                <a:sym typeface="Wingdings" panose="05000000000000000000" pitchFamily="2" charset="2"/>
              </a:rPr>
              <a:t>Pouca flexibilidade de rotas e menor agilidade na manipulação de cargas.</a:t>
            </a:r>
          </a:p>
          <a:p>
            <a:pPr lvl="1" indent="-220663" algn="just" eaLnBrk="1" hangingPunct="1">
              <a:buFont typeface="Wingdings" panose="05000000000000000000" pitchFamily="2" charset="2"/>
              <a:buNone/>
            </a:pPr>
            <a:endParaRPr lang="pt-BR" altLang="pt-BR" sz="1900" dirty="0"/>
          </a:p>
          <a:p>
            <a:pPr algn="just" eaLnBrk="1" hangingPunct="1">
              <a:buFont typeface="Wingdings" panose="05000000000000000000" pitchFamily="2" charset="2"/>
              <a:buChar char="ü"/>
            </a:pPr>
            <a:r>
              <a:rPr lang="pt-BR" altLang="pt-BR" sz="1900" dirty="0"/>
              <a:t>Malha ferroviária brasileira é pouco extensa comparada à de outros países. Foi o principal meio de transporte no país até meados do século XX.</a:t>
            </a:r>
          </a:p>
          <a:p>
            <a:pPr algn="just" eaLnBrk="1" hangingPunct="1">
              <a:buFont typeface="Wingdings" panose="05000000000000000000" pitchFamily="2" charset="2"/>
              <a:buChar char="ü"/>
            </a:pPr>
            <a:r>
              <a:rPr lang="pt-BR" altLang="pt-BR" sz="1900" dirty="0"/>
              <a:t>Algumas das principais ferrovias: Estrada de Ferro Carajás, Estrada de Ferro Vitória-Minas, Transnordestina, Transcontinental, Ferrovia Norte-Sul.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358DA1B-44C6-4B00-8D7F-D7B16AA4CD8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/>
              <a:t>Transporte ferroviário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D4BB22C-1C7D-4F7A-96E0-1AC05D8139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852988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Char char=""/>
            </a:pPr>
            <a:r>
              <a:rPr lang="pt-BR" altLang="pt-BR" sz="2000"/>
              <a:t>Anos 1950 (JK): Plano de Metas previa a modernização da malha ferroviária. O que ocorreu: as ferrovias em péssimo estado foram desativadas e não foram construídas outras novas.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pt-BR" altLang="pt-BR" sz="2000"/>
          </a:p>
          <a:p>
            <a:pPr algn="just" eaLnBrk="1" hangingPunct="1">
              <a:buFont typeface="Wingdings" panose="05000000000000000000" pitchFamily="2" charset="2"/>
              <a:buChar char="ü"/>
            </a:pPr>
            <a:r>
              <a:rPr lang="pt-BR" altLang="pt-BR" sz="2000"/>
              <a:t>Anos 1980: construção de ferrovias por empresas mineradoras para o transporte de minérios. 1/3 das atuais ferrovias do país pertencem à Vale.</a:t>
            </a:r>
          </a:p>
          <a:p>
            <a:pPr algn="just" eaLnBrk="1" hangingPunct="1">
              <a:buFont typeface="Wingdings" panose="05000000000000000000" pitchFamily="2" charset="2"/>
              <a:buChar char="ü"/>
            </a:pPr>
            <a:endParaRPr lang="pt-BR" altLang="pt-BR" sz="2000"/>
          </a:p>
          <a:p>
            <a:pPr algn="just" eaLnBrk="1" hangingPunct="1">
              <a:buFont typeface="Wingdings" panose="05000000000000000000" pitchFamily="2" charset="2"/>
              <a:buChar char="ü"/>
            </a:pPr>
            <a:r>
              <a:rPr lang="pt-BR" altLang="pt-BR" sz="2000"/>
              <a:t>Atualmente, responde por cerca de 20% do volume de carga transportada no Brasil. São 29.706 Km de ferrovias.</a:t>
            </a:r>
          </a:p>
          <a:p>
            <a:pPr algn="just" eaLnBrk="1" hangingPunct="1">
              <a:buFont typeface="Wingdings" panose="05000000000000000000" pitchFamily="2" charset="2"/>
              <a:buChar char="ü"/>
            </a:pPr>
            <a:endParaRPr lang="pt-BR" altLang="pt-BR" sz="2000"/>
          </a:p>
          <a:p>
            <a:pPr algn="just" eaLnBrk="1" hangingPunct="1">
              <a:buFont typeface="Wingdings" panose="05000000000000000000" pitchFamily="2" charset="2"/>
              <a:buChar char="ü"/>
            </a:pPr>
            <a:r>
              <a:rPr lang="pt-BR" altLang="pt-BR" sz="2000"/>
              <a:t>O maior volume de passageiros trafega nos sistemas de transporte metropolitanos, de curta distância.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00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1B6B49E-9B97-4D86-8AEC-7062D3752C0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/>
              <a:t>Transporte ferroviário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5DA792D-48B0-4E80-9D38-6EFC851A03D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Char char=""/>
            </a:pPr>
            <a:r>
              <a:rPr lang="pt-BR" altLang="pt-BR" sz="2200"/>
              <a:t>Privatização das ferrovias: início em 1996. Retomada do plano em 2019.</a:t>
            </a:r>
          </a:p>
          <a:p>
            <a:pPr algn="just" eaLnBrk="1" hangingPunct="1">
              <a:buFont typeface="Wingdings" panose="05000000000000000000" pitchFamily="2" charset="2"/>
              <a:buChar char=""/>
            </a:pPr>
            <a:endParaRPr lang="pt-BR" altLang="pt-BR" sz="2200"/>
          </a:p>
          <a:p>
            <a:pPr algn="just" eaLnBrk="1" hangingPunct="1">
              <a:buFont typeface="Wingdings" panose="05000000000000000000" pitchFamily="2" charset="2"/>
              <a:buChar char=""/>
            </a:pPr>
            <a:r>
              <a:rPr lang="pt-BR" altLang="pt-BR" sz="2200"/>
              <a:t>Antes da privatização, eram administradas por 3 estatais: Fepasa (estado de São Paulo), Cia. Vale do Rio Doce (transporte de minérios) e RFFSA (demais ferrovias).</a:t>
            </a:r>
          </a:p>
          <a:p>
            <a:pPr algn="just" eaLnBrk="1" hangingPunct="1">
              <a:buFont typeface="Wingdings" panose="05000000000000000000" pitchFamily="2" charset="2"/>
              <a:buChar char=""/>
            </a:pPr>
            <a:endParaRPr lang="pt-BR" altLang="pt-BR" sz="2200"/>
          </a:p>
          <a:p>
            <a:pPr algn="just" eaLnBrk="1" hangingPunct="1">
              <a:buFont typeface="Wingdings" panose="05000000000000000000" pitchFamily="2" charset="2"/>
              <a:buChar char=""/>
            </a:pPr>
            <a:r>
              <a:rPr lang="pt-BR" altLang="pt-BR" sz="2200"/>
              <a:t>Modelo de privatização: concessão por 30 anos (mediante aluguel).</a:t>
            </a:r>
          </a:p>
          <a:p>
            <a:pPr algn="just" eaLnBrk="1" hangingPunct="1">
              <a:buFont typeface="Wingdings" panose="05000000000000000000" pitchFamily="2" charset="2"/>
              <a:buChar char=""/>
            </a:pPr>
            <a:endParaRPr lang="pt-BR" altLang="pt-BR" sz="2200"/>
          </a:p>
          <a:p>
            <a:pPr algn="just" eaLnBrk="1" hangingPunct="1">
              <a:buFont typeface="Wingdings" panose="05000000000000000000" pitchFamily="2" charset="2"/>
              <a:buChar char=""/>
            </a:pPr>
            <a:r>
              <a:rPr lang="pt-BR" altLang="pt-BR" sz="2200"/>
              <a:t>Ocorreu modernização das ferrovias, aumento do volume transportado e diversificação das cargas, mas sem ampliação da malha.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21AC8BA-B44A-4837-AD42-FF78B6D9E9B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/>
              <a:t>Transporte ferroviário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985B85F-65D2-451D-BBC2-4840F0284CA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C067186-C860-4147-B11A-D2277CF4E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942" y="1588938"/>
            <a:ext cx="5936401" cy="52164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4B7AA5CD-99AF-4C26-8D86-DD3083C3FE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/>
              <a:t>Transporte ferroviário: Ferrovia Norte-Sul</a:t>
            </a:r>
          </a:p>
        </p:txBody>
      </p:sp>
      <p:pic>
        <p:nvPicPr>
          <p:cNvPr id="16387" name="Espaço Reservado para Conteúdo 5">
            <a:extLst>
              <a:ext uri="{FF2B5EF4-FFF2-40B4-BE49-F238E27FC236}">
                <a16:creationId xmlns:a16="http://schemas.microsoft.com/office/drawing/2014/main" id="{0ABCEFAE-DB68-48A8-BAAE-9F08835D0F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6488" y="1600200"/>
            <a:ext cx="7535862" cy="4924425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DB25C15-2848-4ED5-9BE9-1CE32D7CDE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 dirty="0"/>
              <a:t>Transporte ferroviário: </a:t>
            </a:r>
            <a:r>
              <a:rPr lang="pt-BR" altLang="pt-BR" sz="3200" dirty="0" err="1"/>
              <a:t>Ferronorte</a:t>
            </a:r>
            <a:r>
              <a:rPr lang="pt-BR" altLang="pt-BR" sz="3200" dirty="0"/>
              <a:t> e expansão</a:t>
            </a:r>
          </a:p>
        </p:txBody>
      </p:sp>
      <p:pic>
        <p:nvPicPr>
          <p:cNvPr id="1026" name="Picture 2" descr="Rumo firma contrato para construir ferrovia no Mato Grosso de 730 km |  Empresas | Valor Econômico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141" y="1600200"/>
            <a:ext cx="5457389" cy="5069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DB25C15-2848-4ED5-9BE9-1CE32D7CDE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/>
              <a:t>Transporte ferroviário: Ferrovia Transnordestina</a:t>
            </a:r>
          </a:p>
        </p:txBody>
      </p:sp>
      <p:pic>
        <p:nvPicPr>
          <p:cNvPr id="17411" name="Picture 5" descr="Mapa mostra o que já foi executado da Transnordestina (Foto: Arte/G1)">
            <a:extLst>
              <a:ext uri="{FF2B5EF4-FFF2-40B4-BE49-F238E27FC236}">
                <a16:creationId xmlns:a16="http://schemas.microsoft.com/office/drawing/2014/main" id="{8868CD9D-98B5-42E9-B374-7C14FF5510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84438" y="1539875"/>
            <a:ext cx="3816350" cy="5135563"/>
          </a:xfrm>
          <a:noFill/>
        </p:spPr>
      </p:pic>
    </p:spTree>
    <p:extLst>
      <p:ext uri="{BB962C8B-B14F-4D97-AF65-F5344CB8AC3E}">
        <p14:creationId xmlns:p14="http://schemas.microsoft.com/office/powerpoint/2010/main" val="2153577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EA5B118-AFD6-4C2C-B94F-33D5F21DE4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/>
              <a:t>Transporte ferroviário: Ferrovia Transoceânica</a:t>
            </a:r>
          </a:p>
        </p:txBody>
      </p:sp>
      <p:pic>
        <p:nvPicPr>
          <p:cNvPr id="18435" name="Picture 5" descr="Resultado de imagem para ferrovia transcontinental brasil peru china">
            <a:extLst>
              <a:ext uri="{FF2B5EF4-FFF2-40B4-BE49-F238E27FC236}">
                <a16:creationId xmlns:a16="http://schemas.microsoft.com/office/drawing/2014/main" id="{F9AE7B03-3052-4481-830E-621F382F56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63700" y="1600200"/>
            <a:ext cx="6580188" cy="5126038"/>
          </a:xfr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6F7B262-8DF7-4B80-ACB2-6D8DD68AEB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/>
              <a:t>IIRSA</a:t>
            </a:r>
          </a:p>
        </p:txBody>
      </p:sp>
      <p:pic>
        <p:nvPicPr>
          <p:cNvPr id="19459" name="Picture 7" descr="Resultado de imagem para iirsa">
            <a:extLst>
              <a:ext uri="{FF2B5EF4-FFF2-40B4-BE49-F238E27FC236}">
                <a16:creationId xmlns:a16="http://schemas.microsoft.com/office/drawing/2014/main" id="{C9052AD5-252F-44D8-9F31-847308FAAE2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27275" y="1600200"/>
            <a:ext cx="4981575" cy="5026025"/>
          </a:xfr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79E5A3C-8ED1-4B88-A95A-4248B42A09D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/>
              <a:t>Transporte hidroviário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65C3B96-C931-455C-B647-0507EFEA931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Char char=""/>
            </a:pPr>
            <a:r>
              <a:rPr lang="pt-BR" altLang="pt-BR" sz="2200"/>
              <a:t>Responde por cerca de 13% da carga transportada no país.</a:t>
            </a:r>
          </a:p>
          <a:p>
            <a:pPr algn="just" eaLnBrk="1" hangingPunct="1">
              <a:buFont typeface="Wingdings" panose="05000000000000000000" pitchFamily="2" charset="2"/>
              <a:buChar char=""/>
            </a:pPr>
            <a:endParaRPr lang="pt-BR" altLang="pt-BR" sz="2200"/>
          </a:p>
          <a:p>
            <a:pPr algn="just" eaLnBrk="1" hangingPunct="1">
              <a:buFont typeface="Wingdings" panose="05000000000000000000" pitchFamily="2" charset="2"/>
              <a:buChar char=""/>
            </a:pPr>
            <a:r>
              <a:rPr lang="pt-BR" altLang="pt-BR" sz="2200"/>
              <a:t>Principais hidrovias: Paraná-Paraguai (minério de ferro, grãos e fertilizantes) e Tietê-Paraná (grãos), integradas à rede de transporte do Mercosul. </a:t>
            </a:r>
          </a:p>
          <a:p>
            <a:pPr algn="just" eaLnBrk="1" hangingPunct="1">
              <a:buFont typeface="Wingdings" panose="05000000000000000000" pitchFamily="2" charset="2"/>
              <a:buChar char=""/>
            </a:pPr>
            <a:endParaRPr lang="pt-BR" altLang="pt-BR" sz="2200"/>
          </a:p>
          <a:p>
            <a:pPr algn="just" eaLnBrk="1" hangingPunct="1">
              <a:buFont typeface="Wingdings" panose="05000000000000000000" pitchFamily="2" charset="2"/>
              <a:buChar char=""/>
            </a:pPr>
            <a:r>
              <a:rPr lang="pt-BR" altLang="pt-BR" sz="2200"/>
              <a:t>Hidrovia Araguaia-Tocantins: escoamento de parte da produção agrícola do Centro-Oeste.</a:t>
            </a:r>
          </a:p>
          <a:p>
            <a:pPr algn="just" eaLnBrk="1" hangingPunct="1">
              <a:buFont typeface="Wingdings" panose="05000000000000000000" pitchFamily="2" charset="2"/>
              <a:buChar char=""/>
            </a:pPr>
            <a:endParaRPr lang="pt-BR" altLang="pt-BR" sz="2200"/>
          </a:p>
          <a:p>
            <a:pPr algn="just" eaLnBrk="1" hangingPunct="1">
              <a:buFont typeface="Wingdings" panose="05000000000000000000" pitchFamily="2" charset="2"/>
              <a:buChar char=""/>
            </a:pPr>
            <a:r>
              <a:rPr lang="pt-BR" altLang="pt-BR" sz="2200"/>
              <a:t>Obras necessárias (região Sudeste): instalação de eclusas e alargamento de trechos dos rios.</a:t>
            </a:r>
          </a:p>
          <a:p>
            <a:pPr eaLnBrk="1" hangingPunct="1">
              <a:buFont typeface="Wingdings" panose="05000000000000000000" pitchFamily="2" charset="2"/>
              <a:buChar char=""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8596323-EC0E-4215-8D72-DDD23AB5C18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/>
              <a:t>Transporte hidroviário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EC3037C-6D1A-43C8-9BD6-B3C3E2B3B3B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979988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Char char=""/>
              <a:defRPr/>
            </a:pPr>
            <a:r>
              <a:rPr lang="pt-BR" altLang="pt-BR" sz="2200" dirty="0"/>
              <a:t>Vantagens: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endParaRPr lang="pt-BR" altLang="pt-BR" sz="2200" dirty="0"/>
          </a:p>
          <a:p>
            <a:pPr marL="612775" algn="just" eaLnBrk="1" hangingPunct="1">
              <a:buFont typeface="Arial" panose="020B0604020202020204" pitchFamily="34" charset="0"/>
              <a:buChar char="•"/>
              <a:defRPr/>
            </a:pPr>
            <a:r>
              <a:rPr lang="pt-BR" altLang="pt-BR" sz="2000" dirty="0"/>
              <a:t>Grande capacidade de carga;</a:t>
            </a:r>
          </a:p>
          <a:p>
            <a:pPr marL="612775" algn="just" eaLnBrk="1" hangingPunct="1">
              <a:buFont typeface="Arial" panose="020B0604020202020204" pitchFamily="34" charset="0"/>
              <a:buChar char="•"/>
              <a:defRPr/>
            </a:pPr>
            <a:r>
              <a:rPr lang="pt-BR" altLang="pt-BR" sz="2000" dirty="0"/>
              <a:t>Baixo, ou até inexistente, custo de construção das vias;</a:t>
            </a:r>
          </a:p>
          <a:p>
            <a:pPr marL="612775" algn="just" eaLnBrk="1" hangingPunct="1">
              <a:buFont typeface="Arial" panose="020B0604020202020204" pitchFamily="34" charset="0"/>
              <a:buChar char="•"/>
              <a:defRPr/>
            </a:pPr>
            <a:r>
              <a:rPr lang="pt-BR" altLang="pt-BR" sz="2000" dirty="0"/>
              <a:t>Menor emissão de poluentes.</a:t>
            </a:r>
          </a:p>
          <a:p>
            <a:pPr marL="612775" algn="just" eaLnBrk="1" hangingPunct="1">
              <a:buFont typeface="Arial" panose="020B0604020202020204" pitchFamily="34" charset="0"/>
              <a:buChar char="•"/>
              <a:defRPr/>
            </a:pPr>
            <a:endParaRPr lang="pt-BR" altLang="pt-BR" sz="2200" dirty="0"/>
          </a:p>
          <a:p>
            <a:pPr algn="just" eaLnBrk="1" hangingPunct="1">
              <a:buFont typeface="Wingdings" panose="05000000000000000000" pitchFamily="2" charset="2"/>
              <a:buChar char=""/>
              <a:defRPr/>
            </a:pPr>
            <a:r>
              <a:rPr lang="pt-BR" altLang="pt-BR" sz="2200" dirty="0"/>
              <a:t>Desvantagens: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endParaRPr lang="pt-BR" altLang="pt-BR" dirty="0"/>
          </a:p>
          <a:p>
            <a:pPr marL="612775" algn="just" eaLnBrk="1" hangingPunct="1">
              <a:buFont typeface="Arial" panose="020B0604020202020204" pitchFamily="34" charset="0"/>
              <a:buChar char="•"/>
              <a:defRPr/>
            </a:pPr>
            <a:r>
              <a:rPr lang="pt-BR" altLang="pt-BR" sz="2000" dirty="0"/>
              <a:t>Lentidão;</a:t>
            </a:r>
          </a:p>
          <a:p>
            <a:pPr marL="612775" algn="just" eaLnBrk="1" hangingPunct="1">
              <a:buFont typeface="Arial" panose="020B0604020202020204" pitchFamily="34" charset="0"/>
              <a:buChar char="•"/>
              <a:defRPr/>
            </a:pPr>
            <a:r>
              <a:rPr lang="pt-BR" altLang="pt-BR" sz="2000" dirty="0"/>
              <a:t>Limitações naturais (relevo, caudais dos cursos d’água, rotas fixas);</a:t>
            </a:r>
          </a:p>
          <a:p>
            <a:pPr marL="612775" algn="just" eaLnBrk="1" hangingPunct="1">
              <a:buFont typeface="Arial" panose="020B0604020202020204" pitchFamily="34" charset="0"/>
              <a:buChar char="•"/>
              <a:defRPr/>
            </a:pPr>
            <a:r>
              <a:rPr lang="pt-BR" altLang="pt-BR" sz="2000" dirty="0"/>
              <a:t>Obras de engenharia que facilitam o aproveitamento das vias fluviais são, muitas vezes, de custo alto.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pt-BR" altLang="pt-BR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Imagem 6">
            <a:extLst>
              <a:ext uri="{FF2B5EF4-FFF2-40B4-BE49-F238E27FC236}">
                <a16:creationId xmlns:a16="http://schemas.microsoft.com/office/drawing/2014/main" id="{D39B7200-3AE4-426E-9425-C8C12A201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52400"/>
            <a:ext cx="7800975" cy="655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12" descr="Hidrovia Tietê-Paraná: recorde pós-secaHidrovia Tietê-Paraná: recorde  pós-seca">
            <a:extLst>
              <a:ext uri="{FF2B5EF4-FFF2-40B4-BE49-F238E27FC236}">
                <a16:creationId xmlns:a16="http://schemas.microsoft.com/office/drawing/2014/main" id="{28707F53-A2E2-4B07-ACDF-FD3416B1D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692150"/>
            <a:ext cx="8591550" cy="511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6B272DF-5CEB-474C-80F3-E0F2195D69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3050"/>
            <a:ext cx="6418263" cy="995363"/>
          </a:xfrm>
        </p:spPr>
        <p:txBody>
          <a:bodyPr anchor="ctr"/>
          <a:lstStyle/>
          <a:p>
            <a:pPr eaLnBrk="1" hangingPunct="1"/>
            <a:r>
              <a:rPr lang="pt-BR" altLang="pt-BR" sz="3200"/>
              <a:t>Portos e terminais hidroviários</a:t>
            </a:r>
          </a:p>
        </p:txBody>
      </p:sp>
      <p:pic>
        <p:nvPicPr>
          <p:cNvPr id="25603" name="Picture 5">
            <a:extLst>
              <a:ext uri="{FF2B5EF4-FFF2-40B4-BE49-F238E27FC236}">
                <a16:creationId xmlns:a16="http://schemas.microsoft.com/office/drawing/2014/main" id="{D85562C9-7E18-43F5-8BE3-8A437E60DC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0113" y="1557338"/>
            <a:ext cx="5327650" cy="5111750"/>
          </a:xfr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712CAF7-7E9D-4E42-80CA-81A86282E4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/>
              <a:t>Principais portos brasileiros</a:t>
            </a:r>
          </a:p>
        </p:txBody>
      </p:sp>
      <p:sp>
        <p:nvSpPr>
          <p:cNvPr id="26627" name="Espaço Reservado para Conteúdo 4">
            <a:extLst>
              <a:ext uri="{FF2B5EF4-FFF2-40B4-BE49-F238E27FC236}">
                <a16:creationId xmlns:a16="http://schemas.microsoft.com/office/drawing/2014/main" id="{505B2757-5535-49C0-AD9A-DAD5DF3301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pt-BR" altLang="pt-BR" sz="18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Porto de Santos (SP);</a:t>
            </a:r>
            <a:endParaRPr lang="pt-BR" altLang="pt-BR" sz="180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pt-BR" altLang="pt-BR" sz="18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Porto de Paranaguá (PR);</a:t>
            </a:r>
            <a:endParaRPr lang="pt-BR" altLang="pt-BR" sz="180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pt-BR" altLang="pt-BR" sz="18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Porto Itapoá (SC);</a:t>
            </a:r>
            <a:endParaRPr lang="pt-BR" altLang="pt-BR" sz="180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pt-BR" altLang="pt-BR" sz="18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Portonave (SC);</a:t>
            </a:r>
            <a:endParaRPr lang="pt-BR" altLang="pt-BR" sz="180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pt-BR" altLang="pt-BR" sz="18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Porto de Rio Grande (RS);</a:t>
            </a:r>
            <a:endParaRPr lang="pt-BR" altLang="pt-BR" sz="180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pt-BR" altLang="pt-BR" sz="18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Dp World Santos (SP);</a:t>
            </a:r>
            <a:endParaRPr lang="pt-BR" altLang="pt-BR" sz="180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pt-BR" altLang="pt-BR" sz="18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Porto Chibatão (AM);</a:t>
            </a:r>
            <a:endParaRPr lang="pt-BR" altLang="pt-BR" sz="180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pt-BR" altLang="pt-BR" sz="18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Porto de Suape (PE);</a:t>
            </a:r>
            <a:endParaRPr lang="pt-BR" altLang="pt-BR" sz="180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pt-BR" altLang="pt-BR" sz="18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Porto de Itajaí (SC);</a:t>
            </a:r>
            <a:endParaRPr lang="pt-BR" altLang="pt-BR" sz="180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pt-BR" altLang="pt-BR" sz="18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Porto de Rio de Janeiro (RJ).</a:t>
            </a:r>
            <a:endParaRPr lang="pt-BR" altLang="pt-BR" sz="180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tabLst>
                <a:tab pos="457200" algn="l"/>
              </a:tabLst>
            </a:pPr>
            <a:endParaRPr lang="pt-BR" altLang="pt-B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EDD4AB05-7745-4371-BA9B-5153C152E8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/>
              <a:t>Brasil: navegação de cabotagem</a:t>
            </a:r>
          </a:p>
        </p:txBody>
      </p:sp>
      <p:pic>
        <p:nvPicPr>
          <p:cNvPr id="27651" name="Espaço Reservado para Conteúdo 7">
            <a:extLst>
              <a:ext uri="{FF2B5EF4-FFF2-40B4-BE49-F238E27FC236}">
                <a16:creationId xmlns:a16="http://schemas.microsoft.com/office/drawing/2014/main" id="{354E79D5-70BF-4055-B65A-B42D80A279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28813" y="1516063"/>
            <a:ext cx="5786437" cy="5143500"/>
          </a:xfr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C893FA7-9255-4AE6-B32B-DA2E65CF21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3050"/>
            <a:ext cx="4978400" cy="1162050"/>
          </a:xfrm>
        </p:spPr>
        <p:txBody>
          <a:bodyPr anchor="ctr"/>
          <a:lstStyle/>
          <a:p>
            <a:pPr eaLnBrk="1" hangingPunct="1"/>
            <a:r>
              <a:rPr lang="pt-BR" altLang="pt-BR" sz="3200"/>
              <a:t>Portos brasileiros</a:t>
            </a:r>
          </a:p>
        </p:txBody>
      </p:sp>
      <p:sp>
        <p:nvSpPr>
          <p:cNvPr id="28675" name="Espaço Reservado para Texto 4">
            <a:extLst>
              <a:ext uri="{FF2B5EF4-FFF2-40B4-BE49-F238E27FC236}">
                <a16:creationId xmlns:a16="http://schemas.microsoft.com/office/drawing/2014/main" id="{EA433343-F29F-49F0-8926-6C28A97D167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 flipH="1">
            <a:off x="3548063" y="5805488"/>
            <a:ext cx="3255962" cy="585787"/>
          </a:xfrm>
        </p:spPr>
        <p:txBody>
          <a:bodyPr/>
          <a:lstStyle/>
          <a:p>
            <a:r>
              <a:rPr lang="pt-BR" altLang="pt-BR"/>
              <a:t>Porto de Rio Grande (RS)</a:t>
            </a:r>
          </a:p>
        </p:txBody>
      </p:sp>
      <p:pic>
        <p:nvPicPr>
          <p:cNvPr id="28676" name="Espaço Reservado para Conteúdo 8">
            <a:extLst>
              <a:ext uri="{FF2B5EF4-FFF2-40B4-BE49-F238E27FC236}">
                <a16:creationId xmlns:a16="http://schemas.microsoft.com/office/drawing/2014/main" id="{F189378C-0A50-4B4B-8968-093FA210BE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95513" y="1628775"/>
            <a:ext cx="5256212" cy="3946525"/>
          </a:xfr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5C1DBCDF-BABD-4C60-8D54-30B74C6F5A8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/>
              <a:t>Portos: principais problemas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EA05B911-6EF6-4768-977F-19ECBCB88EB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br>
              <a:rPr lang="pt-BR" sz="2000" dirty="0"/>
            </a:br>
            <a:r>
              <a:rPr lang="pt-BR" sz="2000" dirty="0"/>
              <a:t>• Acesso </a:t>
            </a:r>
            <a:r>
              <a:rPr lang="pt-BR" sz="2000"/>
              <a:t>aos terminais</a:t>
            </a:r>
            <a:r>
              <a:rPr lang="pt-BR" sz="2000" dirty="0"/>
              <a:t>, sendo responsável pelo atraso da entrega e assim sendo o responsável pelo aumento do custo do produto.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br>
              <a:rPr lang="pt-BR" sz="2000" dirty="0"/>
            </a:br>
            <a:r>
              <a:rPr lang="pt-BR" sz="2000" dirty="0"/>
              <a:t>• Engarrafamentos.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endParaRPr lang="pt-BR" sz="2000" dirty="0"/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r>
              <a:rPr lang="pt-BR" sz="2000" dirty="0"/>
              <a:t>• Falta de pátios para caminhões.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br>
              <a:rPr lang="pt-BR" sz="2000" dirty="0"/>
            </a:br>
            <a:r>
              <a:rPr lang="pt-BR" sz="2000" dirty="0"/>
              <a:t>• Restrições para a navegação dos navios por conta da baixa profundidade.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endParaRPr lang="pt-BR" sz="2000" dirty="0"/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r>
              <a:rPr lang="pt-BR" sz="2000" dirty="0"/>
              <a:t>• Entraves burocráticos.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endParaRPr lang="pt-BR" sz="2000" dirty="0"/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r>
              <a:rPr lang="pt-BR" sz="2000" dirty="0"/>
              <a:t>• Atraso na execução de obras.</a:t>
            </a:r>
            <a:endParaRPr lang="pt-BR" altLang="pt-BR" sz="20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pt-BR" altLang="pt-BR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9287ACA7-4308-4168-906A-37F8BAEB19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/>
              <a:t>Portos Secos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3FC3AAD6-5331-4BE6-A936-65616CB6775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903788" y="1700213"/>
            <a:ext cx="4038600" cy="4879975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Char char="ü"/>
              <a:defRPr/>
            </a:pPr>
            <a:r>
              <a:rPr lang="pt-BR" sz="2200" dirty="0"/>
              <a:t>Portos Secos ou Estação Aduaneira Interior (EADI): terminal intermodal terrestre, diretamente ligados por estradas/rodovias e/ou vias férreas e/ou aérea, sendo um depósito alfandegado localizado fora do porto.</a:t>
            </a:r>
          </a:p>
          <a:p>
            <a:pPr algn="just" eaLnBrk="1" hangingPunct="1">
              <a:buFont typeface="Wingdings" panose="05000000000000000000" pitchFamily="2" charset="2"/>
              <a:buChar char="ü"/>
              <a:defRPr/>
            </a:pPr>
            <a:endParaRPr lang="pt-BR" altLang="pt-BR" sz="2200" dirty="0"/>
          </a:p>
          <a:p>
            <a:pPr algn="just" eaLnBrk="1" hangingPunct="1">
              <a:buFont typeface="Wingdings" panose="05000000000000000000" pitchFamily="2" charset="2"/>
              <a:buChar char="ü"/>
              <a:defRPr/>
            </a:pPr>
            <a:endParaRPr lang="pt-BR" altLang="pt-BR" sz="2200" dirty="0"/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endParaRPr lang="pt-BR" altLang="pt-BR" sz="2200" dirty="0"/>
          </a:p>
          <a:p>
            <a:pPr algn="just" eaLnBrk="1" hangingPunct="1">
              <a:buFont typeface="Wingdings" panose="05000000000000000000" pitchFamily="2" charset="2"/>
              <a:buChar char="ü"/>
              <a:defRPr/>
            </a:pPr>
            <a:r>
              <a:rPr lang="pt-BR" altLang="pt-BR" sz="1400" dirty="0"/>
              <a:t>Foto: porto seco de Novo Hamburgo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pt-BR" altLang="pt-BR" sz="2200" dirty="0"/>
          </a:p>
        </p:txBody>
      </p:sp>
      <p:pic>
        <p:nvPicPr>
          <p:cNvPr id="30724" name="Picture 2" descr="Resultado de imagem para porto seco">
            <a:extLst>
              <a:ext uri="{FF2B5EF4-FFF2-40B4-BE49-F238E27FC236}">
                <a16:creationId xmlns:a16="http://schemas.microsoft.com/office/drawing/2014/main" id="{5798A779-AA68-4010-899D-01910C9CE5A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9275" y="1844675"/>
            <a:ext cx="4354513" cy="2447925"/>
          </a:xfr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57A866A-58A3-4EDF-99DD-9FF96C65456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/>
              <a:t>Transporte dutoviário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B39006E9-0EA6-4408-A7B6-72548A1524B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Char char=""/>
            </a:pPr>
            <a:r>
              <a:rPr lang="pt-BR" altLang="pt-BR" sz="2200"/>
              <a:t>Transporte realizado por meio de dutos (subterrâneos, aparentes ou submarinos), subdivide-se em:</a:t>
            </a:r>
          </a:p>
          <a:p>
            <a:pPr algn="just" eaLnBrk="1" hangingPunct="1">
              <a:buFont typeface="Wingdings" panose="05000000000000000000" pitchFamily="2" charset="2"/>
              <a:buChar char=""/>
            </a:pPr>
            <a:endParaRPr lang="pt-BR" altLang="pt-BR" sz="2000"/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pt-BR" altLang="pt-BR" sz="2000"/>
              <a:t>Oleodutos: petróleo, gasolina, diesel, álcool, querosene, GLP, nafta, etc.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endParaRPr lang="pt-BR" altLang="pt-BR" sz="2000"/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pt-BR" altLang="pt-BR" sz="2000"/>
              <a:t>Minerodutos: minérios, principalmente minério de ferro.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endParaRPr lang="pt-BR" altLang="pt-BR" sz="2000"/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pt-BR" altLang="pt-BR" sz="2000"/>
              <a:t>Gasodutos: gás natural.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endParaRPr lang="pt-BR" altLang="pt-BR" sz="2000"/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pt-BR" altLang="pt-BR" sz="2000"/>
              <a:t>Alcoolduto: etanol.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315E161-568D-42C9-82C5-E5200F9D15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/>
              <a:t>Transporte dutoviário: alcoolduto</a:t>
            </a:r>
          </a:p>
        </p:txBody>
      </p:sp>
      <p:pic>
        <p:nvPicPr>
          <p:cNvPr id="32771" name="Picture 5" descr="Resultado de imagem para alcoolduto">
            <a:extLst>
              <a:ext uri="{FF2B5EF4-FFF2-40B4-BE49-F238E27FC236}">
                <a16:creationId xmlns:a16="http://schemas.microsoft.com/office/drawing/2014/main" id="{9032FA04-C211-4DCD-BE3C-D215DA926A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5975" y="1600200"/>
            <a:ext cx="7716838" cy="5021263"/>
          </a:xfr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F250B413-9426-43A3-BAAC-C6CFA3EB5D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/>
              <a:t>Transporte dutoviário: minerodutos</a:t>
            </a:r>
          </a:p>
        </p:txBody>
      </p:sp>
      <p:pic>
        <p:nvPicPr>
          <p:cNvPr id="33795" name="Espaço Reservado para Conteúdo 5">
            <a:extLst>
              <a:ext uri="{FF2B5EF4-FFF2-40B4-BE49-F238E27FC236}">
                <a16:creationId xmlns:a16="http://schemas.microsoft.com/office/drawing/2014/main" id="{33CB2DA8-1EF9-4C68-B065-DBE6FC55CF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7450" y="1600200"/>
            <a:ext cx="7129463" cy="5022850"/>
          </a:xfr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FBC9D07C-2FBE-43A9-B259-E8F054173B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/>
              <a:t>Transporte dutoviário</a:t>
            </a:r>
          </a:p>
        </p:txBody>
      </p:sp>
      <p:pic>
        <p:nvPicPr>
          <p:cNvPr id="34819" name="Espaço Reservado para Conteúdo 4">
            <a:extLst>
              <a:ext uri="{FF2B5EF4-FFF2-40B4-BE49-F238E27FC236}">
                <a16:creationId xmlns:a16="http://schemas.microsoft.com/office/drawing/2014/main" id="{F1749EC8-F250-4E7F-BAB5-794981B1C5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19250" y="1916113"/>
            <a:ext cx="6305550" cy="3665537"/>
          </a:xfr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57A866A-58A3-4EDF-99DD-9FF96C65456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 dirty="0"/>
              <a:t>Transporte aeroviário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B39006E9-0EA6-4408-A7B6-72548A1524B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Char char=""/>
            </a:pPr>
            <a:r>
              <a:rPr lang="pt-BR" altLang="pt-BR" sz="2200" dirty="0"/>
              <a:t>Apesar da pequena participação, é essencial na logística para os embarques </a:t>
            </a:r>
            <a:r>
              <a:rPr lang="pt-BR" altLang="pt-BR" sz="2200" i="1" dirty="0" err="1"/>
              <a:t>just</a:t>
            </a:r>
            <a:r>
              <a:rPr lang="pt-BR" altLang="pt-BR" sz="2200" i="1" dirty="0"/>
              <a:t> in time</a:t>
            </a:r>
            <a:r>
              <a:rPr lang="pt-BR" altLang="pt-BR" sz="2200" dirty="0"/>
              <a:t>.</a:t>
            </a:r>
          </a:p>
          <a:p>
            <a:pPr algn="just" eaLnBrk="1" hangingPunct="1">
              <a:buFont typeface="Wingdings" panose="05000000000000000000" pitchFamily="2" charset="2"/>
              <a:buChar char=""/>
            </a:pPr>
            <a:endParaRPr lang="pt-BR" altLang="pt-BR" sz="2200" dirty="0"/>
          </a:p>
          <a:p>
            <a:pPr algn="just" eaLnBrk="1" hangingPunct="1">
              <a:buFont typeface="Wingdings" panose="05000000000000000000" pitchFamily="2" charset="2"/>
              <a:buChar char=""/>
            </a:pPr>
            <a:r>
              <a:rPr lang="pt-BR" altLang="pt-BR" sz="2200" dirty="0"/>
              <a:t>Vantagens:</a:t>
            </a:r>
          </a:p>
          <a:p>
            <a:pPr algn="just" eaLnBrk="1" hangingPunct="1">
              <a:buFont typeface="Wingdings" panose="05000000000000000000" pitchFamily="2" charset="2"/>
              <a:buChar char=""/>
            </a:pPr>
            <a:endParaRPr lang="pt-BR" altLang="pt-BR" sz="2000" dirty="0"/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pt-BR" altLang="pt-BR" sz="2000" dirty="0"/>
              <a:t>rapidez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pt-BR" altLang="pt-BR" sz="2000" dirty="0"/>
              <a:t>confiabilidade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pt-BR" altLang="pt-BR" sz="2000" dirty="0"/>
              <a:t>acessibilidade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endParaRPr lang="pt-BR" altLang="pt-BR" sz="2000" dirty="0"/>
          </a:p>
          <a:p>
            <a:pPr algn="just" eaLnBrk="1" hangingPunct="1">
              <a:buFont typeface="Wingdings" panose="05000000000000000000" pitchFamily="2" charset="2"/>
              <a:buChar char=""/>
            </a:pPr>
            <a:r>
              <a:rPr lang="pt-BR" altLang="pt-BR" sz="2200" dirty="0"/>
              <a:t>Desvantagens:</a:t>
            </a:r>
          </a:p>
          <a:p>
            <a:pPr algn="just" eaLnBrk="1" hangingPunct="1">
              <a:buFont typeface="Wingdings" panose="05000000000000000000" pitchFamily="2" charset="2"/>
              <a:buChar char=""/>
            </a:pPr>
            <a:endParaRPr lang="pt-BR" altLang="pt-BR" sz="2000" dirty="0"/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pt-BR" altLang="pt-BR" sz="2000" dirty="0"/>
              <a:t>menor capacidade de carga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pt-BR" altLang="pt-BR" sz="2000" dirty="0"/>
              <a:t>grande restrição a cargas mais perigosas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 dirty="0"/>
          </a:p>
        </p:txBody>
      </p:sp>
    </p:spTree>
    <p:extLst>
      <p:ext uri="{BB962C8B-B14F-4D97-AF65-F5344CB8AC3E}">
        <p14:creationId xmlns:p14="http://schemas.microsoft.com/office/powerpoint/2010/main" val="29635822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FBC9D07C-2FBE-43A9-B259-E8F054173B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 wrap="square" anchor="b">
            <a:normAutofit fontScale="90000"/>
          </a:bodyPr>
          <a:lstStyle/>
          <a:p>
            <a:pPr algn="just" eaLnBrk="1" hangingPunct="1"/>
            <a:r>
              <a:rPr lang="pt-BR" altLang="pt-BR" sz="2000" b="1" dirty="0">
                <a:solidFill>
                  <a:schemeClr val="tx1"/>
                </a:solidFill>
                <a:latin typeface="+mn-lt"/>
              </a:rPr>
              <a:t>Corredores de exportação</a:t>
            </a:r>
            <a:r>
              <a:rPr lang="pt-BR" altLang="pt-BR" sz="2000" dirty="0">
                <a:solidFill>
                  <a:schemeClr val="tx1"/>
                </a:solidFill>
                <a:latin typeface="+mn-lt"/>
              </a:rPr>
              <a:t>: </a:t>
            </a: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sistema integrado de transporte e armazenamento para escoamento de produtos </a:t>
            </a:r>
            <a:r>
              <a:rPr lang="pt-BR" sz="2000" dirty="0">
                <a:solidFill>
                  <a:schemeClr val="tx1"/>
                </a:solidFill>
                <a:latin typeface="+mn-lt"/>
              </a:rPr>
              <a:t>de alta concentração e grandes volumes, de forma a agilizar seu escoamento para exportação ou mesmo consumo interno.</a:t>
            </a:r>
            <a:endParaRPr lang="pt-BR" altLang="pt-BR" sz="20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8370" name="Picture 2" descr="Corredores Logísticos Estratégicos-Exportação. | Download Scientific Diagram">
            <a:extLst>
              <a:ext uri="{FF2B5EF4-FFF2-40B4-BE49-F238E27FC236}">
                <a16:creationId xmlns:a16="http://schemas.microsoft.com/office/drawing/2014/main" id="{1F7CE5FF-DA2F-4298-A73C-C4D0FA59947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63760" y="1600200"/>
            <a:ext cx="6092615" cy="5096294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0336656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57A866A-58A3-4EDF-99DD-9FF96C65456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pt-BR" altLang="pt-BR" sz="3200" dirty="0"/>
              <a:t>Corredores de exportação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B39006E9-0EA6-4408-A7B6-72548A1524B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Char char=""/>
            </a:pPr>
            <a:r>
              <a:rPr lang="pt-BR" altLang="pt-BR" sz="2000" dirty="0"/>
              <a:t>Questões ambientais, que podem levar à paralisação de obras;</a:t>
            </a:r>
          </a:p>
          <a:p>
            <a:pPr algn="just" eaLnBrk="1" hangingPunct="1">
              <a:buFont typeface="Wingdings" panose="05000000000000000000" pitchFamily="2" charset="2"/>
              <a:buChar char=""/>
            </a:pPr>
            <a:r>
              <a:rPr lang="pt-BR" altLang="pt-BR" sz="2000" dirty="0"/>
              <a:t>Má gestão e dificuldades operacionais, como falta de pavimentação e de áreas de armazenagem.</a:t>
            </a:r>
          </a:p>
          <a:p>
            <a:pPr algn="just" eaLnBrk="1" hangingPunct="1">
              <a:buFont typeface="Wingdings" panose="05000000000000000000" pitchFamily="2" charset="2"/>
              <a:buChar char=""/>
            </a:pPr>
            <a:endParaRPr lang="pt-BR" altLang="pt-BR" sz="2000" dirty="0"/>
          </a:p>
          <a:p>
            <a:pPr marL="0" indent="0" algn="just" eaLnBrk="1" hangingPunct="1">
              <a:buNone/>
            </a:pPr>
            <a:r>
              <a:rPr lang="pt-BR" altLang="pt-BR" sz="2000" dirty="0"/>
              <a:t>Observação: c</a:t>
            </a:r>
            <a:r>
              <a:rPr lang="pt-BR" sz="2000" dirty="0"/>
              <a:t>orredores de transporte englobam corredores de exportação. A diferença é que o conceito de corredor de transporte envolve também fluxo de pessoas, não só produtos para a exportação.</a:t>
            </a:r>
            <a:endParaRPr lang="pt-BR" altLang="pt-BR" sz="20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 dirty="0"/>
          </a:p>
        </p:txBody>
      </p:sp>
    </p:spTree>
    <p:extLst>
      <p:ext uri="{BB962C8B-B14F-4D97-AF65-F5344CB8AC3E}">
        <p14:creationId xmlns:p14="http://schemas.microsoft.com/office/powerpoint/2010/main" val="3231958693"/>
      </p:ext>
    </p:extLst>
  </p:cSld>
  <p:clrMapOvr>
    <a:masterClrMapping/>
  </p:clrMapOvr>
</p:sld>
</file>

<file path=ppt/theme/theme1.xml><?xml version="1.0" encoding="utf-8"?>
<a:theme xmlns:a="http://schemas.openxmlformats.org/drawingml/2006/main" name="Nível">
  <a:themeElements>
    <a:clrScheme name="Ní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Nível">
      <a:majorFont>
        <a:latin typeface="Garamond"/>
        <a:ea typeface=""/>
        <a:cs typeface=""/>
      </a:majorFont>
      <a:minorFont>
        <a:latin typeface="Verdan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Ní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í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í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í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í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í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í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í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Nível</Template>
  <TotalTime>1577</TotalTime>
  <Words>1009</Words>
  <Application>Microsoft Office PowerPoint</Application>
  <PresentationFormat>Apresentação na tela (4:3)</PresentationFormat>
  <Paragraphs>230</Paragraphs>
  <Slides>33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40" baseType="lpstr">
      <vt:lpstr>Arial</vt:lpstr>
      <vt:lpstr>Calibri</vt:lpstr>
      <vt:lpstr>Garamond</vt:lpstr>
      <vt:lpstr>Times New Roman</vt:lpstr>
      <vt:lpstr>Verdana</vt:lpstr>
      <vt:lpstr>Wingdings</vt:lpstr>
      <vt:lpstr>Nível</vt:lpstr>
      <vt:lpstr>Transportes no Brasil</vt:lpstr>
      <vt:lpstr>Sistema de transportes no Brasil</vt:lpstr>
      <vt:lpstr>Sistema de transportes no Brasil</vt:lpstr>
      <vt:lpstr>Sistema de transportes no Brasil</vt:lpstr>
      <vt:lpstr>Transporte rodoviário</vt:lpstr>
      <vt:lpstr>Transporte rodoviário</vt:lpstr>
      <vt:lpstr>Transporte rodoviário</vt:lpstr>
      <vt:lpstr>Transporte ferroviário</vt:lpstr>
      <vt:lpstr>Transporte ferroviário</vt:lpstr>
      <vt:lpstr>Transporte ferroviário</vt:lpstr>
      <vt:lpstr>Transporte ferroviário</vt:lpstr>
      <vt:lpstr>Transporte ferroviário: Ferrovia Norte-Sul</vt:lpstr>
      <vt:lpstr>Transporte ferroviário: Ferronorte e expansão</vt:lpstr>
      <vt:lpstr>Transporte ferroviário: Ferrovia Transnordestina</vt:lpstr>
      <vt:lpstr>Transporte ferroviário: Ferrovia Transoceânica</vt:lpstr>
      <vt:lpstr>IIRSA</vt:lpstr>
      <vt:lpstr>Transporte hidroviário</vt:lpstr>
      <vt:lpstr>Transporte hidroviário</vt:lpstr>
      <vt:lpstr>Apresentação do PowerPoint</vt:lpstr>
      <vt:lpstr>Apresentação do PowerPoint</vt:lpstr>
      <vt:lpstr>Portos e terminais hidroviários</vt:lpstr>
      <vt:lpstr>Principais portos brasileiros</vt:lpstr>
      <vt:lpstr>Brasil: navegação de cabotagem</vt:lpstr>
      <vt:lpstr>Portos brasileiros</vt:lpstr>
      <vt:lpstr>Portos: principais problemas</vt:lpstr>
      <vt:lpstr>Portos Secos</vt:lpstr>
      <vt:lpstr>Transporte dutoviário</vt:lpstr>
      <vt:lpstr>Transporte dutoviário: alcoolduto</vt:lpstr>
      <vt:lpstr>Transporte dutoviário: minerodutos</vt:lpstr>
      <vt:lpstr>Transporte dutoviário</vt:lpstr>
      <vt:lpstr>Transporte aeroviário</vt:lpstr>
      <vt:lpstr>Corredores de exportação: sistema integrado de transporte e armazenamento para escoamento de produtos de alta concentração e grandes volumes, de forma a agilizar seu escoamento para exportação ou mesmo consumo interno.</vt:lpstr>
      <vt:lpstr>Corredores de exportação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2</dc:title>
  <dc:creator>A</dc:creator>
  <cp:lastModifiedBy>Alex Rios</cp:lastModifiedBy>
  <cp:revision>339</cp:revision>
  <dcterms:created xsi:type="dcterms:W3CDTF">2011-02-06T12:43:04Z</dcterms:created>
  <dcterms:modified xsi:type="dcterms:W3CDTF">2026-01-25T22:23:52Z</dcterms:modified>
</cp:coreProperties>
</file>