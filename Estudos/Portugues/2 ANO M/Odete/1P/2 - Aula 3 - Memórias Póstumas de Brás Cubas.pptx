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20" r:id="rId2"/>
    <p:sldId id="432" r:id="rId3"/>
    <p:sldId id="449" r:id="rId4"/>
    <p:sldId id="450" r:id="rId5"/>
    <p:sldId id="451" r:id="rId6"/>
    <p:sldId id="452" r:id="rId7"/>
    <p:sldId id="453" r:id="rId8"/>
    <p:sldId id="45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1D1"/>
    <a:srgbClr val="E5D6A4"/>
    <a:srgbClr val="FF7C80"/>
    <a:srgbClr val="000000"/>
    <a:srgbClr val="5D4320"/>
    <a:srgbClr val="FFFFFF"/>
    <a:srgbClr val="008000"/>
    <a:srgbClr val="FF4B4B"/>
    <a:srgbClr val="D60000"/>
    <a:srgbClr val="A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12" autoAdjust="0"/>
    <p:restoredTop sz="94660"/>
  </p:normalViewPr>
  <p:slideViewPr>
    <p:cSldViewPr snapToGrid="0">
      <p:cViewPr varScale="1">
        <p:scale>
          <a:sx n="72" d="100"/>
          <a:sy n="72" d="100"/>
        </p:scale>
        <p:origin x="68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20/02/2021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655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20/02/2021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029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20/02/2021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1540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20/02/2021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6488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20/02/2021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915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20/02/2021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625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20/02/2021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7273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20/02/2021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88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20/02/2021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324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20/02/2021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1145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20/02/2021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415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20/02/2021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6335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20/02/2021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4600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20/02/2021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3067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20/02/2021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7060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20/02/2021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348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20/02/2021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7218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2794E8-C916-4193-94BE-BF7A7153E953}" type="datetimeFigureOut">
              <a:rPr lang="pt-BR" smtClean="0"/>
              <a:t>20/02/2021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9922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cursos do Escritor: Usar ou abusar das Referências (Literárias) – Sara  Farinha">
            <a:extLst>
              <a:ext uri="{FF2B5EF4-FFF2-40B4-BE49-F238E27FC236}">
                <a16:creationId xmlns:a16="http://schemas.microsoft.com/office/drawing/2014/main" id="{A51499E4-3F62-45DF-B159-54CFA193D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2522"/>
            <a:ext cx="12192000" cy="7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3094AB9-35B8-4046-B9C0-B4803AA29C48}"/>
              </a:ext>
            </a:extLst>
          </p:cNvPr>
          <p:cNvSpPr/>
          <p:nvPr/>
        </p:nvSpPr>
        <p:spPr>
          <a:xfrm>
            <a:off x="1421296" y="888247"/>
            <a:ext cx="934940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</a:pPr>
            <a:r>
              <a:rPr lang="pt-BR" sz="10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lackadder ITC" panose="04020505051007020D02" pitchFamily="82" charset="0"/>
              </a:rPr>
              <a:t>Memórias Póstumas de Brás Cubas</a:t>
            </a:r>
            <a:endParaRPr lang="en-US" sz="72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Blackadder ITC" panose="04020505051007020D02" pitchFamily="82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072A400-FC53-4847-A4B5-90B24E15954F}"/>
              </a:ext>
            </a:extLst>
          </p:cNvPr>
          <p:cNvSpPr/>
          <p:nvPr/>
        </p:nvSpPr>
        <p:spPr>
          <a:xfrm>
            <a:off x="1149626" y="4868071"/>
            <a:ext cx="934940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</a:pPr>
            <a:r>
              <a:rPr lang="pt-BR" sz="10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lackadder ITC" panose="04020505051007020D02" pitchFamily="82" charset="0"/>
              </a:rPr>
              <a:t>Machado de Assis</a:t>
            </a:r>
            <a:endParaRPr lang="en-US" sz="72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Blackadder ITC" panose="04020505051007020D02" pitchFamily="82" charset="0"/>
            </a:endParaRPr>
          </a:p>
        </p:txBody>
      </p:sp>
      <p:pic>
        <p:nvPicPr>
          <p:cNvPr id="6" name="Picture 2" descr="Resultado de imagem para memórias póstumas de brás cubas">
            <a:extLst>
              <a:ext uri="{FF2B5EF4-FFF2-40B4-BE49-F238E27FC236}">
                <a16:creationId xmlns:a16="http://schemas.microsoft.com/office/drawing/2014/main" id="{A9BC5035-6034-4086-98F8-B176661F59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8125" b="97656" l="9938" r="89752">
                        <a14:foregroundMark x1="47617" y1="57617" x2="51242" y2="58594"/>
                        <a14:foregroundMark x1="46894" y1="57422" x2="47617" y2="57617"/>
                        <a14:foregroundMark x1="59938" y1="93945" x2="59938" y2="93945"/>
                        <a14:foregroundMark x1="36957" y1="94141" x2="36025" y2="81445"/>
                        <a14:foregroundMark x1="27329" y1="97656" x2="27329" y2="97656"/>
                        <a14:foregroundMark x1="45652" y1="62891" x2="45652" y2="62891"/>
                        <a14:foregroundMark x1="33540" y1="72461" x2="33540" y2="72461"/>
                        <a14:foregroundMark x1="45652" y1="60156" x2="45652" y2="60156"/>
                        <a14:foregroundMark x1="47826" y1="54883" x2="47826" y2="54883"/>
                        <a14:foregroundMark x1="43789" y1="57031" x2="45031" y2="55273"/>
                        <a14:foregroundMark x1="43789" y1="55469" x2="43789" y2="55469"/>
                        <a14:foregroundMark x1="42857" y1="56641" x2="42857" y2="56641"/>
                        <a14:foregroundMark x1="29503" y1="93945" x2="29503" y2="93945"/>
                        <a14:foregroundMark x1="33540" y1="97266" x2="33540" y2="97266"/>
                        <a14:foregroundMark x1="33540" y1="96875" x2="33540" y2="96875"/>
                        <a14:foregroundMark x1="33851" y1="96680" x2="33851" y2="96680"/>
                        <a14:foregroundMark x1="36025" y1="96289" x2="36025" y2="96289"/>
                        <a14:foregroundMark x1="32919" y1="96680" x2="32919" y2="96680"/>
                        <a14:foregroundMark x1="32298" y1="97070" x2="32298" y2="97070"/>
                        <a14:backgroundMark x1="41304" y1="44922" x2="47205" y2="34180"/>
                        <a14:backgroundMark x1="61180" y1="50195" x2="61180" y2="50195"/>
                        <a14:backgroundMark x1="73292" y1="84180" x2="74224" y2="82227"/>
                        <a14:backgroundMark x1="74534" y1="77539" x2="74534" y2="90430"/>
                        <a14:backgroundMark x1="74534" y1="74805" x2="74534" y2="74805"/>
                        <a14:backgroundMark x1="73602" y1="76172" x2="73602" y2="76172"/>
                        <a14:backgroundMark x1="72360" y1="82422" x2="72360" y2="82422"/>
                        <a14:backgroundMark x1="71429" y1="88672" x2="71429" y2="88672"/>
                        <a14:backgroundMark x1="69876" y1="88672" x2="69876" y2="88672"/>
                        <a14:backgroundMark x1="70186" y1="86328" x2="70186" y2="86328"/>
                        <a14:backgroundMark x1="68944" y1="88477" x2="68944" y2="88477"/>
                        <a14:backgroundMark x1="68012" y1="89844" x2="68012" y2="89844"/>
                        <a14:backgroundMark x1="66770" y1="93359" x2="66770" y2="93359"/>
                        <a14:backgroundMark x1="52484" y1="96289" x2="52484" y2="96289"/>
                        <a14:backgroundMark x1="54658" y1="96875" x2="54658" y2="96875"/>
                        <a14:backgroundMark x1="41925" y1="57617" x2="41925" y2="57617"/>
                        <a14:backgroundMark x1="42857" y1="58594" x2="42857" y2="58594"/>
                        <a14:backgroundMark x1="50311" y1="59766" x2="50311" y2="59766"/>
                        <a14:backgroundMark x1="32298" y1="66992" x2="32298" y2="66992"/>
                        <a14:backgroundMark x1="31988" y1="96094" x2="31988" y2="96094"/>
                        <a14:backgroundMark x1="33230" y1="94531" x2="33230" y2="94531"/>
                        <a14:backgroundMark x1="61180" y1="49023" x2="61180" y2="490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0491" b="747"/>
          <a:stretch/>
        </p:blipFill>
        <p:spPr bwMode="auto">
          <a:xfrm>
            <a:off x="8325260" y="237341"/>
            <a:ext cx="5768845" cy="7224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m para machado de assis">
            <a:extLst>
              <a:ext uri="{FF2B5EF4-FFF2-40B4-BE49-F238E27FC236}">
                <a16:creationId xmlns:a16="http://schemas.microsoft.com/office/drawing/2014/main" id="{613E529A-FC59-4CEF-85EB-FB129B5E4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732" b="97387" l="9818" r="89945">
                        <a14:foregroundMark x1="26049" y1="19715" x2="30562" y2="10214"/>
                        <a14:foregroundMark x1="38005" y1="8551" x2="45368" y2="8551"/>
                        <a14:foregroundMark x1="57720" y1="10214" x2="57720" y2="10214"/>
                        <a14:foregroundMark x1="57720" y1="9264" x2="57720" y2="9264"/>
                        <a14:foregroundMark x1="58511" y1="11639" x2="57957" y2="7482"/>
                        <a14:foregroundMark x1="51069" y1="2850" x2="43943" y2="2850"/>
                        <a14:foregroundMark x1="30562" y1="6770" x2="25574" y2="9501"/>
                        <a14:foregroundMark x1="25574" y1="9501" x2="25653" y2="9620"/>
                        <a14:foregroundMark x1="24624" y1="23753" x2="24703" y2="15677"/>
                        <a14:foregroundMark x1="24703" y1="15677" x2="25099" y2="13302"/>
                        <a14:foregroundMark x1="22961" y1="28979" x2="22882" y2="20665"/>
                        <a14:foregroundMark x1="22882" y1="20665" x2="23595" y2="18409"/>
                        <a14:foregroundMark x1="23990" y1="15321" x2="23990" y2="14727"/>
                        <a14:foregroundMark x1="29295" y1="8551" x2="29295" y2="8551"/>
                        <a14:foregroundMark x1="27316" y1="8551" x2="29533" y2="6176"/>
                        <a14:foregroundMark x1="30800" y1="4038" x2="30800" y2="4038"/>
                        <a14:foregroundMark x1="63104" y1="69002" x2="65162" y2="59976"/>
                        <a14:foregroundMark x1="65162" y1="59976" x2="65162" y2="59145"/>
                        <a14:foregroundMark x1="63816" y1="77078" x2="63816" y2="77078"/>
                        <a14:foregroundMark x1="64291" y1="77672" x2="64291" y2="77672"/>
                        <a14:foregroundMark x1="64450" y1="78622" x2="63895" y2="71496"/>
                        <a14:foregroundMark x1="23357" y1="96200" x2="37213" y2="82898"/>
                        <a14:foregroundMark x1="59778" y1="87886" x2="70625" y2="95249"/>
                        <a14:foregroundMark x1="70625" y1="95249" x2="70863" y2="95249"/>
                        <a14:foregroundMark x1="38005" y1="90261" x2="43389" y2="89192"/>
                        <a14:foregroundMark x1="43389" y1="89192" x2="44181" y2="88480"/>
                        <a14:foregroundMark x1="34917" y1="96793" x2="38401" y2="97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2479" y="4608773"/>
            <a:ext cx="3373840" cy="2249227"/>
          </a:xfrm>
          <a:prstGeom prst="rect">
            <a:avLst/>
          </a:prstGeom>
          <a:noFill/>
          <a:effectLst>
            <a:glow rad="228600">
              <a:schemeClr val="accent3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2881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1052439" y="1595675"/>
            <a:ext cx="1020611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 algn="just">
              <a:buAutoNum type="arabicPeriod"/>
            </a:pPr>
            <a:r>
              <a:rPr lang="pt-BR" sz="4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 presença de um defunto-narrador : </a:t>
            </a:r>
          </a:p>
          <a:p>
            <a:pPr marL="742950" indent="-742950" algn="just">
              <a:buAutoNum type="arabicPeriod"/>
            </a:pPr>
            <a:endParaRPr lang="pt-BR" sz="32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algn="just"/>
            <a:r>
              <a:rPr lang="pt-BR" sz="40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Liberdade de expressão</a:t>
            </a:r>
            <a:r>
              <a:rPr lang="pt-BR" sz="4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                    Não pode sofrer mais a imposição dos outros, livre da opinião pública. A narração em 1ª pessoa e suas consequências.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4098498" y="143965"/>
            <a:ext cx="39950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Aspectos principais: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sp>
        <p:nvSpPr>
          <p:cNvPr id="5" name="Seta: da Esquerda para a Direita 4">
            <a:extLst>
              <a:ext uri="{FF2B5EF4-FFF2-40B4-BE49-F238E27FC236}">
                <a16:creationId xmlns:a16="http://schemas.microsoft.com/office/drawing/2014/main" id="{A10C88D9-1A7E-4B5D-A4FB-8359A773E76A}"/>
              </a:ext>
            </a:extLst>
          </p:cNvPr>
          <p:cNvSpPr/>
          <p:nvPr/>
        </p:nvSpPr>
        <p:spPr>
          <a:xfrm>
            <a:off x="5019675" y="2964667"/>
            <a:ext cx="2152650" cy="309003"/>
          </a:xfrm>
          <a:prstGeom prst="left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919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5380383" y="2910020"/>
            <a:ext cx="597740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2.	A narrativa não linear: </a:t>
            </a:r>
            <a:r>
              <a:rPr lang="pt-BR" sz="4800" dirty="0">
                <a:latin typeface="Gabriola" panose="04040605051002020D02" pitchFamily="82" charset="0"/>
                <a:cs typeface="Times New Roman" panose="02020603050405020304" pitchFamily="18" charset="0"/>
              </a:rPr>
              <a:t>começa pelo “fim”: </a:t>
            </a:r>
            <a:r>
              <a:rPr lang="pt-BR" sz="4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 morte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4098498" y="143965"/>
            <a:ext cx="39950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Aspectos principais: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pic>
        <p:nvPicPr>
          <p:cNvPr id="6" name="Imagem 5" descr="Resultado de imagem para memorias postumas a morte de bras cubas">
            <a:extLst>
              <a:ext uri="{FF2B5EF4-FFF2-40B4-BE49-F238E27FC236}">
                <a16:creationId xmlns:a16="http://schemas.microsoft.com/office/drawing/2014/main" id="{35AE3C0D-7036-4566-8E50-B3F2A103E3C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730" y="1784033"/>
            <a:ext cx="3975653" cy="3821635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3246007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786098" y="1351508"/>
            <a:ext cx="1074329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3.	As digressões </a:t>
            </a:r>
            <a:r>
              <a:rPr lang="pt-BR" sz="26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: introspecção psicológica</a:t>
            </a:r>
            <a:r>
              <a:rPr lang="pt-BR" sz="2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          um recurso utilizado pelo narrador para afastar a atenção sobre alguma ação da história principal. Desta forma, o narrador pode iniciar um tema secundário pouco importante para a trama, ou refletir sobre um assunto que foge da narrativa principal.</a:t>
            </a:r>
          </a:p>
          <a:p>
            <a:pPr algn="just"/>
            <a:endParaRPr lang="pt-BR" sz="26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algn="just"/>
            <a:r>
              <a:rPr lang="pt-BR" sz="2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Ex: “ Não caiu morta; ainda torcia o corpo e movia as farpinhas da cabeça. Apiedei-me; tomei-a na palma da mão e fui depô-la no peitoril da janela. Era tarde; a infeliz expirou dentro de alguns segundos. Fiquei um pouco aborrecido, incomodado.</a:t>
            </a:r>
          </a:p>
          <a:p>
            <a:pPr algn="just"/>
            <a:r>
              <a:rPr lang="pt-BR" sz="2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-- Também por que diabo não era ela azul? disse eu comigo.</a:t>
            </a:r>
          </a:p>
          <a:p>
            <a:pPr algn="just"/>
            <a:r>
              <a:rPr lang="pt-BR" sz="2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E esta reflexão, -- uma das mais profundas que se tem feito, desde a invenção</a:t>
            </a:r>
          </a:p>
          <a:p>
            <a:pPr algn="just"/>
            <a:r>
              <a:rPr lang="pt-BR" sz="2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das borboletas,-- me consolou do malefício, e me reconciliou comigo mesmo.”</a:t>
            </a:r>
          </a:p>
          <a:p>
            <a:pPr algn="just"/>
            <a:endParaRPr lang="pt-BR" sz="26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algn="just"/>
            <a:r>
              <a:rPr lang="pt-BR" sz="2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(Cap. XXXI)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4098498" y="143965"/>
            <a:ext cx="39950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Aspectos principais: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DF9A92BC-5171-450F-94B4-62EF4910B6F5}"/>
              </a:ext>
            </a:extLst>
          </p:cNvPr>
          <p:cNvSpPr/>
          <p:nvPr/>
        </p:nvSpPr>
        <p:spPr>
          <a:xfrm>
            <a:off x="5540103" y="1510747"/>
            <a:ext cx="555897" cy="251791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 descr="Resultado de imagem para memorias postumas a borboleta preta">
            <a:extLst>
              <a:ext uri="{FF2B5EF4-FFF2-40B4-BE49-F238E27FC236}">
                <a16:creationId xmlns:a16="http://schemas.microsoft.com/office/drawing/2014/main" id="{FA112BF9-E7C0-4256-942D-DA9151628764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04" b="89804" l="4000" r="96571">
                        <a14:foregroundMark x1="93143" y1="49412" x2="93143" y2="49412"/>
                        <a14:foregroundMark x1="8286" y1="51373" x2="8286" y2="51373"/>
                        <a14:foregroundMark x1="4000" y1="49804" x2="4000" y2="49804"/>
                        <a14:foregroundMark x1="96571" y1="53333" x2="96571" y2="5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31113" flipV="1">
            <a:off x="8833293" y="4076533"/>
            <a:ext cx="2940766" cy="2372265"/>
          </a:xfrm>
          <a:prstGeom prst="rect">
            <a:avLst/>
          </a:prstGeom>
          <a:noFill/>
          <a:ln>
            <a:noFill/>
          </a:ln>
          <a:effectLst>
            <a:glow rad="368300">
              <a:srgbClr val="FFD1D1">
                <a:alpha val="3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3105916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921068" y="1389144"/>
            <a:ext cx="328102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4.	 A força da obra está justamente nas </a:t>
            </a:r>
            <a:r>
              <a:rPr 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não-realizações</a:t>
            </a:r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, nos detalhes. Os leitores ficam sempre à espera do desenlace que a narrativa parece prometer. Ao fim, o que permanece é o </a:t>
            </a:r>
            <a:r>
              <a:rPr 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vazio da existência </a:t>
            </a:r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de Brás Cubas. Verificar o último capítulo: O das </a:t>
            </a:r>
            <a:r>
              <a:rPr 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Negativas</a:t>
            </a:r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4098498" y="143965"/>
            <a:ext cx="39950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Aspectos principais: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Resultado de imagem para memórias póstumas de brás cubas SEABRA">
            <a:extLst>
              <a:ext uri="{FF2B5EF4-FFF2-40B4-BE49-F238E27FC236}">
                <a16:creationId xmlns:a16="http://schemas.microsoft.com/office/drawing/2014/main" id="{54C0E02C-8226-4373-9C41-891C6E53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512">
            <a:off x="4613324" y="1913163"/>
            <a:ext cx="6960358" cy="3353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735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964116" y="1309630"/>
            <a:ext cx="10263767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AutoNum type="arabicPeriod" startAt="5"/>
            </a:pPr>
            <a:r>
              <a:rPr lang="pt-BR" sz="3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Brás Cubas teve uma vida repleta de caprichos, em virtude de sua posição de classe: os </a:t>
            </a:r>
            <a:r>
              <a:rPr lang="pt-BR" sz="36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caprichos da elite brasileira </a:t>
            </a:r>
            <a:r>
              <a:rPr lang="pt-BR" sz="3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do século XIX e seus desdobramentos, contexto do qual Brás Cubas é, metonimicamente, um representante: </a:t>
            </a:r>
            <a:r>
              <a:rPr lang="pt-BR" sz="36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arrogante, prepotente e hipócrita.</a:t>
            </a:r>
          </a:p>
          <a:p>
            <a:pPr marL="514350" indent="-514350" algn="just">
              <a:buAutoNum type="arabicPeriod" startAt="5"/>
            </a:pPr>
            <a:endParaRPr lang="pt-BR" sz="28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algn="just"/>
            <a:r>
              <a:rPr lang="pt-BR" sz="3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6.	O mais importante não é a realização desses </a:t>
            </a:r>
            <a:r>
              <a:rPr lang="pt-BR" sz="36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caprichos</a:t>
            </a:r>
            <a:r>
              <a:rPr lang="pt-BR" sz="3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, mas o </a:t>
            </a:r>
            <a:r>
              <a:rPr lang="pt-BR" sz="36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direito de tê-los</a:t>
            </a:r>
            <a:r>
              <a:rPr lang="pt-BR" sz="3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, que está reservado apenas a uns poucos da sociedade da época, principalmente os da Burguesia. Veja-se o exemplo de Dona Plácida e do negro Prudêncio. 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4098498" y="143965"/>
            <a:ext cx="39950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Aspectos principais: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26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601457" y="1389143"/>
            <a:ext cx="1119973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7.	Um </a:t>
            </a:r>
            <a:r>
              <a:rPr 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delírio</a:t>
            </a:r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: cap. VII- O capítulo é permeado pela </a:t>
            </a:r>
            <a:r>
              <a:rPr 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fantasia</a:t>
            </a:r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, com personagens </a:t>
            </a:r>
            <a:r>
              <a:rPr 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ambivalentes</a:t>
            </a:r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e </a:t>
            </a:r>
            <a:r>
              <a:rPr 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paradoxais</a:t>
            </a:r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como o hipopótamo e a própria Pandora para revelar a </a:t>
            </a:r>
            <a:r>
              <a:rPr 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fraqueza humana</a:t>
            </a:r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, a falta de conexão entre os seres humanos, a sociedade marcada pela </a:t>
            </a:r>
            <a:r>
              <a:rPr 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maldade</a:t>
            </a:r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   			 A visão </a:t>
            </a:r>
            <a:r>
              <a:rPr 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pessimista</a:t>
            </a:r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de Machado sobre a natureza humana.</a:t>
            </a:r>
          </a:p>
          <a:p>
            <a:pPr marL="514350" indent="-514350" algn="just">
              <a:buAutoNum type="arabicPeriod" startAt="5"/>
            </a:pPr>
            <a:endParaRPr lang="pt-BR" sz="28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algn="just"/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8.	O </a:t>
            </a:r>
            <a:r>
              <a:rPr 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Humanitismo de Quincas Borba</a:t>
            </a:r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:  se proclama "a </a:t>
            </a:r>
            <a:r>
              <a:rPr 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única verdade</a:t>
            </a:r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", </a:t>
            </a:r>
            <a:r>
              <a:rPr 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negando a verdade </a:t>
            </a:r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essencial do Budismo, Bramanismo, Islamismo, Cristianismo e de todos os sistemas e crenças da história da humanidade.  Pregando que a </a:t>
            </a:r>
            <a:r>
              <a:rPr 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dor é uma ilusão</a:t>
            </a:r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, e a única desgraça é não nascer,  Quincas está beirando a </a:t>
            </a:r>
            <a:r>
              <a:rPr 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loucura</a:t>
            </a:r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e tenta explicar fenômenos das várias ordens: físicas, químicas, psíquicas e sociais. É </a:t>
            </a:r>
            <a:r>
              <a:rPr 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um sistema filosófico </a:t>
            </a:r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mediante o qual a personagem Quincas Borba tenta explicar, racionalmente, a razão e o sentido da vida                   </a:t>
            </a:r>
            <a:r>
              <a:rPr lang="pt-BR" sz="2800" dirty="0">
                <a:solidFill>
                  <a:srgbClr val="FFC000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Uma ironia ao cientificismo </a:t>
            </a:r>
            <a:r>
              <a:rPr lang="pt-BR" sz="2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da época.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4098498" y="143965"/>
            <a:ext cx="39950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Aspectos principais: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F0779BDD-777C-40C6-8594-0C8004895963}"/>
              </a:ext>
            </a:extLst>
          </p:cNvPr>
          <p:cNvSpPr/>
          <p:nvPr/>
        </p:nvSpPr>
        <p:spPr>
          <a:xfrm>
            <a:off x="8362816" y="2425147"/>
            <a:ext cx="807688" cy="291549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CDF5050F-8240-4D47-8757-6AB198700F8E}"/>
              </a:ext>
            </a:extLst>
          </p:cNvPr>
          <p:cNvSpPr/>
          <p:nvPr/>
        </p:nvSpPr>
        <p:spPr>
          <a:xfrm>
            <a:off x="3797443" y="5810554"/>
            <a:ext cx="807688" cy="291549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9798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567324" y="1712208"/>
            <a:ext cx="409661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 algn="ctr">
              <a:buAutoNum type="arabicPeriod" startAt="9"/>
            </a:pPr>
            <a:r>
              <a:rPr lang="pt-BR" sz="4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 Dedicatória:</a:t>
            </a:r>
          </a:p>
          <a:p>
            <a:pPr algn="ctr"/>
            <a:r>
              <a:rPr lang="pt-BR" sz="12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pt-BR" sz="48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Um significado surpreendente.</a:t>
            </a:r>
            <a:endParaRPr lang="pt-BR" sz="4800" dirty="0">
              <a:solidFill>
                <a:srgbClr val="FFC000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4098498" y="143965"/>
            <a:ext cx="39950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Aspectos principais: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pic>
        <p:nvPicPr>
          <p:cNvPr id="7" name="Imagem 6" descr="Resultado de imagem para memorias postumas dedicatória">
            <a:extLst>
              <a:ext uri="{FF2B5EF4-FFF2-40B4-BE49-F238E27FC236}">
                <a16:creationId xmlns:a16="http://schemas.microsoft.com/office/drawing/2014/main" id="{1C99E490-620C-4FA2-AB19-1B563700CADF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7" b="96703" l="2473" r="97527">
                        <a14:foregroundMark x1="8104" y1="71245" x2="16071" y2="72894"/>
                        <a14:foregroundMark x1="18132" y1="71245" x2="26236" y2="71612"/>
                        <a14:foregroundMark x1="24451" y1="69597" x2="31456" y2="69048"/>
                        <a14:foregroundMark x1="24451" y1="66850" x2="28571" y2="65751"/>
                        <a14:foregroundMark x1="14560" y1="67766" x2="8929" y2="68132"/>
                        <a14:foregroundMark x1="4808" y1="70330" x2="9478" y2="70879"/>
                        <a14:foregroundMark x1="2473" y1="71612" x2="10165" y2="73443"/>
                        <a14:foregroundMark x1="6044" y1="84432" x2="30769" y2="89744"/>
                        <a14:foregroundMark x1="14286" y1="94872" x2="34341" y2="96886"/>
                        <a14:foregroundMark x1="34341" y1="96886" x2="41621" y2="96520"/>
                        <a14:foregroundMark x1="85577" y1="75641" x2="97527" y2="75641"/>
                        <a14:foregroundMark x1="60714" y1="91392" x2="86538" y2="891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843" y="781097"/>
            <a:ext cx="7050157" cy="60788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C441E61-1C73-4D3B-8E9F-E58C6611B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05901">
            <a:off x="9040069" y="5829278"/>
            <a:ext cx="1251082" cy="6327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7BCCFD9-15BD-4D9B-8BA2-297C0BC5A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09856">
            <a:off x="9028682" y="6239965"/>
            <a:ext cx="1081483" cy="546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80617D7-A801-404F-95AD-F325BDBF03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9515" y="5959372"/>
            <a:ext cx="1081483" cy="546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CB64552-AE01-4651-AD82-E88A446F5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7298" y="5764696"/>
            <a:ext cx="1081483" cy="546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5D9AF33-ED47-438E-B0FA-015C30242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9556" y="6238064"/>
            <a:ext cx="1081483" cy="546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68D2F8FE-7ECB-4ECF-9771-473689145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5996" y="5764696"/>
            <a:ext cx="1081483" cy="546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EF9DE732-CCF8-43D8-BF99-ADA5980D8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22904">
            <a:off x="10544061" y="6232610"/>
            <a:ext cx="1081483" cy="546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DFCBA8B3-7E87-45DA-8B2F-155C7043C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0836" y="6044594"/>
            <a:ext cx="1051164" cy="5316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9A808229-5964-44C4-9ADF-1047EB122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38670">
            <a:off x="11038904" y="6178403"/>
            <a:ext cx="1081483" cy="546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A7EEB303-BE24-4B0C-8114-8088C8D05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38670">
            <a:off x="11158863" y="5838922"/>
            <a:ext cx="1081483" cy="546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A633F476-7BF6-43DA-95FA-E1C1F39FE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38670">
            <a:off x="10620023" y="5950809"/>
            <a:ext cx="1081483" cy="546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D9E424BB-999C-4147-88D0-EE8448443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38670">
            <a:off x="9387907" y="6094422"/>
            <a:ext cx="1081483" cy="5469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136261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1581</TotalTime>
  <Words>555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Arial</vt:lpstr>
      <vt:lpstr>Blackadder ITC</vt:lpstr>
      <vt:lpstr>Calisto MT</vt:lpstr>
      <vt:lpstr>Gabriola</vt:lpstr>
      <vt:lpstr>Modern Love Grunge</vt:lpstr>
      <vt:lpstr>Wingdings 2</vt:lpstr>
      <vt:lpstr>Ardósia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Jacqueline Cobiak</dc:creator>
  <cp:lastModifiedBy>Jacqueline Cobiak</cp:lastModifiedBy>
  <cp:revision>56</cp:revision>
  <dcterms:created xsi:type="dcterms:W3CDTF">2020-09-20T02:49:18Z</dcterms:created>
  <dcterms:modified xsi:type="dcterms:W3CDTF">2021-02-20T23:20:03Z</dcterms:modified>
</cp:coreProperties>
</file>