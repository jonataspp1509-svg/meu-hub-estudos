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9144000" cy="5143500" type="screen16x9"/>
  <p:notesSz cx="6858000" cy="9144000"/>
  <p:embeddedFontLst>
    <p:embeddedFont>
      <p:font typeface="Bookman Old Style" panose="02050604050505020204" pitchFamily="18" charset="0"/>
      <p:regular r:id="rId31"/>
      <p:bold r:id="rId32"/>
      <p:italic r:id="rId33"/>
      <p:boldItalic r:id="rId34"/>
    </p:embeddedFont>
    <p:embeddedFont>
      <p:font typeface="Comic Sans MS" panose="030F0702030302020204" pitchFamily="66" charset="0"/>
      <p:regular r:id="rId35"/>
      <p:bold r:id="rId36"/>
      <p:italic r:id="rId37"/>
      <p:boldItalic r:id="rId38"/>
    </p:embeddedFont>
    <p:embeddedFont>
      <p:font typeface="Georgia" panose="02040502050405020303" pitchFamily="18" charset="0"/>
      <p:regular r:id="rId39"/>
      <p:bold r:id="rId40"/>
      <p:italic r:id="rId41"/>
      <p:boldItalic r:id="rId42"/>
    </p:embeddedFont>
    <p:embeddedFont>
      <p:font typeface="Proxima Nova" panose="020B0604020202020204" charset="0"/>
      <p:regular r:id="rId43"/>
      <p:bold r:id="rId44"/>
      <p:italic r:id="rId45"/>
      <p:boldItalic r:id="rId46"/>
    </p:embeddedFont>
    <p:embeddedFont>
      <p:font typeface="Spectral" panose="020B0604020202020204" charset="0"/>
      <p:regular r:id="rId47"/>
      <p:bold r:id="rId48"/>
      <p:italic r:id="rId49"/>
      <p:boldItalic r:id="rId5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9.fntdata"/><Relationship Id="rId21" Type="http://schemas.openxmlformats.org/officeDocument/2006/relationships/slide" Target="slides/slide20.xml"/><Relationship Id="rId34" Type="http://schemas.openxmlformats.org/officeDocument/2006/relationships/font" Target="fonts/font4.fntdata"/><Relationship Id="rId42" Type="http://schemas.openxmlformats.org/officeDocument/2006/relationships/font" Target="fonts/font12.fntdata"/><Relationship Id="rId47" Type="http://schemas.openxmlformats.org/officeDocument/2006/relationships/font" Target="fonts/font17.fntdata"/><Relationship Id="rId50" Type="http://schemas.openxmlformats.org/officeDocument/2006/relationships/font" Target="fonts/font20.fntdata"/><Relationship Id="rId55"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45" Type="http://schemas.openxmlformats.org/officeDocument/2006/relationships/font" Target="fonts/font15.fntdata"/><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4" Type="http://schemas.openxmlformats.org/officeDocument/2006/relationships/font" Target="fonts/font14.fntdata"/><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font" Target="fonts/font13.fntdata"/><Relationship Id="rId48" Type="http://schemas.openxmlformats.org/officeDocument/2006/relationships/font" Target="fonts/font18.fntdata"/><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font" Target="fonts/font8.fntdata"/><Relationship Id="rId46" Type="http://schemas.openxmlformats.org/officeDocument/2006/relationships/font" Target="fonts/font16.fntdata"/><Relationship Id="rId20" Type="http://schemas.openxmlformats.org/officeDocument/2006/relationships/slide" Target="slides/slide19.xml"/><Relationship Id="rId41" Type="http://schemas.openxmlformats.org/officeDocument/2006/relationships/font" Target="fonts/font11.fntdata"/><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49" Type="http://schemas.openxmlformats.org/officeDocument/2006/relationships/font" Target="fonts/font19.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enata Godoy de Jesus" userId="S::renata.jesus@camendel.com.br::2ec6e1ad-e8c9-47db-91f0-1cf3529478ff" providerId="AD" clId="Web-{833A170E-E16B-3C09-24C9-16F589CA6D3B}"/>
    <pc:docChg chg="modSld">
      <pc:chgData name="Renata Godoy de Jesus" userId="S::renata.jesus@camendel.com.br::2ec6e1ad-e8c9-47db-91f0-1cf3529478ff" providerId="AD" clId="Web-{833A170E-E16B-3C09-24C9-16F589CA6D3B}" dt="2026-02-01T13:28:50.491" v="7" actId="20577"/>
      <pc:docMkLst>
        <pc:docMk/>
      </pc:docMkLst>
      <pc:sldChg chg="modSp">
        <pc:chgData name="Renata Godoy de Jesus" userId="S::renata.jesus@camendel.com.br::2ec6e1ad-e8c9-47db-91f0-1cf3529478ff" providerId="AD" clId="Web-{833A170E-E16B-3C09-24C9-16F589CA6D3B}" dt="2026-02-01T13:27:59.786" v="2" actId="20577"/>
        <pc:sldMkLst>
          <pc:docMk/>
          <pc:sldMk cId="0" sldId="275"/>
        </pc:sldMkLst>
        <pc:spChg chg="mod">
          <ac:chgData name="Renata Godoy de Jesus" userId="S::renata.jesus@camendel.com.br::2ec6e1ad-e8c9-47db-91f0-1cf3529478ff" providerId="AD" clId="Web-{833A170E-E16B-3C09-24C9-16F589CA6D3B}" dt="2026-02-01T13:27:59.786" v="2" actId="20577"/>
          <ac:spMkLst>
            <pc:docMk/>
            <pc:sldMk cId="0" sldId="275"/>
            <ac:spMk id="173" creationId="{00000000-0000-0000-0000-000000000000}"/>
          </ac:spMkLst>
        </pc:spChg>
      </pc:sldChg>
      <pc:sldChg chg="modSp">
        <pc:chgData name="Renata Godoy de Jesus" userId="S::renata.jesus@camendel.com.br::2ec6e1ad-e8c9-47db-91f0-1cf3529478ff" providerId="AD" clId="Web-{833A170E-E16B-3C09-24C9-16F589CA6D3B}" dt="2026-02-01T13:28:33.428" v="5" actId="20577"/>
        <pc:sldMkLst>
          <pc:docMk/>
          <pc:sldMk cId="0" sldId="276"/>
        </pc:sldMkLst>
        <pc:spChg chg="mod">
          <ac:chgData name="Renata Godoy de Jesus" userId="S::renata.jesus@camendel.com.br::2ec6e1ad-e8c9-47db-91f0-1cf3529478ff" providerId="AD" clId="Web-{833A170E-E16B-3C09-24C9-16F589CA6D3B}" dt="2026-02-01T13:28:33.428" v="5" actId="20577"/>
          <ac:spMkLst>
            <pc:docMk/>
            <pc:sldMk cId="0" sldId="276"/>
            <ac:spMk id="179" creationId="{00000000-0000-0000-0000-000000000000}"/>
          </ac:spMkLst>
        </pc:spChg>
      </pc:sldChg>
      <pc:sldChg chg="modSp">
        <pc:chgData name="Renata Godoy de Jesus" userId="S::renata.jesus@camendel.com.br::2ec6e1ad-e8c9-47db-91f0-1cf3529478ff" providerId="AD" clId="Web-{833A170E-E16B-3C09-24C9-16F589CA6D3B}" dt="2026-02-01T13:28:50.491" v="7" actId="20577"/>
        <pc:sldMkLst>
          <pc:docMk/>
          <pc:sldMk cId="0" sldId="277"/>
        </pc:sldMkLst>
        <pc:spChg chg="mod">
          <ac:chgData name="Renata Godoy de Jesus" userId="S::renata.jesus@camendel.com.br::2ec6e1ad-e8c9-47db-91f0-1cf3529478ff" providerId="AD" clId="Web-{833A170E-E16B-3C09-24C9-16F589CA6D3B}" dt="2026-02-01T13:28:50.491" v="7" actId="20577"/>
          <ac:spMkLst>
            <pc:docMk/>
            <pc:sldMk cId="0" sldId="277"/>
            <ac:spMk id="18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139c68e2e7e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139c68e2e7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g139c68e2e7e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139c68e2e7e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139c68e2e7e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139c68e2e7e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139c68e2e7e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139c68e2e7e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139c68e2e7e_0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139c68e2e7e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139c68e2e7e_0_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139c68e2e7e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139c68e2e7e_0_7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139c68e2e7e_0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139c68e2e7e_0_8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139c68e2e7e_0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139c68e2e7e_0_37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139c68e2e7e_0_3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139c68e2e7e_0_3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139c68e2e7e_0_3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139c68e2e7e_0_4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139c68e2e7e_0_4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297251320d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297251320d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297251320d_0_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3297251320d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139c68e2e7e_0_9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139c68e2e7e_0_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139c68e2e7e_0_10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139c68e2e7e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139c68e2e7e_0_1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139c68e2e7e_0_1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139c68e2e7e_0_1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139c68e2e7e_0_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139c68e2e7e_0_1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139c68e2e7e_0_1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139c68e2e7e_0_29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139c68e2e7e_0_2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139c68e2e7e_0_3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139c68e2e7e_0_3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139c68e2e7e_0_3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139c68e2e7e_0_3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139c68e2e7e_0_3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139c68e2e7e_0_3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342e075c409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 name="Google Shape;188;g342e075c409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42e075c409_1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342e075c409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342e075c409_1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342e075c409_1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342e075c409_1_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 name="Google Shape;205;g342e075c409_1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342e075c409_1_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342e075c409_1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342e075c409_1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 name="Google Shape;216;g342e075c409_1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pt-BR"/>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hyperlink" Target="http://www.youtube.com/watch?v=lEzmc22PDRg" TargetMode="External"/><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3.jp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hyperlink" Target="https://omelete.uol.com.br/filmes/criticas/cidade-de-deus/?key=21973" TargetMode="External"/><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hyperlink" Target="http://www.youtube.com/watch?v=_LxaB9Wyloo" TargetMode="External"/><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4.jp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3"/>
        <p:cNvGrpSpPr/>
        <p:nvPr/>
      </p:nvGrpSpPr>
      <p:grpSpPr>
        <a:xfrm>
          <a:off x="0" y="0"/>
          <a:ext cx="0" cy="0"/>
          <a:chOff x="0" y="0"/>
          <a:chExt cx="0" cy="0"/>
        </a:xfrm>
      </p:grpSpPr>
      <p:sp>
        <p:nvSpPr>
          <p:cNvPr id="54" name="Google Shape;54;p13"/>
          <p:cNvSpPr txBox="1"/>
          <p:nvPr/>
        </p:nvSpPr>
        <p:spPr>
          <a:xfrm>
            <a:off x="82525" y="1471525"/>
            <a:ext cx="1715400" cy="2420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pt-BR" sz="2800" b="1">
                <a:solidFill>
                  <a:schemeClr val="dk2"/>
                </a:solidFill>
                <a:latin typeface="Comic Sans MS"/>
                <a:ea typeface="Comic Sans MS"/>
                <a:cs typeface="Comic Sans MS"/>
                <a:sym typeface="Comic Sans MS"/>
              </a:rPr>
              <a:t>Gênero Textual:</a:t>
            </a:r>
            <a:r>
              <a:rPr lang="pt-BR" sz="2800">
                <a:solidFill>
                  <a:schemeClr val="dk2"/>
                </a:solidFill>
                <a:latin typeface="Comic Sans MS"/>
                <a:ea typeface="Comic Sans MS"/>
                <a:cs typeface="Comic Sans MS"/>
                <a:sym typeface="Comic Sans MS"/>
              </a:rPr>
              <a:t> </a:t>
            </a:r>
            <a:r>
              <a:rPr lang="pt-BR" sz="2800" b="1">
                <a:solidFill>
                  <a:srgbClr val="0000FF"/>
                </a:solidFill>
                <a:latin typeface="Comic Sans MS"/>
                <a:ea typeface="Comic Sans MS"/>
                <a:cs typeface="Comic Sans MS"/>
                <a:sym typeface="Comic Sans MS"/>
              </a:rPr>
              <a:t>Resenha Crítica</a:t>
            </a:r>
            <a:endParaRPr sz="2800" b="1">
              <a:solidFill>
                <a:srgbClr val="0000FF"/>
              </a:solidFill>
              <a:latin typeface="Comic Sans MS"/>
              <a:ea typeface="Comic Sans MS"/>
              <a:cs typeface="Comic Sans MS"/>
              <a:sym typeface="Comic Sans M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t-BR"/>
              <a:t>Gênero Textual: </a:t>
            </a:r>
            <a:r>
              <a:rPr lang="pt-BR">
                <a:solidFill>
                  <a:srgbClr val="FF00FF"/>
                </a:solidFill>
              </a:rPr>
              <a:t>Resenha Crítica</a:t>
            </a:r>
            <a:endParaRPr>
              <a:solidFill>
                <a:srgbClr val="FF00FF"/>
              </a:solidFill>
            </a:endParaRPr>
          </a:p>
        </p:txBody>
      </p:sp>
      <p:sp>
        <p:nvSpPr>
          <p:cNvPr id="60" name="Google Shape;60;p14"/>
          <p:cNvSpPr txBox="1">
            <a:spLocks noGrp="1"/>
          </p:cNvSpPr>
          <p:nvPr>
            <p:ph type="body" idx="1"/>
          </p:nvPr>
        </p:nvSpPr>
        <p:spPr>
          <a:xfrm>
            <a:off x="311700" y="1152475"/>
            <a:ext cx="8520600" cy="3882900"/>
          </a:xfrm>
          <a:prstGeom prst="rect">
            <a:avLst/>
          </a:prstGeom>
        </p:spPr>
        <p:txBody>
          <a:bodyPr spcFirstLastPara="1" wrap="square" lIns="91425" tIns="91425" rIns="91425" bIns="91425" anchor="t" anchorCtr="0">
            <a:normAutofit lnSpcReduction="10000"/>
          </a:bodyPr>
          <a:lstStyle/>
          <a:p>
            <a:pPr marL="0" lvl="0" indent="457200" algn="l" rtl="0">
              <a:lnSpc>
                <a:spcPct val="100000"/>
              </a:lnSpc>
              <a:spcBef>
                <a:spcPts val="0"/>
              </a:spcBef>
              <a:spcAft>
                <a:spcPts val="0"/>
              </a:spcAft>
              <a:buNone/>
            </a:pPr>
            <a:r>
              <a:rPr lang="pt-BR">
                <a:solidFill>
                  <a:srgbClr val="000000"/>
                </a:solidFill>
                <a:latin typeface="Bookman Old Style"/>
                <a:ea typeface="Bookman Old Style"/>
                <a:cs typeface="Bookman Old Style"/>
                <a:sym typeface="Bookman Old Style"/>
              </a:rPr>
              <a:t>Como escolher um filme para ver no fim de semana? Como saber se vale a pena comprar o novo disco de um artista? Quais dentre os muitos livros recentemente publicados merecem a nossa atenção? Um gênero discursivo que circula em jornais e revistas pode ser utilizado como referência para responder a perguntas como essas. Trata-se da </a:t>
            </a:r>
            <a:r>
              <a:rPr lang="pt-BR">
                <a:solidFill>
                  <a:srgbClr val="FF00FF"/>
                </a:solidFill>
                <a:latin typeface="Bookman Old Style"/>
                <a:ea typeface="Bookman Old Style"/>
                <a:cs typeface="Bookman Old Style"/>
                <a:sym typeface="Bookman Old Style"/>
              </a:rPr>
              <a:t>resenha</a:t>
            </a:r>
            <a:r>
              <a:rPr lang="pt-BR">
                <a:solidFill>
                  <a:srgbClr val="000000"/>
                </a:solidFill>
                <a:latin typeface="Bookman Old Style"/>
                <a:ea typeface="Bookman Old Style"/>
                <a:cs typeface="Bookman Old Style"/>
                <a:sym typeface="Bookman Old Style"/>
              </a:rPr>
              <a:t>. </a:t>
            </a:r>
            <a:endParaRPr>
              <a:solidFill>
                <a:srgbClr val="000000"/>
              </a:solidFill>
              <a:latin typeface="Bookman Old Style"/>
              <a:ea typeface="Bookman Old Style"/>
              <a:cs typeface="Bookman Old Style"/>
              <a:sym typeface="Bookman Old Style"/>
            </a:endParaRPr>
          </a:p>
          <a:p>
            <a:pPr marL="0" lvl="0" indent="0" algn="l" rtl="0">
              <a:lnSpc>
                <a:spcPct val="100000"/>
              </a:lnSpc>
              <a:spcBef>
                <a:spcPts val="0"/>
              </a:spcBef>
              <a:spcAft>
                <a:spcPts val="0"/>
              </a:spcAft>
              <a:buNone/>
            </a:pPr>
            <a:r>
              <a:rPr lang="pt-BR">
                <a:solidFill>
                  <a:srgbClr val="000000"/>
                </a:solidFill>
                <a:latin typeface="Bookman Old Style"/>
                <a:ea typeface="Bookman Old Style"/>
                <a:cs typeface="Bookman Old Style"/>
                <a:sym typeface="Bookman Old Style"/>
              </a:rPr>
              <a:t>	A resenha é um gênero textual que combina a </a:t>
            </a:r>
            <a:r>
              <a:rPr lang="pt-BR">
                <a:solidFill>
                  <a:srgbClr val="9900FF"/>
                </a:solidFill>
                <a:latin typeface="Bookman Old Style"/>
                <a:ea typeface="Bookman Old Style"/>
                <a:cs typeface="Bookman Old Style"/>
                <a:sym typeface="Bookman Old Style"/>
              </a:rPr>
              <a:t>apresentação das características essenciais de uma dada obra </a:t>
            </a:r>
            <a:r>
              <a:rPr lang="pt-BR">
                <a:solidFill>
                  <a:srgbClr val="000000"/>
                </a:solidFill>
                <a:latin typeface="Bookman Old Style"/>
                <a:ea typeface="Bookman Old Style"/>
                <a:cs typeface="Bookman Old Style"/>
                <a:sym typeface="Bookman Old Style"/>
              </a:rPr>
              <a:t>(filme, livro, peça de teatro, etc.) com </a:t>
            </a:r>
            <a:r>
              <a:rPr lang="pt-BR">
                <a:solidFill>
                  <a:srgbClr val="9900FF"/>
                </a:solidFill>
                <a:latin typeface="Bookman Old Style"/>
                <a:ea typeface="Bookman Old Style"/>
                <a:cs typeface="Bookman Old Style"/>
                <a:sym typeface="Bookman Old Style"/>
              </a:rPr>
              <a:t>comentários e avaliações críticas sobre sua qualidade</a:t>
            </a:r>
            <a:r>
              <a:rPr lang="pt-BR">
                <a:solidFill>
                  <a:srgbClr val="000000"/>
                </a:solidFill>
                <a:latin typeface="Bookman Old Style"/>
                <a:ea typeface="Bookman Old Style"/>
                <a:cs typeface="Bookman Old Style"/>
                <a:sym typeface="Bookman Old Style"/>
              </a:rPr>
              <a:t>.</a:t>
            </a:r>
            <a:endParaRPr>
              <a:solidFill>
                <a:srgbClr val="000000"/>
              </a:solidFill>
              <a:latin typeface="Bookman Old Style"/>
              <a:ea typeface="Bookman Old Style"/>
              <a:cs typeface="Bookman Old Style"/>
              <a:sym typeface="Bookman Old Style"/>
            </a:endParaRPr>
          </a:p>
          <a:p>
            <a:pPr marL="0" lvl="0" indent="0" algn="l" rtl="0">
              <a:lnSpc>
                <a:spcPct val="100000"/>
              </a:lnSpc>
              <a:spcBef>
                <a:spcPts val="0"/>
              </a:spcBef>
              <a:spcAft>
                <a:spcPts val="0"/>
              </a:spcAft>
              <a:buNone/>
            </a:pPr>
            <a:r>
              <a:rPr lang="pt-BR">
                <a:solidFill>
                  <a:srgbClr val="000000"/>
                </a:solidFill>
                <a:latin typeface="Bookman Old Style"/>
                <a:ea typeface="Bookman Old Style"/>
                <a:cs typeface="Bookman Old Style"/>
                <a:sym typeface="Bookman Old Style"/>
              </a:rPr>
              <a:t>	Os resenhistas, além de caracterizar sucintamente a obra analisada, apresentam uma série de juízos de valor que procuram oferecer, ao leitor, uma avaliação mais geral da qualidade e da validade dessa obra. Por esse motivo, </a:t>
            </a:r>
            <a:r>
              <a:rPr lang="pt-BR">
                <a:solidFill>
                  <a:srgbClr val="9900FF"/>
                </a:solidFill>
                <a:latin typeface="Bookman Old Style"/>
                <a:ea typeface="Bookman Old Style"/>
                <a:cs typeface="Bookman Old Style"/>
                <a:sym typeface="Bookman Old Style"/>
              </a:rPr>
              <a:t>as resenhas são textos argumentativos, uma vez que os juízos de valor devem vir acompanhados de argumentos que os sustentem.</a:t>
            </a:r>
            <a:endParaRPr>
              <a:solidFill>
                <a:srgbClr val="9900FF"/>
              </a:solidFill>
              <a:latin typeface="Bookman Old Style"/>
              <a:ea typeface="Bookman Old Style"/>
              <a:cs typeface="Bookman Old Style"/>
              <a:sym typeface="Bookman Old Style"/>
            </a:endParaRPr>
          </a:p>
          <a:p>
            <a:pPr marL="0" lvl="0" indent="0" algn="l" rtl="0">
              <a:spcBef>
                <a:spcPts val="0"/>
              </a:spcBef>
              <a:spcAft>
                <a:spcPts val="1200"/>
              </a:spcAft>
              <a:buNone/>
            </a:pPr>
            <a:endParaRPr>
              <a:latin typeface="Bookman Old Style"/>
              <a:ea typeface="Bookman Old Style"/>
              <a:cs typeface="Bookman Old Style"/>
              <a:sym typeface="Bookman Old Style"/>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t-BR">
                <a:solidFill>
                  <a:srgbClr val="FF00FF"/>
                </a:solidFill>
              </a:rPr>
              <a:t>Resenha crítica:</a:t>
            </a:r>
            <a:r>
              <a:rPr lang="pt-BR"/>
              <a:t> contexto de circulação</a:t>
            </a:r>
            <a:endParaRPr/>
          </a:p>
        </p:txBody>
      </p:sp>
      <p:sp>
        <p:nvSpPr>
          <p:cNvPr id="66" name="Google Shape;66;p15"/>
          <p:cNvSpPr txBox="1">
            <a:spLocks noGrp="1"/>
          </p:cNvSpPr>
          <p:nvPr>
            <p:ph type="body" idx="1"/>
          </p:nvPr>
        </p:nvSpPr>
        <p:spPr>
          <a:xfrm>
            <a:off x="311700" y="1017725"/>
            <a:ext cx="8520600" cy="4071000"/>
          </a:xfrm>
          <a:prstGeom prst="rect">
            <a:avLst/>
          </a:prstGeom>
        </p:spPr>
        <p:txBody>
          <a:bodyPr spcFirstLastPara="1" wrap="square" lIns="91425" tIns="91425" rIns="91425" bIns="91425" anchor="t" anchorCtr="0">
            <a:normAutofit/>
          </a:bodyPr>
          <a:lstStyle/>
          <a:p>
            <a:pPr marL="0" lvl="0" indent="457200" algn="l" rtl="0">
              <a:lnSpc>
                <a:spcPct val="100000"/>
              </a:lnSpc>
              <a:spcBef>
                <a:spcPts val="0"/>
              </a:spcBef>
              <a:spcAft>
                <a:spcPts val="0"/>
              </a:spcAft>
              <a:buNone/>
            </a:pPr>
            <a:r>
              <a:rPr lang="pt-BR" sz="1500">
                <a:solidFill>
                  <a:srgbClr val="000000"/>
                </a:solidFill>
                <a:latin typeface="Bookman Old Style"/>
                <a:ea typeface="Bookman Old Style"/>
                <a:cs typeface="Bookman Old Style"/>
                <a:sym typeface="Bookman Old Style"/>
              </a:rPr>
              <a:t>Atualmente encontramos resenhas em diversos contextos de circulação. Nas revistas semanais e nos jornais diários, por exemplo, há sempre uma seção dedicada à avaliação de lançamentos de filmes, músicas, séries, livros. Os repórteres culturais são os responsáveis por essas resenhas. </a:t>
            </a:r>
            <a:endParaRPr sz="1500">
              <a:solidFill>
                <a:srgbClr val="000000"/>
              </a:solidFill>
              <a:latin typeface="Bookman Old Style"/>
              <a:ea typeface="Bookman Old Style"/>
              <a:cs typeface="Bookman Old Style"/>
              <a:sym typeface="Bookman Old Style"/>
            </a:endParaRPr>
          </a:p>
          <a:p>
            <a:pPr marL="0" lvl="0" indent="457200" algn="l" rtl="0">
              <a:lnSpc>
                <a:spcPct val="100000"/>
              </a:lnSpc>
              <a:spcBef>
                <a:spcPts val="0"/>
              </a:spcBef>
              <a:spcAft>
                <a:spcPts val="0"/>
              </a:spcAft>
              <a:buNone/>
            </a:pPr>
            <a:r>
              <a:rPr lang="pt-BR" sz="1500">
                <a:solidFill>
                  <a:srgbClr val="000000"/>
                </a:solidFill>
                <a:latin typeface="Bookman Old Style"/>
                <a:ea typeface="Bookman Old Style"/>
                <a:cs typeface="Bookman Old Style"/>
                <a:sym typeface="Bookman Old Style"/>
              </a:rPr>
              <a:t>Grandes portais da internet, como UOL, Globo e Terra, também apresentam seções de resenhas, que costumam ser incrementadas pelos recursos tecnológicos que permitem ao internauta ver um </a:t>
            </a:r>
            <a:r>
              <a:rPr lang="pt-BR" sz="1500" i="1">
                <a:solidFill>
                  <a:srgbClr val="000000"/>
                </a:solidFill>
                <a:latin typeface="Bookman Old Style"/>
                <a:ea typeface="Bookman Old Style"/>
                <a:cs typeface="Bookman Old Style"/>
                <a:sym typeface="Bookman Old Style"/>
              </a:rPr>
              <a:t>trailer</a:t>
            </a:r>
            <a:r>
              <a:rPr lang="pt-BR" sz="1500">
                <a:solidFill>
                  <a:srgbClr val="000000"/>
                </a:solidFill>
                <a:latin typeface="Bookman Old Style"/>
                <a:ea typeface="Bookman Old Style"/>
                <a:cs typeface="Bookman Old Style"/>
                <a:sym typeface="Bookman Old Style"/>
              </a:rPr>
              <a:t> do filme ou ouvir trechos de músicas recém-lançadas.</a:t>
            </a:r>
            <a:endParaRPr sz="1500">
              <a:solidFill>
                <a:srgbClr val="000000"/>
              </a:solidFill>
              <a:latin typeface="Bookman Old Style"/>
              <a:ea typeface="Bookman Old Style"/>
              <a:cs typeface="Bookman Old Style"/>
              <a:sym typeface="Bookman Old Style"/>
            </a:endParaRPr>
          </a:p>
          <a:p>
            <a:pPr marL="0" lvl="0" indent="0" algn="l" rtl="0">
              <a:lnSpc>
                <a:spcPct val="100000"/>
              </a:lnSpc>
              <a:spcBef>
                <a:spcPts val="0"/>
              </a:spcBef>
              <a:spcAft>
                <a:spcPts val="0"/>
              </a:spcAft>
              <a:buNone/>
            </a:pPr>
            <a:r>
              <a:rPr lang="pt-BR" sz="1500">
                <a:solidFill>
                  <a:srgbClr val="000000"/>
                </a:solidFill>
                <a:latin typeface="Bookman Old Style"/>
                <a:ea typeface="Bookman Old Style"/>
                <a:cs typeface="Bookman Old Style"/>
                <a:sym typeface="Bookman Old Style"/>
              </a:rPr>
              <a:t>		Ainda no universo virtual, é comum encontrar resenhas feitas em blogs pessoais. Nesse caso, o autor do blog indica para seus leitores as obras que conheceu recentemente e das quais gostou ou faz recomendações negativas, sugerindo que as pessoas não percam tempo lendo um determinado livro, assistindo a um filme ou ouvindo as novas músicas lançadas por uma banda ou cantor.</a:t>
            </a:r>
            <a:endParaRPr sz="1500">
              <a:solidFill>
                <a:srgbClr val="000000"/>
              </a:solidFill>
              <a:latin typeface="Bookman Old Style"/>
              <a:ea typeface="Bookman Old Style"/>
              <a:cs typeface="Bookman Old Style"/>
              <a:sym typeface="Bookman Old Style"/>
            </a:endParaRPr>
          </a:p>
          <a:p>
            <a:pPr marL="0" lvl="0" indent="0" algn="l" rtl="0">
              <a:spcBef>
                <a:spcPts val="0"/>
              </a:spcBef>
              <a:spcAft>
                <a:spcPts val="1200"/>
              </a:spcAft>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t-BR">
                <a:solidFill>
                  <a:srgbClr val="FF00FF"/>
                </a:solidFill>
              </a:rPr>
              <a:t>Resenha crítica:</a:t>
            </a:r>
            <a:r>
              <a:rPr lang="pt-BR"/>
              <a:t> linguagem</a:t>
            </a:r>
            <a:endParaRPr/>
          </a:p>
        </p:txBody>
      </p:sp>
      <p:sp>
        <p:nvSpPr>
          <p:cNvPr id="72" name="Google Shape;72;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77500" lnSpcReduction="10000"/>
          </a:bodyPr>
          <a:lstStyle/>
          <a:p>
            <a:pPr marL="0" lvl="0" indent="0" algn="l" rtl="0">
              <a:lnSpc>
                <a:spcPct val="100000"/>
              </a:lnSpc>
              <a:spcBef>
                <a:spcPts val="0"/>
              </a:spcBef>
              <a:spcAft>
                <a:spcPts val="0"/>
              </a:spcAft>
              <a:buNone/>
            </a:pPr>
            <a:endParaRPr sz="1200">
              <a:solidFill>
                <a:srgbClr val="000000"/>
              </a:solidFill>
              <a:latin typeface="arial"/>
              <a:ea typeface="arial"/>
              <a:cs typeface="arial"/>
              <a:sym typeface="arial"/>
            </a:endParaRPr>
          </a:p>
          <a:p>
            <a:pPr marL="0" lvl="0" indent="0" algn="l" rtl="0">
              <a:lnSpc>
                <a:spcPct val="100000"/>
              </a:lnSpc>
              <a:spcBef>
                <a:spcPts val="0"/>
              </a:spcBef>
              <a:spcAft>
                <a:spcPts val="0"/>
              </a:spcAft>
              <a:buNone/>
            </a:pPr>
            <a:r>
              <a:rPr lang="pt-BR" sz="1200">
                <a:solidFill>
                  <a:srgbClr val="000000"/>
                </a:solidFill>
                <a:latin typeface="arial"/>
                <a:ea typeface="arial"/>
                <a:cs typeface="arial"/>
                <a:sym typeface="arial"/>
              </a:rPr>
              <a:t>	</a:t>
            </a:r>
            <a:r>
              <a:rPr lang="pt-BR" sz="1900">
                <a:solidFill>
                  <a:srgbClr val="000000"/>
                </a:solidFill>
                <a:latin typeface="Bookman Old Style"/>
                <a:ea typeface="Bookman Old Style"/>
                <a:cs typeface="Bookman Old Style"/>
                <a:sym typeface="Bookman Old Style"/>
              </a:rPr>
              <a:t>A linguagem utilizada em uma resenha será influenciada pelo público-leitor a que ela se destina. Assim, resenhas divulgadas em revistas de grande circulação ou portais da internet, que têm um público-alvo de perfil mais geral, devem manter um uso mais formal da linguagem, respeitando as regras do português escrito culto. </a:t>
            </a:r>
            <a:endParaRPr sz="1900">
              <a:solidFill>
                <a:srgbClr val="000000"/>
              </a:solidFill>
              <a:latin typeface="Bookman Old Style"/>
              <a:ea typeface="Bookman Old Style"/>
              <a:cs typeface="Bookman Old Style"/>
              <a:sym typeface="Bookman Old Style"/>
            </a:endParaRPr>
          </a:p>
          <a:p>
            <a:pPr marL="0" lvl="0" indent="0" algn="l" rtl="0">
              <a:lnSpc>
                <a:spcPct val="100000"/>
              </a:lnSpc>
              <a:spcBef>
                <a:spcPts val="0"/>
              </a:spcBef>
              <a:spcAft>
                <a:spcPts val="0"/>
              </a:spcAft>
              <a:buNone/>
            </a:pPr>
            <a:r>
              <a:rPr lang="pt-BR" sz="1900">
                <a:solidFill>
                  <a:srgbClr val="000000"/>
                </a:solidFill>
                <a:latin typeface="Bookman Old Style"/>
                <a:ea typeface="Bookman Old Style"/>
                <a:cs typeface="Bookman Old Style"/>
                <a:sym typeface="Bookman Old Style"/>
              </a:rPr>
              <a:t>	Resenhas escritas para publicações voltadas ao público jovem, porém, admitem um uso mais coloquial da linguagem, característico de seus leitores. </a:t>
            </a:r>
            <a:endParaRPr sz="1900">
              <a:solidFill>
                <a:srgbClr val="000000"/>
              </a:solidFill>
              <a:latin typeface="Bookman Old Style"/>
              <a:ea typeface="Bookman Old Style"/>
              <a:cs typeface="Bookman Old Style"/>
              <a:sym typeface="Bookman Old Style"/>
            </a:endParaRPr>
          </a:p>
          <a:p>
            <a:pPr marL="0" lvl="0" indent="0" algn="l" rtl="0">
              <a:lnSpc>
                <a:spcPct val="100000"/>
              </a:lnSpc>
              <a:spcBef>
                <a:spcPts val="0"/>
              </a:spcBef>
              <a:spcAft>
                <a:spcPts val="0"/>
              </a:spcAft>
              <a:buNone/>
            </a:pPr>
            <a:endParaRPr sz="1400">
              <a:solidFill>
                <a:srgbClr val="000000"/>
              </a:solidFill>
              <a:latin typeface="Bookman Old Style"/>
              <a:ea typeface="Bookman Old Style"/>
              <a:cs typeface="Bookman Old Style"/>
              <a:sym typeface="Bookman Old Style"/>
            </a:endParaRPr>
          </a:p>
          <a:p>
            <a:pPr marL="0" lvl="0" indent="0" algn="l" rtl="0">
              <a:lnSpc>
                <a:spcPct val="100000"/>
              </a:lnSpc>
              <a:spcBef>
                <a:spcPts val="0"/>
              </a:spcBef>
              <a:spcAft>
                <a:spcPts val="0"/>
              </a:spcAft>
              <a:buNone/>
            </a:pPr>
            <a:endParaRPr sz="1400">
              <a:solidFill>
                <a:srgbClr val="000000"/>
              </a:solidFill>
              <a:latin typeface="Bookman Old Style"/>
              <a:ea typeface="Bookman Old Style"/>
              <a:cs typeface="Bookman Old Style"/>
              <a:sym typeface="Bookman Old Style"/>
            </a:endParaRPr>
          </a:p>
          <a:p>
            <a:pPr marL="0" lvl="0" indent="0" algn="l" rtl="0">
              <a:lnSpc>
                <a:spcPct val="100000"/>
              </a:lnSpc>
              <a:spcBef>
                <a:spcPts val="0"/>
              </a:spcBef>
              <a:spcAft>
                <a:spcPts val="0"/>
              </a:spcAft>
              <a:buNone/>
            </a:pPr>
            <a:endParaRPr sz="1400">
              <a:solidFill>
                <a:srgbClr val="000000"/>
              </a:solidFill>
              <a:latin typeface="Bookman Old Style"/>
              <a:ea typeface="Bookman Old Style"/>
              <a:cs typeface="Bookman Old Style"/>
              <a:sym typeface="Bookman Old Style"/>
            </a:endParaRPr>
          </a:p>
          <a:p>
            <a:pPr marL="0" lvl="0" indent="0" algn="l" rtl="0">
              <a:lnSpc>
                <a:spcPct val="100000"/>
              </a:lnSpc>
              <a:spcBef>
                <a:spcPts val="0"/>
              </a:spcBef>
              <a:spcAft>
                <a:spcPts val="0"/>
              </a:spcAft>
              <a:buNone/>
            </a:pPr>
            <a:endParaRPr sz="1400">
              <a:solidFill>
                <a:srgbClr val="000000"/>
              </a:solidFill>
              <a:latin typeface="Bookman Old Style"/>
              <a:ea typeface="Bookman Old Style"/>
              <a:cs typeface="Bookman Old Style"/>
              <a:sym typeface="Bookman Old Style"/>
            </a:endParaRPr>
          </a:p>
          <a:p>
            <a:pPr marL="0" lvl="0" indent="0" algn="l" rtl="0">
              <a:lnSpc>
                <a:spcPct val="100000"/>
              </a:lnSpc>
              <a:spcBef>
                <a:spcPts val="0"/>
              </a:spcBef>
              <a:spcAft>
                <a:spcPts val="0"/>
              </a:spcAft>
              <a:buNone/>
            </a:pPr>
            <a:endParaRPr sz="1400">
              <a:solidFill>
                <a:srgbClr val="000000"/>
              </a:solidFill>
              <a:latin typeface="Bookman Old Style"/>
              <a:ea typeface="Bookman Old Style"/>
              <a:cs typeface="Bookman Old Style"/>
              <a:sym typeface="Bookman Old Style"/>
            </a:endParaRPr>
          </a:p>
          <a:p>
            <a:pPr marL="0" lvl="0" indent="0" algn="l" rtl="0">
              <a:lnSpc>
                <a:spcPct val="100000"/>
              </a:lnSpc>
              <a:spcBef>
                <a:spcPts val="0"/>
              </a:spcBef>
              <a:spcAft>
                <a:spcPts val="0"/>
              </a:spcAft>
              <a:buNone/>
            </a:pPr>
            <a:endParaRPr sz="1400">
              <a:solidFill>
                <a:srgbClr val="000000"/>
              </a:solidFill>
              <a:latin typeface="Bookman Old Style"/>
              <a:ea typeface="Bookman Old Style"/>
              <a:cs typeface="Bookman Old Style"/>
              <a:sym typeface="Bookman Old Style"/>
            </a:endParaRPr>
          </a:p>
          <a:p>
            <a:pPr marL="0" lvl="0" indent="0" algn="l" rtl="0">
              <a:lnSpc>
                <a:spcPct val="100000"/>
              </a:lnSpc>
              <a:spcBef>
                <a:spcPts val="0"/>
              </a:spcBef>
              <a:spcAft>
                <a:spcPts val="0"/>
              </a:spcAft>
              <a:buNone/>
            </a:pPr>
            <a:endParaRPr sz="1400">
              <a:solidFill>
                <a:srgbClr val="000000"/>
              </a:solidFill>
              <a:latin typeface="Bookman Old Style"/>
              <a:ea typeface="Bookman Old Style"/>
              <a:cs typeface="Bookman Old Style"/>
              <a:sym typeface="Bookman Old Style"/>
            </a:endParaRPr>
          </a:p>
          <a:p>
            <a:pPr marL="0" lvl="0" indent="0" algn="l" rtl="0">
              <a:lnSpc>
                <a:spcPct val="120000"/>
              </a:lnSpc>
              <a:spcBef>
                <a:spcPts val="0"/>
              </a:spcBef>
              <a:spcAft>
                <a:spcPts val="0"/>
              </a:spcAft>
              <a:buNone/>
            </a:pPr>
            <a:r>
              <a:rPr lang="pt-BR" sz="1000">
                <a:solidFill>
                  <a:srgbClr val="000000"/>
                </a:solidFill>
                <a:latin typeface="Bookman Old Style"/>
                <a:ea typeface="Bookman Old Style"/>
                <a:cs typeface="Bookman Old Style"/>
                <a:sym typeface="Bookman Old Style"/>
              </a:rPr>
              <a:t>Maria Luiza M. Abaurre e Maria Bernadete M. Abaurre. </a:t>
            </a:r>
            <a:r>
              <a:rPr lang="pt-BR" sz="1000" i="1">
                <a:solidFill>
                  <a:srgbClr val="000000"/>
                </a:solidFill>
                <a:latin typeface="Bookman Old Style"/>
                <a:ea typeface="Bookman Old Style"/>
                <a:cs typeface="Bookman Old Style"/>
                <a:sym typeface="Bookman Old Style"/>
              </a:rPr>
              <a:t>Produção de texto</a:t>
            </a:r>
            <a:r>
              <a:rPr lang="pt-BR" sz="1000">
                <a:solidFill>
                  <a:srgbClr val="000000"/>
                </a:solidFill>
                <a:latin typeface="Bookman Old Style"/>
                <a:ea typeface="Bookman Old Style"/>
                <a:cs typeface="Bookman Old Style"/>
                <a:sym typeface="Bookman Old Style"/>
              </a:rPr>
              <a:t>, São Paulo, Ed.Moderna, 2007, pp. 184-187 e 244-252</a:t>
            </a:r>
            <a:endParaRPr sz="1200">
              <a:solidFill>
                <a:srgbClr val="000000"/>
              </a:solidFill>
              <a:latin typeface="Bookman Old Style"/>
              <a:ea typeface="Bookman Old Style"/>
              <a:cs typeface="Bookman Old Style"/>
              <a:sym typeface="Bookman Old Style"/>
            </a:endParaRPr>
          </a:p>
          <a:p>
            <a:pPr marL="0" lvl="0" indent="0" algn="l" rtl="0">
              <a:lnSpc>
                <a:spcPct val="100000"/>
              </a:lnSpc>
              <a:spcBef>
                <a:spcPts val="700"/>
              </a:spcBef>
              <a:spcAft>
                <a:spcPts val="0"/>
              </a:spcAft>
              <a:buNone/>
            </a:pPr>
            <a:endParaRPr sz="1400">
              <a:solidFill>
                <a:srgbClr val="000000"/>
              </a:solidFill>
              <a:latin typeface="Bookman Old Style"/>
              <a:ea typeface="Bookman Old Style"/>
              <a:cs typeface="Bookman Old Style"/>
              <a:sym typeface="Bookman Old Style"/>
            </a:endParaRPr>
          </a:p>
          <a:p>
            <a:pPr marL="0" lvl="0" indent="0" algn="l" rtl="0">
              <a:lnSpc>
                <a:spcPct val="100000"/>
              </a:lnSpc>
              <a:spcBef>
                <a:spcPts val="0"/>
              </a:spcBef>
              <a:spcAft>
                <a:spcPts val="0"/>
              </a:spcAft>
              <a:buNone/>
            </a:pPr>
            <a:endParaRPr sz="1400">
              <a:solidFill>
                <a:srgbClr val="000000"/>
              </a:solidFill>
              <a:latin typeface="Bookman Old Style"/>
              <a:ea typeface="Bookman Old Style"/>
              <a:cs typeface="Bookman Old Style"/>
              <a:sym typeface="Bookman Old Style"/>
            </a:endParaRPr>
          </a:p>
          <a:p>
            <a:pPr marL="0" lvl="0" indent="0" algn="l" rtl="0">
              <a:spcBef>
                <a:spcPts val="0"/>
              </a:spcBef>
              <a:spcAft>
                <a:spcPts val="1200"/>
              </a:spcAft>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t-BR">
                <a:solidFill>
                  <a:srgbClr val="FF00FF"/>
                </a:solidFill>
              </a:rPr>
              <a:t>Resenha crítica:</a:t>
            </a:r>
            <a:r>
              <a:rPr lang="pt-BR"/>
              <a:t> exemplo 1</a:t>
            </a:r>
            <a:endParaRPr/>
          </a:p>
        </p:txBody>
      </p:sp>
      <p:sp>
        <p:nvSpPr>
          <p:cNvPr id="78" name="Google Shape;78;p17"/>
          <p:cNvSpPr txBox="1">
            <a:spLocks noGrp="1"/>
          </p:cNvSpPr>
          <p:nvPr>
            <p:ph type="body" idx="1"/>
          </p:nvPr>
        </p:nvSpPr>
        <p:spPr>
          <a:xfrm>
            <a:off x="311700" y="1152475"/>
            <a:ext cx="5370000" cy="3936300"/>
          </a:xfrm>
          <a:prstGeom prst="rect">
            <a:avLst/>
          </a:prstGeom>
        </p:spPr>
        <p:txBody>
          <a:bodyPr spcFirstLastPara="1" wrap="square" lIns="91425" tIns="91425" rIns="91425" bIns="91425" anchor="t" anchorCtr="0">
            <a:normAutofit/>
          </a:bodyPr>
          <a:lstStyle/>
          <a:p>
            <a:pPr marL="0" lvl="0" indent="0" algn="l" rtl="0">
              <a:lnSpc>
                <a:spcPct val="115000"/>
              </a:lnSpc>
              <a:spcBef>
                <a:spcPts val="0"/>
              </a:spcBef>
              <a:spcAft>
                <a:spcPts val="0"/>
              </a:spcAft>
              <a:buNone/>
            </a:pPr>
            <a:r>
              <a:rPr lang="pt-BR" b="1" i="1">
                <a:solidFill>
                  <a:srgbClr val="000000"/>
                </a:solidFill>
                <a:latin typeface="Bookman Old Style"/>
                <a:ea typeface="Bookman Old Style"/>
                <a:cs typeface="Bookman Old Style"/>
                <a:sym typeface="Bookman Old Style"/>
              </a:rPr>
              <a:t>Solitária</a:t>
            </a:r>
            <a:endParaRPr b="1" i="1">
              <a:solidFill>
                <a:srgbClr val="000000"/>
              </a:solidFill>
              <a:latin typeface="Bookman Old Style"/>
              <a:ea typeface="Bookman Old Style"/>
              <a:cs typeface="Bookman Old Style"/>
              <a:sym typeface="Bookman Old Style"/>
            </a:endParaRPr>
          </a:p>
          <a:p>
            <a:pPr marL="0" lvl="0" indent="457200" algn="l" rtl="0">
              <a:lnSpc>
                <a:spcPct val="115000"/>
              </a:lnSpc>
              <a:spcBef>
                <a:spcPts val="0"/>
              </a:spcBef>
              <a:spcAft>
                <a:spcPts val="0"/>
              </a:spcAft>
              <a:buNone/>
            </a:pPr>
            <a:endParaRPr sz="1400">
              <a:solidFill>
                <a:srgbClr val="000000"/>
              </a:solidFill>
              <a:latin typeface="Bookman Old Style"/>
              <a:ea typeface="Bookman Old Style"/>
              <a:cs typeface="Bookman Old Style"/>
              <a:sym typeface="Bookman Old Style"/>
            </a:endParaRPr>
          </a:p>
          <a:p>
            <a:pPr marL="0" lvl="0" indent="0" algn="just" rtl="0">
              <a:lnSpc>
                <a:spcPct val="140000"/>
              </a:lnSpc>
              <a:spcBef>
                <a:spcPts val="1500"/>
              </a:spcBef>
              <a:spcAft>
                <a:spcPts val="0"/>
              </a:spcAft>
              <a:buNone/>
            </a:pPr>
            <a:r>
              <a:rPr lang="pt-BR" sz="1100" b="1">
                <a:solidFill>
                  <a:srgbClr val="263344"/>
                </a:solidFill>
                <a:latin typeface="Bookman Old Style"/>
                <a:ea typeface="Bookman Old Style"/>
                <a:cs typeface="Bookman Old Style"/>
                <a:sym typeface="Bookman Old Style"/>
              </a:rPr>
              <a:t>Editora:</a:t>
            </a:r>
            <a:r>
              <a:rPr lang="pt-BR" sz="1100">
                <a:solidFill>
                  <a:srgbClr val="263344"/>
                </a:solidFill>
                <a:latin typeface="Bookman Old Style"/>
                <a:ea typeface="Bookman Old Style"/>
                <a:cs typeface="Bookman Old Style"/>
                <a:sym typeface="Bookman Old Style"/>
              </a:rPr>
              <a:t> Companhia das Letras</a:t>
            </a:r>
            <a:endParaRPr sz="1100">
              <a:solidFill>
                <a:srgbClr val="263344"/>
              </a:solidFill>
              <a:latin typeface="Bookman Old Style"/>
              <a:ea typeface="Bookman Old Style"/>
              <a:cs typeface="Bookman Old Style"/>
              <a:sym typeface="Bookman Old Style"/>
            </a:endParaRPr>
          </a:p>
          <a:p>
            <a:pPr marL="0" lvl="0" indent="0" algn="just" rtl="0">
              <a:lnSpc>
                <a:spcPct val="140000"/>
              </a:lnSpc>
              <a:spcBef>
                <a:spcPts val="1500"/>
              </a:spcBef>
              <a:spcAft>
                <a:spcPts val="0"/>
              </a:spcAft>
              <a:buNone/>
            </a:pPr>
            <a:r>
              <a:rPr lang="pt-BR" sz="1100" b="1">
                <a:solidFill>
                  <a:srgbClr val="263344"/>
                </a:solidFill>
                <a:latin typeface="Bookman Old Style"/>
                <a:ea typeface="Bookman Old Style"/>
                <a:cs typeface="Bookman Old Style"/>
                <a:sym typeface="Bookman Old Style"/>
              </a:rPr>
              <a:t>Autora</a:t>
            </a:r>
            <a:r>
              <a:rPr lang="pt-BR" sz="1100">
                <a:solidFill>
                  <a:srgbClr val="263344"/>
                </a:solidFill>
                <a:latin typeface="Bookman Old Style"/>
                <a:ea typeface="Bookman Old Style"/>
                <a:cs typeface="Bookman Old Style"/>
                <a:sym typeface="Bookman Old Style"/>
              </a:rPr>
              <a:t>: Eliana Alves Cruz</a:t>
            </a:r>
            <a:endParaRPr sz="1100">
              <a:solidFill>
                <a:srgbClr val="263344"/>
              </a:solidFill>
              <a:latin typeface="Bookman Old Style"/>
              <a:ea typeface="Bookman Old Style"/>
              <a:cs typeface="Bookman Old Style"/>
              <a:sym typeface="Bookman Old Style"/>
            </a:endParaRPr>
          </a:p>
          <a:p>
            <a:pPr marL="0" lvl="0" indent="0" algn="just" rtl="0">
              <a:lnSpc>
                <a:spcPct val="140000"/>
              </a:lnSpc>
              <a:spcBef>
                <a:spcPts val="1500"/>
              </a:spcBef>
              <a:spcAft>
                <a:spcPts val="0"/>
              </a:spcAft>
              <a:buNone/>
            </a:pPr>
            <a:r>
              <a:rPr lang="pt-BR" sz="1100" b="1">
                <a:solidFill>
                  <a:srgbClr val="263344"/>
                </a:solidFill>
                <a:latin typeface="Bookman Old Style"/>
                <a:ea typeface="Bookman Old Style"/>
                <a:cs typeface="Bookman Old Style"/>
                <a:sym typeface="Bookman Old Style"/>
              </a:rPr>
              <a:t>Número de páginas</a:t>
            </a:r>
            <a:r>
              <a:rPr lang="pt-BR" sz="1100">
                <a:solidFill>
                  <a:srgbClr val="263344"/>
                </a:solidFill>
                <a:latin typeface="Bookman Old Style"/>
                <a:ea typeface="Bookman Old Style"/>
                <a:cs typeface="Bookman Old Style"/>
                <a:sym typeface="Bookman Old Style"/>
              </a:rPr>
              <a:t>: 161</a:t>
            </a:r>
            <a:endParaRPr sz="1100">
              <a:solidFill>
                <a:srgbClr val="263344"/>
              </a:solidFill>
              <a:latin typeface="Bookman Old Style"/>
              <a:ea typeface="Bookman Old Style"/>
              <a:cs typeface="Bookman Old Style"/>
              <a:sym typeface="Bookman Old Style"/>
            </a:endParaRPr>
          </a:p>
          <a:p>
            <a:pPr marL="0" lvl="0" indent="457200" algn="l" rtl="0">
              <a:lnSpc>
                <a:spcPct val="115000"/>
              </a:lnSpc>
              <a:spcBef>
                <a:spcPts val="1500"/>
              </a:spcBef>
              <a:spcAft>
                <a:spcPts val="0"/>
              </a:spcAft>
              <a:buNone/>
            </a:pPr>
            <a:endParaRPr sz="1400">
              <a:solidFill>
                <a:srgbClr val="000000"/>
              </a:solidFill>
              <a:latin typeface="Bookman Old Style"/>
              <a:ea typeface="Bookman Old Style"/>
              <a:cs typeface="Bookman Old Style"/>
              <a:sym typeface="Bookman Old Style"/>
            </a:endParaRPr>
          </a:p>
          <a:p>
            <a:pPr marL="0" lvl="0" indent="0" algn="l" rtl="0">
              <a:lnSpc>
                <a:spcPct val="150000"/>
              </a:lnSpc>
              <a:spcBef>
                <a:spcPts val="0"/>
              </a:spcBef>
              <a:spcAft>
                <a:spcPts val="0"/>
              </a:spcAft>
              <a:buNone/>
            </a:pPr>
            <a:endParaRPr sz="1400">
              <a:solidFill>
                <a:srgbClr val="000000"/>
              </a:solidFill>
              <a:latin typeface="Bookman Old Style"/>
              <a:ea typeface="Bookman Old Style"/>
              <a:cs typeface="Bookman Old Style"/>
              <a:sym typeface="Bookman Old Style"/>
            </a:endParaRPr>
          </a:p>
          <a:p>
            <a:pPr marL="0" lvl="0" indent="457200" algn="l" rtl="0">
              <a:lnSpc>
                <a:spcPct val="150000"/>
              </a:lnSpc>
              <a:spcBef>
                <a:spcPts val="0"/>
              </a:spcBef>
              <a:spcAft>
                <a:spcPts val="0"/>
              </a:spcAft>
              <a:buNone/>
            </a:pPr>
            <a:endParaRPr sz="1200">
              <a:solidFill>
                <a:srgbClr val="000000"/>
              </a:solidFill>
              <a:latin typeface="Bookman Old Style"/>
              <a:ea typeface="Bookman Old Style"/>
              <a:cs typeface="Bookman Old Style"/>
              <a:sym typeface="Bookman Old Style"/>
            </a:endParaRPr>
          </a:p>
          <a:p>
            <a:pPr marL="0" lvl="0" indent="0" algn="l" rtl="0">
              <a:spcBef>
                <a:spcPts val="0"/>
              </a:spcBef>
              <a:spcAft>
                <a:spcPts val="0"/>
              </a:spcAft>
              <a:buNone/>
            </a:pPr>
            <a:endParaRPr sz="1200">
              <a:solidFill>
                <a:srgbClr val="000000"/>
              </a:solidFill>
              <a:latin typeface="Bookman Old Style"/>
              <a:ea typeface="Bookman Old Style"/>
              <a:cs typeface="Bookman Old Style"/>
              <a:sym typeface="Bookman Old Style"/>
            </a:endParaRPr>
          </a:p>
          <a:p>
            <a:pPr marL="0" lvl="0" indent="0" algn="l" rtl="0">
              <a:spcBef>
                <a:spcPts val="0"/>
              </a:spcBef>
              <a:spcAft>
                <a:spcPts val="0"/>
              </a:spcAft>
              <a:buNone/>
            </a:pPr>
            <a:endParaRPr sz="1300">
              <a:solidFill>
                <a:srgbClr val="000000"/>
              </a:solidFill>
              <a:latin typeface="Bookman Old Style"/>
              <a:ea typeface="Bookman Old Style"/>
              <a:cs typeface="Bookman Old Style"/>
              <a:sym typeface="Bookman Old Style"/>
            </a:endParaRPr>
          </a:p>
          <a:p>
            <a:pPr marL="0" lvl="0" indent="0" algn="l" rtl="0">
              <a:spcBef>
                <a:spcPts val="0"/>
              </a:spcBef>
              <a:spcAft>
                <a:spcPts val="0"/>
              </a:spcAft>
              <a:buNone/>
            </a:pPr>
            <a:endParaRPr sz="1300">
              <a:solidFill>
                <a:srgbClr val="000000"/>
              </a:solidFill>
              <a:latin typeface="Bookman Old Style"/>
              <a:ea typeface="Bookman Old Style"/>
              <a:cs typeface="Bookman Old Style"/>
              <a:sym typeface="Bookman Old Style"/>
            </a:endParaRPr>
          </a:p>
        </p:txBody>
      </p:sp>
      <p:sp>
        <p:nvSpPr>
          <p:cNvPr id="79" name="Google Shape;79;p17"/>
          <p:cNvSpPr txBox="1"/>
          <p:nvPr/>
        </p:nvSpPr>
        <p:spPr>
          <a:xfrm>
            <a:off x="4777850" y="2841500"/>
            <a:ext cx="2959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Proxima Nova"/>
              <a:ea typeface="Proxima Nova"/>
              <a:cs typeface="Proxima Nova"/>
              <a:sym typeface="Proxima Nova"/>
            </a:endParaRPr>
          </a:p>
        </p:txBody>
      </p:sp>
      <p:pic>
        <p:nvPicPr>
          <p:cNvPr id="80" name="Google Shape;80;p17"/>
          <p:cNvPicPr preferRelativeResize="0"/>
          <p:nvPr/>
        </p:nvPicPr>
        <p:blipFill>
          <a:blip r:embed="rId3">
            <a:alphaModFix/>
          </a:blip>
          <a:stretch>
            <a:fillRect/>
          </a:stretch>
        </p:blipFill>
        <p:spPr>
          <a:xfrm>
            <a:off x="6451701" y="297850"/>
            <a:ext cx="2213400" cy="440652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t-BR">
                <a:solidFill>
                  <a:srgbClr val="FF00FF"/>
                </a:solidFill>
              </a:rPr>
              <a:t>Resenha crítica:</a:t>
            </a:r>
            <a:r>
              <a:rPr lang="pt-BR"/>
              <a:t> exemplo 1</a:t>
            </a:r>
            <a:endParaRPr/>
          </a:p>
        </p:txBody>
      </p:sp>
      <p:sp>
        <p:nvSpPr>
          <p:cNvPr id="86" name="Google Shape;86;p18"/>
          <p:cNvSpPr txBox="1">
            <a:spLocks noGrp="1"/>
          </p:cNvSpPr>
          <p:nvPr>
            <p:ph type="body" idx="1"/>
          </p:nvPr>
        </p:nvSpPr>
        <p:spPr>
          <a:xfrm>
            <a:off x="311700" y="1017725"/>
            <a:ext cx="8520600" cy="4000500"/>
          </a:xfrm>
          <a:prstGeom prst="rect">
            <a:avLst/>
          </a:prstGeom>
        </p:spPr>
        <p:txBody>
          <a:bodyPr spcFirstLastPara="1" wrap="square" lIns="91425" tIns="91425" rIns="91425" bIns="91425" anchor="t" anchorCtr="0">
            <a:normAutofit lnSpcReduction="10000"/>
          </a:bodyPr>
          <a:lstStyle/>
          <a:p>
            <a:pPr marL="0" lvl="0" indent="457200" algn="just" rtl="0">
              <a:lnSpc>
                <a:spcPct val="140000"/>
              </a:lnSpc>
              <a:spcBef>
                <a:spcPts val="1500"/>
              </a:spcBef>
              <a:spcAft>
                <a:spcPts val="0"/>
              </a:spcAft>
              <a:buNone/>
            </a:pPr>
            <a:r>
              <a:rPr lang="pt-BR" sz="1550">
                <a:solidFill>
                  <a:srgbClr val="000000"/>
                </a:solidFill>
                <a:latin typeface="Bookman Old Style"/>
                <a:ea typeface="Bookman Old Style"/>
                <a:cs typeface="Bookman Old Style"/>
                <a:sym typeface="Bookman Old Style"/>
              </a:rPr>
              <a:t>Eunice é uma empregada doméstica que, durante a semana, mora na casa dos patrões. No começo da história, sua filha Mabel costuma ficar com a avó, mas depois passa a viver com ela no trabalho. Metade da história é contada do ponto de vista da filha e metade do ponto de vista da mãe. A autora busca explorar os contrastes entre a vida de Eunice e Mabel e a dos patrões, que também têm uma filha.</a:t>
            </a:r>
            <a:endParaRPr sz="1550">
              <a:solidFill>
                <a:srgbClr val="000000"/>
              </a:solidFill>
              <a:latin typeface="Bookman Old Style"/>
              <a:ea typeface="Bookman Old Style"/>
              <a:cs typeface="Bookman Old Style"/>
              <a:sym typeface="Bookman Old Style"/>
            </a:endParaRPr>
          </a:p>
          <a:p>
            <a:pPr marL="0" lvl="0" indent="457200" algn="just" rtl="0">
              <a:lnSpc>
                <a:spcPct val="140000"/>
              </a:lnSpc>
              <a:spcBef>
                <a:spcPts val="1500"/>
              </a:spcBef>
              <a:spcAft>
                <a:spcPts val="0"/>
              </a:spcAft>
              <a:buNone/>
            </a:pPr>
            <a:r>
              <a:rPr lang="pt-BR" sz="1550">
                <a:solidFill>
                  <a:srgbClr val="000000"/>
                </a:solidFill>
                <a:latin typeface="Bookman Old Style"/>
                <a:ea typeface="Bookman Old Style"/>
                <a:cs typeface="Bookman Old Style"/>
                <a:sym typeface="Bookman Old Style"/>
              </a:rPr>
              <a:t>“Solitária”, o título do livro, se refere ao quartinho da empregada, que é quase uma prisão. Aliás, o quarto e outras dependências do prédio onde a ação se desenrola servem como narradores de alguns dos capítulos do livro, </a:t>
            </a:r>
            <a:r>
              <a:rPr lang="pt-BR" sz="1550">
                <a:solidFill>
                  <a:srgbClr val="000000"/>
                </a:solidFill>
                <a:highlight>
                  <a:schemeClr val="accent6"/>
                </a:highlight>
                <a:latin typeface="Bookman Old Style"/>
                <a:ea typeface="Bookman Old Style"/>
                <a:cs typeface="Bookman Old Style"/>
                <a:sym typeface="Bookman Old Style"/>
              </a:rPr>
              <a:t>o que é um recurso interessante</a:t>
            </a:r>
            <a:r>
              <a:rPr lang="pt-BR" sz="1550">
                <a:solidFill>
                  <a:srgbClr val="000000"/>
                </a:solidFill>
                <a:latin typeface="Bookman Old Style"/>
                <a:ea typeface="Bookman Old Style"/>
                <a:cs typeface="Bookman Old Style"/>
                <a:sym typeface="Bookman Old Style"/>
              </a:rPr>
              <a:t>.</a:t>
            </a:r>
            <a:endParaRPr sz="1550">
              <a:solidFill>
                <a:srgbClr val="000000"/>
              </a:solidFill>
              <a:latin typeface="Bookman Old Style"/>
              <a:ea typeface="Bookman Old Style"/>
              <a:cs typeface="Bookman Old Style"/>
              <a:sym typeface="Bookman Old Style"/>
            </a:endParaRPr>
          </a:p>
          <a:p>
            <a:pPr marL="0" lvl="0" indent="457200" algn="just" rtl="0">
              <a:lnSpc>
                <a:spcPct val="140000"/>
              </a:lnSpc>
              <a:spcBef>
                <a:spcPts val="1500"/>
              </a:spcBef>
              <a:spcAft>
                <a:spcPts val="0"/>
              </a:spcAft>
              <a:buNone/>
            </a:pPr>
            <a:endParaRPr sz="1350">
              <a:solidFill>
                <a:srgbClr val="000000"/>
              </a:solidFill>
              <a:latin typeface="Bookman Old Style"/>
              <a:ea typeface="Bookman Old Style"/>
              <a:cs typeface="Bookman Old Style"/>
              <a:sym typeface="Bookman Old Style"/>
            </a:endParaRPr>
          </a:p>
          <a:p>
            <a:pPr marL="0" lvl="0" indent="0" algn="l" rtl="0">
              <a:spcBef>
                <a:spcPts val="1500"/>
              </a:spcBef>
              <a:spcAft>
                <a:spcPts val="0"/>
              </a:spcAft>
              <a:buNone/>
            </a:pPr>
            <a:endParaRPr sz="1300">
              <a:solidFill>
                <a:srgbClr val="000000"/>
              </a:solidFill>
              <a:latin typeface="Bookman Old Style"/>
              <a:ea typeface="Bookman Old Style"/>
              <a:cs typeface="Bookman Old Style"/>
              <a:sym typeface="Bookman Old Style"/>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t-BR">
                <a:solidFill>
                  <a:srgbClr val="FF00FF"/>
                </a:solidFill>
              </a:rPr>
              <a:t>Resenha crítica:</a:t>
            </a:r>
            <a:r>
              <a:rPr lang="pt-BR"/>
              <a:t> exemplo 1</a:t>
            </a:r>
            <a:endParaRPr/>
          </a:p>
        </p:txBody>
      </p:sp>
      <p:sp>
        <p:nvSpPr>
          <p:cNvPr id="92" name="Google Shape;92;p19"/>
          <p:cNvSpPr txBox="1">
            <a:spLocks noGrp="1"/>
          </p:cNvSpPr>
          <p:nvPr>
            <p:ph type="body" idx="1"/>
          </p:nvPr>
        </p:nvSpPr>
        <p:spPr>
          <a:xfrm>
            <a:off x="311700" y="1152475"/>
            <a:ext cx="8455500" cy="3936300"/>
          </a:xfrm>
          <a:prstGeom prst="rect">
            <a:avLst/>
          </a:prstGeom>
        </p:spPr>
        <p:txBody>
          <a:bodyPr spcFirstLastPara="1" wrap="square" lIns="91425" tIns="91425" rIns="91425" bIns="91425" anchor="t" anchorCtr="0">
            <a:normAutofit fontScale="25000" lnSpcReduction="20000"/>
          </a:bodyPr>
          <a:lstStyle/>
          <a:p>
            <a:pPr marL="0" lvl="0" indent="457200" algn="just" rtl="0">
              <a:lnSpc>
                <a:spcPct val="140000"/>
              </a:lnSpc>
              <a:spcBef>
                <a:spcPts val="0"/>
              </a:spcBef>
              <a:spcAft>
                <a:spcPts val="0"/>
              </a:spcAft>
              <a:buNone/>
            </a:pPr>
            <a:r>
              <a:rPr lang="pt-BR" sz="5465">
                <a:solidFill>
                  <a:srgbClr val="000000"/>
                </a:solidFill>
                <a:highlight>
                  <a:schemeClr val="accent6"/>
                </a:highlight>
                <a:latin typeface="Bookman Old Style"/>
                <a:ea typeface="Bookman Old Style"/>
                <a:cs typeface="Bookman Old Style"/>
                <a:sym typeface="Bookman Old Style"/>
              </a:rPr>
              <a:t>É de se esperar que a vida das personagens pobres seja mais difícil que a das personagens ricas. Mas a autora não quer deixar espaço para dúvida:</a:t>
            </a:r>
            <a:r>
              <a:rPr lang="pt-BR" sz="5465">
                <a:solidFill>
                  <a:srgbClr val="000000"/>
                </a:solidFill>
                <a:latin typeface="Bookman Old Style"/>
                <a:ea typeface="Bookman Old Style"/>
                <a:cs typeface="Bookman Old Style"/>
                <a:sym typeface="Bookman Old Style"/>
              </a:rPr>
              <a:t> </a:t>
            </a:r>
            <a:r>
              <a:rPr lang="pt-BR" sz="5465" u="sng">
                <a:solidFill>
                  <a:srgbClr val="000000"/>
                </a:solidFill>
                <a:latin typeface="Bookman Old Style"/>
                <a:ea typeface="Bookman Old Style"/>
                <a:cs typeface="Bookman Old Style"/>
                <a:sym typeface="Bookman Old Style"/>
              </a:rPr>
              <a:t>“quem tem dinheiro faz milagres acontecerem”. Quem não teria pena de Eunice quando seu marido, bêbado e violento, lhe toma o dinheiro, justamente o que ela tinha juntado para comprar os remédios da mãe doente? Tadinha da Eunice, que afirma, em um capítulo, que “eu ainda mal sabia ler e escrever” e repete, em outro capítulo, que “Ainda leio mal e quase não escrevo”.</a:t>
            </a:r>
            <a:endParaRPr sz="5465" u="sng">
              <a:solidFill>
                <a:srgbClr val="000000"/>
              </a:solidFill>
              <a:latin typeface="Bookman Old Style"/>
              <a:ea typeface="Bookman Old Style"/>
              <a:cs typeface="Bookman Old Style"/>
              <a:sym typeface="Bookman Old Style"/>
            </a:endParaRPr>
          </a:p>
          <a:p>
            <a:pPr marL="0" lvl="0" indent="457200" algn="just" rtl="0">
              <a:lnSpc>
                <a:spcPct val="140000"/>
              </a:lnSpc>
              <a:spcBef>
                <a:spcPts val="0"/>
              </a:spcBef>
              <a:spcAft>
                <a:spcPts val="0"/>
              </a:spcAft>
              <a:buNone/>
            </a:pPr>
            <a:endParaRPr sz="5465">
              <a:solidFill>
                <a:srgbClr val="000000"/>
              </a:solidFill>
              <a:latin typeface="Bookman Old Style"/>
              <a:ea typeface="Bookman Old Style"/>
              <a:cs typeface="Bookman Old Style"/>
              <a:sym typeface="Bookman Old Style"/>
            </a:endParaRPr>
          </a:p>
          <a:p>
            <a:pPr marL="0" lvl="0" indent="457200" algn="just" rtl="0">
              <a:lnSpc>
                <a:spcPct val="140000"/>
              </a:lnSpc>
              <a:spcBef>
                <a:spcPts val="0"/>
              </a:spcBef>
              <a:spcAft>
                <a:spcPts val="0"/>
              </a:spcAft>
              <a:buNone/>
            </a:pPr>
            <a:r>
              <a:rPr lang="pt-BR" sz="5465">
                <a:solidFill>
                  <a:srgbClr val="000000"/>
                </a:solidFill>
                <a:latin typeface="Bookman Old Style"/>
                <a:ea typeface="Bookman Old Style"/>
                <a:cs typeface="Bookman Old Style"/>
                <a:sym typeface="Bookman Old Style"/>
              </a:rPr>
              <a:t>Se você sentiu </a:t>
            </a:r>
            <a:r>
              <a:rPr lang="pt-BR" sz="5465">
                <a:solidFill>
                  <a:srgbClr val="000000"/>
                </a:solidFill>
                <a:highlight>
                  <a:schemeClr val="accent6"/>
                </a:highlight>
                <a:latin typeface="Bookman Old Style"/>
                <a:ea typeface="Bookman Old Style"/>
                <a:cs typeface="Bookman Old Style"/>
                <a:sym typeface="Bookman Old Style"/>
              </a:rPr>
              <a:t>cheiro de novela mexicana,</a:t>
            </a:r>
            <a:r>
              <a:rPr lang="pt-BR" sz="5465">
                <a:solidFill>
                  <a:srgbClr val="000000"/>
                </a:solidFill>
                <a:latin typeface="Bookman Old Style"/>
                <a:ea typeface="Bookman Old Style"/>
                <a:cs typeface="Bookman Old Style"/>
                <a:sym typeface="Bookman Old Style"/>
              </a:rPr>
              <a:t> está na pista certa. </a:t>
            </a:r>
            <a:r>
              <a:rPr lang="pt-BR" sz="5465">
                <a:solidFill>
                  <a:srgbClr val="000000"/>
                </a:solidFill>
                <a:highlight>
                  <a:schemeClr val="accent6"/>
                </a:highlight>
                <a:latin typeface="Bookman Old Style"/>
                <a:ea typeface="Bookman Old Style"/>
                <a:cs typeface="Bookman Old Style"/>
                <a:sym typeface="Bookman Old Style"/>
              </a:rPr>
              <a:t>Os personagens têm a profundidade de uma poça d’água que só molha o chinelo, não passam de tipos.</a:t>
            </a:r>
            <a:r>
              <a:rPr lang="pt-BR" sz="5465">
                <a:solidFill>
                  <a:srgbClr val="000000"/>
                </a:solidFill>
                <a:latin typeface="Bookman Old Style"/>
                <a:ea typeface="Bookman Old Style"/>
                <a:cs typeface="Bookman Old Style"/>
                <a:sym typeface="Bookman Old Style"/>
              </a:rPr>
              <a:t> </a:t>
            </a:r>
            <a:r>
              <a:rPr lang="pt-BR" sz="5465" u="sng">
                <a:solidFill>
                  <a:srgbClr val="000000"/>
                </a:solidFill>
                <a:latin typeface="Bookman Old Style"/>
                <a:ea typeface="Bookman Old Style"/>
                <a:cs typeface="Bookman Old Style"/>
                <a:sym typeface="Bookman Old Style"/>
              </a:rPr>
              <a:t>Os ricos são malvados de torcer o bigode. A mãe passa o dedo nos móveis para ver se estão com pó, a filha é tão cruel que é capaz de provocar um menino deficiente até ele cair da cadeira de rodas. Por outro lado, a avó de Mabel, pobrinha de tudo, parece ter 120 anos e é a pura encarnação da gentileza e da sabedoria, sabe curar qualquer doença, sabe tudo da vida.</a:t>
            </a:r>
            <a:endParaRPr sz="5465" u="sng">
              <a:solidFill>
                <a:srgbClr val="000000"/>
              </a:solidFill>
              <a:latin typeface="Bookman Old Style"/>
              <a:ea typeface="Bookman Old Style"/>
              <a:cs typeface="Bookman Old Style"/>
              <a:sym typeface="Bookman Old Style"/>
            </a:endParaRPr>
          </a:p>
          <a:p>
            <a:pPr marL="0" lvl="0" indent="457200" algn="just" rtl="0">
              <a:lnSpc>
                <a:spcPct val="140000"/>
              </a:lnSpc>
              <a:spcBef>
                <a:spcPts val="0"/>
              </a:spcBef>
              <a:spcAft>
                <a:spcPts val="0"/>
              </a:spcAft>
              <a:buNone/>
            </a:pPr>
            <a:endParaRPr sz="3250">
              <a:solidFill>
                <a:srgbClr val="333333"/>
              </a:solidFill>
              <a:latin typeface="Bookman Old Style"/>
              <a:ea typeface="Bookman Old Style"/>
              <a:cs typeface="Bookman Old Style"/>
              <a:sym typeface="Bookman Old Style"/>
            </a:endParaRPr>
          </a:p>
          <a:p>
            <a:pPr marL="0" lvl="0" indent="457200" algn="just" rtl="0">
              <a:lnSpc>
                <a:spcPct val="140000"/>
              </a:lnSpc>
              <a:spcBef>
                <a:spcPts val="0"/>
              </a:spcBef>
              <a:spcAft>
                <a:spcPts val="0"/>
              </a:spcAft>
              <a:buClr>
                <a:schemeClr val="dk1"/>
              </a:buClr>
              <a:buSzPct val="33846"/>
              <a:buFont typeface="Arial"/>
              <a:buNone/>
            </a:pPr>
            <a:endParaRPr sz="3250" u="sng">
              <a:solidFill>
                <a:srgbClr val="333333"/>
              </a:solidFill>
              <a:latin typeface="Bookman Old Style"/>
              <a:ea typeface="Bookman Old Style"/>
              <a:cs typeface="Bookman Old Style"/>
              <a:sym typeface="Bookman Old Style"/>
            </a:endParaRPr>
          </a:p>
          <a:p>
            <a:pPr marL="0" lvl="0" indent="457200" algn="just" rtl="0">
              <a:lnSpc>
                <a:spcPct val="140000"/>
              </a:lnSpc>
              <a:spcBef>
                <a:spcPts val="0"/>
              </a:spcBef>
              <a:spcAft>
                <a:spcPts val="0"/>
              </a:spcAft>
              <a:buClr>
                <a:schemeClr val="dk1"/>
              </a:buClr>
              <a:buSzPct val="81481"/>
              <a:buFont typeface="Arial"/>
              <a:buNone/>
            </a:pPr>
            <a:endParaRPr sz="1350">
              <a:solidFill>
                <a:srgbClr val="333333"/>
              </a:solidFill>
              <a:latin typeface="Bookman Old Style"/>
              <a:ea typeface="Bookman Old Style"/>
              <a:cs typeface="Bookman Old Style"/>
              <a:sym typeface="Bookman Old Style"/>
            </a:endParaRPr>
          </a:p>
          <a:p>
            <a:pPr marL="0" lvl="0" indent="457200" algn="just" rtl="0">
              <a:lnSpc>
                <a:spcPct val="140000"/>
              </a:lnSpc>
              <a:spcBef>
                <a:spcPts val="0"/>
              </a:spcBef>
              <a:spcAft>
                <a:spcPts val="0"/>
              </a:spcAft>
              <a:buNone/>
            </a:pPr>
            <a:endParaRPr sz="1350">
              <a:solidFill>
                <a:srgbClr val="333333"/>
              </a:solidFill>
              <a:latin typeface="Bookman Old Style"/>
              <a:ea typeface="Bookman Old Style"/>
              <a:cs typeface="Bookman Old Style"/>
              <a:sym typeface="Bookman Old Style"/>
            </a:endParaRPr>
          </a:p>
          <a:p>
            <a:pPr marL="0" lvl="0" indent="0" algn="l" rtl="0">
              <a:lnSpc>
                <a:spcPct val="150000"/>
              </a:lnSpc>
              <a:spcBef>
                <a:spcPts val="0"/>
              </a:spcBef>
              <a:spcAft>
                <a:spcPts val="0"/>
              </a:spcAft>
              <a:buNone/>
            </a:pPr>
            <a:endParaRPr sz="1500">
              <a:solidFill>
                <a:srgbClr val="333333"/>
              </a:solidFill>
              <a:highlight>
                <a:srgbClr val="FFFFFF"/>
              </a:highlight>
              <a:latin typeface="Bookman Old Style"/>
              <a:ea typeface="Bookman Old Style"/>
              <a:cs typeface="Bookman Old Style"/>
              <a:sym typeface="Bookman Old Style"/>
            </a:endParaRPr>
          </a:p>
          <a:p>
            <a:pPr marL="0" lvl="0" indent="457200" algn="l" rtl="0">
              <a:lnSpc>
                <a:spcPct val="150000"/>
              </a:lnSpc>
              <a:spcBef>
                <a:spcPts val="0"/>
              </a:spcBef>
              <a:spcAft>
                <a:spcPts val="0"/>
              </a:spcAft>
              <a:buNone/>
            </a:pPr>
            <a:endParaRPr sz="1200">
              <a:solidFill>
                <a:srgbClr val="000000"/>
              </a:solidFill>
              <a:latin typeface="Bookman Old Style"/>
              <a:ea typeface="Bookman Old Style"/>
              <a:cs typeface="Bookman Old Style"/>
              <a:sym typeface="Bookman Old Style"/>
            </a:endParaRPr>
          </a:p>
          <a:p>
            <a:pPr marL="0" lvl="0" indent="0" algn="l" rtl="0">
              <a:spcBef>
                <a:spcPts val="0"/>
              </a:spcBef>
              <a:spcAft>
                <a:spcPts val="0"/>
              </a:spcAft>
              <a:buNone/>
            </a:pPr>
            <a:endParaRPr sz="1200">
              <a:solidFill>
                <a:srgbClr val="000000"/>
              </a:solidFill>
              <a:latin typeface="Bookman Old Style"/>
              <a:ea typeface="Bookman Old Style"/>
              <a:cs typeface="Bookman Old Style"/>
              <a:sym typeface="Bookman Old Style"/>
            </a:endParaRPr>
          </a:p>
          <a:p>
            <a:pPr marL="0" lvl="0" indent="0" algn="l" rtl="0">
              <a:spcBef>
                <a:spcPts val="0"/>
              </a:spcBef>
              <a:spcAft>
                <a:spcPts val="0"/>
              </a:spcAft>
              <a:buNone/>
            </a:pPr>
            <a:endParaRPr sz="1300">
              <a:solidFill>
                <a:srgbClr val="000000"/>
              </a:solidFill>
              <a:latin typeface="Bookman Old Style"/>
              <a:ea typeface="Bookman Old Style"/>
              <a:cs typeface="Bookman Old Style"/>
              <a:sym typeface="Bookman Old Style"/>
            </a:endParaRPr>
          </a:p>
          <a:p>
            <a:pPr marL="0" lvl="0" indent="0" algn="l" rtl="0">
              <a:spcBef>
                <a:spcPts val="0"/>
              </a:spcBef>
              <a:spcAft>
                <a:spcPts val="0"/>
              </a:spcAft>
              <a:buNone/>
            </a:pPr>
            <a:endParaRPr sz="1300">
              <a:solidFill>
                <a:srgbClr val="000000"/>
              </a:solidFill>
              <a:latin typeface="Bookman Old Style"/>
              <a:ea typeface="Bookman Old Style"/>
              <a:cs typeface="Bookman Old Style"/>
              <a:sym typeface="Bookman Old Style"/>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20"/>
          <p:cNvSpPr txBox="1">
            <a:spLocks noGrp="1"/>
          </p:cNvSpPr>
          <p:nvPr>
            <p:ph type="title"/>
          </p:nvPr>
        </p:nvSpPr>
        <p:spPr>
          <a:xfrm>
            <a:off x="201675" y="1012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t-BR">
                <a:solidFill>
                  <a:srgbClr val="FF00FF"/>
                </a:solidFill>
              </a:rPr>
              <a:t>Resenha crítica:</a:t>
            </a:r>
            <a:r>
              <a:rPr lang="pt-BR"/>
              <a:t> exemplo 1</a:t>
            </a:r>
            <a:endParaRPr/>
          </a:p>
        </p:txBody>
      </p:sp>
      <p:sp>
        <p:nvSpPr>
          <p:cNvPr id="98" name="Google Shape;98;p20"/>
          <p:cNvSpPr txBox="1">
            <a:spLocks noGrp="1"/>
          </p:cNvSpPr>
          <p:nvPr>
            <p:ph type="body" idx="1"/>
          </p:nvPr>
        </p:nvSpPr>
        <p:spPr>
          <a:xfrm>
            <a:off x="311700" y="846600"/>
            <a:ext cx="8329500" cy="4242300"/>
          </a:xfrm>
          <a:prstGeom prst="rect">
            <a:avLst/>
          </a:prstGeom>
        </p:spPr>
        <p:txBody>
          <a:bodyPr spcFirstLastPara="1" wrap="square" lIns="91425" tIns="91425" rIns="91425" bIns="91425" anchor="t" anchorCtr="0">
            <a:normAutofit fontScale="25000" lnSpcReduction="20000"/>
          </a:bodyPr>
          <a:lstStyle/>
          <a:p>
            <a:pPr marL="0" lvl="0" indent="457200" algn="just" rtl="0">
              <a:lnSpc>
                <a:spcPct val="140000"/>
              </a:lnSpc>
              <a:spcBef>
                <a:spcPts val="1500"/>
              </a:spcBef>
              <a:spcAft>
                <a:spcPts val="0"/>
              </a:spcAft>
              <a:buClr>
                <a:schemeClr val="dk1"/>
              </a:buClr>
              <a:buSzPts val="275"/>
              <a:buFont typeface="Arial"/>
              <a:buNone/>
            </a:pPr>
            <a:r>
              <a:rPr lang="pt-BR" sz="4857" u="sng">
                <a:solidFill>
                  <a:srgbClr val="000000"/>
                </a:solidFill>
                <a:latin typeface="Bookman Old Style"/>
                <a:ea typeface="Bookman Old Style"/>
                <a:cs typeface="Bookman Old Style"/>
                <a:sym typeface="Bookman Old Style"/>
              </a:rPr>
              <a:t>O pobre honesto e esforçado, o rico mimado e cruel, a preta velha sábia, a filha do pobre que passa em medicina</a:t>
            </a:r>
            <a:r>
              <a:rPr lang="pt-BR" sz="4857">
                <a:solidFill>
                  <a:srgbClr val="000000"/>
                </a:solidFill>
                <a:latin typeface="Bookman Old Style"/>
                <a:ea typeface="Bookman Old Style"/>
                <a:cs typeface="Bookman Old Style"/>
                <a:sym typeface="Bookman Old Style"/>
              </a:rPr>
              <a:t> (já vista anteriormente no filme </a:t>
            </a:r>
            <a:r>
              <a:rPr lang="pt-BR" sz="4857" i="1">
                <a:solidFill>
                  <a:srgbClr val="000000"/>
                </a:solidFill>
                <a:latin typeface="Bookman Old Style"/>
                <a:ea typeface="Bookman Old Style"/>
                <a:cs typeface="Bookman Old Style"/>
                <a:sym typeface="Bookman Old Style"/>
              </a:rPr>
              <a:t>Que Horas Ela Volta</a:t>
            </a:r>
            <a:r>
              <a:rPr lang="pt-BR" sz="4857">
                <a:solidFill>
                  <a:srgbClr val="000000"/>
                </a:solidFill>
                <a:latin typeface="Bookman Old Style"/>
                <a:ea typeface="Bookman Old Style"/>
                <a:cs typeface="Bookman Old Style"/>
                <a:sym typeface="Bookman Old Style"/>
              </a:rPr>
              <a:t>). </a:t>
            </a:r>
            <a:r>
              <a:rPr lang="pt-BR" sz="4857">
                <a:solidFill>
                  <a:srgbClr val="000000"/>
                </a:solidFill>
                <a:highlight>
                  <a:schemeClr val="accent6"/>
                </a:highlight>
                <a:latin typeface="Bookman Old Style"/>
                <a:ea typeface="Bookman Old Style"/>
                <a:cs typeface="Bookman Old Style"/>
                <a:sym typeface="Bookman Old Style"/>
              </a:rPr>
              <a:t>Eliana Cruz não tem medo do clichê.</a:t>
            </a:r>
            <a:r>
              <a:rPr lang="pt-BR" sz="4857">
                <a:solidFill>
                  <a:srgbClr val="000000"/>
                </a:solidFill>
                <a:latin typeface="Bookman Old Style"/>
                <a:ea typeface="Bookman Old Style"/>
                <a:cs typeface="Bookman Old Style"/>
                <a:sym typeface="Bookman Old Style"/>
              </a:rPr>
              <a:t> Ela não evita o clichê, nem sequer tenta se desviar um pouco do clichê. Não. Ela se joga no clichê como uma criança se joga na piscina.</a:t>
            </a:r>
            <a:endParaRPr sz="4857">
              <a:solidFill>
                <a:srgbClr val="000000"/>
              </a:solidFill>
              <a:latin typeface="Bookman Old Style"/>
              <a:ea typeface="Bookman Old Style"/>
              <a:cs typeface="Bookman Old Style"/>
              <a:sym typeface="Bookman Old Style"/>
            </a:endParaRPr>
          </a:p>
          <a:p>
            <a:pPr marL="0" lvl="0" indent="457200" algn="just" rtl="0">
              <a:lnSpc>
                <a:spcPct val="140000"/>
              </a:lnSpc>
              <a:spcBef>
                <a:spcPts val="1500"/>
              </a:spcBef>
              <a:spcAft>
                <a:spcPts val="0"/>
              </a:spcAft>
              <a:buClr>
                <a:schemeClr val="dk1"/>
              </a:buClr>
              <a:buSzPts val="275"/>
              <a:buFont typeface="Arial"/>
              <a:buNone/>
            </a:pPr>
            <a:r>
              <a:rPr lang="pt-BR" sz="4857">
                <a:solidFill>
                  <a:srgbClr val="000000"/>
                </a:solidFill>
                <a:highlight>
                  <a:schemeClr val="accent6"/>
                </a:highlight>
                <a:latin typeface="Bookman Old Style"/>
                <a:ea typeface="Bookman Old Style"/>
                <a:cs typeface="Bookman Old Style"/>
                <a:sym typeface="Bookman Old Style"/>
              </a:rPr>
              <a:t>O resultado é menos um romance que um panfleto (que se pretende) sociológico.</a:t>
            </a:r>
            <a:endParaRPr sz="4857">
              <a:solidFill>
                <a:srgbClr val="000000"/>
              </a:solidFill>
              <a:highlight>
                <a:schemeClr val="accent6"/>
              </a:highlight>
              <a:latin typeface="Bookman Old Style"/>
              <a:ea typeface="Bookman Old Style"/>
              <a:cs typeface="Bookman Old Style"/>
              <a:sym typeface="Bookman Old Style"/>
            </a:endParaRPr>
          </a:p>
          <a:p>
            <a:pPr marL="0" lvl="0" indent="457200" algn="just" rtl="0">
              <a:lnSpc>
                <a:spcPct val="140000"/>
              </a:lnSpc>
              <a:spcBef>
                <a:spcPts val="1500"/>
              </a:spcBef>
              <a:spcAft>
                <a:spcPts val="0"/>
              </a:spcAft>
              <a:buClr>
                <a:schemeClr val="dk1"/>
              </a:buClr>
              <a:buSzPts val="275"/>
              <a:buFont typeface="Arial"/>
              <a:buNone/>
            </a:pPr>
            <a:r>
              <a:rPr lang="pt-BR" sz="4857" u="sng">
                <a:solidFill>
                  <a:srgbClr val="000000"/>
                </a:solidFill>
                <a:latin typeface="Bookman Old Style"/>
                <a:ea typeface="Bookman Old Style"/>
                <a:cs typeface="Bookman Old Style"/>
                <a:sym typeface="Bookman Old Style"/>
              </a:rPr>
              <a:t>Neste trecho, os clichês se acumulam tão rápido que parecem tropeçar uns nos outros:</a:t>
            </a:r>
            <a:endParaRPr sz="4857" u="sng">
              <a:solidFill>
                <a:srgbClr val="000000"/>
              </a:solidFill>
              <a:latin typeface="Bookman Old Style"/>
              <a:ea typeface="Bookman Old Style"/>
              <a:cs typeface="Bookman Old Style"/>
              <a:sym typeface="Bookman Old Style"/>
            </a:endParaRPr>
          </a:p>
          <a:p>
            <a:pPr marL="0" lvl="0" indent="457200" algn="just" rtl="0">
              <a:lnSpc>
                <a:spcPct val="140000"/>
              </a:lnSpc>
              <a:spcBef>
                <a:spcPts val="1500"/>
              </a:spcBef>
              <a:spcAft>
                <a:spcPts val="0"/>
              </a:spcAft>
              <a:buClr>
                <a:schemeClr val="dk1"/>
              </a:buClr>
              <a:buSzPts val="275"/>
              <a:buFont typeface="Arial"/>
              <a:buNone/>
            </a:pPr>
            <a:r>
              <a:rPr lang="pt-BR" sz="4857" u="sng">
                <a:solidFill>
                  <a:srgbClr val="000000"/>
                </a:solidFill>
                <a:latin typeface="Bookman Old Style"/>
                <a:ea typeface="Bookman Old Style"/>
                <a:cs typeface="Bookman Old Style"/>
                <a:sym typeface="Bookman Old Style"/>
              </a:rPr>
              <a:t>“Quando foi devolvida por d. Helena à cidade natal no interior, ganhou uma surra do pai e teve de trabalhar na roça com a família. Conseguiu então se matricular numa escola comunitária, onde se preparou a duras penas para o Enem. Ninguém em sua família acreditou que ela chegaria lá. Na verdade, nem ela mesma. Sua história é a de muita gente.”</a:t>
            </a:r>
            <a:endParaRPr sz="4857" u="sng">
              <a:solidFill>
                <a:srgbClr val="000000"/>
              </a:solidFill>
              <a:latin typeface="Bookman Old Style"/>
              <a:ea typeface="Bookman Old Style"/>
              <a:cs typeface="Bookman Old Style"/>
              <a:sym typeface="Bookman Old Style"/>
            </a:endParaRPr>
          </a:p>
          <a:p>
            <a:pPr marL="0" lvl="0" indent="457200" algn="just" rtl="0">
              <a:lnSpc>
                <a:spcPct val="140000"/>
              </a:lnSpc>
              <a:spcBef>
                <a:spcPts val="1500"/>
              </a:spcBef>
              <a:spcAft>
                <a:spcPts val="0"/>
              </a:spcAft>
              <a:buClr>
                <a:schemeClr val="dk1"/>
              </a:buClr>
              <a:buSzPts val="275"/>
              <a:buFont typeface="Arial"/>
              <a:buNone/>
            </a:pPr>
            <a:r>
              <a:rPr lang="pt-BR" sz="4857">
                <a:solidFill>
                  <a:srgbClr val="000000"/>
                </a:solidFill>
                <a:highlight>
                  <a:schemeClr val="accent6"/>
                </a:highlight>
                <a:latin typeface="Bookman Old Style"/>
                <a:ea typeface="Bookman Old Style"/>
                <a:cs typeface="Bookman Old Style"/>
                <a:sym typeface="Bookman Old Style"/>
              </a:rPr>
              <a:t>No afã de discutir “temas importantes” e “questões atuais”, de apresentar “denúncias” e “críticas”, alguns autores acabam se esquecendo de fazer literatura.</a:t>
            </a:r>
            <a:endParaRPr sz="4857">
              <a:solidFill>
                <a:srgbClr val="000000"/>
              </a:solidFill>
              <a:highlight>
                <a:schemeClr val="accent6"/>
              </a:highlight>
              <a:latin typeface="Bookman Old Style"/>
              <a:ea typeface="Bookman Old Style"/>
              <a:cs typeface="Bookman Old Style"/>
              <a:sym typeface="Bookman Old Style"/>
            </a:endParaRPr>
          </a:p>
          <a:p>
            <a:pPr marL="0" lvl="0" indent="0" algn="l" rtl="0">
              <a:spcBef>
                <a:spcPts val="1500"/>
              </a:spcBef>
              <a:spcAft>
                <a:spcPts val="0"/>
              </a:spcAft>
              <a:buClr>
                <a:schemeClr val="dk1"/>
              </a:buClr>
              <a:buSzPct val="28571"/>
              <a:buFont typeface="Arial"/>
              <a:buNone/>
            </a:pPr>
            <a:r>
              <a:rPr lang="pt-BR" sz="3850">
                <a:solidFill>
                  <a:srgbClr val="000000"/>
                </a:solidFill>
                <a:highlight>
                  <a:srgbClr val="FFFFFF"/>
                </a:highlight>
                <a:latin typeface="Spectral"/>
                <a:ea typeface="Spectral"/>
                <a:cs typeface="Spectral"/>
                <a:sym typeface="Spectral"/>
              </a:rPr>
              <a:t>https://deciomachado.substack.com/p/solitaria</a:t>
            </a:r>
            <a:endParaRPr sz="3850">
              <a:solidFill>
                <a:srgbClr val="000000"/>
              </a:solidFill>
              <a:highlight>
                <a:srgbClr val="FFFFFF"/>
              </a:highlight>
              <a:latin typeface="Spectral"/>
              <a:ea typeface="Spectral"/>
              <a:cs typeface="Spectral"/>
              <a:sym typeface="Spectral"/>
            </a:endParaRPr>
          </a:p>
          <a:p>
            <a:pPr marL="0" lvl="0" indent="0" algn="just" rtl="0">
              <a:lnSpc>
                <a:spcPct val="140000"/>
              </a:lnSpc>
              <a:spcBef>
                <a:spcPts val="1500"/>
              </a:spcBef>
              <a:spcAft>
                <a:spcPts val="0"/>
              </a:spcAft>
              <a:buClr>
                <a:schemeClr val="dk1"/>
              </a:buClr>
              <a:buSzPts val="275"/>
              <a:buFont typeface="Arial"/>
              <a:buNone/>
            </a:pPr>
            <a:endParaRPr sz="4457">
              <a:solidFill>
                <a:srgbClr val="000000"/>
              </a:solidFill>
              <a:latin typeface="Bookman Old Style"/>
              <a:ea typeface="Bookman Old Style"/>
              <a:cs typeface="Bookman Old Style"/>
              <a:sym typeface="Bookman Old Style"/>
            </a:endParaRPr>
          </a:p>
          <a:p>
            <a:pPr marL="0" lvl="0" indent="457200" algn="just" rtl="0">
              <a:lnSpc>
                <a:spcPct val="140000"/>
              </a:lnSpc>
              <a:spcBef>
                <a:spcPts val="1500"/>
              </a:spcBef>
              <a:spcAft>
                <a:spcPts val="0"/>
              </a:spcAft>
              <a:buClr>
                <a:schemeClr val="dk1"/>
              </a:buClr>
              <a:buSzPct val="66666"/>
              <a:buFont typeface="Arial"/>
              <a:buNone/>
            </a:pPr>
            <a:endParaRPr sz="1650">
              <a:solidFill>
                <a:srgbClr val="000000"/>
              </a:solidFill>
              <a:latin typeface="Bookman Old Style"/>
              <a:ea typeface="Bookman Old Style"/>
              <a:cs typeface="Bookman Old Style"/>
              <a:sym typeface="Bookman Old Style"/>
            </a:endParaRPr>
          </a:p>
          <a:p>
            <a:pPr marL="0" lvl="0" indent="457200" algn="just" rtl="0">
              <a:lnSpc>
                <a:spcPct val="140000"/>
              </a:lnSpc>
              <a:spcBef>
                <a:spcPts val="1500"/>
              </a:spcBef>
              <a:spcAft>
                <a:spcPts val="0"/>
              </a:spcAft>
              <a:buClr>
                <a:schemeClr val="dk1"/>
              </a:buClr>
              <a:buSzPct val="66666"/>
              <a:buFont typeface="Arial"/>
              <a:buNone/>
            </a:pPr>
            <a:endParaRPr sz="1650">
              <a:solidFill>
                <a:srgbClr val="000000"/>
              </a:solidFill>
              <a:latin typeface="Bookman Old Style"/>
              <a:ea typeface="Bookman Old Style"/>
              <a:cs typeface="Bookman Old Style"/>
              <a:sym typeface="Bookman Old Style"/>
            </a:endParaRPr>
          </a:p>
          <a:p>
            <a:pPr marL="0" lvl="0" indent="457200" algn="just" rtl="0">
              <a:lnSpc>
                <a:spcPct val="140000"/>
              </a:lnSpc>
              <a:spcBef>
                <a:spcPts val="1500"/>
              </a:spcBef>
              <a:spcAft>
                <a:spcPts val="0"/>
              </a:spcAft>
              <a:buNone/>
            </a:pPr>
            <a:endParaRPr sz="1425">
              <a:solidFill>
                <a:srgbClr val="000000"/>
              </a:solidFill>
              <a:latin typeface="Bookman Old Style"/>
              <a:ea typeface="Bookman Old Style"/>
              <a:cs typeface="Bookman Old Style"/>
              <a:sym typeface="Bookman Old Style"/>
            </a:endParaRPr>
          </a:p>
          <a:p>
            <a:pPr marL="0" lvl="0" indent="457200" algn="just" rtl="0">
              <a:lnSpc>
                <a:spcPct val="140000"/>
              </a:lnSpc>
              <a:spcBef>
                <a:spcPts val="1500"/>
              </a:spcBef>
              <a:spcAft>
                <a:spcPts val="0"/>
              </a:spcAft>
              <a:buNone/>
            </a:pPr>
            <a:endParaRPr sz="1350">
              <a:solidFill>
                <a:srgbClr val="263344"/>
              </a:solidFill>
              <a:latin typeface="Bookman Old Style"/>
              <a:ea typeface="Bookman Old Style"/>
              <a:cs typeface="Bookman Old Style"/>
              <a:sym typeface="Bookman Old Style"/>
            </a:endParaRPr>
          </a:p>
          <a:p>
            <a:pPr marL="0" lvl="0" indent="0" algn="l" rtl="0">
              <a:lnSpc>
                <a:spcPct val="115000"/>
              </a:lnSpc>
              <a:spcBef>
                <a:spcPts val="0"/>
              </a:spcBef>
              <a:spcAft>
                <a:spcPts val="0"/>
              </a:spcAft>
              <a:buNone/>
            </a:pPr>
            <a:endParaRPr sz="1500">
              <a:solidFill>
                <a:srgbClr val="333333"/>
              </a:solidFill>
              <a:highlight>
                <a:srgbClr val="FFFFFF"/>
              </a:highlight>
              <a:latin typeface="Bookman Old Style"/>
              <a:ea typeface="Bookman Old Style"/>
              <a:cs typeface="Bookman Old Style"/>
              <a:sym typeface="Bookman Old Style"/>
            </a:endParaRPr>
          </a:p>
          <a:p>
            <a:pPr marL="0" lvl="0" indent="457200" algn="l" rtl="0">
              <a:lnSpc>
                <a:spcPct val="100000"/>
              </a:lnSpc>
              <a:spcBef>
                <a:spcPts val="0"/>
              </a:spcBef>
              <a:spcAft>
                <a:spcPts val="0"/>
              </a:spcAft>
              <a:buNone/>
            </a:pPr>
            <a:endParaRPr sz="1200">
              <a:solidFill>
                <a:srgbClr val="000000"/>
              </a:solidFill>
              <a:latin typeface="Bookman Old Style"/>
              <a:ea typeface="Bookman Old Style"/>
              <a:cs typeface="Bookman Old Style"/>
              <a:sym typeface="Bookman Old Style"/>
            </a:endParaRPr>
          </a:p>
          <a:p>
            <a:pPr marL="0" lvl="0" indent="0" algn="l" rtl="0">
              <a:spcBef>
                <a:spcPts val="0"/>
              </a:spcBef>
              <a:spcAft>
                <a:spcPts val="0"/>
              </a:spcAft>
              <a:buNone/>
            </a:pPr>
            <a:endParaRPr sz="1200">
              <a:solidFill>
                <a:srgbClr val="000000"/>
              </a:solidFill>
              <a:latin typeface="Bookman Old Style"/>
              <a:ea typeface="Bookman Old Style"/>
              <a:cs typeface="Bookman Old Style"/>
              <a:sym typeface="Bookman Old Style"/>
            </a:endParaRPr>
          </a:p>
          <a:p>
            <a:pPr marL="0" lvl="0" indent="0" algn="l" rtl="0">
              <a:spcBef>
                <a:spcPts val="0"/>
              </a:spcBef>
              <a:spcAft>
                <a:spcPts val="0"/>
              </a:spcAft>
              <a:buNone/>
            </a:pPr>
            <a:endParaRPr sz="1300">
              <a:solidFill>
                <a:srgbClr val="000000"/>
              </a:solidFill>
              <a:latin typeface="Bookman Old Style"/>
              <a:ea typeface="Bookman Old Style"/>
              <a:cs typeface="Bookman Old Style"/>
              <a:sym typeface="Bookman Old Style"/>
            </a:endParaRPr>
          </a:p>
          <a:p>
            <a:pPr marL="0" lvl="0" indent="0" algn="l" rtl="0">
              <a:spcBef>
                <a:spcPts val="0"/>
              </a:spcBef>
              <a:spcAft>
                <a:spcPts val="0"/>
              </a:spcAft>
              <a:buNone/>
            </a:pPr>
            <a:endParaRPr sz="1300">
              <a:solidFill>
                <a:srgbClr val="000000"/>
              </a:solidFill>
              <a:latin typeface="Bookman Old Style"/>
              <a:ea typeface="Bookman Old Style"/>
              <a:cs typeface="Bookman Old Style"/>
              <a:sym typeface="Bookman Old Style"/>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1"/>
          <p:cNvSpPr txBox="1">
            <a:spLocks noGrp="1"/>
          </p:cNvSpPr>
          <p:nvPr>
            <p:ph type="title"/>
          </p:nvPr>
        </p:nvSpPr>
        <p:spPr>
          <a:xfrm>
            <a:off x="311700" y="143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t-BR">
                <a:solidFill>
                  <a:srgbClr val="FF00FF"/>
                </a:solidFill>
                <a:latin typeface="Bookman Old Style"/>
                <a:ea typeface="Bookman Old Style"/>
                <a:cs typeface="Bookman Old Style"/>
                <a:sym typeface="Bookman Old Style"/>
              </a:rPr>
              <a:t>Resenha crítica:</a:t>
            </a:r>
            <a:r>
              <a:rPr lang="pt-BR">
                <a:latin typeface="Bookman Old Style"/>
                <a:ea typeface="Bookman Old Style"/>
                <a:cs typeface="Bookman Old Style"/>
                <a:sym typeface="Bookman Old Style"/>
              </a:rPr>
              <a:t> exemplo 2</a:t>
            </a:r>
            <a:endParaRPr>
              <a:latin typeface="Bookman Old Style"/>
              <a:ea typeface="Bookman Old Style"/>
              <a:cs typeface="Bookman Old Style"/>
              <a:sym typeface="Bookman Old Style"/>
            </a:endParaRPr>
          </a:p>
        </p:txBody>
      </p:sp>
      <p:sp>
        <p:nvSpPr>
          <p:cNvPr id="104" name="Google Shape;104;p21"/>
          <p:cNvSpPr txBox="1"/>
          <p:nvPr/>
        </p:nvSpPr>
        <p:spPr>
          <a:xfrm>
            <a:off x="5886175" y="1539475"/>
            <a:ext cx="2946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Proxima Nova"/>
              <a:ea typeface="Proxima Nova"/>
              <a:cs typeface="Proxima Nova"/>
              <a:sym typeface="Proxima Nova"/>
            </a:endParaRPr>
          </a:p>
        </p:txBody>
      </p:sp>
      <p:sp>
        <p:nvSpPr>
          <p:cNvPr id="105" name="Google Shape;105;p21"/>
          <p:cNvSpPr txBox="1"/>
          <p:nvPr/>
        </p:nvSpPr>
        <p:spPr>
          <a:xfrm>
            <a:off x="5715775" y="1105725"/>
            <a:ext cx="3286800" cy="3880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t-BR" sz="1350" b="1">
                <a:solidFill>
                  <a:srgbClr val="313131"/>
                </a:solidFill>
                <a:highlight>
                  <a:srgbClr val="FFFFFF"/>
                </a:highlight>
                <a:latin typeface="Bookman Old Style"/>
                <a:ea typeface="Bookman Old Style"/>
                <a:cs typeface="Bookman Old Style"/>
                <a:sym typeface="Bookman Old Style"/>
              </a:rPr>
              <a:t>Zootopia 2 (EUA, 2025)</a:t>
            </a:r>
            <a:endParaRPr sz="1350" b="1">
              <a:solidFill>
                <a:srgbClr val="313131"/>
              </a:solidFill>
              <a:highlight>
                <a:srgbClr val="FFFFFF"/>
              </a:highlight>
              <a:latin typeface="Bookman Old Style"/>
              <a:ea typeface="Bookman Old Style"/>
              <a:cs typeface="Bookman Old Style"/>
              <a:sym typeface="Bookman Old Style"/>
            </a:endParaRPr>
          </a:p>
          <a:p>
            <a:pPr marL="0" lvl="0" indent="0" algn="l" rtl="0">
              <a:spcBef>
                <a:spcPts val="0"/>
              </a:spcBef>
              <a:spcAft>
                <a:spcPts val="0"/>
              </a:spcAft>
              <a:buNone/>
            </a:pPr>
            <a:r>
              <a:rPr lang="pt-BR" sz="1350" b="1">
                <a:solidFill>
                  <a:srgbClr val="313131"/>
                </a:solidFill>
                <a:highlight>
                  <a:srgbClr val="FFFFFF"/>
                </a:highlight>
                <a:latin typeface="Bookman Old Style"/>
                <a:ea typeface="Bookman Old Style"/>
                <a:cs typeface="Bookman Old Style"/>
                <a:sym typeface="Bookman Old Style"/>
              </a:rPr>
              <a:t>Direção:</a:t>
            </a:r>
            <a:r>
              <a:rPr lang="pt-BR" sz="1350">
                <a:solidFill>
                  <a:srgbClr val="313131"/>
                </a:solidFill>
                <a:highlight>
                  <a:srgbClr val="FFFFFF"/>
                </a:highlight>
                <a:latin typeface="Bookman Old Style"/>
                <a:ea typeface="Bookman Old Style"/>
                <a:cs typeface="Bookman Old Style"/>
                <a:sym typeface="Bookman Old Style"/>
              </a:rPr>
              <a:t> Jared Bush/Byron Howard</a:t>
            </a:r>
            <a:endParaRPr sz="1350">
              <a:solidFill>
                <a:srgbClr val="313131"/>
              </a:solidFill>
              <a:highlight>
                <a:srgbClr val="FFFFFF"/>
              </a:highlight>
              <a:latin typeface="Bookman Old Style"/>
              <a:ea typeface="Bookman Old Style"/>
              <a:cs typeface="Bookman Old Style"/>
              <a:sym typeface="Bookman Old Style"/>
            </a:endParaRPr>
          </a:p>
          <a:p>
            <a:pPr marL="0" lvl="0" indent="0" algn="l" rtl="0">
              <a:spcBef>
                <a:spcPts val="0"/>
              </a:spcBef>
              <a:spcAft>
                <a:spcPts val="0"/>
              </a:spcAft>
              <a:buNone/>
            </a:pPr>
            <a:r>
              <a:rPr lang="pt-BR" sz="1350" b="1">
                <a:solidFill>
                  <a:srgbClr val="313131"/>
                </a:solidFill>
                <a:highlight>
                  <a:srgbClr val="FFFFFF"/>
                </a:highlight>
                <a:latin typeface="Bookman Old Style"/>
                <a:ea typeface="Bookman Old Style"/>
                <a:cs typeface="Bookman Old Style"/>
                <a:sym typeface="Bookman Old Style"/>
              </a:rPr>
              <a:t>Produção:</a:t>
            </a:r>
            <a:r>
              <a:rPr lang="pt-BR" sz="1350">
                <a:solidFill>
                  <a:srgbClr val="313131"/>
                </a:solidFill>
                <a:highlight>
                  <a:srgbClr val="FFFFFF"/>
                </a:highlight>
                <a:latin typeface="Bookman Old Style"/>
                <a:ea typeface="Bookman Old Style"/>
                <a:cs typeface="Bookman Old Style"/>
                <a:sym typeface="Bookman Old Style"/>
              </a:rPr>
              <a:t> Disney</a:t>
            </a:r>
            <a:endParaRPr sz="1350">
              <a:solidFill>
                <a:srgbClr val="313131"/>
              </a:solidFill>
              <a:highlight>
                <a:srgbClr val="FFFFFF"/>
              </a:highlight>
              <a:latin typeface="Bookman Old Style"/>
              <a:ea typeface="Bookman Old Style"/>
              <a:cs typeface="Bookman Old Style"/>
              <a:sym typeface="Bookman Old Style"/>
            </a:endParaRPr>
          </a:p>
          <a:p>
            <a:pPr marL="0" lvl="0" indent="0" algn="l" rtl="0">
              <a:spcBef>
                <a:spcPts val="0"/>
              </a:spcBef>
              <a:spcAft>
                <a:spcPts val="0"/>
              </a:spcAft>
              <a:buNone/>
            </a:pPr>
            <a:r>
              <a:rPr lang="pt-BR" sz="1350" b="1">
                <a:solidFill>
                  <a:srgbClr val="313131"/>
                </a:solidFill>
                <a:highlight>
                  <a:srgbClr val="FFFFFF"/>
                </a:highlight>
                <a:latin typeface="Bookman Old Style"/>
                <a:ea typeface="Bookman Old Style"/>
                <a:cs typeface="Bookman Old Style"/>
                <a:sym typeface="Bookman Old Style"/>
              </a:rPr>
              <a:t>Elenco:</a:t>
            </a:r>
            <a:r>
              <a:rPr lang="pt-BR" sz="1350">
                <a:solidFill>
                  <a:srgbClr val="313131"/>
                </a:solidFill>
                <a:highlight>
                  <a:srgbClr val="FFFFFF"/>
                </a:highlight>
                <a:latin typeface="Bookman Old Style"/>
                <a:ea typeface="Bookman Old Style"/>
                <a:cs typeface="Bookman Old Style"/>
                <a:sym typeface="Bookman Old Style"/>
              </a:rPr>
              <a:t> Ginnifer Goodwin</a:t>
            </a:r>
            <a:endParaRPr sz="1350">
              <a:solidFill>
                <a:srgbClr val="313131"/>
              </a:solidFill>
              <a:highlight>
                <a:srgbClr val="FFFFFF"/>
              </a:highlight>
              <a:latin typeface="Bookman Old Style"/>
              <a:ea typeface="Bookman Old Style"/>
              <a:cs typeface="Bookman Old Style"/>
              <a:sym typeface="Bookman Old Style"/>
            </a:endParaRPr>
          </a:p>
          <a:p>
            <a:pPr marL="0" lvl="0" indent="0" algn="l" rtl="0">
              <a:spcBef>
                <a:spcPts val="0"/>
              </a:spcBef>
              <a:spcAft>
                <a:spcPts val="0"/>
              </a:spcAft>
              <a:buNone/>
            </a:pPr>
            <a:r>
              <a:rPr lang="pt-BR" sz="1350">
                <a:solidFill>
                  <a:srgbClr val="313131"/>
                </a:solidFill>
                <a:highlight>
                  <a:srgbClr val="FFFFFF"/>
                </a:highlight>
                <a:latin typeface="Bookman Old Style"/>
                <a:ea typeface="Bookman Old Style"/>
                <a:cs typeface="Bookman Old Style"/>
                <a:sym typeface="Bookman Old Style"/>
              </a:rPr>
              <a:t>Jason Bateman</a:t>
            </a:r>
            <a:endParaRPr sz="1350">
              <a:solidFill>
                <a:srgbClr val="313131"/>
              </a:solidFill>
              <a:highlight>
                <a:srgbClr val="FFFFFF"/>
              </a:highlight>
              <a:latin typeface="Bookman Old Style"/>
              <a:ea typeface="Bookman Old Style"/>
              <a:cs typeface="Bookman Old Style"/>
              <a:sym typeface="Bookman Old Style"/>
            </a:endParaRPr>
          </a:p>
          <a:p>
            <a:pPr marL="0" lvl="0" indent="0" algn="l" rtl="0">
              <a:spcBef>
                <a:spcPts val="0"/>
              </a:spcBef>
              <a:spcAft>
                <a:spcPts val="0"/>
              </a:spcAft>
              <a:buNone/>
            </a:pPr>
            <a:r>
              <a:rPr lang="pt-BR" sz="1350">
                <a:solidFill>
                  <a:srgbClr val="313131"/>
                </a:solidFill>
                <a:highlight>
                  <a:srgbClr val="FFFFFF"/>
                </a:highlight>
                <a:latin typeface="Bookman Old Style"/>
                <a:ea typeface="Bookman Old Style"/>
                <a:cs typeface="Bookman Old Style"/>
                <a:sym typeface="Bookman Old Style"/>
              </a:rPr>
              <a:t>Idris Elba</a:t>
            </a:r>
            <a:endParaRPr sz="1350">
              <a:solidFill>
                <a:srgbClr val="313131"/>
              </a:solidFill>
              <a:highlight>
                <a:srgbClr val="FFFFFF"/>
              </a:highlight>
              <a:latin typeface="Bookman Old Style"/>
              <a:ea typeface="Bookman Old Style"/>
              <a:cs typeface="Bookman Old Style"/>
              <a:sym typeface="Bookman Old Style"/>
            </a:endParaRPr>
          </a:p>
          <a:p>
            <a:pPr marL="0" lvl="0" indent="0" algn="l" rtl="0">
              <a:spcBef>
                <a:spcPts val="0"/>
              </a:spcBef>
              <a:spcAft>
                <a:spcPts val="0"/>
              </a:spcAft>
              <a:buNone/>
            </a:pPr>
            <a:r>
              <a:rPr lang="pt-BR" sz="1350">
                <a:solidFill>
                  <a:srgbClr val="313131"/>
                </a:solidFill>
                <a:highlight>
                  <a:srgbClr val="FFFFFF"/>
                </a:highlight>
                <a:latin typeface="Bookman Old Style"/>
                <a:ea typeface="Bookman Old Style"/>
                <a:cs typeface="Bookman Old Style"/>
                <a:sym typeface="Bookman Old Style"/>
              </a:rPr>
              <a:t>Shakira</a:t>
            </a:r>
            <a:endParaRPr sz="1350">
              <a:solidFill>
                <a:srgbClr val="313131"/>
              </a:solidFill>
              <a:highlight>
                <a:srgbClr val="FFFFFF"/>
              </a:highlight>
              <a:latin typeface="Bookman Old Style"/>
              <a:ea typeface="Bookman Old Style"/>
              <a:cs typeface="Bookman Old Style"/>
              <a:sym typeface="Bookman Old Style"/>
            </a:endParaRPr>
          </a:p>
          <a:p>
            <a:pPr marL="0" lvl="0" indent="0" algn="l" rtl="0">
              <a:spcBef>
                <a:spcPts val="0"/>
              </a:spcBef>
              <a:spcAft>
                <a:spcPts val="0"/>
              </a:spcAft>
              <a:buNone/>
            </a:pPr>
            <a:r>
              <a:rPr lang="pt-BR" sz="1350">
                <a:solidFill>
                  <a:srgbClr val="313131"/>
                </a:solidFill>
                <a:highlight>
                  <a:srgbClr val="FFFFFF"/>
                </a:highlight>
                <a:latin typeface="Bookman Old Style"/>
                <a:ea typeface="Bookman Old Style"/>
                <a:cs typeface="Bookman Old Style"/>
                <a:sym typeface="Bookman Old Style"/>
              </a:rPr>
              <a:t>Andy Samberg</a:t>
            </a:r>
            <a:endParaRPr sz="1350">
              <a:solidFill>
                <a:srgbClr val="313131"/>
              </a:solidFill>
              <a:highlight>
                <a:srgbClr val="FFFFFF"/>
              </a:highlight>
              <a:latin typeface="Bookman Old Style"/>
              <a:ea typeface="Bookman Old Style"/>
              <a:cs typeface="Bookman Old Style"/>
              <a:sym typeface="Bookman Old Style"/>
            </a:endParaRPr>
          </a:p>
          <a:p>
            <a:pPr marL="0" lvl="0" indent="0" algn="l" rtl="0">
              <a:spcBef>
                <a:spcPts val="0"/>
              </a:spcBef>
              <a:spcAft>
                <a:spcPts val="0"/>
              </a:spcAft>
              <a:buNone/>
            </a:pPr>
            <a:r>
              <a:rPr lang="pt-BR" sz="1350" b="1">
                <a:solidFill>
                  <a:srgbClr val="313131"/>
                </a:solidFill>
                <a:highlight>
                  <a:srgbClr val="FFFFFF"/>
                </a:highlight>
                <a:latin typeface="Bookman Old Style"/>
                <a:ea typeface="Bookman Old Style"/>
                <a:cs typeface="Bookman Old Style"/>
                <a:sym typeface="Bookman Old Style"/>
              </a:rPr>
              <a:t>Duração:</a:t>
            </a:r>
            <a:r>
              <a:rPr lang="pt-BR" sz="1350">
                <a:solidFill>
                  <a:srgbClr val="313131"/>
                </a:solidFill>
                <a:highlight>
                  <a:srgbClr val="FFFFFF"/>
                </a:highlight>
                <a:latin typeface="Bookman Old Style"/>
                <a:ea typeface="Bookman Old Style"/>
                <a:cs typeface="Bookman Old Style"/>
                <a:sym typeface="Bookman Old Style"/>
              </a:rPr>
              <a:t> 1h48 min.</a:t>
            </a:r>
            <a:endParaRPr sz="1350">
              <a:solidFill>
                <a:srgbClr val="313131"/>
              </a:solidFill>
              <a:highlight>
                <a:srgbClr val="FFFFFF"/>
              </a:highlight>
              <a:latin typeface="Bookman Old Style"/>
              <a:ea typeface="Bookman Old Style"/>
              <a:cs typeface="Bookman Old Style"/>
              <a:sym typeface="Bookman Old Style"/>
            </a:endParaRPr>
          </a:p>
          <a:p>
            <a:pPr marL="0" lvl="0" indent="0" algn="l" rtl="0">
              <a:spcBef>
                <a:spcPts val="0"/>
              </a:spcBef>
              <a:spcAft>
                <a:spcPts val="0"/>
              </a:spcAft>
              <a:buNone/>
            </a:pPr>
            <a:r>
              <a:rPr lang="pt-BR" sz="1350" b="1">
                <a:solidFill>
                  <a:srgbClr val="313131"/>
                </a:solidFill>
                <a:highlight>
                  <a:srgbClr val="FFFFFF"/>
                </a:highlight>
                <a:latin typeface="Bookman Old Style"/>
                <a:ea typeface="Bookman Old Style"/>
                <a:cs typeface="Bookman Old Style"/>
                <a:sym typeface="Bookman Old Style"/>
              </a:rPr>
              <a:t>Onde assistir: </a:t>
            </a:r>
            <a:r>
              <a:rPr lang="pt-BR" sz="1350">
                <a:solidFill>
                  <a:srgbClr val="313131"/>
                </a:solidFill>
                <a:highlight>
                  <a:srgbClr val="FFFFFF"/>
                </a:highlight>
                <a:latin typeface="Bookman Old Style"/>
                <a:ea typeface="Bookman Old Style"/>
                <a:cs typeface="Bookman Old Style"/>
                <a:sym typeface="Bookman Old Style"/>
              </a:rPr>
              <a:t>cinemas</a:t>
            </a:r>
            <a:endParaRPr sz="1350">
              <a:solidFill>
                <a:srgbClr val="313131"/>
              </a:solidFill>
              <a:highlight>
                <a:srgbClr val="FFFFFF"/>
              </a:highlight>
              <a:latin typeface="Bookman Old Style"/>
              <a:ea typeface="Bookman Old Style"/>
              <a:cs typeface="Bookman Old Style"/>
              <a:sym typeface="Bookman Old Style"/>
            </a:endParaRPr>
          </a:p>
          <a:p>
            <a:pPr marL="0" lvl="0" indent="0" algn="l" rtl="0">
              <a:spcBef>
                <a:spcPts val="0"/>
              </a:spcBef>
              <a:spcAft>
                <a:spcPts val="0"/>
              </a:spcAft>
              <a:buNone/>
            </a:pPr>
            <a:endParaRPr sz="2100">
              <a:solidFill>
                <a:schemeClr val="dk2"/>
              </a:solidFill>
              <a:latin typeface="Bookman Old Style"/>
              <a:ea typeface="Bookman Old Style"/>
              <a:cs typeface="Bookman Old Style"/>
              <a:sym typeface="Bookman Old Style"/>
            </a:endParaRPr>
          </a:p>
        </p:txBody>
      </p:sp>
      <p:pic>
        <p:nvPicPr>
          <p:cNvPr id="106" name="Google Shape;106;p21" descr="Zootopia nunca mais será a mesma...&#10;&#10;#Zootopia2, em 27 de novembro nos cinemas." title="Zootopia 2 | Trailer 2 Oficial Dublado">
            <a:hlinkClick r:id="rId3"/>
          </p:cNvPr>
          <p:cNvPicPr preferRelativeResize="0"/>
          <p:nvPr/>
        </p:nvPicPr>
        <p:blipFill>
          <a:blip r:embed="rId4">
            <a:alphaModFix/>
          </a:blip>
          <a:stretch>
            <a:fillRect/>
          </a:stretch>
        </p:blipFill>
        <p:spPr>
          <a:xfrm>
            <a:off x="200575" y="1428125"/>
            <a:ext cx="4500700" cy="25316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6"/>
                                        </p:tgtEl>
                                        <p:attrNameLst>
                                          <p:attrName>style.visibility</p:attrName>
                                        </p:attrNameLst>
                                      </p:cBhvr>
                                      <p:to>
                                        <p:strVal val="visible"/>
                                      </p:to>
                                    </p:set>
                                    <p:animEffect transition="in" filter="fade">
                                      <p:cBhvr>
                                        <p:cTn id="7" dur="1000"/>
                                        <p:tgtEl>
                                          <p:spTgt spid="1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22"/>
          <p:cNvSpPr txBox="1">
            <a:spLocks noGrp="1"/>
          </p:cNvSpPr>
          <p:nvPr>
            <p:ph type="title"/>
          </p:nvPr>
        </p:nvSpPr>
        <p:spPr>
          <a:xfrm>
            <a:off x="215450" y="1155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t-BR">
                <a:solidFill>
                  <a:srgbClr val="FF00FF"/>
                </a:solidFill>
              </a:rPr>
              <a:t>Resenha crítica:</a:t>
            </a:r>
            <a:r>
              <a:rPr lang="pt-BR"/>
              <a:t> exemplo 2</a:t>
            </a:r>
            <a:endParaRPr/>
          </a:p>
        </p:txBody>
      </p:sp>
      <p:sp>
        <p:nvSpPr>
          <p:cNvPr id="112" name="Google Shape;112;p22"/>
          <p:cNvSpPr txBox="1">
            <a:spLocks noGrp="1"/>
          </p:cNvSpPr>
          <p:nvPr>
            <p:ph type="body" idx="1"/>
          </p:nvPr>
        </p:nvSpPr>
        <p:spPr>
          <a:xfrm>
            <a:off x="311700" y="1017725"/>
            <a:ext cx="8520600" cy="4004400"/>
          </a:xfrm>
          <a:prstGeom prst="rect">
            <a:avLst/>
          </a:prstGeom>
          <a:ln>
            <a:noFill/>
          </a:ln>
        </p:spPr>
        <p:txBody>
          <a:bodyPr spcFirstLastPara="1" wrap="square" lIns="91425" tIns="91425" rIns="91425" bIns="91425" anchor="t" anchorCtr="0">
            <a:normAutofit fontScale="25000"/>
          </a:bodyPr>
          <a:lstStyle/>
          <a:p>
            <a:pPr marL="0" lvl="0" indent="0" algn="l" rtl="0">
              <a:spcBef>
                <a:spcPts val="0"/>
              </a:spcBef>
              <a:spcAft>
                <a:spcPts val="0"/>
              </a:spcAft>
              <a:buNone/>
            </a:pPr>
            <a:r>
              <a:rPr lang="pt-BR" sz="5500" b="1">
                <a:solidFill>
                  <a:srgbClr val="000000"/>
                </a:solidFill>
                <a:latin typeface="Bookman Old Style"/>
                <a:ea typeface="Bookman Old Style"/>
                <a:cs typeface="Bookman Old Style"/>
                <a:sym typeface="Bookman Old Style"/>
              </a:rPr>
              <a:t>Zootopia 2 impressiona tanto que expõe um defeito raro na Disney</a:t>
            </a:r>
            <a:endParaRPr sz="5500" b="1">
              <a:solidFill>
                <a:srgbClr val="000000"/>
              </a:solidFill>
              <a:latin typeface="Bookman Old Style"/>
              <a:ea typeface="Bookman Old Style"/>
              <a:cs typeface="Bookman Old Style"/>
              <a:sym typeface="Bookman Old Style"/>
            </a:endParaRPr>
          </a:p>
          <a:p>
            <a:pPr marL="0" lvl="0" indent="0" algn="l" rtl="0">
              <a:spcBef>
                <a:spcPts val="0"/>
              </a:spcBef>
              <a:spcAft>
                <a:spcPts val="0"/>
              </a:spcAft>
              <a:buNone/>
            </a:pPr>
            <a:r>
              <a:rPr lang="pt-BR" sz="5500">
                <a:solidFill>
                  <a:srgbClr val="000000"/>
                </a:solidFill>
                <a:latin typeface="Bookman Old Style"/>
                <a:ea typeface="Bookman Old Style"/>
                <a:cs typeface="Bookman Old Style"/>
                <a:sym typeface="Bookman Old Style"/>
              </a:rPr>
              <a:t>Victor Cierro (02/12/25)</a:t>
            </a:r>
            <a:endParaRPr sz="5500">
              <a:solidFill>
                <a:srgbClr val="000000"/>
              </a:solidFill>
              <a:latin typeface="Bookman Old Style"/>
              <a:ea typeface="Bookman Old Style"/>
              <a:cs typeface="Bookman Old Style"/>
              <a:sym typeface="Bookman Old Style"/>
            </a:endParaRPr>
          </a:p>
          <a:p>
            <a:pPr marL="0" lvl="0" indent="0" algn="l" rtl="0">
              <a:spcBef>
                <a:spcPts val="0"/>
              </a:spcBef>
              <a:spcAft>
                <a:spcPts val="0"/>
              </a:spcAft>
              <a:buNone/>
            </a:pPr>
            <a:endParaRPr sz="1900">
              <a:solidFill>
                <a:srgbClr val="000000"/>
              </a:solidFill>
              <a:latin typeface="Bookman Old Style"/>
              <a:ea typeface="Bookman Old Style"/>
              <a:cs typeface="Bookman Old Style"/>
              <a:sym typeface="Bookman Old Style"/>
            </a:endParaRPr>
          </a:p>
          <a:p>
            <a:pPr marL="0" lvl="0" indent="0" algn="l" rtl="0">
              <a:spcBef>
                <a:spcPts val="0"/>
              </a:spcBef>
              <a:spcAft>
                <a:spcPts val="0"/>
              </a:spcAft>
              <a:buNone/>
            </a:pPr>
            <a:endParaRPr sz="3750" i="1">
              <a:solidFill>
                <a:srgbClr val="000000"/>
              </a:solidFill>
              <a:latin typeface="Bookman Old Style"/>
              <a:ea typeface="Bookman Old Style"/>
              <a:cs typeface="Bookman Old Style"/>
              <a:sym typeface="Bookman Old Style"/>
            </a:endParaRPr>
          </a:p>
          <a:p>
            <a:pPr marL="0" lvl="0" indent="457200" algn="l" rtl="0">
              <a:spcBef>
                <a:spcPts val="0"/>
              </a:spcBef>
              <a:spcAft>
                <a:spcPts val="0"/>
              </a:spcAft>
              <a:buNone/>
            </a:pPr>
            <a:r>
              <a:rPr lang="pt-BR" sz="6400" i="1">
                <a:solidFill>
                  <a:srgbClr val="000000"/>
                </a:solidFill>
                <a:latin typeface="Bookman Old Style"/>
                <a:ea typeface="Bookman Old Style"/>
                <a:cs typeface="Bookman Old Style"/>
                <a:sym typeface="Bookman Old Style"/>
              </a:rPr>
              <a:t>Zootopia 2</a:t>
            </a:r>
            <a:r>
              <a:rPr lang="pt-BR" sz="6400">
                <a:solidFill>
                  <a:srgbClr val="000000"/>
                </a:solidFill>
                <a:latin typeface="Bookman Old Style"/>
                <a:ea typeface="Bookman Old Style"/>
                <a:cs typeface="Bookman Old Style"/>
                <a:sym typeface="Bookman Old Style"/>
              </a:rPr>
              <a:t> </a:t>
            </a:r>
            <a:r>
              <a:rPr lang="pt-BR" sz="6400">
                <a:solidFill>
                  <a:srgbClr val="000000"/>
                </a:solidFill>
                <a:highlight>
                  <a:schemeClr val="accent6"/>
                </a:highlight>
                <a:latin typeface="Bookman Old Style"/>
                <a:ea typeface="Bookman Old Style"/>
                <a:cs typeface="Bookman Old Style"/>
                <a:sym typeface="Bookman Old Style"/>
              </a:rPr>
              <a:t>chega como uma das continuações mais bem construídas da Disney nos últimos anos.</a:t>
            </a:r>
            <a:r>
              <a:rPr lang="pt-BR" sz="6400">
                <a:solidFill>
                  <a:srgbClr val="000000"/>
                </a:solidFill>
                <a:latin typeface="Bookman Old Style"/>
                <a:ea typeface="Bookman Old Style"/>
                <a:cs typeface="Bookman Old Style"/>
                <a:sym typeface="Bookman Old Style"/>
              </a:rPr>
              <a:t> </a:t>
            </a:r>
            <a:r>
              <a:rPr lang="pt-BR" sz="6400" u="sng">
                <a:solidFill>
                  <a:srgbClr val="000000"/>
                </a:solidFill>
                <a:latin typeface="Bookman Old Style"/>
                <a:ea typeface="Bookman Old Style"/>
                <a:cs typeface="Bookman Old Style"/>
                <a:sym typeface="Bookman Old Style"/>
              </a:rPr>
              <a:t>Em vez de apenas repetir a fórmula vencedora do primeiro filme, a nova aventura de Judy Hopps e Nick Wilde entende exatamente o que tornou o original tão querido e aprofunda cada uma dessas camadas. A sequência não só expande o universo da cidade animal mais famosa da animação moderna, mas também entrega um desenvolvimento preciso e emocional para seus protagonistas.</a:t>
            </a:r>
            <a:endParaRPr sz="6400" u="sng">
              <a:solidFill>
                <a:srgbClr val="000000"/>
              </a:solidFill>
              <a:latin typeface="Bookman Old Style"/>
              <a:ea typeface="Bookman Old Style"/>
              <a:cs typeface="Bookman Old Style"/>
              <a:sym typeface="Bookman Old Style"/>
            </a:endParaRPr>
          </a:p>
          <a:p>
            <a:pPr marL="0" lvl="0" indent="457200" algn="l" rtl="0">
              <a:spcBef>
                <a:spcPts val="0"/>
              </a:spcBef>
              <a:spcAft>
                <a:spcPts val="0"/>
              </a:spcAft>
              <a:buNone/>
            </a:pPr>
            <a:endParaRPr sz="3750">
              <a:solidFill>
                <a:srgbClr val="333333"/>
              </a:solidFill>
              <a:highlight>
                <a:srgbClr val="FFFFFF"/>
              </a:highlight>
              <a:latin typeface="Bookman Old Style"/>
              <a:ea typeface="Bookman Old Style"/>
              <a:cs typeface="Bookman Old Style"/>
              <a:sym typeface="Bookman Old Style"/>
            </a:endParaRPr>
          </a:p>
          <a:p>
            <a:pPr marL="0" lvl="0" indent="0" algn="l" rtl="0">
              <a:spcBef>
                <a:spcPts val="1400"/>
              </a:spcBef>
              <a:spcAft>
                <a:spcPts val="0"/>
              </a:spcAft>
              <a:buNone/>
            </a:pPr>
            <a:endParaRPr sz="5600">
              <a:solidFill>
                <a:srgbClr val="000000"/>
              </a:solidFill>
              <a:latin typeface="Bookman Old Style"/>
              <a:ea typeface="Bookman Old Style"/>
              <a:cs typeface="Bookman Old Style"/>
              <a:sym typeface="Bookman Old Style"/>
            </a:endParaRPr>
          </a:p>
          <a:p>
            <a:pPr marL="0" lvl="0" indent="457200" algn="l" rtl="0">
              <a:spcBef>
                <a:spcPts val="0"/>
              </a:spcBef>
              <a:spcAft>
                <a:spcPts val="0"/>
              </a:spcAft>
              <a:buNone/>
            </a:pPr>
            <a:endParaRPr sz="1600">
              <a:solidFill>
                <a:srgbClr val="333333"/>
              </a:solidFill>
              <a:highlight>
                <a:srgbClr val="FFFFFF"/>
              </a:highlight>
              <a:latin typeface="Bookman Old Style"/>
              <a:ea typeface="Bookman Old Style"/>
              <a:cs typeface="Bookman Old Style"/>
              <a:sym typeface="Bookman Old Style"/>
            </a:endParaRPr>
          </a:p>
          <a:p>
            <a:pPr marL="0" lvl="0" indent="0" algn="l" rtl="0">
              <a:spcBef>
                <a:spcPts val="1400"/>
              </a:spcBef>
              <a:spcAft>
                <a:spcPts val="0"/>
              </a:spcAft>
              <a:buNone/>
            </a:pPr>
            <a:endParaRPr sz="1500">
              <a:solidFill>
                <a:srgbClr val="333333"/>
              </a:solidFill>
              <a:highlight>
                <a:srgbClr val="FFFFFF"/>
              </a:highlight>
              <a:latin typeface="Georgia"/>
              <a:ea typeface="Georgia"/>
              <a:cs typeface="Georgia"/>
              <a:sym typeface="Georgia"/>
            </a:endParaRPr>
          </a:p>
          <a:p>
            <a:pPr marL="0" lvl="0" indent="457200" algn="l" rtl="0">
              <a:spcBef>
                <a:spcPts val="0"/>
              </a:spcBef>
              <a:spcAft>
                <a:spcPts val="0"/>
              </a:spcAft>
              <a:buNone/>
            </a:pPr>
            <a:endParaRPr sz="1500">
              <a:solidFill>
                <a:srgbClr val="333333"/>
              </a:solidFill>
              <a:highlight>
                <a:schemeClr val="accent6"/>
              </a:highlight>
              <a:latin typeface="Georgia"/>
              <a:ea typeface="Georgia"/>
              <a:cs typeface="Georgia"/>
              <a:sym typeface="Georgia"/>
            </a:endParaRPr>
          </a:p>
          <a:p>
            <a:pPr marL="0" lvl="0" indent="457200" algn="l" rtl="0">
              <a:spcBef>
                <a:spcPts val="0"/>
              </a:spcBef>
              <a:spcAft>
                <a:spcPts val="0"/>
              </a:spcAft>
              <a:buNone/>
            </a:pPr>
            <a:endParaRPr sz="1500">
              <a:solidFill>
                <a:srgbClr val="333333"/>
              </a:solidFill>
              <a:highlight>
                <a:srgbClr val="FFFFFF"/>
              </a:highlight>
              <a:latin typeface="Bookman Old Style"/>
              <a:ea typeface="Bookman Old Style"/>
              <a:cs typeface="Bookman Old Style"/>
              <a:sym typeface="Bookman Old Style"/>
            </a:endParaRPr>
          </a:p>
          <a:p>
            <a:pPr marL="0" lvl="0" indent="0" algn="l" rtl="0">
              <a:spcBef>
                <a:spcPts val="0"/>
              </a:spcBef>
              <a:spcAft>
                <a:spcPts val="0"/>
              </a:spcAft>
              <a:buNone/>
            </a:pPr>
            <a:endParaRPr sz="1100">
              <a:solidFill>
                <a:srgbClr val="000000"/>
              </a:solidFill>
              <a:latin typeface="Arial"/>
              <a:ea typeface="Arial"/>
              <a:cs typeface="Arial"/>
              <a:sym typeface="Arial"/>
            </a:endParaRPr>
          </a:p>
          <a:p>
            <a:pPr marL="0" lvl="0" indent="457200" algn="l" rtl="0">
              <a:spcBef>
                <a:spcPts val="0"/>
              </a:spcBef>
              <a:spcAft>
                <a:spcPts val="0"/>
              </a:spcAft>
              <a:buNone/>
            </a:pPr>
            <a:endParaRPr sz="1500">
              <a:solidFill>
                <a:srgbClr val="333333"/>
              </a:solidFill>
              <a:highlight>
                <a:srgbClr val="FFFFFF"/>
              </a:highlight>
              <a:latin typeface="Georgia"/>
              <a:ea typeface="Georgia"/>
              <a:cs typeface="Georgia"/>
              <a:sym typeface="Georgia"/>
            </a:endParaRPr>
          </a:p>
          <a:p>
            <a:pPr marL="0" lvl="0" indent="0" algn="l" rtl="0">
              <a:spcBef>
                <a:spcPts val="0"/>
              </a:spcBef>
              <a:spcAft>
                <a:spcPts val="0"/>
              </a:spcAft>
              <a:buNone/>
            </a:pPr>
            <a:endParaRPr sz="1300" u="sng">
              <a:solidFill>
                <a:srgbClr val="000000"/>
              </a:solidFill>
              <a:latin typeface="Bookman Old Style"/>
              <a:ea typeface="Bookman Old Style"/>
              <a:cs typeface="Bookman Old Style"/>
              <a:sym typeface="Bookman Old Style"/>
            </a:endParaRPr>
          </a:p>
          <a:p>
            <a:pPr marL="0" lvl="0" indent="0" algn="l" rtl="0">
              <a:spcBef>
                <a:spcPts val="0"/>
              </a:spcBef>
              <a:spcAft>
                <a:spcPts val="1200"/>
              </a:spcAft>
              <a:buNone/>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3"/>
          <p:cNvSpPr txBox="1">
            <a:spLocks noGrp="1"/>
          </p:cNvSpPr>
          <p:nvPr>
            <p:ph type="title"/>
          </p:nvPr>
        </p:nvSpPr>
        <p:spPr>
          <a:xfrm>
            <a:off x="311700" y="880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t-BR">
                <a:solidFill>
                  <a:srgbClr val="FF00FF"/>
                </a:solidFill>
              </a:rPr>
              <a:t>Resenha crítica:</a:t>
            </a:r>
            <a:r>
              <a:rPr lang="pt-BR"/>
              <a:t> exemplo 2</a:t>
            </a:r>
            <a:endParaRPr/>
          </a:p>
        </p:txBody>
      </p:sp>
      <p:sp>
        <p:nvSpPr>
          <p:cNvPr id="118" name="Google Shape;118;p23"/>
          <p:cNvSpPr txBox="1">
            <a:spLocks noGrp="1"/>
          </p:cNvSpPr>
          <p:nvPr>
            <p:ph type="body" idx="1"/>
          </p:nvPr>
        </p:nvSpPr>
        <p:spPr>
          <a:xfrm>
            <a:off x="311700" y="660700"/>
            <a:ext cx="8520600" cy="4394100"/>
          </a:xfrm>
          <a:prstGeom prst="rect">
            <a:avLst/>
          </a:prstGeom>
        </p:spPr>
        <p:txBody>
          <a:bodyPr spcFirstLastPara="1" wrap="square" lIns="91425" tIns="91425" rIns="91425" bIns="91425" anchor="t" anchorCtr="0">
            <a:normAutofit fontScale="47500" lnSpcReduction="20000"/>
          </a:bodyPr>
          <a:lstStyle/>
          <a:p>
            <a:pPr marL="0" lvl="0" indent="457200" algn="l" rtl="0">
              <a:spcBef>
                <a:spcPts val="0"/>
              </a:spcBef>
              <a:spcAft>
                <a:spcPts val="0"/>
              </a:spcAft>
              <a:buNone/>
            </a:pPr>
            <a:r>
              <a:rPr lang="pt-BR" sz="3134">
                <a:solidFill>
                  <a:srgbClr val="000000"/>
                </a:solidFill>
                <a:highlight>
                  <a:schemeClr val="accent6"/>
                </a:highlight>
                <a:latin typeface="Bookman Old Style"/>
                <a:ea typeface="Bookman Old Style"/>
                <a:cs typeface="Bookman Old Style"/>
                <a:sym typeface="Bookman Old Style"/>
              </a:rPr>
              <a:t>Ao contrário de </a:t>
            </a:r>
            <a:r>
              <a:rPr lang="pt-BR" sz="3134" i="1">
                <a:solidFill>
                  <a:srgbClr val="000000"/>
                </a:solidFill>
                <a:highlight>
                  <a:schemeClr val="accent6"/>
                </a:highlight>
                <a:latin typeface="Bookman Old Style"/>
                <a:ea typeface="Bookman Old Style"/>
                <a:cs typeface="Bookman Old Style"/>
                <a:sym typeface="Bookman Old Style"/>
              </a:rPr>
              <a:t>Moana 2</a:t>
            </a:r>
            <a:r>
              <a:rPr lang="pt-BR" sz="3134">
                <a:solidFill>
                  <a:srgbClr val="000000"/>
                </a:solidFill>
                <a:highlight>
                  <a:schemeClr val="accent6"/>
                </a:highlight>
                <a:latin typeface="Bookman Old Style"/>
                <a:ea typeface="Bookman Old Style"/>
                <a:cs typeface="Bookman Old Style"/>
                <a:sym typeface="Bookman Old Style"/>
              </a:rPr>
              <a:t> (2024), que parecia existir muito mais para capitalizar o sucesso global da primeira animação, </a:t>
            </a:r>
            <a:r>
              <a:rPr lang="pt-BR" sz="3134" i="1">
                <a:solidFill>
                  <a:srgbClr val="000000"/>
                </a:solidFill>
                <a:highlight>
                  <a:schemeClr val="accent6"/>
                </a:highlight>
                <a:latin typeface="Bookman Old Style"/>
                <a:ea typeface="Bookman Old Style"/>
                <a:cs typeface="Bookman Old Style"/>
                <a:sym typeface="Bookman Old Style"/>
              </a:rPr>
              <a:t>Zootopia 2</a:t>
            </a:r>
            <a:r>
              <a:rPr lang="pt-BR" sz="3134">
                <a:solidFill>
                  <a:srgbClr val="000000"/>
                </a:solidFill>
                <a:highlight>
                  <a:schemeClr val="accent6"/>
                </a:highlight>
                <a:latin typeface="Bookman Old Style"/>
                <a:ea typeface="Bookman Old Style"/>
                <a:cs typeface="Bookman Old Style"/>
                <a:sym typeface="Bookman Old Style"/>
              </a:rPr>
              <a:t> justifica sua existência desde os primeiros minutos.</a:t>
            </a:r>
            <a:r>
              <a:rPr lang="pt-BR" sz="3134">
                <a:solidFill>
                  <a:srgbClr val="000000"/>
                </a:solidFill>
                <a:latin typeface="Bookman Old Style"/>
                <a:ea typeface="Bookman Old Style"/>
                <a:cs typeface="Bookman Old Style"/>
                <a:sym typeface="Bookman Old Style"/>
              </a:rPr>
              <a:t> </a:t>
            </a:r>
            <a:r>
              <a:rPr lang="pt-BR" sz="3134">
                <a:solidFill>
                  <a:srgbClr val="000000"/>
                </a:solidFill>
                <a:highlight>
                  <a:schemeClr val="accent6"/>
                </a:highlight>
                <a:latin typeface="Bookman Old Style"/>
                <a:ea typeface="Bookman Old Style"/>
                <a:cs typeface="Bookman Old Style"/>
                <a:sym typeface="Bookman Old Style"/>
              </a:rPr>
              <a:t>A história mergulha em novos recortes sociais, explora bairros inéditos da metrópole e cria situações que resgatam a essência de sátira urbana do original. Judy e Nick continuam sendo o coração da trama, agora ainda mais afinados, ainda mais humanos e ainda mais carismáticos.</a:t>
            </a:r>
            <a:endParaRPr sz="3134">
              <a:solidFill>
                <a:srgbClr val="000000"/>
              </a:solidFill>
              <a:highlight>
                <a:schemeClr val="accent6"/>
              </a:highlight>
              <a:latin typeface="Bookman Old Style"/>
              <a:ea typeface="Bookman Old Style"/>
              <a:cs typeface="Bookman Old Style"/>
              <a:sym typeface="Bookman Old Style"/>
            </a:endParaRPr>
          </a:p>
          <a:p>
            <a:pPr marL="0" lvl="0" indent="457200" algn="l" rtl="0">
              <a:spcBef>
                <a:spcPts val="0"/>
              </a:spcBef>
              <a:spcAft>
                <a:spcPts val="0"/>
              </a:spcAft>
              <a:buNone/>
            </a:pPr>
            <a:endParaRPr sz="3134">
              <a:solidFill>
                <a:srgbClr val="000000"/>
              </a:solidFill>
              <a:latin typeface="Bookman Old Style"/>
              <a:ea typeface="Bookman Old Style"/>
              <a:cs typeface="Bookman Old Style"/>
              <a:sym typeface="Bookman Old Style"/>
            </a:endParaRPr>
          </a:p>
          <a:p>
            <a:pPr marL="0" lvl="0" indent="457200" algn="l" rtl="0">
              <a:spcBef>
                <a:spcPts val="0"/>
              </a:spcBef>
              <a:spcAft>
                <a:spcPts val="0"/>
              </a:spcAft>
              <a:buNone/>
            </a:pPr>
            <a:r>
              <a:rPr lang="pt-BR" sz="3134">
                <a:solidFill>
                  <a:srgbClr val="000000"/>
                </a:solidFill>
                <a:latin typeface="Bookman Old Style"/>
                <a:ea typeface="Bookman Old Style"/>
                <a:cs typeface="Bookman Old Style"/>
                <a:sym typeface="Bookman Old Style"/>
              </a:rPr>
              <a:t>A presença do Chefe Bogo obrigando a dupla a participar do programa de aconselhamento “Parceiros em Crise” funciona como uma renovação da dinâmica entre eles. </a:t>
            </a:r>
            <a:r>
              <a:rPr lang="pt-BR" sz="3134">
                <a:solidFill>
                  <a:srgbClr val="000000"/>
                </a:solidFill>
                <a:highlight>
                  <a:schemeClr val="accent6"/>
                </a:highlight>
                <a:latin typeface="Bookman Old Style"/>
                <a:ea typeface="Bookman Old Style"/>
                <a:cs typeface="Bookman Old Style"/>
                <a:sym typeface="Bookman Old Style"/>
              </a:rPr>
              <a:t>É um recurso narrativo simples, mas poderoso, </a:t>
            </a:r>
            <a:r>
              <a:rPr lang="pt-BR" sz="3134" u="sng">
                <a:solidFill>
                  <a:srgbClr val="000000"/>
                </a:solidFill>
                <a:latin typeface="Bookman Old Style"/>
                <a:ea typeface="Bookman Old Style"/>
                <a:cs typeface="Bookman Old Style"/>
                <a:sym typeface="Bookman Old Style"/>
              </a:rPr>
              <a:t>que abre espaço para vulnerabilidade, humor e conversas que realmente importam para a evolução dos personagens. O filme entende que crescer emocionalmente faz parte da jornada desses heróis tanto quanto desvendar mistérios.</a:t>
            </a:r>
            <a:endParaRPr sz="3134" u="sng">
              <a:solidFill>
                <a:srgbClr val="000000"/>
              </a:solidFill>
              <a:latin typeface="Bookman Old Style"/>
              <a:ea typeface="Bookman Old Style"/>
              <a:cs typeface="Bookman Old Style"/>
              <a:sym typeface="Bookman Old Style"/>
            </a:endParaRPr>
          </a:p>
          <a:p>
            <a:pPr marL="0" lvl="0" indent="457200" algn="l" rtl="0">
              <a:spcBef>
                <a:spcPts val="0"/>
              </a:spcBef>
              <a:spcAft>
                <a:spcPts val="0"/>
              </a:spcAft>
              <a:buNone/>
            </a:pPr>
            <a:endParaRPr sz="3134">
              <a:solidFill>
                <a:srgbClr val="333333"/>
              </a:solidFill>
              <a:latin typeface="Bookman Old Style"/>
              <a:ea typeface="Bookman Old Style"/>
              <a:cs typeface="Bookman Old Style"/>
              <a:sym typeface="Bookman Old Style"/>
            </a:endParaRPr>
          </a:p>
          <a:p>
            <a:pPr marL="0" lvl="0" indent="457200" algn="l" rtl="0">
              <a:spcBef>
                <a:spcPts val="0"/>
              </a:spcBef>
              <a:spcAft>
                <a:spcPts val="0"/>
              </a:spcAft>
              <a:buNone/>
            </a:pPr>
            <a:endParaRPr sz="1600">
              <a:solidFill>
                <a:srgbClr val="333333"/>
              </a:solidFill>
              <a:highlight>
                <a:srgbClr val="FFFFFF"/>
              </a:highlight>
              <a:latin typeface="Bookman Old Style"/>
              <a:ea typeface="Bookman Old Style"/>
              <a:cs typeface="Bookman Old Style"/>
              <a:sym typeface="Bookman Old Style"/>
            </a:endParaRPr>
          </a:p>
          <a:p>
            <a:pPr marL="0" lvl="0" indent="0" algn="l" rtl="0">
              <a:spcBef>
                <a:spcPts val="1400"/>
              </a:spcBef>
              <a:spcAft>
                <a:spcPts val="0"/>
              </a:spcAft>
              <a:buNone/>
            </a:pPr>
            <a:endParaRPr sz="1500">
              <a:solidFill>
                <a:srgbClr val="333333"/>
              </a:solidFill>
              <a:highlight>
                <a:srgbClr val="FFFFFF"/>
              </a:highlight>
              <a:latin typeface="Georgia"/>
              <a:ea typeface="Georgia"/>
              <a:cs typeface="Georgia"/>
              <a:sym typeface="Georgia"/>
            </a:endParaRPr>
          </a:p>
          <a:p>
            <a:pPr marL="0" lvl="0" indent="457200" algn="l" rtl="0">
              <a:spcBef>
                <a:spcPts val="0"/>
              </a:spcBef>
              <a:spcAft>
                <a:spcPts val="0"/>
              </a:spcAft>
              <a:buNone/>
            </a:pPr>
            <a:endParaRPr sz="1500">
              <a:solidFill>
                <a:srgbClr val="333333"/>
              </a:solidFill>
              <a:highlight>
                <a:schemeClr val="accent6"/>
              </a:highlight>
              <a:latin typeface="Georgia"/>
              <a:ea typeface="Georgia"/>
              <a:cs typeface="Georgia"/>
              <a:sym typeface="Georgia"/>
            </a:endParaRPr>
          </a:p>
          <a:p>
            <a:pPr marL="0" lvl="0" indent="457200" algn="l" rtl="0">
              <a:spcBef>
                <a:spcPts val="0"/>
              </a:spcBef>
              <a:spcAft>
                <a:spcPts val="0"/>
              </a:spcAft>
              <a:buNone/>
            </a:pPr>
            <a:endParaRPr sz="1500">
              <a:solidFill>
                <a:srgbClr val="333333"/>
              </a:solidFill>
              <a:highlight>
                <a:srgbClr val="FFFFFF"/>
              </a:highlight>
              <a:latin typeface="Bookman Old Style"/>
              <a:ea typeface="Bookman Old Style"/>
              <a:cs typeface="Bookman Old Style"/>
              <a:sym typeface="Bookman Old Style"/>
            </a:endParaRPr>
          </a:p>
          <a:p>
            <a:pPr marL="0" lvl="0" indent="0" algn="l" rtl="0">
              <a:spcBef>
                <a:spcPts val="0"/>
              </a:spcBef>
              <a:spcAft>
                <a:spcPts val="0"/>
              </a:spcAft>
              <a:buNone/>
            </a:pPr>
            <a:endParaRPr sz="1100">
              <a:solidFill>
                <a:srgbClr val="000000"/>
              </a:solidFill>
              <a:latin typeface="Arial"/>
              <a:ea typeface="Arial"/>
              <a:cs typeface="Arial"/>
              <a:sym typeface="Arial"/>
            </a:endParaRPr>
          </a:p>
          <a:p>
            <a:pPr marL="0" lvl="0" indent="457200" algn="l" rtl="0">
              <a:spcBef>
                <a:spcPts val="0"/>
              </a:spcBef>
              <a:spcAft>
                <a:spcPts val="0"/>
              </a:spcAft>
              <a:buNone/>
            </a:pPr>
            <a:endParaRPr sz="1500">
              <a:solidFill>
                <a:srgbClr val="333333"/>
              </a:solidFill>
              <a:highlight>
                <a:srgbClr val="FFFFFF"/>
              </a:highlight>
              <a:latin typeface="Georgia"/>
              <a:ea typeface="Georgia"/>
              <a:cs typeface="Georgia"/>
              <a:sym typeface="Georgia"/>
            </a:endParaRPr>
          </a:p>
          <a:p>
            <a:pPr marL="0" lvl="0" indent="0" algn="l" rtl="0">
              <a:spcBef>
                <a:spcPts val="0"/>
              </a:spcBef>
              <a:spcAft>
                <a:spcPts val="0"/>
              </a:spcAft>
              <a:buNone/>
            </a:pPr>
            <a:endParaRPr sz="1300" u="sng">
              <a:solidFill>
                <a:srgbClr val="000000"/>
              </a:solidFill>
              <a:latin typeface="Bookman Old Style"/>
              <a:ea typeface="Bookman Old Style"/>
              <a:cs typeface="Bookman Old Style"/>
              <a:sym typeface="Bookman Old Style"/>
            </a:endParaRPr>
          </a:p>
          <a:p>
            <a:pPr marL="0" lvl="0" indent="0" algn="l" rtl="0">
              <a:spcBef>
                <a:spcPts val="0"/>
              </a:spcBef>
              <a:spcAft>
                <a:spcPts val="1200"/>
              </a:spcAft>
              <a:buNone/>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4"/>
          <p:cNvSpPr txBox="1">
            <a:spLocks noGrp="1"/>
          </p:cNvSpPr>
          <p:nvPr>
            <p:ph type="title"/>
          </p:nvPr>
        </p:nvSpPr>
        <p:spPr>
          <a:xfrm>
            <a:off x="311700" y="880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t-BR">
                <a:solidFill>
                  <a:srgbClr val="FF00FF"/>
                </a:solidFill>
              </a:rPr>
              <a:t>Resenha crítica:</a:t>
            </a:r>
            <a:r>
              <a:rPr lang="pt-BR"/>
              <a:t> exemplo 2</a:t>
            </a:r>
            <a:endParaRPr/>
          </a:p>
        </p:txBody>
      </p:sp>
      <p:sp>
        <p:nvSpPr>
          <p:cNvPr id="124" name="Google Shape;124;p24"/>
          <p:cNvSpPr txBox="1">
            <a:spLocks noGrp="1"/>
          </p:cNvSpPr>
          <p:nvPr>
            <p:ph type="body" idx="1"/>
          </p:nvPr>
        </p:nvSpPr>
        <p:spPr>
          <a:xfrm>
            <a:off x="311700" y="660700"/>
            <a:ext cx="8520600" cy="4394100"/>
          </a:xfrm>
          <a:prstGeom prst="rect">
            <a:avLst/>
          </a:prstGeom>
        </p:spPr>
        <p:txBody>
          <a:bodyPr spcFirstLastPara="1" wrap="square" lIns="91425" tIns="91425" rIns="91425" bIns="91425" anchor="t" anchorCtr="0">
            <a:normAutofit fontScale="25000"/>
          </a:bodyPr>
          <a:lstStyle/>
          <a:p>
            <a:pPr marL="0" lvl="0" indent="457200" algn="l" rtl="0">
              <a:spcBef>
                <a:spcPts val="0"/>
              </a:spcBef>
              <a:spcAft>
                <a:spcPts val="0"/>
              </a:spcAft>
              <a:buNone/>
            </a:pPr>
            <a:r>
              <a:rPr lang="pt-BR" sz="6000">
                <a:solidFill>
                  <a:srgbClr val="000000"/>
                </a:solidFill>
                <a:latin typeface="Bookman Old Style"/>
                <a:ea typeface="Bookman Old Style"/>
                <a:cs typeface="Bookman Old Style"/>
                <a:sym typeface="Bookman Old Style"/>
              </a:rPr>
              <a:t>E quando surge o enigmático Gary De’Snake, um réptil venenoso e imprevisível, </a:t>
            </a:r>
            <a:r>
              <a:rPr lang="pt-BR" sz="6000">
                <a:solidFill>
                  <a:srgbClr val="000000"/>
                </a:solidFill>
                <a:highlight>
                  <a:schemeClr val="accent6"/>
                </a:highlight>
                <a:latin typeface="Bookman Old Style"/>
                <a:ea typeface="Bookman Old Style"/>
                <a:cs typeface="Bookman Old Style"/>
                <a:sym typeface="Bookman Old Style"/>
              </a:rPr>
              <a:t>a trama ganha um novo ritmo.</a:t>
            </a:r>
            <a:r>
              <a:rPr lang="pt-BR" sz="6000">
                <a:solidFill>
                  <a:srgbClr val="000000"/>
                </a:solidFill>
                <a:latin typeface="Bookman Old Style"/>
                <a:ea typeface="Bookman Old Style"/>
                <a:cs typeface="Bookman Old Style"/>
                <a:sym typeface="Bookman Old Style"/>
              </a:rPr>
              <a:t> </a:t>
            </a:r>
            <a:r>
              <a:rPr lang="pt-BR" sz="6000" u="sng">
                <a:solidFill>
                  <a:srgbClr val="000000"/>
                </a:solidFill>
                <a:latin typeface="Bookman Old Style"/>
                <a:ea typeface="Bookman Old Style"/>
                <a:cs typeface="Bookman Old Style"/>
                <a:sym typeface="Bookman Old Style"/>
              </a:rPr>
              <a:t>O caso envolvendo o recém-chegado força os protagonistas a atravessar áreas desconhecidas de Zootopia, cada uma repleta de novas criaturas, novos perigos e novas críticas sociais.</a:t>
            </a:r>
            <a:r>
              <a:rPr lang="pt-BR" sz="6000">
                <a:solidFill>
                  <a:srgbClr val="000000"/>
                </a:solidFill>
                <a:latin typeface="Bookman Old Style"/>
                <a:ea typeface="Bookman Old Style"/>
                <a:cs typeface="Bookman Old Style"/>
                <a:sym typeface="Bookman Old Style"/>
              </a:rPr>
              <a:t> </a:t>
            </a:r>
            <a:r>
              <a:rPr lang="pt-BR" sz="6000">
                <a:solidFill>
                  <a:srgbClr val="000000"/>
                </a:solidFill>
                <a:highlight>
                  <a:schemeClr val="accent6"/>
                </a:highlight>
                <a:latin typeface="Bookman Old Style"/>
                <a:ea typeface="Bookman Old Style"/>
                <a:cs typeface="Bookman Old Style"/>
                <a:sym typeface="Bookman Old Style"/>
              </a:rPr>
              <a:t>A sequência constrói um cenário ainda mais complexo, vivo e cheio de possibilidades narrativas.</a:t>
            </a:r>
            <a:endParaRPr sz="6000">
              <a:solidFill>
                <a:srgbClr val="000000"/>
              </a:solidFill>
              <a:highlight>
                <a:schemeClr val="accent6"/>
              </a:highlight>
              <a:latin typeface="Bookman Old Style"/>
              <a:ea typeface="Bookman Old Style"/>
              <a:cs typeface="Bookman Old Style"/>
              <a:sym typeface="Bookman Old Style"/>
            </a:endParaRPr>
          </a:p>
          <a:p>
            <a:pPr marL="0" lvl="0" indent="457200" algn="l" rtl="0">
              <a:spcBef>
                <a:spcPts val="0"/>
              </a:spcBef>
              <a:spcAft>
                <a:spcPts val="0"/>
              </a:spcAft>
              <a:buNone/>
            </a:pPr>
            <a:endParaRPr sz="6000">
              <a:solidFill>
                <a:srgbClr val="000000"/>
              </a:solidFill>
              <a:latin typeface="Bookman Old Style"/>
              <a:ea typeface="Bookman Old Style"/>
              <a:cs typeface="Bookman Old Style"/>
              <a:sym typeface="Bookman Old Style"/>
            </a:endParaRPr>
          </a:p>
          <a:p>
            <a:pPr marL="0" lvl="0" indent="457200" algn="l" rtl="0">
              <a:spcBef>
                <a:spcPts val="0"/>
              </a:spcBef>
              <a:spcAft>
                <a:spcPts val="0"/>
              </a:spcAft>
              <a:buNone/>
            </a:pPr>
            <a:r>
              <a:rPr lang="pt-BR" sz="6000">
                <a:solidFill>
                  <a:srgbClr val="000000"/>
                </a:solidFill>
                <a:highlight>
                  <a:schemeClr val="accent6"/>
                </a:highlight>
                <a:latin typeface="Bookman Old Style"/>
                <a:ea typeface="Bookman Old Style"/>
                <a:cs typeface="Bookman Old Style"/>
                <a:sym typeface="Bookman Old Style"/>
              </a:rPr>
              <a:t>É justamente aí que nasce o grande defeito do filme.</a:t>
            </a:r>
            <a:r>
              <a:rPr lang="pt-BR" sz="6000">
                <a:solidFill>
                  <a:srgbClr val="000000"/>
                </a:solidFill>
                <a:latin typeface="Bookman Old Style"/>
                <a:ea typeface="Bookman Old Style"/>
                <a:cs typeface="Bookman Old Style"/>
                <a:sym typeface="Bookman Old Style"/>
              </a:rPr>
              <a:t> </a:t>
            </a:r>
            <a:r>
              <a:rPr lang="pt-BR" sz="6000" i="1">
                <a:solidFill>
                  <a:srgbClr val="000000"/>
                </a:solidFill>
                <a:latin typeface="Bookman Old Style"/>
                <a:ea typeface="Bookman Old Style"/>
                <a:cs typeface="Bookman Old Style"/>
                <a:sym typeface="Bookman Old Style"/>
              </a:rPr>
              <a:t>Zootopia 2</a:t>
            </a:r>
            <a:r>
              <a:rPr lang="pt-BR" sz="6000">
                <a:solidFill>
                  <a:srgbClr val="000000"/>
                </a:solidFill>
                <a:latin typeface="Bookman Old Style"/>
                <a:ea typeface="Bookman Old Style"/>
                <a:cs typeface="Bookman Old Style"/>
                <a:sym typeface="Bookman Old Style"/>
              </a:rPr>
              <a:t> é tão rico, tão cheio de ideias e tão eficiente em desenvolver seu universo que </a:t>
            </a:r>
            <a:r>
              <a:rPr lang="pt-BR" sz="6000">
                <a:solidFill>
                  <a:srgbClr val="000000"/>
                </a:solidFill>
                <a:highlight>
                  <a:schemeClr val="accent6"/>
                </a:highlight>
                <a:latin typeface="Bookman Old Style"/>
                <a:ea typeface="Bookman Old Style"/>
                <a:cs typeface="Bookman Old Style"/>
                <a:sym typeface="Bookman Old Style"/>
              </a:rPr>
              <a:t>1h48min parecem insuficientes para tudo o que a narrativa propõe. </a:t>
            </a:r>
            <a:r>
              <a:rPr lang="pt-BR" sz="6000" u="sng">
                <a:solidFill>
                  <a:srgbClr val="000000"/>
                </a:solidFill>
                <a:latin typeface="Bookman Old Style"/>
                <a:ea typeface="Bookman Old Style"/>
                <a:cs typeface="Bookman Old Style"/>
                <a:sym typeface="Bookman Old Style"/>
              </a:rPr>
              <a:t>Não é que falte algo; é que há tanto material interessante que o público termina a sessão com a sensação clara de que a história poderia continuar por mais meia hora sem perder qualidade.</a:t>
            </a:r>
            <a:endParaRPr sz="6000" u="sng">
              <a:solidFill>
                <a:srgbClr val="000000"/>
              </a:solidFill>
              <a:latin typeface="Bookman Old Style"/>
              <a:ea typeface="Bookman Old Style"/>
              <a:cs typeface="Bookman Old Style"/>
              <a:sym typeface="Bookman Old Style"/>
            </a:endParaRPr>
          </a:p>
          <a:p>
            <a:pPr marL="0" lvl="0" indent="457200" algn="l" rtl="0">
              <a:spcBef>
                <a:spcPts val="0"/>
              </a:spcBef>
              <a:spcAft>
                <a:spcPts val="0"/>
              </a:spcAft>
              <a:buNone/>
            </a:pPr>
            <a:endParaRPr sz="5200">
              <a:solidFill>
                <a:srgbClr val="333333"/>
              </a:solidFill>
              <a:latin typeface="Bookman Old Style"/>
              <a:ea typeface="Bookman Old Style"/>
              <a:cs typeface="Bookman Old Style"/>
              <a:sym typeface="Bookman Old Style"/>
            </a:endParaRPr>
          </a:p>
          <a:p>
            <a:pPr marL="0" lvl="0" indent="457200" algn="l" rtl="0">
              <a:spcBef>
                <a:spcPts val="0"/>
              </a:spcBef>
              <a:spcAft>
                <a:spcPts val="0"/>
              </a:spcAft>
              <a:buNone/>
            </a:pPr>
            <a:endParaRPr sz="1600">
              <a:solidFill>
                <a:srgbClr val="333333"/>
              </a:solidFill>
              <a:highlight>
                <a:srgbClr val="FFFFFF"/>
              </a:highlight>
              <a:latin typeface="Bookman Old Style"/>
              <a:ea typeface="Bookman Old Style"/>
              <a:cs typeface="Bookman Old Style"/>
              <a:sym typeface="Bookman Old Style"/>
            </a:endParaRPr>
          </a:p>
          <a:p>
            <a:pPr marL="0" lvl="0" indent="0" algn="l" rtl="0">
              <a:spcBef>
                <a:spcPts val="1400"/>
              </a:spcBef>
              <a:spcAft>
                <a:spcPts val="0"/>
              </a:spcAft>
              <a:buNone/>
            </a:pPr>
            <a:endParaRPr sz="1500">
              <a:solidFill>
                <a:srgbClr val="333333"/>
              </a:solidFill>
              <a:highlight>
                <a:srgbClr val="FFFFFF"/>
              </a:highlight>
              <a:latin typeface="Georgia"/>
              <a:ea typeface="Georgia"/>
              <a:cs typeface="Georgia"/>
              <a:sym typeface="Georgia"/>
            </a:endParaRPr>
          </a:p>
          <a:p>
            <a:pPr marL="0" lvl="0" indent="457200" algn="l" rtl="0">
              <a:spcBef>
                <a:spcPts val="0"/>
              </a:spcBef>
              <a:spcAft>
                <a:spcPts val="0"/>
              </a:spcAft>
              <a:buNone/>
            </a:pPr>
            <a:endParaRPr sz="1500">
              <a:solidFill>
                <a:srgbClr val="333333"/>
              </a:solidFill>
              <a:highlight>
                <a:schemeClr val="accent6"/>
              </a:highlight>
              <a:latin typeface="Georgia"/>
              <a:ea typeface="Georgia"/>
              <a:cs typeface="Georgia"/>
              <a:sym typeface="Georgia"/>
            </a:endParaRPr>
          </a:p>
          <a:p>
            <a:pPr marL="0" lvl="0" indent="457200" algn="l" rtl="0">
              <a:spcBef>
                <a:spcPts val="0"/>
              </a:spcBef>
              <a:spcAft>
                <a:spcPts val="0"/>
              </a:spcAft>
              <a:buNone/>
            </a:pPr>
            <a:endParaRPr sz="1500">
              <a:solidFill>
                <a:srgbClr val="333333"/>
              </a:solidFill>
              <a:highlight>
                <a:srgbClr val="FFFFFF"/>
              </a:highlight>
              <a:latin typeface="Bookman Old Style"/>
              <a:ea typeface="Bookman Old Style"/>
              <a:cs typeface="Bookman Old Style"/>
              <a:sym typeface="Bookman Old Style"/>
            </a:endParaRPr>
          </a:p>
          <a:p>
            <a:pPr marL="0" lvl="0" indent="0" algn="l" rtl="0">
              <a:spcBef>
                <a:spcPts val="0"/>
              </a:spcBef>
              <a:spcAft>
                <a:spcPts val="0"/>
              </a:spcAft>
              <a:buNone/>
            </a:pPr>
            <a:endParaRPr sz="1100">
              <a:solidFill>
                <a:srgbClr val="000000"/>
              </a:solidFill>
              <a:latin typeface="Arial"/>
              <a:ea typeface="Arial"/>
              <a:cs typeface="Arial"/>
              <a:sym typeface="Arial"/>
            </a:endParaRPr>
          </a:p>
          <a:p>
            <a:pPr marL="0" lvl="0" indent="457200" algn="l" rtl="0">
              <a:spcBef>
                <a:spcPts val="0"/>
              </a:spcBef>
              <a:spcAft>
                <a:spcPts val="0"/>
              </a:spcAft>
              <a:buNone/>
            </a:pPr>
            <a:endParaRPr sz="1500">
              <a:solidFill>
                <a:srgbClr val="333333"/>
              </a:solidFill>
              <a:highlight>
                <a:srgbClr val="FFFFFF"/>
              </a:highlight>
              <a:latin typeface="Georgia"/>
              <a:ea typeface="Georgia"/>
              <a:cs typeface="Georgia"/>
              <a:sym typeface="Georgia"/>
            </a:endParaRPr>
          </a:p>
          <a:p>
            <a:pPr marL="0" lvl="0" indent="0" algn="l" rtl="0">
              <a:spcBef>
                <a:spcPts val="0"/>
              </a:spcBef>
              <a:spcAft>
                <a:spcPts val="0"/>
              </a:spcAft>
              <a:buNone/>
            </a:pPr>
            <a:endParaRPr sz="1300" u="sng">
              <a:solidFill>
                <a:srgbClr val="000000"/>
              </a:solidFill>
              <a:latin typeface="Bookman Old Style"/>
              <a:ea typeface="Bookman Old Style"/>
              <a:cs typeface="Bookman Old Style"/>
              <a:sym typeface="Bookman Old Style"/>
            </a:endParaRPr>
          </a:p>
          <a:p>
            <a:pPr marL="0" lvl="0" indent="0" algn="l" rtl="0">
              <a:spcBef>
                <a:spcPts val="0"/>
              </a:spcBef>
              <a:spcAft>
                <a:spcPts val="1200"/>
              </a:spcAft>
              <a:buNone/>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5"/>
          <p:cNvSpPr txBox="1">
            <a:spLocks noGrp="1"/>
          </p:cNvSpPr>
          <p:nvPr>
            <p:ph type="title"/>
          </p:nvPr>
        </p:nvSpPr>
        <p:spPr>
          <a:xfrm>
            <a:off x="311700" y="880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t-BR">
                <a:solidFill>
                  <a:srgbClr val="FF00FF"/>
                </a:solidFill>
              </a:rPr>
              <a:t>Resenha crítica:</a:t>
            </a:r>
            <a:r>
              <a:rPr lang="pt-BR"/>
              <a:t> exemplo 2</a:t>
            </a:r>
            <a:endParaRPr/>
          </a:p>
        </p:txBody>
      </p:sp>
      <p:sp>
        <p:nvSpPr>
          <p:cNvPr id="130" name="Google Shape;130;p25"/>
          <p:cNvSpPr txBox="1">
            <a:spLocks noGrp="1"/>
          </p:cNvSpPr>
          <p:nvPr>
            <p:ph type="body" idx="1"/>
          </p:nvPr>
        </p:nvSpPr>
        <p:spPr>
          <a:xfrm>
            <a:off x="311700" y="660700"/>
            <a:ext cx="8520600" cy="4394100"/>
          </a:xfrm>
          <a:prstGeom prst="rect">
            <a:avLst/>
          </a:prstGeom>
        </p:spPr>
        <p:txBody>
          <a:bodyPr spcFirstLastPara="1" wrap="square" lIns="91425" tIns="91425" rIns="91425" bIns="91425" anchor="t" anchorCtr="0">
            <a:normAutofit fontScale="25000" lnSpcReduction="10000"/>
          </a:bodyPr>
          <a:lstStyle/>
          <a:p>
            <a:pPr marL="0" lvl="0" indent="457200" algn="l" rtl="0">
              <a:spcBef>
                <a:spcPts val="0"/>
              </a:spcBef>
              <a:spcAft>
                <a:spcPts val="0"/>
              </a:spcAft>
              <a:buNone/>
            </a:pPr>
            <a:r>
              <a:rPr lang="pt-BR" sz="6400" u="sng">
                <a:solidFill>
                  <a:srgbClr val="000000"/>
                </a:solidFill>
                <a:latin typeface="Bookman Old Style"/>
                <a:ea typeface="Bookman Old Style"/>
                <a:cs typeface="Bookman Old Style"/>
                <a:sym typeface="Bookman Old Style"/>
              </a:rPr>
              <a:t>Essa sensação não surge por falhas, mas pelo acerto absoluto do filme em criar personagens carismáticos, ambientações inéditas e conflitos que mereciam mais tempo de tela. A cidade continua sendo um dos cenários mais criativos da Disney, e cada novo distrito apresentado parece convidar o público a explorar ainda mais aquele mundo.</a:t>
            </a:r>
            <a:endParaRPr sz="6400" u="sng">
              <a:solidFill>
                <a:srgbClr val="000000"/>
              </a:solidFill>
              <a:latin typeface="Bookman Old Style"/>
              <a:ea typeface="Bookman Old Style"/>
              <a:cs typeface="Bookman Old Style"/>
              <a:sym typeface="Bookman Old Style"/>
            </a:endParaRPr>
          </a:p>
          <a:p>
            <a:pPr marL="0" lvl="0" indent="457200" algn="l" rtl="0">
              <a:spcBef>
                <a:spcPts val="0"/>
              </a:spcBef>
              <a:spcAft>
                <a:spcPts val="0"/>
              </a:spcAft>
              <a:buNone/>
            </a:pPr>
            <a:endParaRPr sz="6400">
              <a:solidFill>
                <a:srgbClr val="000000"/>
              </a:solidFill>
              <a:latin typeface="Bookman Old Style"/>
              <a:ea typeface="Bookman Old Style"/>
              <a:cs typeface="Bookman Old Style"/>
              <a:sym typeface="Bookman Old Style"/>
            </a:endParaRPr>
          </a:p>
          <a:p>
            <a:pPr marL="0" lvl="0" indent="457200" algn="l" rtl="0">
              <a:spcBef>
                <a:spcPts val="0"/>
              </a:spcBef>
              <a:spcAft>
                <a:spcPts val="0"/>
              </a:spcAft>
              <a:buNone/>
            </a:pPr>
            <a:r>
              <a:rPr lang="pt-BR" sz="6400" i="1">
                <a:solidFill>
                  <a:srgbClr val="000000"/>
                </a:solidFill>
                <a:latin typeface="Bookman Old Style"/>
                <a:ea typeface="Bookman Old Style"/>
                <a:cs typeface="Bookman Old Style"/>
                <a:sym typeface="Bookman Old Style"/>
              </a:rPr>
              <a:t>Zootopia 2</a:t>
            </a:r>
            <a:r>
              <a:rPr lang="pt-BR" sz="6400">
                <a:solidFill>
                  <a:srgbClr val="000000"/>
                </a:solidFill>
                <a:latin typeface="Bookman Old Style"/>
                <a:ea typeface="Bookman Old Style"/>
                <a:cs typeface="Bookman Old Style"/>
                <a:sym typeface="Bookman Old Style"/>
              </a:rPr>
              <a:t>, portanto, </a:t>
            </a:r>
            <a:r>
              <a:rPr lang="pt-BR" sz="6400">
                <a:solidFill>
                  <a:srgbClr val="000000"/>
                </a:solidFill>
                <a:highlight>
                  <a:schemeClr val="accent6"/>
                </a:highlight>
                <a:latin typeface="Bookman Old Style"/>
                <a:ea typeface="Bookman Old Style"/>
                <a:cs typeface="Bookman Old Style"/>
                <a:sym typeface="Bookman Old Style"/>
              </a:rPr>
              <a:t>é tão bom, tão seguro de sua própria identidade e tão bem-sucedido no que se propõe que abre espaço para uma expectativa inevitável: a Disney tem material de sobra para transformar esse universo em trilogia. Se o objetivo era provar que a franquia ainda tem fôlego, a missão foi cumprida com tanta força que o único defeito da animação é acabar cedo demais.</a:t>
            </a:r>
            <a:endParaRPr sz="6400">
              <a:solidFill>
                <a:srgbClr val="000000"/>
              </a:solidFill>
              <a:highlight>
                <a:schemeClr val="accent6"/>
              </a:highlight>
              <a:latin typeface="Bookman Old Style"/>
              <a:ea typeface="Bookman Old Style"/>
              <a:cs typeface="Bookman Old Style"/>
              <a:sym typeface="Bookman Old Style"/>
            </a:endParaRPr>
          </a:p>
          <a:p>
            <a:pPr marL="0" lvl="0" indent="457200" algn="l" rtl="0">
              <a:spcBef>
                <a:spcPts val="0"/>
              </a:spcBef>
              <a:spcAft>
                <a:spcPts val="0"/>
              </a:spcAft>
              <a:buNone/>
            </a:pPr>
            <a:endParaRPr sz="6400">
              <a:solidFill>
                <a:srgbClr val="000000"/>
              </a:solidFill>
              <a:latin typeface="Bookman Old Style"/>
              <a:ea typeface="Bookman Old Style"/>
              <a:cs typeface="Bookman Old Style"/>
              <a:sym typeface="Bookman Old Style"/>
            </a:endParaRPr>
          </a:p>
          <a:p>
            <a:pPr marL="0" lvl="0" indent="0" algn="l" rtl="0">
              <a:spcBef>
                <a:spcPts val="0"/>
              </a:spcBef>
              <a:spcAft>
                <a:spcPts val="0"/>
              </a:spcAft>
              <a:buNone/>
            </a:pPr>
            <a:r>
              <a:rPr lang="pt-BR" sz="4800">
                <a:solidFill>
                  <a:srgbClr val="000000"/>
                </a:solidFill>
                <a:latin typeface="Bookman Old Style"/>
                <a:ea typeface="Bookman Old Style"/>
                <a:cs typeface="Bookman Old Style"/>
                <a:sym typeface="Bookman Old Style"/>
              </a:rPr>
              <a:t>https://tangerina.uol.com.br/filmes-series/zootopia-2-expoe-um-defeito-raro-disney-analise/</a:t>
            </a:r>
            <a:endParaRPr sz="4800">
              <a:solidFill>
                <a:srgbClr val="000000"/>
              </a:solidFill>
              <a:latin typeface="Bookman Old Style"/>
              <a:ea typeface="Bookman Old Style"/>
              <a:cs typeface="Bookman Old Style"/>
              <a:sym typeface="Bookman Old Style"/>
            </a:endParaRPr>
          </a:p>
          <a:p>
            <a:pPr marL="0" lvl="0" indent="457200" algn="l" rtl="0">
              <a:spcBef>
                <a:spcPts val="0"/>
              </a:spcBef>
              <a:spcAft>
                <a:spcPts val="0"/>
              </a:spcAft>
              <a:buNone/>
            </a:pPr>
            <a:endParaRPr sz="5200">
              <a:solidFill>
                <a:srgbClr val="333333"/>
              </a:solidFill>
              <a:latin typeface="Bookman Old Style"/>
              <a:ea typeface="Bookman Old Style"/>
              <a:cs typeface="Bookman Old Style"/>
              <a:sym typeface="Bookman Old Style"/>
            </a:endParaRPr>
          </a:p>
          <a:p>
            <a:pPr marL="0" lvl="0" indent="457200" algn="l" rtl="0">
              <a:spcBef>
                <a:spcPts val="0"/>
              </a:spcBef>
              <a:spcAft>
                <a:spcPts val="0"/>
              </a:spcAft>
              <a:buNone/>
            </a:pPr>
            <a:endParaRPr sz="1600">
              <a:solidFill>
                <a:srgbClr val="333333"/>
              </a:solidFill>
              <a:highlight>
                <a:srgbClr val="FFFFFF"/>
              </a:highlight>
              <a:latin typeface="Bookman Old Style"/>
              <a:ea typeface="Bookman Old Style"/>
              <a:cs typeface="Bookman Old Style"/>
              <a:sym typeface="Bookman Old Style"/>
            </a:endParaRPr>
          </a:p>
          <a:p>
            <a:pPr marL="0" lvl="0" indent="0" algn="l" rtl="0">
              <a:spcBef>
                <a:spcPts val="1400"/>
              </a:spcBef>
              <a:spcAft>
                <a:spcPts val="0"/>
              </a:spcAft>
              <a:buNone/>
            </a:pPr>
            <a:endParaRPr sz="1500">
              <a:solidFill>
                <a:srgbClr val="333333"/>
              </a:solidFill>
              <a:highlight>
                <a:srgbClr val="FFFFFF"/>
              </a:highlight>
              <a:latin typeface="Georgia"/>
              <a:ea typeface="Georgia"/>
              <a:cs typeface="Georgia"/>
              <a:sym typeface="Georgia"/>
            </a:endParaRPr>
          </a:p>
          <a:p>
            <a:pPr marL="0" lvl="0" indent="457200" algn="l" rtl="0">
              <a:spcBef>
                <a:spcPts val="0"/>
              </a:spcBef>
              <a:spcAft>
                <a:spcPts val="0"/>
              </a:spcAft>
              <a:buNone/>
            </a:pPr>
            <a:endParaRPr sz="1500">
              <a:solidFill>
                <a:srgbClr val="333333"/>
              </a:solidFill>
              <a:highlight>
                <a:schemeClr val="accent6"/>
              </a:highlight>
              <a:latin typeface="Georgia"/>
              <a:ea typeface="Georgia"/>
              <a:cs typeface="Georgia"/>
              <a:sym typeface="Georgia"/>
            </a:endParaRPr>
          </a:p>
          <a:p>
            <a:pPr marL="0" lvl="0" indent="457200" algn="l" rtl="0">
              <a:spcBef>
                <a:spcPts val="0"/>
              </a:spcBef>
              <a:spcAft>
                <a:spcPts val="0"/>
              </a:spcAft>
              <a:buNone/>
            </a:pPr>
            <a:endParaRPr sz="1500">
              <a:solidFill>
                <a:srgbClr val="333333"/>
              </a:solidFill>
              <a:highlight>
                <a:srgbClr val="FFFFFF"/>
              </a:highlight>
              <a:latin typeface="Bookman Old Style"/>
              <a:ea typeface="Bookman Old Style"/>
              <a:cs typeface="Bookman Old Style"/>
              <a:sym typeface="Bookman Old Style"/>
            </a:endParaRPr>
          </a:p>
          <a:p>
            <a:pPr marL="0" lvl="0" indent="0" algn="l" rtl="0">
              <a:spcBef>
                <a:spcPts val="0"/>
              </a:spcBef>
              <a:spcAft>
                <a:spcPts val="0"/>
              </a:spcAft>
              <a:buNone/>
            </a:pPr>
            <a:endParaRPr sz="1100">
              <a:solidFill>
                <a:srgbClr val="000000"/>
              </a:solidFill>
              <a:latin typeface="Arial"/>
              <a:ea typeface="Arial"/>
              <a:cs typeface="Arial"/>
              <a:sym typeface="Arial"/>
            </a:endParaRPr>
          </a:p>
          <a:p>
            <a:pPr marL="0" lvl="0" indent="457200" algn="l" rtl="0">
              <a:spcBef>
                <a:spcPts val="0"/>
              </a:spcBef>
              <a:spcAft>
                <a:spcPts val="0"/>
              </a:spcAft>
              <a:buNone/>
            </a:pPr>
            <a:endParaRPr sz="1500">
              <a:solidFill>
                <a:srgbClr val="333333"/>
              </a:solidFill>
              <a:highlight>
                <a:srgbClr val="FFFFFF"/>
              </a:highlight>
              <a:latin typeface="Georgia"/>
              <a:ea typeface="Georgia"/>
              <a:cs typeface="Georgia"/>
              <a:sym typeface="Georgia"/>
            </a:endParaRPr>
          </a:p>
          <a:p>
            <a:pPr marL="0" lvl="0" indent="0" algn="l" rtl="0">
              <a:spcBef>
                <a:spcPts val="0"/>
              </a:spcBef>
              <a:spcAft>
                <a:spcPts val="0"/>
              </a:spcAft>
              <a:buNone/>
            </a:pPr>
            <a:endParaRPr sz="1300" u="sng">
              <a:solidFill>
                <a:srgbClr val="000000"/>
              </a:solidFill>
              <a:latin typeface="Bookman Old Style"/>
              <a:ea typeface="Bookman Old Style"/>
              <a:cs typeface="Bookman Old Style"/>
              <a:sym typeface="Bookman Old Style"/>
            </a:endParaRPr>
          </a:p>
          <a:p>
            <a:pPr marL="0" lvl="0" indent="0" algn="l" rtl="0">
              <a:spcBef>
                <a:spcPts val="0"/>
              </a:spcBef>
              <a:spcAft>
                <a:spcPts val="1200"/>
              </a:spcAft>
              <a:buNone/>
            </a:pP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t-BR">
                <a:solidFill>
                  <a:srgbClr val="FF00FF"/>
                </a:solidFill>
              </a:rPr>
              <a:t>Resenha crítica:</a:t>
            </a:r>
            <a:r>
              <a:rPr lang="pt-BR"/>
              <a:t> exemplo 3</a:t>
            </a:r>
            <a:endParaRPr/>
          </a:p>
        </p:txBody>
      </p:sp>
      <p:sp>
        <p:nvSpPr>
          <p:cNvPr id="136" name="Google Shape;136;p2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pt-BR"/>
              <a:t>https://vimeo.com/144525535</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t-BR">
                <a:solidFill>
                  <a:srgbClr val="FF00FF"/>
                </a:solidFill>
              </a:rPr>
              <a:t>Resenha crítica:</a:t>
            </a:r>
            <a:r>
              <a:rPr lang="pt-BR"/>
              <a:t> exemplo 3</a:t>
            </a:r>
            <a:endParaRPr/>
          </a:p>
        </p:txBody>
      </p:sp>
      <p:sp>
        <p:nvSpPr>
          <p:cNvPr id="142" name="Google Shape;142;p27"/>
          <p:cNvSpPr txBox="1">
            <a:spLocks noGrp="1"/>
          </p:cNvSpPr>
          <p:nvPr>
            <p:ph type="body" idx="1"/>
          </p:nvPr>
        </p:nvSpPr>
        <p:spPr>
          <a:xfrm>
            <a:off x="311700" y="1017725"/>
            <a:ext cx="8520600" cy="4071000"/>
          </a:xfrm>
          <a:prstGeom prst="rect">
            <a:avLst/>
          </a:prstGeom>
        </p:spPr>
        <p:txBody>
          <a:bodyPr spcFirstLastPara="1" wrap="square" lIns="91425" tIns="91425" rIns="91425" bIns="91425" anchor="t" anchorCtr="0">
            <a:normAutofit fontScale="77500" lnSpcReduction="10000"/>
          </a:bodyPr>
          <a:lstStyle/>
          <a:p>
            <a:pPr marL="0" lvl="0" indent="0" algn="l" rtl="0">
              <a:lnSpc>
                <a:spcPct val="150000"/>
              </a:lnSpc>
              <a:spcBef>
                <a:spcPts val="0"/>
              </a:spcBef>
              <a:spcAft>
                <a:spcPts val="0"/>
              </a:spcAft>
              <a:buNone/>
            </a:pPr>
            <a:r>
              <a:rPr lang="pt-BR" sz="1600" b="1" i="1">
                <a:solidFill>
                  <a:srgbClr val="000000"/>
                </a:solidFill>
                <a:latin typeface="Bookman Old Style"/>
                <a:ea typeface="Bookman Old Style"/>
                <a:cs typeface="Bookman Old Style"/>
                <a:sym typeface="Bookman Old Style"/>
              </a:rPr>
              <a:t>Cidade de Deus</a:t>
            </a:r>
            <a:r>
              <a:rPr lang="pt-BR" sz="1600" b="1">
                <a:solidFill>
                  <a:srgbClr val="000000"/>
                </a:solidFill>
                <a:latin typeface="Bookman Old Style"/>
                <a:ea typeface="Bookman Old Style"/>
                <a:cs typeface="Bookman Old Style"/>
                <a:sym typeface="Bookman Old Style"/>
              </a:rPr>
              <a:t>: modelo para as produções futuras</a:t>
            </a:r>
            <a:endParaRPr sz="1600">
              <a:solidFill>
                <a:srgbClr val="000000"/>
              </a:solidFill>
              <a:latin typeface="Bookman Old Style"/>
              <a:ea typeface="Bookman Old Style"/>
              <a:cs typeface="Bookman Old Style"/>
              <a:sym typeface="Bookman Old Style"/>
            </a:endParaRPr>
          </a:p>
          <a:p>
            <a:pPr marL="0" lvl="0" indent="0" algn="l" rtl="0">
              <a:lnSpc>
                <a:spcPct val="150000"/>
              </a:lnSpc>
              <a:spcBef>
                <a:spcPts val="0"/>
              </a:spcBef>
              <a:spcAft>
                <a:spcPts val="0"/>
              </a:spcAft>
              <a:buNone/>
            </a:pPr>
            <a:r>
              <a:rPr lang="pt-BR" sz="1600">
                <a:solidFill>
                  <a:srgbClr val="000000"/>
                </a:solidFill>
                <a:latin typeface="Bookman Old Style"/>
                <a:ea typeface="Bookman Old Style"/>
                <a:cs typeface="Bookman Old Style"/>
                <a:sym typeface="Bookman Old Style"/>
              </a:rPr>
              <a:t>Pedro Hunter (29/08/2002)</a:t>
            </a:r>
            <a:endParaRPr sz="1600">
              <a:solidFill>
                <a:srgbClr val="000000"/>
              </a:solidFill>
              <a:latin typeface="Bookman Old Style"/>
              <a:ea typeface="Bookman Old Style"/>
              <a:cs typeface="Bookman Old Style"/>
              <a:sym typeface="Bookman Old Style"/>
            </a:endParaRPr>
          </a:p>
          <a:p>
            <a:pPr marL="0" lvl="0" indent="0" algn="l" rtl="0">
              <a:lnSpc>
                <a:spcPct val="150000"/>
              </a:lnSpc>
              <a:spcBef>
                <a:spcPts val="0"/>
              </a:spcBef>
              <a:spcAft>
                <a:spcPts val="0"/>
              </a:spcAft>
              <a:buNone/>
            </a:pPr>
            <a:r>
              <a:rPr lang="pt-BR" sz="1600">
                <a:solidFill>
                  <a:srgbClr val="000000"/>
                </a:solidFill>
                <a:latin typeface="Bookman Old Style"/>
                <a:ea typeface="Bookman Old Style"/>
                <a:cs typeface="Bookman Old Style"/>
                <a:sym typeface="Bookman Old Style"/>
              </a:rPr>
              <a:t>Disponível em: </a:t>
            </a:r>
            <a:r>
              <a:rPr lang="pt-BR" sz="1600" u="sng">
                <a:solidFill>
                  <a:schemeClr val="hlink"/>
                </a:solidFill>
                <a:latin typeface="Bookman Old Style"/>
                <a:ea typeface="Bookman Old Style"/>
                <a:cs typeface="Bookman Old Style"/>
                <a:sym typeface="Bookman Old Style"/>
                <a:hlinkClick r:id="rId3"/>
              </a:rPr>
              <a:t>https://omelete.uol.com.br/filmes/criticas/cidade-de-deus/?key=21973</a:t>
            </a:r>
            <a:endParaRPr sz="1600">
              <a:solidFill>
                <a:srgbClr val="000000"/>
              </a:solidFill>
              <a:latin typeface="Bookman Old Style"/>
              <a:ea typeface="Bookman Old Style"/>
              <a:cs typeface="Bookman Old Style"/>
              <a:sym typeface="Bookman Old Style"/>
            </a:endParaRPr>
          </a:p>
          <a:p>
            <a:pPr marL="0" lvl="0" indent="0" algn="l" rtl="0">
              <a:lnSpc>
                <a:spcPct val="150000"/>
              </a:lnSpc>
              <a:spcBef>
                <a:spcPts val="0"/>
              </a:spcBef>
              <a:spcAft>
                <a:spcPts val="0"/>
              </a:spcAft>
              <a:buNone/>
            </a:pPr>
            <a:endParaRPr sz="1600">
              <a:solidFill>
                <a:srgbClr val="000000"/>
              </a:solidFill>
              <a:latin typeface="Bookman Old Style"/>
              <a:ea typeface="Bookman Old Style"/>
              <a:cs typeface="Bookman Old Style"/>
              <a:sym typeface="Bookman Old Style"/>
            </a:endParaRPr>
          </a:p>
          <a:p>
            <a:pPr marL="0" lvl="0" indent="457200" algn="l" rtl="0">
              <a:lnSpc>
                <a:spcPct val="115000"/>
              </a:lnSpc>
              <a:spcBef>
                <a:spcPts val="0"/>
              </a:spcBef>
              <a:spcAft>
                <a:spcPts val="0"/>
              </a:spcAft>
              <a:buNone/>
            </a:pPr>
            <a:r>
              <a:rPr lang="pt-BR" sz="1600">
                <a:solidFill>
                  <a:srgbClr val="000000"/>
                </a:solidFill>
                <a:latin typeface="Bookman Old Style"/>
                <a:ea typeface="Bookman Old Style"/>
                <a:cs typeface="Bookman Old Style"/>
                <a:sym typeface="Bookman Old Style"/>
              </a:rPr>
              <a:t>Bem recebido em sua recente exibição no Festival de Cinema de Cannes, o filme </a:t>
            </a:r>
            <a:r>
              <a:rPr lang="pt-BR" sz="1600" i="1">
                <a:solidFill>
                  <a:srgbClr val="000000"/>
                </a:solidFill>
                <a:latin typeface="Bookman Old Style"/>
                <a:ea typeface="Bookman Old Style"/>
                <a:cs typeface="Bookman Old Style"/>
                <a:sym typeface="Bookman Old Style"/>
              </a:rPr>
              <a:t>Cidade de Deus</a:t>
            </a:r>
            <a:r>
              <a:rPr lang="pt-BR" sz="1600">
                <a:solidFill>
                  <a:srgbClr val="000000"/>
                </a:solidFill>
                <a:latin typeface="Bookman Old Style"/>
                <a:ea typeface="Bookman Old Style"/>
                <a:cs typeface="Bookman Old Style"/>
                <a:sym typeface="Bookman Old Style"/>
              </a:rPr>
              <a:t>, de Fernando Meirelles</a:t>
            </a:r>
            <a:r>
              <a:rPr lang="pt-BR" sz="1600" b="1">
                <a:solidFill>
                  <a:srgbClr val="000000"/>
                </a:solidFill>
                <a:latin typeface="Bookman Old Style"/>
                <a:ea typeface="Bookman Old Style"/>
                <a:cs typeface="Bookman Old Style"/>
                <a:sym typeface="Bookman Old Style"/>
              </a:rPr>
              <a:t> </a:t>
            </a:r>
            <a:r>
              <a:rPr lang="pt-BR" sz="1600">
                <a:solidFill>
                  <a:srgbClr val="000000"/>
                </a:solidFill>
                <a:latin typeface="Bookman Old Style"/>
                <a:ea typeface="Bookman Old Style"/>
                <a:cs typeface="Bookman Old Style"/>
                <a:sym typeface="Bookman Old Style"/>
              </a:rPr>
              <a:t>e Kátia Lund, chega agora a seu país de origem. </a:t>
            </a:r>
            <a:r>
              <a:rPr lang="pt-BR" sz="1600">
                <a:solidFill>
                  <a:srgbClr val="000000"/>
                </a:solidFill>
                <a:highlight>
                  <a:srgbClr val="FFFF00"/>
                </a:highlight>
                <a:latin typeface="Bookman Old Style"/>
                <a:ea typeface="Bookman Old Style"/>
                <a:cs typeface="Bookman Old Style"/>
                <a:sym typeface="Bookman Old Style"/>
              </a:rPr>
              <a:t>No entanto, ao contrário de muitos nacionais, este não é um filme de arte feito para agradar plateias de festivais de cinema estrangeiros, ser indicado para Oscar e testar a paciência do público brasileiro. Não, trata-se de um genuíno exemplar de bom cinema!</a:t>
            </a:r>
            <a:endParaRPr sz="1600">
              <a:solidFill>
                <a:srgbClr val="000000"/>
              </a:solidFill>
              <a:highlight>
                <a:srgbClr val="FFFF00"/>
              </a:highlight>
              <a:latin typeface="Bookman Old Style"/>
              <a:ea typeface="Bookman Old Style"/>
              <a:cs typeface="Bookman Old Style"/>
              <a:sym typeface="Bookman Old Style"/>
            </a:endParaRPr>
          </a:p>
          <a:p>
            <a:pPr marL="0" lvl="0" indent="0" algn="l" rtl="0">
              <a:lnSpc>
                <a:spcPct val="115000"/>
              </a:lnSpc>
              <a:spcBef>
                <a:spcPts val="0"/>
              </a:spcBef>
              <a:spcAft>
                <a:spcPts val="0"/>
              </a:spcAft>
              <a:buNone/>
            </a:pPr>
            <a:r>
              <a:rPr lang="pt-BR" sz="1600">
                <a:solidFill>
                  <a:srgbClr val="000000"/>
                </a:solidFill>
                <a:latin typeface="Bookman Old Style"/>
                <a:ea typeface="Bookman Old Style"/>
                <a:cs typeface="Bookman Old Style"/>
                <a:sym typeface="Bookman Old Style"/>
              </a:rPr>
              <a:t>	Adaptação do livro homônimo de Paulo Lins</a:t>
            </a:r>
            <a:r>
              <a:rPr lang="pt-BR" sz="1600" b="1">
                <a:solidFill>
                  <a:srgbClr val="000000"/>
                </a:solidFill>
                <a:latin typeface="Bookman Old Style"/>
                <a:ea typeface="Bookman Old Style"/>
                <a:cs typeface="Bookman Old Style"/>
                <a:sym typeface="Bookman Old Style"/>
              </a:rPr>
              <a:t> </a:t>
            </a:r>
            <a:r>
              <a:rPr lang="pt-BR" sz="1600">
                <a:solidFill>
                  <a:srgbClr val="000000"/>
                </a:solidFill>
                <a:latin typeface="Bookman Old Style"/>
                <a:ea typeface="Bookman Old Style"/>
                <a:cs typeface="Bookman Old Style"/>
                <a:sym typeface="Bookman Old Style"/>
              </a:rPr>
              <a:t>(este, por sua vez, baseado em fatos reais), </a:t>
            </a:r>
            <a:r>
              <a:rPr lang="pt-BR" sz="1600" i="1">
                <a:solidFill>
                  <a:srgbClr val="000000"/>
                </a:solidFill>
                <a:latin typeface="Bookman Old Style"/>
                <a:ea typeface="Bookman Old Style"/>
                <a:cs typeface="Bookman Old Style"/>
                <a:sym typeface="Bookman Old Style"/>
              </a:rPr>
              <a:t>Cidade de Deus </a:t>
            </a:r>
            <a:r>
              <a:rPr lang="pt-BR" sz="1600">
                <a:solidFill>
                  <a:srgbClr val="000000"/>
                </a:solidFill>
                <a:latin typeface="Bookman Old Style"/>
                <a:ea typeface="Bookman Old Style"/>
                <a:cs typeface="Bookman Old Style"/>
                <a:sym typeface="Bookman Old Style"/>
              </a:rPr>
              <a:t>mostra o surgimento e evolução do crime organizado na comunidade homônima (que fica na Zona Oeste da cidade do Rio de Janeiro) entre a segunda metade dos anos 60 e o final da década de 70 pela ótica do protagonista/narrador Buscapé, um jovem da Cidade de Deus apaixonado por fotografia e que deseja levar uma vida honesta, apesar de toda a brutalidade em seu redor.</a:t>
            </a:r>
            <a:endParaRPr sz="1600">
              <a:solidFill>
                <a:srgbClr val="000000"/>
              </a:solidFill>
              <a:latin typeface="Bookman Old Style"/>
              <a:ea typeface="Bookman Old Style"/>
              <a:cs typeface="Bookman Old Style"/>
              <a:sym typeface="Bookman Old Style"/>
            </a:endParaRPr>
          </a:p>
          <a:p>
            <a:pPr marL="457200" lvl="0" indent="0" algn="l" rtl="0">
              <a:spcBef>
                <a:spcPts val="0"/>
              </a:spcBef>
              <a:spcAft>
                <a:spcPts val="0"/>
              </a:spcAft>
              <a:buNone/>
            </a:pPr>
            <a:endParaRPr sz="1300" b="1">
              <a:solidFill>
                <a:srgbClr val="000000"/>
              </a:solidFill>
              <a:latin typeface="Bookman Old Style"/>
              <a:ea typeface="Bookman Old Style"/>
              <a:cs typeface="Bookman Old Style"/>
              <a:sym typeface="Bookman Old Style"/>
            </a:endParaRPr>
          </a:p>
          <a:p>
            <a:pPr marL="0" lvl="0" indent="0" algn="l" rtl="0">
              <a:spcBef>
                <a:spcPts val="0"/>
              </a:spcBef>
              <a:spcAft>
                <a:spcPts val="0"/>
              </a:spcAft>
              <a:buNone/>
            </a:pPr>
            <a:endParaRPr sz="1300">
              <a:solidFill>
                <a:srgbClr val="000000"/>
              </a:solidFill>
              <a:latin typeface="Bookman Old Style"/>
              <a:ea typeface="Bookman Old Style"/>
              <a:cs typeface="Bookman Old Style"/>
              <a:sym typeface="Bookman Old Style"/>
            </a:endParaRPr>
          </a:p>
          <a:p>
            <a:pPr marL="0" lvl="0" indent="0" algn="l" rtl="0">
              <a:spcBef>
                <a:spcPts val="0"/>
              </a:spcBef>
              <a:spcAft>
                <a:spcPts val="0"/>
              </a:spcAft>
              <a:buNone/>
            </a:pPr>
            <a:endParaRPr sz="1300">
              <a:solidFill>
                <a:srgbClr val="000000"/>
              </a:solidFill>
              <a:latin typeface="Bookman Old Style"/>
              <a:ea typeface="Bookman Old Style"/>
              <a:cs typeface="Bookman Old Style"/>
              <a:sym typeface="Bookman Old Style"/>
            </a:endParaRPr>
          </a:p>
          <a:p>
            <a:pPr marL="0" lvl="0" indent="0" algn="l" rtl="0">
              <a:spcBef>
                <a:spcPts val="0"/>
              </a:spcBef>
              <a:spcAft>
                <a:spcPts val="0"/>
              </a:spcAft>
              <a:buNone/>
            </a:pPr>
            <a:endParaRPr sz="1300">
              <a:solidFill>
                <a:srgbClr val="000000"/>
              </a:solidFill>
              <a:latin typeface="Bookman Old Style"/>
              <a:ea typeface="Bookman Old Style"/>
              <a:cs typeface="Bookman Old Style"/>
              <a:sym typeface="Bookman Old Style"/>
            </a:endParaRPr>
          </a:p>
          <a:p>
            <a:pPr marL="0" lvl="0" indent="0" algn="l" rtl="0">
              <a:spcBef>
                <a:spcPts val="0"/>
              </a:spcBef>
              <a:spcAft>
                <a:spcPts val="0"/>
              </a:spcAft>
              <a:buNone/>
            </a:pPr>
            <a:endParaRPr sz="1300">
              <a:solidFill>
                <a:srgbClr val="000000"/>
              </a:solidFill>
              <a:latin typeface="Bookman Old Style"/>
              <a:ea typeface="Bookman Old Style"/>
              <a:cs typeface="Bookman Old Style"/>
              <a:sym typeface="Bookman Old Style"/>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t-BR">
                <a:solidFill>
                  <a:srgbClr val="FF00FF"/>
                </a:solidFill>
              </a:rPr>
              <a:t>Resenha crítica:</a:t>
            </a:r>
            <a:r>
              <a:rPr lang="pt-BR"/>
              <a:t> exemplo 3</a:t>
            </a:r>
            <a:endParaRPr/>
          </a:p>
        </p:txBody>
      </p:sp>
      <p:sp>
        <p:nvSpPr>
          <p:cNvPr id="148" name="Google Shape;148;p28"/>
          <p:cNvSpPr txBox="1">
            <a:spLocks noGrp="1"/>
          </p:cNvSpPr>
          <p:nvPr>
            <p:ph type="body" idx="1"/>
          </p:nvPr>
        </p:nvSpPr>
        <p:spPr>
          <a:xfrm>
            <a:off x="311700" y="947375"/>
            <a:ext cx="8520600" cy="3936300"/>
          </a:xfrm>
          <a:prstGeom prst="rect">
            <a:avLst/>
          </a:prstGeom>
        </p:spPr>
        <p:txBody>
          <a:bodyPr spcFirstLastPara="1" wrap="square" lIns="91425" tIns="91425" rIns="91425" bIns="91425" anchor="t" anchorCtr="0">
            <a:normAutofit lnSpcReduction="10000"/>
          </a:bodyPr>
          <a:lstStyle/>
          <a:p>
            <a:pPr marL="0" lvl="0" indent="457200" algn="l" rtl="0">
              <a:lnSpc>
                <a:spcPct val="100000"/>
              </a:lnSpc>
              <a:spcBef>
                <a:spcPts val="0"/>
              </a:spcBef>
              <a:spcAft>
                <a:spcPts val="0"/>
              </a:spcAft>
              <a:buNone/>
            </a:pPr>
            <a:endParaRPr sz="1400">
              <a:solidFill>
                <a:srgbClr val="000000"/>
              </a:solidFill>
              <a:highlight>
                <a:srgbClr val="FFFF00"/>
              </a:highlight>
              <a:latin typeface="Bookman Old Style"/>
              <a:ea typeface="Bookman Old Style"/>
              <a:cs typeface="Bookman Old Style"/>
              <a:sym typeface="Bookman Old Style"/>
            </a:endParaRPr>
          </a:p>
          <a:p>
            <a:pPr marL="0" lvl="0" indent="457200" algn="l" rtl="0">
              <a:lnSpc>
                <a:spcPct val="100000"/>
              </a:lnSpc>
              <a:spcBef>
                <a:spcPts val="0"/>
              </a:spcBef>
              <a:spcAft>
                <a:spcPts val="0"/>
              </a:spcAft>
              <a:buNone/>
            </a:pPr>
            <a:r>
              <a:rPr lang="pt-BR" sz="1400">
                <a:solidFill>
                  <a:srgbClr val="000000"/>
                </a:solidFill>
                <a:highlight>
                  <a:srgbClr val="FFFF00"/>
                </a:highlight>
                <a:latin typeface="Bookman Old Style"/>
                <a:ea typeface="Bookman Old Style"/>
                <a:cs typeface="Bookman Old Style"/>
                <a:sym typeface="Bookman Old Style"/>
              </a:rPr>
              <a:t>O filme é desconcertante.</a:t>
            </a:r>
            <a:r>
              <a:rPr lang="pt-BR" sz="1400">
                <a:solidFill>
                  <a:srgbClr val="000000"/>
                </a:solidFill>
                <a:latin typeface="Bookman Old Style"/>
                <a:ea typeface="Bookman Old Style"/>
                <a:cs typeface="Bookman Old Style"/>
                <a:sym typeface="Bookman Old Style"/>
              </a:rPr>
              <a:t> </a:t>
            </a:r>
            <a:r>
              <a:rPr lang="pt-BR" sz="1400" u="sng">
                <a:solidFill>
                  <a:srgbClr val="000000"/>
                </a:solidFill>
                <a:latin typeface="Bookman Old Style"/>
                <a:ea typeface="Bookman Old Style"/>
                <a:cs typeface="Bookman Old Style"/>
                <a:sym typeface="Bookman Old Style"/>
              </a:rPr>
              <a:t>Mostra toda a violência das favelas sem meias palavras ao mesmo tempo em que evita cuidadosamente cair na armadilha de mostrar sangue e tripas. Isso não o torna menos impactante</a:t>
            </a:r>
            <a:r>
              <a:rPr lang="pt-BR" sz="1400">
                <a:solidFill>
                  <a:srgbClr val="000000"/>
                </a:solidFill>
                <a:latin typeface="Bookman Old Style"/>
                <a:ea typeface="Bookman Old Style"/>
                <a:cs typeface="Bookman Old Style"/>
                <a:sym typeface="Bookman Old Style"/>
              </a:rPr>
              <a:t>,</a:t>
            </a:r>
            <a:r>
              <a:rPr lang="pt-BR" sz="1400" u="sng">
                <a:solidFill>
                  <a:srgbClr val="000000"/>
                </a:solidFill>
                <a:latin typeface="Bookman Old Style"/>
                <a:ea typeface="Bookman Old Style"/>
                <a:cs typeface="Bookman Old Style"/>
                <a:sym typeface="Bookman Old Style"/>
              </a:rPr>
              <a:t> uma vez que situações como crianças pequenas matando pessoas com a mesma falta de cerimônia de criminosos calejados é algo difícil de digerir, não importa como sejam mostradas.</a:t>
            </a:r>
            <a:r>
              <a:rPr lang="pt-BR" sz="1400">
                <a:solidFill>
                  <a:srgbClr val="000000"/>
                </a:solidFill>
                <a:latin typeface="Bookman Old Style"/>
                <a:ea typeface="Bookman Old Style"/>
                <a:cs typeface="Bookman Old Style"/>
                <a:sym typeface="Bookman Old Style"/>
              </a:rPr>
              <a:t> 	</a:t>
            </a:r>
            <a:endParaRPr sz="1400">
              <a:solidFill>
                <a:srgbClr val="000000"/>
              </a:solidFill>
              <a:latin typeface="Bookman Old Style"/>
              <a:ea typeface="Bookman Old Style"/>
              <a:cs typeface="Bookman Old Style"/>
              <a:sym typeface="Bookman Old Style"/>
            </a:endParaRPr>
          </a:p>
          <a:p>
            <a:pPr marL="0" lvl="0" indent="457200" algn="l" rtl="0">
              <a:lnSpc>
                <a:spcPct val="100000"/>
              </a:lnSpc>
              <a:spcBef>
                <a:spcPts val="0"/>
              </a:spcBef>
              <a:spcAft>
                <a:spcPts val="0"/>
              </a:spcAft>
              <a:buNone/>
            </a:pPr>
            <a:endParaRPr sz="1400">
              <a:solidFill>
                <a:srgbClr val="000000"/>
              </a:solidFill>
              <a:latin typeface="Bookman Old Style"/>
              <a:ea typeface="Bookman Old Style"/>
              <a:cs typeface="Bookman Old Style"/>
              <a:sym typeface="Bookman Old Style"/>
            </a:endParaRPr>
          </a:p>
          <a:p>
            <a:pPr marL="0" lvl="0" indent="457200" algn="l" rtl="0">
              <a:lnSpc>
                <a:spcPct val="100000"/>
              </a:lnSpc>
              <a:spcBef>
                <a:spcPts val="0"/>
              </a:spcBef>
              <a:spcAft>
                <a:spcPts val="0"/>
              </a:spcAft>
              <a:buNone/>
            </a:pPr>
            <a:r>
              <a:rPr lang="pt-BR" sz="1400">
                <a:solidFill>
                  <a:srgbClr val="000000"/>
                </a:solidFill>
                <a:highlight>
                  <a:srgbClr val="FFFF00"/>
                </a:highlight>
                <a:latin typeface="Bookman Old Style"/>
                <a:ea typeface="Bookman Old Style"/>
                <a:cs typeface="Bookman Old Style"/>
                <a:sym typeface="Bookman Old Style"/>
              </a:rPr>
              <a:t>A estrutura narrativa do filme é brilhante,</a:t>
            </a:r>
            <a:r>
              <a:rPr lang="pt-BR" sz="1400" u="sng">
                <a:solidFill>
                  <a:srgbClr val="000000"/>
                </a:solidFill>
                <a:latin typeface="Bookman Old Style"/>
                <a:ea typeface="Bookman Old Style"/>
                <a:cs typeface="Bookman Old Style"/>
                <a:sym typeface="Bookman Old Style"/>
              </a:rPr>
              <a:t> iniciando-se em um momento em que o protagonista está correndo enorme risco de morte. Ele, então, começa a relembrar todos os acontecimentos que levaram a este ponto até retornar ao momento exato de onde saíra, que é o clímax da fita. Tudo é contado com uma naturalidade que evita que o espectador mais distraído se perca, mesmo considerando o grande número de personagens. O filme também usa com habilidade os seus fatos reais, chegando a incorporar uma passagem do </a:t>
            </a:r>
            <a:r>
              <a:rPr lang="pt-BR" sz="1400" i="1" u="sng">
                <a:solidFill>
                  <a:srgbClr val="000000"/>
                </a:solidFill>
                <a:latin typeface="Bookman Old Style"/>
                <a:ea typeface="Bookman Old Style"/>
                <a:cs typeface="Bookman Old Style"/>
                <a:sym typeface="Bookman Old Style"/>
              </a:rPr>
              <a:t>Jornal Nacional </a:t>
            </a:r>
            <a:r>
              <a:rPr lang="pt-BR" sz="1400" u="sng">
                <a:solidFill>
                  <a:srgbClr val="000000"/>
                </a:solidFill>
                <a:latin typeface="Bookman Old Style"/>
                <a:ea typeface="Bookman Old Style"/>
                <a:cs typeface="Bookman Old Style"/>
                <a:sym typeface="Bookman Old Style"/>
              </a:rPr>
              <a:t>de 1979 em sua história.</a:t>
            </a:r>
            <a:endParaRPr sz="1400" u="sng">
              <a:solidFill>
                <a:srgbClr val="000000"/>
              </a:solidFill>
              <a:latin typeface="Bookman Old Style"/>
              <a:ea typeface="Bookman Old Style"/>
              <a:cs typeface="Bookman Old Style"/>
              <a:sym typeface="Bookman Old Style"/>
            </a:endParaRPr>
          </a:p>
          <a:p>
            <a:pPr marL="0" lvl="0" indent="0" algn="l" rtl="0">
              <a:lnSpc>
                <a:spcPct val="100000"/>
              </a:lnSpc>
              <a:spcBef>
                <a:spcPts val="0"/>
              </a:spcBef>
              <a:spcAft>
                <a:spcPts val="0"/>
              </a:spcAft>
              <a:buNone/>
            </a:pPr>
            <a:r>
              <a:rPr lang="pt-BR" sz="1500">
                <a:solidFill>
                  <a:srgbClr val="000000"/>
                </a:solidFill>
                <a:latin typeface="Bookman Old Style"/>
                <a:ea typeface="Bookman Old Style"/>
                <a:cs typeface="Bookman Old Style"/>
                <a:sym typeface="Bookman Old Style"/>
              </a:rPr>
              <a:t>	</a:t>
            </a:r>
            <a:endParaRPr sz="1500">
              <a:solidFill>
                <a:srgbClr val="000000"/>
              </a:solidFill>
              <a:latin typeface="Bookman Old Style"/>
              <a:ea typeface="Bookman Old Style"/>
              <a:cs typeface="Bookman Old Style"/>
              <a:sym typeface="Bookman Old Style"/>
            </a:endParaRPr>
          </a:p>
          <a:p>
            <a:pPr marL="0" lvl="0" indent="0" algn="l" rtl="0">
              <a:spcBef>
                <a:spcPts val="0"/>
              </a:spcBef>
              <a:spcAft>
                <a:spcPts val="0"/>
              </a:spcAft>
              <a:buNone/>
            </a:pPr>
            <a:endParaRPr sz="1300" b="1">
              <a:solidFill>
                <a:srgbClr val="000000"/>
              </a:solidFill>
              <a:latin typeface="Bookman Old Style"/>
              <a:ea typeface="Bookman Old Style"/>
              <a:cs typeface="Bookman Old Style"/>
              <a:sym typeface="Bookman Old Style"/>
            </a:endParaRPr>
          </a:p>
          <a:p>
            <a:pPr marL="0" lvl="0" indent="0" algn="l" rtl="0">
              <a:spcBef>
                <a:spcPts val="0"/>
              </a:spcBef>
              <a:spcAft>
                <a:spcPts val="0"/>
              </a:spcAft>
              <a:buNone/>
            </a:pPr>
            <a:endParaRPr sz="1300">
              <a:solidFill>
                <a:srgbClr val="000000"/>
              </a:solidFill>
              <a:latin typeface="Bookman Old Style"/>
              <a:ea typeface="Bookman Old Style"/>
              <a:cs typeface="Bookman Old Style"/>
              <a:sym typeface="Bookman Old Style"/>
            </a:endParaRPr>
          </a:p>
          <a:p>
            <a:pPr marL="0" lvl="0" indent="0" algn="l" rtl="0">
              <a:spcBef>
                <a:spcPts val="0"/>
              </a:spcBef>
              <a:spcAft>
                <a:spcPts val="0"/>
              </a:spcAft>
              <a:buNone/>
            </a:pPr>
            <a:endParaRPr sz="1300">
              <a:solidFill>
                <a:srgbClr val="000000"/>
              </a:solidFill>
              <a:latin typeface="Bookman Old Style"/>
              <a:ea typeface="Bookman Old Style"/>
              <a:cs typeface="Bookman Old Style"/>
              <a:sym typeface="Bookman Old Style"/>
            </a:endParaRPr>
          </a:p>
          <a:p>
            <a:pPr marL="0" lvl="0" indent="0" algn="l" rtl="0">
              <a:spcBef>
                <a:spcPts val="0"/>
              </a:spcBef>
              <a:spcAft>
                <a:spcPts val="0"/>
              </a:spcAft>
              <a:buNone/>
            </a:pPr>
            <a:endParaRPr sz="1300">
              <a:solidFill>
                <a:srgbClr val="000000"/>
              </a:solidFill>
              <a:latin typeface="Bookman Old Style"/>
              <a:ea typeface="Bookman Old Style"/>
              <a:cs typeface="Bookman Old Style"/>
              <a:sym typeface="Bookman Old Style"/>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2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t-BR">
                <a:solidFill>
                  <a:srgbClr val="FF00FF"/>
                </a:solidFill>
              </a:rPr>
              <a:t>Resenha crítica:</a:t>
            </a:r>
            <a:r>
              <a:rPr lang="pt-BR"/>
              <a:t> exemplo 3</a:t>
            </a:r>
            <a:endParaRPr/>
          </a:p>
        </p:txBody>
      </p:sp>
      <p:sp>
        <p:nvSpPr>
          <p:cNvPr id="154" name="Google Shape;154;p29"/>
          <p:cNvSpPr txBox="1">
            <a:spLocks noGrp="1"/>
          </p:cNvSpPr>
          <p:nvPr>
            <p:ph type="body" idx="1"/>
          </p:nvPr>
        </p:nvSpPr>
        <p:spPr>
          <a:xfrm>
            <a:off x="311700" y="1017725"/>
            <a:ext cx="8520600" cy="3936300"/>
          </a:xfrm>
          <a:prstGeom prst="rect">
            <a:avLst/>
          </a:prstGeom>
        </p:spPr>
        <p:txBody>
          <a:bodyPr spcFirstLastPara="1" wrap="square" lIns="91425" tIns="91425" rIns="91425" bIns="91425" anchor="t" anchorCtr="0">
            <a:normAutofit lnSpcReduction="10000"/>
          </a:bodyPr>
          <a:lstStyle/>
          <a:p>
            <a:pPr marL="0" lvl="0" indent="457200" algn="l" rtl="0">
              <a:lnSpc>
                <a:spcPct val="100000"/>
              </a:lnSpc>
              <a:spcBef>
                <a:spcPts val="0"/>
              </a:spcBef>
              <a:spcAft>
                <a:spcPts val="0"/>
              </a:spcAft>
              <a:buClr>
                <a:schemeClr val="dk1"/>
              </a:buClr>
              <a:buSzPts val="1100"/>
              <a:buFont typeface="Arial"/>
              <a:buNone/>
            </a:pPr>
            <a:r>
              <a:rPr lang="pt-BR" sz="1400">
                <a:solidFill>
                  <a:schemeClr val="dk1"/>
                </a:solidFill>
                <a:highlight>
                  <a:srgbClr val="FFFF00"/>
                </a:highlight>
                <a:latin typeface="Bookman Old Style"/>
                <a:ea typeface="Bookman Old Style"/>
                <a:cs typeface="Bookman Old Style"/>
                <a:sym typeface="Bookman Old Style"/>
              </a:rPr>
              <a:t>Além disso, a produção se revela surpreendentemente cômica em certos momentos,</a:t>
            </a:r>
            <a:r>
              <a:rPr lang="pt-BR" sz="1400">
                <a:solidFill>
                  <a:schemeClr val="dk1"/>
                </a:solidFill>
                <a:latin typeface="Bookman Old Style"/>
                <a:ea typeface="Bookman Old Style"/>
                <a:cs typeface="Bookman Old Style"/>
                <a:sym typeface="Bookman Old Style"/>
              </a:rPr>
              <a:t> </a:t>
            </a:r>
            <a:r>
              <a:rPr lang="pt-BR" sz="1400" u="sng">
                <a:solidFill>
                  <a:schemeClr val="dk1"/>
                </a:solidFill>
                <a:latin typeface="Bookman Old Style"/>
                <a:ea typeface="Bookman Old Style"/>
                <a:cs typeface="Bookman Old Style"/>
                <a:sym typeface="Bookman Old Style"/>
              </a:rPr>
              <a:t>destaque para as sequências em que Buscapé decide deixar de ser otário e tenta iniciar uma carreira criminosa. </a:t>
            </a:r>
            <a:endParaRPr sz="1100" u="sng">
              <a:solidFill>
                <a:schemeClr val="dk1"/>
              </a:solidFill>
            </a:endParaRPr>
          </a:p>
          <a:p>
            <a:pPr marL="0" lvl="0" indent="0" algn="l" rtl="0">
              <a:lnSpc>
                <a:spcPct val="100000"/>
              </a:lnSpc>
              <a:spcBef>
                <a:spcPts val="0"/>
              </a:spcBef>
              <a:spcAft>
                <a:spcPts val="0"/>
              </a:spcAft>
              <a:buNone/>
            </a:pPr>
            <a:r>
              <a:rPr lang="pt-BR" sz="1500">
                <a:solidFill>
                  <a:srgbClr val="000000"/>
                </a:solidFill>
                <a:latin typeface="Bookman Old Style"/>
                <a:ea typeface="Bookman Old Style"/>
                <a:cs typeface="Bookman Old Style"/>
                <a:sym typeface="Bookman Old Style"/>
              </a:rPr>
              <a:t>Não bastasse tal qualidade, </a:t>
            </a:r>
            <a:r>
              <a:rPr lang="pt-BR" sz="1500">
                <a:solidFill>
                  <a:srgbClr val="000000"/>
                </a:solidFill>
                <a:highlight>
                  <a:srgbClr val="FFFF00"/>
                </a:highlight>
                <a:latin typeface="Bookman Old Style"/>
                <a:ea typeface="Bookman Old Style"/>
                <a:cs typeface="Bookman Old Style"/>
                <a:sym typeface="Bookman Old Style"/>
              </a:rPr>
              <a:t>o filme tem uma das melhores fotografias da história do cinema brasileiro.</a:t>
            </a:r>
            <a:r>
              <a:rPr lang="pt-BR" sz="1500" u="sng">
                <a:solidFill>
                  <a:srgbClr val="000000"/>
                </a:solidFill>
                <a:latin typeface="Bookman Old Style"/>
                <a:ea typeface="Bookman Old Style"/>
                <a:cs typeface="Bookman Old Style"/>
                <a:sym typeface="Bookman Old Style"/>
              </a:rPr>
              <a:t> Nestes tempos pós-</a:t>
            </a:r>
            <a:r>
              <a:rPr lang="pt-BR" sz="1500" i="1" u="sng">
                <a:solidFill>
                  <a:srgbClr val="000000"/>
                </a:solidFill>
                <a:latin typeface="Bookman Old Style"/>
                <a:ea typeface="Bookman Old Style"/>
                <a:cs typeface="Bookman Old Style"/>
                <a:sym typeface="Bookman Old Style"/>
              </a:rPr>
              <a:t>Gladiador</a:t>
            </a:r>
            <a:r>
              <a:rPr lang="pt-BR" sz="1500" u="sng">
                <a:solidFill>
                  <a:srgbClr val="000000"/>
                </a:solidFill>
                <a:latin typeface="Bookman Old Style"/>
                <a:ea typeface="Bookman Old Style"/>
                <a:cs typeface="Bookman Old Style"/>
                <a:sym typeface="Bookman Old Style"/>
              </a:rPr>
              <a:t> em que Hollywood parece acreditar que câmeras com Mal de Parkinson e cortes a cada três segundos são sinônimos de boa fotografia, ver algo criativo, ousado e inteligível</a:t>
            </a:r>
            <a:r>
              <a:rPr lang="pt-BR" sz="1500" b="1" u="sng">
                <a:solidFill>
                  <a:srgbClr val="000000"/>
                </a:solidFill>
                <a:latin typeface="Bookman Old Style"/>
                <a:ea typeface="Bookman Old Style"/>
                <a:cs typeface="Bookman Old Style"/>
                <a:sym typeface="Bookman Old Style"/>
              </a:rPr>
              <a:t> </a:t>
            </a:r>
            <a:r>
              <a:rPr lang="pt-BR" sz="1500" u="sng">
                <a:solidFill>
                  <a:srgbClr val="000000"/>
                </a:solidFill>
                <a:latin typeface="Bookman Old Style"/>
                <a:ea typeface="Bookman Old Style"/>
                <a:cs typeface="Bookman Old Style"/>
                <a:sym typeface="Bookman Old Style"/>
              </a:rPr>
              <a:t>em uma fita brasileira é motivo de orgulho.</a:t>
            </a:r>
            <a:endParaRPr sz="1500" u="sng">
              <a:solidFill>
                <a:srgbClr val="000000"/>
              </a:solidFill>
              <a:latin typeface="Bookman Old Style"/>
              <a:ea typeface="Bookman Old Style"/>
              <a:cs typeface="Bookman Old Style"/>
              <a:sym typeface="Bookman Old Style"/>
            </a:endParaRPr>
          </a:p>
          <a:p>
            <a:pPr marL="0" lvl="0" indent="0" algn="l" rtl="0">
              <a:lnSpc>
                <a:spcPct val="100000"/>
              </a:lnSpc>
              <a:spcBef>
                <a:spcPts val="0"/>
              </a:spcBef>
              <a:spcAft>
                <a:spcPts val="0"/>
              </a:spcAft>
              <a:buNone/>
            </a:pPr>
            <a:r>
              <a:rPr lang="pt-BR" sz="1500">
                <a:solidFill>
                  <a:srgbClr val="000000"/>
                </a:solidFill>
                <a:latin typeface="Bookman Old Style"/>
                <a:ea typeface="Bookman Old Style"/>
                <a:cs typeface="Bookman Old Style"/>
                <a:sym typeface="Bookman Old Style"/>
              </a:rPr>
              <a:t>	</a:t>
            </a:r>
            <a:endParaRPr sz="1500">
              <a:solidFill>
                <a:srgbClr val="000000"/>
              </a:solidFill>
              <a:latin typeface="Bookman Old Style"/>
              <a:ea typeface="Bookman Old Style"/>
              <a:cs typeface="Bookman Old Style"/>
              <a:sym typeface="Bookman Old Style"/>
            </a:endParaRPr>
          </a:p>
          <a:p>
            <a:pPr marL="0" lvl="0" indent="457200" algn="l" rtl="0">
              <a:lnSpc>
                <a:spcPct val="100000"/>
              </a:lnSpc>
              <a:spcBef>
                <a:spcPts val="0"/>
              </a:spcBef>
              <a:spcAft>
                <a:spcPts val="0"/>
              </a:spcAft>
              <a:buNone/>
            </a:pPr>
            <a:r>
              <a:rPr lang="pt-BR" sz="1500">
                <a:solidFill>
                  <a:srgbClr val="000000"/>
                </a:solidFill>
                <a:highlight>
                  <a:srgbClr val="FFFF00"/>
                </a:highlight>
                <a:latin typeface="Bookman Old Style"/>
                <a:ea typeface="Bookman Old Style"/>
                <a:cs typeface="Bookman Old Style"/>
                <a:sym typeface="Bookman Old Style"/>
              </a:rPr>
              <a:t>Vale a pena também mencionar os atores.</a:t>
            </a:r>
            <a:r>
              <a:rPr lang="pt-BR" sz="1500" u="sng">
                <a:solidFill>
                  <a:srgbClr val="000000"/>
                </a:solidFill>
                <a:latin typeface="Bookman Old Style"/>
                <a:ea typeface="Bookman Old Style"/>
                <a:cs typeface="Bookman Old Style"/>
                <a:sym typeface="Bookman Old Style"/>
              </a:rPr>
              <a:t> Ao invés de recorrer a um “elenco global” que seria tão artificial em uma favela quanto o é em uma novela da TV, os produtores utilizaram-se de um expediente inovador: escolher os atores entre os próprios habitantes de comunidades de baixa renda e ensinar-lhes o ofício especificamente para o filme. </a:t>
            </a:r>
            <a:r>
              <a:rPr lang="pt-BR" sz="1500">
                <a:solidFill>
                  <a:srgbClr val="000000"/>
                </a:solidFill>
                <a:highlight>
                  <a:srgbClr val="FFFF00"/>
                </a:highlight>
                <a:latin typeface="Bookman Old Style"/>
                <a:ea typeface="Bookman Old Style"/>
                <a:cs typeface="Bookman Old Style"/>
                <a:sym typeface="Bookman Old Style"/>
              </a:rPr>
              <a:t>Deu certo! </a:t>
            </a:r>
            <a:r>
              <a:rPr lang="pt-BR" sz="1500" u="sng">
                <a:solidFill>
                  <a:srgbClr val="000000"/>
                </a:solidFill>
                <a:latin typeface="Bookman Old Style"/>
                <a:ea typeface="Bookman Old Style"/>
                <a:cs typeface="Bookman Old Style"/>
                <a:sym typeface="Bookman Old Style"/>
              </a:rPr>
              <a:t>Os jovens estão todos bastante convincentes em seus papéis e vários revelam-se muito talentosos! </a:t>
            </a:r>
            <a:endParaRPr sz="1500">
              <a:solidFill>
                <a:srgbClr val="000000"/>
              </a:solidFill>
              <a:latin typeface="Bookman Old Style"/>
              <a:ea typeface="Bookman Old Style"/>
              <a:cs typeface="Bookman Old Style"/>
              <a:sym typeface="Bookman Old Style"/>
            </a:endParaRPr>
          </a:p>
          <a:p>
            <a:pPr marL="0" lvl="0" indent="0" algn="l" rtl="0">
              <a:spcBef>
                <a:spcPts val="0"/>
              </a:spcBef>
              <a:spcAft>
                <a:spcPts val="0"/>
              </a:spcAft>
              <a:buNone/>
            </a:pPr>
            <a:endParaRPr sz="1500">
              <a:solidFill>
                <a:srgbClr val="000000"/>
              </a:solidFill>
              <a:latin typeface="Bookman Old Style"/>
              <a:ea typeface="Bookman Old Style"/>
              <a:cs typeface="Bookman Old Style"/>
              <a:sym typeface="Bookman Old Style"/>
            </a:endParaRPr>
          </a:p>
          <a:p>
            <a:pPr marL="0" lvl="0" indent="0" algn="l" rtl="0">
              <a:spcBef>
                <a:spcPts val="0"/>
              </a:spcBef>
              <a:spcAft>
                <a:spcPts val="0"/>
              </a:spcAft>
              <a:buNone/>
            </a:pPr>
            <a:endParaRPr sz="1300">
              <a:solidFill>
                <a:srgbClr val="000000"/>
              </a:solidFill>
              <a:latin typeface="Bookman Old Style"/>
              <a:ea typeface="Bookman Old Style"/>
              <a:cs typeface="Bookman Old Style"/>
              <a:sym typeface="Bookman Old Style"/>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3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t-BR">
                <a:solidFill>
                  <a:srgbClr val="FF00FF"/>
                </a:solidFill>
              </a:rPr>
              <a:t>Resenha crítica:</a:t>
            </a:r>
            <a:r>
              <a:rPr lang="pt-BR"/>
              <a:t> exemplo 3</a:t>
            </a:r>
            <a:endParaRPr/>
          </a:p>
        </p:txBody>
      </p:sp>
      <p:sp>
        <p:nvSpPr>
          <p:cNvPr id="160" name="Google Shape;160;p30"/>
          <p:cNvSpPr txBox="1">
            <a:spLocks noGrp="1"/>
          </p:cNvSpPr>
          <p:nvPr>
            <p:ph type="body" idx="1"/>
          </p:nvPr>
        </p:nvSpPr>
        <p:spPr>
          <a:xfrm>
            <a:off x="311700" y="1152475"/>
            <a:ext cx="8520600" cy="3936300"/>
          </a:xfrm>
          <a:prstGeom prst="rect">
            <a:avLst/>
          </a:prstGeom>
        </p:spPr>
        <p:txBody>
          <a:bodyPr spcFirstLastPara="1" wrap="square" lIns="91425" tIns="91425" rIns="91425" bIns="91425" anchor="t" anchorCtr="0">
            <a:normAutofit/>
          </a:bodyPr>
          <a:lstStyle/>
          <a:p>
            <a:pPr marL="0" lvl="0" indent="457200" algn="l" rtl="0">
              <a:lnSpc>
                <a:spcPct val="100000"/>
              </a:lnSpc>
              <a:spcBef>
                <a:spcPts val="0"/>
              </a:spcBef>
              <a:spcAft>
                <a:spcPts val="0"/>
              </a:spcAft>
              <a:buNone/>
            </a:pPr>
            <a:r>
              <a:rPr lang="pt-BR" sz="1400">
                <a:solidFill>
                  <a:srgbClr val="000000"/>
                </a:solidFill>
                <a:highlight>
                  <a:srgbClr val="FFFF00"/>
                </a:highlight>
                <a:latin typeface="Bookman Old Style"/>
                <a:ea typeface="Bookman Old Style"/>
                <a:cs typeface="Bookman Old Style"/>
                <a:sym typeface="Bookman Old Style"/>
              </a:rPr>
              <a:t>Oúnico problema do filme </a:t>
            </a:r>
            <a:r>
              <a:rPr lang="pt-BR" sz="1400">
                <a:solidFill>
                  <a:srgbClr val="000000"/>
                </a:solidFill>
                <a:latin typeface="Bookman Old Style"/>
                <a:ea typeface="Bookman Old Style"/>
                <a:cs typeface="Bookman Old Style"/>
                <a:sym typeface="Bookman Old Style"/>
              </a:rPr>
              <a:t>é que, n</a:t>
            </a:r>
            <a:r>
              <a:rPr lang="pt-BR" sz="1400" u="sng">
                <a:solidFill>
                  <a:srgbClr val="000000"/>
                </a:solidFill>
                <a:latin typeface="Bookman Old Style"/>
                <a:ea typeface="Bookman Old Style"/>
                <a:cs typeface="Bookman Old Style"/>
                <a:sym typeface="Bookman Old Style"/>
              </a:rPr>
              <a:t>o esforço de manter o realismo, todos os atores falam usando as expressões da favela dos anos 70! Os diálogos do filme serão quase incompreensíveis em algumas regiões do país (e se for exibido em Portugal, é recomendável que seja legendado...). Além do favelês já ser complicado por si só para quem não é da área, o uso de expressões com data de validade vencida como “cocotas” complica ainda mais. Entretanto, é um problema menor e justificado. </a:t>
            </a:r>
            <a:endParaRPr sz="1400" u="sng">
              <a:solidFill>
                <a:srgbClr val="000000"/>
              </a:solidFill>
              <a:latin typeface="Bookman Old Style"/>
              <a:ea typeface="Bookman Old Style"/>
              <a:cs typeface="Bookman Old Style"/>
              <a:sym typeface="Bookman Old Style"/>
            </a:endParaRPr>
          </a:p>
          <a:p>
            <a:pPr marL="0" lvl="0" indent="457200" algn="l" rtl="0">
              <a:lnSpc>
                <a:spcPct val="100000"/>
              </a:lnSpc>
              <a:spcBef>
                <a:spcPts val="0"/>
              </a:spcBef>
              <a:spcAft>
                <a:spcPts val="0"/>
              </a:spcAft>
              <a:buNone/>
            </a:pPr>
            <a:endParaRPr sz="1400" u="sng">
              <a:solidFill>
                <a:srgbClr val="000000"/>
              </a:solidFill>
              <a:latin typeface="Bookman Old Style"/>
              <a:ea typeface="Bookman Old Style"/>
              <a:cs typeface="Bookman Old Style"/>
              <a:sym typeface="Bookman Old Style"/>
            </a:endParaRPr>
          </a:p>
          <a:p>
            <a:pPr marL="0" lvl="0" indent="457200" algn="l" rtl="0">
              <a:lnSpc>
                <a:spcPct val="100000"/>
              </a:lnSpc>
              <a:spcBef>
                <a:spcPts val="0"/>
              </a:spcBef>
              <a:spcAft>
                <a:spcPts val="0"/>
              </a:spcAft>
              <a:buNone/>
            </a:pPr>
            <a:r>
              <a:rPr lang="pt-BR" sz="1400">
                <a:solidFill>
                  <a:srgbClr val="000000"/>
                </a:solidFill>
                <a:highlight>
                  <a:srgbClr val="FFFF00"/>
                </a:highlight>
                <a:latin typeface="Bookman Old Style"/>
                <a:ea typeface="Bookman Old Style"/>
                <a:cs typeface="Bookman Old Style"/>
                <a:sym typeface="Bookman Old Style"/>
              </a:rPr>
              <a:t>No final das contas, é um filme nacional interessante, bem escrito e que deveria servir de modelo para as produções futuras. Talvez a melhor produção brasileira do ano e uma das melhores dos últimos tempos. Merece ser conferida!</a:t>
            </a:r>
            <a:endParaRPr sz="1400">
              <a:solidFill>
                <a:srgbClr val="000000"/>
              </a:solidFill>
              <a:highlight>
                <a:srgbClr val="FFFF00"/>
              </a:highlight>
              <a:latin typeface="Bookman Old Style"/>
              <a:ea typeface="Bookman Old Style"/>
              <a:cs typeface="Bookman Old Style"/>
              <a:sym typeface="Bookman Old Style"/>
            </a:endParaRPr>
          </a:p>
          <a:p>
            <a:pPr marL="0" lvl="0" indent="0" algn="l" rtl="0">
              <a:lnSpc>
                <a:spcPct val="150000"/>
              </a:lnSpc>
              <a:spcBef>
                <a:spcPts val="0"/>
              </a:spcBef>
              <a:spcAft>
                <a:spcPts val="0"/>
              </a:spcAft>
              <a:buNone/>
            </a:pPr>
            <a:endParaRPr sz="1400">
              <a:solidFill>
                <a:srgbClr val="000000"/>
              </a:solidFill>
              <a:latin typeface="Bookman Old Style"/>
              <a:ea typeface="Bookman Old Style"/>
              <a:cs typeface="Bookman Old Style"/>
              <a:sym typeface="Bookman Old Style"/>
            </a:endParaRPr>
          </a:p>
          <a:p>
            <a:pPr marL="0" lvl="0" indent="0" algn="l" rtl="0">
              <a:lnSpc>
                <a:spcPct val="150000"/>
              </a:lnSpc>
              <a:spcBef>
                <a:spcPts val="0"/>
              </a:spcBef>
              <a:spcAft>
                <a:spcPts val="0"/>
              </a:spcAft>
              <a:buNone/>
            </a:pPr>
            <a:endParaRPr sz="900">
              <a:solidFill>
                <a:srgbClr val="000000"/>
              </a:solidFill>
              <a:latin typeface="Bookman Old Style"/>
              <a:ea typeface="Bookman Old Style"/>
              <a:cs typeface="Bookman Old Style"/>
              <a:sym typeface="Bookman Old Style"/>
            </a:endParaRPr>
          </a:p>
          <a:p>
            <a:pPr marL="0" lvl="0" indent="457200" algn="l" rtl="0">
              <a:lnSpc>
                <a:spcPct val="150000"/>
              </a:lnSpc>
              <a:spcBef>
                <a:spcPts val="0"/>
              </a:spcBef>
              <a:spcAft>
                <a:spcPts val="0"/>
              </a:spcAft>
              <a:buNone/>
            </a:pPr>
            <a:endParaRPr sz="1200">
              <a:solidFill>
                <a:srgbClr val="000000"/>
              </a:solidFill>
              <a:latin typeface="Bookman Old Style"/>
              <a:ea typeface="Bookman Old Style"/>
              <a:cs typeface="Bookman Old Style"/>
              <a:sym typeface="Bookman Old Style"/>
            </a:endParaRPr>
          </a:p>
          <a:p>
            <a:pPr marL="0" lvl="0" indent="0" algn="l" rtl="0">
              <a:spcBef>
                <a:spcPts val="0"/>
              </a:spcBef>
              <a:spcAft>
                <a:spcPts val="0"/>
              </a:spcAft>
              <a:buNone/>
            </a:pPr>
            <a:endParaRPr sz="1200">
              <a:solidFill>
                <a:srgbClr val="000000"/>
              </a:solidFill>
              <a:latin typeface="Bookman Old Style"/>
              <a:ea typeface="Bookman Old Style"/>
              <a:cs typeface="Bookman Old Style"/>
              <a:sym typeface="Bookman Old Style"/>
            </a:endParaRPr>
          </a:p>
          <a:p>
            <a:pPr marL="0" lvl="0" indent="0" algn="l" rtl="0">
              <a:spcBef>
                <a:spcPts val="0"/>
              </a:spcBef>
              <a:spcAft>
                <a:spcPts val="0"/>
              </a:spcAft>
              <a:buNone/>
            </a:pPr>
            <a:endParaRPr sz="1300">
              <a:solidFill>
                <a:srgbClr val="000000"/>
              </a:solidFill>
              <a:latin typeface="Bookman Old Style"/>
              <a:ea typeface="Bookman Old Style"/>
              <a:cs typeface="Bookman Old Style"/>
              <a:sym typeface="Bookman Old Style"/>
            </a:endParaRPr>
          </a:p>
          <a:p>
            <a:pPr marL="0" lvl="0" indent="0" algn="l" rtl="0">
              <a:spcBef>
                <a:spcPts val="0"/>
              </a:spcBef>
              <a:spcAft>
                <a:spcPts val="0"/>
              </a:spcAft>
              <a:buNone/>
            </a:pPr>
            <a:endParaRPr sz="1300">
              <a:solidFill>
                <a:srgbClr val="000000"/>
              </a:solidFill>
              <a:latin typeface="Bookman Old Style"/>
              <a:ea typeface="Bookman Old Style"/>
              <a:cs typeface="Bookman Old Style"/>
              <a:sym typeface="Bookman Old Style"/>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31"/>
          <p:cNvSpPr txBox="1">
            <a:spLocks noGrp="1"/>
          </p:cNvSpPr>
          <p:nvPr>
            <p:ph type="title"/>
          </p:nvPr>
        </p:nvSpPr>
        <p:spPr>
          <a:xfrm>
            <a:off x="311700" y="5005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t-BR">
                <a:solidFill>
                  <a:srgbClr val="FF00FF"/>
                </a:solidFill>
              </a:rPr>
              <a:t>Resenha crítica:</a:t>
            </a:r>
            <a:r>
              <a:rPr lang="pt-BR"/>
              <a:t> exemplo 4</a:t>
            </a:r>
            <a:endParaRPr/>
          </a:p>
        </p:txBody>
      </p:sp>
      <p:pic>
        <p:nvPicPr>
          <p:cNvPr id="166" name="Google Shape;166;p31" descr="Dos mesmos produtores de Don't F**k with Cats: Uma Caçada Online. &#10;&#10;O amor moderno pode ser um jogo perigoso no mundo do namoro online, onde nem tudo que reluz é ouro. Conhecido como “O Golpista do Tinder”, ele seduziu e deu golpes de milhões em jovens mulheres, e agora é procurado pela justiça em diversos países. Um simples deslize para a direita pode transformar um conto de fadas em pesadelo. Conheça a história de três mulheres que decidiram reagir.&#10;&#10;Assista a O Golpista do Tinder, só na Netflix:&#10;https://netflix.com/thetinderswindler&#10;&#10;Inscreva-se: https://bit.ly/31ynwtw&#10;&#10;Sobre a Netflix:&#10;A Netflix é o principal serviço de entretenimento por streaming do mundo. São 214 milhões de assinaturas pagas em mais de 190 países com acesso a séries, documentários e filmes de diversos gêneros e idiomas, além de jogos para celulares e tablets. Quem assina a Netflix pode assistir a quantos filmes e séries quiser, quando e onde quiser, em praticamente qualquer tela com conexão à internet. Assinantes podem assistir, pausar e voltar a assistir a um título sem comerciais e sem compromisso. &#10;&#10;O Golpista do Tinder | Trailer oficial | Netflix&#10;https://youtube.com/NetflixBrasil&#10;&#10;Ele se passava por um magnata do ramo dos diamantes, conquistava mulheres na internet e roubava milhões de dólares delas. Agora, algumas vítimas querem vingança." title="O Golpista do Tinder | Trailer oficial | Netflix">
            <a:hlinkClick r:id="rId3"/>
          </p:cNvPr>
          <p:cNvPicPr preferRelativeResize="0"/>
          <p:nvPr/>
        </p:nvPicPr>
        <p:blipFill>
          <a:blip r:embed="rId4">
            <a:alphaModFix/>
          </a:blip>
          <a:stretch>
            <a:fillRect/>
          </a:stretch>
        </p:blipFill>
        <p:spPr>
          <a:xfrm>
            <a:off x="432175" y="1333300"/>
            <a:ext cx="4572000" cy="3429000"/>
          </a:xfrm>
          <a:prstGeom prst="rect">
            <a:avLst/>
          </a:prstGeom>
          <a:noFill/>
          <a:ln>
            <a:noFill/>
          </a:ln>
        </p:spPr>
      </p:pic>
      <p:sp>
        <p:nvSpPr>
          <p:cNvPr id="167" name="Google Shape;167;p31"/>
          <p:cNvSpPr txBox="1"/>
          <p:nvPr/>
        </p:nvSpPr>
        <p:spPr>
          <a:xfrm>
            <a:off x="5886175" y="1539475"/>
            <a:ext cx="2946000" cy="1467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pt-BR" sz="1200">
                <a:solidFill>
                  <a:srgbClr val="333333"/>
                </a:solidFill>
                <a:highlight>
                  <a:srgbClr val="FFFFFF"/>
                </a:highlight>
                <a:latin typeface="Georgia"/>
                <a:ea typeface="Georgia"/>
                <a:cs typeface="Georgia"/>
                <a:sym typeface="Georgia"/>
              </a:rPr>
              <a:t>O GOLPISTA DO TINDER</a:t>
            </a:r>
            <a:endParaRPr sz="1200">
              <a:solidFill>
                <a:srgbClr val="333333"/>
              </a:solidFill>
              <a:highlight>
                <a:srgbClr val="FFFFFF"/>
              </a:highlight>
              <a:latin typeface="Georgia"/>
              <a:ea typeface="Georgia"/>
              <a:cs typeface="Georgia"/>
              <a:sym typeface="Georgia"/>
            </a:endParaRPr>
          </a:p>
          <a:p>
            <a:pPr marL="457200" lvl="0" indent="-304800" algn="l" rtl="0">
              <a:lnSpc>
                <a:spcPct val="115000"/>
              </a:lnSpc>
              <a:spcBef>
                <a:spcPts val="1700"/>
              </a:spcBef>
              <a:spcAft>
                <a:spcPts val="0"/>
              </a:spcAft>
              <a:buClr>
                <a:srgbClr val="333333"/>
              </a:buClr>
              <a:buSzPts val="1200"/>
              <a:buFont typeface="Georgia"/>
              <a:buChar char="●"/>
            </a:pPr>
            <a:r>
              <a:rPr lang="pt-BR" sz="1200" b="1">
                <a:solidFill>
                  <a:srgbClr val="333333"/>
                </a:solidFill>
                <a:highlight>
                  <a:srgbClr val="FFFFFF"/>
                </a:highlight>
                <a:latin typeface="Georgia"/>
                <a:ea typeface="Georgia"/>
                <a:cs typeface="Georgia"/>
                <a:sym typeface="Georgia"/>
              </a:rPr>
              <a:t>Onde</a:t>
            </a:r>
            <a:r>
              <a:rPr lang="pt-BR" sz="1200">
                <a:solidFill>
                  <a:srgbClr val="333333"/>
                </a:solidFill>
                <a:highlight>
                  <a:srgbClr val="FFFFFF"/>
                </a:highlight>
                <a:latin typeface="Georgia"/>
                <a:ea typeface="Georgia"/>
                <a:cs typeface="Georgia"/>
                <a:sym typeface="Georgia"/>
              </a:rPr>
              <a:t> Disponível na Netflix</a:t>
            </a:r>
            <a:endParaRPr sz="1200">
              <a:solidFill>
                <a:srgbClr val="333333"/>
              </a:solidFill>
              <a:highlight>
                <a:srgbClr val="FFFFFF"/>
              </a:highlight>
              <a:latin typeface="Georgia"/>
              <a:ea typeface="Georgia"/>
              <a:cs typeface="Georgia"/>
              <a:sym typeface="Georgia"/>
            </a:endParaRPr>
          </a:p>
          <a:p>
            <a:pPr marL="457200" lvl="0" indent="-304800" algn="l" rtl="0">
              <a:lnSpc>
                <a:spcPct val="115000"/>
              </a:lnSpc>
              <a:spcBef>
                <a:spcPts val="0"/>
              </a:spcBef>
              <a:spcAft>
                <a:spcPts val="0"/>
              </a:spcAft>
              <a:buClr>
                <a:srgbClr val="333333"/>
              </a:buClr>
              <a:buSzPts val="1200"/>
              <a:buFont typeface="Georgia"/>
              <a:buChar char="●"/>
            </a:pPr>
            <a:r>
              <a:rPr lang="pt-BR" sz="1200" b="1">
                <a:solidFill>
                  <a:srgbClr val="333333"/>
                </a:solidFill>
                <a:highlight>
                  <a:srgbClr val="FFFFFF"/>
                </a:highlight>
                <a:latin typeface="Georgia"/>
                <a:ea typeface="Georgia"/>
                <a:cs typeface="Georgia"/>
                <a:sym typeface="Georgia"/>
              </a:rPr>
              <a:t>Classificação</a:t>
            </a:r>
            <a:r>
              <a:rPr lang="pt-BR" sz="1200">
                <a:solidFill>
                  <a:srgbClr val="333333"/>
                </a:solidFill>
                <a:highlight>
                  <a:srgbClr val="FFFFFF"/>
                </a:highlight>
                <a:latin typeface="Georgia"/>
                <a:ea typeface="Georgia"/>
                <a:cs typeface="Georgia"/>
                <a:sym typeface="Georgia"/>
              </a:rPr>
              <a:t> 14 anos</a:t>
            </a:r>
            <a:endParaRPr sz="1200">
              <a:solidFill>
                <a:srgbClr val="333333"/>
              </a:solidFill>
              <a:highlight>
                <a:srgbClr val="FFFFFF"/>
              </a:highlight>
              <a:latin typeface="Georgia"/>
              <a:ea typeface="Georgia"/>
              <a:cs typeface="Georgia"/>
              <a:sym typeface="Georgia"/>
            </a:endParaRPr>
          </a:p>
          <a:p>
            <a:pPr marL="457200" lvl="0" indent="-304800" algn="l" rtl="0">
              <a:lnSpc>
                <a:spcPct val="115000"/>
              </a:lnSpc>
              <a:spcBef>
                <a:spcPts val="0"/>
              </a:spcBef>
              <a:spcAft>
                <a:spcPts val="0"/>
              </a:spcAft>
              <a:buClr>
                <a:srgbClr val="333333"/>
              </a:buClr>
              <a:buSzPts val="1200"/>
              <a:buFont typeface="Georgia"/>
              <a:buChar char="●"/>
            </a:pPr>
            <a:r>
              <a:rPr lang="pt-BR" sz="1200" b="1">
                <a:solidFill>
                  <a:srgbClr val="333333"/>
                </a:solidFill>
                <a:highlight>
                  <a:srgbClr val="FFFFFF"/>
                </a:highlight>
                <a:latin typeface="Georgia"/>
                <a:ea typeface="Georgia"/>
                <a:cs typeface="Georgia"/>
                <a:sym typeface="Georgia"/>
              </a:rPr>
              <a:t>Direção</a:t>
            </a:r>
            <a:r>
              <a:rPr lang="pt-BR" sz="1200">
                <a:solidFill>
                  <a:srgbClr val="333333"/>
                </a:solidFill>
                <a:highlight>
                  <a:srgbClr val="FFFFFF"/>
                </a:highlight>
                <a:latin typeface="Georgia"/>
                <a:ea typeface="Georgia"/>
                <a:cs typeface="Georgia"/>
                <a:sym typeface="Georgia"/>
              </a:rPr>
              <a:t> Felicity Morris</a:t>
            </a:r>
            <a:endParaRPr sz="1200">
              <a:solidFill>
                <a:srgbClr val="333333"/>
              </a:solidFill>
              <a:highlight>
                <a:srgbClr val="FFFFFF"/>
              </a:highlight>
              <a:latin typeface="Georgia"/>
              <a:ea typeface="Georgia"/>
              <a:cs typeface="Georgia"/>
              <a:sym typeface="Georgia"/>
            </a:endParaRPr>
          </a:p>
          <a:p>
            <a:pPr marL="0" lvl="0" indent="0" algn="l" rtl="0">
              <a:spcBef>
                <a:spcPts val="0"/>
              </a:spcBef>
              <a:spcAft>
                <a:spcPts val="0"/>
              </a:spcAft>
              <a:buNone/>
            </a:pPr>
            <a:endParaRPr>
              <a:latin typeface="Proxima Nova"/>
              <a:ea typeface="Proxima Nova"/>
              <a:cs typeface="Proxima Nova"/>
              <a:sym typeface="Proxima Nov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6"/>
                                        </p:tgtEl>
                                        <p:attrNameLst>
                                          <p:attrName>style.visibility</p:attrName>
                                        </p:attrNameLst>
                                      </p:cBhvr>
                                      <p:to>
                                        <p:strVal val="visible"/>
                                      </p:to>
                                    </p:set>
                                    <p:animEffect transition="in" filter="fade">
                                      <p:cBhvr>
                                        <p:cTn id="7" dur="1000"/>
                                        <p:tgtEl>
                                          <p:spTgt spid="1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32"/>
          <p:cNvSpPr txBox="1">
            <a:spLocks noGrp="1"/>
          </p:cNvSpPr>
          <p:nvPr>
            <p:ph type="title"/>
          </p:nvPr>
        </p:nvSpPr>
        <p:spPr>
          <a:xfrm>
            <a:off x="311700" y="5005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t-BR">
                <a:solidFill>
                  <a:srgbClr val="FF00FF"/>
                </a:solidFill>
              </a:rPr>
              <a:t>Resenha crítica:</a:t>
            </a:r>
            <a:r>
              <a:rPr lang="pt-BR"/>
              <a:t> exemplo 4</a:t>
            </a:r>
            <a:endParaRPr/>
          </a:p>
        </p:txBody>
      </p:sp>
      <p:sp>
        <p:nvSpPr>
          <p:cNvPr id="173" name="Google Shape;173;p32"/>
          <p:cNvSpPr txBox="1">
            <a:spLocks noGrp="1"/>
          </p:cNvSpPr>
          <p:nvPr>
            <p:ph type="body" idx="1"/>
          </p:nvPr>
        </p:nvSpPr>
        <p:spPr>
          <a:xfrm>
            <a:off x="311700" y="1017725"/>
            <a:ext cx="8520600" cy="4004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pt-BR" sz="1500" dirty="0">
                <a:solidFill>
                  <a:srgbClr val="333333"/>
                </a:solidFill>
                <a:highlight>
                  <a:srgbClr val="FFFFFF"/>
                </a:highlight>
                <a:latin typeface="Georgia"/>
                <a:ea typeface="Georgia"/>
                <a:cs typeface="Georgia"/>
                <a:sym typeface="Georgia"/>
              </a:rPr>
              <a:t>	</a:t>
            </a:r>
            <a:r>
              <a:rPr lang="pt-BR" sz="1500" b="1" i="1" dirty="0">
                <a:solidFill>
                  <a:srgbClr val="333333"/>
                </a:solidFill>
                <a:highlight>
                  <a:srgbClr val="FFFFFF"/>
                </a:highlight>
                <a:latin typeface="Bookman Old Style"/>
                <a:ea typeface="Bookman Old Style"/>
                <a:cs typeface="Bookman Old Style"/>
                <a:sym typeface="Bookman Old Style"/>
              </a:rPr>
              <a:t>O golpista do </a:t>
            </a:r>
            <a:r>
              <a:rPr lang="pt-BR" sz="1500" b="1" i="1" dirty="0" err="1">
                <a:solidFill>
                  <a:srgbClr val="333333"/>
                </a:solidFill>
                <a:highlight>
                  <a:srgbClr val="FFFFFF"/>
                </a:highlight>
                <a:latin typeface="Bookman Old Style"/>
                <a:ea typeface="Bookman Old Style"/>
                <a:cs typeface="Bookman Old Style"/>
                <a:sym typeface="Bookman Old Style"/>
              </a:rPr>
              <a:t>Tinder</a:t>
            </a:r>
            <a:r>
              <a:rPr lang="pt-BR" sz="1500" b="1" dirty="0">
                <a:solidFill>
                  <a:srgbClr val="333333"/>
                </a:solidFill>
                <a:highlight>
                  <a:srgbClr val="FFFFFF"/>
                </a:highlight>
                <a:latin typeface="Bookman Old Style"/>
                <a:ea typeface="Bookman Old Style"/>
                <a:cs typeface="Bookman Old Style"/>
                <a:sym typeface="Bookman Old Style"/>
              </a:rPr>
              <a:t> assombra ao detalhar esquema do canalha</a:t>
            </a:r>
            <a:endParaRPr sz="1500" b="1" dirty="0">
              <a:solidFill>
                <a:srgbClr val="333333"/>
              </a:solidFill>
              <a:highlight>
                <a:srgbClr val="FFFFFF"/>
              </a:highlight>
              <a:latin typeface="Bookman Old Style"/>
              <a:ea typeface="Bookman Old Style"/>
              <a:cs typeface="Bookman Old Style"/>
              <a:sym typeface="Bookman Old Style"/>
            </a:endParaRPr>
          </a:p>
          <a:p>
            <a:pPr marL="0" lvl="0" indent="457200" algn="l" rtl="0">
              <a:spcBef>
                <a:spcPts val="0"/>
              </a:spcBef>
              <a:spcAft>
                <a:spcPts val="0"/>
              </a:spcAft>
              <a:buNone/>
            </a:pPr>
            <a:r>
              <a:rPr lang="pt-BR" sz="1500" dirty="0">
                <a:solidFill>
                  <a:srgbClr val="333333"/>
                </a:solidFill>
                <a:highlight>
                  <a:srgbClr val="FFFFFF"/>
                </a:highlight>
                <a:latin typeface="Bookman Old Style"/>
                <a:ea typeface="Bookman Old Style"/>
                <a:cs typeface="Bookman Old Style"/>
                <a:sym typeface="Bookman Old Style"/>
              </a:rPr>
              <a:t>Ivan Finotti</a:t>
            </a:r>
            <a:endParaRPr sz="1500" dirty="0">
              <a:solidFill>
                <a:srgbClr val="333333"/>
              </a:solidFill>
              <a:highlight>
                <a:srgbClr val="FFFFFF"/>
              </a:highlight>
              <a:latin typeface="Bookman Old Style"/>
              <a:ea typeface="Bookman Old Style"/>
              <a:cs typeface="Bookman Old Style"/>
              <a:sym typeface="Bookman Old Style"/>
            </a:endParaRPr>
          </a:p>
          <a:p>
            <a:pPr marL="0" lvl="0" indent="0" algn="l" rtl="0">
              <a:spcBef>
                <a:spcPts val="0"/>
              </a:spcBef>
              <a:spcAft>
                <a:spcPts val="0"/>
              </a:spcAft>
              <a:buNone/>
            </a:pPr>
            <a:endParaRPr sz="1500">
              <a:solidFill>
                <a:srgbClr val="333333"/>
              </a:solidFill>
              <a:highlight>
                <a:srgbClr val="FFFFFF"/>
              </a:highlight>
              <a:latin typeface="Bookman Old Style"/>
              <a:ea typeface="Bookman Old Style"/>
              <a:cs typeface="Bookman Old Style"/>
              <a:sym typeface="Bookman Old Style"/>
            </a:endParaRPr>
          </a:p>
          <a:p>
            <a:pPr marL="0" lvl="0" indent="457200" algn="l" rtl="0">
              <a:spcBef>
                <a:spcPts val="1400"/>
              </a:spcBef>
              <a:spcAft>
                <a:spcPts val="0"/>
              </a:spcAft>
              <a:buNone/>
            </a:pPr>
            <a:r>
              <a:rPr lang="pt-BR" sz="1500" dirty="0">
                <a:solidFill>
                  <a:srgbClr val="333333"/>
                </a:solidFill>
                <a:highlight>
                  <a:srgbClr val="FFFFFF"/>
                </a:highlight>
                <a:latin typeface="Bookman Old Style"/>
                <a:ea typeface="Bookman Old Style"/>
                <a:cs typeface="Bookman Old Style"/>
                <a:sym typeface="Bookman Old Style"/>
              </a:rPr>
              <a:t>"Como algumas pessoas podem ser tão más?", pergunta a norueguesa </a:t>
            </a:r>
            <a:r>
              <a:rPr lang="pt-BR" sz="1500" err="1">
                <a:solidFill>
                  <a:srgbClr val="333333"/>
                </a:solidFill>
                <a:highlight>
                  <a:srgbClr val="FFFFFF"/>
                </a:highlight>
                <a:latin typeface="Bookman Old Style"/>
                <a:ea typeface="Bookman Old Style"/>
                <a:cs typeface="Bookman Old Style"/>
                <a:sym typeface="Bookman Old Style"/>
              </a:rPr>
              <a:t>Cecilie</a:t>
            </a:r>
            <a:r>
              <a:rPr lang="pt-BR" sz="1500" dirty="0">
                <a:solidFill>
                  <a:srgbClr val="333333"/>
                </a:solidFill>
                <a:highlight>
                  <a:srgbClr val="FFFFFF"/>
                </a:highlight>
                <a:latin typeface="Bookman Old Style"/>
                <a:ea typeface="Bookman Old Style"/>
                <a:cs typeface="Bookman Old Style"/>
                <a:sym typeface="Bookman Old Style"/>
              </a:rPr>
              <a:t> </a:t>
            </a:r>
            <a:r>
              <a:rPr lang="pt-BR" sz="1500" err="1">
                <a:solidFill>
                  <a:srgbClr val="333333"/>
                </a:solidFill>
                <a:highlight>
                  <a:srgbClr val="FFFFFF"/>
                </a:highlight>
                <a:latin typeface="Bookman Old Style"/>
                <a:ea typeface="Bookman Old Style"/>
                <a:cs typeface="Bookman Old Style"/>
                <a:sym typeface="Bookman Old Style"/>
              </a:rPr>
              <a:t>Fjellhøy</a:t>
            </a:r>
            <a:r>
              <a:rPr lang="pt-BR" sz="1500" dirty="0">
                <a:solidFill>
                  <a:srgbClr val="333333"/>
                </a:solidFill>
                <a:highlight>
                  <a:srgbClr val="FFFFFF"/>
                </a:highlight>
                <a:latin typeface="Bookman Old Style"/>
                <a:ea typeface="Bookman Old Style"/>
                <a:cs typeface="Bookman Old Style"/>
                <a:sym typeface="Bookman Old Style"/>
              </a:rPr>
              <a:t> a certa altura do </a:t>
            </a:r>
            <a:r>
              <a:rPr lang="pt-BR" sz="1500" dirty="0">
                <a:solidFill>
                  <a:srgbClr val="333333"/>
                </a:solidFill>
                <a:highlight>
                  <a:srgbClr val="FFFF00"/>
                </a:highlight>
                <a:latin typeface="Bookman Old Style"/>
                <a:ea typeface="Bookman Old Style"/>
                <a:cs typeface="Bookman Old Style"/>
                <a:sym typeface="Bookman Old Style"/>
              </a:rPr>
              <a:t>assombroso </a:t>
            </a:r>
            <a:r>
              <a:rPr lang="pt-BR" sz="1500" dirty="0">
                <a:solidFill>
                  <a:srgbClr val="333333"/>
                </a:solidFill>
                <a:highlight>
                  <a:srgbClr val="FFFFFF"/>
                </a:highlight>
                <a:latin typeface="Bookman Old Style"/>
                <a:ea typeface="Bookman Old Style"/>
                <a:cs typeface="Bookman Old Style"/>
                <a:sym typeface="Bookman Old Style"/>
              </a:rPr>
              <a:t>documentário "O Golpista do </a:t>
            </a:r>
            <a:r>
              <a:rPr lang="pt-BR" sz="1500" err="1">
                <a:solidFill>
                  <a:srgbClr val="333333"/>
                </a:solidFill>
                <a:highlight>
                  <a:srgbClr val="FFFFFF"/>
                </a:highlight>
                <a:latin typeface="Bookman Old Style"/>
                <a:ea typeface="Bookman Old Style"/>
                <a:cs typeface="Bookman Old Style"/>
                <a:sym typeface="Bookman Old Style"/>
              </a:rPr>
              <a:t>Tinder</a:t>
            </a:r>
            <a:r>
              <a:rPr lang="pt-BR" sz="1500" dirty="0">
                <a:solidFill>
                  <a:srgbClr val="333333"/>
                </a:solidFill>
                <a:highlight>
                  <a:srgbClr val="FFFFFF"/>
                </a:highlight>
                <a:latin typeface="Bookman Old Style"/>
                <a:ea typeface="Bookman Old Style"/>
                <a:cs typeface="Bookman Old Style"/>
                <a:sym typeface="Bookman Old Style"/>
              </a:rPr>
              <a:t>". </a:t>
            </a:r>
            <a:r>
              <a:rPr lang="pt-BR" sz="1500" err="1">
                <a:solidFill>
                  <a:srgbClr val="333333"/>
                </a:solidFill>
                <a:highlight>
                  <a:srgbClr val="FFFFFF"/>
                </a:highlight>
                <a:latin typeface="Bookman Old Style"/>
                <a:ea typeface="Bookman Old Style"/>
                <a:cs typeface="Bookman Old Style"/>
                <a:sym typeface="Bookman Old Style"/>
              </a:rPr>
              <a:t>Fjellhøy</a:t>
            </a:r>
            <a:r>
              <a:rPr lang="pt-BR" sz="1500" dirty="0">
                <a:solidFill>
                  <a:srgbClr val="333333"/>
                </a:solidFill>
                <a:highlight>
                  <a:srgbClr val="FFFFFF"/>
                </a:highlight>
                <a:latin typeface="Bookman Old Style"/>
                <a:ea typeface="Bookman Old Style"/>
                <a:cs typeface="Bookman Old Style"/>
                <a:sym typeface="Bookman Old Style"/>
              </a:rPr>
              <a:t> se apaixonou por um rapaz rico no aplicativo de namoro e, por alguns meses, viveu uma vida de sonhos.</a:t>
            </a:r>
            <a:endParaRPr sz="1500" dirty="0">
              <a:solidFill>
                <a:srgbClr val="333333"/>
              </a:solidFill>
              <a:highlight>
                <a:srgbClr val="FFFFFF"/>
              </a:highlight>
              <a:latin typeface="Bookman Old Style"/>
              <a:ea typeface="Bookman Old Style"/>
              <a:cs typeface="Bookman Old Style"/>
              <a:sym typeface="Bookman Old Style"/>
            </a:endParaRPr>
          </a:p>
          <a:p>
            <a:pPr marL="0" lvl="0" indent="457200" algn="l" rtl="0">
              <a:spcBef>
                <a:spcPts val="0"/>
              </a:spcBef>
              <a:spcAft>
                <a:spcPts val="0"/>
              </a:spcAft>
              <a:buNone/>
            </a:pPr>
            <a:r>
              <a:rPr lang="pt-BR" sz="1500">
                <a:solidFill>
                  <a:srgbClr val="333333"/>
                </a:solidFill>
                <a:highlight>
                  <a:srgbClr val="FFFFFF"/>
                </a:highlight>
                <a:latin typeface="Bookman Old Style"/>
                <a:ea typeface="Bookman Old Style"/>
                <a:cs typeface="Bookman Old Style"/>
                <a:sym typeface="Bookman Old Style"/>
              </a:rPr>
              <a:t>Algum tempo depois, ela descobriu que a traição do israelense Simon </a:t>
            </a:r>
            <a:r>
              <a:rPr lang="pt-BR" sz="1500" err="1">
                <a:solidFill>
                  <a:srgbClr val="333333"/>
                </a:solidFill>
                <a:highlight>
                  <a:srgbClr val="FFFFFF"/>
                </a:highlight>
                <a:latin typeface="Bookman Old Style"/>
                <a:ea typeface="Bookman Old Style"/>
                <a:cs typeface="Bookman Old Style"/>
                <a:sym typeface="Bookman Old Style"/>
              </a:rPr>
              <a:t>Leviev</a:t>
            </a:r>
            <a:r>
              <a:rPr lang="pt-BR" sz="1500">
                <a:solidFill>
                  <a:srgbClr val="333333"/>
                </a:solidFill>
                <a:highlight>
                  <a:srgbClr val="FFFFFF"/>
                </a:highlight>
                <a:latin typeface="Bookman Old Style"/>
                <a:ea typeface="Bookman Old Style"/>
                <a:cs typeface="Bookman Old Style"/>
                <a:sym typeface="Bookman Old Style"/>
              </a:rPr>
              <a:t> — um dos vários nomes usados pelo criminoso — não foi apenas amorosa. </a:t>
            </a:r>
            <a:r>
              <a:rPr lang="pt-BR" sz="1500" err="1">
                <a:solidFill>
                  <a:srgbClr val="333333"/>
                </a:solidFill>
                <a:highlight>
                  <a:srgbClr val="FFFFFF"/>
                </a:highlight>
                <a:latin typeface="Bookman Old Style"/>
                <a:ea typeface="Bookman Old Style"/>
                <a:cs typeface="Bookman Old Style"/>
                <a:sym typeface="Bookman Old Style"/>
              </a:rPr>
              <a:t>Fjellhøy</a:t>
            </a:r>
            <a:r>
              <a:rPr lang="pt-BR" sz="1500">
                <a:solidFill>
                  <a:srgbClr val="333333"/>
                </a:solidFill>
                <a:highlight>
                  <a:srgbClr val="FFFFFF"/>
                </a:highlight>
                <a:latin typeface="Bookman Old Style"/>
                <a:ea typeface="Bookman Old Style"/>
                <a:cs typeface="Bookman Old Style"/>
                <a:sym typeface="Bookman Old Style"/>
              </a:rPr>
              <a:t> descobriria que o dinheiro que pegou emprestado em nove bancos — mais de R$ 1 milhão —, servia para que o rapaz oferecesse os mesmos hotéis de luxo, jantares e jatinhos para suas novas conquistas.</a:t>
            </a:r>
            <a:endParaRPr sz="1500">
              <a:solidFill>
                <a:srgbClr val="333333"/>
              </a:solidFill>
              <a:highlight>
                <a:srgbClr val="FFFFFF"/>
              </a:highlight>
              <a:latin typeface="Bookman Old Style"/>
              <a:ea typeface="Bookman Old Style"/>
              <a:cs typeface="Bookman Old Style"/>
              <a:sym typeface="Bookman Old Style"/>
            </a:endParaRPr>
          </a:p>
          <a:p>
            <a:pPr marL="0" lvl="0" indent="457200" algn="l" rtl="0">
              <a:spcBef>
                <a:spcPts val="0"/>
              </a:spcBef>
              <a:spcAft>
                <a:spcPts val="0"/>
              </a:spcAft>
              <a:buNone/>
            </a:pPr>
            <a:endParaRPr sz="1500">
              <a:solidFill>
                <a:srgbClr val="333333"/>
              </a:solidFill>
              <a:highlight>
                <a:schemeClr val="accent6"/>
              </a:highlight>
              <a:latin typeface="Georgia"/>
              <a:ea typeface="Georgia"/>
              <a:cs typeface="Georgia"/>
              <a:sym typeface="Georgia"/>
            </a:endParaRPr>
          </a:p>
          <a:p>
            <a:pPr marL="0" lvl="0" indent="457200" algn="l" rtl="0">
              <a:spcBef>
                <a:spcPts val="0"/>
              </a:spcBef>
              <a:spcAft>
                <a:spcPts val="0"/>
              </a:spcAft>
              <a:buNone/>
            </a:pPr>
            <a:endParaRPr sz="1500">
              <a:solidFill>
                <a:srgbClr val="333333"/>
              </a:solidFill>
              <a:highlight>
                <a:srgbClr val="FFFFFF"/>
              </a:highlight>
              <a:latin typeface="Bookman Old Style"/>
              <a:ea typeface="Bookman Old Style"/>
              <a:cs typeface="Bookman Old Style"/>
              <a:sym typeface="Bookman Old Style"/>
            </a:endParaRPr>
          </a:p>
          <a:p>
            <a:pPr marL="0" lvl="0" indent="0" algn="l" rtl="0">
              <a:spcBef>
                <a:spcPts val="0"/>
              </a:spcBef>
              <a:spcAft>
                <a:spcPts val="0"/>
              </a:spcAft>
              <a:buNone/>
            </a:pPr>
            <a:endParaRPr sz="1100">
              <a:solidFill>
                <a:srgbClr val="000000"/>
              </a:solidFill>
              <a:latin typeface="Arial"/>
              <a:ea typeface="Arial"/>
              <a:cs typeface="Arial"/>
              <a:sym typeface="Arial"/>
            </a:endParaRPr>
          </a:p>
          <a:p>
            <a:pPr marL="0" lvl="0" indent="457200" algn="l" rtl="0">
              <a:spcBef>
                <a:spcPts val="0"/>
              </a:spcBef>
              <a:spcAft>
                <a:spcPts val="0"/>
              </a:spcAft>
              <a:buNone/>
            </a:pPr>
            <a:endParaRPr sz="1500">
              <a:solidFill>
                <a:srgbClr val="333333"/>
              </a:solidFill>
              <a:highlight>
                <a:srgbClr val="FFFFFF"/>
              </a:highlight>
              <a:latin typeface="Georgia"/>
              <a:ea typeface="Georgia"/>
              <a:cs typeface="Georgia"/>
              <a:sym typeface="Georgia"/>
            </a:endParaRPr>
          </a:p>
          <a:p>
            <a:pPr marL="0" lvl="0" indent="0" algn="l" rtl="0">
              <a:spcBef>
                <a:spcPts val="0"/>
              </a:spcBef>
              <a:spcAft>
                <a:spcPts val="0"/>
              </a:spcAft>
              <a:buNone/>
            </a:pPr>
            <a:endParaRPr sz="1300" u="sng">
              <a:solidFill>
                <a:srgbClr val="000000"/>
              </a:solidFill>
              <a:latin typeface="Bookman Old Style"/>
              <a:ea typeface="Bookman Old Style"/>
              <a:cs typeface="Bookman Old Style"/>
              <a:sym typeface="Bookman Old Style"/>
            </a:endParaRPr>
          </a:p>
          <a:p>
            <a:pPr marL="0" lvl="0" indent="0" algn="l" rtl="0">
              <a:spcBef>
                <a:spcPts val="0"/>
              </a:spcBef>
              <a:spcAft>
                <a:spcPts val="1200"/>
              </a:spcAft>
              <a:buNone/>
            </a:pP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33"/>
          <p:cNvSpPr txBox="1">
            <a:spLocks noGrp="1"/>
          </p:cNvSpPr>
          <p:nvPr>
            <p:ph type="title"/>
          </p:nvPr>
        </p:nvSpPr>
        <p:spPr>
          <a:xfrm>
            <a:off x="311700" y="5005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t-BR">
                <a:solidFill>
                  <a:srgbClr val="FF00FF"/>
                </a:solidFill>
              </a:rPr>
              <a:t>Resenha crítica:</a:t>
            </a:r>
            <a:r>
              <a:rPr lang="pt-BR"/>
              <a:t> exemplo 4</a:t>
            </a:r>
            <a:endParaRPr/>
          </a:p>
        </p:txBody>
      </p:sp>
      <p:sp>
        <p:nvSpPr>
          <p:cNvPr id="179" name="Google Shape;179;p33"/>
          <p:cNvSpPr txBox="1">
            <a:spLocks noGrp="1"/>
          </p:cNvSpPr>
          <p:nvPr>
            <p:ph type="body" idx="1"/>
          </p:nvPr>
        </p:nvSpPr>
        <p:spPr>
          <a:xfrm>
            <a:off x="311700" y="1017725"/>
            <a:ext cx="8520600" cy="4004400"/>
          </a:xfrm>
          <a:prstGeom prst="rect">
            <a:avLst/>
          </a:prstGeom>
        </p:spPr>
        <p:txBody>
          <a:bodyPr spcFirstLastPara="1" wrap="square" lIns="91425" tIns="91425" rIns="91425" bIns="91425" anchor="t" anchorCtr="0">
            <a:normAutofit fontScale="25000" lnSpcReduction="20000"/>
          </a:bodyPr>
          <a:lstStyle/>
          <a:p>
            <a:pPr marL="0" lvl="0" indent="0" algn="l" rtl="0">
              <a:spcBef>
                <a:spcPts val="0"/>
              </a:spcBef>
              <a:spcAft>
                <a:spcPts val="0"/>
              </a:spcAft>
              <a:buNone/>
            </a:pPr>
            <a:r>
              <a:rPr lang="pt-BR" sz="1500" dirty="0">
                <a:solidFill>
                  <a:srgbClr val="333333"/>
                </a:solidFill>
                <a:highlight>
                  <a:srgbClr val="FFFFFF"/>
                </a:highlight>
                <a:latin typeface="Georgia"/>
                <a:ea typeface="Georgia"/>
                <a:cs typeface="Georgia"/>
                <a:sym typeface="Georgia"/>
              </a:rPr>
              <a:t>	</a:t>
            </a:r>
            <a:r>
              <a:rPr lang="pt-BR" sz="6000" dirty="0">
                <a:solidFill>
                  <a:srgbClr val="333333"/>
                </a:solidFill>
                <a:highlight>
                  <a:srgbClr val="00FFFF"/>
                </a:highlight>
                <a:latin typeface="Bookman Old Style"/>
                <a:ea typeface="Bookman Old Style"/>
                <a:cs typeface="Bookman Old Style"/>
                <a:sym typeface="Bookman Old Style"/>
              </a:rPr>
              <a:t>Foi preciso muita coragem </a:t>
            </a:r>
            <a:r>
              <a:rPr lang="pt-BR" sz="6000" dirty="0">
                <a:solidFill>
                  <a:srgbClr val="333333"/>
                </a:solidFill>
                <a:highlight>
                  <a:srgbClr val="FFFFFF"/>
                </a:highlight>
                <a:latin typeface="Bookman Old Style"/>
                <a:ea typeface="Bookman Old Style"/>
                <a:cs typeface="Bookman Old Style"/>
                <a:sym typeface="Bookman Old Style"/>
              </a:rPr>
              <a:t>para que ela e duas outras vítimas do golpista topassem aparecer no documentário e detalhassem como foram enganadas. No caso da sueca Pernilla </a:t>
            </a:r>
            <a:r>
              <a:rPr lang="pt-BR" sz="6000" err="1">
                <a:solidFill>
                  <a:srgbClr val="333333"/>
                </a:solidFill>
                <a:highlight>
                  <a:srgbClr val="FFFFFF"/>
                </a:highlight>
                <a:latin typeface="Bookman Old Style"/>
                <a:ea typeface="Bookman Old Style"/>
                <a:cs typeface="Bookman Old Style"/>
                <a:sym typeface="Bookman Old Style"/>
              </a:rPr>
              <a:t>Sjoholm</a:t>
            </a:r>
            <a:r>
              <a:rPr lang="pt-BR" sz="6000" dirty="0">
                <a:solidFill>
                  <a:srgbClr val="333333"/>
                </a:solidFill>
                <a:highlight>
                  <a:srgbClr val="FFFFFF"/>
                </a:highlight>
                <a:latin typeface="Bookman Old Style"/>
                <a:ea typeface="Bookman Old Style"/>
                <a:cs typeface="Bookman Old Style"/>
                <a:sym typeface="Bookman Old Style"/>
              </a:rPr>
              <a:t>, não houve relação amorosa, ela conta. Mas se tornou uma grande amiga, daquelas que recebem convites do tipo "Paris amanhã?" e, claro, aceitam com satisfação. Meses depois, a rede de </a:t>
            </a:r>
            <a:r>
              <a:rPr lang="pt-BR" sz="6000" err="1">
                <a:solidFill>
                  <a:srgbClr val="333333"/>
                </a:solidFill>
                <a:highlight>
                  <a:srgbClr val="FFFFFF"/>
                </a:highlight>
                <a:latin typeface="Bookman Old Style"/>
                <a:ea typeface="Bookman Old Style"/>
                <a:cs typeface="Bookman Old Style"/>
                <a:sym typeface="Bookman Old Style"/>
              </a:rPr>
              <a:t>Leviev</a:t>
            </a:r>
            <a:r>
              <a:rPr lang="pt-BR" sz="6000" dirty="0">
                <a:solidFill>
                  <a:srgbClr val="333333"/>
                </a:solidFill>
                <a:highlight>
                  <a:srgbClr val="FFFFFF"/>
                </a:highlight>
                <a:latin typeface="Bookman Old Style"/>
                <a:ea typeface="Bookman Old Style"/>
                <a:cs typeface="Bookman Old Style"/>
                <a:sym typeface="Bookman Old Style"/>
              </a:rPr>
              <a:t> se fecha em torno dela, assim como tinha sido com </a:t>
            </a:r>
            <a:r>
              <a:rPr lang="pt-BR" sz="6000" err="1">
                <a:solidFill>
                  <a:srgbClr val="333333"/>
                </a:solidFill>
                <a:highlight>
                  <a:srgbClr val="FFFFFF"/>
                </a:highlight>
                <a:latin typeface="Bookman Old Style"/>
                <a:ea typeface="Bookman Old Style"/>
                <a:cs typeface="Bookman Old Style"/>
                <a:sym typeface="Bookman Old Style"/>
              </a:rPr>
              <a:t>Fjellhøy</a:t>
            </a:r>
            <a:r>
              <a:rPr lang="pt-BR" sz="6000" dirty="0">
                <a:solidFill>
                  <a:srgbClr val="333333"/>
                </a:solidFill>
                <a:highlight>
                  <a:srgbClr val="FFFFFF"/>
                </a:highlight>
                <a:latin typeface="Bookman Old Style"/>
                <a:ea typeface="Bookman Old Style"/>
                <a:cs typeface="Bookman Old Style"/>
                <a:sym typeface="Bookman Old Style"/>
              </a:rPr>
              <a:t>.</a:t>
            </a:r>
            <a:endParaRPr sz="6000" dirty="0">
              <a:solidFill>
                <a:srgbClr val="333333"/>
              </a:solidFill>
              <a:highlight>
                <a:srgbClr val="FFFFFF"/>
              </a:highlight>
              <a:latin typeface="Bookman Old Style"/>
              <a:ea typeface="Bookman Old Style"/>
              <a:cs typeface="Bookman Old Style"/>
              <a:sym typeface="Bookman Old Style"/>
            </a:endParaRPr>
          </a:p>
          <a:p>
            <a:pPr marL="0" lvl="0" indent="457200" algn="l" rtl="0">
              <a:spcBef>
                <a:spcPts val="0"/>
              </a:spcBef>
              <a:spcAft>
                <a:spcPts val="0"/>
              </a:spcAft>
              <a:buNone/>
            </a:pPr>
            <a:r>
              <a:rPr lang="pt-BR" sz="6000" dirty="0">
                <a:solidFill>
                  <a:srgbClr val="333333"/>
                </a:solidFill>
                <a:highlight>
                  <a:srgbClr val="FFFFFF"/>
                </a:highlight>
                <a:latin typeface="Bookman Old Style"/>
                <a:ea typeface="Bookman Old Style"/>
                <a:cs typeface="Bookman Old Style"/>
                <a:sym typeface="Bookman Old Style"/>
              </a:rPr>
              <a:t>Acreditando que o rapaz fosse filho de um bilionário rei dos diamantes, elas recebem fotos de </a:t>
            </a:r>
            <a:r>
              <a:rPr lang="pt-BR" sz="6000" dirty="0" err="1">
                <a:solidFill>
                  <a:srgbClr val="333333"/>
                </a:solidFill>
                <a:highlight>
                  <a:srgbClr val="FFFFFF"/>
                </a:highlight>
                <a:latin typeface="Bookman Old Style"/>
                <a:ea typeface="Bookman Old Style"/>
                <a:cs typeface="Bookman Old Style"/>
                <a:sym typeface="Bookman Old Style"/>
              </a:rPr>
              <a:t>Leviev</a:t>
            </a:r>
            <a:r>
              <a:rPr lang="pt-BR" sz="6000" dirty="0">
                <a:solidFill>
                  <a:srgbClr val="333333"/>
                </a:solidFill>
                <a:highlight>
                  <a:srgbClr val="FFFFFF"/>
                </a:highlight>
                <a:latin typeface="Bookman Old Style"/>
                <a:ea typeface="Bookman Old Style"/>
                <a:cs typeface="Bookman Old Style"/>
                <a:sym typeface="Bookman Old Style"/>
              </a:rPr>
              <a:t> e de seu segurança banhados em sangue, com a história de que adversários do ramo das pedras preciosas tinham tentado matar os dois. A partir daí, o golpista passa a pedir dinheiro das moças para fugir. Diz que seus cartões não podem mais ser usados porque perseguidores poderiam rastrear seus passos.</a:t>
            </a:r>
            <a:endParaRPr sz="6000">
              <a:solidFill>
                <a:srgbClr val="333333"/>
              </a:solidFill>
              <a:highlight>
                <a:srgbClr val="FFFFFF"/>
              </a:highlight>
              <a:latin typeface="Bookman Old Style"/>
              <a:ea typeface="Bookman Old Style"/>
              <a:cs typeface="Bookman Old Style"/>
            </a:endParaRPr>
          </a:p>
          <a:p>
            <a:pPr marL="0" lvl="0" indent="457200" algn="l" rtl="0">
              <a:spcBef>
                <a:spcPts val="0"/>
              </a:spcBef>
              <a:spcAft>
                <a:spcPts val="0"/>
              </a:spcAft>
              <a:buNone/>
            </a:pPr>
            <a:r>
              <a:rPr lang="pt-BR" sz="6000" dirty="0">
                <a:solidFill>
                  <a:srgbClr val="333333"/>
                </a:solidFill>
                <a:latin typeface="Bookman Old Style"/>
                <a:ea typeface="Bookman Old Style"/>
                <a:cs typeface="Bookman Old Style"/>
                <a:sym typeface="Bookman Old Style"/>
              </a:rPr>
              <a:t>Na segunda parte do filme, entra em cena o jornal norueguês VG, que, após ser procurado pelas vítimas, conseguiu desmascarar o sujeito em uma reportagem de fevereiro de 2019. Uma equipe viaja até Israel, onde encontra a casa da família de </a:t>
            </a:r>
            <a:r>
              <a:rPr lang="pt-BR" sz="6000" dirty="0" err="1">
                <a:solidFill>
                  <a:srgbClr val="333333"/>
                </a:solidFill>
                <a:latin typeface="Bookman Old Style"/>
                <a:ea typeface="Bookman Old Style"/>
                <a:cs typeface="Bookman Old Style"/>
                <a:sym typeface="Bookman Old Style"/>
              </a:rPr>
              <a:t>Leviev</a:t>
            </a:r>
            <a:r>
              <a:rPr lang="pt-BR" sz="6000" dirty="0">
                <a:solidFill>
                  <a:srgbClr val="333333"/>
                </a:solidFill>
                <a:latin typeface="Bookman Old Style"/>
                <a:ea typeface="Bookman Old Style"/>
                <a:cs typeface="Bookman Old Style"/>
                <a:sym typeface="Bookman Old Style"/>
              </a:rPr>
              <a:t>, um pequeno prédio de apartamentos nos subúrbios pobres de </a:t>
            </a:r>
            <a:r>
              <a:rPr lang="pt-BR" sz="6000" dirty="0" err="1">
                <a:solidFill>
                  <a:srgbClr val="333333"/>
                </a:solidFill>
                <a:latin typeface="Bookman Old Style"/>
                <a:ea typeface="Bookman Old Style"/>
                <a:cs typeface="Bookman Old Style"/>
                <a:sym typeface="Bookman Old Style"/>
              </a:rPr>
              <a:t>Tel</a:t>
            </a:r>
            <a:r>
              <a:rPr lang="pt-BR" sz="6000" dirty="0">
                <a:solidFill>
                  <a:srgbClr val="333333"/>
                </a:solidFill>
                <a:latin typeface="Bookman Old Style"/>
                <a:ea typeface="Bookman Old Style"/>
                <a:cs typeface="Bookman Old Style"/>
                <a:sym typeface="Bookman Old Style"/>
              </a:rPr>
              <a:t> Aviv. A cena em que os jornalistas confrontam a mãe do golpista, uma típica dona de casa de meia-idade, </a:t>
            </a:r>
            <a:r>
              <a:rPr lang="pt-BR" sz="6000" dirty="0">
                <a:solidFill>
                  <a:srgbClr val="333333"/>
                </a:solidFill>
                <a:highlight>
                  <a:srgbClr val="FFFF00"/>
                </a:highlight>
                <a:latin typeface="Bookman Old Style"/>
                <a:ea typeface="Bookman Old Style"/>
                <a:cs typeface="Bookman Old Style"/>
                <a:sym typeface="Bookman Old Style"/>
              </a:rPr>
              <a:t>é uma das mais tristes do documentário.</a:t>
            </a:r>
            <a:endParaRPr sz="6000">
              <a:solidFill>
                <a:srgbClr val="333333"/>
              </a:solidFill>
              <a:highlight>
                <a:srgbClr val="FFFF00"/>
              </a:highlight>
              <a:latin typeface="Bookman Old Style"/>
              <a:ea typeface="Bookman Old Style"/>
              <a:cs typeface="Bookman Old Style"/>
            </a:endParaRPr>
          </a:p>
          <a:p>
            <a:pPr marL="0" lvl="0" indent="457200" algn="l" rtl="0">
              <a:spcBef>
                <a:spcPts val="0"/>
              </a:spcBef>
              <a:spcAft>
                <a:spcPts val="0"/>
              </a:spcAft>
              <a:buNone/>
            </a:pPr>
            <a:endParaRPr sz="6000">
              <a:solidFill>
                <a:srgbClr val="333333"/>
              </a:solidFill>
              <a:latin typeface="Bookman Old Style"/>
              <a:ea typeface="Bookman Old Style"/>
              <a:cs typeface="Bookman Old Style"/>
              <a:sym typeface="Bookman Old Style"/>
            </a:endParaRPr>
          </a:p>
          <a:p>
            <a:pPr marL="0" lvl="0" indent="457200" algn="l" rtl="0">
              <a:spcBef>
                <a:spcPts val="0"/>
              </a:spcBef>
              <a:spcAft>
                <a:spcPts val="0"/>
              </a:spcAft>
              <a:buNone/>
            </a:pPr>
            <a:endParaRPr sz="5600">
              <a:solidFill>
                <a:srgbClr val="333333"/>
              </a:solidFill>
              <a:highlight>
                <a:srgbClr val="FFFFFF"/>
              </a:highlight>
              <a:latin typeface="Bookman Old Style"/>
              <a:ea typeface="Bookman Old Style"/>
              <a:cs typeface="Bookman Old Style"/>
              <a:sym typeface="Bookman Old Style"/>
            </a:endParaRPr>
          </a:p>
          <a:p>
            <a:pPr marL="0" lvl="0" indent="0" algn="l" rtl="0">
              <a:spcBef>
                <a:spcPts val="1400"/>
              </a:spcBef>
              <a:spcAft>
                <a:spcPts val="0"/>
              </a:spcAft>
              <a:buNone/>
            </a:pPr>
            <a:endParaRPr sz="5600">
              <a:solidFill>
                <a:srgbClr val="000000"/>
              </a:solidFill>
              <a:latin typeface="Bookman Old Style"/>
              <a:ea typeface="Bookman Old Style"/>
              <a:cs typeface="Bookman Old Style"/>
              <a:sym typeface="Bookman Old Style"/>
            </a:endParaRPr>
          </a:p>
          <a:p>
            <a:pPr marL="0" lvl="0" indent="457200" algn="l" rtl="0">
              <a:spcBef>
                <a:spcPts val="0"/>
              </a:spcBef>
              <a:spcAft>
                <a:spcPts val="0"/>
              </a:spcAft>
              <a:buNone/>
            </a:pPr>
            <a:endParaRPr sz="1600">
              <a:solidFill>
                <a:srgbClr val="333333"/>
              </a:solidFill>
              <a:highlight>
                <a:srgbClr val="FFFFFF"/>
              </a:highlight>
              <a:latin typeface="Bookman Old Style"/>
              <a:ea typeface="Bookman Old Style"/>
              <a:cs typeface="Bookman Old Style"/>
              <a:sym typeface="Bookman Old Style"/>
            </a:endParaRPr>
          </a:p>
          <a:p>
            <a:pPr marL="0" lvl="0" indent="0" algn="l" rtl="0">
              <a:spcBef>
                <a:spcPts val="1400"/>
              </a:spcBef>
              <a:spcAft>
                <a:spcPts val="0"/>
              </a:spcAft>
              <a:buNone/>
            </a:pPr>
            <a:endParaRPr sz="1500">
              <a:solidFill>
                <a:srgbClr val="333333"/>
              </a:solidFill>
              <a:highlight>
                <a:srgbClr val="FFFFFF"/>
              </a:highlight>
              <a:latin typeface="Georgia"/>
              <a:ea typeface="Georgia"/>
              <a:cs typeface="Georgia"/>
              <a:sym typeface="Georgia"/>
            </a:endParaRPr>
          </a:p>
          <a:p>
            <a:pPr marL="0" lvl="0" indent="457200" algn="l" rtl="0">
              <a:spcBef>
                <a:spcPts val="0"/>
              </a:spcBef>
              <a:spcAft>
                <a:spcPts val="0"/>
              </a:spcAft>
              <a:buNone/>
            </a:pPr>
            <a:endParaRPr sz="1500">
              <a:solidFill>
                <a:srgbClr val="333333"/>
              </a:solidFill>
              <a:highlight>
                <a:schemeClr val="accent6"/>
              </a:highlight>
              <a:latin typeface="Georgia"/>
              <a:ea typeface="Georgia"/>
              <a:cs typeface="Georgia"/>
              <a:sym typeface="Georgia"/>
            </a:endParaRPr>
          </a:p>
          <a:p>
            <a:pPr marL="0" lvl="0" indent="457200" algn="l" rtl="0">
              <a:spcBef>
                <a:spcPts val="0"/>
              </a:spcBef>
              <a:spcAft>
                <a:spcPts val="0"/>
              </a:spcAft>
              <a:buNone/>
            </a:pPr>
            <a:endParaRPr sz="1500">
              <a:solidFill>
                <a:srgbClr val="333333"/>
              </a:solidFill>
              <a:highlight>
                <a:srgbClr val="FFFFFF"/>
              </a:highlight>
              <a:latin typeface="Bookman Old Style"/>
              <a:ea typeface="Bookman Old Style"/>
              <a:cs typeface="Bookman Old Style"/>
              <a:sym typeface="Bookman Old Style"/>
            </a:endParaRPr>
          </a:p>
          <a:p>
            <a:pPr marL="0" lvl="0" indent="0" algn="l" rtl="0">
              <a:spcBef>
                <a:spcPts val="0"/>
              </a:spcBef>
              <a:spcAft>
                <a:spcPts val="0"/>
              </a:spcAft>
              <a:buNone/>
            </a:pPr>
            <a:endParaRPr sz="1100">
              <a:solidFill>
                <a:srgbClr val="000000"/>
              </a:solidFill>
              <a:latin typeface="Arial"/>
              <a:ea typeface="Arial"/>
              <a:cs typeface="Arial"/>
              <a:sym typeface="Arial"/>
            </a:endParaRPr>
          </a:p>
          <a:p>
            <a:pPr marL="0" lvl="0" indent="457200" algn="l" rtl="0">
              <a:spcBef>
                <a:spcPts val="0"/>
              </a:spcBef>
              <a:spcAft>
                <a:spcPts val="0"/>
              </a:spcAft>
              <a:buNone/>
            </a:pPr>
            <a:endParaRPr sz="1500">
              <a:solidFill>
                <a:srgbClr val="333333"/>
              </a:solidFill>
              <a:highlight>
                <a:srgbClr val="FFFFFF"/>
              </a:highlight>
              <a:latin typeface="Georgia"/>
              <a:ea typeface="Georgia"/>
              <a:cs typeface="Georgia"/>
              <a:sym typeface="Georgia"/>
            </a:endParaRPr>
          </a:p>
          <a:p>
            <a:pPr marL="0" lvl="0" indent="0" algn="l" rtl="0">
              <a:spcBef>
                <a:spcPts val="0"/>
              </a:spcBef>
              <a:spcAft>
                <a:spcPts val="0"/>
              </a:spcAft>
              <a:buNone/>
            </a:pPr>
            <a:endParaRPr sz="1300" u="sng">
              <a:solidFill>
                <a:srgbClr val="000000"/>
              </a:solidFill>
              <a:latin typeface="Bookman Old Style"/>
              <a:ea typeface="Bookman Old Style"/>
              <a:cs typeface="Bookman Old Style"/>
              <a:sym typeface="Bookman Old Style"/>
            </a:endParaRPr>
          </a:p>
          <a:p>
            <a:pPr marL="0" lvl="0" indent="0" algn="l" rtl="0">
              <a:spcBef>
                <a:spcPts val="0"/>
              </a:spcBef>
              <a:spcAft>
                <a:spcPts val="1200"/>
              </a:spcAft>
              <a:buNone/>
            </a:pP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34"/>
          <p:cNvSpPr txBox="1">
            <a:spLocks noGrp="1"/>
          </p:cNvSpPr>
          <p:nvPr>
            <p:ph type="title"/>
          </p:nvPr>
        </p:nvSpPr>
        <p:spPr>
          <a:xfrm>
            <a:off x="311700" y="5005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t-BR">
                <a:solidFill>
                  <a:srgbClr val="FF00FF"/>
                </a:solidFill>
              </a:rPr>
              <a:t>Resenha crítica:</a:t>
            </a:r>
            <a:r>
              <a:rPr lang="pt-BR"/>
              <a:t> exemplo 4</a:t>
            </a:r>
            <a:endParaRPr/>
          </a:p>
        </p:txBody>
      </p:sp>
      <p:sp>
        <p:nvSpPr>
          <p:cNvPr id="185" name="Google Shape;185;p34"/>
          <p:cNvSpPr txBox="1">
            <a:spLocks noGrp="1"/>
          </p:cNvSpPr>
          <p:nvPr>
            <p:ph type="body" idx="1"/>
          </p:nvPr>
        </p:nvSpPr>
        <p:spPr>
          <a:xfrm>
            <a:off x="311700" y="1017725"/>
            <a:ext cx="8520600" cy="4004400"/>
          </a:xfrm>
          <a:prstGeom prst="rect">
            <a:avLst/>
          </a:prstGeom>
        </p:spPr>
        <p:txBody>
          <a:bodyPr spcFirstLastPara="1" wrap="square" lIns="91425" tIns="91425" rIns="91425" bIns="91425" anchor="t" anchorCtr="0">
            <a:normAutofit fontScale="25000" lnSpcReduction="20000"/>
          </a:bodyPr>
          <a:lstStyle/>
          <a:p>
            <a:pPr marL="0" lvl="0" indent="0" algn="l" rtl="0">
              <a:spcBef>
                <a:spcPts val="0"/>
              </a:spcBef>
              <a:spcAft>
                <a:spcPts val="0"/>
              </a:spcAft>
              <a:buNone/>
            </a:pPr>
            <a:r>
              <a:rPr lang="pt-BR" sz="1500" dirty="0">
                <a:solidFill>
                  <a:srgbClr val="333333"/>
                </a:solidFill>
                <a:highlight>
                  <a:srgbClr val="FFFFFF"/>
                </a:highlight>
                <a:latin typeface="Georgia"/>
                <a:ea typeface="Georgia"/>
                <a:cs typeface="Georgia"/>
                <a:sym typeface="Georgia"/>
              </a:rPr>
              <a:t>	</a:t>
            </a:r>
            <a:r>
              <a:rPr lang="pt-BR" sz="5600" dirty="0">
                <a:solidFill>
                  <a:srgbClr val="333333"/>
                </a:solidFill>
                <a:highlight>
                  <a:srgbClr val="FFFFFF"/>
                </a:highlight>
                <a:latin typeface="Bookman Old Style"/>
                <a:ea typeface="Bookman Old Style"/>
                <a:cs typeface="Bookman Old Style"/>
                <a:sym typeface="Bookman Old Style"/>
              </a:rPr>
              <a:t>Na segunda parte também aparece a holandesa </a:t>
            </a:r>
            <a:r>
              <a:rPr lang="pt-BR" sz="5600" dirty="0" err="1">
                <a:solidFill>
                  <a:srgbClr val="333333"/>
                </a:solidFill>
                <a:highlight>
                  <a:srgbClr val="FFFFFF"/>
                </a:highlight>
                <a:latin typeface="Bookman Old Style"/>
                <a:ea typeface="Bookman Old Style"/>
                <a:cs typeface="Bookman Old Style"/>
                <a:sym typeface="Bookman Old Style"/>
              </a:rPr>
              <a:t>Ayleen</a:t>
            </a:r>
            <a:r>
              <a:rPr lang="pt-BR" sz="5600" dirty="0">
                <a:solidFill>
                  <a:srgbClr val="333333"/>
                </a:solidFill>
                <a:highlight>
                  <a:srgbClr val="FFFFFF"/>
                </a:highlight>
                <a:latin typeface="Bookman Old Style"/>
                <a:ea typeface="Bookman Old Style"/>
                <a:cs typeface="Bookman Old Style"/>
                <a:sym typeface="Bookman Old Style"/>
              </a:rPr>
              <a:t> Charlotte, que conseguirá se vingar e recuperar um pouco do dinheiro que perdeu.</a:t>
            </a:r>
            <a:endParaRPr sz="5600" dirty="0">
              <a:solidFill>
                <a:srgbClr val="333333"/>
              </a:solidFill>
              <a:highlight>
                <a:srgbClr val="FFFFFF"/>
              </a:highlight>
              <a:latin typeface="Bookman Old Style"/>
              <a:ea typeface="Bookman Old Style"/>
              <a:cs typeface="Bookman Old Style"/>
              <a:sym typeface="Bookman Old Style"/>
            </a:endParaRPr>
          </a:p>
          <a:p>
            <a:pPr marL="0" lvl="0" indent="457200" algn="l" rtl="0">
              <a:spcBef>
                <a:spcPts val="0"/>
              </a:spcBef>
              <a:spcAft>
                <a:spcPts val="0"/>
              </a:spcAft>
              <a:buNone/>
            </a:pPr>
            <a:r>
              <a:rPr lang="pt-BR" sz="5600" dirty="0">
                <a:solidFill>
                  <a:srgbClr val="333333"/>
                </a:solidFill>
                <a:highlight>
                  <a:schemeClr val="lt1"/>
                </a:highlight>
                <a:latin typeface="Bookman Old Style"/>
                <a:ea typeface="Bookman Old Style"/>
                <a:cs typeface="Bookman Old Style"/>
                <a:sym typeface="Bookman Old Style"/>
              </a:rPr>
              <a:t>De alguma forma, as mulheres e o jornal conseguem descobrir onde Simon </a:t>
            </a:r>
            <a:r>
              <a:rPr lang="pt-BR" sz="5600" dirty="0" err="1">
                <a:solidFill>
                  <a:srgbClr val="333333"/>
                </a:solidFill>
                <a:highlight>
                  <a:schemeClr val="lt1"/>
                </a:highlight>
                <a:latin typeface="Bookman Old Style"/>
                <a:ea typeface="Bookman Old Style"/>
                <a:cs typeface="Bookman Old Style"/>
                <a:sym typeface="Bookman Old Style"/>
              </a:rPr>
              <a:t>Leviev</a:t>
            </a:r>
            <a:r>
              <a:rPr lang="pt-BR" sz="5600" dirty="0">
                <a:solidFill>
                  <a:srgbClr val="333333"/>
                </a:solidFill>
                <a:highlight>
                  <a:schemeClr val="lt1"/>
                </a:highlight>
                <a:latin typeface="Bookman Old Style"/>
                <a:ea typeface="Bookman Old Style"/>
                <a:cs typeface="Bookman Old Style"/>
                <a:sym typeface="Bookman Old Style"/>
              </a:rPr>
              <a:t> estará em dado momento e alertam as autoridades. Ele acaba preso por usar passaporte falso, mas é solto em apenas cinco meses.</a:t>
            </a:r>
            <a:endParaRPr sz="5600" dirty="0">
              <a:solidFill>
                <a:srgbClr val="333333"/>
              </a:solidFill>
              <a:highlight>
                <a:schemeClr val="lt1"/>
              </a:highlight>
              <a:latin typeface="Bookman Old Style"/>
              <a:ea typeface="Bookman Old Style"/>
              <a:cs typeface="Bookman Old Style"/>
              <a:sym typeface="Bookman Old Style"/>
            </a:endParaRPr>
          </a:p>
          <a:p>
            <a:pPr marL="0" lvl="0" indent="457200" algn="l" rtl="0">
              <a:spcBef>
                <a:spcPts val="0"/>
              </a:spcBef>
              <a:spcAft>
                <a:spcPts val="0"/>
              </a:spcAft>
              <a:buNone/>
            </a:pPr>
            <a:r>
              <a:rPr lang="pt-BR" sz="5600" dirty="0">
                <a:solidFill>
                  <a:srgbClr val="333333"/>
                </a:solidFill>
                <a:highlight>
                  <a:srgbClr val="00FFFF"/>
                </a:highlight>
                <a:latin typeface="Bookman Old Style"/>
                <a:ea typeface="Bookman Old Style"/>
                <a:cs typeface="Bookman Old Style"/>
                <a:sym typeface="Bookman Old Style"/>
              </a:rPr>
              <a:t>É inacreditável que o </a:t>
            </a:r>
            <a:r>
              <a:rPr lang="pt-BR" sz="5600" err="1">
                <a:solidFill>
                  <a:srgbClr val="333333"/>
                </a:solidFill>
                <a:highlight>
                  <a:srgbClr val="00FFFF"/>
                </a:highlight>
                <a:latin typeface="Bookman Old Style"/>
                <a:ea typeface="Bookman Old Style"/>
                <a:cs typeface="Bookman Old Style"/>
                <a:sym typeface="Bookman Old Style"/>
              </a:rPr>
              <a:t>Tinder</a:t>
            </a:r>
            <a:r>
              <a:rPr lang="pt-BR" sz="5600" dirty="0">
                <a:solidFill>
                  <a:srgbClr val="333333"/>
                </a:solidFill>
                <a:highlight>
                  <a:srgbClr val="00FFFF"/>
                </a:highlight>
                <a:latin typeface="Bookman Old Style"/>
                <a:ea typeface="Bookman Old Style"/>
                <a:cs typeface="Bookman Old Style"/>
                <a:sym typeface="Bookman Old Style"/>
              </a:rPr>
              <a:t> tenha cancelado a conta do estelionatário apenas agora</a:t>
            </a:r>
            <a:r>
              <a:rPr lang="pt-BR" sz="5600" dirty="0">
                <a:solidFill>
                  <a:srgbClr val="333333"/>
                </a:solidFill>
                <a:highlight>
                  <a:schemeClr val="lt1"/>
                </a:highlight>
                <a:latin typeface="Bookman Old Style"/>
                <a:ea typeface="Bookman Old Style"/>
                <a:cs typeface="Bookman Old Style"/>
                <a:sym typeface="Bookman Old Style"/>
              </a:rPr>
              <a:t>, após a estreia e repercussão desse documentário na Netflix. E que </a:t>
            </a:r>
            <a:r>
              <a:rPr lang="pt-BR" sz="5600" err="1">
                <a:solidFill>
                  <a:srgbClr val="333333"/>
                </a:solidFill>
                <a:highlight>
                  <a:schemeClr val="lt1"/>
                </a:highlight>
                <a:latin typeface="Bookman Old Style"/>
                <a:ea typeface="Bookman Old Style"/>
                <a:cs typeface="Bookman Old Style"/>
                <a:sym typeface="Bookman Old Style"/>
              </a:rPr>
              <a:t>Leviev</a:t>
            </a:r>
            <a:r>
              <a:rPr lang="pt-BR" sz="5600" dirty="0">
                <a:solidFill>
                  <a:srgbClr val="333333"/>
                </a:solidFill>
                <a:highlight>
                  <a:schemeClr val="lt1"/>
                </a:highlight>
                <a:latin typeface="Bookman Old Style"/>
                <a:ea typeface="Bookman Old Style"/>
                <a:cs typeface="Bookman Old Style"/>
                <a:sym typeface="Bookman Old Style"/>
              </a:rPr>
              <a:t> continue solto, vivendo uma boa vida às custas de traições e humilhando mulheres que, por um grande azar, deram </a:t>
            </a:r>
            <a:r>
              <a:rPr lang="pt-BR" sz="5600" i="1" dirty="0">
                <a:solidFill>
                  <a:srgbClr val="333333"/>
                </a:solidFill>
                <a:highlight>
                  <a:schemeClr val="lt1"/>
                </a:highlight>
                <a:latin typeface="Bookman Old Style"/>
                <a:ea typeface="Bookman Old Style"/>
                <a:cs typeface="Bookman Old Style"/>
                <a:sym typeface="Bookman Old Style"/>
              </a:rPr>
              <a:t>like</a:t>
            </a:r>
            <a:r>
              <a:rPr lang="pt-BR" sz="5600" dirty="0">
                <a:solidFill>
                  <a:srgbClr val="333333"/>
                </a:solidFill>
                <a:highlight>
                  <a:schemeClr val="lt1"/>
                </a:highlight>
                <a:latin typeface="Bookman Old Style"/>
                <a:ea typeface="Bookman Old Style"/>
                <a:cs typeface="Bookman Old Style"/>
                <a:sym typeface="Bookman Old Style"/>
              </a:rPr>
              <a:t> em seu perfil. Em entrevista recente a um canal de televisão de Israel, onde vive hoje, </a:t>
            </a:r>
            <a:r>
              <a:rPr lang="pt-BR" sz="5600" err="1">
                <a:solidFill>
                  <a:srgbClr val="333333"/>
                </a:solidFill>
                <a:highlight>
                  <a:schemeClr val="lt1"/>
                </a:highlight>
                <a:latin typeface="Bookman Old Style"/>
                <a:ea typeface="Bookman Old Style"/>
                <a:cs typeface="Bookman Old Style"/>
                <a:sym typeface="Bookman Old Style"/>
              </a:rPr>
              <a:t>Leviev</a:t>
            </a:r>
            <a:r>
              <a:rPr lang="pt-BR" sz="5600" dirty="0">
                <a:solidFill>
                  <a:srgbClr val="333333"/>
                </a:solidFill>
                <a:highlight>
                  <a:schemeClr val="lt1"/>
                </a:highlight>
                <a:latin typeface="Bookman Old Style"/>
                <a:ea typeface="Bookman Old Style"/>
                <a:cs typeface="Bookman Old Style"/>
                <a:sym typeface="Bookman Old Style"/>
              </a:rPr>
              <a:t> afirmou que pretende contar sua versão da história em breve.  “Talvez elas não gostassem de estar em um relacionamento comigo, ou elas não gostam da maneira como eu ajo. Talvez eu tenha partido seus corações durante o processo. Nunca tirei um dólar delas, essas mulheres se divertiam na minha empresa, viajavam e viam o mundo com meu dinheiro", afirmou o canalha.</a:t>
            </a:r>
            <a:endParaRPr sz="5600" dirty="0">
              <a:solidFill>
                <a:srgbClr val="333333"/>
              </a:solidFill>
              <a:highlight>
                <a:schemeClr val="lt1"/>
              </a:highlight>
              <a:latin typeface="Bookman Old Style"/>
              <a:ea typeface="Bookman Old Style"/>
              <a:cs typeface="Bookman Old Style"/>
              <a:sym typeface="Bookman Old Style"/>
            </a:endParaRPr>
          </a:p>
          <a:p>
            <a:pPr marL="0" lvl="0" indent="457200" algn="l" rtl="0">
              <a:spcBef>
                <a:spcPts val="0"/>
              </a:spcBef>
              <a:spcAft>
                <a:spcPts val="0"/>
              </a:spcAft>
              <a:buClr>
                <a:schemeClr val="dk1"/>
              </a:buClr>
              <a:buSzPts val="275"/>
              <a:buFont typeface="Arial"/>
              <a:buNone/>
            </a:pPr>
            <a:endParaRPr sz="5600">
              <a:solidFill>
                <a:srgbClr val="333333"/>
              </a:solidFill>
              <a:highlight>
                <a:schemeClr val="lt1"/>
              </a:highlight>
              <a:latin typeface="Bookman Old Style"/>
              <a:ea typeface="Bookman Old Style"/>
              <a:cs typeface="Bookman Old Style"/>
              <a:sym typeface="Bookman Old Style"/>
            </a:endParaRPr>
          </a:p>
          <a:p>
            <a:pPr marL="0" lvl="0" indent="457200" algn="l" rtl="0">
              <a:spcBef>
                <a:spcPts val="0"/>
              </a:spcBef>
              <a:spcAft>
                <a:spcPts val="0"/>
              </a:spcAft>
              <a:buNone/>
            </a:pPr>
            <a:endParaRPr sz="5600">
              <a:solidFill>
                <a:srgbClr val="333333"/>
              </a:solidFill>
              <a:highlight>
                <a:srgbClr val="FFFFFF"/>
              </a:highlight>
              <a:latin typeface="Bookman Old Style"/>
              <a:ea typeface="Bookman Old Style"/>
              <a:cs typeface="Bookman Old Style"/>
              <a:sym typeface="Bookman Old Style"/>
            </a:endParaRPr>
          </a:p>
          <a:p>
            <a:pPr marL="0" lvl="0" indent="0" algn="l" rtl="0">
              <a:spcBef>
                <a:spcPts val="0"/>
              </a:spcBef>
              <a:spcAft>
                <a:spcPts val="0"/>
              </a:spcAft>
              <a:buNone/>
            </a:pPr>
            <a:endParaRPr sz="5600">
              <a:solidFill>
                <a:srgbClr val="333333"/>
              </a:solidFill>
              <a:highlight>
                <a:srgbClr val="FFFFFF"/>
              </a:highlight>
              <a:latin typeface="Bookman Old Style"/>
              <a:ea typeface="Bookman Old Style"/>
              <a:cs typeface="Bookman Old Style"/>
              <a:sym typeface="Bookman Old Style"/>
            </a:endParaRPr>
          </a:p>
          <a:p>
            <a:pPr marL="0" lvl="0" indent="0" algn="l" rtl="0">
              <a:spcBef>
                <a:spcPts val="0"/>
              </a:spcBef>
              <a:spcAft>
                <a:spcPts val="0"/>
              </a:spcAft>
              <a:buNone/>
            </a:pPr>
            <a:endParaRPr sz="5600">
              <a:solidFill>
                <a:srgbClr val="000000"/>
              </a:solidFill>
              <a:latin typeface="Bookman Old Style"/>
              <a:ea typeface="Bookman Old Style"/>
              <a:cs typeface="Bookman Old Style"/>
              <a:sym typeface="Bookman Old Style"/>
            </a:endParaRPr>
          </a:p>
          <a:p>
            <a:pPr marL="0" lvl="0" indent="457200" algn="l" rtl="0">
              <a:spcBef>
                <a:spcPts val="0"/>
              </a:spcBef>
              <a:spcAft>
                <a:spcPts val="0"/>
              </a:spcAft>
              <a:buNone/>
            </a:pPr>
            <a:endParaRPr sz="5600">
              <a:solidFill>
                <a:srgbClr val="333333"/>
              </a:solidFill>
              <a:highlight>
                <a:srgbClr val="FFFFFF"/>
              </a:highlight>
              <a:latin typeface="Bookman Old Style"/>
              <a:ea typeface="Bookman Old Style"/>
              <a:cs typeface="Bookman Old Style"/>
              <a:sym typeface="Bookman Old Style"/>
            </a:endParaRPr>
          </a:p>
          <a:p>
            <a:pPr marL="0" lvl="0" indent="0" algn="l" rtl="0">
              <a:spcBef>
                <a:spcPts val="1400"/>
              </a:spcBef>
              <a:spcAft>
                <a:spcPts val="0"/>
              </a:spcAft>
              <a:buNone/>
            </a:pPr>
            <a:endParaRPr sz="1500">
              <a:solidFill>
                <a:srgbClr val="333333"/>
              </a:solidFill>
              <a:highlight>
                <a:srgbClr val="FFFFFF"/>
              </a:highlight>
              <a:latin typeface="Georgia"/>
              <a:ea typeface="Georgia"/>
              <a:cs typeface="Georgia"/>
              <a:sym typeface="Georgia"/>
            </a:endParaRPr>
          </a:p>
          <a:p>
            <a:pPr marL="0" lvl="0" indent="457200" algn="l" rtl="0">
              <a:spcBef>
                <a:spcPts val="0"/>
              </a:spcBef>
              <a:spcAft>
                <a:spcPts val="0"/>
              </a:spcAft>
              <a:buNone/>
            </a:pPr>
            <a:endParaRPr sz="1500">
              <a:solidFill>
                <a:srgbClr val="333333"/>
              </a:solidFill>
              <a:highlight>
                <a:schemeClr val="accent6"/>
              </a:highlight>
              <a:latin typeface="Georgia"/>
              <a:ea typeface="Georgia"/>
              <a:cs typeface="Georgia"/>
              <a:sym typeface="Georgia"/>
            </a:endParaRPr>
          </a:p>
          <a:p>
            <a:pPr marL="0" lvl="0" indent="457200" algn="l" rtl="0">
              <a:spcBef>
                <a:spcPts val="0"/>
              </a:spcBef>
              <a:spcAft>
                <a:spcPts val="0"/>
              </a:spcAft>
              <a:buNone/>
            </a:pPr>
            <a:endParaRPr sz="1500">
              <a:solidFill>
                <a:srgbClr val="333333"/>
              </a:solidFill>
              <a:highlight>
                <a:srgbClr val="FFFFFF"/>
              </a:highlight>
              <a:latin typeface="Bookman Old Style"/>
              <a:ea typeface="Bookman Old Style"/>
              <a:cs typeface="Bookman Old Style"/>
              <a:sym typeface="Bookman Old Style"/>
            </a:endParaRPr>
          </a:p>
          <a:p>
            <a:pPr marL="0" lvl="0" indent="0" algn="l" rtl="0">
              <a:spcBef>
                <a:spcPts val="0"/>
              </a:spcBef>
              <a:spcAft>
                <a:spcPts val="0"/>
              </a:spcAft>
              <a:buNone/>
            </a:pPr>
            <a:endParaRPr sz="1100">
              <a:solidFill>
                <a:srgbClr val="000000"/>
              </a:solidFill>
              <a:latin typeface="Arial"/>
              <a:ea typeface="Arial"/>
              <a:cs typeface="Arial"/>
              <a:sym typeface="Arial"/>
            </a:endParaRPr>
          </a:p>
          <a:p>
            <a:pPr marL="0" lvl="0" indent="457200" algn="l" rtl="0">
              <a:spcBef>
                <a:spcPts val="0"/>
              </a:spcBef>
              <a:spcAft>
                <a:spcPts val="0"/>
              </a:spcAft>
              <a:buNone/>
            </a:pPr>
            <a:endParaRPr sz="1500">
              <a:solidFill>
                <a:srgbClr val="333333"/>
              </a:solidFill>
              <a:highlight>
                <a:srgbClr val="FFFFFF"/>
              </a:highlight>
              <a:latin typeface="Georgia"/>
              <a:ea typeface="Georgia"/>
              <a:cs typeface="Georgia"/>
              <a:sym typeface="Georgia"/>
            </a:endParaRPr>
          </a:p>
          <a:p>
            <a:pPr marL="0" lvl="0" indent="0" algn="l" rtl="0">
              <a:spcBef>
                <a:spcPts val="0"/>
              </a:spcBef>
              <a:spcAft>
                <a:spcPts val="0"/>
              </a:spcAft>
              <a:buNone/>
            </a:pPr>
            <a:endParaRPr sz="1300" u="sng">
              <a:solidFill>
                <a:srgbClr val="000000"/>
              </a:solidFill>
              <a:latin typeface="Bookman Old Style"/>
              <a:ea typeface="Bookman Old Style"/>
              <a:cs typeface="Bookman Old Style"/>
              <a:sym typeface="Bookman Old Style"/>
            </a:endParaRPr>
          </a:p>
          <a:p>
            <a:pPr marL="0" lvl="0" indent="0" algn="l" rtl="0">
              <a:spcBef>
                <a:spcPts val="0"/>
              </a:spcBef>
              <a:spcAft>
                <a:spcPts val="1200"/>
              </a:spcAft>
              <a:buNone/>
            </a:pP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35"/>
          <p:cNvSpPr txBox="1">
            <a:spLocks noGrp="1"/>
          </p:cNvSpPr>
          <p:nvPr>
            <p:ph type="title"/>
          </p:nvPr>
        </p:nvSpPr>
        <p:spPr>
          <a:xfrm>
            <a:off x="226725" y="1315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t-BR"/>
              <a:t>Exemplos redações proposta UNICAMP</a:t>
            </a:r>
            <a:endParaRPr/>
          </a:p>
        </p:txBody>
      </p:sp>
      <p:sp>
        <p:nvSpPr>
          <p:cNvPr id="191" name="Google Shape;191;p35"/>
          <p:cNvSpPr txBox="1">
            <a:spLocks noGrp="1"/>
          </p:cNvSpPr>
          <p:nvPr>
            <p:ph type="body" idx="1"/>
          </p:nvPr>
        </p:nvSpPr>
        <p:spPr>
          <a:xfrm>
            <a:off x="141675" y="771100"/>
            <a:ext cx="8690700" cy="4272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pt-BR">
                <a:solidFill>
                  <a:schemeClr val="dk1"/>
                </a:solidFill>
                <a:latin typeface="Bookman Old Style"/>
                <a:ea typeface="Bookman Old Style"/>
                <a:cs typeface="Bookman Old Style"/>
                <a:sym typeface="Bookman Old Style"/>
              </a:rPr>
              <a:t>1)</a:t>
            </a:r>
            <a:endParaRPr>
              <a:solidFill>
                <a:schemeClr val="dk1"/>
              </a:solidFill>
              <a:latin typeface="Bookman Old Style"/>
              <a:ea typeface="Bookman Old Style"/>
              <a:cs typeface="Bookman Old Style"/>
              <a:sym typeface="Bookman Old Style"/>
            </a:endParaRPr>
          </a:p>
          <a:p>
            <a:pPr marL="0" lvl="0" indent="457200" algn="l" rtl="0">
              <a:spcBef>
                <a:spcPts val="1200"/>
              </a:spcBef>
              <a:spcAft>
                <a:spcPts val="0"/>
              </a:spcAft>
              <a:buClr>
                <a:schemeClr val="dk1"/>
              </a:buClr>
              <a:buSzPts val="1100"/>
              <a:buFont typeface="Arial"/>
              <a:buNone/>
            </a:pPr>
            <a:r>
              <a:rPr lang="pt-BR">
                <a:solidFill>
                  <a:schemeClr val="dk1"/>
                </a:solidFill>
                <a:latin typeface="Bookman Old Style"/>
                <a:ea typeface="Bookman Old Style"/>
                <a:cs typeface="Bookman Old Style"/>
                <a:sym typeface="Bookman Old Style"/>
              </a:rPr>
              <a:t>A fábula “A Deliberação Tomada pelos Ratos”, escrita por La Fontaine, apresenta uma situação-problema desencadeada por um gato de nome Rodilardo que caça inúmeros ratos, matando-os e comendo-os. Os ratos, preocupados com sua situação, decidem se reunir para discutir e encontrar alguma solução. Assim, concluem que se houvesse um sinal para alertá-los da presença do felino, poderiam ter tempo para se esconder e salvar suas vidas, o que foi proposto pelo rato mais velho e experiente. Os demais concordaram, inclusive com a ideia de pendurar-lhe uma esfera de metal barulhenta no pescoço. Porém, nenhum dos ratos se comprometeu a fazê-lo, tornando a ideia infrutífera.</a:t>
            </a:r>
            <a:endParaRPr>
              <a:solidFill>
                <a:schemeClr val="dk1"/>
              </a:solidFill>
              <a:latin typeface="Bookman Old Style"/>
              <a:ea typeface="Bookman Old Style"/>
              <a:cs typeface="Bookman Old Style"/>
              <a:sym typeface="Bookman Old Style"/>
            </a:endParaRPr>
          </a:p>
          <a:p>
            <a:pPr marL="0" lvl="0" indent="0" algn="l" rtl="0">
              <a:spcBef>
                <a:spcPts val="1200"/>
              </a:spcBef>
              <a:spcAft>
                <a:spcPts val="1200"/>
              </a:spcAft>
              <a:buNone/>
            </a:pP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36"/>
          <p:cNvSpPr txBox="1">
            <a:spLocks noGrp="1"/>
          </p:cNvSpPr>
          <p:nvPr>
            <p:ph type="body" idx="1"/>
          </p:nvPr>
        </p:nvSpPr>
        <p:spPr>
          <a:xfrm>
            <a:off x="141675" y="213800"/>
            <a:ext cx="8690700" cy="4830000"/>
          </a:xfrm>
          <a:prstGeom prst="rect">
            <a:avLst/>
          </a:prstGeom>
        </p:spPr>
        <p:txBody>
          <a:bodyPr spcFirstLastPara="1" wrap="square" lIns="91425" tIns="91425" rIns="91425" bIns="91425" anchor="t" anchorCtr="0">
            <a:normAutofit fontScale="32500" lnSpcReduction="20000"/>
          </a:bodyPr>
          <a:lstStyle/>
          <a:p>
            <a:pPr marL="0" lvl="0" indent="457200" algn="l" rtl="0">
              <a:spcBef>
                <a:spcPts val="0"/>
              </a:spcBef>
              <a:spcAft>
                <a:spcPts val="0"/>
              </a:spcAft>
              <a:buNone/>
            </a:pPr>
            <a:r>
              <a:rPr lang="pt-BR" sz="5600">
                <a:solidFill>
                  <a:schemeClr val="dk1"/>
                </a:solidFill>
                <a:latin typeface="Bookman Old Style"/>
                <a:ea typeface="Bookman Old Style"/>
                <a:cs typeface="Bookman Old Style"/>
                <a:sym typeface="Bookman Old Style"/>
              </a:rPr>
              <a:t>La Fontaine, com esta fábula, transmite a moral de que, embora seja importante deliberar os assuntos, é imprescindível executá-los. Situação semelhante ocorre quando uma comunidade enfrenta problemas com a segurança pública. Em um determinado bairro com alto índice de violência, pouco adianta lastimar-se dos crimes ocorridos ou discutir soluções em uma rede social. Caso este alto índice de violência ocorra em razão da ausência de escolas ou atividades culturais, essa comunidade deverá se organizar e levar os fatos às autoridades competentes para que providenciem o necessário e, com a participação de todos, seja resolvido concretamente o problema.</a:t>
            </a:r>
            <a:endParaRPr sz="5600">
              <a:solidFill>
                <a:schemeClr val="dk1"/>
              </a:solidFill>
              <a:latin typeface="Bookman Old Style"/>
              <a:ea typeface="Bookman Old Style"/>
              <a:cs typeface="Bookman Old Style"/>
              <a:sym typeface="Bookman Old Style"/>
            </a:endParaRPr>
          </a:p>
          <a:p>
            <a:pPr marL="0" lvl="0" indent="457200" algn="l" rtl="0">
              <a:spcBef>
                <a:spcPts val="1200"/>
              </a:spcBef>
              <a:spcAft>
                <a:spcPts val="0"/>
              </a:spcAft>
              <a:buNone/>
            </a:pPr>
            <a:r>
              <a:rPr lang="pt-BR" sz="5600">
                <a:solidFill>
                  <a:schemeClr val="dk1"/>
                </a:solidFill>
                <a:latin typeface="Bookman Old Style"/>
                <a:ea typeface="Bookman Old Style"/>
                <a:cs typeface="Bookman Old Style"/>
                <a:sym typeface="Bookman Old Style"/>
              </a:rPr>
              <a:t>O receio de eventuais retaliações pode levar essa comunidade a amedrontar-se, assim como os ratos da fábula. Para colocar o guizo no gato, ou seja, para efetivar uma transformação nesse bairro, é preciso sair da toca, enfrentar a questão e exigir os próprios direitos. No caso, um serviço de segurança e educação prestado adequadamente pelo Estado.</a:t>
            </a:r>
            <a:endParaRPr sz="5600">
              <a:solidFill>
                <a:schemeClr val="dk1"/>
              </a:solidFill>
              <a:latin typeface="Bookman Old Style"/>
              <a:ea typeface="Bookman Old Style"/>
              <a:cs typeface="Bookman Old Style"/>
              <a:sym typeface="Bookman Old Style"/>
            </a:endParaRPr>
          </a:p>
          <a:p>
            <a:pPr marL="0" lvl="0" indent="457200" algn="l" rtl="0">
              <a:spcBef>
                <a:spcPts val="1200"/>
              </a:spcBef>
              <a:spcAft>
                <a:spcPts val="0"/>
              </a:spcAft>
              <a:buNone/>
            </a:pPr>
            <a:endParaRPr>
              <a:solidFill>
                <a:schemeClr val="dk1"/>
              </a:solidFill>
              <a:latin typeface="Bookman Old Style"/>
              <a:ea typeface="Bookman Old Style"/>
              <a:cs typeface="Bookman Old Style"/>
              <a:sym typeface="Bookman Old Style"/>
            </a:endParaRPr>
          </a:p>
          <a:p>
            <a:pPr marL="0" lvl="0" indent="0" algn="l" rtl="0">
              <a:spcBef>
                <a:spcPts val="1200"/>
              </a:spcBef>
              <a:spcAft>
                <a:spcPts val="1200"/>
              </a:spcAft>
              <a:buNone/>
            </a:pP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37"/>
          <p:cNvSpPr txBox="1">
            <a:spLocks noGrp="1"/>
          </p:cNvSpPr>
          <p:nvPr>
            <p:ph type="title"/>
          </p:nvPr>
        </p:nvSpPr>
        <p:spPr>
          <a:xfrm>
            <a:off x="226725" y="1315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t-BR"/>
              <a:t>Exemplos redações proposta UNICAMP</a:t>
            </a:r>
            <a:endParaRPr/>
          </a:p>
        </p:txBody>
      </p:sp>
      <p:sp>
        <p:nvSpPr>
          <p:cNvPr id="202" name="Google Shape;202;p37"/>
          <p:cNvSpPr txBox="1">
            <a:spLocks noGrp="1"/>
          </p:cNvSpPr>
          <p:nvPr>
            <p:ph type="body" idx="1"/>
          </p:nvPr>
        </p:nvSpPr>
        <p:spPr>
          <a:xfrm>
            <a:off x="141675" y="771100"/>
            <a:ext cx="8690700" cy="4272600"/>
          </a:xfrm>
          <a:prstGeom prst="rect">
            <a:avLst/>
          </a:prstGeom>
        </p:spPr>
        <p:txBody>
          <a:bodyPr spcFirstLastPara="1" wrap="square" lIns="91425" tIns="91425" rIns="91425" bIns="91425" anchor="t" anchorCtr="0">
            <a:normAutofit fontScale="55000" lnSpcReduction="10000"/>
          </a:bodyPr>
          <a:lstStyle/>
          <a:p>
            <a:pPr marL="0" lvl="0" indent="0" algn="l" rtl="0">
              <a:spcBef>
                <a:spcPts val="0"/>
              </a:spcBef>
              <a:spcAft>
                <a:spcPts val="0"/>
              </a:spcAft>
              <a:buNone/>
            </a:pPr>
            <a:r>
              <a:rPr lang="pt-BR">
                <a:solidFill>
                  <a:schemeClr val="dk1"/>
                </a:solidFill>
                <a:latin typeface="Bookman Old Style"/>
                <a:ea typeface="Bookman Old Style"/>
                <a:cs typeface="Bookman Old Style"/>
                <a:sym typeface="Bookman Old Style"/>
              </a:rPr>
              <a:t>2) </a:t>
            </a:r>
            <a:endParaRPr>
              <a:solidFill>
                <a:schemeClr val="dk1"/>
              </a:solidFill>
              <a:latin typeface="Bookman Old Style"/>
              <a:ea typeface="Bookman Old Style"/>
              <a:cs typeface="Bookman Old Style"/>
              <a:sym typeface="Bookman Old Style"/>
            </a:endParaRPr>
          </a:p>
          <a:p>
            <a:pPr marL="0" lvl="0" indent="457200" algn="l" rtl="0">
              <a:spcBef>
                <a:spcPts val="1200"/>
              </a:spcBef>
              <a:spcAft>
                <a:spcPts val="0"/>
              </a:spcAft>
              <a:buNone/>
            </a:pPr>
            <a:r>
              <a:rPr lang="pt-BR" sz="2731">
                <a:solidFill>
                  <a:schemeClr val="dk1"/>
                </a:solidFill>
                <a:latin typeface="Bookman Old Style"/>
                <a:ea typeface="Bookman Old Style"/>
                <a:cs typeface="Bookman Old Style"/>
                <a:sym typeface="Bookman Old Style"/>
              </a:rPr>
              <a:t>Em fábulas, é recorrente o uso de animais como principais personagens de uma pequena história com um final de teor moralizante. A trama e o conflito têm como foco o núcleo central dos animais personificados e o seu universo, porém, a situação vivida por eles é inevitavelmente transportada para a nossa realidade quando a lemos, para o universo humano e as relações sociais por nós vividas.</a:t>
            </a:r>
            <a:endParaRPr sz="2731">
              <a:solidFill>
                <a:schemeClr val="dk1"/>
              </a:solidFill>
              <a:latin typeface="Bookman Old Style"/>
              <a:ea typeface="Bookman Old Style"/>
              <a:cs typeface="Bookman Old Style"/>
              <a:sym typeface="Bookman Old Style"/>
            </a:endParaRPr>
          </a:p>
          <a:p>
            <a:pPr marL="0" lvl="0" indent="457200" algn="l" rtl="0">
              <a:spcBef>
                <a:spcPts val="1200"/>
              </a:spcBef>
              <a:spcAft>
                <a:spcPts val="0"/>
              </a:spcAft>
              <a:buNone/>
            </a:pPr>
            <a:r>
              <a:rPr lang="pt-BR" sz="2731">
                <a:solidFill>
                  <a:schemeClr val="dk1"/>
                </a:solidFill>
                <a:latin typeface="Bookman Old Style"/>
                <a:ea typeface="Bookman Old Style"/>
                <a:cs typeface="Bookman Old Style"/>
                <a:sym typeface="Bookman Old Style"/>
              </a:rPr>
              <a:t>Na fábula de La Fontaine, “A deliberação tomada pelos ratos”, os ratos vivem sob o terror do gato Rodilardo, chegando a se assemelhar ao terror vivido na França durante o governo de Robespierre. Rodilardo, assumindo uma política do medo, matava os ratos que se atreviam a sair dos buracos das paredes onde se escondiam. Os ratos, assim como diversos povos (além dos franceses) que viviam sob o controle de um Estado autoritário, opressor e violento, sentindo-se insatisfeitos e encurralados, discutem uma possível solução para  situação deplorável em que vivem.</a:t>
            </a:r>
            <a:endParaRPr sz="2731">
              <a:solidFill>
                <a:schemeClr val="dk1"/>
              </a:solidFill>
              <a:latin typeface="Bookman Old Style"/>
              <a:ea typeface="Bookman Old Style"/>
              <a:cs typeface="Bookman Old Style"/>
              <a:sym typeface="Bookman Old Style"/>
            </a:endParaRPr>
          </a:p>
          <a:p>
            <a:pPr marL="0" lvl="0" indent="457200" algn="l" rtl="0">
              <a:spcBef>
                <a:spcPts val="1200"/>
              </a:spcBef>
              <a:spcAft>
                <a:spcPts val="0"/>
              </a:spcAft>
              <a:buNone/>
            </a:pPr>
            <a:endParaRPr>
              <a:solidFill>
                <a:schemeClr val="dk1"/>
              </a:solidFill>
              <a:latin typeface="Bookman Old Style"/>
              <a:ea typeface="Bookman Old Style"/>
              <a:cs typeface="Bookman Old Style"/>
              <a:sym typeface="Bookman Old Style"/>
            </a:endParaRPr>
          </a:p>
          <a:p>
            <a:pPr marL="0" lvl="0" indent="0" algn="l" rtl="0">
              <a:spcBef>
                <a:spcPts val="1200"/>
              </a:spcBef>
              <a:spcAft>
                <a:spcPts val="1200"/>
              </a:spcAft>
              <a:buNone/>
            </a:pP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38"/>
          <p:cNvSpPr txBox="1">
            <a:spLocks noGrp="1"/>
          </p:cNvSpPr>
          <p:nvPr>
            <p:ph type="body" idx="1"/>
          </p:nvPr>
        </p:nvSpPr>
        <p:spPr>
          <a:xfrm>
            <a:off x="141675" y="213800"/>
            <a:ext cx="8690700" cy="4830000"/>
          </a:xfrm>
          <a:prstGeom prst="rect">
            <a:avLst/>
          </a:prstGeom>
        </p:spPr>
        <p:txBody>
          <a:bodyPr spcFirstLastPara="1" wrap="square" lIns="91425" tIns="91425" rIns="91425" bIns="91425" anchor="t" anchorCtr="0">
            <a:normAutofit fontScale="40000"/>
          </a:bodyPr>
          <a:lstStyle/>
          <a:p>
            <a:pPr marL="0" lvl="0" indent="457200" algn="l" rtl="0">
              <a:spcBef>
                <a:spcPts val="0"/>
              </a:spcBef>
              <a:spcAft>
                <a:spcPts val="0"/>
              </a:spcAft>
              <a:buNone/>
            </a:pPr>
            <a:r>
              <a:rPr lang="pt-BR" sz="5100">
                <a:solidFill>
                  <a:schemeClr val="dk1"/>
                </a:solidFill>
                <a:latin typeface="Bookman Old Style"/>
                <a:ea typeface="Bookman Old Style"/>
                <a:cs typeface="Bookman Old Style"/>
                <a:sym typeface="Bookman Old Style"/>
              </a:rPr>
              <a:t>Apesar de acreditarem terem chegado num meio de melhorar significativamente suas vidas, os ratos, que são também o povo oprimido, voltam a um impasse: ninguém se dispõe a lutar e sofrer por um bem maior.</a:t>
            </a:r>
            <a:endParaRPr sz="5100">
              <a:solidFill>
                <a:schemeClr val="dk1"/>
              </a:solidFill>
              <a:latin typeface="Bookman Old Style"/>
              <a:ea typeface="Bookman Old Style"/>
              <a:cs typeface="Bookman Old Style"/>
              <a:sym typeface="Bookman Old Style"/>
            </a:endParaRPr>
          </a:p>
          <a:p>
            <a:pPr marL="0" lvl="0" indent="457200" algn="l" rtl="0">
              <a:spcBef>
                <a:spcPts val="1200"/>
              </a:spcBef>
              <a:spcAft>
                <a:spcPts val="0"/>
              </a:spcAft>
              <a:buNone/>
            </a:pPr>
            <a:r>
              <a:rPr lang="pt-BR" sz="5100">
                <a:solidFill>
                  <a:schemeClr val="dk1"/>
                </a:solidFill>
                <a:latin typeface="Bookman Old Style"/>
                <a:ea typeface="Bookman Old Style"/>
                <a:cs typeface="Bookman Old Style"/>
                <a:sym typeface="Bookman Old Style"/>
              </a:rPr>
              <a:t>Quando deparados com o medo, os ratos, que buscavam soluções como leões, voltam ao seu tamanho inicial e à sua insignificância, e os homens, ao desistirem da luta, também voltam a ser ratos, em estado de menoridade e acomodados com uma situação abominável, porque, enfim, dá menos trabalho.</a:t>
            </a:r>
            <a:endParaRPr sz="5100">
              <a:solidFill>
                <a:schemeClr val="dk1"/>
              </a:solidFill>
              <a:latin typeface="Bookman Old Style"/>
              <a:ea typeface="Bookman Old Style"/>
              <a:cs typeface="Bookman Old Style"/>
              <a:sym typeface="Bookman Old Style"/>
            </a:endParaRPr>
          </a:p>
          <a:p>
            <a:pPr marL="0" lvl="0" indent="457200" algn="l" rtl="0">
              <a:spcBef>
                <a:spcPts val="1200"/>
              </a:spcBef>
              <a:spcAft>
                <a:spcPts val="0"/>
              </a:spcAft>
              <a:buNone/>
            </a:pPr>
            <a:endParaRPr sz="5600">
              <a:solidFill>
                <a:schemeClr val="dk1"/>
              </a:solidFill>
              <a:latin typeface="Bookman Old Style"/>
              <a:ea typeface="Bookman Old Style"/>
              <a:cs typeface="Bookman Old Style"/>
              <a:sym typeface="Bookman Old Style"/>
            </a:endParaRPr>
          </a:p>
          <a:p>
            <a:pPr marL="0" lvl="0" indent="457200" algn="l" rtl="0">
              <a:spcBef>
                <a:spcPts val="1200"/>
              </a:spcBef>
              <a:spcAft>
                <a:spcPts val="0"/>
              </a:spcAft>
              <a:buNone/>
            </a:pPr>
            <a:endParaRPr>
              <a:solidFill>
                <a:schemeClr val="dk1"/>
              </a:solidFill>
              <a:latin typeface="Bookman Old Style"/>
              <a:ea typeface="Bookman Old Style"/>
              <a:cs typeface="Bookman Old Style"/>
              <a:sym typeface="Bookman Old Style"/>
            </a:endParaRPr>
          </a:p>
          <a:p>
            <a:pPr marL="0" lvl="0" indent="0" algn="l" rtl="0">
              <a:spcBef>
                <a:spcPts val="1200"/>
              </a:spcBef>
              <a:spcAft>
                <a:spcPts val="1200"/>
              </a:spcAft>
              <a:buNone/>
            </a:pP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39"/>
          <p:cNvSpPr txBox="1">
            <a:spLocks noGrp="1"/>
          </p:cNvSpPr>
          <p:nvPr>
            <p:ph type="title"/>
          </p:nvPr>
        </p:nvSpPr>
        <p:spPr>
          <a:xfrm>
            <a:off x="226725" y="1315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t-BR"/>
              <a:t>Exemplos redações proposta UNICAMP</a:t>
            </a:r>
            <a:endParaRPr/>
          </a:p>
        </p:txBody>
      </p:sp>
      <p:sp>
        <p:nvSpPr>
          <p:cNvPr id="213" name="Google Shape;213;p39"/>
          <p:cNvSpPr txBox="1">
            <a:spLocks noGrp="1"/>
          </p:cNvSpPr>
          <p:nvPr>
            <p:ph type="body" idx="1"/>
          </p:nvPr>
        </p:nvSpPr>
        <p:spPr>
          <a:xfrm>
            <a:off x="141675" y="771100"/>
            <a:ext cx="8690700" cy="4272600"/>
          </a:xfrm>
          <a:prstGeom prst="rect">
            <a:avLst/>
          </a:prstGeom>
        </p:spPr>
        <p:txBody>
          <a:bodyPr spcFirstLastPara="1" wrap="square" lIns="91425" tIns="91425" rIns="91425" bIns="91425" anchor="t" anchorCtr="0">
            <a:normAutofit fontScale="85000" lnSpcReduction="10000"/>
          </a:bodyPr>
          <a:lstStyle/>
          <a:p>
            <a:pPr marL="0" lvl="0" indent="0" algn="l" rtl="0">
              <a:spcBef>
                <a:spcPts val="0"/>
              </a:spcBef>
              <a:spcAft>
                <a:spcPts val="0"/>
              </a:spcAft>
              <a:buNone/>
            </a:pPr>
            <a:r>
              <a:rPr lang="pt-BR">
                <a:solidFill>
                  <a:schemeClr val="dk1"/>
                </a:solidFill>
                <a:latin typeface="Bookman Old Style"/>
                <a:ea typeface="Bookman Old Style"/>
                <a:cs typeface="Bookman Old Style"/>
                <a:sym typeface="Bookman Old Style"/>
              </a:rPr>
              <a:t>3) </a:t>
            </a:r>
            <a:endParaRPr>
              <a:solidFill>
                <a:schemeClr val="dk1"/>
              </a:solidFill>
              <a:latin typeface="Bookman Old Style"/>
              <a:ea typeface="Bookman Old Style"/>
              <a:cs typeface="Bookman Old Style"/>
              <a:sym typeface="Bookman Old Style"/>
            </a:endParaRPr>
          </a:p>
          <a:p>
            <a:pPr marL="0" lvl="0" indent="457200" algn="l" rtl="0">
              <a:spcBef>
                <a:spcPts val="1200"/>
              </a:spcBef>
              <a:spcAft>
                <a:spcPts val="0"/>
              </a:spcAft>
              <a:buNone/>
            </a:pPr>
            <a:r>
              <a:rPr lang="pt-BR">
                <a:solidFill>
                  <a:schemeClr val="dk1"/>
                </a:solidFill>
                <a:latin typeface="Bookman Old Style"/>
                <a:ea typeface="Bookman Old Style"/>
                <a:cs typeface="Bookman Old Style"/>
                <a:sym typeface="Bookman Old Style"/>
              </a:rPr>
              <a:t>Para participar do concurso de resenhas, promovido pelo Centro de Apoio ao Estudante, que desenvolve atividade em minha faculdade, resolvi resenhar a fábula de La Fontaine, chamada “A Deliberação Tomada pelos Ratos”.</a:t>
            </a:r>
            <a:endParaRPr>
              <a:solidFill>
                <a:schemeClr val="dk1"/>
              </a:solidFill>
              <a:latin typeface="Bookman Old Style"/>
              <a:ea typeface="Bookman Old Style"/>
              <a:cs typeface="Bookman Old Style"/>
              <a:sym typeface="Bookman Old Style"/>
            </a:endParaRPr>
          </a:p>
          <a:p>
            <a:pPr marL="0" lvl="0" indent="457200" algn="l" rtl="0">
              <a:spcBef>
                <a:spcPts val="1200"/>
              </a:spcBef>
              <a:spcAft>
                <a:spcPts val="0"/>
              </a:spcAft>
              <a:buNone/>
            </a:pPr>
            <a:r>
              <a:rPr lang="pt-BR">
                <a:solidFill>
                  <a:schemeClr val="dk1"/>
                </a:solidFill>
                <a:latin typeface="Bookman Old Style"/>
                <a:ea typeface="Bookman Old Style"/>
                <a:cs typeface="Bookman Old Style"/>
                <a:sym typeface="Bookman Old Style"/>
              </a:rPr>
              <a:t>No início da fábula, um gato voraz é citado, cujo nome é Rodilardo. O felino causou a morte de vários ratos ao seu redor e os poucos que sobraram, mal aventuraram-se a sair do buraco, tamanho o medo dos roedores. Até que certo dia, num momento de distração de Rodilardo, os ratos conseguiram fazer uma reunião para solucionar a situação e ficou decidido um plano para deter o gato, todavia um grande detalhe ficou sem solução: Quem executaria o plano? E a assembleia terminou sem nada decidido.</a:t>
            </a:r>
            <a:endParaRPr>
              <a:solidFill>
                <a:schemeClr val="dk1"/>
              </a:solidFill>
              <a:latin typeface="Bookman Old Style"/>
              <a:ea typeface="Bookman Old Style"/>
              <a:cs typeface="Bookman Old Style"/>
              <a:sym typeface="Bookman Old Style"/>
            </a:endParaRPr>
          </a:p>
          <a:p>
            <a:pPr marL="0" lvl="0" indent="457200" algn="l" rtl="0">
              <a:spcBef>
                <a:spcPts val="1200"/>
              </a:spcBef>
              <a:spcAft>
                <a:spcPts val="0"/>
              </a:spcAft>
              <a:buNone/>
            </a:pPr>
            <a:endParaRPr>
              <a:solidFill>
                <a:schemeClr val="dk1"/>
              </a:solidFill>
              <a:latin typeface="Bookman Old Style"/>
              <a:ea typeface="Bookman Old Style"/>
              <a:cs typeface="Bookman Old Style"/>
              <a:sym typeface="Bookman Old Style"/>
            </a:endParaRPr>
          </a:p>
          <a:p>
            <a:pPr marL="0" lvl="0" indent="457200" algn="l" rtl="0">
              <a:spcBef>
                <a:spcPts val="1200"/>
              </a:spcBef>
              <a:spcAft>
                <a:spcPts val="0"/>
              </a:spcAft>
              <a:buNone/>
            </a:pPr>
            <a:endParaRPr>
              <a:solidFill>
                <a:schemeClr val="dk1"/>
              </a:solidFill>
              <a:latin typeface="Bookman Old Style"/>
              <a:ea typeface="Bookman Old Style"/>
              <a:cs typeface="Bookman Old Style"/>
              <a:sym typeface="Bookman Old Style"/>
            </a:endParaRPr>
          </a:p>
          <a:p>
            <a:pPr marL="0" lvl="0" indent="0" algn="l" rtl="0">
              <a:spcBef>
                <a:spcPts val="1200"/>
              </a:spcBef>
              <a:spcAft>
                <a:spcPts val="1200"/>
              </a:spcAft>
              <a:buNone/>
            </a:pP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40"/>
          <p:cNvSpPr txBox="1">
            <a:spLocks noGrp="1"/>
          </p:cNvSpPr>
          <p:nvPr>
            <p:ph type="body" idx="1"/>
          </p:nvPr>
        </p:nvSpPr>
        <p:spPr>
          <a:xfrm>
            <a:off x="141675" y="213800"/>
            <a:ext cx="8690700" cy="4830000"/>
          </a:xfrm>
          <a:prstGeom prst="rect">
            <a:avLst/>
          </a:prstGeom>
        </p:spPr>
        <p:txBody>
          <a:bodyPr spcFirstLastPara="1" wrap="square" lIns="91425" tIns="91425" rIns="91425" bIns="91425" anchor="t" anchorCtr="0">
            <a:normAutofit/>
          </a:bodyPr>
          <a:lstStyle/>
          <a:p>
            <a:pPr marL="0" lvl="0" indent="457200" algn="l" rtl="0">
              <a:spcBef>
                <a:spcPts val="0"/>
              </a:spcBef>
              <a:spcAft>
                <a:spcPts val="0"/>
              </a:spcAft>
              <a:buNone/>
            </a:pPr>
            <a:r>
              <a:rPr lang="pt-BR">
                <a:solidFill>
                  <a:schemeClr val="dk1"/>
                </a:solidFill>
                <a:latin typeface="Bookman Old Style"/>
                <a:ea typeface="Bookman Old Style"/>
                <a:cs typeface="Bookman Old Style"/>
                <a:sym typeface="Bookman Old Style"/>
              </a:rPr>
              <a:t>A fábula constrói uma situação social, onde são realizadas inúmeras assembleias e poucas acabam solucionadas. Além de um problema grave que é a falta de voluntários para executar o que foi decidido, seja por não querer lidar com a situação ou por falta de preparo.</a:t>
            </a:r>
            <a:endParaRPr>
              <a:solidFill>
                <a:schemeClr val="dk1"/>
              </a:solidFill>
              <a:latin typeface="Bookman Old Style"/>
              <a:ea typeface="Bookman Old Style"/>
              <a:cs typeface="Bookman Old Style"/>
              <a:sym typeface="Bookman Old Style"/>
            </a:endParaRPr>
          </a:p>
          <a:p>
            <a:pPr marL="0" lvl="0" indent="457200" algn="l" rtl="0">
              <a:spcBef>
                <a:spcPts val="1200"/>
              </a:spcBef>
              <a:spcAft>
                <a:spcPts val="0"/>
              </a:spcAft>
              <a:buNone/>
            </a:pPr>
            <a:endParaRPr sz="5600">
              <a:solidFill>
                <a:schemeClr val="dk1"/>
              </a:solidFill>
              <a:latin typeface="Bookman Old Style"/>
              <a:ea typeface="Bookman Old Style"/>
              <a:cs typeface="Bookman Old Style"/>
              <a:sym typeface="Bookman Old Style"/>
            </a:endParaRPr>
          </a:p>
          <a:p>
            <a:pPr marL="0" lvl="0" indent="457200" algn="l" rtl="0">
              <a:spcBef>
                <a:spcPts val="1200"/>
              </a:spcBef>
              <a:spcAft>
                <a:spcPts val="0"/>
              </a:spcAft>
              <a:buNone/>
            </a:pPr>
            <a:endParaRPr sz="5600">
              <a:solidFill>
                <a:schemeClr val="dk1"/>
              </a:solidFill>
              <a:latin typeface="Bookman Old Style"/>
              <a:ea typeface="Bookman Old Style"/>
              <a:cs typeface="Bookman Old Style"/>
              <a:sym typeface="Bookman Old Style"/>
            </a:endParaRPr>
          </a:p>
          <a:p>
            <a:pPr marL="0" lvl="0" indent="457200" algn="l" rtl="0">
              <a:spcBef>
                <a:spcPts val="1200"/>
              </a:spcBef>
              <a:spcAft>
                <a:spcPts val="0"/>
              </a:spcAft>
              <a:buNone/>
            </a:pPr>
            <a:endParaRPr>
              <a:solidFill>
                <a:schemeClr val="dk1"/>
              </a:solidFill>
              <a:latin typeface="Bookman Old Style"/>
              <a:ea typeface="Bookman Old Style"/>
              <a:cs typeface="Bookman Old Style"/>
              <a:sym typeface="Bookman Old Style"/>
            </a:endParaRPr>
          </a:p>
          <a:p>
            <a:pPr marL="0" lvl="0" indent="0" algn="l" rtl="0">
              <a:spcBef>
                <a:spcPts val="1200"/>
              </a:spcBef>
              <a:spcAft>
                <a:spcPts val="1200"/>
              </a:spcAft>
              <a:buNone/>
            </a:pP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Apresentação na tela (16:9)</PresentationFormat>
  <Slides>28</Slides>
  <Notes>28</Notes>
  <HiddenSlides>0</HiddenSlides>
  <ScaleCrop>false</ScaleCrop>
  <HeadingPairs>
    <vt:vector size="4" baseType="variant">
      <vt:variant>
        <vt:lpstr>Tema</vt:lpstr>
      </vt:variant>
      <vt:variant>
        <vt:i4>1</vt:i4>
      </vt:variant>
      <vt:variant>
        <vt:lpstr>Títulos de slides</vt:lpstr>
      </vt:variant>
      <vt:variant>
        <vt:i4>28</vt:i4>
      </vt:variant>
    </vt:vector>
  </HeadingPairs>
  <TitlesOfParts>
    <vt:vector size="29" baseType="lpstr">
      <vt:lpstr>Simple Light</vt:lpstr>
      <vt:lpstr>Apresentação do PowerPoint</vt:lpstr>
      <vt:lpstr>Gênero Textual: Resenha Crítica</vt:lpstr>
      <vt:lpstr>Resenha crítica: contexto de circulação</vt:lpstr>
      <vt:lpstr>Resenha crítica: linguagem</vt:lpstr>
      <vt:lpstr>Resenha crítica: exemplo 1</vt:lpstr>
      <vt:lpstr>Resenha crítica: exemplo 1</vt:lpstr>
      <vt:lpstr>Resenha crítica: exemplo 1</vt:lpstr>
      <vt:lpstr>Resenha crítica: exemplo 1</vt:lpstr>
      <vt:lpstr>Resenha crítica: exemplo 2</vt:lpstr>
      <vt:lpstr>Resenha crítica: exemplo 2</vt:lpstr>
      <vt:lpstr>Resenha crítica: exemplo 2</vt:lpstr>
      <vt:lpstr>Resenha crítica: exemplo 2</vt:lpstr>
      <vt:lpstr>Resenha crítica: exemplo 2</vt:lpstr>
      <vt:lpstr>Resenha crítica: exemplo 3</vt:lpstr>
      <vt:lpstr>Resenha crítica: exemplo 3</vt:lpstr>
      <vt:lpstr>Resenha crítica: exemplo 3</vt:lpstr>
      <vt:lpstr>Resenha crítica: exemplo 3</vt:lpstr>
      <vt:lpstr>Resenha crítica: exemplo 3</vt:lpstr>
      <vt:lpstr>Resenha crítica: exemplo 4</vt:lpstr>
      <vt:lpstr>Resenha crítica: exemplo 4</vt:lpstr>
      <vt:lpstr>Resenha crítica: exemplo 4</vt:lpstr>
      <vt:lpstr>Resenha crítica: exemplo 4</vt:lpstr>
      <vt:lpstr>Exemplos redações proposta UNICAMP</vt:lpstr>
      <vt:lpstr>Apresentação do PowerPoint</vt:lpstr>
      <vt:lpstr>Exemplos redações proposta UNICAMP</vt:lpstr>
      <vt:lpstr>Apresentação do PowerPoint</vt:lpstr>
      <vt:lpstr>Exemplos redações proposta UNICAMP</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9</cp:revision>
  <dcterms:modified xsi:type="dcterms:W3CDTF">2026-02-04T13:16:33Z</dcterms:modified>
</cp:coreProperties>
</file>