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91" r:id="rId3"/>
    <p:sldId id="280" r:id="rId4"/>
    <p:sldId id="292" r:id="rId5"/>
    <p:sldId id="293" r:id="rId6"/>
    <p:sldId id="277" r:id="rId7"/>
    <p:sldId id="265" r:id="rId8"/>
    <p:sldId id="279" r:id="rId9"/>
    <p:sldId id="282" r:id="rId10"/>
    <p:sldId id="281" r:id="rId11"/>
    <p:sldId id="270" r:id="rId12"/>
    <p:sldId id="289" r:id="rId13"/>
    <p:sldId id="290" r:id="rId14"/>
    <p:sldId id="286" r:id="rId15"/>
    <p:sldId id="283" r:id="rId16"/>
    <p:sldId id="287" r:id="rId17"/>
    <p:sldId id="285" r:id="rId18"/>
    <p:sldId id="288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A5196-F153-4200-9FF6-50F8131D1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B5AA62-815A-422C-9AB5-A7B8CCC2B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418617-96C7-4A32-BC69-17C8351B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CC38F-232A-4205-A71B-D6915ECD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EAEBBB-3456-45F1-B45B-455A9C02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65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484B5-3850-4CD2-B7A9-FF1E650C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99EF3D-C5E9-4D0D-9089-C0F1ECB20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7E3070-BE60-4238-A0A7-569C64B5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E2C6EB-4814-4B42-8555-EECD18759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7689D8-E4CF-4BD4-8056-3021EA85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964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B8201-4852-4020-BF9A-2EF8FD46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AAAA41-BDDD-4559-B8ED-434F18EF9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1AE9B-0AD4-4D34-8092-32B5C9892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7B9C25-EB1C-46DD-81BF-08A40C73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E4CA02-C603-4938-BF69-FA39043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48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DDD64-DAC8-4B60-AB18-00E17D44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3291AB-F42C-4A7E-B8E0-876022826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04075F-0743-4CC7-82CB-6AB32ED8D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18AB1B-B8E5-4ECA-AB99-2FC34A53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00F90A-A076-4C4D-BD55-E01F35CA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6A360B-9993-4FA9-99B2-198C09FD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3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8A4FC-7049-4ED5-80EC-AE7A6459F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C10742-EA33-4781-A4D5-8CB9DA14E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8BA031-3684-4EEA-A715-2739C2A77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6578B5-AAC2-4338-81BF-32206EC8D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272558-CA00-4D2B-BFD0-3F58AEBDB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B92DE7-29F3-485A-9AFD-C167DDFD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8610FB-5175-4443-A59F-FB423AE5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42EFA5-CE27-4791-A1F0-63873B48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60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AA8D6-2E8B-4955-8C41-2EE2541B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A85C62F-9B72-439A-AC71-A7AF0F377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434C37-F2DB-40D2-A796-342876CE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9D00F0-01A7-49C6-A488-2289461A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645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BDCCAC6-89FF-4442-AB31-2C5FB2D8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E2B70E-360E-4B33-BD7E-BEA1845C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7BB264-D80A-40F1-A53B-705C93DC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02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69E68-9583-4D7F-9179-F3250419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6B83A7-B83F-4D97-B383-E7F7C73DE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941736-949E-4615-BC9E-F0DB13511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6632B1-EE06-4652-B073-29629477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3DC00D-7A59-4CCF-93E2-9BD1BC6A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7A12D0-24E6-4198-93E5-9C9BFA57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20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B9124-D3AB-4674-8240-952F2ABD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87F17BD-196A-4F80-82E5-905F631EF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14347B-3C07-4007-BEEB-406A725B4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78442F-8A4C-40DA-8420-3D5DB157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81FBD1-E6AD-45FB-ABA5-4CAF30EA7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9CD0BB-AF5E-4598-8666-BA5963C8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96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CA3A3-1655-4841-9CDD-0FB3E995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DFF564-916D-4318-BF4F-9672A2381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253452-DA7C-4894-AF89-099594B07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7EEA0D-E7DC-42BA-93CC-4C209B3B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B9C246-0FD4-4A57-A566-43531DF1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9251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018E26-BE24-4129-B8BB-2FD975C2E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E5E7EF-D218-4ACD-A1E2-E5B3260B0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D389F8-5A34-473C-BA85-E8CD0C7A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470DD5-D43A-4240-827C-96700A02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8C2818-308F-4350-AC08-3FF4D523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55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6D52E10-19E2-4996-BC96-D906B0C3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D254FB-EFC2-42D6-B58C-18AAF01BF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6AB75F-8C3A-40AE-83EB-169F808C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AA187-70D1-4DCE-B6F9-3ED8BE24FE7E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AB0E71-A70F-42B5-8187-F4530A5D8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27168E-727A-467C-8947-D3A916D3E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894ED-75C3-4CBA-9811-CD5ACBB95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4655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m relacionada">
            <a:extLst>
              <a:ext uri="{FF2B5EF4-FFF2-40B4-BE49-F238E27FC236}">
                <a16:creationId xmlns:a16="http://schemas.microsoft.com/office/drawing/2014/main" id="{4D8FAC08-C6DC-48B9-B05A-5E8104677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142876"/>
            <a:ext cx="5392738" cy="671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10" descr="Resultado de imagem para civilizações pré colombianas">
            <a:extLst>
              <a:ext uri="{FF2B5EF4-FFF2-40B4-BE49-F238E27FC236}">
                <a16:creationId xmlns:a16="http://schemas.microsoft.com/office/drawing/2014/main" id="{5E5B7984-3542-4E18-9CC6-2F6F19262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738" y="818684"/>
            <a:ext cx="3757612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737C9B3-4355-4861-A93B-2CE34C36A90C}"/>
              </a:ext>
            </a:extLst>
          </p:cNvPr>
          <p:cNvSpPr txBox="1"/>
          <p:nvPr/>
        </p:nvSpPr>
        <p:spPr>
          <a:xfrm>
            <a:off x="7272882" y="34132"/>
            <a:ext cx="4433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América Espanhola</a:t>
            </a:r>
            <a:r>
              <a:rPr lang="pt-BR" dirty="0">
                <a:latin typeface="Arial Black" panose="020B0A04020102020204" pitchFamily="34" charset="0"/>
              </a:rPr>
              <a:t> ( Capítulo 18 pág. 427)</a:t>
            </a:r>
            <a:endParaRPr lang="pt-BR" b="1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55FC1F8-5F16-44CF-9C55-25528D640C88}"/>
              </a:ext>
            </a:extLst>
          </p:cNvPr>
          <p:cNvSpPr/>
          <p:nvPr/>
        </p:nvSpPr>
        <p:spPr>
          <a:xfrm>
            <a:off x="7124700" y="5649010"/>
            <a:ext cx="37052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i="1" dirty="0"/>
              <a:t>“O ouro deixou buracos na</a:t>
            </a:r>
            <a:r>
              <a:rPr lang="pt-BR" altLang="pt-BR" dirty="0"/>
              <a:t> </a:t>
            </a:r>
            <a:r>
              <a:rPr lang="pt-BR" altLang="pt-BR" i="1" dirty="0"/>
              <a:t>América, palácios na Espanha e fábricas na Inglaterra</a:t>
            </a:r>
            <a:r>
              <a:rPr lang="pt-BR" altLang="pt-BR" dirty="0"/>
              <a:t>”. </a:t>
            </a:r>
          </a:p>
        </p:txBody>
      </p:sp>
      <p:pic>
        <p:nvPicPr>
          <p:cNvPr id="2050" name="Picture 2" descr="Incas, Maias e Astecas: diferenças culturais - História - Colégio Web">
            <a:extLst>
              <a:ext uri="{FF2B5EF4-FFF2-40B4-BE49-F238E27FC236}">
                <a16:creationId xmlns:a16="http://schemas.microsoft.com/office/drawing/2014/main" id="{4BFAFA21-843C-4525-9922-C0DD74EEC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789" y="704166"/>
            <a:ext cx="1864422" cy="115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B59890C-8485-4631-9B45-8390434DEEFE}"/>
              </a:ext>
            </a:extLst>
          </p:cNvPr>
          <p:cNvSpPr/>
          <p:nvPr/>
        </p:nvSpPr>
        <p:spPr>
          <a:xfrm>
            <a:off x="409575" y="4593991"/>
            <a:ext cx="9734550" cy="183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Superioridade tecnológica dos espanhóis (armas de fogo e de ferro)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Política de alianças com as comunidades submetidas pelos Astecas ou Incas (estratégia de  Fernão Cortez –Astecas- e Francisco Pizarro -Incas)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O emprego de animais em combate (cavalos e cachorros treinados para matar)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Técnicas de batalha (voltadas para a destruição)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A crença de que os europeus fossem enviados dos deuses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altLang="pt-BR" dirty="0"/>
              <a:t>A guerra biológica (varíola, gripe, peste bubônica, tuberculose, sífilis etc.)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809E716-B1DD-4916-8DEB-0B02A206AAFC}"/>
              </a:ext>
            </a:extLst>
          </p:cNvPr>
          <p:cNvSpPr/>
          <p:nvPr/>
        </p:nvSpPr>
        <p:spPr>
          <a:xfrm>
            <a:off x="7370533" y="1276707"/>
            <a:ext cx="45261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latin typeface="Arial Black" panose="020B0A04020102020204" pitchFamily="34" charset="0"/>
              </a:rPr>
              <a:t>A conquista europeia- fatores agentes na destruição dos impérios Pré-colombianos (século XVI)</a:t>
            </a:r>
            <a:endParaRPr lang="pt-BR" dirty="0">
              <a:latin typeface="Arial Black" panose="020B0A04020102020204" pitchFamily="34" charset="0"/>
            </a:endParaRPr>
          </a:p>
        </p:txBody>
      </p:sp>
      <p:pic>
        <p:nvPicPr>
          <p:cNvPr id="5122" name="Picture 2" descr="Litografia ilustrando a conquista do México por Fernando Cortês">
            <a:extLst>
              <a:ext uri="{FF2B5EF4-FFF2-40B4-BE49-F238E27FC236}">
                <a16:creationId xmlns:a16="http://schemas.microsoft.com/office/drawing/2014/main" id="{582EB10D-99C8-4DD7-B4C0-07E5BAFDA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323850"/>
            <a:ext cx="666750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4CB29DA-F647-41D3-A283-FCA170C68303}"/>
              </a:ext>
            </a:extLst>
          </p:cNvPr>
          <p:cNvCxnSpPr/>
          <p:nvPr/>
        </p:nvCxnSpPr>
        <p:spPr>
          <a:xfrm flipH="1">
            <a:off x="7962900" y="3571649"/>
            <a:ext cx="1181100" cy="1164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2D3AB80E-CD19-4EE8-84D5-CC8D45930071}"/>
              </a:ext>
            </a:extLst>
          </p:cNvPr>
          <p:cNvSpPr/>
          <p:nvPr/>
        </p:nvSpPr>
        <p:spPr>
          <a:xfrm>
            <a:off x="704851" y="4076700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000" b="1" dirty="0">
                <a:solidFill>
                  <a:srgbClr val="888888"/>
                </a:solidFill>
                <a:latin typeface="Georgia" panose="02040502050405020303" pitchFamily="18" charset="0"/>
              </a:rPr>
              <a:t>Litografia ilustrando a conquista do México por Fernando Cortês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05778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1C353BE-F34C-4E54-AEB8-FFB12CE93D0B}"/>
              </a:ext>
            </a:extLst>
          </p:cNvPr>
          <p:cNvSpPr/>
          <p:nvPr/>
        </p:nvSpPr>
        <p:spPr>
          <a:xfrm>
            <a:off x="312626" y="4665524"/>
            <a:ext cx="66484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desorganização do sistema produtivo indígena, na medida em que grandes contingentes  populacionais são deslocados para a mineração gerando surtos de fome.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catequese jesuítica  e seu papel na destruição cultural indígena (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etnocídio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superioridade bélica europeia.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A80F54-E145-4B26-B2DC-DF979959C2A2}"/>
              </a:ext>
            </a:extLst>
          </p:cNvPr>
          <p:cNvSpPr/>
          <p:nvPr/>
        </p:nvSpPr>
        <p:spPr>
          <a:xfrm>
            <a:off x="499108" y="2955130"/>
            <a:ext cx="3737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C00000"/>
                </a:solidFill>
                <a:latin typeface="Arial Black" panose="020B0A04020102020204" pitchFamily="34" charset="0"/>
              </a:rPr>
              <a:t>“A cruz , a espada e a fome”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FA37217-ACC2-4100-950B-4ABE0904E945}"/>
              </a:ext>
            </a:extLst>
          </p:cNvPr>
          <p:cNvSpPr/>
          <p:nvPr/>
        </p:nvSpPr>
        <p:spPr>
          <a:xfrm>
            <a:off x="5108372" y="3352608"/>
            <a:ext cx="6096000" cy="5909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b="1" dirty="0"/>
              <a:t>Estado e Igreja aliados na missão catequizadora – proibição da escravidão indígena- apenas via “Guerras Justas”</a:t>
            </a:r>
            <a:r>
              <a:rPr lang="pt-BR" altLang="pt-BR" dirty="0"/>
              <a:t>.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0BE63D-0E65-4304-9462-101B6CD14D27}"/>
              </a:ext>
            </a:extLst>
          </p:cNvPr>
          <p:cNvSpPr/>
          <p:nvPr/>
        </p:nvSpPr>
        <p:spPr>
          <a:xfrm>
            <a:off x="726819" y="1135280"/>
            <a:ext cx="17211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/>
              <a:t>A Conquista   (Séculos XV-XVI)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8C44417-8E1D-4C22-A5CB-9E1C235C88BF}"/>
              </a:ext>
            </a:extLst>
          </p:cNvPr>
          <p:cNvSpPr/>
          <p:nvPr/>
        </p:nvSpPr>
        <p:spPr>
          <a:xfrm>
            <a:off x="5884659" y="715166"/>
            <a:ext cx="45434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/>
              <a:t>Fernão Cortez conquista o Império Asteca (México)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B95DDEE-55B5-4B46-89AA-DEC5FDFDD98B}"/>
              </a:ext>
            </a:extLst>
          </p:cNvPr>
          <p:cNvSpPr/>
          <p:nvPr/>
        </p:nvSpPr>
        <p:spPr>
          <a:xfrm>
            <a:off x="5875164" y="1411932"/>
            <a:ext cx="4467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/>
              <a:t>Francisco Pizarro  conquista o Império Inca (região do Peru e em torno), </a:t>
            </a:r>
            <a:r>
              <a:rPr lang="pt-BR" altLang="pt-BR" dirty="0" err="1"/>
              <a:t>etc</a:t>
            </a:r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904ECED-D30A-4E7C-A4DD-C1FB380B2225}"/>
              </a:ext>
            </a:extLst>
          </p:cNvPr>
          <p:cNvSpPr/>
          <p:nvPr/>
        </p:nvSpPr>
        <p:spPr>
          <a:xfrm>
            <a:off x="3147162" y="1038331"/>
            <a:ext cx="2676525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dirty="0"/>
              <a:t>Estado delega a iniciativa privada o processo de ocupação e conquista</a:t>
            </a:r>
          </a:p>
        </p:txBody>
      </p:sp>
      <p:sp>
        <p:nvSpPr>
          <p:cNvPr id="9" name="Chave Esquerda 8">
            <a:extLst>
              <a:ext uri="{FF2B5EF4-FFF2-40B4-BE49-F238E27FC236}">
                <a16:creationId xmlns:a16="http://schemas.microsoft.com/office/drawing/2014/main" id="{2E68C24F-90CF-4679-A70E-44EFD59A4CDD}"/>
              </a:ext>
            </a:extLst>
          </p:cNvPr>
          <p:cNvSpPr/>
          <p:nvPr/>
        </p:nvSpPr>
        <p:spPr>
          <a:xfrm>
            <a:off x="5584714" y="438150"/>
            <a:ext cx="511286" cy="20002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C1C4F8BA-465B-42E6-A3A8-28BC8B9E214E}"/>
              </a:ext>
            </a:extLst>
          </p:cNvPr>
          <p:cNvSpPr/>
          <p:nvPr/>
        </p:nvSpPr>
        <p:spPr>
          <a:xfrm>
            <a:off x="2705100" y="1411932"/>
            <a:ext cx="390585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821FDE6E-3AA9-4A01-9282-D3E436C850ED}"/>
              </a:ext>
            </a:extLst>
          </p:cNvPr>
          <p:cNvCxnSpPr/>
          <p:nvPr/>
        </p:nvCxnSpPr>
        <p:spPr>
          <a:xfrm>
            <a:off x="1485900" y="1973814"/>
            <a:ext cx="180975" cy="88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EE52FC8-B111-4183-8697-9B13D996702E}"/>
              </a:ext>
            </a:extLst>
          </p:cNvPr>
          <p:cNvCxnSpPr>
            <a:cxnSpLocks/>
          </p:cNvCxnSpPr>
          <p:nvPr/>
        </p:nvCxnSpPr>
        <p:spPr>
          <a:xfrm>
            <a:off x="1200150" y="3323535"/>
            <a:ext cx="0" cy="324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C968885-4B8B-4237-8B77-C8FD5AF411EC}"/>
              </a:ext>
            </a:extLst>
          </p:cNvPr>
          <p:cNvCxnSpPr/>
          <p:nvPr/>
        </p:nvCxnSpPr>
        <p:spPr>
          <a:xfrm>
            <a:off x="1200150" y="3648074"/>
            <a:ext cx="3695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D4CEDBFF-B5A1-4487-A7B2-30A0B017172A}"/>
              </a:ext>
            </a:extLst>
          </p:cNvPr>
          <p:cNvSpPr/>
          <p:nvPr/>
        </p:nvSpPr>
        <p:spPr>
          <a:xfrm>
            <a:off x="912701" y="3343084"/>
            <a:ext cx="115999" cy="12258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0F3C682-17E4-4ACE-A4E9-037CF674BEC6}"/>
              </a:ext>
            </a:extLst>
          </p:cNvPr>
          <p:cNvSpPr/>
          <p:nvPr/>
        </p:nvSpPr>
        <p:spPr>
          <a:xfrm>
            <a:off x="1188926" y="1186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A Conquista</a:t>
            </a:r>
          </a:p>
        </p:txBody>
      </p:sp>
      <p:pic>
        <p:nvPicPr>
          <p:cNvPr id="20" name="Picture 2" descr="E:\imagens\576px-Cortes_in_Veracruz.jpg">
            <a:extLst>
              <a:ext uri="{FF2B5EF4-FFF2-40B4-BE49-F238E27FC236}">
                <a16:creationId xmlns:a16="http://schemas.microsoft.com/office/drawing/2014/main" id="{F84F1DFF-A4A9-4050-A2FB-FE548A0AE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3839" y="1591817"/>
            <a:ext cx="2068785" cy="169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pectivamente, do Norte do México até o Peru, qual é a ordem dos ...">
            <a:extLst>
              <a:ext uri="{FF2B5EF4-FFF2-40B4-BE49-F238E27FC236}">
                <a16:creationId xmlns:a16="http://schemas.microsoft.com/office/drawing/2014/main" id="{2D1F4569-B22B-4D4C-97E7-8B0C1FA7E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224" y="3943539"/>
            <a:ext cx="21431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553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imagens\576px-Cortes_in_Veracruz.jpg">
            <a:extLst>
              <a:ext uri="{FF2B5EF4-FFF2-40B4-BE49-F238E27FC236}">
                <a16:creationId xmlns:a16="http://schemas.microsoft.com/office/drawing/2014/main" id="{7B9D79D1-F9AD-4F36-3D73-7F37D6460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88620" y="322743"/>
            <a:ext cx="6814760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D54C1ED-F831-46DB-6181-E81F35A068DB}"/>
              </a:ext>
            </a:extLst>
          </p:cNvPr>
          <p:cNvSpPr txBox="1"/>
          <p:nvPr/>
        </p:nvSpPr>
        <p:spPr>
          <a:xfrm>
            <a:off x="457200" y="6041072"/>
            <a:ext cx="9880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Diego Rivera- </a:t>
            </a:r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 Epopeia do Povo Mexicano – </a:t>
            </a:r>
            <a:r>
              <a:rPr lang="pt-BR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 chegada de Hernan Cortés em Veracruz, Afresco – 1935 – Cidade do México.</a:t>
            </a:r>
          </a:p>
        </p:txBody>
      </p:sp>
    </p:spTree>
    <p:extLst>
      <p:ext uri="{BB962C8B-B14F-4D97-AF65-F5344CB8AC3E}">
        <p14:creationId xmlns:p14="http://schemas.microsoft.com/office/powerpoint/2010/main" val="18402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imagens\576px-Cortes_in_Veracruz.jpg">
            <a:extLst>
              <a:ext uri="{FF2B5EF4-FFF2-40B4-BE49-F238E27FC236}">
                <a16:creationId xmlns:a16="http://schemas.microsoft.com/office/drawing/2014/main" id="{909782FC-9168-8F34-E9C8-65A17A4AE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4471" y="92101"/>
            <a:ext cx="8504516" cy="675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98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B96F9A3-4164-4C61-969C-879BA7DFDC83}"/>
              </a:ext>
            </a:extLst>
          </p:cNvPr>
          <p:cNvSpPr txBox="1"/>
          <p:nvPr/>
        </p:nvSpPr>
        <p:spPr>
          <a:xfrm>
            <a:off x="2571610" y="156555"/>
            <a:ext cx="8601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Período Colonial -  Século XVI/XIX ( Capítulo 18 “América Espanhola...” pág. 427)</a:t>
            </a:r>
          </a:p>
        </p:txBody>
      </p:sp>
      <p:pic>
        <p:nvPicPr>
          <p:cNvPr id="7" name="Picture 2" descr="http://4.bp.blogspot.com/-zQBz8ZUL8Bo/TqXkKb1_XAI/AAAAAAAAA5U/E8X_4zWc7iY/s1600/digitalizar0011.jpg">
            <a:extLst>
              <a:ext uri="{FF2B5EF4-FFF2-40B4-BE49-F238E27FC236}">
                <a16:creationId xmlns:a16="http://schemas.microsoft.com/office/drawing/2014/main" id="{5CA91BF7-B0B6-4931-94D3-A5743EB4C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818" y="876770"/>
            <a:ext cx="3396091" cy="4141456"/>
          </a:xfrm>
          <a:prstGeom prst="rect">
            <a:avLst/>
          </a:prstGeom>
          <a:noFill/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CA111F41-2F79-4C71-B059-733D61F7BC02}"/>
              </a:ext>
            </a:extLst>
          </p:cNvPr>
          <p:cNvSpPr/>
          <p:nvPr/>
        </p:nvSpPr>
        <p:spPr>
          <a:xfrm>
            <a:off x="8014302" y="2696513"/>
            <a:ext cx="40195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/>
              <a:t>Trabalho compulsório dos índios: </a:t>
            </a:r>
            <a:r>
              <a:rPr lang="pt-BR" altLang="pt-BR" dirty="0">
                <a:solidFill>
                  <a:srgbClr val="FF0000"/>
                </a:solidFill>
              </a:rPr>
              <a:t>Mita, </a:t>
            </a:r>
            <a:r>
              <a:rPr lang="pt-BR" altLang="pt-BR" dirty="0" err="1">
                <a:solidFill>
                  <a:srgbClr val="FF0000"/>
                </a:solidFill>
              </a:rPr>
              <a:t>Encomienda</a:t>
            </a:r>
            <a:r>
              <a:rPr lang="pt-BR" altLang="pt-BR" dirty="0">
                <a:solidFill>
                  <a:srgbClr val="FF0000"/>
                </a:solidFill>
              </a:rPr>
              <a:t> (</a:t>
            </a:r>
            <a:r>
              <a:rPr lang="pt-BR" altLang="pt-BR" dirty="0" err="1"/>
              <a:t>Repartimiento</a:t>
            </a:r>
            <a:r>
              <a:rPr lang="pt-BR" altLang="pt-BR" dirty="0"/>
              <a:t>)- áreas mineradoras (México, Peru, Bolívia ,</a:t>
            </a:r>
            <a:r>
              <a:rPr lang="pt-BR" altLang="pt-BR" dirty="0" err="1"/>
              <a:t>etc</a:t>
            </a:r>
            <a:r>
              <a:rPr lang="pt-BR" altLang="pt-BR" dirty="0"/>
              <a:t>)</a:t>
            </a:r>
          </a:p>
          <a:p>
            <a:r>
              <a:rPr lang="pt-BR" altLang="pt-BR" dirty="0">
                <a:solidFill>
                  <a:srgbClr val="FF0000"/>
                </a:solidFill>
              </a:rPr>
              <a:t>Trabalho escravo africano</a:t>
            </a:r>
            <a:r>
              <a:rPr lang="pt-BR" altLang="pt-BR" dirty="0"/>
              <a:t>: áreas de plantation ( Antilhas, regiões da América Central e  do Sul)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EF8E29B-44CB-4874-B548-9D750810A72E}"/>
              </a:ext>
            </a:extLst>
          </p:cNvPr>
          <p:cNvSpPr/>
          <p:nvPr/>
        </p:nvSpPr>
        <p:spPr>
          <a:xfrm>
            <a:off x="5255742" y="4011891"/>
            <a:ext cx="2197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Exploração do Trabalho </a:t>
            </a:r>
            <a:endParaRPr lang="pt-BR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A6EE05A-60B8-4094-BB46-A0370674EEC4}"/>
              </a:ext>
            </a:extLst>
          </p:cNvPr>
          <p:cNvSpPr/>
          <p:nvPr/>
        </p:nvSpPr>
        <p:spPr>
          <a:xfrm>
            <a:off x="8771168" y="5212980"/>
            <a:ext cx="19422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 err="1"/>
              <a:t>Chapetones</a:t>
            </a:r>
            <a:endParaRPr lang="pt-BR" altLang="pt-BR" dirty="0"/>
          </a:p>
          <a:p>
            <a:r>
              <a:rPr lang="pt-BR" altLang="pt-BR" dirty="0" err="1"/>
              <a:t>Criollos</a:t>
            </a:r>
            <a:endParaRPr lang="pt-BR" altLang="pt-BR" dirty="0"/>
          </a:p>
          <a:p>
            <a:r>
              <a:rPr lang="pt-BR" altLang="pt-BR" dirty="0"/>
              <a:t>Mestiços</a:t>
            </a:r>
          </a:p>
          <a:p>
            <a:r>
              <a:rPr lang="pt-BR" altLang="pt-BR" dirty="0"/>
              <a:t>Índios </a:t>
            </a:r>
          </a:p>
          <a:p>
            <a:r>
              <a:rPr lang="pt-BR" altLang="pt-BR" dirty="0"/>
              <a:t>Escravos Africanos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66461A4-DEB2-4CCC-90AD-5A126FC066C3}"/>
              </a:ext>
            </a:extLst>
          </p:cNvPr>
          <p:cNvSpPr/>
          <p:nvPr/>
        </p:nvSpPr>
        <p:spPr>
          <a:xfrm>
            <a:off x="6984427" y="5382689"/>
            <a:ext cx="15656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latin typeface="Arial Black" panose="020B0A04020102020204" pitchFamily="34" charset="0"/>
              </a:rPr>
              <a:t>Sociedade Colonial</a:t>
            </a:r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778EF99-D927-4FC3-9CC6-345C435F268A}"/>
              </a:ext>
            </a:extLst>
          </p:cNvPr>
          <p:cNvSpPr/>
          <p:nvPr/>
        </p:nvSpPr>
        <p:spPr>
          <a:xfrm>
            <a:off x="7618978" y="900609"/>
            <a:ext cx="35537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/>
              <a:t>- O “Exclusivo Metropolitano”</a:t>
            </a:r>
          </a:p>
          <a:p>
            <a:r>
              <a:rPr lang="pt-BR" altLang="pt-BR" dirty="0"/>
              <a:t>- O Sistema de Portos Únicos </a:t>
            </a:r>
          </a:p>
          <a:p>
            <a:r>
              <a:rPr lang="pt-BR" altLang="pt-BR" dirty="0"/>
              <a:t>(Sevilha em direção à Cartagena, Porto Belo e Vera Cruz) </a:t>
            </a:r>
          </a:p>
          <a:p>
            <a:r>
              <a:rPr lang="pt-BR" altLang="pt-BR" dirty="0"/>
              <a:t>- Os Comboios (ou frotas duas vezes ao ano)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34F30B4-4D3B-479A-868D-7B24847B275E}"/>
              </a:ext>
            </a:extLst>
          </p:cNvPr>
          <p:cNvSpPr/>
          <p:nvPr/>
        </p:nvSpPr>
        <p:spPr>
          <a:xfrm>
            <a:off x="4195959" y="1482106"/>
            <a:ext cx="3099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Arial Black" panose="020B0A04020102020204" pitchFamily="34" charset="0"/>
              </a:rPr>
              <a:t>Sistema de Exploração</a:t>
            </a:r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398A8CC-F722-46F1-8880-741A96D09EDD}"/>
              </a:ext>
            </a:extLst>
          </p:cNvPr>
          <p:cNvSpPr txBox="1"/>
          <p:nvPr/>
        </p:nvSpPr>
        <p:spPr>
          <a:xfrm>
            <a:off x="4526319" y="2336210"/>
            <a:ext cx="2345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Economia Mineradora e Agroexportadora</a:t>
            </a:r>
          </a:p>
        </p:txBody>
      </p:sp>
      <p:sp>
        <p:nvSpPr>
          <p:cNvPr id="15" name="Chave Esquerda 14">
            <a:extLst>
              <a:ext uri="{FF2B5EF4-FFF2-40B4-BE49-F238E27FC236}">
                <a16:creationId xmlns:a16="http://schemas.microsoft.com/office/drawing/2014/main" id="{58E4F7A5-D395-4B96-9867-5B12AE72BCFA}"/>
              </a:ext>
            </a:extLst>
          </p:cNvPr>
          <p:cNvSpPr/>
          <p:nvPr/>
        </p:nvSpPr>
        <p:spPr>
          <a:xfrm>
            <a:off x="7247007" y="917616"/>
            <a:ext cx="523875" cy="15800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E9B0E113-DDDA-45C6-92B3-4F6E3B484D27}"/>
              </a:ext>
            </a:extLst>
          </p:cNvPr>
          <p:cNvCxnSpPr/>
          <p:nvPr/>
        </p:nvCxnSpPr>
        <p:spPr>
          <a:xfrm>
            <a:off x="7329172" y="3071085"/>
            <a:ext cx="479471" cy="208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F39396B7-5A21-4250-A8B1-944EF9574E4F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6984427" y="3573676"/>
            <a:ext cx="1029875" cy="411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541B0636-2C11-4C13-B940-3DD15D389479}"/>
              </a:ext>
            </a:extLst>
          </p:cNvPr>
          <p:cNvCxnSpPr>
            <a:stCxn id="14" idx="2"/>
            <a:endCxn id="9" idx="0"/>
          </p:cNvCxnSpPr>
          <p:nvPr/>
        </p:nvCxnSpPr>
        <p:spPr>
          <a:xfrm>
            <a:off x="5699234" y="3259540"/>
            <a:ext cx="655504" cy="752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have Esquerda 21">
            <a:extLst>
              <a:ext uri="{FF2B5EF4-FFF2-40B4-BE49-F238E27FC236}">
                <a16:creationId xmlns:a16="http://schemas.microsoft.com/office/drawing/2014/main" id="{662D4E20-00A0-4DCC-8408-F74FA3E417F3}"/>
              </a:ext>
            </a:extLst>
          </p:cNvPr>
          <p:cNvSpPr/>
          <p:nvPr/>
        </p:nvSpPr>
        <p:spPr>
          <a:xfrm>
            <a:off x="8474685" y="5144171"/>
            <a:ext cx="375464" cy="1557274"/>
          </a:xfrm>
          <a:prstGeom prst="leftBrace">
            <a:avLst>
              <a:gd name="adj1" fmla="val 8333"/>
              <a:gd name="adj2" fmla="val 492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62DA4DD-1B9D-4257-A163-E6E5A791D563}"/>
              </a:ext>
            </a:extLst>
          </p:cNvPr>
          <p:cNvSpPr/>
          <p:nvPr/>
        </p:nvSpPr>
        <p:spPr>
          <a:xfrm>
            <a:off x="2528483" y="5176989"/>
            <a:ext cx="40829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/>
              <a:t>Na Metrópole: Casa de </a:t>
            </a:r>
            <a:r>
              <a:rPr lang="pt-BR" altLang="pt-BR" dirty="0" err="1"/>
              <a:t>Contratacion</a:t>
            </a:r>
            <a:r>
              <a:rPr lang="pt-BR" altLang="pt-BR" dirty="0"/>
              <a:t> e Conselho das Índias- sediados em Sevilha</a:t>
            </a:r>
          </a:p>
          <a:p>
            <a:r>
              <a:rPr lang="pt-BR" altLang="pt-BR" dirty="0"/>
              <a:t>Na colônia: divisão em Vice- Reinados e Capitanias, criação das Audiências e formação dos </a:t>
            </a:r>
            <a:r>
              <a:rPr lang="pt-BR" altLang="pt-BR" dirty="0" err="1"/>
              <a:t>Cabildos</a:t>
            </a:r>
            <a:endParaRPr lang="pt-BR" alt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8B35930-127F-4109-8BC2-19C66B735B15}"/>
              </a:ext>
            </a:extLst>
          </p:cNvPr>
          <p:cNvSpPr/>
          <p:nvPr/>
        </p:nvSpPr>
        <p:spPr>
          <a:xfrm>
            <a:off x="399011" y="5616051"/>
            <a:ext cx="20450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b="1" dirty="0">
                <a:latin typeface="Arial Black" panose="020B0A04020102020204" pitchFamily="34" charset="0"/>
              </a:rPr>
              <a:t>Administração Colonial</a:t>
            </a:r>
            <a:endParaRPr lang="pt-BR" b="1" dirty="0">
              <a:latin typeface="Arial Black" panose="020B0A04020102020204" pitchFamily="34" charset="0"/>
            </a:endParaRPr>
          </a:p>
        </p:txBody>
      </p:sp>
      <p:sp>
        <p:nvSpPr>
          <p:cNvPr id="31" name="Chave Esquerda 30">
            <a:extLst>
              <a:ext uri="{FF2B5EF4-FFF2-40B4-BE49-F238E27FC236}">
                <a16:creationId xmlns:a16="http://schemas.microsoft.com/office/drawing/2014/main" id="{49DC8A04-F24A-4DD3-930D-4271F548A818}"/>
              </a:ext>
            </a:extLst>
          </p:cNvPr>
          <p:cNvSpPr/>
          <p:nvPr/>
        </p:nvSpPr>
        <p:spPr>
          <a:xfrm>
            <a:off x="2155449" y="5176989"/>
            <a:ext cx="702051" cy="15244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14043168-FC2D-4C1F-8C76-90F5F42F66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93" r="46940" b="-1492"/>
          <a:stretch/>
        </p:blipFill>
        <p:spPr bwMode="auto">
          <a:xfrm>
            <a:off x="10849526" y="73095"/>
            <a:ext cx="1237888" cy="158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358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images.slideplayer.com.br/6/1695028/slides/slide_5.jpg">
            <a:extLst>
              <a:ext uri="{FF2B5EF4-FFF2-40B4-BE49-F238E27FC236}">
                <a16:creationId xmlns:a16="http://schemas.microsoft.com/office/drawing/2014/main" id="{FFEEB4EB-4BEF-4C47-A407-42A65D83C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4" y="249238"/>
            <a:ext cx="8016875" cy="601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51B7EAF-A0A0-4661-A38A-62AD670C9DBA}"/>
              </a:ext>
            </a:extLst>
          </p:cNvPr>
          <p:cNvSpPr/>
          <p:nvPr/>
        </p:nvSpPr>
        <p:spPr>
          <a:xfrm>
            <a:off x="230305" y="2052578"/>
            <a:ext cx="30367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A CRISE DO IMPÉRIO COLONIAL ESPANHOL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1EF3CD-DF8F-4FDF-8B61-ED495A3DCFF6}"/>
              </a:ext>
            </a:extLst>
          </p:cNvPr>
          <p:cNvSpPr txBox="1"/>
          <p:nvPr/>
        </p:nvSpPr>
        <p:spPr>
          <a:xfrm>
            <a:off x="3701313" y="2173753"/>
            <a:ext cx="160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Fatores Favoráveis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BCADF57-B4D1-4916-8A84-19DD73D73C4A}"/>
              </a:ext>
            </a:extLst>
          </p:cNvPr>
          <p:cNvSpPr/>
          <p:nvPr/>
        </p:nvSpPr>
        <p:spPr>
          <a:xfrm>
            <a:off x="5372099" y="1575226"/>
            <a:ext cx="388620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-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>
                <a:cs typeface="Arial" panose="020B0604020202020204" pitchFamily="34" charset="0"/>
              </a:rPr>
              <a:t>Iluminismo</a:t>
            </a:r>
          </a:p>
          <a:p>
            <a:r>
              <a:rPr lang="pt-BR" dirty="0">
                <a:cs typeface="Arial" panose="020B0604020202020204" pitchFamily="34" charset="0"/>
              </a:rPr>
              <a:t>- A Independência dos Estados Unidos</a:t>
            </a:r>
          </a:p>
          <a:p>
            <a:r>
              <a:rPr lang="pt-BR" dirty="0">
                <a:cs typeface="Arial" panose="020B0604020202020204" pitchFamily="34" charset="0"/>
              </a:rPr>
              <a:t>- A Revolução Industrial  </a:t>
            </a:r>
          </a:p>
          <a:p>
            <a:r>
              <a:rPr lang="pt-BR" dirty="0">
                <a:cs typeface="Arial" panose="020B0604020202020204" pitchFamily="34" charset="0"/>
              </a:rPr>
              <a:t>- A Revolução Francesa </a:t>
            </a:r>
          </a:p>
          <a:p>
            <a:r>
              <a:rPr lang="pt-BR" dirty="0">
                <a:cs typeface="Arial" panose="020B0604020202020204" pitchFamily="34" charset="0"/>
              </a:rPr>
              <a:t>- O Imperialismo Napoleônico (Bloqueio Continental -1806)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2D3766-10EB-4BFA-8306-75AAB7870BEE}"/>
              </a:ext>
            </a:extLst>
          </p:cNvPr>
          <p:cNvSpPr txBox="1"/>
          <p:nvPr/>
        </p:nvSpPr>
        <p:spPr>
          <a:xfrm>
            <a:off x="2647950" y="257175"/>
            <a:ext cx="286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Século XVIII e XIX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6D3C88E-3104-4D68-B1F3-15ACD753BBA0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267075" y="2375744"/>
            <a:ext cx="434238" cy="121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have Esquerda 10">
            <a:extLst>
              <a:ext uri="{FF2B5EF4-FFF2-40B4-BE49-F238E27FC236}">
                <a16:creationId xmlns:a16="http://schemas.microsoft.com/office/drawing/2014/main" id="{AC0AF0A1-B1F8-4536-9A40-2B821B64AA1C}"/>
              </a:ext>
            </a:extLst>
          </p:cNvPr>
          <p:cNvSpPr/>
          <p:nvPr/>
        </p:nvSpPr>
        <p:spPr>
          <a:xfrm>
            <a:off x="4785460" y="1575226"/>
            <a:ext cx="1215290" cy="185377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2" descr="O Império de Napoleão e o Congresso de Viena">
            <a:extLst>
              <a:ext uri="{FF2B5EF4-FFF2-40B4-BE49-F238E27FC236}">
                <a16:creationId xmlns:a16="http://schemas.microsoft.com/office/drawing/2014/main" id="{7BE7B360-32DD-40BC-934D-FAAC0620B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05" y="3143250"/>
            <a:ext cx="4295222" cy="341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39BEB29-3390-468E-B420-9BA7522DAB31}"/>
              </a:ext>
            </a:extLst>
          </p:cNvPr>
          <p:cNvCxnSpPr>
            <a:cxnSpLocks/>
          </p:cNvCxnSpPr>
          <p:nvPr/>
        </p:nvCxnSpPr>
        <p:spPr>
          <a:xfrm>
            <a:off x="6000750" y="3297436"/>
            <a:ext cx="17430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B880D538-076B-405E-A427-4EC60E44AE6E}"/>
              </a:ext>
            </a:extLst>
          </p:cNvPr>
          <p:cNvCxnSpPr/>
          <p:nvPr/>
        </p:nvCxnSpPr>
        <p:spPr>
          <a:xfrm>
            <a:off x="6872287" y="3329552"/>
            <a:ext cx="0" cy="151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FCE1A173-8914-4D25-8323-B15B12E505ED}"/>
              </a:ext>
            </a:extLst>
          </p:cNvPr>
          <p:cNvCxnSpPr/>
          <p:nvPr/>
        </p:nvCxnSpPr>
        <p:spPr>
          <a:xfrm flipH="1">
            <a:off x="4905375" y="4848392"/>
            <a:ext cx="19669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284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2834BB-44B4-4AA1-9243-3336209D2D4F}"/>
              </a:ext>
            </a:extLst>
          </p:cNvPr>
          <p:cNvSpPr/>
          <p:nvPr/>
        </p:nvSpPr>
        <p:spPr>
          <a:xfrm>
            <a:off x="2884831" y="5085143"/>
            <a:ext cx="81200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O processo da independência da América Hispânica está diretamente relacionado com a deposição de Fernando VII em 1808, quando as tropas francesas ocuparam a Espanha. Napoleão Bonaparte nomeia seu irmão, José Bonaparte, como o novo rei da Espanha, desencadeando uma forte reação nas colônias, que passaram a formar as Juntas Governativas - com caráter separatistas e lideradas pelos </a:t>
            </a:r>
            <a:r>
              <a:rPr lang="pt-BR" dirty="0" err="1"/>
              <a:t>criollos</a:t>
            </a:r>
            <a:r>
              <a:rPr lang="pt-BR" dirty="0"/>
              <a:t>.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CA83C5F-6984-4516-9085-12D0E27DBDB7}"/>
              </a:ext>
            </a:extLst>
          </p:cNvPr>
          <p:cNvSpPr/>
          <p:nvPr/>
        </p:nvSpPr>
        <p:spPr>
          <a:xfrm>
            <a:off x="4019550" y="40694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Francisco Miranda  (1806) - Projeto </a:t>
            </a:r>
            <a:r>
              <a:rPr lang="pt-BR" dirty="0" err="1"/>
              <a:t>Criollo</a:t>
            </a:r>
            <a:r>
              <a:rPr lang="pt-BR" dirty="0"/>
              <a:t> - tenta iniciar um movimento a partir da Venezuela, movimento que fracassou. ..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7537C60-903E-4D88-A1CC-88753ECEFE2B}"/>
              </a:ext>
            </a:extLst>
          </p:cNvPr>
          <p:cNvSpPr txBox="1"/>
          <p:nvPr/>
        </p:nvSpPr>
        <p:spPr>
          <a:xfrm>
            <a:off x="1669291" y="3864394"/>
            <a:ext cx="1552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Movimentos Precursores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4E40716-5EA6-421B-B10B-7E7EB97FDD9A}"/>
              </a:ext>
            </a:extLst>
          </p:cNvPr>
          <p:cNvSpPr/>
          <p:nvPr/>
        </p:nvSpPr>
        <p:spPr>
          <a:xfrm>
            <a:off x="724043" y="172608"/>
            <a:ext cx="45822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C00000"/>
                </a:solidFill>
                <a:latin typeface="Arial Black" panose="020B0A04020102020204" pitchFamily="34" charset="0"/>
              </a:rPr>
              <a:t>O PROCESSO DA INDEPENDÊNCIA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762985-D8E7-4283-9DD0-656DB9DD869D}"/>
              </a:ext>
            </a:extLst>
          </p:cNvPr>
          <p:cNvSpPr txBox="1"/>
          <p:nvPr/>
        </p:nvSpPr>
        <p:spPr>
          <a:xfrm>
            <a:off x="1054929" y="1153209"/>
            <a:ext cx="1390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Os Motivos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F1CB87-570F-4676-B058-36EEF8BDBAC2}"/>
              </a:ext>
            </a:extLst>
          </p:cNvPr>
          <p:cNvSpPr txBox="1"/>
          <p:nvPr/>
        </p:nvSpPr>
        <p:spPr>
          <a:xfrm>
            <a:off x="3562207" y="856012"/>
            <a:ext cx="4543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Elite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Criolla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excluída dos cargos políticos/administrativos dentro da colônia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EF30C9-415E-4EE2-BCE2-AC1BD66E93E7}"/>
              </a:ext>
            </a:extLst>
          </p:cNvPr>
          <p:cNvSpPr txBox="1"/>
          <p:nvPr/>
        </p:nvSpPr>
        <p:spPr>
          <a:xfrm>
            <a:off x="3495532" y="1807398"/>
            <a:ext cx="53435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Interesses na liberdade comercial (fim do pacto colonial) ,</a:t>
            </a:r>
            <a:r>
              <a:rPr lang="pt-BR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fator de convergência com os interesses ingleses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93D907A-8670-42A5-A385-173473920E4C}"/>
              </a:ext>
            </a:extLst>
          </p:cNvPr>
          <p:cNvCxnSpPr>
            <a:cxnSpLocks/>
          </p:cNvCxnSpPr>
          <p:nvPr/>
        </p:nvCxnSpPr>
        <p:spPr>
          <a:xfrm flipV="1">
            <a:off x="2461040" y="1254249"/>
            <a:ext cx="847582" cy="14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6B00F7E-C6CB-43D0-9764-41326527B1CA}"/>
              </a:ext>
            </a:extLst>
          </p:cNvPr>
          <p:cNvCxnSpPr/>
          <p:nvPr/>
        </p:nvCxnSpPr>
        <p:spPr>
          <a:xfrm>
            <a:off x="2551456" y="1610870"/>
            <a:ext cx="666750" cy="494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0C985E9-B53A-4964-A9D2-C930D6F93E47}"/>
              </a:ext>
            </a:extLst>
          </p:cNvPr>
          <p:cNvSpPr txBox="1"/>
          <p:nvPr/>
        </p:nvSpPr>
        <p:spPr>
          <a:xfrm>
            <a:off x="799142" y="3042453"/>
            <a:ext cx="3023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O Processo (as lutas)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1CCB2C5-A678-4490-AC0C-C02EFC8A2DDE}"/>
              </a:ext>
            </a:extLst>
          </p:cNvPr>
          <p:cNvSpPr/>
          <p:nvPr/>
        </p:nvSpPr>
        <p:spPr>
          <a:xfrm>
            <a:off x="4019550" y="370014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Rebelião de </a:t>
            </a:r>
            <a:r>
              <a:rPr lang="pt-BR" dirty="0" err="1"/>
              <a:t>Tupac</a:t>
            </a:r>
            <a:r>
              <a:rPr lang="pt-BR" dirty="0"/>
              <a:t> </a:t>
            </a:r>
            <a:r>
              <a:rPr lang="pt-BR" dirty="0" err="1"/>
              <a:t>Amaru</a:t>
            </a:r>
            <a:r>
              <a:rPr lang="pt-BR" dirty="0"/>
              <a:t> (1780) – Projeto Indígena.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649673E-1A27-4304-9D2D-9C30C9F0C93F}"/>
              </a:ext>
            </a:extLst>
          </p:cNvPr>
          <p:cNvSpPr txBox="1"/>
          <p:nvPr/>
        </p:nvSpPr>
        <p:spPr>
          <a:xfrm>
            <a:off x="994190" y="5381625"/>
            <a:ext cx="2314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 situação na Metrópole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0A7BB36C-124A-4B9A-A315-2A12F2BEF5F4}"/>
              </a:ext>
            </a:extLst>
          </p:cNvPr>
          <p:cNvSpPr/>
          <p:nvPr/>
        </p:nvSpPr>
        <p:spPr>
          <a:xfrm>
            <a:off x="3308622" y="4161639"/>
            <a:ext cx="362093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have Esquerda 17">
            <a:extLst>
              <a:ext uri="{FF2B5EF4-FFF2-40B4-BE49-F238E27FC236}">
                <a16:creationId xmlns:a16="http://schemas.microsoft.com/office/drawing/2014/main" id="{F7717B3D-7105-42F5-91DC-28558F123DBD}"/>
              </a:ext>
            </a:extLst>
          </p:cNvPr>
          <p:cNvSpPr/>
          <p:nvPr/>
        </p:nvSpPr>
        <p:spPr>
          <a:xfrm>
            <a:off x="3823115" y="3549180"/>
            <a:ext cx="409575" cy="13163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have Esquerda 18">
            <a:extLst>
              <a:ext uri="{FF2B5EF4-FFF2-40B4-BE49-F238E27FC236}">
                <a16:creationId xmlns:a16="http://schemas.microsoft.com/office/drawing/2014/main" id="{57868983-DBC4-4220-A6F7-E792EE9DA9E6}"/>
              </a:ext>
            </a:extLst>
          </p:cNvPr>
          <p:cNvSpPr/>
          <p:nvPr/>
        </p:nvSpPr>
        <p:spPr>
          <a:xfrm>
            <a:off x="2474705" y="4875655"/>
            <a:ext cx="582269" cy="17609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4" name="Picture 2" descr="Aventuras na História · Túpac Amaru: A fúria inca">
            <a:extLst>
              <a:ext uri="{FF2B5EF4-FFF2-40B4-BE49-F238E27FC236}">
                <a16:creationId xmlns:a16="http://schemas.microsoft.com/office/drawing/2014/main" id="{B0E4D994-97CA-400F-995D-A19E38E36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49" y="2951989"/>
            <a:ext cx="1995520" cy="111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918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3.bp.blogspot.com/_FK5QjE4gwZc/S5Rzm_UZciI/AAAAAAAAGWY/k9BkyPziNxg/s640/be84b663e70d546627913fac16d5a2ed.jpg">
            <a:extLst>
              <a:ext uri="{FF2B5EF4-FFF2-40B4-BE49-F238E27FC236}">
                <a16:creationId xmlns:a16="http://schemas.microsoft.com/office/drawing/2014/main" id="{3EF7AE8F-2FF4-498B-86D1-6DF5D4D8A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290" y="78033"/>
            <a:ext cx="2304983" cy="1810617"/>
          </a:xfrm>
          <a:prstGeom prst="rect">
            <a:avLst/>
          </a:prstGeom>
          <a:noFill/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F9C68D7-8440-46B2-AFD3-866EA9FCB324}"/>
              </a:ext>
            </a:extLst>
          </p:cNvPr>
          <p:cNvSpPr/>
          <p:nvPr/>
        </p:nvSpPr>
        <p:spPr>
          <a:xfrm>
            <a:off x="53752" y="5900444"/>
            <a:ext cx="94964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tx2"/>
                </a:solidFill>
              </a:rPr>
              <a:t>O movimento emancipacionista contou com a liderança dos chamados "libertadores da América" (membros da elite </a:t>
            </a:r>
            <a:r>
              <a:rPr lang="pt-BR" b="1" dirty="0" err="1">
                <a:solidFill>
                  <a:schemeClr val="tx2"/>
                </a:solidFill>
              </a:rPr>
              <a:t>criolla</a:t>
            </a:r>
            <a:r>
              <a:rPr lang="pt-BR" b="1" dirty="0">
                <a:solidFill>
                  <a:schemeClr val="tx2"/>
                </a:solidFill>
              </a:rPr>
              <a:t>)- </a:t>
            </a:r>
            <a:r>
              <a:rPr lang="pt-BR" b="1" dirty="0" err="1">
                <a:solidFill>
                  <a:schemeClr val="tx2"/>
                </a:solidFill>
              </a:rPr>
              <a:t>Simón</a:t>
            </a:r>
            <a:r>
              <a:rPr lang="pt-BR" b="1" dirty="0">
                <a:solidFill>
                  <a:schemeClr val="tx2"/>
                </a:solidFill>
              </a:rPr>
              <a:t> Bolívar, José de San Martin, José Sucre, Bernardo </a:t>
            </a:r>
            <a:r>
              <a:rPr lang="pt-BR" b="1" dirty="0" err="1">
                <a:solidFill>
                  <a:schemeClr val="tx2"/>
                </a:solidFill>
              </a:rPr>
              <a:t>O'Higgins</a:t>
            </a:r>
            <a:r>
              <a:rPr lang="pt-BR" b="1" dirty="0">
                <a:solidFill>
                  <a:schemeClr val="tx2"/>
                </a:solidFill>
              </a:rPr>
              <a:t>, Augustin </a:t>
            </a:r>
            <a:r>
              <a:rPr lang="pt-BR" b="1" dirty="0" err="1">
                <a:solidFill>
                  <a:schemeClr val="tx2"/>
                </a:solidFill>
              </a:rPr>
              <a:t>Itúrbide</a:t>
            </a:r>
            <a:r>
              <a:rPr lang="pt-BR" b="1" dirty="0">
                <a:solidFill>
                  <a:schemeClr val="tx2"/>
                </a:solidFill>
              </a:rPr>
              <a:t>, etc.</a:t>
            </a:r>
          </a:p>
        </p:txBody>
      </p:sp>
      <p:pic>
        <p:nvPicPr>
          <p:cNvPr id="4" name="Picture 2" descr="http://www.portalsaofrancisco.com.br/alfa/independencia-da-america-espanhola/imagens/independencia-america-espanhola3.jpg">
            <a:extLst>
              <a:ext uri="{FF2B5EF4-FFF2-40B4-BE49-F238E27FC236}">
                <a16:creationId xmlns:a16="http://schemas.microsoft.com/office/drawing/2014/main" id="{A456E5D4-A4CB-4118-8042-AD8E75873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2470" y="2413190"/>
            <a:ext cx="1720624" cy="2236811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7B0B8DD-A1FA-4122-B214-12D95A5CCD16}"/>
              </a:ext>
            </a:extLst>
          </p:cNvPr>
          <p:cNvSpPr txBox="1"/>
          <p:nvPr/>
        </p:nvSpPr>
        <p:spPr>
          <a:xfrm>
            <a:off x="361950" y="1974429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Simon Bolívar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47336B-8143-4227-8DFF-09F949A42013}"/>
              </a:ext>
            </a:extLst>
          </p:cNvPr>
          <p:cNvSpPr txBox="1"/>
          <p:nvPr/>
        </p:nvSpPr>
        <p:spPr>
          <a:xfrm>
            <a:off x="432470" y="4847528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José de San Martim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A84E3CE-813C-4F23-8D77-DD2C792EA20B}"/>
              </a:ext>
            </a:extLst>
          </p:cNvPr>
          <p:cNvSpPr/>
          <p:nvPr/>
        </p:nvSpPr>
        <p:spPr>
          <a:xfrm>
            <a:off x="3061370" y="1797483"/>
            <a:ext cx="84012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1810/1814 – o </a:t>
            </a:r>
            <a:r>
              <a:rPr lang="pt-BR" dirty="0" err="1"/>
              <a:t>Lealismo</a:t>
            </a:r>
            <a:r>
              <a:rPr lang="pt-BR" dirty="0"/>
              <a:t> das elites coloniais como argumento de ruptura; derrotas militares ( sem apoio substancial Inglês); </a:t>
            </a:r>
            <a:r>
              <a:rPr lang="pt-BR" b="1" dirty="0">
                <a:solidFill>
                  <a:srgbClr val="FF0000"/>
                </a:solidFill>
                <a:latin typeface="+mj-lt"/>
              </a:rPr>
              <a:t>destaca-se a tentativa de independência do México, conduzida pelos padres </a:t>
            </a:r>
            <a:r>
              <a:rPr lang="pt-BR" b="1" dirty="0" err="1">
                <a:solidFill>
                  <a:srgbClr val="FF0000"/>
                </a:solidFill>
                <a:latin typeface="+mj-lt"/>
              </a:rPr>
              <a:t>Morelos</a:t>
            </a:r>
            <a:r>
              <a:rPr lang="pt-BR" b="1" dirty="0">
                <a:solidFill>
                  <a:srgbClr val="FF0000"/>
                </a:solidFill>
                <a:latin typeface="+mj-lt"/>
              </a:rPr>
              <a:t> e Hidalgo que ameaça tanto os </a:t>
            </a:r>
            <a:r>
              <a:rPr lang="pt-BR" b="1" dirty="0" err="1">
                <a:solidFill>
                  <a:srgbClr val="FF0000"/>
                </a:solidFill>
                <a:latin typeface="+mj-lt"/>
              </a:rPr>
              <a:t>chapetones</a:t>
            </a:r>
            <a:r>
              <a:rPr lang="pt-BR" b="1" dirty="0">
                <a:solidFill>
                  <a:srgbClr val="FF0000"/>
                </a:solidFill>
                <a:latin typeface="+mj-lt"/>
              </a:rPr>
              <a:t> (politicamente) quanto os </a:t>
            </a:r>
            <a:r>
              <a:rPr lang="pt-BR" b="1" dirty="0" err="1">
                <a:solidFill>
                  <a:srgbClr val="FF0000"/>
                </a:solidFill>
                <a:latin typeface="+mj-lt"/>
              </a:rPr>
              <a:t>criollos</a:t>
            </a:r>
            <a:r>
              <a:rPr lang="pt-BR" b="1" dirty="0">
                <a:solidFill>
                  <a:srgbClr val="FF0000"/>
                </a:solidFill>
                <a:latin typeface="+mj-lt"/>
              </a:rPr>
              <a:t> ( mudanças econômicas e sociais </a:t>
            </a:r>
            <a:r>
              <a:rPr lang="pt-BR" dirty="0"/>
              <a:t>); Augustin </a:t>
            </a:r>
            <a:r>
              <a:rPr lang="pt-BR" dirty="0" err="1"/>
              <a:t>Itúrbide</a:t>
            </a:r>
            <a:r>
              <a:rPr lang="pt-BR" dirty="0"/>
              <a:t> surge como repressor/conciliador que elimina o risco de mudanças estruturais.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116D24-7C18-4DD9-BB0A-109D3946E02D}"/>
              </a:ext>
            </a:extLst>
          </p:cNvPr>
          <p:cNvSpPr txBox="1"/>
          <p:nvPr/>
        </p:nvSpPr>
        <p:spPr>
          <a:xfrm>
            <a:off x="5114925" y="788278"/>
            <a:ext cx="1781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 Black" panose="020B0A04020102020204" pitchFamily="34" charset="0"/>
              </a:rPr>
              <a:t>As Fases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29EEC41-774F-4524-8693-19684B0E2F25}"/>
              </a:ext>
            </a:extLst>
          </p:cNvPr>
          <p:cNvSpPr/>
          <p:nvPr/>
        </p:nvSpPr>
        <p:spPr>
          <a:xfrm>
            <a:off x="3343211" y="3502858"/>
            <a:ext cx="722947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1815/25- Com apoio militar e financeiro Inglês mais consistente, a luta recomeça e as vitórias militares são possíveis. Simon Bolívar conduz o processo a partir da Venezuela, com um projeto republicano e pan-americano; ao mesmo tempo José de San Martin conduz o processo do sul em direção ao norte , com um projeto monarquista</a:t>
            </a:r>
          </a:p>
          <a:p>
            <a:r>
              <a:rPr lang="pt-BR" dirty="0"/>
              <a:t>No encontro em Guayaquil, San Martin abre mão da luta em benefício do projeto de Simon Bolívar.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08D9692-3C6C-4CB0-A4C4-154BB78D4308}"/>
              </a:ext>
            </a:extLst>
          </p:cNvPr>
          <p:cNvCxnSpPr/>
          <p:nvPr/>
        </p:nvCxnSpPr>
        <p:spPr>
          <a:xfrm>
            <a:off x="2358735" y="1905000"/>
            <a:ext cx="702635" cy="1314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E8123F8D-6945-4EA5-9CD0-5DA655BDA06A}"/>
              </a:ext>
            </a:extLst>
          </p:cNvPr>
          <p:cNvCxnSpPr>
            <a:cxnSpLocks/>
          </p:cNvCxnSpPr>
          <p:nvPr/>
        </p:nvCxnSpPr>
        <p:spPr>
          <a:xfrm>
            <a:off x="2236801" y="3743990"/>
            <a:ext cx="1022703" cy="578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Opera Mundi: Hoje na História: 1836 - Espanha reconhece ...">
            <a:extLst>
              <a:ext uri="{FF2B5EF4-FFF2-40B4-BE49-F238E27FC236}">
                <a16:creationId xmlns:a16="http://schemas.microsoft.com/office/drawing/2014/main" id="{C094A49A-2895-4189-BA84-AE8618849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76" y="143865"/>
            <a:ext cx="1215802" cy="162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298E9A7E-B6C9-416A-84D9-8C0796391280}"/>
              </a:ext>
            </a:extLst>
          </p:cNvPr>
          <p:cNvSpPr txBox="1"/>
          <p:nvPr/>
        </p:nvSpPr>
        <p:spPr>
          <a:xfrm>
            <a:off x="9906000" y="542057"/>
            <a:ext cx="125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Padre </a:t>
            </a:r>
            <a:r>
              <a:rPr lang="pt-BR" dirty="0" err="1"/>
              <a:t>Morellos</a:t>
            </a:r>
            <a:endParaRPr lang="pt-BR" dirty="0"/>
          </a:p>
        </p:txBody>
      </p:sp>
      <p:pic>
        <p:nvPicPr>
          <p:cNvPr id="1026" name="Picture 2" descr="Simón Bolívar e San Martín">
            <a:extLst>
              <a:ext uri="{FF2B5EF4-FFF2-40B4-BE49-F238E27FC236}">
                <a16:creationId xmlns:a16="http://schemas.microsoft.com/office/drawing/2014/main" id="{EE57FBAF-63C1-480D-B03E-99E42D1E9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063" y="4787081"/>
            <a:ext cx="1682476" cy="112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998BDDB-AB6D-443E-B473-A6D05DC8E29E}"/>
              </a:ext>
            </a:extLst>
          </p:cNvPr>
          <p:cNvSpPr/>
          <p:nvPr/>
        </p:nvSpPr>
        <p:spPr>
          <a:xfrm>
            <a:off x="10316063" y="5992778"/>
            <a:ext cx="2171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Monumento de </a:t>
            </a:r>
            <a:r>
              <a:rPr lang="pt-BR" sz="1200" b="1" dirty="0" err="1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Simón</a:t>
            </a:r>
            <a:r>
              <a:rPr lang="pt-BR" sz="1200" b="1" dirty="0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Bolívar e San Martín em Guayaquil, Equador</a:t>
            </a:r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E7852905-13B8-43BE-885A-3559DC5D7DAF}"/>
              </a:ext>
            </a:extLst>
          </p:cNvPr>
          <p:cNvCxnSpPr>
            <a:cxnSpLocks/>
          </p:cNvCxnSpPr>
          <p:nvPr/>
        </p:nvCxnSpPr>
        <p:spPr>
          <a:xfrm>
            <a:off x="10896600" y="2209800"/>
            <a:ext cx="0" cy="419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8CBBF1A-D929-4263-8C8F-D80568446628}"/>
              </a:ext>
            </a:extLst>
          </p:cNvPr>
          <p:cNvCxnSpPr/>
          <p:nvPr/>
        </p:nvCxnSpPr>
        <p:spPr>
          <a:xfrm>
            <a:off x="10982325" y="2413190"/>
            <a:ext cx="1749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99F83886-AFEC-4DB1-871F-1CF29C5F5BCD}"/>
              </a:ext>
            </a:extLst>
          </p:cNvPr>
          <p:cNvCxnSpPr>
            <a:cxnSpLocks/>
          </p:cNvCxnSpPr>
          <p:nvPr/>
        </p:nvCxnSpPr>
        <p:spPr>
          <a:xfrm flipV="1">
            <a:off x="11157301" y="935863"/>
            <a:ext cx="248277" cy="1477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FF03697-D0C1-4194-ACBA-0257F625B614}"/>
              </a:ext>
            </a:extLst>
          </p:cNvPr>
          <p:cNvSpPr txBox="1"/>
          <p:nvPr/>
        </p:nvSpPr>
        <p:spPr>
          <a:xfrm>
            <a:off x="10982325" y="289532"/>
            <a:ext cx="125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PROJETO INDIGENA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CA0916F-658C-4CB4-910F-FE66FE019751}"/>
              </a:ext>
            </a:extLst>
          </p:cNvPr>
          <p:cNvSpPr txBox="1"/>
          <p:nvPr/>
        </p:nvSpPr>
        <p:spPr>
          <a:xfrm>
            <a:off x="11069813" y="3234157"/>
            <a:ext cx="142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PROJETO CRIOLLO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32C14F5D-DF56-407D-A050-78F861EE16C3}"/>
              </a:ext>
            </a:extLst>
          </p:cNvPr>
          <p:cNvCxnSpPr/>
          <p:nvPr/>
        </p:nvCxnSpPr>
        <p:spPr>
          <a:xfrm flipV="1">
            <a:off x="10316063" y="3583190"/>
            <a:ext cx="538464" cy="342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EE443864-B98E-4883-B6BC-8CBC1F157803}"/>
              </a:ext>
            </a:extLst>
          </p:cNvPr>
          <p:cNvCxnSpPr/>
          <p:nvPr/>
        </p:nvCxnSpPr>
        <p:spPr>
          <a:xfrm>
            <a:off x="10316063" y="3274811"/>
            <a:ext cx="580537" cy="228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563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://www.portalsaofrancisco.com.br/alfa/independencia-da-america-espanhola/imagens/independencia-america-espanhola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6395" y="3205854"/>
            <a:ext cx="2453316" cy="3189311"/>
          </a:xfrm>
          <a:prstGeom prst="rect">
            <a:avLst/>
          </a:prstGeom>
          <a:noFill/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22A7892-18DB-4189-847F-EA18372CEF46}"/>
              </a:ext>
            </a:extLst>
          </p:cNvPr>
          <p:cNvSpPr/>
          <p:nvPr/>
        </p:nvSpPr>
        <p:spPr>
          <a:xfrm>
            <a:off x="5509136" y="62053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Entre os libertadores da América,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Símon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Bolívar defendia a unidade política interamericana, com a proposta da criação de uma Confederação de países latino-americanos. Este sonho de unidade territorial é conhecido como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Bolivarismo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que contou com a oposição da Inglaterra e dos Estados Unidos. A este, a fragmentação política contribuiria para a consolidação norte-americana sobre a região ( Doutrina Monroe); já para a Inglaterra, a fragmentação consolidaria sua hegemonia econômica. Ou seja, dividir para melhor controlar</a:t>
            </a:r>
            <a:r>
              <a:rPr lang="pt-BR" dirty="0"/>
              <a:t>.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D1D1294-AA5D-45B1-A518-F527190589D0}"/>
              </a:ext>
            </a:extLst>
          </p:cNvPr>
          <p:cNvSpPr/>
          <p:nvPr/>
        </p:nvSpPr>
        <p:spPr>
          <a:xfrm>
            <a:off x="5758780" y="4200346"/>
            <a:ext cx="47148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  <a:buClr>
                <a:srgbClr val="DDDDDD"/>
              </a:buClr>
              <a:buSzPct val="70000"/>
            </a:pPr>
            <a:r>
              <a:rPr lang="pt-BR" dirty="0">
                <a:solidFill>
                  <a:srgbClr val="000000"/>
                </a:solidFill>
                <a:latin typeface="Arial" charset="0"/>
                <a:cs typeface="Arial" charset="0"/>
              </a:rPr>
              <a:t>San Martín defendia que as ex-colônias se </a:t>
            </a:r>
          </a:p>
          <a:p>
            <a:pPr lvl="0" eaLnBrk="0" fontAlgn="base" hangingPunct="0">
              <a:spcAft>
                <a:spcPct val="0"/>
              </a:spcAft>
              <a:buClr>
                <a:srgbClr val="DDDDDD"/>
              </a:buClr>
              <a:buSzPct val="70000"/>
              <a:buNone/>
            </a:pPr>
            <a:r>
              <a:rPr lang="pt-BR" dirty="0">
                <a:solidFill>
                  <a:srgbClr val="000000"/>
                </a:solidFill>
                <a:latin typeface="Arial" charset="0"/>
                <a:cs typeface="Arial" charset="0"/>
              </a:rPr>
              <a:t>tornassem monarquias , cujos chefes de Estado seriam príncipes europeus convidados para governá-las.</a:t>
            </a:r>
            <a:endParaRPr lang="pt-BR" dirty="0"/>
          </a:p>
        </p:txBody>
      </p:sp>
      <p:pic>
        <p:nvPicPr>
          <p:cNvPr id="5" name="Picture 2" descr="http://3.bp.blogspot.com/_FK5QjE4gwZc/S5Rzm_UZciI/AAAAAAAAGWY/k9BkyPziNxg/s640/be84b663e70d546627913fac16d5a2ed.jpg">
            <a:extLst>
              <a:ext uri="{FF2B5EF4-FFF2-40B4-BE49-F238E27FC236}">
                <a16:creationId xmlns:a16="http://schemas.microsoft.com/office/drawing/2014/main" id="{023E03CD-E536-4A4A-B8D8-D73AACA18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6199" y="127194"/>
            <a:ext cx="3477737" cy="2731842"/>
          </a:xfrm>
          <a:prstGeom prst="rect">
            <a:avLst/>
          </a:prstGeom>
          <a:noFill/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481D3767-715A-45FF-9A5E-65AB903E74D4}"/>
              </a:ext>
            </a:extLst>
          </p:cNvPr>
          <p:cNvSpPr/>
          <p:nvPr/>
        </p:nvSpPr>
        <p:spPr>
          <a:xfrm>
            <a:off x="4686484" y="1579743"/>
            <a:ext cx="580103" cy="226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A9535B3-48A8-48E0-9AD5-5F2438AA3E6F}"/>
              </a:ext>
            </a:extLst>
          </p:cNvPr>
          <p:cNvSpPr/>
          <p:nvPr/>
        </p:nvSpPr>
        <p:spPr>
          <a:xfrm>
            <a:off x="4542503" y="4739148"/>
            <a:ext cx="737420" cy="226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CCC55C-0C05-45CA-B69E-55C2C501337D}"/>
              </a:ext>
            </a:extLst>
          </p:cNvPr>
          <p:cNvSpPr txBox="1"/>
          <p:nvPr/>
        </p:nvSpPr>
        <p:spPr>
          <a:xfrm>
            <a:off x="4785235" y="127194"/>
            <a:ext cx="419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As ideias de Bolívar e San Martin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DF272F5-EF24-4FAA-A74D-855FC8456F1E}"/>
              </a:ext>
            </a:extLst>
          </p:cNvPr>
          <p:cNvSpPr txBox="1"/>
          <p:nvPr/>
        </p:nvSpPr>
        <p:spPr>
          <a:xfrm>
            <a:off x="2238374" y="295275"/>
            <a:ext cx="45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As Consequências – o Pós - Independência</a:t>
            </a:r>
          </a:p>
        </p:txBody>
      </p:sp>
      <p:pic>
        <p:nvPicPr>
          <p:cNvPr id="3" name="Picture 2" descr="Mapas da América evidenciando o antes e o depois.">
            <a:extLst>
              <a:ext uri="{FF2B5EF4-FFF2-40B4-BE49-F238E27FC236}">
                <a16:creationId xmlns:a16="http://schemas.microsoft.com/office/drawing/2014/main" id="{B5AD8B45-598C-4FA3-B397-E0781F91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85" y="979769"/>
            <a:ext cx="6722754" cy="427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08DB585-BA62-41D7-A50E-53B828C082D6}"/>
              </a:ext>
            </a:extLst>
          </p:cNvPr>
          <p:cNvSpPr txBox="1"/>
          <p:nvPr/>
        </p:nvSpPr>
        <p:spPr>
          <a:xfrm>
            <a:off x="6990735" y="664607"/>
            <a:ext cx="4739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Congresso de Panamá (1826), as lideranças </a:t>
            </a:r>
            <a:r>
              <a:rPr lang="pt-BR" dirty="0" err="1"/>
              <a:t>criollas</a:t>
            </a:r>
            <a:r>
              <a:rPr lang="pt-BR" dirty="0"/>
              <a:t> se encontram para discutir </a:t>
            </a:r>
            <a:r>
              <a:rPr lang="pt-BR" dirty="0">
                <a:solidFill>
                  <a:srgbClr val="C00000"/>
                </a:solidFill>
                <a:latin typeface="Arial Black" panose="020B0A04020102020204" pitchFamily="34" charset="0"/>
              </a:rPr>
              <a:t>a proposta de Bolívar.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4183740-3651-41A4-B402-6CEF8DFC82F3}"/>
              </a:ext>
            </a:extLst>
          </p:cNvPr>
          <p:cNvSpPr/>
          <p:nvPr/>
        </p:nvSpPr>
        <p:spPr>
          <a:xfrm>
            <a:off x="7644648" y="1698606"/>
            <a:ext cx="44167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Ideal de Pan- americanismo ( criação de uma espécie de Estados Unidos da América Espanhola, com um exército comum, com a abolição da escravatura , </a:t>
            </a:r>
            <a:r>
              <a:rPr lang="pt-BR" dirty="0" err="1"/>
              <a:t>etc</a:t>
            </a:r>
            <a:r>
              <a:rPr lang="pt-BR" dirty="0"/>
              <a:t>)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4FFEDBD-8F8F-4DE2-BB00-C477C6E26269}"/>
              </a:ext>
            </a:extLst>
          </p:cNvPr>
          <p:cNvCxnSpPr/>
          <p:nvPr/>
        </p:nvCxnSpPr>
        <p:spPr>
          <a:xfrm>
            <a:off x="8259097" y="1587937"/>
            <a:ext cx="88490" cy="181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6D3F16B4-F7DB-4D46-9D83-335B79FF923F}"/>
              </a:ext>
            </a:extLst>
          </p:cNvPr>
          <p:cNvCxnSpPr>
            <a:cxnSpLocks/>
          </p:cNvCxnSpPr>
          <p:nvPr/>
        </p:nvCxnSpPr>
        <p:spPr>
          <a:xfrm flipH="1">
            <a:off x="8180439" y="2898935"/>
            <a:ext cx="245806" cy="44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8543D3D-FD5E-4E52-8CAA-5E1203D012D3}"/>
              </a:ext>
            </a:extLst>
          </p:cNvPr>
          <p:cNvSpPr txBox="1"/>
          <p:nvPr/>
        </p:nvSpPr>
        <p:spPr>
          <a:xfrm>
            <a:off x="7656380" y="3264309"/>
            <a:ext cx="124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Proposta fracassa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111D5AF-8707-4E76-AB27-FFF57E66BA91}"/>
              </a:ext>
            </a:extLst>
          </p:cNvPr>
          <p:cNvSpPr txBox="1"/>
          <p:nvPr/>
        </p:nvSpPr>
        <p:spPr>
          <a:xfrm>
            <a:off x="7466243" y="4623679"/>
            <a:ext cx="1509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 Black" panose="020B0A04020102020204" pitchFamily="34" charset="0"/>
              </a:rPr>
              <a:t>Motivos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57912E73-B14E-44DE-B4BD-62D282F6F44F}"/>
              </a:ext>
            </a:extLst>
          </p:cNvPr>
          <p:cNvCxnSpPr/>
          <p:nvPr/>
        </p:nvCxnSpPr>
        <p:spPr>
          <a:xfrm flipH="1">
            <a:off x="7015443" y="3562895"/>
            <a:ext cx="629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C72748C-E8C4-48E2-929D-784962C18B2A}"/>
              </a:ext>
            </a:extLst>
          </p:cNvPr>
          <p:cNvSpPr txBox="1"/>
          <p:nvPr/>
        </p:nvSpPr>
        <p:spPr>
          <a:xfrm>
            <a:off x="9062576" y="3254477"/>
            <a:ext cx="2998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Disputas pelo poder dentro da elite </a:t>
            </a:r>
            <a:r>
              <a:rPr lang="pt-BR" dirty="0" err="1"/>
              <a:t>criolla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7F1B99C-0E59-4664-B964-63C79CECF0A9}"/>
              </a:ext>
            </a:extLst>
          </p:cNvPr>
          <p:cNvSpPr txBox="1"/>
          <p:nvPr/>
        </p:nvSpPr>
        <p:spPr>
          <a:xfrm>
            <a:off x="9101726" y="3864897"/>
            <a:ext cx="3257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Ausência de integração econômica entre as várias regiões americanas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3C87434-689C-42AC-BC8C-BF1C7718EF11}"/>
              </a:ext>
            </a:extLst>
          </p:cNvPr>
          <p:cNvSpPr txBox="1"/>
          <p:nvPr/>
        </p:nvSpPr>
        <p:spPr>
          <a:xfrm>
            <a:off x="9101726" y="4788227"/>
            <a:ext cx="3090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Já existência de uma divisão política-administrativa na época colonial, os Vice Reinos.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DC89A8E-A79C-4E69-AD42-D6E23656E1C1}"/>
              </a:ext>
            </a:extLst>
          </p:cNvPr>
          <p:cNvSpPr txBox="1"/>
          <p:nvPr/>
        </p:nvSpPr>
        <p:spPr>
          <a:xfrm>
            <a:off x="9207115" y="5711557"/>
            <a:ext cx="2854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Oposição dos EUA e da Inglaterra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B3FCEADD-607C-4BDD-8E87-5871AF28E49D}"/>
              </a:ext>
            </a:extLst>
          </p:cNvPr>
          <p:cNvCxnSpPr>
            <a:cxnSpLocks/>
          </p:cNvCxnSpPr>
          <p:nvPr/>
        </p:nvCxnSpPr>
        <p:spPr>
          <a:xfrm flipH="1">
            <a:off x="8012347" y="3910640"/>
            <a:ext cx="99266" cy="533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have Esquerda 25">
            <a:extLst>
              <a:ext uri="{FF2B5EF4-FFF2-40B4-BE49-F238E27FC236}">
                <a16:creationId xmlns:a16="http://schemas.microsoft.com/office/drawing/2014/main" id="{5A65D5BC-86D2-468A-B0D5-DFA1072F4B85}"/>
              </a:ext>
            </a:extLst>
          </p:cNvPr>
          <p:cNvSpPr/>
          <p:nvPr/>
        </p:nvSpPr>
        <p:spPr>
          <a:xfrm>
            <a:off x="8815388" y="3116940"/>
            <a:ext cx="544921" cy="34903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98" name="Picture 2" descr="Ver a imagem de origem">
            <a:extLst>
              <a:ext uri="{FF2B5EF4-FFF2-40B4-BE49-F238E27FC236}">
                <a16:creationId xmlns:a16="http://schemas.microsoft.com/office/drawing/2014/main" id="{533CB509-5673-43C8-9C7B-0445B49DC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540" y="5360290"/>
            <a:ext cx="2248105" cy="134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F8D57B36-1205-4218-8F8E-5C067EFA689C}"/>
              </a:ext>
            </a:extLst>
          </p:cNvPr>
          <p:cNvSpPr txBox="1"/>
          <p:nvPr/>
        </p:nvSpPr>
        <p:spPr>
          <a:xfrm>
            <a:off x="4999409" y="5565742"/>
            <a:ext cx="2094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Congresso do Panamá</a:t>
            </a:r>
          </a:p>
        </p:txBody>
      </p:sp>
    </p:spTree>
    <p:extLst>
      <p:ext uri="{BB962C8B-B14F-4D97-AF65-F5344CB8AC3E}">
        <p14:creationId xmlns:p14="http://schemas.microsoft.com/office/powerpoint/2010/main" val="849137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6C4FC0F-48AE-455D-9EC3-4879CD6F1D22}"/>
              </a:ext>
            </a:extLst>
          </p:cNvPr>
          <p:cNvSpPr txBox="1"/>
          <p:nvPr/>
        </p:nvSpPr>
        <p:spPr>
          <a:xfrm>
            <a:off x="3323303" y="363794"/>
            <a:ext cx="262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Pós -Independência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5D2C9F-E1AF-43BA-84B7-EF2D755765A5}"/>
              </a:ext>
            </a:extLst>
          </p:cNvPr>
          <p:cNvSpPr txBox="1"/>
          <p:nvPr/>
        </p:nvSpPr>
        <p:spPr>
          <a:xfrm>
            <a:off x="1450258" y="1436259"/>
            <a:ext cx="57813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Os conflitos militares internos nas disputas dentro das oligarquias </a:t>
            </a:r>
            <a:r>
              <a:rPr lang="pt-BR" dirty="0" err="1"/>
              <a:t>criollas</a:t>
            </a:r>
            <a:r>
              <a:rPr lang="pt-BR" dirty="0"/>
              <a:t> , geram instabilidades  e a fragmentação territorial e  política.</a:t>
            </a:r>
          </a:p>
          <a:p>
            <a:r>
              <a:rPr lang="pt-BR" dirty="0"/>
              <a:t>- A Formação de Repúblicas liberais com vários e diversos critérios de exclusão política ( voto censitário, exclusão de analfabetos, </a:t>
            </a:r>
            <a:r>
              <a:rPr lang="pt-BR" dirty="0" err="1"/>
              <a:t>etc</a:t>
            </a:r>
            <a:r>
              <a:rPr lang="pt-BR" dirty="0"/>
              <a:t>) garantem a formação de regimes com características </a:t>
            </a:r>
            <a:r>
              <a:rPr lang="pt-BR" dirty="0">
                <a:solidFill>
                  <a:srgbClr val="C00000"/>
                </a:solidFill>
              </a:rPr>
              <a:t>oligárquicas.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5D2B21-AC20-443C-A9B0-E52243FA6109}"/>
              </a:ext>
            </a:extLst>
          </p:cNvPr>
          <p:cNvSpPr txBox="1"/>
          <p:nvPr/>
        </p:nvSpPr>
        <p:spPr>
          <a:xfrm>
            <a:off x="9026012" y="1327355"/>
            <a:ext cx="227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Regimes Oligárquicos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0B45BAF-12A0-4442-B052-3320089B41A0}"/>
              </a:ext>
            </a:extLst>
          </p:cNvPr>
          <p:cNvSpPr/>
          <p:nvPr/>
        </p:nvSpPr>
        <p:spPr>
          <a:xfrm>
            <a:off x="8524568" y="1904603"/>
            <a:ext cx="39525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111111"/>
                </a:solidFill>
                <a:latin typeface="Roboto"/>
              </a:rPr>
              <a:t>regime político em que o poder é exercido por um pequeno grupo de pessoas, pertencentes ao mesmo partido, classe ou família</a:t>
            </a:r>
            <a:endParaRPr lang="pt-BR" sz="1200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DD41336-403C-4887-ABEE-9886A837175E}"/>
              </a:ext>
            </a:extLst>
          </p:cNvPr>
          <p:cNvCxnSpPr/>
          <p:nvPr/>
        </p:nvCxnSpPr>
        <p:spPr>
          <a:xfrm>
            <a:off x="9901084" y="1696687"/>
            <a:ext cx="0" cy="132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4231D9BD-E4CF-4C58-8EE0-8631E2B5D40F}"/>
              </a:ext>
            </a:extLst>
          </p:cNvPr>
          <p:cNvSpPr/>
          <p:nvPr/>
        </p:nvSpPr>
        <p:spPr>
          <a:xfrm>
            <a:off x="1450258" y="3650384"/>
            <a:ext cx="4670323" cy="1218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- Preservação de estruturas econômicas e sociais com características coloniais, ou seja, agroexportadoras, com escravidão ou exploração do trabalho indígena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32BBA9A-529B-46FA-8E73-50CA8887189E}"/>
              </a:ext>
            </a:extLst>
          </p:cNvPr>
          <p:cNvSpPr txBox="1"/>
          <p:nvPr/>
        </p:nvSpPr>
        <p:spPr>
          <a:xfrm>
            <a:off x="2788674" y="5175022"/>
            <a:ext cx="41381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Integração dentro do sistema capitalista industrial inglês  como fornecedor de matérias primas e consumidor de produtos industriais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48A8B46-3A34-44B4-BBD6-C20B99DF7930}"/>
              </a:ext>
            </a:extLst>
          </p:cNvPr>
          <p:cNvSpPr txBox="1"/>
          <p:nvPr/>
        </p:nvSpPr>
        <p:spPr>
          <a:xfrm>
            <a:off x="6926825" y="3146946"/>
            <a:ext cx="31954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Controle do Estado pela elite </a:t>
            </a:r>
            <a:r>
              <a:rPr lang="pt-BR" dirty="0" err="1"/>
              <a:t>Criolla</a:t>
            </a:r>
            <a:r>
              <a:rPr lang="pt-BR" dirty="0"/>
              <a:t>, que garante seus interesses econômicos e sociais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3EB58C1-D362-48BC-A23A-485C35C48C0D}"/>
              </a:ext>
            </a:extLst>
          </p:cNvPr>
          <p:cNvSpPr txBox="1"/>
          <p:nvPr/>
        </p:nvSpPr>
        <p:spPr>
          <a:xfrm>
            <a:off x="8249263" y="4826080"/>
            <a:ext cx="3451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Esse controle também ocorre com o surgimento de líderes ditatoriais, oriundos  das forças militares criadas na luta pela independência, os chamados </a:t>
            </a:r>
            <a:r>
              <a:rPr lang="pt-BR" b="1" dirty="0"/>
              <a:t>Caudilhos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262C1DE2-4211-47B3-98D5-0A3EDA4D6FE3}"/>
              </a:ext>
            </a:extLst>
          </p:cNvPr>
          <p:cNvCxnSpPr/>
          <p:nvPr/>
        </p:nvCxnSpPr>
        <p:spPr>
          <a:xfrm>
            <a:off x="6204155" y="3146946"/>
            <a:ext cx="570271" cy="392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1B1364C-73A4-465A-B6BE-A70DF2B7EEB4}"/>
              </a:ext>
            </a:extLst>
          </p:cNvPr>
          <p:cNvCxnSpPr>
            <a:cxnSpLocks/>
          </p:cNvCxnSpPr>
          <p:nvPr/>
        </p:nvCxnSpPr>
        <p:spPr>
          <a:xfrm flipH="1">
            <a:off x="5761703" y="3774011"/>
            <a:ext cx="1012723" cy="296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eta: Curva para a Direita 21">
            <a:extLst>
              <a:ext uri="{FF2B5EF4-FFF2-40B4-BE49-F238E27FC236}">
                <a16:creationId xmlns:a16="http://schemas.microsoft.com/office/drawing/2014/main" id="{5BC9BEA7-34B0-40F7-8267-EB843D7FD7E8}"/>
              </a:ext>
            </a:extLst>
          </p:cNvPr>
          <p:cNvSpPr/>
          <p:nvPr/>
        </p:nvSpPr>
        <p:spPr>
          <a:xfrm>
            <a:off x="383458" y="2581054"/>
            <a:ext cx="1066800" cy="185829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5" name="Seta: Curva para a Esquerda 24">
            <a:extLst>
              <a:ext uri="{FF2B5EF4-FFF2-40B4-BE49-F238E27FC236}">
                <a16:creationId xmlns:a16="http://schemas.microsoft.com/office/drawing/2014/main" id="{A72F9E2F-9360-42F6-8D56-5DE4FD327BF3}"/>
              </a:ext>
            </a:extLst>
          </p:cNvPr>
          <p:cNvSpPr/>
          <p:nvPr/>
        </p:nvSpPr>
        <p:spPr>
          <a:xfrm>
            <a:off x="6858001" y="4480907"/>
            <a:ext cx="1307687" cy="166165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D089B549-EE46-403E-BEDF-0BBF690E727B}"/>
              </a:ext>
            </a:extLst>
          </p:cNvPr>
          <p:cNvCxnSpPr/>
          <p:nvPr/>
        </p:nvCxnSpPr>
        <p:spPr>
          <a:xfrm>
            <a:off x="9026012" y="4070276"/>
            <a:ext cx="265472" cy="82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505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pas da América evidenciando o antes e o depois.">
            <a:extLst>
              <a:ext uri="{FF2B5EF4-FFF2-40B4-BE49-F238E27FC236}">
                <a16:creationId xmlns:a16="http://schemas.microsoft.com/office/drawing/2014/main" id="{921E2264-8D1E-4F90-97B6-852882B37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678656"/>
            <a:ext cx="8651566" cy="550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A73B830-1F03-4AD2-91EE-CABE9F60DF8B}"/>
              </a:ext>
            </a:extLst>
          </p:cNvPr>
          <p:cNvSpPr txBox="1"/>
          <p:nvPr/>
        </p:nvSpPr>
        <p:spPr>
          <a:xfrm>
            <a:off x="2676524" y="209550"/>
            <a:ext cx="661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As Independências e a fragmentação territorial</a:t>
            </a:r>
          </a:p>
        </p:txBody>
      </p:sp>
    </p:spTree>
    <p:extLst>
      <p:ext uri="{BB962C8B-B14F-4D97-AF65-F5344CB8AC3E}">
        <p14:creationId xmlns:p14="http://schemas.microsoft.com/office/powerpoint/2010/main" val="3369688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28A75CD-1A37-422E-8EDF-E9B241498DDD}"/>
              </a:ext>
            </a:extLst>
          </p:cNvPr>
          <p:cNvSpPr/>
          <p:nvPr/>
        </p:nvSpPr>
        <p:spPr>
          <a:xfrm>
            <a:off x="2733367" y="1563523"/>
            <a:ext cx="770849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principal fenômeno político destas novas nações americanas foi o surgimento do caudilhismo. O caudilho era um chefe político local, grande proprietário de terra e que procurava manter as mesmas estruturas sociais e econômicas herdadas do período colonial. Foi responsável pela grande instabilidade na formação dos Estados Nacionais.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caudilhismo contribui, de maneira decisiva, para a fragmentação política e territorial da América Hispânica. Outros fatores para a fragmentação: ausência de vínculos econômicos entre as colônias , a divisão administrativa em Vice Reinados e Capitanias, o conflito entre as oligarquias pelo poder político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1998471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956BE9E-454E-492E-98F7-3E9D3F8E7F8E}"/>
              </a:ext>
            </a:extLst>
          </p:cNvPr>
          <p:cNvSpPr/>
          <p:nvPr/>
        </p:nvSpPr>
        <p:spPr>
          <a:xfrm>
            <a:off x="1533525" y="876300"/>
            <a:ext cx="901065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(UCSAL) - A decadência do colonialismo na América e a consequente aceleração do processo de independência do continente americano deveu-se, entre outras causas: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a) ao crescente desenvolvimento do capitalismo comercial,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que tinha no monopólio uma barreira para se expandir;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b) à política expansionista de Napoleão e ao crescente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desenvolvimento industrial da Inglaterra;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c) ao desenvolvimento econômico das colônias inglesas, que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passaram a defender s interesses europeus;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d) ao crescimento da economia das colônias americanas, que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pretendiam concorrer no comércio internacional;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e) à adoção do neoliberalismo pelos países europeus, que 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provocou um aumento de controle na área colonial. </a:t>
            </a:r>
          </a:p>
        </p:txBody>
      </p:sp>
    </p:spTree>
    <p:extLst>
      <p:ext uri="{BB962C8B-B14F-4D97-AF65-F5344CB8AC3E}">
        <p14:creationId xmlns:p14="http://schemas.microsoft.com/office/powerpoint/2010/main" val="522090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A000EF4-8E50-4667-81FB-E790B65E60E2}"/>
              </a:ext>
            </a:extLst>
          </p:cNvPr>
          <p:cNvSpPr/>
          <p:nvPr/>
        </p:nvSpPr>
        <p:spPr>
          <a:xfrm>
            <a:off x="1733550" y="990600"/>
            <a:ext cx="8591550" cy="4839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dirty="0">
                <a:solidFill>
                  <a:srgbClr val="404040"/>
                </a:solidFill>
                <a:latin typeface="OpenSans"/>
              </a:rPr>
              <a:t> (</a:t>
            </a: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FGV) Na Carta da Jamaica, de 1815, [</a:t>
            </a:r>
            <a:r>
              <a:rPr lang="pt-BR" b="1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Simón</a:t>
            </a: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Bolívar] escreveu: "</a:t>
            </a:r>
            <a:r>
              <a:rPr lang="pt-BR" b="1" i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 desejo, mais do que qualquer outro, ver formar-se na América a maior nação do mundo, menos por sua extensão e riquezas do que pela liberdade e glória</a:t>
            </a: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fontAlgn="base"/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(Flavio de Campos e Renan Garcia Miranda, "</a:t>
            </a:r>
            <a:r>
              <a:rPr lang="pt-BR" b="1" i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Oficina de História - história integrada</a:t>
            </a: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fontAlgn="base"/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intenção de uma América hispânica independente e formando um único país, entre outros motivos, não prevaleceu em razão:</a:t>
            </a:r>
          </a:p>
          <a:p>
            <a:pPr fontAlgn="base"/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de um acordo entre franceses e ingleses, assinado no Congresso de Viena.</a:t>
            </a:r>
            <a:b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do interesse espanhol em enfraquecer o poderoso Vice-Reinado da Nova Granada.</a:t>
            </a:r>
            <a:b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dos fortes e decisivos interesses ingleses, norte-americanos e das próprias elites locais da América.</a:t>
            </a:r>
            <a:b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d) da deliberada ação do Brasil, preocupado com a formação de um poderoso Estado na América.</a:t>
            </a:r>
            <a:b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e) das tensões entre as elites do México e Peru, que disputavam a hegemonia sobre a América.</a:t>
            </a:r>
            <a:endParaRPr lang="pt-BR" b="1" i="0" dirty="0">
              <a:solidFill>
                <a:srgbClr val="4040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909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D29DF12-4955-42A7-8F7E-724E3BF6540D}"/>
              </a:ext>
            </a:extLst>
          </p:cNvPr>
          <p:cNvSpPr/>
          <p:nvPr/>
        </p:nvSpPr>
        <p:spPr>
          <a:xfrm>
            <a:off x="1971675" y="1263639"/>
            <a:ext cx="82486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Sobre o caudilhismo na América Latina durante o século XIX: </a:t>
            </a:r>
          </a:p>
          <a:p>
            <a:r>
              <a:rPr lang="pt-BR" sz="2400" dirty="0"/>
              <a:t>a) contribuiu para o processo de industrialização das antigas áreas coloniais na América Latina; </a:t>
            </a:r>
          </a:p>
          <a:p>
            <a:r>
              <a:rPr lang="pt-BR" sz="2400" dirty="0"/>
              <a:t>b) os caudilhos realizaram uma ampla reforma agrária e </a:t>
            </a:r>
          </a:p>
          <a:p>
            <a:r>
              <a:rPr lang="pt-BR" sz="2400" dirty="0"/>
              <a:t>governavam obedecendo a vontade popular; </a:t>
            </a:r>
          </a:p>
          <a:p>
            <a:r>
              <a:rPr lang="pt-BR" sz="2400" dirty="0"/>
              <a:t>c) foi responsável pela manutenção do equilíbrio da balança comercial favorável, fator que explica a rápida industrialização dos novos países; </a:t>
            </a:r>
          </a:p>
          <a:p>
            <a:r>
              <a:rPr lang="pt-BR" sz="2400" dirty="0"/>
              <a:t>d) manteve as estruturas coloniais e contribuiu para o atraso econômico e fragmentação territorial da América Latina; </a:t>
            </a:r>
          </a:p>
          <a:p>
            <a:r>
              <a:rPr lang="pt-BR" sz="2400" dirty="0"/>
              <a:t>e) de origem </a:t>
            </a:r>
            <a:r>
              <a:rPr lang="pt-BR" sz="2400" dirty="0" err="1"/>
              <a:t>chapetone</a:t>
            </a:r>
            <a:r>
              <a:rPr lang="pt-BR" sz="2400" dirty="0"/>
              <a:t>, os caudilhos auxiliaram a Espanha </a:t>
            </a:r>
          </a:p>
          <a:p>
            <a:r>
              <a:rPr lang="pt-BR" sz="2400" dirty="0"/>
              <a:t>em sua tentativa de recolonizar a América. </a:t>
            </a:r>
          </a:p>
        </p:txBody>
      </p:sp>
    </p:spTree>
    <p:extLst>
      <p:ext uri="{BB962C8B-B14F-4D97-AF65-F5344CB8AC3E}">
        <p14:creationId xmlns:p14="http://schemas.microsoft.com/office/powerpoint/2010/main" val="26029968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1692</Words>
  <Application>Microsoft Office PowerPoint</Application>
  <PresentationFormat>Widescreen</PresentationFormat>
  <Paragraphs>118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Georgia</vt:lpstr>
      <vt:lpstr>OpenSans</vt:lpstr>
      <vt:lpstr>Roboto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Siracusa</dc:creator>
  <cp:lastModifiedBy>Celso Aparecido Siracusa</cp:lastModifiedBy>
  <cp:revision>33</cp:revision>
  <dcterms:created xsi:type="dcterms:W3CDTF">2020-04-28T02:11:28Z</dcterms:created>
  <dcterms:modified xsi:type="dcterms:W3CDTF">2026-04-16T23:59:06Z</dcterms:modified>
</cp:coreProperties>
</file>