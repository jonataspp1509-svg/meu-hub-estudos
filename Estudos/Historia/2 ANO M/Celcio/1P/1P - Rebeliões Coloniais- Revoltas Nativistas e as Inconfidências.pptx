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9" r:id="rId5"/>
    <p:sldId id="260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6EDCC-FC75-6BF7-A61E-AAC249A57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C81560-5A30-64ED-7817-CB46A74F0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DBE481-839D-3621-475F-FDA44579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222DB-DD86-3B31-8830-17644E95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FB785-C1C2-512A-AC44-D0D3FA7C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3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CC48-5540-70E6-036D-A3CC3D3F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4D12D9-09CE-8208-FA15-7532BFEA3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2C0EC5-B8E4-3CB5-107A-DC64D267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3C9EE-31E8-B4ED-141B-E598936F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67B09-B527-22CE-C533-2A137094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39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537FC-2FBC-2C88-4B39-5C952E1E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02A1ED-8124-F9C1-D8DE-EAB7A7FBD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CDAA60-E269-815B-3CCA-8625F31C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FB6FCA-3F8A-C820-E203-B954EB8B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89066-DBFC-C671-5CFF-17DDDFAF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48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82D7-28D1-412E-9835-20AAAEB0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69387-822E-3E48-2FC8-88BB94917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92E0A6-1F10-3364-09B2-D5D5E4F62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8BB8B7-6973-EBE0-C925-BC52FD52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8A7AF7-AD79-FA22-388F-2AEE0468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FC6F8E-1F5F-FD0C-82CB-B3674D73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54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FB707-B840-83D4-CA74-C5CD7A4D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D26B58-FDC5-AA75-8A52-36969028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177217-4205-CD2A-6946-72616F5EE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226701E-F830-7F7C-6926-13DDB889E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404378-11D6-C099-BAA1-AAD248B35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58BA4E-92ED-C893-20CC-F26516D8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E26BE4-DF23-17DA-3F4D-D781F79D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F787CF-8781-E046-F5D8-DE4803BB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68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DD280-F905-051C-352E-7B603CEB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1B4BBA-1C4B-BEC3-76FA-B538D4F8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F5CE4A-9783-EA80-166E-AAC8CF53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7CA635-8BA4-6666-3C0C-D33166AC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66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25AF60-9A06-D900-AC95-E5DB41B1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F55279-8711-AB4D-9F40-00315004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44EEF6-959C-1093-29AC-E323D078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84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513A-194D-B2C7-4BCB-2DEEF4BC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16CCB-9F5B-3F6B-4A61-5DFE00DE3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92B4E5-C83C-A78A-8A6F-285761F9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3EDE85-5E4B-7BA5-FDA9-0E45DFF6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5819CE-7137-C69A-97D4-CEE2E258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549B9D-17B7-FBB0-5BCD-F684487F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8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AEC39-6880-D450-0D3D-4E1EEA90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4FC1F5-8048-F3B6-76EA-11F28F4F4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B90A3E-2415-46A1-7D06-F24108224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86B144-2CE2-C75D-ED6E-CE4AD0D4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D1C183-C725-B5B2-3378-4A95E754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4952F5-6C57-4A8F-DD10-EAD29338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8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E0A69-21EE-9047-3561-D4D80521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4AA11-9DE5-814E-6186-123D81DE0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16EAD2-F610-6AFD-3AB0-EF57561F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626AE2-9FE5-697C-7504-8EC40846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4227D-71E2-8686-022A-6732361F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9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BC092C-5303-70E8-A638-9664ECE5B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58A01A-3E02-C57C-D7BC-96BB22A7B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FA7EB7-2691-C82D-2489-B5C5BB76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19C99F-DE57-1C95-81EA-3E6E9C19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757B90-B244-2D68-DA89-AE9D0BAC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03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C0E984-6238-CEFF-84F4-935D853A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3D6C49-EA56-EE8C-8BA6-EE3582F74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F572C9-37A2-1023-CEFB-E99CD3BB6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01272-84B8-40DE-81EB-D361B9CEEFD7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670A1F-2943-D74E-5B07-C456C67D6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A891B1-C840-09B5-C1EE-4393F9F0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E185B-7B96-47A7-AD13-E7A0CD3B2E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62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undoeducacao.uol.com.br/historiadobrasil/jesuitas.ht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voltas Nativistas - História do Brasil - Estudo Prático">
            <a:extLst>
              <a:ext uri="{FF2B5EF4-FFF2-40B4-BE49-F238E27FC236}">
                <a16:creationId xmlns:a16="http://schemas.microsoft.com/office/drawing/2014/main" id="{232F504C-105A-94DB-CD3A-6BFD762A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2499360"/>
            <a:ext cx="6248399" cy="349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cite semelhanças e diferenças entre as conjurações mineira e baiana -  brainly.com.br">
            <a:extLst>
              <a:ext uri="{FF2B5EF4-FFF2-40B4-BE49-F238E27FC236}">
                <a16:creationId xmlns:a16="http://schemas.microsoft.com/office/drawing/2014/main" id="{A5D34702-6A26-A468-008B-250A90B09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998" y="2632647"/>
            <a:ext cx="5057922" cy="336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EB95383-B2EE-E85A-0629-0FC74D163BB0}"/>
              </a:ext>
            </a:extLst>
          </p:cNvPr>
          <p:cNvSpPr txBox="1"/>
          <p:nvPr/>
        </p:nvSpPr>
        <p:spPr>
          <a:xfrm>
            <a:off x="1720626" y="275670"/>
            <a:ext cx="943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REVOLTAS COLONIAIS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1634C9-BFD0-65AD-BD70-E3922DD106AD}"/>
              </a:ext>
            </a:extLst>
          </p:cNvPr>
          <p:cNvSpPr/>
          <p:nvPr/>
        </p:nvSpPr>
        <p:spPr>
          <a:xfrm>
            <a:off x="660400" y="1105408"/>
            <a:ext cx="3556000" cy="1241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REVOLTAS NATIVISTAS : CHOQUES E CONFLITOS PONTUAIS SEM PROPOSTA  ELABORADA DE RUPTURA POLÍTICA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5DAF2E7-224D-13FC-79F8-ABFB42CD2D29}"/>
              </a:ext>
            </a:extLst>
          </p:cNvPr>
          <p:cNvSpPr/>
          <p:nvPr/>
        </p:nvSpPr>
        <p:spPr>
          <a:xfrm>
            <a:off x="6522719" y="1438656"/>
            <a:ext cx="4368801" cy="798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CONSPIRAÇÕES QUE PROPUSERAM UMA RUPTURA POLÍTICA COM A METRÓPOLE</a:t>
            </a:r>
          </a:p>
        </p:txBody>
      </p:sp>
    </p:spTree>
    <p:extLst>
      <p:ext uri="{BB962C8B-B14F-4D97-AF65-F5344CB8AC3E}">
        <p14:creationId xmlns:p14="http://schemas.microsoft.com/office/powerpoint/2010/main" val="154281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4902984-927A-B479-2BA0-A960F637848A}"/>
              </a:ext>
            </a:extLst>
          </p:cNvPr>
          <p:cNvSpPr/>
          <p:nvPr/>
        </p:nvSpPr>
        <p:spPr>
          <a:xfrm>
            <a:off x="1666240" y="276946"/>
            <a:ext cx="3653154" cy="43600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REBELIÕES NATIVISTAS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C676613-B560-DED6-DDE2-DCC521EE5320}"/>
              </a:ext>
            </a:extLst>
          </p:cNvPr>
          <p:cNvSpPr/>
          <p:nvPr/>
        </p:nvSpPr>
        <p:spPr>
          <a:xfrm>
            <a:off x="96520" y="1087119"/>
            <a:ext cx="6405880" cy="1069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Movimentos de choque e atrito entre setores da sociedade colonial e políticas adotadas pela Metrópole Portuguesa...entre os séculos XVII </a:t>
            </a:r>
            <a:r>
              <a:rPr lang="pt-BR" b="1">
                <a:latin typeface="Arial" panose="020B0604020202020204" pitchFamily="34" charset="0"/>
                <a:cs typeface="Arial" panose="020B0604020202020204" pitchFamily="34" charset="0"/>
              </a:rPr>
              <a:t>e XVIII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749A6AF1-00A0-7030-0CAA-29DB0FBC87BB}"/>
              </a:ext>
            </a:extLst>
          </p:cNvPr>
          <p:cNvCxnSpPr>
            <a:cxnSpLocks/>
          </p:cNvCxnSpPr>
          <p:nvPr/>
        </p:nvCxnSpPr>
        <p:spPr>
          <a:xfrm flipV="1">
            <a:off x="6245546" y="1587138"/>
            <a:ext cx="822960" cy="1115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32DBB6A0-230F-2EAC-9ED7-4952333EECCA}"/>
              </a:ext>
            </a:extLst>
          </p:cNvPr>
          <p:cNvSpPr/>
          <p:nvPr/>
        </p:nvSpPr>
        <p:spPr>
          <a:xfrm>
            <a:off x="7035167" y="226948"/>
            <a:ext cx="5039358" cy="6299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REVOLTA DE BECKMAN(1684</a:t>
            </a:r>
            <a:r>
              <a:rPr lang="pt-BR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CD3647A-EEB6-12F3-8874-7C9FC26E215A}"/>
              </a:ext>
            </a:extLst>
          </p:cNvPr>
          <p:cNvSpPr/>
          <p:nvPr/>
        </p:nvSpPr>
        <p:spPr>
          <a:xfrm>
            <a:off x="7051042" y="3936408"/>
            <a:ext cx="5039358" cy="558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GUERRA DOS EMBOABAS-1708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2980915-93CF-4E77-A435-2E664965F6B0}"/>
              </a:ext>
            </a:extLst>
          </p:cNvPr>
          <p:cNvSpPr/>
          <p:nvPr/>
        </p:nvSpPr>
        <p:spPr>
          <a:xfrm>
            <a:off x="7035167" y="2154749"/>
            <a:ext cx="5039358" cy="5214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GUERRA DOS MASCATES (1710)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215C0D3-3B6C-B1FB-F88E-2E8AD054E82C}"/>
              </a:ext>
            </a:extLst>
          </p:cNvPr>
          <p:cNvSpPr/>
          <p:nvPr/>
        </p:nvSpPr>
        <p:spPr>
          <a:xfrm>
            <a:off x="7043104" y="5323840"/>
            <a:ext cx="5039358" cy="5650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REVOLTA DE FILIPE DOS SANTOS (1720) OU REVOLTA DE VILA RICA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2918212-82B1-E62D-797F-D6F9490F669D}"/>
              </a:ext>
            </a:extLst>
          </p:cNvPr>
          <p:cNvSpPr txBox="1"/>
          <p:nvPr/>
        </p:nvSpPr>
        <p:spPr>
          <a:xfrm>
            <a:off x="7035167" y="856868"/>
            <a:ext cx="50393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aconteceu pela </a:t>
            </a:r>
            <a:r>
              <a:rPr lang="pt-BR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insatisfação da população de São Luís</a:t>
            </a:r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 </a:t>
            </a:r>
            <a:r>
              <a:rPr lang="pt-BR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Maranhão</a:t>
            </a:r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com o monopólio exercido pela </a:t>
            </a:r>
            <a:r>
              <a:rPr lang="pt-BR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Companhia de Comércio do Maranhão </a:t>
            </a:r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com a ação dos </a:t>
            </a:r>
            <a:r>
              <a:rPr lang="pt-BR" sz="1600" b="0" i="0" u="none" strike="noStrike" dirty="0">
                <a:solidFill>
                  <a:srgbClr val="427FA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jesuítas</a:t>
            </a:r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contra a escravização dos indígenas.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8366766-3A72-0456-E814-0A461FC41245}"/>
              </a:ext>
            </a:extLst>
          </p:cNvPr>
          <p:cNvSpPr txBox="1"/>
          <p:nvPr/>
        </p:nvSpPr>
        <p:spPr>
          <a:xfrm>
            <a:off x="7051042" y="2773047"/>
            <a:ext cx="50234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Guerra dos Mascates foi um conflito que envolveu </a:t>
            </a:r>
            <a:r>
              <a:rPr lang="pt-BR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fazendeiros de Olinda contra os comerciantes de Recife </a:t>
            </a:r>
            <a:r>
              <a:rPr lang="pt-BR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 domínio político e econômico da Capitania de Pernambuco.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2593CD4-F414-2FA2-38DC-C16C766FB736}"/>
              </a:ext>
            </a:extLst>
          </p:cNvPr>
          <p:cNvSpPr txBox="1"/>
          <p:nvPr/>
        </p:nvSpPr>
        <p:spPr>
          <a:xfrm>
            <a:off x="7035167" y="4570817"/>
            <a:ext cx="5476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Bandeirantes “paulistas” contra “forasteiros”</a:t>
            </a:r>
          </a:p>
          <a:p>
            <a:r>
              <a:rPr lang="pt-BR" dirty="0"/>
              <a:t> pelo controle e exploração da área mineradora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2B15927-DC3B-9127-6EDC-53A1F2196C9F}"/>
              </a:ext>
            </a:extLst>
          </p:cNvPr>
          <p:cNvSpPr txBox="1"/>
          <p:nvPr/>
        </p:nvSpPr>
        <p:spPr>
          <a:xfrm>
            <a:off x="7035167" y="6066656"/>
            <a:ext cx="5031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Revolta contra a criação das Casas de Fundição nas áreas mineradoras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65C045F-86D8-A5E2-AA11-3C720A8CEB7E}"/>
              </a:ext>
            </a:extLst>
          </p:cNvPr>
          <p:cNvSpPr/>
          <p:nvPr/>
        </p:nvSpPr>
        <p:spPr>
          <a:xfrm>
            <a:off x="125412" y="4672172"/>
            <a:ext cx="6405880" cy="1657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Nenhuma dessas revoltas pretendiam extinguir o pacto colonial ou estabelecer a independência da América Portuguesa</a:t>
            </a:r>
            <a:r>
              <a:rPr lang="pt-BR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r>
              <a:rPr lang="pt-BR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Envolvem questões pontuais contra determinadas situações vistas como opressivas ou prejudiciais economicamente para os envolvidos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1507A2C-2C05-D7C5-9654-6E77617F7C4F}"/>
              </a:ext>
            </a:extLst>
          </p:cNvPr>
          <p:cNvSpPr/>
          <p:nvPr/>
        </p:nvSpPr>
        <p:spPr>
          <a:xfrm>
            <a:off x="198120" y="2310258"/>
            <a:ext cx="5847080" cy="14321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Em regiões que enfrentam dificuldades econômicas devido à crise da economia açucareira  e o reforço da política exploratória da Metrópole após o fim da União Ibérica(século XVII)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1E3913D7-06B8-83BE-6F37-60E2721580C3}"/>
              </a:ext>
            </a:extLst>
          </p:cNvPr>
          <p:cNvSpPr/>
          <p:nvPr/>
        </p:nvSpPr>
        <p:spPr>
          <a:xfrm>
            <a:off x="125412" y="3936408"/>
            <a:ext cx="6376988" cy="558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...Ou da rigorosa fiscalização de Portugal nas áreas mineradoras do século XVIII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04F367F9-0902-C43F-2D89-01B3C68FCF7F}"/>
              </a:ext>
            </a:extLst>
          </p:cNvPr>
          <p:cNvCxnSpPr/>
          <p:nvPr/>
        </p:nvCxnSpPr>
        <p:spPr>
          <a:xfrm>
            <a:off x="6238240" y="2748656"/>
            <a:ext cx="701040" cy="17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E42E29D3-C291-B296-0597-5CCA59F24DC6}"/>
              </a:ext>
            </a:extLst>
          </p:cNvPr>
          <p:cNvCxnSpPr>
            <a:cxnSpLocks/>
          </p:cNvCxnSpPr>
          <p:nvPr/>
        </p:nvCxnSpPr>
        <p:spPr>
          <a:xfrm>
            <a:off x="6588760" y="4244846"/>
            <a:ext cx="350520" cy="42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0C42A258-1A0A-477A-AC77-88DBF5F586C7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6628134" y="4215808"/>
            <a:ext cx="422908" cy="2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1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5642707-5A2E-4B47-A3CF-7B14122F50D3}"/>
              </a:ext>
            </a:extLst>
          </p:cNvPr>
          <p:cNvSpPr txBox="1"/>
          <p:nvPr/>
        </p:nvSpPr>
        <p:spPr>
          <a:xfrm>
            <a:off x="182880" y="393812"/>
            <a:ext cx="414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  <a:latin typeface="Arial Black" panose="020B0A04020102020204" pitchFamily="34" charset="0"/>
              </a:rPr>
              <a:t>Conjurações ou Inconfidências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2A8CF0D-F1A1-493F-936A-FA16F8AA6162}"/>
              </a:ext>
            </a:extLst>
          </p:cNvPr>
          <p:cNvSpPr txBox="1"/>
          <p:nvPr/>
        </p:nvSpPr>
        <p:spPr>
          <a:xfrm>
            <a:off x="4569461" y="3255537"/>
            <a:ext cx="6298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i="0" dirty="0">
                <a:solidFill>
                  <a:srgbClr val="333333"/>
                </a:solidFill>
                <a:effectLst/>
                <a:latin typeface="FolhaGrafico"/>
              </a:rPr>
              <a:t>Detalhe de ‘Vila Rica’ (1820), obra de Arnaud Julien </a:t>
            </a:r>
            <a:r>
              <a:rPr lang="pt-BR" sz="1200" b="1" i="0" dirty="0" err="1">
                <a:solidFill>
                  <a:srgbClr val="333333"/>
                </a:solidFill>
                <a:effectLst/>
                <a:latin typeface="FolhaGrafico"/>
              </a:rPr>
              <a:t>Pallière</a:t>
            </a:r>
            <a:r>
              <a:rPr lang="pt-BR" sz="1200" b="1" i="0" dirty="0">
                <a:solidFill>
                  <a:srgbClr val="333333"/>
                </a:solidFill>
                <a:effectLst/>
                <a:latin typeface="FolhaGrafico"/>
              </a:rPr>
              <a:t> que retrata o principal cenário da Inconfidência Mineira - </a:t>
            </a:r>
            <a:r>
              <a:rPr lang="pt-BR" sz="1200" b="1" i="0" dirty="0">
                <a:solidFill>
                  <a:srgbClr val="757575"/>
                </a:solidFill>
                <a:effectLst/>
                <a:latin typeface="FolhaGrafico"/>
              </a:rPr>
              <a:t>Divulgação/Museu da Inconfidência</a:t>
            </a:r>
            <a:endParaRPr lang="pt-BR" sz="12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99C7EB-E95F-4744-9D33-3DFA6765384A}"/>
              </a:ext>
            </a:extLst>
          </p:cNvPr>
          <p:cNvSpPr txBox="1"/>
          <p:nvPr/>
        </p:nvSpPr>
        <p:spPr>
          <a:xfrm>
            <a:off x="182880" y="1648052"/>
            <a:ext cx="422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00FFFF"/>
                </a:highlight>
                <a:latin typeface="Arial Black" panose="020B0A04020102020204" pitchFamily="34" charset="0"/>
              </a:rPr>
              <a:t>A “Inconfidência Mineira” - 1789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3D413A-5B3B-4E66-8257-8A3741A79D2C}"/>
              </a:ext>
            </a:extLst>
          </p:cNvPr>
          <p:cNvSpPr txBox="1"/>
          <p:nvPr/>
        </p:nvSpPr>
        <p:spPr>
          <a:xfrm>
            <a:off x="182880" y="4821554"/>
            <a:ext cx="3053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Conspiração envolvendo setores da elite da região endividados...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BA3725-C162-4A5D-B395-21902DBA6F0E}"/>
              </a:ext>
            </a:extLst>
          </p:cNvPr>
          <p:cNvSpPr txBox="1"/>
          <p:nvPr/>
        </p:nvSpPr>
        <p:spPr>
          <a:xfrm>
            <a:off x="916779" y="3974035"/>
            <a:ext cx="1285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Motivos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384E01-867B-444D-8EE9-49D8749369CA}"/>
              </a:ext>
            </a:extLst>
          </p:cNvPr>
          <p:cNvSpPr txBox="1"/>
          <p:nvPr/>
        </p:nvSpPr>
        <p:spPr>
          <a:xfrm>
            <a:off x="3581556" y="3969962"/>
            <a:ext cx="371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Decadência da produção mineradora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ECAC45-625A-483D-9D81-306702FCC0D6}"/>
              </a:ext>
            </a:extLst>
          </p:cNvPr>
          <p:cNvSpPr txBox="1"/>
          <p:nvPr/>
        </p:nvSpPr>
        <p:spPr>
          <a:xfrm>
            <a:off x="3581556" y="4395716"/>
            <a:ext cx="702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Queda na arrecadação de impostos é entendida como um aumento na sonegação...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87DB7C-8F3D-4852-B585-BCFF91AE277C}"/>
              </a:ext>
            </a:extLst>
          </p:cNvPr>
          <p:cNvSpPr txBox="1"/>
          <p:nvPr/>
        </p:nvSpPr>
        <p:spPr>
          <a:xfrm>
            <a:off x="3581556" y="5117686"/>
            <a:ext cx="7198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Metrópole Portuguesa estabelece  uma arrecadação obrigatória de 100 arrobas anuais de ouro...e as dívidas acumuladas pelos mineradores seriam cobradas ao mesmo tempo pela “Derrama”...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634808-642B-423A-A50A-CDA0F61692B3}"/>
              </a:ext>
            </a:extLst>
          </p:cNvPr>
          <p:cNvSpPr txBox="1"/>
          <p:nvPr/>
        </p:nvSpPr>
        <p:spPr>
          <a:xfrm>
            <a:off x="1910080" y="6192293"/>
            <a:ext cx="781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...animados pelas ideias iluministas francesas e pela Independência dos EUA -1776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C8CFF6C-59E7-4E76-867E-E651AB5E43EB}"/>
              </a:ext>
            </a:extLst>
          </p:cNvPr>
          <p:cNvCxnSpPr/>
          <p:nvPr/>
        </p:nvCxnSpPr>
        <p:spPr>
          <a:xfrm>
            <a:off x="3324225" y="2017384"/>
            <a:ext cx="885825" cy="668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02F557-5522-48DB-BE8B-A3C23E707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706" y="361216"/>
            <a:ext cx="7362825" cy="281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34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3D882D1-7068-4608-8378-DD46DFEE88DE}"/>
              </a:ext>
            </a:extLst>
          </p:cNvPr>
          <p:cNvSpPr txBox="1"/>
          <p:nvPr/>
        </p:nvSpPr>
        <p:spPr>
          <a:xfrm>
            <a:off x="771525" y="100965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Projeto Elitista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1F9201-75B4-4D6F-9805-26E72A666BEB}"/>
              </a:ext>
            </a:extLst>
          </p:cNvPr>
          <p:cNvSpPr txBox="1"/>
          <p:nvPr/>
        </p:nvSpPr>
        <p:spPr>
          <a:xfrm>
            <a:off x="3324225" y="387519"/>
            <a:ext cx="70389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Independência de Portugal</a:t>
            </a:r>
          </a:p>
          <a:p>
            <a:r>
              <a:rPr lang="pt-BR" dirty="0"/>
              <a:t>Instauração de uma República ( Inspirado nos EUA) envolvendo apenas a região das Minas Gerais e  do Rio de Janeiro</a:t>
            </a:r>
          </a:p>
          <a:p>
            <a:r>
              <a:rPr lang="pt-BR" dirty="0"/>
              <a:t>A ideia de estimular um processo industrial</a:t>
            </a:r>
          </a:p>
          <a:p>
            <a:r>
              <a:rPr lang="pt-BR" dirty="0"/>
              <a:t>Não chega a questionar a escravidão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33A647-13C9-42D0-BE5B-5F27425446E0}"/>
              </a:ext>
            </a:extLst>
          </p:cNvPr>
          <p:cNvSpPr txBox="1"/>
          <p:nvPr/>
        </p:nvSpPr>
        <p:spPr>
          <a:xfrm>
            <a:off x="190498" y="2676956"/>
            <a:ext cx="590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00FFFF"/>
                </a:highlight>
                <a:latin typeface="Arial Black" panose="020B0A04020102020204" pitchFamily="34" charset="0"/>
              </a:rPr>
              <a:t>Inconfidência ( Conjuração ) Baiana -1798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07115E-282F-4E27-A0EA-F184D87D7861}"/>
              </a:ext>
            </a:extLst>
          </p:cNvPr>
          <p:cNvSpPr txBox="1"/>
          <p:nvPr/>
        </p:nvSpPr>
        <p:spPr>
          <a:xfrm>
            <a:off x="4124324" y="3074432"/>
            <a:ext cx="6657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 Crise Econômica na região</a:t>
            </a:r>
          </a:p>
          <a:p>
            <a:r>
              <a:rPr lang="pt-BR" dirty="0"/>
              <a:t>-  A transferência da  condição de Capital para o Rio de Janeiro em 1763 ajuda a prejudicá-la...</a:t>
            </a:r>
          </a:p>
          <a:p>
            <a:r>
              <a:rPr lang="pt-BR" dirty="0"/>
              <a:t>-  A Independência dos EUA, as notícias da Revolução Francesa e da Independência do Haiti repercutem dentro de sociedade...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D7CCE5-EDD2-4C0E-99FD-EB3EA87B9C53}"/>
              </a:ext>
            </a:extLst>
          </p:cNvPr>
          <p:cNvSpPr txBox="1"/>
          <p:nvPr/>
        </p:nvSpPr>
        <p:spPr>
          <a:xfrm>
            <a:off x="695325" y="4925020"/>
            <a:ext cx="5400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Movimento  envolve parte da elite baiana, setores médios e setores populares  (“alfaiates”, “artesãos diversos”, </a:t>
            </a:r>
            <a:r>
              <a:rPr lang="pt-BR" dirty="0" err="1"/>
              <a:t>ex-escravos</a:t>
            </a:r>
            <a:r>
              <a:rPr lang="pt-BR" dirty="0"/>
              <a:t> 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31B3D3A-A923-4805-9360-153018581B6F}"/>
              </a:ext>
            </a:extLst>
          </p:cNvPr>
          <p:cNvCxnSpPr>
            <a:cxnSpLocks/>
          </p:cNvCxnSpPr>
          <p:nvPr/>
        </p:nvCxnSpPr>
        <p:spPr>
          <a:xfrm>
            <a:off x="1714500" y="3152775"/>
            <a:ext cx="0" cy="139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27A19E4-FABD-47E0-8AE4-0BE991773871}"/>
              </a:ext>
            </a:extLst>
          </p:cNvPr>
          <p:cNvCxnSpPr>
            <a:cxnSpLocks/>
          </p:cNvCxnSpPr>
          <p:nvPr/>
        </p:nvCxnSpPr>
        <p:spPr>
          <a:xfrm>
            <a:off x="2495550" y="3419548"/>
            <a:ext cx="1419225" cy="392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69B6A41-A52C-4126-9023-990F1ED8D427}"/>
              </a:ext>
            </a:extLst>
          </p:cNvPr>
          <p:cNvCxnSpPr/>
          <p:nvPr/>
        </p:nvCxnSpPr>
        <p:spPr>
          <a:xfrm>
            <a:off x="5886450" y="5172075"/>
            <a:ext cx="1381125" cy="21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1ED89D-E6E1-42DD-B394-18EC8A1CFA4C}"/>
              </a:ext>
            </a:extLst>
          </p:cNvPr>
          <p:cNvSpPr txBox="1"/>
          <p:nvPr/>
        </p:nvSpPr>
        <p:spPr>
          <a:xfrm>
            <a:off x="7453311" y="5172075"/>
            <a:ext cx="3929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Projeto mais radical... Propõe uma ruptura com Portugal , a instauração de uma República e a abolição da escravatura...</a:t>
            </a:r>
          </a:p>
        </p:txBody>
      </p:sp>
      <p:sp>
        <p:nvSpPr>
          <p:cNvPr id="18" name="Chave Esquerda 17">
            <a:extLst>
              <a:ext uri="{FF2B5EF4-FFF2-40B4-BE49-F238E27FC236}">
                <a16:creationId xmlns:a16="http://schemas.microsoft.com/office/drawing/2014/main" id="{3EF8E464-678F-4BF4-B911-DDB82431A37B}"/>
              </a:ext>
            </a:extLst>
          </p:cNvPr>
          <p:cNvSpPr/>
          <p:nvPr/>
        </p:nvSpPr>
        <p:spPr>
          <a:xfrm>
            <a:off x="3943350" y="3152775"/>
            <a:ext cx="247650" cy="13989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have Esquerda 18">
            <a:extLst>
              <a:ext uri="{FF2B5EF4-FFF2-40B4-BE49-F238E27FC236}">
                <a16:creationId xmlns:a16="http://schemas.microsoft.com/office/drawing/2014/main" id="{2A37138D-8923-44BA-9C3F-81B1E9D364DA}"/>
              </a:ext>
            </a:extLst>
          </p:cNvPr>
          <p:cNvSpPr/>
          <p:nvPr/>
        </p:nvSpPr>
        <p:spPr>
          <a:xfrm>
            <a:off x="2895599" y="359375"/>
            <a:ext cx="619125" cy="15936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712D38DF-34CB-4E2D-966B-C1A9B5FBA76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371725" y="1194316"/>
            <a:ext cx="409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Líderes da Conjuração Baiana, ilustração em preto sobre fundo bege.">
            <a:extLst>
              <a:ext uri="{FF2B5EF4-FFF2-40B4-BE49-F238E27FC236}">
                <a16:creationId xmlns:a16="http://schemas.microsoft.com/office/drawing/2014/main" id="{03F5D2E5-0C40-4F09-8BF5-2CE4DE4C0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082" y="1397407"/>
            <a:ext cx="3262312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58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“O martírio de Tiradentes”">
            <a:extLst>
              <a:ext uri="{FF2B5EF4-FFF2-40B4-BE49-F238E27FC236}">
                <a16:creationId xmlns:a16="http://schemas.microsoft.com/office/drawing/2014/main" id="{280F47AC-936F-4979-928F-6C5F7DE3A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" y="485775"/>
            <a:ext cx="3812857" cy="490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074F2FD-CD28-44B3-BCA8-4040D878F282}"/>
              </a:ext>
            </a:extLst>
          </p:cNvPr>
          <p:cNvSpPr txBox="1"/>
          <p:nvPr/>
        </p:nvSpPr>
        <p:spPr>
          <a:xfrm>
            <a:off x="512173" y="5682555"/>
            <a:ext cx="4049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“O martírio de Tiradentes”, Aurélio de Figueiredo, 57 x 45 cm, </a:t>
            </a:r>
            <a:r>
              <a:rPr lang="pt-BR" sz="1600" b="0" i="0" dirty="0">
                <a:solidFill>
                  <a:srgbClr val="60595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1893</a:t>
            </a:r>
            <a:r>
              <a:rPr lang="pt-BR" sz="1600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, Museu Histórico Nacional, RJ.</a:t>
            </a:r>
            <a:br>
              <a:rPr lang="pt-BR" sz="1600" dirty="0"/>
            </a:br>
            <a:br>
              <a:rPr lang="pt-BR" dirty="0"/>
            </a:br>
            <a:endParaRPr lang="pt-BR" dirty="0"/>
          </a:p>
        </p:txBody>
      </p:sp>
      <p:pic>
        <p:nvPicPr>
          <p:cNvPr id="2052" name="Picture 4" descr="“Tiradentes”, Décio Villares.">
            <a:extLst>
              <a:ext uri="{FF2B5EF4-FFF2-40B4-BE49-F238E27FC236}">
                <a16:creationId xmlns:a16="http://schemas.microsoft.com/office/drawing/2014/main" id="{9A17FE4B-C43E-4D6A-97D5-12961913E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881" y="855704"/>
            <a:ext cx="386623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EC16A97-73EA-4C89-85C0-180E49956464}"/>
              </a:ext>
            </a:extLst>
          </p:cNvPr>
          <p:cNvSpPr txBox="1"/>
          <p:nvPr/>
        </p:nvSpPr>
        <p:spPr>
          <a:xfrm>
            <a:off x="4418537" y="5680858"/>
            <a:ext cx="3812857" cy="1522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“Tiradentes”, Décio Villares, 60,5 x 49,7cm, </a:t>
            </a:r>
            <a:r>
              <a:rPr lang="pt-BR" b="0" i="0" dirty="0">
                <a:solidFill>
                  <a:srgbClr val="60595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1880</a:t>
            </a:r>
            <a:r>
              <a:rPr lang="pt-BR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, Igreja Positivista do Brasil, RJ.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2054" name="Picture 6" descr="“A leitura da sentença”">
            <a:extLst>
              <a:ext uri="{FF2B5EF4-FFF2-40B4-BE49-F238E27FC236}">
                <a16:creationId xmlns:a16="http://schemas.microsoft.com/office/drawing/2014/main" id="{17E6EDB7-D85C-41D3-B3E5-DD85E5D09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376" y="2126456"/>
            <a:ext cx="3849882" cy="260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6836418-97AB-4CE6-BC5C-82F2E1CE2D7D}"/>
              </a:ext>
            </a:extLst>
          </p:cNvPr>
          <p:cNvSpPr txBox="1"/>
          <p:nvPr/>
        </p:nvSpPr>
        <p:spPr>
          <a:xfrm>
            <a:off x="8231393" y="4942194"/>
            <a:ext cx="40490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“A leitura da sentença”, Eduardo de Sá, </a:t>
            </a:r>
            <a:r>
              <a:rPr lang="pt-BR" b="0" i="0" dirty="0">
                <a:solidFill>
                  <a:srgbClr val="60595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início do </a:t>
            </a:r>
            <a:r>
              <a:rPr lang="pt-BR" b="0" i="0" dirty="0" err="1">
                <a:solidFill>
                  <a:srgbClr val="60595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séc.XX</a:t>
            </a:r>
            <a:r>
              <a:rPr lang="pt-BR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, Museu Histórico Nacional, RJ.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821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“Tiradentes esquartejado”, Pedro Américo, 2,70 x 1,65 m, 1893, Museu Mariano Procópio, Juiz de Fora, MG.">
            <a:extLst>
              <a:ext uri="{FF2B5EF4-FFF2-40B4-BE49-F238E27FC236}">
                <a16:creationId xmlns:a16="http://schemas.microsoft.com/office/drawing/2014/main" id="{F5F18505-60CE-4043-9717-DAFE3CD7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895" y="142240"/>
            <a:ext cx="4930140" cy="65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15C7A02-60FB-4D94-AFF6-EAA9E72728FC}"/>
              </a:ext>
            </a:extLst>
          </p:cNvPr>
          <p:cNvSpPr txBox="1"/>
          <p:nvPr/>
        </p:nvSpPr>
        <p:spPr>
          <a:xfrm>
            <a:off x="6610350" y="2690336"/>
            <a:ext cx="40957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605958"/>
                </a:solidFill>
                <a:effectLst/>
                <a:latin typeface="Roboto" panose="02000000000000000000" pitchFamily="2" charset="0"/>
              </a:rPr>
              <a:t>“Tiradentes esquartejado”, Pedro Américo, 2,70 x 1,65 m, 1893, Museu Mariano Procópio, Juiz de Fora, MG.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773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0A1665-9F83-F58D-9B5C-D8416146D2CC}"/>
              </a:ext>
            </a:extLst>
          </p:cNvPr>
          <p:cNvSpPr txBox="1"/>
          <p:nvPr/>
        </p:nvSpPr>
        <p:spPr>
          <a:xfrm>
            <a:off x="599440" y="612844"/>
            <a:ext cx="107594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3A3A3A"/>
                </a:solidFill>
                <a:effectLst/>
                <a:latin typeface="-apple-system"/>
              </a:rPr>
              <a:t> </a:t>
            </a: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Fuvest-SP. O</a:t>
            </a:r>
            <a:r>
              <a:rPr lang="pt-BR" sz="2400" dirty="0">
                <a:solidFill>
                  <a:srgbClr val="3A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ideário da Revolução Francesa, que entre outras coisas defendia o governo representativo, a liberdade de expressão, a liberdade de produção e de comér­cio, influenciou no Brasil a Inconfidência Mineira e a Inconfidência Baiana, porque:</a:t>
            </a:r>
          </a:p>
          <a:p>
            <a:pPr algn="l"/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cedia às pressões de intelectuais estrangeiros que queriam divulgar suas obras no Brasil.</a:t>
            </a:r>
            <a:b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servia aos interesses de comerciantes holande­ses aqui estabelecidos que desejavam influir no governo colonial.</a:t>
            </a:r>
            <a:b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satisfazia aos brasileiros e aos portugueses, que desta forma conseguiram conciliar suas diferenças econômicas e políticas.</a:t>
            </a:r>
            <a:b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apesar de expressar as aspirações de uma minoria da sociedade francesa, aqui foi adaptado pelos positivistas aos objetivos dos militares.</a:t>
            </a:r>
            <a:b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foi adotado por proprietários, comerciantes, pro­fissionais liberais, padres, pequenos lavradores, libertos e escravos como justificativa para sua oposição ao absolutismo e ao sistema colonial.</a:t>
            </a:r>
          </a:p>
        </p:txBody>
      </p:sp>
    </p:spTree>
    <p:extLst>
      <p:ext uri="{BB962C8B-B14F-4D97-AF65-F5344CB8AC3E}">
        <p14:creationId xmlns:p14="http://schemas.microsoft.com/office/powerpoint/2010/main" val="406445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0EE43F-E9F7-5C83-EB52-6C6602B82240}"/>
              </a:ext>
            </a:extLst>
          </p:cNvPr>
          <p:cNvSpPr txBox="1"/>
          <p:nvPr/>
        </p:nvSpPr>
        <p:spPr>
          <a:xfrm>
            <a:off x="833120" y="1463040"/>
            <a:ext cx="99466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Leia o texto referente à Conjuração Baiana e responda ao que se pede.</a:t>
            </a:r>
          </a:p>
          <a:p>
            <a:pPr algn="l"/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Não eram os norte-americanos que serviam de exem­plo a João de Deus e aos seus companheiros. Eram os sans-culottes. A 12 de agosto de 1798, apareceram por toda a cidade manifestos manuscritos. Dirigidos ‘ao povo republicano da Bahia’ em nome do ‘supremo tri­bunal da democracia baiana’, apelavam ao extermínio do ‘</a:t>
            </a:r>
            <a:r>
              <a:rPr lang="pt-BR" sz="2000" b="0" i="0" dirty="0" err="1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detestá</a:t>
            </a:r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0" dirty="0" err="1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jugo metropolitano de Portugal’.</a:t>
            </a:r>
            <a:b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Kenneth </a:t>
            </a:r>
            <a:r>
              <a:rPr lang="pt-BR" sz="2000" b="0" i="0" dirty="0" err="1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Maxwelll</a:t>
            </a:r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Maria Beatriz N. da Silva, O Império luso-brasileiro – 1750-1822.</a:t>
            </a:r>
          </a:p>
          <a:p>
            <a:pPr algn="l"/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Como pode ser caracterizada a Conjuração Baiana?</a:t>
            </a:r>
            <a:b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3A3A3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Indique o nome da outra conjuração do século XVIII, cujos líderes conspiraram em segredo e, tomando como exemplo os Estados Unidos, ad­vogaram governo republicano.</a:t>
            </a:r>
          </a:p>
        </p:txBody>
      </p:sp>
    </p:spTree>
    <p:extLst>
      <p:ext uri="{BB962C8B-B14F-4D97-AF65-F5344CB8AC3E}">
        <p14:creationId xmlns:p14="http://schemas.microsoft.com/office/powerpoint/2010/main" val="26123487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882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-apple-system</vt:lpstr>
      <vt:lpstr>Arial</vt:lpstr>
      <vt:lpstr>Arial Black</vt:lpstr>
      <vt:lpstr>Calibri</vt:lpstr>
      <vt:lpstr>Calibri Light</vt:lpstr>
      <vt:lpstr>FolhaGrafico</vt:lpstr>
      <vt:lpstr>Roboto</vt:lpstr>
      <vt:lpstr>Source Sans Pro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7</cp:revision>
  <dcterms:created xsi:type="dcterms:W3CDTF">2022-08-17T21:22:38Z</dcterms:created>
  <dcterms:modified xsi:type="dcterms:W3CDTF">2026-02-14T23:12:51Z</dcterms:modified>
</cp:coreProperties>
</file>